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68"/>
  </p:notesMasterIdLst>
  <p:sldIdLst>
    <p:sldId id="256" r:id="rId2"/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301" r:id="rId22"/>
    <p:sldId id="302" r:id="rId23"/>
    <p:sldId id="364" r:id="rId24"/>
    <p:sldId id="304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7" r:id="rId43"/>
    <p:sldId id="328" r:id="rId44"/>
    <p:sldId id="329" r:id="rId45"/>
    <p:sldId id="365" r:id="rId46"/>
    <p:sldId id="370" r:id="rId47"/>
    <p:sldId id="368" r:id="rId48"/>
    <p:sldId id="371" r:id="rId49"/>
    <p:sldId id="372" r:id="rId50"/>
    <p:sldId id="375" r:id="rId51"/>
    <p:sldId id="373" r:id="rId52"/>
    <p:sldId id="374" r:id="rId53"/>
    <p:sldId id="376" r:id="rId54"/>
    <p:sldId id="378" r:id="rId55"/>
    <p:sldId id="383" r:id="rId56"/>
    <p:sldId id="379" r:id="rId57"/>
    <p:sldId id="380" r:id="rId58"/>
    <p:sldId id="384" r:id="rId59"/>
    <p:sldId id="377" r:id="rId60"/>
    <p:sldId id="382" r:id="rId61"/>
    <p:sldId id="366" r:id="rId62"/>
    <p:sldId id="385" r:id="rId63"/>
    <p:sldId id="386" r:id="rId64"/>
    <p:sldId id="387" r:id="rId65"/>
    <p:sldId id="388" r:id="rId66"/>
    <p:sldId id="389" r:id="rId6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9"/>
      <p:bold r:id="rId70"/>
      <p:italic r:id="rId71"/>
      <p:boldItalic r:id="rId72"/>
    </p:embeddedFont>
    <p:embeddedFont>
      <p:font typeface="Open Sans" panose="020B0604020202020204" charset="0"/>
      <p:regular r:id="rId73"/>
      <p:bold r:id="rId74"/>
      <p:italic r:id="rId75"/>
      <p:boldItalic r:id="rId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6CAB37-6EAB-45D1-B63F-3546571C2FBF}">
  <a:tblStyle styleId="{C66CAB37-6EAB-45D1-B63F-3546571C2F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6" d="100"/>
          <a:sy n="166" d="100"/>
        </p:scale>
        <p:origin x="730" y="8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6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96836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6422e2149a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g6422e2149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6422e2149a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6422e2149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36016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31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76170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17934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21026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81131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52179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601383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17106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254888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5033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69239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23431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78388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06863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289760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16712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7204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6224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90668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98273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869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FFFFF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1143000" y="548640"/>
            <a:ext cx="64008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1">
  <p:cSld name="TITLE_AND_BODY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6">
            <a:alphaModFix/>
          </a:blip>
          <a:srcRect l="679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ww.youtube.com/watch?v=2uwwgvMUb8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fas.st/w7dzF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7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gif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gif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30.jpeg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descr="C:\Users\v.pospelov\Desktop\паттерн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4195" y="0"/>
            <a:ext cx="3989812" cy="338183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467544" y="1732708"/>
            <a:ext cx="6903600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МЕЖДУНАРОДНАЯ СЕРТИФИКАЦИОННАЯ </a:t>
            </a:r>
            <a:br>
              <a:rPr lang="ru-RU" sz="2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80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ПРОГРАММА </a:t>
            </a:r>
            <a:r>
              <a:rPr lang="ru-RU" sz="32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br>
              <a:rPr lang="ru-RU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200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«Профессиональный коучинг»</a:t>
            </a:r>
            <a:endParaRPr sz="2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539543" y="4287350"/>
            <a:ext cx="5028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2й модуль. Инструменты коучинга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3000" y="362786"/>
            <a:ext cx="699775" cy="7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l="679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251522" y="1103975"/>
            <a:ext cx="8435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None/>
            </a:pPr>
            <a:r>
              <a:rPr lang="ru-RU" sz="2400">
                <a:latin typeface="Open Sans"/>
                <a:ea typeface="Open Sans"/>
                <a:cs typeface="Open Sans"/>
                <a:sym typeface="Open Sans"/>
              </a:rPr>
              <a:t>Сальников Никита Фёдорович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3449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Опыт коучинга с 2012 года. Проведено более 1200 сессий. 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Coach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Master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Trainer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ICI, ECA; Master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coach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AC.</a:t>
            </a: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Сертифицированный</a:t>
            </a:r>
            <a:r>
              <a:rPr lang="en-US" sz="1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00" dirty="0" err="1">
                <a:latin typeface="Open Sans"/>
                <a:ea typeface="Open Sans"/>
                <a:cs typeface="Open Sans"/>
                <a:sym typeface="Open Sans"/>
              </a:rPr>
              <a:t>WingWave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коуч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Соавтор и преподаватель курсов  по коучингу в МИП и РУДН. 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Совладелец консалтингового агентства.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Техническое образование. Психологическое образование. MBA в области управление персоналом и управление проектами.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Бизнес тренер с 2007 г., Тандер – региональный бизнес тренер.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Сбербанк – руководитель Учебного центра.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Adidas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T&amp;D manager.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2" name="Google Shape;92;p18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sldNum" idx="4294967295"/>
          </p:nvPr>
        </p:nvSpPr>
        <p:spPr>
          <a:xfrm>
            <a:off x="7897906" y="4604595"/>
            <a:ext cx="9906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pic>
        <p:nvPicPr>
          <p:cNvPr id="318" name="Google Shape;31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2750" y="839800"/>
            <a:ext cx="3801125" cy="34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0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696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Круг в обучении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1" name="Google Shape;321;p40"/>
          <p:cNvPicPr preferRelativeResize="0"/>
          <p:nvPr/>
        </p:nvPicPr>
        <p:blipFill rotWithShape="1">
          <a:blip r:embed="rId5">
            <a:alphaModFix/>
          </a:blip>
          <a:srcRect l="679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body" idx="4294967295"/>
          </p:nvPr>
        </p:nvSpPr>
        <p:spPr>
          <a:xfrm>
            <a:off x="539550" y="2319200"/>
            <a:ext cx="6426600" cy="25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Неосознанная некомпетентность (невежество)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Осознанная некомпетентность (понимание, что нужны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изменения; постепенное освоение новых навыков)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Осознанная компетентность (знаю, чего я делаю; через ум, тренировку)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Неосознанная компетентность (автоматизм,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делаю не задумываясь)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7" name="Google Shape;327;p41"/>
          <p:cNvSpPr txBox="1">
            <a:spLocks noGrp="1"/>
          </p:cNvSpPr>
          <p:nvPr>
            <p:ph type="sldNum" idx="4294967295"/>
          </p:nvPr>
        </p:nvSpPr>
        <p:spPr>
          <a:xfrm>
            <a:off x="7897906" y="4604595"/>
            <a:ext cx="9906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251525" y="1332575"/>
            <a:ext cx="6817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Четыре стадии освоения любого нового знания (навыка)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9" name="Google Shape;329;p41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body" idx="1"/>
          </p:nvPr>
        </p:nvSpPr>
        <p:spPr>
          <a:xfrm>
            <a:off x="539550" y="1989674"/>
            <a:ext cx="64008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438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Особенность работы человеческого мозга заключается в том,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что он обучается только тогда, </a:t>
            </a: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когда видит разницу, чем одно отличается от другого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, чем один прием или способ не такой,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 другой.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438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Противоположным навыком является </a:t>
            </a: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концентрация внимания на сходстве.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Как только что-то определяется мозгом как «точно такое же, как и то…», процесс обучения останавливается.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54940" algn="l" rtl="0">
              <a:lnSpc>
                <a:spcPct val="115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5" name="Google Shape;335;p4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2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Концентрация внимания на различиях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>
            <a:spLocks noGrp="1"/>
          </p:cNvSpPr>
          <p:nvPr>
            <p:ph type="body" idx="4294967295"/>
          </p:nvPr>
        </p:nvSpPr>
        <p:spPr>
          <a:xfrm>
            <a:off x="1159609" y="2012447"/>
            <a:ext cx="13749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1600"/>
              </a:spcAft>
              <a:buClr>
                <a:srgbClr val="303030"/>
              </a:buClr>
              <a:buSzPts val="5400"/>
              <a:buFont typeface="Arial"/>
              <a:buNone/>
            </a:pPr>
            <a:r>
              <a:rPr lang="ru-RU" sz="4800" u="none" strike="noStrike" cap="none">
                <a:solidFill>
                  <a:srgbClr val="303030"/>
                </a:solidFill>
                <a:latin typeface="Open Sans"/>
                <a:ea typeface="Open Sans"/>
                <a:cs typeface="Open Sans"/>
                <a:sym typeface="Open Sans"/>
              </a:rPr>
              <a:t>Я1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43"/>
          <p:cNvSpPr/>
          <p:nvPr/>
        </p:nvSpPr>
        <p:spPr>
          <a:xfrm>
            <a:off x="4879098" y="2012447"/>
            <a:ext cx="13749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Я2</a:t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43"/>
          <p:cNvSpPr/>
          <p:nvPr/>
        </p:nvSpPr>
        <p:spPr>
          <a:xfrm>
            <a:off x="3441400" y="2199450"/>
            <a:ext cx="846600" cy="439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52B1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539553" y="3020924"/>
            <a:ext cx="34641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85750" marR="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Внутренний голос, подающий команды и оценки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marR="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Вн. критик и всезнайка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marR="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Привычки и стереотипы мышления и поведения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43"/>
          <p:cNvSpPr/>
          <p:nvPr/>
        </p:nvSpPr>
        <p:spPr>
          <a:xfrm>
            <a:off x="4327473" y="3081350"/>
            <a:ext cx="31599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85750" marR="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Подлинное, истинное Я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marR="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Внутренний потенциал, способности и ресурсы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marR="0" lvl="0" indent="-260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Стремление и способность  </a:t>
            </a:r>
            <a:b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 развитию и самораскрытию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46" name="Google Shape;346;p4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На чем фокус внимания коуча (по Т.Голви)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>
            <a:spLocks noGrp="1"/>
          </p:cNvSpPr>
          <p:nvPr>
            <p:ph type="body" idx="4294967295"/>
          </p:nvPr>
        </p:nvSpPr>
        <p:spPr>
          <a:xfrm>
            <a:off x="539550" y="1391100"/>
            <a:ext cx="76827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743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основе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Внутренней игры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 лежит идея о двух частях своего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«Я»,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 где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«Я1»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 — внутренний голос, подающий команды и высказывающий оценку.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Это внутренний голос значимых для нас людей, учителей и прочих авторитетов. 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«Я1»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 характеризуется напряжением, страхом, сомнением и излишним старанием.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«Я2»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— целостное человеческое существо со всем его потенциалом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 способностями. Оно характеризуется свободной концентрацией, радостью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 доверием.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«Я1»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 стремится контролировать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«Я2» и не доверяет ему.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Когда интервенция, исходящая от 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«Я1»,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 полностью ликвидирована, человек переходит в состояние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«Я2»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 — неоценочное осознание, которое часто называют «потоком». Именно в состоянии «потока» собственно и начинается 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Внутренняя игра.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8542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3" name="Google Shape;353;p4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>
            <a:spLocks noGrp="1"/>
          </p:cNvSpPr>
          <p:nvPr>
            <p:ph type="body" idx="1"/>
          </p:nvPr>
        </p:nvSpPr>
        <p:spPr>
          <a:xfrm>
            <a:off x="539550" y="1897300"/>
            <a:ext cx="57759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38953"/>
              </a:buClr>
              <a:buSzPts val="3600"/>
              <a:buNone/>
            </a:pP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67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Вспомните 3-5 случаев из жизни, когда </a:t>
            </a:r>
            <a:br>
              <a:rPr lang="ru-RU" sz="16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Вы находились в состоянии Я2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6700" algn="l" rtl="0">
              <a:spcBef>
                <a:spcPts val="56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Повернитесь к соседу, расскажите ему об этом 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9" name="Google Shape;359;p45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5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Упражнение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6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6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Коуч-позиция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7" name="Google Shape;367;p4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9126" y="1361094"/>
            <a:ext cx="4022673" cy="22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6"/>
          <p:cNvSpPr txBox="1"/>
          <p:nvPr/>
        </p:nvSpPr>
        <p:spPr>
          <a:xfrm>
            <a:off x="539550" y="1961375"/>
            <a:ext cx="3000000" cy="16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Джудит ДеЛозье </a:t>
            </a:r>
            <a:b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«о коуч-позиции»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ru-RU" sz="1800" u="sng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Смотреть видео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9" name="Google Shape;369;p46">
            <a:hlinkClick r:id="rId4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7250" y="2223908"/>
            <a:ext cx="509675" cy="5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 txBox="1">
            <a:spLocks noGrp="1"/>
          </p:cNvSpPr>
          <p:nvPr>
            <p:ph type="body" idx="1"/>
          </p:nvPr>
        </p:nvSpPr>
        <p:spPr>
          <a:xfrm>
            <a:off x="539550" y="2107601"/>
            <a:ext cx="6400800" cy="22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С (centered) — центрирован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O (open) — открыт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A (attention) — внимателен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C (connection) — связь, контакт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H (hold) — держать, поддерживать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5" name="Google Shape;375;p4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7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COACH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>
            <a:spLocks noGrp="1"/>
          </p:cNvSpPr>
          <p:nvPr>
            <p:ph type="body" idx="1"/>
          </p:nvPr>
        </p:nvSpPr>
        <p:spPr>
          <a:xfrm>
            <a:off x="539552" y="2047762"/>
            <a:ext cx="64008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92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C (contract) — сжиматься закрываться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R (react) — реагировать (реактивность)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A (analyze) — анализировать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S (separate) — отделяться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H (hurt) — причинить боль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2" name="Google Shape;382;p48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8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CRASH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>
            <a:spLocks noGrp="1"/>
          </p:cNvSpPr>
          <p:nvPr>
            <p:ph type="body" idx="1"/>
          </p:nvPr>
        </p:nvSpPr>
        <p:spPr>
          <a:xfrm>
            <a:off x="539550" y="2006950"/>
            <a:ext cx="65013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Основное в коуч-позиции – умение быть достаточно независимым от результатов клиента и эмоционально отстраненным при полной концентрации внутреннего внимания на том, что важно клиенту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 на раскрытии его потенциала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908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Ответственность за все принятые решения  и действия несет клиент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908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Работаем только в «Карте» клиента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70180" algn="l" rtl="0">
              <a:lnSpc>
                <a:spcPct val="115000"/>
              </a:lnSpc>
              <a:spcBef>
                <a:spcPts val="544"/>
              </a:spcBef>
              <a:spcAft>
                <a:spcPts val="1600"/>
              </a:spcAft>
              <a:buClr>
                <a:schemeClr val="dk1"/>
              </a:buClr>
              <a:buSzPts val="272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9" name="Google Shape;389;p4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9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Коуч-позиция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>
            <a:spLocks noGrp="1"/>
          </p:cNvSpPr>
          <p:nvPr>
            <p:ph type="title"/>
          </p:nvPr>
        </p:nvSpPr>
        <p:spPr>
          <a:xfrm>
            <a:off x="539551" y="3513875"/>
            <a:ext cx="7767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Потенциал 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минус </a:t>
            </a: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«вмешательство» 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равняется </a:t>
            </a: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результативности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(Майлз Дауни)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50"/>
          <p:cNvSpPr txBox="1">
            <a:spLocks noGrp="1"/>
          </p:cNvSpPr>
          <p:nvPr>
            <p:ph type="body" idx="1"/>
          </p:nvPr>
        </p:nvSpPr>
        <p:spPr>
          <a:xfrm>
            <a:off x="539550" y="2076275"/>
            <a:ext cx="6798900" cy="1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58"/>
              </a:spcBef>
              <a:spcAft>
                <a:spcPts val="0"/>
              </a:spcAft>
              <a:buClr>
                <a:srgbClr val="31489F"/>
              </a:buClr>
              <a:buSzPts val="279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4162" algn="l" rtl="0">
              <a:lnSpc>
                <a:spcPct val="115000"/>
              </a:lnSpc>
              <a:spcBef>
                <a:spcPts val="46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Препятствия это ограничивающие убеждения и стратегии выживания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4162" algn="l" rtl="0">
              <a:lnSpc>
                <a:spcPct val="115000"/>
              </a:lnSpc>
              <a:spcBef>
                <a:spcPts val="46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Страх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4162" algn="l" rtl="0">
              <a:lnSpc>
                <a:spcPct val="115000"/>
              </a:lnSpc>
              <a:spcBef>
                <a:spcPts val="465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Майлз Дауни называет эти стратегии «Вмешательствами»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7" name="Google Shape;397;p5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0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3673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Коуч-позиция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50"/>
          <p:cNvSpPr txBox="1"/>
          <p:nvPr/>
        </p:nvSpPr>
        <p:spPr>
          <a:xfrm>
            <a:off x="251525" y="1703250"/>
            <a:ext cx="53631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позволяет обойти препятствия клиента и позволить </a:t>
            </a:r>
            <a:b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ему выйти в Я2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>
            <a:spLocks noGrp="1"/>
          </p:cNvSpPr>
          <p:nvPr>
            <p:ph type="body" idx="1"/>
          </p:nvPr>
        </p:nvSpPr>
        <p:spPr>
          <a:xfrm>
            <a:off x="539550" y="1754221"/>
            <a:ext cx="6400800" cy="15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Страх (проиграть, победить, выставить себя на посмешище)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Неуверенность в себе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Старание достичь совершенства (перфекционизм)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Желание произвести впечатление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Гнев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Скука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85420" algn="l" rtl="0">
              <a:lnSpc>
                <a:spcPct val="80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51"/>
          <p:cNvSpPr txBox="1">
            <a:spLocks noGrp="1"/>
          </p:cNvSpPr>
          <p:nvPr>
            <p:ph type="title"/>
          </p:nvPr>
        </p:nvSpPr>
        <p:spPr>
          <a:xfrm>
            <a:off x="539551" y="3513875"/>
            <a:ext cx="7767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Потенциал 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минус </a:t>
            </a: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«вмешательство» 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равняется </a:t>
            </a: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результативности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(Майлз Дауни)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06" name="Google Shape;406;p51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Формы «Вмешательства»: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"/>
          <p:cNvSpPr txBox="1">
            <a:spLocks noGrp="1"/>
          </p:cNvSpPr>
          <p:nvPr>
            <p:ph type="body" idx="1"/>
          </p:nvPr>
        </p:nvSpPr>
        <p:spPr>
          <a:xfrm>
            <a:off x="539550" y="2324046"/>
            <a:ext cx="6400800" cy="15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496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Контакт, раппорт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Контракт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Ответственность клиента и его обязательства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Баланс поддержки и фрустрации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3" name="Google Shape;413;p52"/>
          <p:cNvSpPr txBox="1">
            <a:spLocks noGrp="1"/>
          </p:cNvSpPr>
          <p:nvPr>
            <p:ph type="title"/>
          </p:nvPr>
        </p:nvSpPr>
        <p:spPr>
          <a:xfrm>
            <a:off x="251525" y="1408775"/>
            <a:ext cx="71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Необходимые условия для эффективного коучингового взаимодействия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4" name="Google Shape;414;p5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>
            <a:spLocks noGrp="1"/>
          </p:cNvSpPr>
          <p:nvPr>
            <p:ph type="subTitle" idx="1"/>
          </p:nvPr>
        </p:nvSpPr>
        <p:spPr>
          <a:xfrm>
            <a:off x="539550" y="1885175"/>
            <a:ext cx="7131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Раппорт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- необходимое условие коучингового взаимодействия.  При наличии раппорта коуч может оказаться более эффективным, даже если не использует конкретных моделей.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коучинге без установления контакта эффективность будет сильно снижена.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Краткосрочные методы достижения раппорта: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метасообщение,</a:t>
            </a: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поза, ритм, голос и речь, эмоциональное состояние.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Долгосрочные методы: 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ценности (уметь делать упражнения по ранжированию ценностей), контакт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по нейрологическим уровням.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0" name="Google Shape;420;p5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3"/>
          <p:cNvSpPr txBox="1">
            <a:spLocks noGrp="1"/>
          </p:cNvSpPr>
          <p:nvPr>
            <p:ph type="title" idx="4294967295"/>
          </p:nvPr>
        </p:nvSpPr>
        <p:spPr>
          <a:xfrm>
            <a:off x="251525" y="1103975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1. Контакт, раппорт 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4"/>
          <p:cNvSpPr txBox="1">
            <a:spLocks noGrp="1"/>
          </p:cNvSpPr>
          <p:nvPr>
            <p:ph type="body" idx="1"/>
          </p:nvPr>
        </p:nvSpPr>
        <p:spPr>
          <a:xfrm>
            <a:off x="539550" y="2068875"/>
            <a:ext cx="7317600" cy="19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7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опыта или переживания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. «В одном полку служили»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7335" algn="l" rtl="0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концепции.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Картина мира, предположения относительно того,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 устроена реальность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7335" algn="l" rtl="0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намерения.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Здесь предполагается, что клиент чего-то хочет, а коуч совпадает с ним на этом уровне, потому что он хочет клиенту в этом помочь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7335" algn="l" rtl="0">
              <a:lnSpc>
                <a:spcPct val="115000"/>
              </a:lnSpc>
              <a:spcBef>
                <a:spcPts val="518"/>
              </a:spcBef>
              <a:spcAft>
                <a:spcPts val="160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мотивации.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Если у коуча с клиентом мотивации мало совпадают, то контакт будет затруднен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7" name="Google Shape;427;p5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4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Возможные уровни установления контакта 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5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425" y="1852775"/>
            <a:ext cx="4457601" cy="275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5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5"/>
          <p:cNvSpPr txBox="1">
            <a:spLocks noGrp="1"/>
          </p:cNvSpPr>
          <p:nvPr>
            <p:ph type="title" idx="4294967295"/>
          </p:nvPr>
        </p:nvSpPr>
        <p:spPr>
          <a:xfrm>
            <a:off x="251525" y="1103975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Воздействие на слушателя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>
            <a:spLocks noGrp="1"/>
          </p:cNvSpPr>
          <p:nvPr>
            <p:ph type="body" idx="1"/>
          </p:nvPr>
        </p:nvSpPr>
        <p:spPr>
          <a:xfrm>
            <a:off x="395525" y="1922325"/>
            <a:ext cx="7719600" cy="27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743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Вербальное сообщение - то, что передается словами (информация о содержании)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Невербальное сообщение (метасообщение) - то, что передается через позу, мимику, жесты, голос, дыхание (информация о внутреннем состоянии человека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 его отношении к происходящему и окружающим)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Даже ничего не говоря, мы транслируем собой разные метасообщения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Согласно исследованиям, воздействие на слушателей во время общения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основном складывается именно из невербальной коммуникации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Метасообщение обычно более важно, чем вербальное сообщение!</a:t>
            </a:r>
            <a:endParaRPr sz="1400" b="1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8542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1" name="Google Shape;441;p56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6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Метасообщение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>
            <a:spLocks noGrp="1"/>
          </p:cNvSpPr>
          <p:nvPr>
            <p:ph type="body" idx="1"/>
          </p:nvPr>
        </p:nvSpPr>
        <p:spPr>
          <a:xfrm>
            <a:off x="539550" y="2083075"/>
            <a:ext cx="5285100" cy="27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Какое у нас метасообщение, когда мы просто едем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метро и ни о чем не думаем?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Выражаем заданные эмоции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8" name="Google Shape;448;p5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7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Тренировка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2"/>
          <p:cNvSpPr/>
          <p:nvPr/>
        </p:nvSpPr>
        <p:spPr>
          <a:xfrm>
            <a:off x="539550" y="1961375"/>
            <a:ext cx="74169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8620" marR="0" lvl="0" indent="-2705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Предварительный контракт. </a:t>
            </a:r>
            <a:r>
              <a:rPr lang="ru-RU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Это профессиональная услуга, что такое коучинг (соответствует ли запрос именно коучингу), сколько встреч клиент предполагает, логистика, расписание, форма оплаты.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•"/>
            </a:pPr>
            <a:r>
              <a:rPr lang="ru-RU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Контракт на сессии. 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Время. </a:t>
            </a:r>
            <a:r>
              <a:rPr lang="ru-RU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Сколько вы за один раз проведете часовых сессий, будут ли перерывы - если сессий несколько, за сколько минут до завершения работы вы предупредите клиента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Темы. </a:t>
            </a:r>
            <a:r>
              <a:rPr lang="ru-RU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Определяется общая цель сессий, если их несколько, и тема первой сессии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Зоны ответственности </a:t>
            </a:r>
            <a:r>
              <a:rPr lang="ru-RU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коуча и клиента, если необходимо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Контракт на правила взаимодействия. </a:t>
            </a:r>
            <a:r>
              <a:rPr lang="ru-RU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Вводятся основные правила, обычно это «правило конфиденциальности», «не опаздывать», «завершать вовремя», «отключить мобильный телефон» и пр.</a:t>
            </a:r>
            <a:br>
              <a:rPr lang="ru-RU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2" name="Google Shape;492;p6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2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2. Контракт в коучинге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3"/>
          <p:cNvSpPr txBox="1">
            <a:spLocks noGrp="1"/>
          </p:cNvSpPr>
          <p:nvPr>
            <p:ph type="body" idx="1"/>
          </p:nvPr>
        </p:nvSpPr>
        <p:spPr>
          <a:xfrm>
            <a:off x="539550" y="2159350"/>
            <a:ext cx="71208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Время. 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Как вы думаете, сколько часовых сессий нам потребуется сегодня? На какое время вы сегодня рассчитываете? Будем делать перерыв? Если </a:t>
            </a:r>
            <a:b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я вас предупрежу за 15 до конца сессии, будет удобно? 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8620" lvl="0" indent="-289560" algn="l" rtl="0">
              <a:lnSpc>
                <a:spcPct val="115000"/>
              </a:lnSpc>
              <a:spcBef>
                <a:spcPts val="448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Темы. 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О чем мы будем говорить с Вами? О чем Вы хотели бы поговорить на этой встрече? Что будет нашей темой сегодня? 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8620" lvl="0" indent="-289560" algn="l" rtl="0">
              <a:lnSpc>
                <a:spcPct val="115000"/>
              </a:lnSpc>
              <a:spcBef>
                <a:spcPts val="448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Результат. 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Что стало бы для вас наилучшим результатом за время нашего общения сегодня?”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8620" lvl="0" indent="-200660" algn="l" rtl="0">
              <a:lnSpc>
                <a:spcPct val="115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8620" lvl="0" indent="-200660" algn="l" rtl="0">
              <a:lnSpc>
                <a:spcPct val="115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15000"/>
              </a:lnSpc>
              <a:spcBef>
                <a:spcPts val="448"/>
              </a:spcBef>
              <a:spcAft>
                <a:spcPts val="1600"/>
              </a:spcAft>
              <a:buClr>
                <a:schemeClr val="dk1"/>
              </a:buClr>
              <a:buSzPts val="224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9" name="Google Shape;499;p6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63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Вопросы контракта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3"/>
          <p:cNvSpPr txBox="1">
            <a:spLocks noGrp="1"/>
          </p:cNvSpPr>
          <p:nvPr>
            <p:ph type="body" idx="1"/>
          </p:nvPr>
        </p:nvSpPr>
        <p:spPr>
          <a:xfrm>
            <a:off x="539552" y="1781091"/>
            <a:ext cx="7120800" cy="284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Формат работы (что такое коучинг)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Время работы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Стоимость (если не оплачивал)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За какое время предупредить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Открытость (есть дискомфорт скажи)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Свобода действий\передвижений (готовность пространства)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Конфиденциальность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Правило прерывания клиента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Ответственность клиента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Тема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Результат</a:t>
            </a:r>
          </a:p>
          <a:p>
            <a:pPr marL="45720" lvl="0" indent="0" algn="l" rtl="0">
              <a:lnSpc>
                <a:spcPct val="115000"/>
              </a:lnSpc>
              <a:spcBef>
                <a:spcPts val="448"/>
              </a:spcBef>
              <a:spcAft>
                <a:spcPts val="1600"/>
              </a:spcAft>
              <a:buClr>
                <a:schemeClr val="dk1"/>
              </a:buClr>
              <a:buSzPts val="224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9" name="Google Shape;499;p6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63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 контракта</a:t>
            </a: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0116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5"/>
          <p:cNvSpPr/>
          <p:nvPr/>
        </p:nvSpPr>
        <p:spPr>
          <a:xfrm>
            <a:off x="539550" y="2193700"/>
            <a:ext cx="4989000" cy="16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Ключевой вопрос: на ком «сидит обезьяна»?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Как мы можем передать ответственность клиенту? Какие вопросы мы можем задать, какие еще действия можно предпринять?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13" name="Google Shape;513;p65" descr="79c19143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5400" y="1459375"/>
            <a:ext cx="2536775" cy="18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5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65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3. Ответственность клиента </a:t>
            </a:r>
            <a:br>
              <a:rPr lang="ru-RU" sz="2400" b="1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и его обязательства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9"/>
          <p:cNvSpPr txBox="1">
            <a:spLocks noGrp="1"/>
          </p:cNvSpPr>
          <p:nvPr>
            <p:ph type="title" idx="4294967295"/>
          </p:nvPr>
        </p:nvSpPr>
        <p:spPr>
          <a:xfrm>
            <a:off x="539550" y="1385700"/>
            <a:ext cx="6877800" cy="3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Переходить от вопросов к ответам и советам</a:t>
            </a:r>
            <a:endParaRPr sz="1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Предлагать свои решения</a:t>
            </a:r>
            <a:endParaRPr sz="1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Забывать, что реальность клиента может не совпадать с реальностью коуча, начинать общаться только из своих представлений о ситуации, из своего взгляда на мир</a:t>
            </a:r>
            <a:endParaRPr sz="1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Много говорить и мало слушать</a:t>
            </a:r>
            <a:endParaRPr sz="1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Начинать использовать своих клиентов для того, чтобы удовлетворять какие-то свои внутренние нужды (внимание, восхищение, обогащение, доминирование и пр.)</a:t>
            </a:r>
            <a:br>
              <a:rPr lang="ru-RU" sz="1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p69"/>
          <p:cNvSpPr/>
          <p:nvPr/>
        </p:nvSpPr>
        <p:spPr>
          <a:xfrm>
            <a:off x="214627" y="1046476"/>
            <a:ext cx="78858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6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9"/>
          <p:cNvSpPr txBox="1">
            <a:spLocks noGrp="1"/>
          </p:cNvSpPr>
          <p:nvPr>
            <p:ph type="title" idx="4294967295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Ошибки коучингового взаимодействия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0"/>
          <p:cNvSpPr txBox="1">
            <a:spLocks noGrp="1"/>
          </p:cNvSpPr>
          <p:nvPr>
            <p:ph type="subTitle" idx="1"/>
          </p:nvPr>
        </p:nvSpPr>
        <p:spPr>
          <a:xfrm>
            <a:off x="539550" y="1961375"/>
            <a:ext cx="7272900" cy="26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Начинать воспринимать проблему клиента, как свою (не умение установить границ и увидеть собственные «слабые места»)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Решать слишком много вопросов сразу за одну встречу-сессию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Слишком хотеть хороших результатов: всё и сразу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Забывать, что клиент двигается к решениям в своем темпе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Быть неспособным понять пользу фрустрации в сессии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Быть неспособным сделать коучинг стратегическим: коуч должен уметь держать во внимании все сферы жизни клиента. И если клиент, выиграв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одном, потеряет в другом, то коуч должен это отметить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50" name="Google Shape;550;p7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0"/>
          <p:cNvSpPr txBox="1">
            <a:spLocks noGrp="1"/>
          </p:cNvSpPr>
          <p:nvPr>
            <p:ph type="title" idx="4294967295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Ошибки коучингового взаимодействия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1"/>
          <p:cNvSpPr txBox="1">
            <a:spLocks noGrp="1"/>
          </p:cNvSpPr>
          <p:nvPr>
            <p:ph type="body" idx="1"/>
          </p:nvPr>
        </p:nvSpPr>
        <p:spPr>
          <a:xfrm>
            <a:off x="539550" y="2008325"/>
            <a:ext cx="79656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Калибровать состояние клиента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Использовать речевые инструменты коучинга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Моделировать ситуации во время сессии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57" name="Google Shape;557;p71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71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Необходимые навыки коуча 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2"/>
          <p:cNvSpPr txBox="1">
            <a:spLocks noGrp="1"/>
          </p:cNvSpPr>
          <p:nvPr>
            <p:ph type="body" idx="1"/>
          </p:nvPr>
        </p:nvSpPr>
        <p:spPr>
          <a:xfrm>
            <a:off x="539550" y="1801450"/>
            <a:ext cx="5645100" cy="27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"/>
              <a:buNone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Коуч должен ориентироваться не только на вербальную информацию, которую он получает от клиента,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но и на </a:t>
            </a:r>
            <a:r>
              <a:rPr lang="ru-RU" sz="1400" i="1">
                <a:latin typeface="Open Sans"/>
                <a:ea typeface="Open Sans"/>
                <a:cs typeface="Open Sans"/>
                <a:sym typeface="Open Sans"/>
              </a:rPr>
              <a:t>невербальную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:</a:t>
            </a:r>
            <a:br>
              <a:rPr lang="ru-RU" sz="1200"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движения глаз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тонус и движения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мимических мышц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поза тела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размер губ, зрачков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температура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местоположение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дыхание (глубина)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4" name="Google Shape;564;p7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2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Умение калибровать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p72"/>
          <p:cNvSpPr txBox="1"/>
          <p:nvPr/>
        </p:nvSpPr>
        <p:spPr>
          <a:xfrm>
            <a:off x="3541655" y="2566745"/>
            <a:ext cx="3960000" cy="18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угол плеч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выражение лица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окраска кожного покрова   (лицо, шея)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жесты рук и пальцев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наклон головы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характеристики голоса: тон, темп, громкость, высота, тембр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3"/>
          <p:cNvSpPr txBox="1">
            <a:spLocks noGrp="1"/>
          </p:cNvSpPr>
          <p:nvPr>
            <p:ph type="body" idx="1"/>
          </p:nvPr>
        </p:nvSpPr>
        <p:spPr>
          <a:xfrm>
            <a:off x="539550" y="1799400"/>
            <a:ext cx="7848900" cy="2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43052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AutoNum type="arabicPeriod"/>
            </a:pPr>
            <a:r>
              <a:rPr lang="ru-RU" sz="1100" b="1">
                <a:latin typeface="Open Sans"/>
                <a:ea typeface="Open Sans"/>
                <a:cs typeface="Open Sans"/>
                <a:sym typeface="Open Sans"/>
              </a:rPr>
              <a:t>В ответ на вопросы участник отвечает правду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Могли бы вы рассказать откуда Вы родом, где родились.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Не могли бы вы рассказать, где Вы родились и где живете сейчас.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Могли бы вы рассказать с чем связана Ваша сфера деятельности.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Где, когда, что….? ОТКРЫТЫЕ ВОПРОСЫ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endParaRPr sz="1100" b="1">
              <a:latin typeface="Open Sans"/>
              <a:ea typeface="Open Sans"/>
              <a:cs typeface="Open Sans"/>
              <a:sym typeface="Open Sans"/>
            </a:endParaRPr>
          </a:p>
          <a:p>
            <a:pPr marL="560070" lvl="0" indent="-430529" algn="l" rtl="0">
              <a:lnSpc>
                <a:spcPct val="80000"/>
              </a:lnSpc>
              <a:spcBef>
                <a:spcPts val="484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AutoNum type="arabicPeriod" startAt="2"/>
            </a:pPr>
            <a:r>
              <a:rPr lang="ru-RU" sz="1100" b="1">
                <a:latin typeface="Open Sans"/>
                <a:ea typeface="Open Sans"/>
                <a:cs typeface="Open Sans"/>
                <a:sym typeface="Open Sans"/>
              </a:rPr>
              <a:t>В ответ на вопросы участник врёт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Как обычно проводите свой отпуск?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Какие напитки предпочитаете пить?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Какие машины Вы любите?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Какие блюда Вы любите?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Какой вид транспорта Вы предпочитаете?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ru-RU" sz="110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  <a:p>
            <a:pPr marL="560070" lvl="0" indent="-430529" algn="l" rtl="0">
              <a:lnSpc>
                <a:spcPct val="80000"/>
              </a:lnSpc>
              <a:spcBef>
                <a:spcPts val="484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Open Sans"/>
              <a:buAutoNum type="arabicPeriod" startAt="3"/>
            </a:pPr>
            <a:r>
              <a:rPr lang="ru-RU" sz="1100" b="1">
                <a:latin typeface="Open Sans"/>
                <a:ea typeface="Open Sans"/>
                <a:cs typeface="Open Sans"/>
                <a:sym typeface="Open Sans"/>
              </a:rPr>
              <a:t>Затем, участник может отвечать на вопросы либо правду, либо ложь. </a:t>
            </a:r>
            <a:br>
              <a:rPr lang="ru-RU" sz="1100" b="1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100" b="1">
                <a:latin typeface="Open Sans"/>
                <a:ea typeface="Open Sans"/>
                <a:cs typeface="Open Sans"/>
                <a:sym typeface="Open Sans"/>
              </a:rPr>
              <a:t>Наша задача – определить  ложь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72" name="Google Shape;572;p7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3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8406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Упражнение на определение  правды-лжи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4"/>
          <p:cNvSpPr txBox="1">
            <a:spLocks noGrp="1"/>
          </p:cNvSpPr>
          <p:nvPr>
            <p:ph type="body" idx="1"/>
          </p:nvPr>
        </p:nvSpPr>
        <p:spPr>
          <a:xfrm>
            <a:off x="539550" y="1926625"/>
            <a:ext cx="6976800" cy="20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1. Вопросы. Выделяется пять типов вопросов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2. Обратная связь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3. Утверждения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4. Вызовы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5. Идеи (интервенции)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79" name="Google Shape;579;p7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74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5"/>
          <p:cNvSpPr txBox="1">
            <a:spLocks noGrp="1"/>
          </p:cNvSpPr>
          <p:nvPr>
            <p:ph type="body" idx="1"/>
          </p:nvPr>
        </p:nvSpPr>
        <p:spPr>
          <a:xfrm>
            <a:off x="539550" y="2005600"/>
            <a:ext cx="6604200" cy="17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Важно, чтобы клиент сам подошел к тому, что побуждает </a:t>
            </a:r>
            <a:br>
              <a:rPr lang="ru-RU" sz="16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его думать так, а не иначе, поэтому наиболее эффективными являются </a:t>
            </a: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открытые 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  <a:br>
              <a:rPr lang="ru-RU" sz="1600"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1496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Открытые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 вопросы — возможны разнообразные ответы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1496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Закрытые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 вопросы — возможен ответ либо «да», либо «нет», «или/или»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6" name="Google Shape;586;p75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5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коучинга. Вопросы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6"/>
          <p:cNvSpPr txBox="1">
            <a:spLocks noGrp="1"/>
          </p:cNvSpPr>
          <p:nvPr>
            <p:ph type="body" idx="1"/>
          </p:nvPr>
        </p:nvSpPr>
        <p:spPr>
          <a:xfrm>
            <a:off x="581025" y="1961375"/>
            <a:ext cx="7735500" cy="20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Модельные вопросы. 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Такие вопросы организованы на основании модели, например, на модели GROW. (Пример вопросов по модели GROW в раздаточных материалах)</a:t>
            </a:r>
            <a:br>
              <a:rPr lang="ru-RU" sz="1600"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«Какова Ваша долгосрочная цель относительно данного вопроса?»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«Когда Вы хотели бы её достичь?»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«Какие Вы видите промежуточные шаги?» 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«Каковы сроки для их осуществления?» 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3" name="Google Shape;593;p76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6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коучинга. Вопросы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7"/>
          <p:cNvSpPr txBox="1">
            <a:spLocks noGrp="1"/>
          </p:cNvSpPr>
          <p:nvPr>
            <p:ph type="body" idx="1"/>
          </p:nvPr>
        </p:nvSpPr>
        <p:spPr>
          <a:xfrm>
            <a:off x="539550" y="1824625"/>
            <a:ext cx="7118700" cy="27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Вопросы, проверяющие предположения клиента 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– вопросы о том, насколько основательны, реалистичны предположения клиента. Например: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«На основании чего Вы думаете, что это так?»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«На каких предположениях основан Ваш образ действий?»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«Почему именно так?»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«Что Вас побуждает так думать?»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«Что это значит?»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77" descr="Картинки по запросу вопросы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1" name="Google Shape;601;p7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77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коучинга. Вопросы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8"/>
          <p:cNvSpPr txBox="1">
            <a:spLocks noGrp="1"/>
          </p:cNvSpPr>
          <p:nvPr>
            <p:ph type="body" idx="1"/>
          </p:nvPr>
        </p:nvSpPr>
        <p:spPr>
          <a:xfrm>
            <a:off x="539550" y="1815100"/>
            <a:ext cx="82089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37"/>
              <a:buNone/>
            </a:pPr>
            <a:r>
              <a:rPr lang="ru-RU" sz="1200" b="1">
                <a:latin typeface="Open Sans"/>
                <a:ea typeface="Open Sans"/>
                <a:cs typeface="Open Sans"/>
                <a:sym typeface="Open Sans"/>
              </a:rPr>
              <a:t>Вопросы, проверяющие предположения коуча — </a:t>
            </a: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вопросы-уточнения: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«Как я слышу, Вы сказали, что не собираетесь этим заниматься…»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«Я правильно понимаю, что…»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«У меня такое впечатление, что …»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Важно не увлечься решением проблемы клиента, не «уводить» его в свою реальность.</a:t>
            </a:r>
            <a:br>
              <a:rPr lang="ru-RU" sz="1200"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387"/>
              </a:spcBef>
              <a:spcAft>
                <a:spcPts val="0"/>
              </a:spcAft>
              <a:buClr>
                <a:schemeClr val="dk1"/>
              </a:buClr>
              <a:buSzPts val="1937"/>
              <a:buNone/>
            </a:pPr>
            <a:r>
              <a:rPr lang="ru-RU" sz="1200" b="1">
                <a:latin typeface="Open Sans"/>
                <a:ea typeface="Open Sans"/>
                <a:cs typeface="Open Sans"/>
                <a:sym typeface="Open Sans"/>
              </a:rPr>
              <a:t>Вопросы разрешения — </a:t>
            </a: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направлены на сохранение контакта, создают более вежливый контакт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«Не могли бы Вы рассказать мне о вашей цели?»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«Можете ли Вы  рассказать мне о вашей цели?»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«Расскажите, пожалуйста, о своей цели...»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200">
                <a:latin typeface="Open Sans"/>
                <a:ea typeface="Open Sans"/>
                <a:cs typeface="Open Sans"/>
                <a:sym typeface="Open Sans"/>
              </a:rPr>
              <a:t>«Позвольте уточнить...»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1600"/>
              </a:spcAft>
              <a:buClr>
                <a:srgbClr val="FF0000"/>
              </a:buClr>
              <a:buSzPts val="1200"/>
              <a:buFont typeface="Open Sans"/>
              <a:buChar char="●"/>
            </a:pPr>
            <a:r>
              <a:rPr lang="ru-RU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«Вам необходимо рассказать о себе более подробно...»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8" name="Google Shape;608;p78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78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коучинга. Вопросы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9"/>
          <p:cNvSpPr txBox="1">
            <a:spLocks noGrp="1"/>
          </p:cNvSpPr>
          <p:nvPr>
            <p:ph type="body" idx="1"/>
          </p:nvPr>
        </p:nvSpPr>
        <p:spPr>
          <a:xfrm>
            <a:off x="539550" y="1866900"/>
            <a:ext cx="70041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Работа с картой реальности (трансформационные вопросы)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Вопросы этой категории помогают выйти за рамки ограничивающих убеждений и посмотреть на задачу с позиции возможностей. Применяются, когда клиент высказывает заранее продуманные концепции, и не видит, как в этом контексте можно решить задачу. 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Обычно начинаются с: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«Давайте предположим, что…»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«Представьте себе, что…»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«Что если бы Вы были…»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00660" algn="l" rtl="0">
              <a:lnSpc>
                <a:spcPct val="100000"/>
              </a:lnSpc>
              <a:spcBef>
                <a:spcPts val="448"/>
              </a:spcBef>
              <a:spcAft>
                <a:spcPts val="1600"/>
              </a:spcAft>
              <a:buClr>
                <a:schemeClr val="dk1"/>
              </a:buClr>
              <a:buSzPts val="224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15" name="Google Shape;615;p7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79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коучинга. Вопросы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0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848900" cy="25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Обратная связь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необходима, когда нужно дать понять клиенту разницу между тем, что думает и говорит клиент, и тем, что видит коуч в его поведении. Коуч наблюдает, а затем нейтрально описывает поведение клиента. Важно избегать оценки и побудительных моментов: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«Как Вам кажется, что сейчас происходит?»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«Мне кажется, что для вас характерно именно так поступать…»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«Я не уверен, что это так в действительности…»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Open Sans"/>
              <a:buChar char="●"/>
            </a:pPr>
            <a:r>
              <a:rPr lang="ru-RU" sz="14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 «Я заметил, что когда Вы это говорите, Ваше тело говорит о неправде...»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22" name="Google Shape;622;p8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80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1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848900" cy="25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Утверждения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Могут быть в разнообразных формах, например,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 похвала / «поглаживание»: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«Вы хорошо в этом разбираетесь!»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«Здорово, что у Вас такой решительный настрой»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Или другие утверждения коуча: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«Мне кажется, нам стоит сейчас…»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«У меня есть ощущение, что у нас недостаточно контакта»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29" name="Google Shape;629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6774" y="2007593"/>
            <a:ext cx="1775073" cy="1128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81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1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2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217400" cy="24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Вызовы.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Применяются как элемент фрустрации, когда клиенту предстоит сделать что-то, что является для него выходом из зоны комфорта. Добавляет клиенту решимости или становится для коуча индикатором решимости клиента.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«Мне кажется, Вы не сможете».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«Мне кажется, Вы и дальше будете продолжать так делать» (в отношении неэффективной стратегии поведения).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«Мне кажется, Вы не будете этого делать» (в отношении нового плана действий).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160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37" name="Google Shape;637;p8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82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коучинга. Вопросы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3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217400" cy="27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Идеи или интервенции.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некотором смысле, это выход из коуч-позиции.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Это не совет, но информация о том, как можно поступить в этом случае.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Например: «У меня есть знакомые, которые в такой ситуации поступили так-то». Применяется, когда очевидно, что у клиента просто не хватает информации, а у коуча такая информация есть.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этом случае коуч может подать идею, чтобы сэкономить время и усилия клиента на поиск этой информации в других источниках.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Важно подать идею клиенту так, чтобы у него была </a:t>
            </a:r>
            <a:r>
              <a:rPr lang="ru-RU" sz="1400" u="sng">
                <a:latin typeface="Open Sans"/>
                <a:ea typeface="Open Sans"/>
                <a:cs typeface="Open Sans"/>
                <a:sym typeface="Open Sans"/>
              </a:rPr>
              <a:t>возможность принять её или отказаться.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44" name="Google Shape;644;p8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83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коучинга. Вопросы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4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004400" cy="19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Моделировать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– это значит предложить клиенту представить себе ситуацию и «проиграть» её здесь и сейчас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Например: «Я – ваш начальник. Можете прямо сейчас попросить меня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 повышении. Как Вы будете это делать?»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«Как если бы…»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«Представьте себе, что Вы уже старший менеджер,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 бы Вы изменили ситуацию?»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51" name="Google Shape;651;p8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4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Моделирование ситуации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85" descr="GROW-1024x52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0" y="1961375"/>
            <a:ext cx="5737426" cy="256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85" descr="grow-intro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3525" y="1143469"/>
            <a:ext cx="1933450" cy="56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85" descr="C:\Users\v.pospelov\Desktop\лого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85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4092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Макромодели коучинга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8"/>
          <p:cNvSpPr txBox="1">
            <a:spLocks noGrp="1"/>
          </p:cNvSpPr>
          <p:nvPr>
            <p:ph type="body" idx="1"/>
          </p:nvPr>
        </p:nvSpPr>
        <p:spPr>
          <a:xfrm>
            <a:off x="539550" y="2053225"/>
            <a:ext cx="7665000" cy="26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ru-RU" b="1" dirty="0">
                <a:latin typeface="Open Sans"/>
                <a:ea typeface="Open Sans"/>
                <a:cs typeface="Open Sans"/>
                <a:sym typeface="Open Sans"/>
              </a:rPr>
              <a:t>Используется при постановке целей (</a:t>
            </a:r>
            <a:r>
              <a:rPr lang="ru-RU" b="1" dirty="0">
                <a:solidFill>
                  <a:srgbClr val="31489F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ru-RU" b="1" dirty="0"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-RU" b="1" dirty="0">
                <a:latin typeface="Open Sans"/>
                <a:ea typeface="Open Sans"/>
                <a:cs typeface="Open Sans"/>
                <a:sym typeface="Open Sans"/>
              </a:rPr>
              <a:t>Т- модель. </a:t>
            </a: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Используется при постановке целей </a:t>
            </a:r>
            <a:br>
              <a:rPr lang="ru-RU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и обследовании реальности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ru-RU" b="1" dirty="0">
                <a:latin typeface="Open Sans"/>
                <a:ea typeface="Open Sans"/>
                <a:cs typeface="Open Sans"/>
                <a:sym typeface="Open Sans"/>
              </a:rPr>
              <a:t>SMART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0" name="Google Shape;680;p88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88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Микромодели коучинга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9"/>
          <p:cNvSpPr txBox="1">
            <a:spLocks noGrp="1"/>
          </p:cNvSpPr>
          <p:nvPr>
            <p:ph type="body" idx="1"/>
          </p:nvPr>
        </p:nvSpPr>
        <p:spPr>
          <a:xfrm>
            <a:off x="2777475" y="1450100"/>
            <a:ext cx="3023100" cy="7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3200"/>
              <a:buNone/>
            </a:pPr>
            <a:r>
              <a:rPr lang="ru-RU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p89"/>
          <p:cNvSpPr/>
          <p:nvPr/>
        </p:nvSpPr>
        <p:spPr>
          <a:xfrm>
            <a:off x="3698375" y="2321900"/>
            <a:ext cx="1180200" cy="2160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8" name="Google Shape;688;p8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89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2177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Т- модель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0" name="Google Shape;690;p89"/>
          <p:cNvSpPr txBox="1">
            <a:spLocks noGrp="1"/>
          </p:cNvSpPr>
          <p:nvPr>
            <p:ph type="body" idx="1"/>
          </p:nvPr>
        </p:nvSpPr>
        <p:spPr>
          <a:xfrm rot="-5400000">
            <a:off x="3272375" y="3062450"/>
            <a:ext cx="20322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ctr" rtl="0">
              <a:lnSpc>
                <a:spcPct val="115000"/>
              </a:lnSpc>
              <a:spcBef>
                <a:spcPts val="666"/>
              </a:spcBef>
              <a:spcAft>
                <a:spcPts val="1600"/>
              </a:spcAft>
              <a:buClr>
                <a:schemeClr val="dk1"/>
              </a:buClr>
              <a:buSzPts val="3330"/>
              <a:buNone/>
            </a:pPr>
            <a:r>
              <a:rPr lang="ru-RU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Фокусировка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1" name="Google Shape;691;p89"/>
          <p:cNvSpPr txBox="1">
            <a:spLocks noGrp="1"/>
          </p:cNvSpPr>
          <p:nvPr>
            <p:ph type="body" idx="1"/>
          </p:nvPr>
        </p:nvSpPr>
        <p:spPr>
          <a:xfrm>
            <a:off x="3272375" y="1524650"/>
            <a:ext cx="20322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ctr" rtl="0">
              <a:lnSpc>
                <a:spcPct val="115000"/>
              </a:lnSpc>
              <a:spcBef>
                <a:spcPts val="666"/>
              </a:spcBef>
              <a:spcAft>
                <a:spcPts val="1600"/>
              </a:spcAft>
              <a:buClr>
                <a:schemeClr val="dk1"/>
              </a:buClr>
              <a:buSzPts val="3330"/>
              <a:buNone/>
            </a:pPr>
            <a:r>
              <a:rPr lang="ru-RU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Расширение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90" descr="TSel-po-SMART"/>
          <p:cNvPicPr preferRelativeResize="0"/>
          <p:nvPr/>
        </p:nvPicPr>
        <p:blipFill rotWithShape="1">
          <a:blip r:embed="rId3">
            <a:alphaModFix/>
          </a:blip>
          <a:srcRect l="4542" t="4226" r="4232" b="8084"/>
          <a:stretch/>
        </p:blipFill>
        <p:spPr>
          <a:xfrm>
            <a:off x="2857500" y="1056225"/>
            <a:ext cx="4733926" cy="33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SMART </a:t>
            </a:r>
            <a:br>
              <a:rPr lang="ru-RU" sz="2400" b="1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>
                <a:latin typeface="Open Sans"/>
                <a:ea typeface="Open Sans"/>
                <a:cs typeface="Open Sans"/>
                <a:sym typeface="Open Sans"/>
              </a:rPr>
              <a:t>Цели. Что я хочу?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5">
            <a:alphaModFix/>
          </a:blip>
          <a:srcRect l="679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90"/>
          <p:cNvPicPr preferRelativeResize="0"/>
          <p:nvPr/>
        </p:nvPicPr>
        <p:blipFill rotWithShape="1">
          <a:blip r:embed="rId3">
            <a:alphaModFix/>
          </a:blip>
          <a:srcRect l="6794"/>
          <a:stretch/>
        </p:blipFill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Работа с ценностями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пузырьковым методом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latin typeface="Open Sans"/>
                <a:ea typeface="Open Sans"/>
                <a:cs typeface="Open Sans"/>
                <a:sym typeface="Open Sans"/>
              </a:rPr>
              <a:t>Работа с приоритетами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8E952-75C5-4B82-9E4B-299B677C9CC1}"/>
              </a:ext>
            </a:extLst>
          </p:cNvPr>
          <p:cNvSpPr txBox="1"/>
          <p:nvPr/>
        </p:nvSpPr>
        <p:spPr>
          <a:xfrm>
            <a:off x="5966624" y="1138065"/>
            <a:ext cx="30721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49F6E-B0AF-43EC-A760-4D1404C9CAA8}"/>
              </a:ext>
            </a:extLst>
          </p:cNvPr>
          <p:cNvSpPr txBox="1"/>
          <p:nvPr/>
        </p:nvSpPr>
        <p:spPr>
          <a:xfrm>
            <a:off x="506539" y="3197110"/>
            <a:ext cx="5535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Сравнивают попарно, смежные между собой элементы, начиная с самого нижнего.</a:t>
            </a:r>
          </a:p>
          <a:p>
            <a:endParaRPr lang="ru-RU" dirty="0"/>
          </a:p>
          <a:p>
            <a:r>
              <a:rPr lang="ru-RU" dirty="0"/>
              <a:t>«</a:t>
            </a:r>
            <a:r>
              <a:rPr lang="ru-RU" i="1" dirty="0"/>
              <a:t>У тебя есть </a:t>
            </a:r>
            <a:r>
              <a:rPr lang="ru-RU" b="1" i="1" dirty="0"/>
              <a:t>ценность 10</a:t>
            </a:r>
            <a:r>
              <a:rPr lang="ru-RU" i="1" dirty="0"/>
              <a:t>, но нет </a:t>
            </a:r>
            <a:r>
              <a:rPr lang="ru-RU" b="1" i="1" dirty="0"/>
              <a:t>ценности 9</a:t>
            </a:r>
            <a:r>
              <a:rPr lang="ru-RU" i="1" dirty="0"/>
              <a:t>. Или. У тебя есть </a:t>
            </a:r>
            <a:r>
              <a:rPr lang="ru-RU" b="1" i="1" dirty="0"/>
              <a:t>ценность 9</a:t>
            </a:r>
            <a:r>
              <a:rPr lang="ru-RU" i="1" dirty="0"/>
              <a:t>, но нет </a:t>
            </a:r>
            <a:r>
              <a:rPr lang="ru-RU" b="1" i="1" dirty="0"/>
              <a:t>ценности 10</a:t>
            </a:r>
            <a:r>
              <a:rPr lang="ru-RU" i="1" dirty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80498"/>
      </p:ext>
    </p:extLst>
  </p:cSld>
  <p:clrMapOvr>
    <a:masterClrMapping/>
  </p:clrMapOvr>
  <p:transition spd="slow">
    <p:push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23246" y="1203849"/>
            <a:ext cx="4067206" cy="92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Шкалирование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04065C-5D0F-4D66-A3C7-FF25BB87C1B2}"/>
              </a:ext>
            </a:extLst>
          </p:cNvPr>
          <p:cNvSpPr txBox="1"/>
          <p:nvPr/>
        </p:nvSpPr>
        <p:spPr>
          <a:xfrm>
            <a:off x="1" y="2202418"/>
            <a:ext cx="41904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Метод работы с ценностными запросами.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Например: хочу быть любящей, более открытой, нежной, женственной.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Хочу быть целеустремлённым, усидчивым и более общительным.</a:t>
            </a:r>
            <a:endParaRPr lang="ru-RU"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6239115-F824-4AAE-85C8-79F16636D43A}"/>
              </a:ext>
            </a:extLst>
          </p:cNvPr>
          <p:cNvGrpSpPr/>
          <p:nvPr/>
        </p:nvGrpSpPr>
        <p:grpSpPr>
          <a:xfrm>
            <a:off x="4203609" y="1667628"/>
            <a:ext cx="4595107" cy="2873948"/>
            <a:chOff x="4203609" y="1667628"/>
            <a:chExt cx="4595107" cy="2873948"/>
          </a:xfrm>
        </p:grpSpPr>
        <p:sp>
          <p:nvSpPr>
            <p:cNvPr id="3" name="Стрелка: вправо 2">
              <a:extLst>
                <a:ext uri="{FF2B5EF4-FFF2-40B4-BE49-F238E27FC236}">
                  <a16:creationId xmlns:a16="http://schemas.microsoft.com/office/drawing/2014/main" id="{2D3C0C59-630C-4C61-BB57-5BEF7DDF0F70}"/>
                </a:ext>
              </a:extLst>
            </p:cNvPr>
            <p:cNvSpPr/>
            <p:nvPr/>
          </p:nvSpPr>
          <p:spPr>
            <a:xfrm>
              <a:off x="4338467" y="2456628"/>
              <a:ext cx="4190451" cy="115122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20D53B5-8FD2-4FA5-9901-7C1A58C56E7B}"/>
                </a:ext>
              </a:extLst>
            </p:cNvPr>
            <p:cNvSpPr txBox="1"/>
            <p:nvPr/>
          </p:nvSpPr>
          <p:spPr>
            <a:xfrm>
              <a:off x="5256155" y="1667628"/>
              <a:ext cx="2808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Шкала «</a:t>
              </a:r>
              <a:r>
                <a:rPr lang="ru-RU" i="1" dirty="0"/>
                <a:t>уверенности»</a:t>
              </a:r>
              <a:endParaRPr lang="ru-RU" dirty="0"/>
            </a:p>
          </p:txBody>
        </p: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C358BADB-C484-48CC-9116-112C250AFFA0}"/>
                </a:ext>
              </a:extLst>
            </p:cNvPr>
            <p:cNvCxnSpPr/>
            <p:nvPr/>
          </p:nvCxnSpPr>
          <p:spPr>
            <a:xfrm>
              <a:off x="4338467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A774B0-B541-4B12-8B66-5530D79FDDF2}"/>
                </a:ext>
              </a:extLst>
            </p:cNvPr>
            <p:cNvSpPr txBox="1"/>
            <p:nvPr/>
          </p:nvSpPr>
          <p:spPr>
            <a:xfrm>
              <a:off x="4203609" y="2607931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6B6508-FA32-4607-857D-4CE3F9ACB99A}"/>
                </a:ext>
              </a:extLst>
            </p:cNvPr>
            <p:cNvSpPr txBox="1"/>
            <p:nvPr/>
          </p:nvSpPr>
          <p:spPr>
            <a:xfrm>
              <a:off x="8284377" y="2607931"/>
              <a:ext cx="4890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10</a:t>
              </a:r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813E5C29-434C-4479-81F4-988F0DF7E0FC}"/>
                </a:ext>
              </a:extLst>
            </p:cNvPr>
            <p:cNvCxnSpPr/>
            <p:nvPr/>
          </p:nvCxnSpPr>
          <p:spPr>
            <a:xfrm>
              <a:off x="5592752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B5AE54A0-A1C3-4D41-96FD-A0A920F84BFB}"/>
                </a:ext>
              </a:extLst>
            </p:cNvPr>
            <p:cNvCxnSpPr/>
            <p:nvPr/>
          </p:nvCxnSpPr>
          <p:spPr>
            <a:xfrm>
              <a:off x="8026767" y="2420445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2CCD2A-D149-40F8-A630-59A6A37DB3B0}"/>
                </a:ext>
              </a:extLst>
            </p:cNvPr>
            <p:cNvSpPr txBox="1"/>
            <p:nvPr/>
          </p:nvSpPr>
          <p:spPr>
            <a:xfrm>
              <a:off x="5474340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6D8723-DE26-4708-A084-FE9A32DE773E}"/>
                </a:ext>
              </a:extLst>
            </p:cNvPr>
            <p:cNvSpPr txBox="1"/>
            <p:nvPr/>
          </p:nvSpPr>
          <p:spPr>
            <a:xfrm>
              <a:off x="7884741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8" name="Дуга 7">
              <a:extLst>
                <a:ext uri="{FF2B5EF4-FFF2-40B4-BE49-F238E27FC236}">
                  <a16:creationId xmlns:a16="http://schemas.microsoft.com/office/drawing/2014/main" id="{7D2BC458-6836-4735-8396-F8A6E45A60D3}"/>
                </a:ext>
              </a:extLst>
            </p:cNvPr>
            <p:cNvSpPr/>
            <p:nvPr/>
          </p:nvSpPr>
          <p:spPr>
            <a:xfrm>
              <a:off x="5592751" y="2158835"/>
              <a:ext cx="2472378" cy="361930"/>
            </a:xfrm>
            <a:prstGeom prst="arc">
              <a:avLst>
                <a:gd name="adj1" fmla="val 10806036"/>
                <a:gd name="adj2" fmla="val 214283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22C8A9-F94D-4C90-B98D-7E70A9529C0A}"/>
                </a:ext>
              </a:extLst>
            </p:cNvPr>
            <p:cNvSpPr txBox="1"/>
            <p:nvPr/>
          </p:nvSpPr>
          <p:spPr>
            <a:xfrm>
              <a:off x="5047923" y="2782376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Где сейчас?</a:t>
              </a:r>
              <a:endParaRPr lang="ru-R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784BAD-218C-4B89-AA8C-AE7CB200DAA1}"/>
                </a:ext>
              </a:extLst>
            </p:cNvPr>
            <p:cNvSpPr txBox="1"/>
            <p:nvPr/>
          </p:nvSpPr>
          <p:spPr>
            <a:xfrm>
              <a:off x="7377779" y="2782375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Куда хочу?</a:t>
              </a:r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A89212-00DE-4253-A40F-B3758F38BD06}"/>
                </a:ext>
              </a:extLst>
            </p:cNvPr>
            <p:cNvSpPr txBox="1"/>
            <p:nvPr/>
          </p:nvSpPr>
          <p:spPr>
            <a:xfrm>
              <a:off x="5094479" y="3095026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понимаю что тут?: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173CE5-9F7B-4393-B362-0F0EEF042702}"/>
                </a:ext>
              </a:extLst>
            </p:cNvPr>
            <p:cNvSpPr txBox="1"/>
            <p:nvPr/>
          </p:nvSpPr>
          <p:spPr>
            <a:xfrm>
              <a:off x="7144753" y="3089153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пойму что достиг: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90144330"/>
      </p:ext>
    </p:extLst>
  </p:cSld>
  <p:clrMapOvr>
    <a:masterClrMapping/>
  </p:clrMapOvr>
  <p:transition spd="slow">
    <p:push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0" y="1207139"/>
            <a:ext cx="4919111" cy="237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- </a:t>
            </a:r>
            <a:r>
              <a:rPr lang="ru-RU" sz="2400" b="1" dirty="0" err="1">
                <a:latin typeface="Open Sans"/>
                <a:ea typeface="Open Sans"/>
                <a:cs typeface="Open Sans"/>
                <a:sym typeface="Open Sans"/>
              </a:rPr>
              <a:t>балланса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- ценностей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- развития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C590FAE-CFB9-4B43-868E-BF1366281A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/>
          <a:stretch/>
        </p:blipFill>
        <p:spPr bwMode="auto">
          <a:xfrm>
            <a:off x="4227410" y="827313"/>
            <a:ext cx="3625500" cy="333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77D240-61F0-43D6-941B-AB55DA695E6A}"/>
              </a:ext>
            </a:extLst>
          </p:cNvPr>
          <p:cNvSpPr txBox="1"/>
          <p:nvPr/>
        </p:nvSpPr>
        <p:spPr>
          <a:xfrm>
            <a:off x="36959" y="3078718"/>
            <a:ext cx="4190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Из каких элементов состоит ваша жизнь?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628CE-5CBA-4974-8BDB-3C50C4F7429F}"/>
              </a:ext>
            </a:extLst>
          </p:cNvPr>
          <p:cNvSpPr txBox="1"/>
          <p:nvPr/>
        </p:nvSpPr>
        <p:spPr>
          <a:xfrm>
            <a:off x="91615" y="4011597"/>
            <a:ext cx="4190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Николай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Мрочковский</a:t>
            </a: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 «Экстремальный тайм менеджмент»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8630320"/>
      </p:ext>
    </p:extLst>
  </p:cSld>
  <p:clrMapOvr>
    <a:masterClrMapping/>
  </p:clrMapOvr>
  <p:transition spd="slow">
    <p:push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0" y="1207139"/>
            <a:ext cx="4919111" cy="237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A628CE-5CBA-4974-8BDB-3C50C4F7429F}"/>
              </a:ext>
            </a:extLst>
          </p:cNvPr>
          <p:cNvSpPr txBox="1"/>
          <p:nvPr/>
        </p:nvSpPr>
        <p:spPr>
          <a:xfrm>
            <a:off x="91615" y="4011597"/>
            <a:ext cx="4190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/>
                <a:ea typeface="Open Sans"/>
                <a:cs typeface="Open Sans"/>
                <a:sym typeface="Open Sans"/>
                <a:hlinkClick r:id="rId4"/>
              </a:rPr>
              <a:t>Николай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  <a:hlinkClick r:id="rId4"/>
              </a:rPr>
              <a:t>Мрочковский</a:t>
            </a:r>
            <a:r>
              <a:rPr lang="ru-RU" dirty="0">
                <a:latin typeface="Open Sans"/>
                <a:ea typeface="Open Sans"/>
                <a:cs typeface="Open Sans"/>
                <a:sym typeface="Open Sans"/>
                <a:hlinkClick r:id="rId4"/>
              </a:rPr>
              <a:t> «Экстремальный тайм менеджмент»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49F7B7-1280-4BB4-A468-407858118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020" y="1000866"/>
            <a:ext cx="2731756" cy="27840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E08456-DDB7-43BF-B363-8CAA1643A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463" y="1014974"/>
            <a:ext cx="2040362" cy="30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04198"/>
      </p:ext>
    </p:extLst>
  </p:cSld>
  <p:clrMapOvr>
    <a:masterClrMapping/>
  </p:clrMapOvr>
  <p:transition spd="slow">
    <p:push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0" y="1207139"/>
            <a:ext cx="4919111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Объект 3">
            <a:extLst>
              <a:ext uri="{FF2B5EF4-FFF2-40B4-BE49-F238E27FC236}">
                <a16:creationId xmlns:a16="http://schemas.microsoft.com/office/drawing/2014/main" id="{B0054151-F863-464F-A4AD-795F90E1E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487" y="510140"/>
            <a:ext cx="4414349" cy="37516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635069"/>
      </p:ext>
    </p:extLst>
  </p:cSld>
  <p:clrMapOvr>
    <a:masterClrMapping/>
  </p:clrMapOvr>
  <p:transition spd="slow">
    <p:push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7CB6A48-A5CE-482A-B840-F5AAC8C72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3" t="8050" r="19907" b="7745"/>
          <a:stretch/>
        </p:blipFill>
        <p:spPr bwMode="auto">
          <a:xfrm>
            <a:off x="2906486" y="179584"/>
            <a:ext cx="4642758" cy="431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097507"/>
      </p:ext>
    </p:extLst>
  </p:cSld>
  <p:clrMapOvr>
    <a:masterClrMapping/>
  </p:clrMapOvr>
  <p:transition spd="slow">
    <p:push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54710B5-9469-46EE-8873-0A56B98CE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098" y="308890"/>
            <a:ext cx="4196445" cy="40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206162"/>
      </p:ext>
    </p:extLst>
  </p:cSld>
  <p:clrMapOvr>
    <a:masterClrMapping/>
  </p:clrMapOvr>
  <p:transition spd="slow">
    <p:push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947F63-2EAF-4670-B908-19671375E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196" y="101938"/>
            <a:ext cx="4327301" cy="432730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F7F9D2-1CB9-4B91-8296-812604E80A65}"/>
              </a:ext>
            </a:extLst>
          </p:cNvPr>
          <p:cNvSpPr txBox="1"/>
          <p:nvPr/>
        </p:nvSpPr>
        <p:spPr>
          <a:xfrm>
            <a:off x="87439" y="2265589"/>
            <a:ext cx="41198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Заполните ваше колесо, сферами из вашей жизни. Сферы которые у вас есть, или сферы которых нет, но вы хотите что бы они появились. Можете взять предложенные сферы, и откорректировать их. Можете полностью написать свои сферы.</a:t>
            </a:r>
          </a:p>
          <a:p>
            <a:endParaRPr lang="ru-RU" dirty="0"/>
          </a:p>
          <a:p>
            <a:r>
              <a:rPr lang="ru-RU" dirty="0"/>
              <a:t>«</a:t>
            </a:r>
            <a:r>
              <a:rPr lang="ru-RU" i="1" dirty="0"/>
              <a:t>Оцените, насколько вы удовлетворены реализацией каждой сферы в вашей жизни по 10-ти бальной шкале»</a:t>
            </a:r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84535D2A-EE57-4F2E-9CAE-1F786D2E53DE}"/>
              </a:ext>
            </a:extLst>
          </p:cNvPr>
          <p:cNvSpPr/>
          <p:nvPr/>
        </p:nvSpPr>
        <p:spPr>
          <a:xfrm>
            <a:off x="4294354" y="544285"/>
            <a:ext cx="3581844" cy="3113315"/>
          </a:xfrm>
          <a:custGeom>
            <a:avLst/>
            <a:gdLst>
              <a:gd name="connsiteX0" fmla="*/ 729403 w 3581844"/>
              <a:gd name="connsiteY0" fmla="*/ 1687286 h 3113315"/>
              <a:gd name="connsiteX1" fmla="*/ 740289 w 3581844"/>
              <a:gd name="connsiteY1" fmla="*/ 1567544 h 3113315"/>
              <a:gd name="connsiteX2" fmla="*/ 745732 w 3581844"/>
              <a:gd name="connsiteY2" fmla="*/ 1518558 h 3113315"/>
              <a:gd name="connsiteX3" fmla="*/ 762060 w 3581844"/>
              <a:gd name="connsiteY3" fmla="*/ 1464129 h 3113315"/>
              <a:gd name="connsiteX4" fmla="*/ 772946 w 3581844"/>
              <a:gd name="connsiteY4" fmla="*/ 1431472 h 3113315"/>
              <a:gd name="connsiteX5" fmla="*/ 778389 w 3581844"/>
              <a:gd name="connsiteY5" fmla="*/ 1415144 h 3113315"/>
              <a:gd name="connsiteX6" fmla="*/ 789275 w 3581844"/>
              <a:gd name="connsiteY6" fmla="*/ 1398815 h 3113315"/>
              <a:gd name="connsiteX7" fmla="*/ 800160 w 3581844"/>
              <a:gd name="connsiteY7" fmla="*/ 1366158 h 3113315"/>
              <a:gd name="connsiteX8" fmla="*/ 821932 w 3581844"/>
              <a:gd name="connsiteY8" fmla="*/ 1333501 h 3113315"/>
              <a:gd name="connsiteX9" fmla="*/ 832817 w 3581844"/>
              <a:gd name="connsiteY9" fmla="*/ 1300844 h 3113315"/>
              <a:gd name="connsiteX10" fmla="*/ 843703 w 3581844"/>
              <a:gd name="connsiteY10" fmla="*/ 1284515 h 3113315"/>
              <a:gd name="connsiteX11" fmla="*/ 854589 w 3581844"/>
              <a:gd name="connsiteY11" fmla="*/ 1251858 h 3113315"/>
              <a:gd name="connsiteX12" fmla="*/ 865475 w 3581844"/>
              <a:gd name="connsiteY12" fmla="*/ 1219201 h 3113315"/>
              <a:gd name="connsiteX13" fmla="*/ 876360 w 3581844"/>
              <a:gd name="connsiteY13" fmla="*/ 1186544 h 3113315"/>
              <a:gd name="connsiteX14" fmla="*/ 887246 w 3581844"/>
              <a:gd name="connsiteY14" fmla="*/ 1170215 h 3113315"/>
              <a:gd name="connsiteX15" fmla="*/ 898132 w 3581844"/>
              <a:gd name="connsiteY15" fmla="*/ 1137558 h 3113315"/>
              <a:gd name="connsiteX16" fmla="*/ 919903 w 3581844"/>
              <a:gd name="connsiteY16" fmla="*/ 1088572 h 3113315"/>
              <a:gd name="connsiteX17" fmla="*/ 925346 w 3581844"/>
              <a:gd name="connsiteY17" fmla="*/ 1072244 h 3113315"/>
              <a:gd name="connsiteX18" fmla="*/ 936232 w 3581844"/>
              <a:gd name="connsiteY18" fmla="*/ 1055915 h 3113315"/>
              <a:gd name="connsiteX19" fmla="*/ 947117 w 3581844"/>
              <a:gd name="connsiteY19" fmla="*/ 1023258 h 3113315"/>
              <a:gd name="connsiteX20" fmla="*/ 979775 w 3581844"/>
              <a:gd name="connsiteY20" fmla="*/ 974272 h 3113315"/>
              <a:gd name="connsiteX21" fmla="*/ 990660 w 3581844"/>
              <a:gd name="connsiteY21" fmla="*/ 957944 h 3113315"/>
              <a:gd name="connsiteX22" fmla="*/ 1006989 w 3581844"/>
              <a:gd name="connsiteY22" fmla="*/ 941615 h 3113315"/>
              <a:gd name="connsiteX23" fmla="*/ 1017875 w 3581844"/>
              <a:gd name="connsiteY23" fmla="*/ 925286 h 3113315"/>
              <a:gd name="connsiteX24" fmla="*/ 1050532 w 3581844"/>
              <a:gd name="connsiteY24" fmla="*/ 908958 h 3113315"/>
              <a:gd name="connsiteX25" fmla="*/ 1099517 w 3581844"/>
              <a:gd name="connsiteY25" fmla="*/ 881744 h 3113315"/>
              <a:gd name="connsiteX26" fmla="*/ 1115846 w 3581844"/>
              <a:gd name="connsiteY26" fmla="*/ 870858 h 3113315"/>
              <a:gd name="connsiteX27" fmla="*/ 1132175 w 3581844"/>
              <a:gd name="connsiteY27" fmla="*/ 821872 h 3113315"/>
              <a:gd name="connsiteX28" fmla="*/ 1148503 w 3581844"/>
              <a:gd name="connsiteY28" fmla="*/ 832758 h 3113315"/>
              <a:gd name="connsiteX29" fmla="*/ 1159389 w 3581844"/>
              <a:gd name="connsiteY29" fmla="*/ 849086 h 3113315"/>
              <a:gd name="connsiteX30" fmla="*/ 1175717 w 3581844"/>
              <a:gd name="connsiteY30" fmla="*/ 854529 h 3113315"/>
              <a:gd name="connsiteX31" fmla="*/ 1208375 w 3581844"/>
              <a:gd name="connsiteY31" fmla="*/ 876301 h 3113315"/>
              <a:gd name="connsiteX32" fmla="*/ 1224703 w 3581844"/>
              <a:gd name="connsiteY32" fmla="*/ 887186 h 3113315"/>
              <a:gd name="connsiteX33" fmla="*/ 1241032 w 3581844"/>
              <a:gd name="connsiteY33" fmla="*/ 892629 h 3113315"/>
              <a:gd name="connsiteX34" fmla="*/ 1279132 w 3581844"/>
              <a:gd name="connsiteY34" fmla="*/ 936172 h 3113315"/>
              <a:gd name="connsiteX35" fmla="*/ 1311789 w 3581844"/>
              <a:gd name="connsiteY35" fmla="*/ 947058 h 3113315"/>
              <a:gd name="connsiteX36" fmla="*/ 1344446 w 3581844"/>
              <a:gd name="connsiteY36" fmla="*/ 963386 h 3113315"/>
              <a:gd name="connsiteX37" fmla="*/ 1349889 w 3581844"/>
              <a:gd name="connsiteY37" fmla="*/ 947058 h 3113315"/>
              <a:gd name="connsiteX38" fmla="*/ 1377103 w 3581844"/>
              <a:gd name="connsiteY38" fmla="*/ 919844 h 3113315"/>
              <a:gd name="connsiteX39" fmla="*/ 1404317 w 3581844"/>
              <a:gd name="connsiteY39" fmla="*/ 898072 h 3113315"/>
              <a:gd name="connsiteX40" fmla="*/ 1431532 w 3581844"/>
              <a:gd name="connsiteY40" fmla="*/ 876301 h 3113315"/>
              <a:gd name="connsiteX41" fmla="*/ 1447860 w 3581844"/>
              <a:gd name="connsiteY41" fmla="*/ 859972 h 3113315"/>
              <a:gd name="connsiteX42" fmla="*/ 1464189 w 3581844"/>
              <a:gd name="connsiteY42" fmla="*/ 854529 h 3113315"/>
              <a:gd name="connsiteX43" fmla="*/ 1496846 w 3581844"/>
              <a:gd name="connsiteY43" fmla="*/ 832758 h 3113315"/>
              <a:gd name="connsiteX44" fmla="*/ 1513175 w 3581844"/>
              <a:gd name="connsiteY44" fmla="*/ 821872 h 3113315"/>
              <a:gd name="connsiteX45" fmla="*/ 1529503 w 3581844"/>
              <a:gd name="connsiteY45" fmla="*/ 810986 h 3113315"/>
              <a:gd name="connsiteX46" fmla="*/ 1611146 w 3581844"/>
              <a:gd name="connsiteY46" fmla="*/ 783772 h 3113315"/>
              <a:gd name="connsiteX47" fmla="*/ 1643803 w 3581844"/>
              <a:gd name="connsiteY47" fmla="*/ 772886 h 3113315"/>
              <a:gd name="connsiteX48" fmla="*/ 1692789 w 3581844"/>
              <a:gd name="connsiteY48" fmla="*/ 751115 h 3113315"/>
              <a:gd name="connsiteX49" fmla="*/ 1709117 w 3581844"/>
              <a:gd name="connsiteY49" fmla="*/ 745672 h 3113315"/>
              <a:gd name="connsiteX50" fmla="*/ 1725446 w 3581844"/>
              <a:gd name="connsiteY50" fmla="*/ 740229 h 3113315"/>
              <a:gd name="connsiteX51" fmla="*/ 1741775 w 3581844"/>
              <a:gd name="connsiteY51" fmla="*/ 729344 h 3113315"/>
              <a:gd name="connsiteX52" fmla="*/ 1758103 w 3581844"/>
              <a:gd name="connsiteY52" fmla="*/ 723901 h 3113315"/>
              <a:gd name="connsiteX53" fmla="*/ 1812532 w 3581844"/>
              <a:gd name="connsiteY53" fmla="*/ 713015 h 3113315"/>
              <a:gd name="connsiteX54" fmla="*/ 1834303 w 3581844"/>
              <a:gd name="connsiteY54" fmla="*/ 707572 h 3113315"/>
              <a:gd name="connsiteX55" fmla="*/ 1850632 w 3581844"/>
              <a:gd name="connsiteY55" fmla="*/ 702129 h 3113315"/>
              <a:gd name="connsiteX56" fmla="*/ 1921389 w 3581844"/>
              <a:gd name="connsiteY56" fmla="*/ 691244 h 3113315"/>
              <a:gd name="connsiteX57" fmla="*/ 1964932 w 3581844"/>
              <a:gd name="connsiteY57" fmla="*/ 680358 h 3113315"/>
              <a:gd name="connsiteX58" fmla="*/ 1992146 w 3581844"/>
              <a:gd name="connsiteY58" fmla="*/ 674915 h 3113315"/>
              <a:gd name="connsiteX59" fmla="*/ 2035689 w 3581844"/>
              <a:gd name="connsiteY59" fmla="*/ 680358 h 3113315"/>
              <a:gd name="connsiteX60" fmla="*/ 2046575 w 3581844"/>
              <a:gd name="connsiteY60" fmla="*/ 647701 h 3113315"/>
              <a:gd name="connsiteX61" fmla="*/ 2057460 w 3581844"/>
              <a:gd name="connsiteY61" fmla="*/ 604158 h 3113315"/>
              <a:gd name="connsiteX62" fmla="*/ 2062903 w 3581844"/>
              <a:gd name="connsiteY62" fmla="*/ 587829 h 3113315"/>
              <a:gd name="connsiteX63" fmla="*/ 2068346 w 3581844"/>
              <a:gd name="connsiteY63" fmla="*/ 538844 h 3113315"/>
              <a:gd name="connsiteX64" fmla="*/ 2057460 w 3581844"/>
              <a:gd name="connsiteY64" fmla="*/ 413658 h 3113315"/>
              <a:gd name="connsiteX65" fmla="*/ 2046575 w 3581844"/>
              <a:gd name="connsiteY65" fmla="*/ 375558 h 3113315"/>
              <a:gd name="connsiteX66" fmla="*/ 2041132 w 3581844"/>
              <a:gd name="connsiteY66" fmla="*/ 348344 h 3113315"/>
              <a:gd name="connsiteX67" fmla="*/ 2030246 w 3581844"/>
              <a:gd name="connsiteY67" fmla="*/ 299358 h 3113315"/>
              <a:gd name="connsiteX68" fmla="*/ 2019360 w 3581844"/>
              <a:gd name="connsiteY68" fmla="*/ 206829 h 3113315"/>
              <a:gd name="connsiteX69" fmla="*/ 2013917 w 3581844"/>
              <a:gd name="connsiteY69" fmla="*/ 179615 h 3113315"/>
              <a:gd name="connsiteX70" fmla="*/ 2003032 w 3581844"/>
              <a:gd name="connsiteY70" fmla="*/ 141515 h 3113315"/>
              <a:gd name="connsiteX71" fmla="*/ 2008475 w 3581844"/>
              <a:gd name="connsiteY71" fmla="*/ 5444 h 3113315"/>
              <a:gd name="connsiteX72" fmla="*/ 2024803 w 3581844"/>
              <a:gd name="connsiteY72" fmla="*/ 1 h 3113315"/>
              <a:gd name="connsiteX73" fmla="*/ 2122775 w 3581844"/>
              <a:gd name="connsiteY73" fmla="*/ 5444 h 3113315"/>
              <a:gd name="connsiteX74" fmla="*/ 2166317 w 3581844"/>
              <a:gd name="connsiteY74" fmla="*/ 10886 h 3113315"/>
              <a:gd name="connsiteX75" fmla="*/ 2198975 w 3581844"/>
              <a:gd name="connsiteY75" fmla="*/ 21772 h 3113315"/>
              <a:gd name="connsiteX76" fmla="*/ 2400360 w 3581844"/>
              <a:gd name="connsiteY76" fmla="*/ 21772 h 3113315"/>
              <a:gd name="connsiteX77" fmla="*/ 2433017 w 3581844"/>
              <a:gd name="connsiteY77" fmla="*/ 32658 h 3113315"/>
              <a:gd name="connsiteX78" fmla="*/ 2449346 w 3581844"/>
              <a:gd name="connsiteY78" fmla="*/ 38101 h 3113315"/>
              <a:gd name="connsiteX79" fmla="*/ 2465675 w 3581844"/>
              <a:gd name="connsiteY79" fmla="*/ 43544 h 3113315"/>
              <a:gd name="connsiteX80" fmla="*/ 2498332 w 3581844"/>
              <a:gd name="connsiteY80" fmla="*/ 59872 h 3113315"/>
              <a:gd name="connsiteX81" fmla="*/ 2514660 w 3581844"/>
              <a:gd name="connsiteY81" fmla="*/ 70758 h 3113315"/>
              <a:gd name="connsiteX82" fmla="*/ 2530989 w 3581844"/>
              <a:gd name="connsiteY82" fmla="*/ 76201 h 3113315"/>
              <a:gd name="connsiteX83" fmla="*/ 2563646 w 3581844"/>
              <a:gd name="connsiteY83" fmla="*/ 97972 h 3113315"/>
              <a:gd name="connsiteX84" fmla="*/ 2596303 w 3581844"/>
              <a:gd name="connsiteY84" fmla="*/ 108858 h 3113315"/>
              <a:gd name="connsiteX85" fmla="*/ 2628960 w 3581844"/>
              <a:gd name="connsiteY85" fmla="*/ 125186 h 3113315"/>
              <a:gd name="connsiteX86" fmla="*/ 2661617 w 3581844"/>
              <a:gd name="connsiteY86" fmla="*/ 141515 h 3113315"/>
              <a:gd name="connsiteX87" fmla="*/ 2710603 w 3581844"/>
              <a:gd name="connsiteY87" fmla="*/ 163286 h 3113315"/>
              <a:gd name="connsiteX88" fmla="*/ 2732375 w 3581844"/>
              <a:gd name="connsiteY88" fmla="*/ 168729 h 3113315"/>
              <a:gd name="connsiteX89" fmla="*/ 2765032 w 3581844"/>
              <a:gd name="connsiteY89" fmla="*/ 179615 h 3113315"/>
              <a:gd name="connsiteX90" fmla="*/ 2797689 w 3581844"/>
              <a:gd name="connsiteY90" fmla="*/ 201386 h 3113315"/>
              <a:gd name="connsiteX91" fmla="*/ 2814017 w 3581844"/>
              <a:gd name="connsiteY91" fmla="*/ 212272 h 3113315"/>
              <a:gd name="connsiteX92" fmla="*/ 2846675 w 3581844"/>
              <a:gd name="connsiteY92" fmla="*/ 228601 h 3113315"/>
              <a:gd name="connsiteX93" fmla="*/ 2863003 w 3581844"/>
              <a:gd name="connsiteY93" fmla="*/ 234044 h 3113315"/>
              <a:gd name="connsiteX94" fmla="*/ 2879332 w 3581844"/>
              <a:gd name="connsiteY94" fmla="*/ 244929 h 3113315"/>
              <a:gd name="connsiteX95" fmla="*/ 2895660 w 3581844"/>
              <a:gd name="connsiteY95" fmla="*/ 250372 h 3113315"/>
              <a:gd name="connsiteX96" fmla="*/ 2911989 w 3581844"/>
              <a:gd name="connsiteY96" fmla="*/ 261258 h 3113315"/>
              <a:gd name="connsiteX97" fmla="*/ 2944646 w 3581844"/>
              <a:gd name="connsiteY97" fmla="*/ 272144 h 3113315"/>
              <a:gd name="connsiteX98" fmla="*/ 3042617 w 3581844"/>
              <a:gd name="connsiteY98" fmla="*/ 304801 h 3113315"/>
              <a:gd name="connsiteX99" fmla="*/ 3075275 w 3581844"/>
              <a:gd name="connsiteY99" fmla="*/ 315686 h 3113315"/>
              <a:gd name="connsiteX100" fmla="*/ 3091603 w 3581844"/>
              <a:gd name="connsiteY100" fmla="*/ 321129 h 3113315"/>
              <a:gd name="connsiteX101" fmla="*/ 3124260 w 3581844"/>
              <a:gd name="connsiteY101" fmla="*/ 337458 h 3113315"/>
              <a:gd name="connsiteX102" fmla="*/ 3146032 w 3581844"/>
              <a:gd name="connsiteY102" fmla="*/ 370115 h 3113315"/>
              <a:gd name="connsiteX103" fmla="*/ 3151475 w 3581844"/>
              <a:gd name="connsiteY103" fmla="*/ 386444 h 3113315"/>
              <a:gd name="connsiteX104" fmla="*/ 3162360 w 3581844"/>
              <a:gd name="connsiteY104" fmla="*/ 402772 h 3113315"/>
              <a:gd name="connsiteX105" fmla="*/ 3178689 w 3581844"/>
              <a:gd name="connsiteY105" fmla="*/ 408215 h 3113315"/>
              <a:gd name="connsiteX106" fmla="*/ 3200460 w 3581844"/>
              <a:gd name="connsiteY106" fmla="*/ 435429 h 3113315"/>
              <a:gd name="connsiteX107" fmla="*/ 3227675 w 3581844"/>
              <a:gd name="connsiteY107" fmla="*/ 457201 h 3113315"/>
              <a:gd name="connsiteX108" fmla="*/ 3249446 w 3581844"/>
              <a:gd name="connsiteY108" fmla="*/ 489858 h 3113315"/>
              <a:gd name="connsiteX109" fmla="*/ 3238560 w 3581844"/>
              <a:gd name="connsiteY109" fmla="*/ 506186 h 3113315"/>
              <a:gd name="connsiteX110" fmla="*/ 3222232 w 3581844"/>
              <a:gd name="connsiteY110" fmla="*/ 511629 h 3113315"/>
              <a:gd name="connsiteX111" fmla="*/ 3205903 w 3581844"/>
              <a:gd name="connsiteY111" fmla="*/ 522515 h 3113315"/>
              <a:gd name="connsiteX112" fmla="*/ 3178689 w 3581844"/>
              <a:gd name="connsiteY112" fmla="*/ 549729 h 3113315"/>
              <a:gd name="connsiteX113" fmla="*/ 3151475 w 3581844"/>
              <a:gd name="connsiteY113" fmla="*/ 571501 h 3113315"/>
              <a:gd name="connsiteX114" fmla="*/ 3140589 w 3581844"/>
              <a:gd name="connsiteY114" fmla="*/ 587829 h 3113315"/>
              <a:gd name="connsiteX115" fmla="*/ 3124260 w 3581844"/>
              <a:gd name="connsiteY115" fmla="*/ 598715 h 3113315"/>
              <a:gd name="connsiteX116" fmla="*/ 3102489 w 3581844"/>
              <a:gd name="connsiteY116" fmla="*/ 625929 h 3113315"/>
              <a:gd name="connsiteX117" fmla="*/ 3091603 w 3581844"/>
              <a:gd name="connsiteY117" fmla="*/ 642258 h 3113315"/>
              <a:gd name="connsiteX118" fmla="*/ 3075275 w 3581844"/>
              <a:gd name="connsiteY118" fmla="*/ 653144 h 3113315"/>
              <a:gd name="connsiteX119" fmla="*/ 3053503 w 3581844"/>
              <a:gd name="connsiteY119" fmla="*/ 674915 h 3113315"/>
              <a:gd name="connsiteX120" fmla="*/ 3031732 w 3581844"/>
              <a:gd name="connsiteY120" fmla="*/ 707572 h 3113315"/>
              <a:gd name="connsiteX121" fmla="*/ 3020846 w 3581844"/>
              <a:gd name="connsiteY121" fmla="*/ 723901 h 3113315"/>
              <a:gd name="connsiteX122" fmla="*/ 3004517 w 3581844"/>
              <a:gd name="connsiteY122" fmla="*/ 734786 h 3113315"/>
              <a:gd name="connsiteX123" fmla="*/ 2993632 w 3581844"/>
              <a:gd name="connsiteY123" fmla="*/ 751115 h 3113315"/>
              <a:gd name="connsiteX124" fmla="*/ 2966417 w 3581844"/>
              <a:gd name="connsiteY124" fmla="*/ 778329 h 3113315"/>
              <a:gd name="connsiteX125" fmla="*/ 2955532 w 3581844"/>
              <a:gd name="connsiteY125" fmla="*/ 810986 h 3113315"/>
              <a:gd name="connsiteX126" fmla="*/ 2960975 w 3581844"/>
              <a:gd name="connsiteY126" fmla="*/ 827315 h 3113315"/>
              <a:gd name="connsiteX127" fmla="*/ 2988189 w 3581844"/>
              <a:gd name="connsiteY127" fmla="*/ 859972 h 3113315"/>
              <a:gd name="connsiteX128" fmla="*/ 3004517 w 3581844"/>
              <a:gd name="connsiteY128" fmla="*/ 870858 h 3113315"/>
              <a:gd name="connsiteX129" fmla="*/ 3015403 w 3581844"/>
              <a:gd name="connsiteY129" fmla="*/ 887186 h 3113315"/>
              <a:gd name="connsiteX130" fmla="*/ 3031732 w 3581844"/>
              <a:gd name="connsiteY130" fmla="*/ 892629 h 3113315"/>
              <a:gd name="connsiteX131" fmla="*/ 3037175 w 3581844"/>
              <a:gd name="connsiteY131" fmla="*/ 908958 h 3113315"/>
              <a:gd name="connsiteX132" fmla="*/ 3053503 w 3581844"/>
              <a:gd name="connsiteY132" fmla="*/ 919844 h 3113315"/>
              <a:gd name="connsiteX133" fmla="*/ 3080717 w 3581844"/>
              <a:gd name="connsiteY133" fmla="*/ 947058 h 3113315"/>
              <a:gd name="connsiteX134" fmla="*/ 3107932 w 3581844"/>
              <a:gd name="connsiteY134" fmla="*/ 974272 h 3113315"/>
              <a:gd name="connsiteX135" fmla="*/ 3135146 w 3581844"/>
              <a:gd name="connsiteY135" fmla="*/ 1023258 h 3113315"/>
              <a:gd name="connsiteX136" fmla="*/ 3146032 w 3581844"/>
              <a:gd name="connsiteY136" fmla="*/ 1039586 h 3113315"/>
              <a:gd name="connsiteX137" fmla="*/ 3156917 w 3581844"/>
              <a:gd name="connsiteY137" fmla="*/ 1055915 h 3113315"/>
              <a:gd name="connsiteX138" fmla="*/ 3173246 w 3581844"/>
              <a:gd name="connsiteY138" fmla="*/ 1072244 h 3113315"/>
              <a:gd name="connsiteX139" fmla="*/ 3189575 w 3581844"/>
              <a:gd name="connsiteY139" fmla="*/ 1104901 h 3113315"/>
              <a:gd name="connsiteX140" fmla="*/ 3195017 w 3581844"/>
              <a:gd name="connsiteY140" fmla="*/ 1121229 h 3113315"/>
              <a:gd name="connsiteX141" fmla="*/ 3205903 w 3581844"/>
              <a:gd name="connsiteY141" fmla="*/ 1137558 h 3113315"/>
              <a:gd name="connsiteX142" fmla="*/ 3211346 w 3581844"/>
              <a:gd name="connsiteY142" fmla="*/ 1153886 h 3113315"/>
              <a:gd name="connsiteX143" fmla="*/ 3222232 w 3581844"/>
              <a:gd name="connsiteY143" fmla="*/ 1170215 h 3113315"/>
              <a:gd name="connsiteX144" fmla="*/ 3233117 w 3581844"/>
              <a:gd name="connsiteY144" fmla="*/ 1202872 h 3113315"/>
              <a:gd name="connsiteX145" fmla="*/ 3244003 w 3581844"/>
              <a:gd name="connsiteY145" fmla="*/ 1219201 h 3113315"/>
              <a:gd name="connsiteX146" fmla="*/ 3254889 w 3581844"/>
              <a:gd name="connsiteY146" fmla="*/ 1251858 h 3113315"/>
              <a:gd name="connsiteX147" fmla="*/ 3265775 w 3581844"/>
              <a:gd name="connsiteY147" fmla="*/ 1284515 h 3113315"/>
              <a:gd name="connsiteX148" fmla="*/ 3276660 w 3581844"/>
              <a:gd name="connsiteY148" fmla="*/ 1317172 h 3113315"/>
              <a:gd name="connsiteX149" fmla="*/ 3282103 w 3581844"/>
              <a:gd name="connsiteY149" fmla="*/ 1333501 h 3113315"/>
              <a:gd name="connsiteX150" fmla="*/ 3287546 w 3581844"/>
              <a:gd name="connsiteY150" fmla="*/ 1366158 h 3113315"/>
              <a:gd name="connsiteX151" fmla="*/ 3298432 w 3581844"/>
              <a:gd name="connsiteY151" fmla="*/ 1398815 h 3113315"/>
              <a:gd name="connsiteX152" fmla="*/ 3309317 w 3581844"/>
              <a:gd name="connsiteY152" fmla="*/ 1431472 h 3113315"/>
              <a:gd name="connsiteX153" fmla="*/ 3320203 w 3581844"/>
              <a:gd name="connsiteY153" fmla="*/ 1469572 h 3113315"/>
              <a:gd name="connsiteX154" fmla="*/ 3331089 w 3581844"/>
              <a:gd name="connsiteY154" fmla="*/ 1524001 h 3113315"/>
              <a:gd name="connsiteX155" fmla="*/ 3331089 w 3581844"/>
              <a:gd name="connsiteY155" fmla="*/ 1698172 h 3113315"/>
              <a:gd name="connsiteX156" fmla="*/ 3303875 w 3581844"/>
              <a:gd name="connsiteY156" fmla="*/ 1736272 h 3113315"/>
              <a:gd name="connsiteX157" fmla="*/ 3292989 w 3581844"/>
              <a:gd name="connsiteY157" fmla="*/ 1752601 h 3113315"/>
              <a:gd name="connsiteX158" fmla="*/ 3325646 w 3581844"/>
              <a:gd name="connsiteY158" fmla="*/ 1763486 h 3113315"/>
              <a:gd name="connsiteX159" fmla="*/ 3347417 w 3581844"/>
              <a:gd name="connsiteY159" fmla="*/ 1768929 h 3113315"/>
              <a:gd name="connsiteX160" fmla="*/ 3380075 w 3581844"/>
              <a:gd name="connsiteY160" fmla="*/ 1779815 h 3113315"/>
              <a:gd name="connsiteX161" fmla="*/ 3434503 w 3581844"/>
              <a:gd name="connsiteY161" fmla="*/ 1790701 h 3113315"/>
              <a:gd name="connsiteX162" fmla="*/ 3494375 w 3581844"/>
              <a:gd name="connsiteY162" fmla="*/ 1796144 h 3113315"/>
              <a:gd name="connsiteX163" fmla="*/ 3510703 w 3581844"/>
              <a:gd name="connsiteY163" fmla="*/ 1801586 h 3113315"/>
              <a:gd name="connsiteX164" fmla="*/ 3576017 w 3581844"/>
              <a:gd name="connsiteY164" fmla="*/ 1807029 h 3113315"/>
              <a:gd name="connsiteX165" fmla="*/ 3570575 w 3581844"/>
              <a:gd name="connsiteY165" fmla="*/ 1877786 h 3113315"/>
              <a:gd name="connsiteX166" fmla="*/ 3565132 w 3581844"/>
              <a:gd name="connsiteY166" fmla="*/ 1894115 h 3113315"/>
              <a:gd name="connsiteX167" fmla="*/ 3548803 w 3581844"/>
              <a:gd name="connsiteY167" fmla="*/ 1905001 h 3113315"/>
              <a:gd name="connsiteX168" fmla="*/ 3527032 w 3581844"/>
              <a:gd name="connsiteY168" fmla="*/ 1937658 h 3113315"/>
              <a:gd name="connsiteX169" fmla="*/ 3516146 w 3581844"/>
              <a:gd name="connsiteY169" fmla="*/ 1953986 h 3113315"/>
              <a:gd name="connsiteX170" fmla="*/ 3499817 w 3581844"/>
              <a:gd name="connsiteY170" fmla="*/ 1964872 h 3113315"/>
              <a:gd name="connsiteX171" fmla="*/ 3483489 w 3581844"/>
              <a:gd name="connsiteY171" fmla="*/ 1997529 h 3113315"/>
              <a:gd name="connsiteX172" fmla="*/ 3472603 w 3581844"/>
              <a:gd name="connsiteY172" fmla="*/ 2035629 h 3113315"/>
              <a:gd name="connsiteX173" fmla="*/ 3456275 w 3581844"/>
              <a:gd name="connsiteY173" fmla="*/ 2084615 h 3113315"/>
              <a:gd name="connsiteX174" fmla="*/ 3450832 w 3581844"/>
              <a:gd name="connsiteY174" fmla="*/ 2100944 h 3113315"/>
              <a:gd name="connsiteX175" fmla="*/ 3445389 w 3581844"/>
              <a:gd name="connsiteY175" fmla="*/ 2122715 h 3113315"/>
              <a:gd name="connsiteX176" fmla="*/ 3439946 w 3581844"/>
              <a:gd name="connsiteY176" fmla="*/ 2166258 h 3113315"/>
              <a:gd name="connsiteX177" fmla="*/ 3434503 w 3581844"/>
              <a:gd name="connsiteY177" fmla="*/ 2193472 h 3113315"/>
              <a:gd name="connsiteX178" fmla="*/ 3429060 w 3581844"/>
              <a:gd name="connsiteY178" fmla="*/ 2237015 h 3113315"/>
              <a:gd name="connsiteX179" fmla="*/ 3423617 w 3581844"/>
              <a:gd name="connsiteY179" fmla="*/ 2264229 h 3113315"/>
              <a:gd name="connsiteX180" fmla="*/ 3418175 w 3581844"/>
              <a:gd name="connsiteY180" fmla="*/ 2302329 h 3113315"/>
              <a:gd name="connsiteX181" fmla="*/ 3412732 w 3581844"/>
              <a:gd name="connsiteY181" fmla="*/ 2318658 h 3113315"/>
              <a:gd name="connsiteX182" fmla="*/ 3407289 w 3581844"/>
              <a:gd name="connsiteY182" fmla="*/ 2345872 h 3113315"/>
              <a:gd name="connsiteX183" fmla="*/ 3390960 w 3581844"/>
              <a:gd name="connsiteY183" fmla="*/ 2432958 h 3113315"/>
              <a:gd name="connsiteX184" fmla="*/ 3385517 w 3581844"/>
              <a:gd name="connsiteY184" fmla="*/ 2449286 h 3113315"/>
              <a:gd name="connsiteX185" fmla="*/ 3369189 w 3581844"/>
              <a:gd name="connsiteY185" fmla="*/ 2460172 h 3113315"/>
              <a:gd name="connsiteX186" fmla="*/ 3331089 w 3581844"/>
              <a:gd name="connsiteY186" fmla="*/ 2503715 h 3113315"/>
              <a:gd name="connsiteX187" fmla="*/ 3292989 w 3581844"/>
              <a:gd name="connsiteY187" fmla="*/ 2547258 h 3113315"/>
              <a:gd name="connsiteX188" fmla="*/ 3254889 w 3581844"/>
              <a:gd name="connsiteY188" fmla="*/ 2596244 h 3113315"/>
              <a:gd name="connsiteX189" fmla="*/ 3238560 w 3581844"/>
              <a:gd name="connsiteY189" fmla="*/ 2628901 h 3113315"/>
              <a:gd name="connsiteX190" fmla="*/ 3222232 w 3581844"/>
              <a:gd name="connsiteY190" fmla="*/ 2639786 h 3113315"/>
              <a:gd name="connsiteX191" fmla="*/ 3195017 w 3581844"/>
              <a:gd name="connsiteY191" fmla="*/ 2688772 h 3113315"/>
              <a:gd name="connsiteX192" fmla="*/ 3184132 w 3581844"/>
              <a:gd name="connsiteY192" fmla="*/ 2705101 h 3113315"/>
              <a:gd name="connsiteX193" fmla="*/ 3167803 w 3581844"/>
              <a:gd name="connsiteY193" fmla="*/ 2710544 h 3113315"/>
              <a:gd name="connsiteX194" fmla="*/ 3135146 w 3581844"/>
              <a:gd name="connsiteY194" fmla="*/ 2732315 h 3113315"/>
              <a:gd name="connsiteX195" fmla="*/ 3107932 w 3581844"/>
              <a:gd name="connsiteY195" fmla="*/ 2759529 h 3113315"/>
              <a:gd name="connsiteX196" fmla="*/ 3097046 w 3581844"/>
              <a:gd name="connsiteY196" fmla="*/ 2775858 h 3113315"/>
              <a:gd name="connsiteX197" fmla="*/ 3064389 w 3581844"/>
              <a:gd name="connsiteY197" fmla="*/ 2792186 h 3113315"/>
              <a:gd name="connsiteX198" fmla="*/ 3053503 w 3581844"/>
              <a:gd name="connsiteY198" fmla="*/ 2775858 h 3113315"/>
              <a:gd name="connsiteX199" fmla="*/ 3037175 w 3581844"/>
              <a:gd name="connsiteY199" fmla="*/ 2764972 h 3113315"/>
              <a:gd name="connsiteX200" fmla="*/ 3031732 w 3581844"/>
              <a:gd name="connsiteY200" fmla="*/ 2748644 h 3113315"/>
              <a:gd name="connsiteX201" fmla="*/ 3015403 w 3581844"/>
              <a:gd name="connsiteY201" fmla="*/ 2737758 h 3113315"/>
              <a:gd name="connsiteX202" fmla="*/ 2966417 w 3581844"/>
              <a:gd name="connsiteY202" fmla="*/ 2688772 h 3113315"/>
              <a:gd name="connsiteX203" fmla="*/ 2950089 w 3581844"/>
              <a:gd name="connsiteY203" fmla="*/ 2672444 h 3113315"/>
              <a:gd name="connsiteX204" fmla="*/ 2917432 w 3581844"/>
              <a:gd name="connsiteY204" fmla="*/ 2623458 h 3113315"/>
              <a:gd name="connsiteX205" fmla="*/ 2906546 w 3581844"/>
              <a:gd name="connsiteY205" fmla="*/ 2607129 h 3113315"/>
              <a:gd name="connsiteX206" fmla="*/ 2895660 w 3581844"/>
              <a:gd name="connsiteY206" fmla="*/ 2590801 h 3113315"/>
              <a:gd name="connsiteX207" fmla="*/ 2868446 w 3581844"/>
              <a:gd name="connsiteY207" fmla="*/ 2541815 h 3113315"/>
              <a:gd name="connsiteX208" fmla="*/ 2852117 w 3581844"/>
              <a:gd name="connsiteY208" fmla="*/ 2530929 h 3113315"/>
              <a:gd name="connsiteX209" fmla="*/ 2841232 w 3581844"/>
              <a:gd name="connsiteY209" fmla="*/ 2514601 h 3113315"/>
              <a:gd name="connsiteX210" fmla="*/ 2830346 w 3581844"/>
              <a:gd name="connsiteY210" fmla="*/ 2492829 h 3113315"/>
              <a:gd name="connsiteX211" fmla="*/ 2814017 w 3581844"/>
              <a:gd name="connsiteY211" fmla="*/ 2481944 h 3113315"/>
              <a:gd name="connsiteX212" fmla="*/ 2797689 w 3581844"/>
              <a:gd name="connsiteY212" fmla="*/ 2449286 h 3113315"/>
              <a:gd name="connsiteX213" fmla="*/ 2781360 w 3581844"/>
              <a:gd name="connsiteY213" fmla="*/ 2438401 h 3113315"/>
              <a:gd name="connsiteX214" fmla="*/ 2759589 w 3581844"/>
              <a:gd name="connsiteY214" fmla="*/ 2411186 h 3113315"/>
              <a:gd name="connsiteX215" fmla="*/ 2748703 w 3581844"/>
              <a:gd name="connsiteY215" fmla="*/ 2394858 h 3113315"/>
              <a:gd name="connsiteX216" fmla="*/ 2732375 w 3581844"/>
              <a:gd name="connsiteY216" fmla="*/ 2378529 h 3113315"/>
              <a:gd name="connsiteX217" fmla="*/ 2710603 w 3581844"/>
              <a:gd name="connsiteY217" fmla="*/ 2345872 h 3113315"/>
              <a:gd name="connsiteX218" fmla="*/ 2683389 w 3581844"/>
              <a:gd name="connsiteY218" fmla="*/ 2313215 h 3113315"/>
              <a:gd name="connsiteX219" fmla="*/ 2667060 w 3581844"/>
              <a:gd name="connsiteY219" fmla="*/ 2296886 h 3113315"/>
              <a:gd name="connsiteX220" fmla="*/ 2645289 w 3581844"/>
              <a:gd name="connsiteY220" fmla="*/ 2264229 h 3113315"/>
              <a:gd name="connsiteX221" fmla="*/ 2634403 w 3581844"/>
              <a:gd name="connsiteY221" fmla="*/ 2247901 h 3113315"/>
              <a:gd name="connsiteX222" fmla="*/ 2618075 w 3581844"/>
              <a:gd name="connsiteY222" fmla="*/ 2237015 h 3113315"/>
              <a:gd name="connsiteX223" fmla="*/ 2596303 w 3581844"/>
              <a:gd name="connsiteY223" fmla="*/ 2209801 h 3113315"/>
              <a:gd name="connsiteX224" fmla="*/ 2569089 w 3581844"/>
              <a:gd name="connsiteY224" fmla="*/ 2182586 h 3113315"/>
              <a:gd name="connsiteX225" fmla="*/ 2530989 w 3581844"/>
              <a:gd name="connsiteY225" fmla="*/ 2144486 h 3113315"/>
              <a:gd name="connsiteX226" fmla="*/ 2514660 w 3581844"/>
              <a:gd name="connsiteY226" fmla="*/ 2133601 h 3113315"/>
              <a:gd name="connsiteX227" fmla="*/ 2498332 w 3581844"/>
              <a:gd name="connsiteY227" fmla="*/ 2122715 h 3113315"/>
              <a:gd name="connsiteX228" fmla="*/ 2482003 w 3581844"/>
              <a:gd name="connsiteY228" fmla="*/ 2133601 h 3113315"/>
              <a:gd name="connsiteX229" fmla="*/ 2471117 w 3581844"/>
              <a:gd name="connsiteY229" fmla="*/ 2149929 h 3113315"/>
              <a:gd name="connsiteX230" fmla="*/ 2454789 w 3581844"/>
              <a:gd name="connsiteY230" fmla="*/ 2166258 h 3113315"/>
              <a:gd name="connsiteX231" fmla="*/ 2427575 w 3581844"/>
              <a:gd name="connsiteY231" fmla="*/ 2193472 h 3113315"/>
              <a:gd name="connsiteX232" fmla="*/ 2400360 w 3581844"/>
              <a:gd name="connsiteY232" fmla="*/ 2220686 h 3113315"/>
              <a:gd name="connsiteX233" fmla="*/ 2373146 w 3581844"/>
              <a:gd name="connsiteY233" fmla="*/ 2247901 h 3113315"/>
              <a:gd name="connsiteX234" fmla="*/ 2345932 w 3581844"/>
              <a:gd name="connsiteY234" fmla="*/ 2275115 h 3113315"/>
              <a:gd name="connsiteX235" fmla="*/ 2335046 w 3581844"/>
              <a:gd name="connsiteY235" fmla="*/ 2291444 h 3113315"/>
              <a:gd name="connsiteX236" fmla="*/ 2318717 w 3581844"/>
              <a:gd name="connsiteY236" fmla="*/ 2302329 h 3113315"/>
              <a:gd name="connsiteX237" fmla="*/ 2302389 w 3581844"/>
              <a:gd name="connsiteY237" fmla="*/ 2318658 h 3113315"/>
              <a:gd name="connsiteX238" fmla="*/ 2269732 w 3581844"/>
              <a:gd name="connsiteY238" fmla="*/ 2340429 h 3113315"/>
              <a:gd name="connsiteX239" fmla="*/ 2253403 w 3581844"/>
              <a:gd name="connsiteY239" fmla="*/ 2351315 h 3113315"/>
              <a:gd name="connsiteX240" fmla="*/ 2237075 w 3581844"/>
              <a:gd name="connsiteY240" fmla="*/ 2362201 h 3113315"/>
              <a:gd name="connsiteX241" fmla="*/ 2220746 w 3581844"/>
              <a:gd name="connsiteY241" fmla="*/ 2367644 h 3113315"/>
              <a:gd name="connsiteX242" fmla="*/ 2177203 w 3581844"/>
              <a:gd name="connsiteY242" fmla="*/ 2394858 h 3113315"/>
              <a:gd name="connsiteX243" fmla="*/ 2160875 w 3581844"/>
              <a:gd name="connsiteY243" fmla="*/ 2400301 h 3113315"/>
              <a:gd name="connsiteX244" fmla="*/ 2084675 w 3581844"/>
              <a:gd name="connsiteY244" fmla="*/ 2394858 h 3113315"/>
              <a:gd name="connsiteX245" fmla="*/ 2068346 w 3581844"/>
              <a:gd name="connsiteY245" fmla="*/ 2389415 h 3113315"/>
              <a:gd name="connsiteX246" fmla="*/ 2041132 w 3581844"/>
              <a:gd name="connsiteY246" fmla="*/ 2367644 h 3113315"/>
              <a:gd name="connsiteX247" fmla="*/ 2035689 w 3581844"/>
              <a:gd name="connsiteY247" fmla="*/ 2383972 h 3113315"/>
              <a:gd name="connsiteX248" fmla="*/ 2046575 w 3581844"/>
              <a:gd name="connsiteY248" fmla="*/ 2471058 h 3113315"/>
              <a:gd name="connsiteX249" fmla="*/ 2062903 w 3581844"/>
              <a:gd name="connsiteY249" fmla="*/ 2552701 h 3113315"/>
              <a:gd name="connsiteX250" fmla="*/ 2068346 w 3581844"/>
              <a:gd name="connsiteY250" fmla="*/ 2569029 h 3113315"/>
              <a:gd name="connsiteX251" fmla="*/ 2073789 w 3581844"/>
              <a:gd name="connsiteY251" fmla="*/ 2585358 h 3113315"/>
              <a:gd name="connsiteX252" fmla="*/ 1915946 w 3581844"/>
              <a:gd name="connsiteY252" fmla="*/ 2596244 h 3113315"/>
              <a:gd name="connsiteX253" fmla="*/ 1877846 w 3581844"/>
              <a:gd name="connsiteY253" fmla="*/ 2601686 h 3113315"/>
              <a:gd name="connsiteX254" fmla="*/ 1692789 w 3581844"/>
              <a:gd name="connsiteY254" fmla="*/ 2596244 h 3113315"/>
              <a:gd name="connsiteX255" fmla="*/ 1676460 w 3581844"/>
              <a:gd name="connsiteY255" fmla="*/ 2590801 h 3113315"/>
              <a:gd name="connsiteX256" fmla="*/ 1643803 w 3581844"/>
              <a:gd name="connsiteY256" fmla="*/ 2569029 h 3113315"/>
              <a:gd name="connsiteX257" fmla="*/ 1627475 w 3581844"/>
              <a:gd name="connsiteY257" fmla="*/ 2558144 h 3113315"/>
              <a:gd name="connsiteX258" fmla="*/ 1611146 w 3581844"/>
              <a:gd name="connsiteY258" fmla="*/ 2541815 h 3113315"/>
              <a:gd name="connsiteX259" fmla="*/ 1578489 w 3581844"/>
              <a:gd name="connsiteY259" fmla="*/ 2520044 h 3113315"/>
              <a:gd name="connsiteX260" fmla="*/ 1556717 w 3581844"/>
              <a:gd name="connsiteY260" fmla="*/ 2487386 h 3113315"/>
              <a:gd name="connsiteX261" fmla="*/ 1545832 w 3581844"/>
              <a:gd name="connsiteY261" fmla="*/ 2471058 h 3113315"/>
              <a:gd name="connsiteX262" fmla="*/ 1529503 w 3581844"/>
              <a:gd name="connsiteY262" fmla="*/ 2460172 h 3113315"/>
              <a:gd name="connsiteX263" fmla="*/ 1518617 w 3581844"/>
              <a:gd name="connsiteY263" fmla="*/ 2443844 h 3113315"/>
              <a:gd name="connsiteX264" fmla="*/ 1485960 w 3581844"/>
              <a:gd name="connsiteY264" fmla="*/ 2416629 h 3113315"/>
              <a:gd name="connsiteX265" fmla="*/ 1475075 w 3581844"/>
              <a:gd name="connsiteY265" fmla="*/ 2400301 h 3113315"/>
              <a:gd name="connsiteX266" fmla="*/ 1426089 w 3581844"/>
              <a:gd name="connsiteY266" fmla="*/ 2356758 h 3113315"/>
              <a:gd name="connsiteX267" fmla="*/ 1387989 w 3581844"/>
              <a:gd name="connsiteY267" fmla="*/ 2367644 h 3113315"/>
              <a:gd name="connsiteX268" fmla="*/ 1355332 w 3581844"/>
              <a:gd name="connsiteY268" fmla="*/ 2389415 h 3113315"/>
              <a:gd name="connsiteX269" fmla="*/ 1328117 w 3581844"/>
              <a:gd name="connsiteY269" fmla="*/ 2411186 h 3113315"/>
              <a:gd name="connsiteX270" fmla="*/ 1295460 w 3581844"/>
              <a:gd name="connsiteY270" fmla="*/ 2432958 h 3113315"/>
              <a:gd name="connsiteX271" fmla="*/ 1268246 w 3581844"/>
              <a:gd name="connsiteY271" fmla="*/ 2460172 h 3113315"/>
              <a:gd name="connsiteX272" fmla="*/ 1246475 w 3581844"/>
              <a:gd name="connsiteY272" fmla="*/ 2492829 h 3113315"/>
              <a:gd name="connsiteX273" fmla="*/ 1224703 w 3581844"/>
              <a:gd name="connsiteY273" fmla="*/ 2525486 h 3113315"/>
              <a:gd name="connsiteX274" fmla="*/ 1213817 w 3581844"/>
              <a:gd name="connsiteY274" fmla="*/ 2541815 h 3113315"/>
              <a:gd name="connsiteX275" fmla="*/ 1164832 w 3581844"/>
              <a:gd name="connsiteY275" fmla="*/ 2590801 h 3113315"/>
              <a:gd name="connsiteX276" fmla="*/ 1148503 w 3581844"/>
              <a:gd name="connsiteY276" fmla="*/ 2607129 h 3113315"/>
              <a:gd name="connsiteX277" fmla="*/ 1132175 w 3581844"/>
              <a:gd name="connsiteY277" fmla="*/ 2618015 h 3113315"/>
              <a:gd name="connsiteX278" fmla="*/ 1110403 w 3581844"/>
              <a:gd name="connsiteY278" fmla="*/ 2645229 h 3113315"/>
              <a:gd name="connsiteX279" fmla="*/ 1088632 w 3581844"/>
              <a:gd name="connsiteY279" fmla="*/ 2672444 h 3113315"/>
              <a:gd name="connsiteX280" fmla="*/ 1061417 w 3581844"/>
              <a:gd name="connsiteY280" fmla="*/ 2699658 h 3113315"/>
              <a:gd name="connsiteX281" fmla="*/ 1045089 w 3581844"/>
              <a:gd name="connsiteY281" fmla="*/ 2715986 h 3113315"/>
              <a:gd name="connsiteX282" fmla="*/ 1006989 w 3581844"/>
              <a:gd name="connsiteY282" fmla="*/ 2737758 h 3113315"/>
              <a:gd name="connsiteX283" fmla="*/ 990660 w 3581844"/>
              <a:gd name="connsiteY283" fmla="*/ 2748644 h 3113315"/>
              <a:gd name="connsiteX284" fmla="*/ 958003 w 3581844"/>
              <a:gd name="connsiteY284" fmla="*/ 2759529 h 3113315"/>
              <a:gd name="connsiteX285" fmla="*/ 941675 w 3581844"/>
              <a:gd name="connsiteY285" fmla="*/ 2764972 h 3113315"/>
              <a:gd name="connsiteX286" fmla="*/ 925346 w 3581844"/>
              <a:gd name="connsiteY286" fmla="*/ 2770415 h 3113315"/>
              <a:gd name="connsiteX287" fmla="*/ 909017 w 3581844"/>
              <a:gd name="connsiteY287" fmla="*/ 2775858 h 3113315"/>
              <a:gd name="connsiteX288" fmla="*/ 892689 w 3581844"/>
              <a:gd name="connsiteY288" fmla="*/ 2786744 h 3113315"/>
              <a:gd name="connsiteX289" fmla="*/ 870917 w 3581844"/>
              <a:gd name="connsiteY289" fmla="*/ 2808515 h 3113315"/>
              <a:gd name="connsiteX290" fmla="*/ 854589 w 3581844"/>
              <a:gd name="connsiteY290" fmla="*/ 2819401 h 3113315"/>
              <a:gd name="connsiteX291" fmla="*/ 843703 w 3581844"/>
              <a:gd name="connsiteY291" fmla="*/ 2835729 h 3113315"/>
              <a:gd name="connsiteX292" fmla="*/ 827375 w 3581844"/>
              <a:gd name="connsiteY292" fmla="*/ 2841172 h 3113315"/>
              <a:gd name="connsiteX293" fmla="*/ 811046 w 3581844"/>
              <a:gd name="connsiteY293" fmla="*/ 2852058 h 3113315"/>
              <a:gd name="connsiteX294" fmla="*/ 789275 w 3581844"/>
              <a:gd name="connsiteY294" fmla="*/ 2884715 h 3113315"/>
              <a:gd name="connsiteX295" fmla="*/ 772946 w 3581844"/>
              <a:gd name="connsiteY295" fmla="*/ 2917372 h 3113315"/>
              <a:gd name="connsiteX296" fmla="*/ 762060 w 3581844"/>
              <a:gd name="connsiteY296" fmla="*/ 2955472 h 3113315"/>
              <a:gd name="connsiteX297" fmla="*/ 751175 w 3581844"/>
              <a:gd name="connsiteY297" fmla="*/ 2988129 h 3113315"/>
              <a:gd name="connsiteX298" fmla="*/ 745732 w 3581844"/>
              <a:gd name="connsiteY298" fmla="*/ 3004458 h 3113315"/>
              <a:gd name="connsiteX299" fmla="*/ 734846 w 3581844"/>
              <a:gd name="connsiteY299" fmla="*/ 3020786 h 3113315"/>
              <a:gd name="connsiteX300" fmla="*/ 723960 w 3581844"/>
              <a:gd name="connsiteY300" fmla="*/ 3053444 h 3113315"/>
              <a:gd name="connsiteX301" fmla="*/ 718517 w 3581844"/>
              <a:gd name="connsiteY301" fmla="*/ 3080658 h 3113315"/>
              <a:gd name="connsiteX302" fmla="*/ 707632 w 3581844"/>
              <a:gd name="connsiteY302" fmla="*/ 3113315 h 3113315"/>
              <a:gd name="connsiteX303" fmla="*/ 658646 w 3581844"/>
              <a:gd name="connsiteY303" fmla="*/ 3086101 h 3113315"/>
              <a:gd name="connsiteX304" fmla="*/ 642317 w 3581844"/>
              <a:gd name="connsiteY304" fmla="*/ 3075215 h 3113315"/>
              <a:gd name="connsiteX305" fmla="*/ 593332 w 3581844"/>
              <a:gd name="connsiteY305" fmla="*/ 3048001 h 3113315"/>
              <a:gd name="connsiteX306" fmla="*/ 577003 w 3581844"/>
              <a:gd name="connsiteY306" fmla="*/ 3037115 h 3113315"/>
              <a:gd name="connsiteX307" fmla="*/ 544346 w 3581844"/>
              <a:gd name="connsiteY307" fmla="*/ 3020786 h 3113315"/>
              <a:gd name="connsiteX308" fmla="*/ 522575 w 3581844"/>
              <a:gd name="connsiteY308" fmla="*/ 2993572 h 3113315"/>
              <a:gd name="connsiteX309" fmla="*/ 511689 w 3581844"/>
              <a:gd name="connsiteY309" fmla="*/ 2977244 h 3113315"/>
              <a:gd name="connsiteX310" fmla="*/ 479032 w 3581844"/>
              <a:gd name="connsiteY310" fmla="*/ 2944586 h 3113315"/>
              <a:gd name="connsiteX311" fmla="*/ 462703 w 3581844"/>
              <a:gd name="connsiteY311" fmla="*/ 2928258 h 3113315"/>
              <a:gd name="connsiteX312" fmla="*/ 430046 w 3581844"/>
              <a:gd name="connsiteY312" fmla="*/ 2879272 h 3113315"/>
              <a:gd name="connsiteX313" fmla="*/ 419160 w 3581844"/>
              <a:gd name="connsiteY313" fmla="*/ 2862944 h 3113315"/>
              <a:gd name="connsiteX314" fmla="*/ 402832 w 3581844"/>
              <a:gd name="connsiteY314" fmla="*/ 2830286 h 3113315"/>
              <a:gd name="connsiteX315" fmla="*/ 381060 w 3581844"/>
              <a:gd name="connsiteY315" fmla="*/ 2792186 h 3113315"/>
              <a:gd name="connsiteX316" fmla="*/ 364732 w 3581844"/>
              <a:gd name="connsiteY316" fmla="*/ 2775858 h 3113315"/>
              <a:gd name="connsiteX317" fmla="*/ 359289 w 3581844"/>
              <a:gd name="connsiteY317" fmla="*/ 2759529 h 3113315"/>
              <a:gd name="connsiteX318" fmla="*/ 332075 w 3581844"/>
              <a:gd name="connsiteY318" fmla="*/ 2726872 h 3113315"/>
              <a:gd name="connsiteX319" fmla="*/ 321189 w 3581844"/>
              <a:gd name="connsiteY319" fmla="*/ 2710544 h 3113315"/>
              <a:gd name="connsiteX320" fmla="*/ 315746 w 3581844"/>
              <a:gd name="connsiteY320" fmla="*/ 2694215 h 3113315"/>
              <a:gd name="connsiteX321" fmla="*/ 293975 w 3581844"/>
              <a:gd name="connsiteY321" fmla="*/ 2661558 h 3113315"/>
              <a:gd name="connsiteX322" fmla="*/ 266760 w 3581844"/>
              <a:gd name="connsiteY322" fmla="*/ 2612572 h 3113315"/>
              <a:gd name="connsiteX323" fmla="*/ 255875 w 3581844"/>
              <a:gd name="connsiteY323" fmla="*/ 2596244 h 3113315"/>
              <a:gd name="connsiteX324" fmla="*/ 244989 w 3581844"/>
              <a:gd name="connsiteY324" fmla="*/ 2579915 h 3113315"/>
              <a:gd name="connsiteX325" fmla="*/ 217775 w 3581844"/>
              <a:gd name="connsiteY325" fmla="*/ 2530929 h 3113315"/>
              <a:gd name="connsiteX326" fmla="*/ 206889 w 3581844"/>
              <a:gd name="connsiteY326" fmla="*/ 2514601 h 3113315"/>
              <a:gd name="connsiteX327" fmla="*/ 179675 w 3581844"/>
              <a:gd name="connsiteY327" fmla="*/ 2465615 h 3113315"/>
              <a:gd name="connsiteX328" fmla="*/ 168789 w 3581844"/>
              <a:gd name="connsiteY328" fmla="*/ 2449286 h 3113315"/>
              <a:gd name="connsiteX329" fmla="*/ 163346 w 3581844"/>
              <a:gd name="connsiteY329" fmla="*/ 2432958 h 3113315"/>
              <a:gd name="connsiteX330" fmla="*/ 152460 w 3581844"/>
              <a:gd name="connsiteY330" fmla="*/ 2416629 h 3113315"/>
              <a:gd name="connsiteX331" fmla="*/ 141575 w 3581844"/>
              <a:gd name="connsiteY331" fmla="*/ 2383972 h 3113315"/>
              <a:gd name="connsiteX332" fmla="*/ 130689 w 3581844"/>
              <a:gd name="connsiteY332" fmla="*/ 2351315 h 3113315"/>
              <a:gd name="connsiteX333" fmla="*/ 119803 w 3581844"/>
              <a:gd name="connsiteY333" fmla="*/ 2302329 h 3113315"/>
              <a:gd name="connsiteX334" fmla="*/ 103475 w 3581844"/>
              <a:gd name="connsiteY334" fmla="*/ 2253344 h 3113315"/>
              <a:gd name="connsiteX335" fmla="*/ 98032 w 3581844"/>
              <a:gd name="connsiteY335" fmla="*/ 2237015 h 3113315"/>
              <a:gd name="connsiteX336" fmla="*/ 92589 w 3581844"/>
              <a:gd name="connsiteY336" fmla="*/ 2215244 h 3113315"/>
              <a:gd name="connsiteX337" fmla="*/ 81703 w 3581844"/>
              <a:gd name="connsiteY337" fmla="*/ 2198915 h 3113315"/>
              <a:gd name="connsiteX338" fmla="*/ 70817 w 3581844"/>
              <a:gd name="connsiteY338" fmla="*/ 2144486 h 3113315"/>
              <a:gd name="connsiteX339" fmla="*/ 59932 w 3581844"/>
              <a:gd name="connsiteY339" fmla="*/ 2106386 h 3113315"/>
              <a:gd name="connsiteX340" fmla="*/ 54489 w 3581844"/>
              <a:gd name="connsiteY340" fmla="*/ 2090058 h 3113315"/>
              <a:gd name="connsiteX341" fmla="*/ 49046 w 3581844"/>
              <a:gd name="connsiteY341" fmla="*/ 2062844 h 3113315"/>
              <a:gd name="connsiteX342" fmla="*/ 43603 w 3581844"/>
              <a:gd name="connsiteY342" fmla="*/ 2041072 h 3113315"/>
              <a:gd name="connsiteX343" fmla="*/ 38160 w 3581844"/>
              <a:gd name="connsiteY343" fmla="*/ 1997529 h 3113315"/>
              <a:gd name="connsiteX344" fmla="*/ 32717 w 3581844"/>
              <a:gd name="connsiteY344" fmla="*/ 1970315 h 3113315"/>
              <a:gd name="connsiteX345" fmla="*/ 27275 w 3581844"/>
              <a:gd name="connsiteY345" fmla="*/ 1888672 h 3113315"/>
              <a:gd name="connsiteX346" fmla="*/ 21832 w 3581844"/>
              <a:gd name="connsiteY346" fmla="*/ 1866901 h 3113315"/>
              <a:gd name="connsiteX347" fmla="*/ 16389 w 3581844"/>
              <a:gd name="connsiteY347" fmla="*/ 1834244 h 3113315"/>
              <a:gd name="connsiteX348" fmla="*/ 10946 w 3581844"/>
              <a:gd name="connsiteY348" fmla="*/ 1785258 h 3113315"/>
              <a:gd name="connsiteX349" fmla="*/ 60 w 3581844"/>
              <a:gd name="connsiteY349" fmla="*/ 1730829 h 3113315"/>
              <a:gd name="connsiteX350" fmla="*/ 5503 w 3581844"/>
              <a:gd name="connsiteY350" fmla="*/ 1703615 h 3113315"/>
              <a:gd name="connsiteX351" fmla="*/ 261317 w 3581844"/>
              <a:gd name="connsiteY351" fmla="*/ 1714501 h 3113315"/>
              <a:gd name="connsiteX352" fmla="*/ 332075 w 3581844"/>
              <a:gd name="connsiteY352" fmla="*/ 1725386 h 3113315"/>
              <a:gd name="connsiteX353" fmla="*/ 577003 w 3581844"/>
              <a:gd name="connsiteY353" fmla="*/ 1730829 h 3113315"/>
              <a:gd name="connsiteX354" fmla="*/ 658646 w 3581844"/>
              <a:gd name="connsiteY354" fmla="*/ 1741715 h 3113315"/>
              <a:gd name="connsiteX355" fmla="*/ 696746 w 3581844"/>
              <a:gd name="connsiteY355" fmla="*/ 1747158 h 3113315"/>
              <a:gd name="connsiteX356" fmla="*/ 762060 w 3581844"/>
              <a:gd name="connsiteY356" fmla="*/ 1758044 h 3113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</a:cxnLst>
            <a:rect l="l" t="t" r="r" b="b"/>
            <a:pathLst>
              <a:path w="3581844" h="3113315">
                <a:moveTo>
                  <a:pt x="729403" y="1687286"/>
                </a:moveTo>
                <a:cubicBezTo>
                  <a:pt x="737250" y="1577434"/>
                  <a:pt x="730905" y="1647304"/>
                  <a:pt x="740289" y="1567544"/>
                </a:cubicBezTo>
                <a:cubicBezTo>
                  <a:pt x="742209" y="1551227"/>
                  <a:pt x="743234" y="1534796"/>
                  <a:pt x="745732" y="1518558"/>
                </a:cubicBezTo>
                <a:cubicBezTo>
                  <a:pt x="748082" y="1503284"/>
                  <a:pt x="757823" y="1476841"/>
                  <a:pt x="762060" y="1464129"/>
                </a:cubicBezTo>
                <a:lnTo>
                  <a:pt x="772946" y="1431472"/>
                </a:lnTo>
                <a:cubicBezTo>
                  <a:pt x="774760" y="1426029"/>
                  <a:pt x="775207" y="1419918"/>
                  <a:pt x="778389" y="1415144"/>
                </a:cubicBezTo>
                <a:lnTo>
                  <a:pt x="789275" y="1398815"/>
                </a:lnTo>
                <a:cubicBezTo>
                  <a:pt x="792903" y="1387929"/>
                  <a:pt x="793795" y="1375705"/>
                  <a:pt x="800160" y="1366158"/>
                </a:cubicBezTo>
                <a:lnTo>
                  <a:pt x="821932" y="1333501"/>
                </a:lnTo>
                <a:cubicBezTo>
                  <a:pt x="825560" y="1322615"/>
                  <a:pt x="826452" y="1310391"/>
                  <a:pt x="832817" y="1300844"/>
                </a:cubicBezTo>
                <a:cubicBezTo>
                  <a:pt x="836446" y="1295401"/>
                  <a:pt x="841046" y="1290493"/>
                  <a:pt x="843703" y="1284515"/>
                </a:cubicBezTo>
                <a:cubicBezTo>
                  <a:pt x="848363" y="1274029"/>
                  <a:pt x="850960" y="1262744"/>
                  <a:pt x="854589" y="1251858"/>
                </a:cubicBezTo>
                <a:lnTo>
                  <a:pt x="865475" y="1219201"/>
                </a:lnTo>
                <a:cubicBezTo>
                  <a:pt x="865477" y="1219196"/>
                  <a:pt x="876356" y="1186549"/>
                  <a:pt x="876360" y="1186544"/>
                </a:cubicBezTo>
                <a:cubicBezTo>
                  <a:pt x="879989" y="1181101"/>
                  <a:pt x="884589" y="1176193"/>
                  <a:pt x="887246" y="1170215"/>
                </a:cubicBezTo>
                <a:cubicBezTo>
                  <a:pt x="891906" y="1159729"/>
                  <a:pt x="891767" y="1147106"/>
                  <a:pt x="898132" y="1137558"/>
                </a:cubicBezTo>
                <a:cubicBezTo>
                  <a:pt x="915382" y="1111681"/>
                  <a:pt x="906948" y="1127435"/>
                  <a:pt x="919903" y="1088572"/>
                </a:cubicBezTo>
                <a:cubicBezTo>
                  <a:pt x="921717" y="1083129"/>
                  <a:pt x="922164" y="1077018"/>
                  <a:pt x="925346" y="1072244"/>
                </a:cubicBezTo>
                <a:cubicBezTo>
                  <a:pt x="928975" y="1066801"/>
                  <a:pt x="933575" y="1061893"/>
                  <a:pt x="936232" y="1055915"/>
                </a:cubicBezTo>
                <a:cubicBezTo>
                  <a:pt x="940892" y="1045429"/>
                  <a:pt x="940752" y="1032805"/>
                  <a:pt x="947117" y="1023258"/>
                </a:cubicBezTo>
                <a:lnTo>
                  <a:pt x="979775" y="974272"/>
                </a:lnTo>
                <a:cubicBezTo>
                  <a:pt x="983403" y="968829"/>
                  <a:pt x="986035" y="962569"/>
                  <a:pt x="990660" y="957944"/>
                </a:cubicBezTo>
                <a:cubicBezTo>
                  <a:pt x="996103" y="952501"/>
                  <a:pt x="1002061" y="947528"/>
                  <a:pt x="1006989" y="941615"/>
                </a:cubicBezTo>
                <a:cubicBezTo>
                  <a:pt x="1011177" y="936590"/>
                  <a:pt x="1013249" y="929912"/>
                  <a:pt x="1017875" y="925286"/>
                </a:cubicBezTo>
                <a:cubicBezTo>
                  <a:pt x="1028425" y="914736"/>
                  <a:pt x="1037252" y="913385"/>
                  <a:pt x="1050532" y="908958"/>
                </a:cubicBezTo>
                <a:cubicBezTo>
                  <a:pt x="1087962" y="884004"/>
                  <a:pt x="1070777" y="891323"/>
                  <a:pt x="1099517" y="881744"/>
                </a:cubicBezTo>
                <a:cubicBezTo>
                  <a:pt x="1104960" y="878115"/>
                  <a:pt x="1111220" y="875484"/>
                  <a:pt x="1115846" y="870858"/>
                </a:cubicBezTo>
                <a:cubicBezTo>
                  <a:pt x="1131153" y="855551"/>
                  <a:pt x="1128526" y="843766"/>
                  <a:pt x="1132175" y="821872"/>
                </a:cubicBezTo>
                <a:cubicBezTo>
                  <a:pt x="1137618" y="825501"/>
                  <a:pt x="1143878" y="828133"/>
                  <a:pt x="1148503" y="832758"/>
                </a:cubicBezTo>
                <a:cubicBezTo>
                  <a:pt x="1153128" y="837383"/>
                  <a:pt x="1154281" y="845000"/>
                  <a:pt x="1159389" y="849086"/>
                </a:cubicBezTo>
                <a:cubicBezTo>
                  <a:pt x="1163869" y="852670"/>
                  <a:pt x="1170702" y="851743"/>
                  <a:pt x="1175717" y="854529"/>
                </a:cubicBezTo>
                <a:cubicBezTo>
                  <a:pt x="1187154" y="860883"/>
                  <a:pt x="1197489" y="869044"/>
                  <a:pt x="1208375" y="876301"/>
                </a:cubicBezTo>
                <a:cubicBezTo>
                  <a:pt x="1213818" y="879929"/>
                  <a:pt x="1218497" y="885117"/>
                  <a:pt x="1224703" y="887186"/>
                </a:cubicBezTo>
                <a:lnTo>
                  <a:pt x="1241032" y="892629"/>
                </a:lnTo>
                <a:cubicBezTo>
                  <a:pt x="1254974" y="913542"/>
                  <a:pt x="1257646" y="926623"/>
                  <a:pt x="1279132" y="936172"/>
                </a:cubicBezTo>
                <a:cubicBezTo>
                  <a:pt x="1289618" y="940832"/>
                  <a:pt x="1311789" y="947058"/>
                  <a:pt x="1311789" y="947058"/>
                </a:cubicBezTo>
                <a:cubicBezTo>
                  <a:pt x="1314540" y="948892"/>
                  <a:pt x="1338006" y="966606"/>
                  <a:pt x="1344446" y="963386"/>
                </a:cubicBezTo>
                <a:cubicBezTo>
                  <a:pt x="1349577" y="960820"/>
                  <a:pt x="1347323" y="952189"/>
                  <a:pt x="1349889" y="947058"/>
                </a:cubicBezTo>
                <a:cubicBezTo>
                  <a:pt x="1358961" y="928915"/>
                  <a:pt x="1360774" y="930730"/>
                  <a:pt x="1377103" y="919844"/>
                </a:cubicBezTo>
                <a:cubicBezTo>
                  <a:pt x="1408300" y="873049"/>
                  <a:pt x="1366761" y="928116"/>
                  <a:pt x="1404317" y="898072"/>
                </a:cubicBezTo>
                <a:cubicBezTo>
                  <a:pt x="1439486" y="869937"/>
                  <a:pt x="1390490" y="889982"/>
                  <a:pt x="1431532" y="876301"/>
                </a:cubicBezTo>
                <a:cubicBezTo>
                  <a:pt x="1436975" y="870858"/>
                  <a:pt x="1441455" y="864242"/>
                  <a:pt x="1447860" y="859972"/>
                </a:cubicBezTo>
                <a:cubicBezTo>
                  <a:pt x="1452634" y="856789"/>
                  <a:pt x="1459174" y="857315"/>
                  <a:pt x="1464189" y="854529"/>
                </a:cubicBezTo>
                <a:cubicBezTo>
                  <a:pt x="1475626" y="848175"/>
                  <a:pt x="1485960" y="840015"/>
                  <a:pt x="1496846" y="832758"/>
                </a:cubicBezTo>
                <a:lnTo>
                  <a:pt x="1513175" y="821872"/>
                </a:lnTo>
                <a:cubicBezTo>
                  <a:pt x="1518618" y="818243"/>
                  <a:pt x="1523297" y="813054"/>
                  <a:pt x="1529503" y="810986"/>
                </a:cubicBezTo>
                <a:lnTo>
                  <a:pt x="1611146" y="783772"/>
                </a:lnTo>
                <a:cubicBezTo>
                  <a:pt x="1611147" y="783772"/>
                  <a:pt x="1643802" y="772887"/>
                  <a:pt x="1643803" y="772886"/>
                </a:cubicBezTo>
                <a:cubicBezTo>
                  <a:pt x="1669680" y="755636"/>
                  <a:pt x="1653926" y="764070"/>
                  <a:pt x="1692789" y="751115"/>
                </a:cubicBezTo>
                <a:lnTo>
                  <a:pt x="1709117" y="745672"/>
                </a:lnTo>
                <a:cubicBezTo>
                  <a:pt x="1714560" y="743858"/>
                  <a:pt x="1720672" y="743411"/>
                  <a:pt x="1725446" y="740229"/>
                </a:cubicBezTo>
                <a:cubicBezTo>
                  <a:pt x="1730889" y="736601"/>
                  <a:pt x="1735924" y="732269"/>
                  <a:pt x="1741775" y="729344"/>
                </a:cubicBezTo>
                <a:cubicBezTo>
                  <a:pt x="1746906" y="726778"/>
                  <a:pt x="1752587" y="725477"/>
                  <a:pt x="1758103" y="723901"/>
                </a:cubicBezTo>
                <a:cubicBezTo>
                  <a:pt x="1787600" y="715473"/>
                  <a:pt x="1776894" y="720143"/>
                  <a:pt x="1812532" y="713015"/>
                </a:cubicBezTo>
                <a:cubicBezTo>
                  <a:pt x="1819867" y="711548"/>
                  <a:pt x="1827110" y="709627"/>
                  <a:pt x="1834303" y="707572"/>
                </a:cubicBezTo>
                <a:cubicBezTo>
                  <a:pt x="1839820" y="705996"/>
                  <a:pt x="1845031" y="703374"/>
                  <a:pt x="1850632" y="702129"/>
                </a:cubicBezTo>
                <a:cubicBezTo>
                  <a:pt x="1891142" y="693127"/>
                  <a:pt x="1877946" y="699932"/>
                  <a:pt x="1921389" y="691244"/>
                </a:cubicBezTo>
                <a:cubicBezTo>
                  <a:pt x="1936060" y="688310"/>
                  <a:pt x="1950262" y="683292"/>
                  <a:pt x="1964932" y="680358"/>
                </a:cubicBezTo>
                <a:lnTo>
                  <a:pt x="1992146" y="674915"/>
                </a:lnTo>
                <a:cubicBezTo>
                  <a:pt x="2006660" y="676729"/>
                  <a:pt x="2022606" y="686899"/>
                  <a:pt x="2035689" y="680358"/>
                </a:cubicBezTo>
                <a:cubicBezTo>
                  <a:pt x="2045952" y="675227"/>
                  <a:pt x="2042947" y="658587"/>
                  <a:pt x="2046575" y="647701"/>
                </a:cubicBezTo>
                <a:cubicBezTo>
                  <a:pt x="2059012" y="610387"/>
                  <a:pt x="2044329" y="656683"/>
                  <a:pt x="2057460" y="604158"/>
                </a:cubicBezTo>
                <a:cubicBezTo>
                  <a:pt x="2058852" y="598592"/>
                  <a:pt x="2061089" y="593272"/>
                  <a:pt x="2062903" y="587829"/>
                </a:cubicBezTo>
                <a:cubicBezTo>
                  <a:pt x="2064717" y="571501"/>
                  <a:pt x="2068346" y="555273"/>
                  <a:pt x="2068346" y="538844"/>
                </a:cubicBezTo>
                <a:cubicBezTo>
                  <a:pt x="2068346" y="505788"/>
                  <a:pt x="2064263" y="451072"/>
                  <a:pt x="2057460" y="413658"/>
                </a:cubicBezTo>
                <a:cubicBezTo>
                  <a:pt x="2050674" y="376336"/>
                  <a:pt x="2054345" y="406640"/>
                  <a:pt x="2046575" y="375558"/>
                </a:cubicBezTo>
                <a:cubicBezTo>
                  <a:pt x="2044331" y="366583"/>
                  <a:pt x="2043139" y="357375"/>
                  <a:pt x="2041132" y="348344"/>
                </a:cubicBezTo>
                <a:cubicBezTo>
                  <a:pt x="2032396" y="309035"/>
                  <a:pt x="2038453" y="344496"/>
                  <a:pt x="2030246" y="299358"/>
                </a:cubicBezTo>
                <a:cubicBezTo>
                  <a:pt x="2018999" y="237500"/>
                  <a:pt x="2030359" y="294823"/>
                  <a:pt x="2019360" y="206829"/>
                </a:cubicBezTo>
                <a:cubicBezTo>
                  <a:pt x="2018213" y="197649"/>
                  <a:pt x="2015924" y="188646"/>
                  <a:pt x="2013917" y="179615"/>
                </a:cubicBezTo>
                <a:cubicBezTo>
                  <a:pt x="2009360" y="159106"/>
                  <a:pt x="2009095" y="159703"/>
                  <a:pt x="2003032" y="141515"/>
                </a:cubicBezTo>
                <a:cubicBezTo>
                  <a:pt x="2004846" y="96158"/>
                  <a:pt x="2001573" y="50309"/>
                  <a:pt x="2008475" y="5444"/>
                </a:cubicBezTo>
                <a:cubicBezTo>
                  <a:pt x="2009347" y="-226"/>
                  <a:pt x="2019066" y="1"/>
                  <a:pt x="2024803" y="1"/>
                </a:cubicBezTo>
                <a:cubicBezTo>
                  <a:pt x="2057511" y="1"/>
                  <a:pt x="2090118" y="3630"/>
                  <a:pt x="2122775" y="5444"/>
                </a:cubicBezTo>
                <a:cubicBezTo>
                  <a:pt x="2137289" y="7258"/>
                  <a:pt x="2152015" y="7821"/>
                  <a:pt x="2166317" y="10886"/>
                </a:cubicBezTo>
                <a:cubicBezTo>
                  <a:pt x="2177537" y="13290"/>
                  <a:pt x="2198975" y="21772"/>
                  <a:pt x="2198975" y="21772"/>
                </a:cubicBezTo>
                <a:cubicBezTo>
                  <a:pt x="2273945" y="18364"/>
                  <a:pt x="2328013" y="11436"/>
                  <a:pt x="2400360" y="21772"/>
                </a:cubicBezTo>
                <a:cubicBezTo>
                  <a:pt x="2411719" y="23395"/>
                  <a:pt x="2422131" y="29029"/>
                  <a:pt x="2433017" y="32658"/>
                </a:cubicBezTo>
                <a:lnTo>
                  <a:pt x="2449346" y="38101"/>
                </a:lnTo>
                <a:cubicBezTo>
                  <a:pt x="2454789" y="39915"/>
                  <a:pt x="2460901" y="40362"/>
                  <a:pt x="2465675" y="43544"/>
                </a:cubicBezTo>
                <a:cubicBezTo>
                  <a:pt x="2486777" y="57611"/>
                  <a:pt x="2475797" y="52360"/>
                  <a:pt x="2498332" y="59872"/>
                </a:cubicBezTo>
                <a:cubicBezTo>
                  <a:pt x="2503775" y="63501"/>
                  <a:pt x="2508809" y="67833"/>
                  <a:pt x="2514660" y="70758"/>
                </a:cubicBezTo>
                <a:cubicBezTo>
                  <a:pt x="2519792" y="73324"/>
                  <a:pt x="2525974" y="73415"/>
                  <a:pt x="2530989" y="76201"/>
                </a:cubicBezTo>
                <a:cubicBezTo>
                  <a:pt x="2542426" y="82555"/>
                  <a:pt x="2551235" y="93835"/>
                  <a:pt x="2563646" y="97972"/>
                </a:cubicBezTo>
                <a:cubicBezTo>
                  <a:pt x="2574532" y="101601"/>
                  <a:pt x="2586756" y="102493"/>
                  <a:pt x="2596303" y="108858"/>
                </a:cubicBezTo>
                <a:cubicBezTo>
                  <a:pt x="2617405" y="122926"/>
                  <a:pt x="2606426" y="117676"/>
                  <a:pt x="2628960" y="125186"/>
                </a:cubicBezTo>
                <a:cubicBezTo>
                  <a:pt x="2675758" y="156385"/>
                  <a:pt x="2616548" y="118980"/>
                  <a:pt x="2661617" y="141515"/>
                </a:cubicBezTo>
                <a:cubicBezTo>
                  <a:pt x="2697358" y="159386"/>
                  <a:pt x="2654436" y="149244"/>
                  <a:pt x="2710603" y="163286"/>
                </a:cubicBezTo>
                <a:cubicBezTo>
                  <a:pt x="2717860" y="165100"/>
                  <a:pt x="2725210" y="166579"/>
                  <a:pt x="2732375" y="168729"/>
                </a:cubicBezTo>
                <a:cubicBezTo>
                  <a:pt x="2743366" y="172026"/>
                  <a:pt x="2765032" y="179615"/>
                  <a:pt x="2765032" y="179615"/>
                </a:cubicBezTo>
                <a:lnTo>
                  <a:pt x="2797689" y="201386"/>
                </a:lnTo>
                <a:cubicBezTo>
                  <a:pt x="2803132" y="205015"/>
                  <a:pt x="2807811" y="210203"/>
                  <a:pt x="2814017" y="212272"/>
                </a:cubicBezTo>
                <a:cubicBezTo>
                  <a:pt x="2855057" y="225952"/>
                  <a:pt x="2804473" y="207499"/>
                  <a:pt x="2846675" y="228601"/>
                </a:cubicBezTo>
                <a:cubicBezTo>
                  <a:pt x="2851806" y="231167"/>
                  <a:pt x="2857872" y="231478"/>
                  <a:pt x="2863003" y="234044"/>
                </a:cubicBezTo>
                <a:cubicBezTo>
                  <a:pt x="2868854" y="236969"/>
                  <a:pt x="2873481" y="242004"/>
                  <a:pt x="2879332" y="244929"/>
                </a:cubicBezTo>
                <a:cubicBezTo>
                  <a:pt x="2884463" y="247495"/>
                  <a:pt x="2890529" y="247806"/>
                  <a:pt x="2895660" y="250372"/>
                </a:cubicBezTo>
                <a:cubicBezTo>
                  <a:pt x="2901511" y="253298"/>
                  <a:pt x="2906011" y="258601"/>
                  <a:pt x="2911989" y="261258"/>
                </a:cubicBezTo>
                <a:cubicBezTo>
                  <a:pt x="2922475" y="265918"/>
                  <a:pt x="2933760" y="268516"/>
                  <a:pt x="2944646" y="272144"/>
                </a:cubicBezTo>
                <a:lnTo>
                  <a:pt x="3042617" y="304801"/>
                </a:lnTo>
                <a:lnTo>
                  <a:pt x="3075275" y="315686"/>
                </a:lnTo>
                <a:cubicBezTo>
                  <a:pt x="3080718" y="317500"/>
                  <a:pt x="3086829" y="317947"/>
                  <a:pt x="3091603" y="321129"/>
                </a:cubicBezTo>
                <a:cubicBezTo>
                  <a:pt x="3112706" y="335197"/>
                  <a:pt x="3101726" y="329946"/>
                  <a:pt x="3124260" y="337458"/>
                </a:cubicBezTo>
                <a:cubicBezTo>
                  <a:pt x="3131517" y="348344"/>
                  <a:pt x="3141895" y="357703"/>
                  <a:pt x="3146032" y="370115"/>
                </a:cubicBezTo>
                <a:cubicBezTo>
                  <a:pt x="3147846" y="375558"/>
                  <a:pt x="3148909" y="381312"/>
                  <a:pt x="3151475" y="386444"/>
                </a:cubicBezTo>
                <a:cubicBezTo>
                  <a:pt x="3154400" y="392295"/>
                  <a:pt x="3157252" y="398686"/>
                  <a:pt x="3162360" y="402772"/>
                </a:cubicBezTo>
                <a:cubicBezTo>
                  <a:pt x="3166840" y="406356"/>
                  <a:pt x="3173246" y="406401"/>
                  <a:pt x="3178689" y="408215"/>
                </a:cubicBezTo>
                <a:cubicBezTo>
                  <a:pt x="3189286" y="440005"/>
                  <a:pt x="3175841" y="410810"/>
                  <a:pt x="3200460" y="435429"/>
                </a:cubicBezTo>
                <a:cubicBezTo>
                  <a:pt x="3225080" y="460049"/>
                  <a:pt x="3195886" y="446605"/>
                  <a:pt x="3227675" y="457201"/>
                </a:cubicBezTo>
                <a:cubicBezTo>
                  <a:pt x="3234932" y="468087"/>
                  <a:pt x="3256703" y="478973"/>
                  <a:pt x="3249446" y="489858"/>
                </a:cubicBezTo>
                <a:cubicBezTo>
                  <a:pt x="3245817" y="495301"/>
                  <a:pt x="3243668" y="502100"/>
                  <a:pt x="3238560" y="506186"/>
                </a:cubicBezTo>
                <a:cubicBezTo>
                  <a:pt x="3234080" y="509770"/>
                  <a:pt x="3227363" y="509063"/>
                  <a:pt x="3222232" y="511629"/>
                </a:cubicBezTo>
                <a:cubicBezTo>
                  <a:pt x="3216381" y="514555"/>
                  <a:pt x="3211346" y="518886"/>
                  <a:pt x="3205903" y="522515"/>
                </a:cubicBezTo>
                <a:cubicBezTo>
                  <a:pt x="3176873" y="566061"/>
                  <a:pt x="3214975" y="513443"/>
                  <a:pt x="3178689" y="549729"/>
                </a:cubicBezTo>
                <a:cubicBezTo>
                  <a:pt x="3154069" y="574349"/>
                  <a:pt x="3183263" y="560904"/>
                  <a:pt x="3151475" y="571501"/>
                </a:cubicBezTo>
                <a:cubicBezTo>
                  <a:pt x="3147846" y="576944"/>
                  <a:pt x="3145215" y="583204"/>
                  <a:pt x="3140589" y="587829"/>
                </a:cubicBezTo>
                <a:cubicBezTo>
                  <a:pt x="3135963" y="592455"/>
                  <a:pt x="3128347" y="593607"/>
                  <a:pt x="3124260" y="598715"/>
                </a:cubicBezTo>
                <a:cubicBezTo>
                  <a:pt x="3094215" y="636272"/>
                  <a:pt x="3149281" y="594735"/>
                  <a:pt x="3102489" y="625929"/>
                </a:cubicBezTo>
                <a:cubicBezTo>
                  <a:pt x="3098860" y="631372"/>
                  <a:pt x="3096229" y="637632"/>
                  <a:pt x="3091603" y="642258"/>
                </a:cubicBezTo>
                <a:cubicBezTo>
                  <a:pt x="3086978" y="646884"/>
                  <a:pt x="3079361" y="648036"/>
                  <a:pt x="3075275" y="653144"/>
                </a:cubicBezTo>
                <a:cubicBezTo>
                  <a:pt x="3054164" y="679533"/>
                  <a:pt x="3089129" y="663040"/>
                  <a:pt x="3053503" y="674915"/>
                </a:cubicBezTo>
                <a:lnTo>
                  <a:pt x="3031732" y="707572"/>
                </a:lnTo>
                <a:cubicBezTo>
                  <a:pt x="3028103" y="713015"/>
                  <a:pt x="3026289" y="720273"/>
                  <a:pt x="3020846" y="723901"/>
                </a:cubicBezTo>
                <a:lnTo>
                  <a:pt x="3004517" y="734786"/>
                </a:lnTo>
                <a:cubicBezTo>
                  <a:pt x="3000889" y="740229"/>
                  <a:pt x="2998257" y="746489"/>
                  <a:pt x="2993632" y="751115"/>
                </a:cubicBezTo>
                <a:cubicBezTo>
                  <a:pt x="2957340" y="787408"/>
                  <a:pt x="2995451" y="734781"/>
                  <a:pt x="2966417" y="778329"/>
                </a:cubicBezTo>
                <a:cubicBezTo>
                  <a:pt x="2962789" y="789215"/>
                  <a:pt x="2951903" y="800100"/>
                  <a:pt x="2955532" y="810986"/>
                </a:cubicBezTo>
                <a:cubicBezTo>
                  <a:pt x="2957346" y="816429"/>
                  <a:pt x="2958409" y="822183"/>
                  <a:pt x="2960975" y="827315"/>
                </a:cubicBezTo>
                <a:cubicBezTo>
                  <a:pt x="2967093" y="839551"/>
                  <a:pt x="2977868" y="851371"/>
                  <a:pt x="2988189" y="859972"/>
                </a:cubicBezTo>
                <a:cubicBezTo>
                  <a:pt x="2993214" y="864160"/>
                  <a:pt x="2999074" y="867229"/>
                  <a:pt x="3004517" y="870858"/>
                </a:cubicBezTo>
                <a:cubicBezTo>
                  <a:pt x="3008146" y="876301"/>
                  <a:pt x="3010295" y="883100"/>
                  <a:pt x="3015403" y="887186"/>
                </a:cubicBezTo>
                <a:cubicBezTo>
                  <a:pt x="3019883" y="890770"/>
                  <a:pt x="3027675" y="888572"/>
                  <a:pt x="3031732" y="892629"/>
                </a:cubicBezTo>
                <a:cubicBezTo>
                  <a:pt x="3035789" y="896686"/>
                  <a:pt x="3033591" y="904478"/>
                  <a:pt x="3037175" y="908958"/>
                </a:cubicBezTo>
                <a:cubicBezTo>
                  <a:pt x="3041261" y="914066"/>
                  <a:pt x="3048060" y="916215"/>
                  <a:pt x="3053503" y="919844"/>
                </a:cubicBezTo>
                <a:cubicBezTo>
                  <a:pt x="3082532" y="963385"/>
                  <a:pt x="3044432" y="910773"/>
                  <a:pt x="3080717" y="947058"/>
                </a:cubicBezTo>
                <a:cubicBezTo>
                  <a:pt x="3117000" y="983341"/>
                  <a:pt x="3064391" y="945245"/>
                  <a:pt x="3107932" y="974272"/>
                </a:cubicBezTo>
                <a:cubicBezTo>
                  <a:pt x="3117512" y="1003012"/>
                  <a:pt x="3110193" y="985829"/>
                  <a:pt x="3135146" y="1023258"/>
                </a:cubicBezTo>
                <a:lnTo>
                  <a:pt x="3146032" y="1039586"/>
                </a:lnTo>
                <a:cubicBezTo>
                  <a:pt x="3149661" y="1045029"/>
                  <a:pt x="3152291" y="1051289"/>
                  <a:pt x="3156917" y="1055915"/>
                </a:cubicBezTo>
                <a:lnTo>
                  <a:pt x="3173246" y="1072244"/>
                </a:lnTo>
                <a:cubicBezTo>
                  <a:pt x="3186929" y="1113291"/>
                  <a:pt x="3168470" y="1062689"/>
                  <a:pt x="3189575" y="1104901"/>
                </a:cubicBezTo>
                <a:cubicBezTo>
                  <a:pt x="3192141" y="1110032"/>
                  <a:pt x="3192451" y="1116098"/>
                  <a:pt x="3195017" y="1121229"/>
                </a:cubicBezTo>
                <a:cubicBezTo>
                  <a:pt x="3197942" y="1127080"/>
                  <a:pt x="3202977" y="1131707"/>
                  <a:pt x="3205903" y="1137558"/>
                </a:cubicBezTo>
                <a:cubicBezTo>
                  <a:pt x="3208469" y="1142689"/>
                  <a:pt x="3208780" y="1148755"/>
                  <a:pt x="3211346" y="1153886"/>
                </a:cubicBezTo>
                <a:cubicBezTo>
                  <a:pt x="3214272" y="1159737"/>
                  <a:pt x="3219575" y="1164237"/>
                  <a:pt x="3222232" y="1170215"/>
                </a:cubicBezTo>
                <a:cubicBezTo>
                  <a:pt x="3226892" y="1180701"/>
                  <a:pt x="3226752" y="1193325"/>
                  <a:pt x="3233117" y="1202872"/>
                </a:cubicBezTo>
                <a:cubicBezTo>
                  <a:pt x="3236746" y="1208315"/>
                  <a:pt x="3241346" y="1213223"/>
                  <a:pt x="3244003" y="1219201"/>
                </a:cubicBezTo>
                <a:cubicBezTo>
                  <a:pt x="3248663" y="1229687"/>
                  <a:pt x="3251260" y="1240972"/>
                  <a:pt x="3254889" y="1251858"/>
                </a:cubicBezTo>
                <a:lnTo>
                  <a:pt x="3265775" y="1284515"/>
                </a:lnTo>
                <a:lnTo>
                  <a:pt x="3276660" y="1317172"/>
                </a:lnTo>
                <a:cubicBezTo>
                  <a:pt x="3278474" y="1322615"/>
                  <a:pt x="3281160" y="1327842"/>
                  <a:pt x="3282103" y="1333501"/>
                </a:cubicBezTo>
                <a:cubicBezTo>
                  <a:pt x="3283917" y="1344387"/>
                  <a:pt x="3284869" y="1355452"/>
                  <a:pt x="3287546" y="1366158"/>
                </a:cubicBezTo>
                <a:cubicBezTo>
                  <a:pt x="3290329" y="1377290"/>
                  <a:pt x="3294803" y="1387929"/>
                  <a:pt x="3298432" y="1398815"/>
                </a:cubicBezTo>
                <a:lnTo>
                  <a:pt x="3309317" y="1431472"/>
                </a:lnTo>
                <a:cubicBezTo>
                  <a:pt x="3315029" y="1448609"/>
                  <a:pt x="3316102" y="1450434"/>
                  <a:pt x="3320203" y="1469572"/>
                </a:cubicBezTo>
                <a:cubicBezTo>
                  <a:pt x="3324080" y="1487664"/>
                  <a:pt x="3331089" y="1524001"/>
                  <a:pt x="3331089" y="1524001"/>
                </a:cubicBezTo>
                <a:cubicBezTo>
                  <a:pt x="3337969" y="1599681"/>
                  <a:pt x="3341323" y="1606069"/>
                  <a:pt x="3331089" y="1698172"/>
                </a:cubicBezTo>
                <a:cubicBezTo>
                  <a:pt x="3327181" y="1733341"/>
                  <a:pt x="3326692" y="1728666"/>
                  <a:pt x="3303875" y="1736272"/>
                </a:cubicBezTo>
                <a:cubicBezTo>
                  <a:pt x="3300246" y="1741715"/>
                  <a:pt x="3288902" y="1747493"/>
                  <a:pt x="3292989" y="1752601"/>
                </a:cubicBezTo>
                <a:cubicBezTo>
                  <a:pt x="3300157" y="1761561"/>
                  <a:pt x="3314514" y="1760703"/>
                  <a:pt x="3325646" y="1763486"/>
                </a:cubicBezTo>
                <a:cubicBezTo>
                  <a:pt x="3332903" y="1765300"/>
                  <a:pt x="3340252" y="1766779"/>
                  <a:pt x="3347417" y="1768929"/>
                </a:cubicBezTo>
                <a:cubicBezTo>
                  <a:pt x="3358408" y="1772226"/>
                  <a:pt x="3368943" y="1777032"/>
                  <a:pt x="3380075" y="1779815"/>
                </a:cubicBezTo>
                <a:cubicBezTo>
                  <a:pt x="3402502" y="1785422"/>
                  <a:pt x="3409295" y="1787735"/>
                  <a:pt x="3434503" y="1790701"/>
                </a:cubicBezTo>
                <a:cubicBezTo>
                  <a:pt x="3454405" y="1793043"/>
                  <a:pt x="3474418" y="1794330"/>
                  <a:pt x="3494375" y="1796144"/>
                </a:cubicBezTo>
                <a:cubicBezTo>
                  <a:pt x="3499818" y="1797958"/>
                  <a:pt x="3505016" y="1800828"/>
                  <a:pt x="3510703" y="1801586"/>
                </a:cubicBezTo>
                <a:cubicBezTo>
                  <a:pt x="3532358" y="1804473"/>
                  <a:pt x="3562519" y="1789851"/>
                  <a:pt x="3576017" y="1807029"/>
                </a:cubicBezTo>
                <a:cubicBezTo>
                  <a:pt x="3590632" y="1825630"/>
                  <a:pt x="3573509" y="1854313"/>
                  <a:pt x="3570575" y="1877786"/>
                </a:cubicBezTo>
                <a:cubicBezTo>
                  <a:pt x="3569863" y="1883479"/>
                  <a:pt x="3568716" y="1889635"/>
                  <a:pt x="3565132" y="1894115"/>
                </a:cubicBezTo>
                <a:cubicBezTo>
                  <a:pt x="3561045" y="1899223"/>
                  <a:pt x="3554246" y="1901372"/>
                  <a:pt x="3548803" y="1905001"/>
                </a:cubicBezTo>
                <a:lnTo>
                  <a:pt x="3527032" y="1937658"/>
                </a:lnTo>
                <a:cubicBezTo>
                  <a:pt x="3523403" y="1943101"/>
                  <a:pt x="3521589" y="1950357"/>
                  <a:pt x="3516146" y="1953986"/>
                </a:cubicBezTo>
                <a:lnTo>
                  <a:pt x="3499817" y="1964872"/>
                </a:lnTo>
                <a:cubicBezTo>
                  <a:pt x="3486141" y="2005909"/>
                  <a:pt x="3504588" y="1955332"/>
                  <a:pt x="3483489" y="1997529"/>
                </a:cubicBezTo>
                <a:cubicBezTo>
                  <a:pt x="3478917" y="2006674"/>
                  <a:pt x="3475218" y="2026911"/>
                  <a:pt x="3472603" y="2035629"/>
                </a:cubicBezTo>
                <a:cubicBezTo>
                  <a:pt x="3467657" y="2052115"/>
                  <a:pt x="3461717" y="2068286"/>
                  <a:pt x="3456275" y="2084615"/>
                </a:cubicBezTo>
                <a:cubicBezTo>
                  <a:pt x="3454461" y="2090058"/>
                  <a:pt x="3452224" y="2095378"/>
                  <a:pt x="3450832" y="2100944"/>
                </a:cubicBezTo>
                <a:lnTo>
                  <a:pt x="3445389" y="2122715"/>
                </a:lnTo>
                <a:cubicBezTo>
                  <a:pt x="3443575" y="2137229"/>
                  <a:pt x="3442170" y="2151801"/>
                  <a:pt x="3439946" y="2166258"/>
                </a:cubicBezTo>
                <a:cubicBezTo>
                  <a:pt x="3438539" y="2175401"/>
                  <a:pt x="3435910" y="2184329"/>
                  <a:pt x="3434503" y="2193472"/>
                </a:cubicBezTo>
                <a:cubicBezTo>
                  <a:pt x="3432279" y="2207929"/>
                  <a:pt x="3431284" y="2222558"/>
                  <a:pt x="3429060" y="2237015"/>
                </a:cubicBezTo>
                <a:cubicBezTo>
                  <a:pt x="3427653" y="2246158"/>
                  <a:pt x="3425138" y="2255104"/>
                  <a:pt x="3423617" y="2264229"/>
                </a:cubicBezTo>
                <a:cubicBezTo>
                  <a:pt x="3421508" y="2276883"/>
                  <a:pt x="3420691" y="2289749"/>
                  <a:pt x="3418175" y="2302329"/>
                </a:cubicBezTo>
                <a:cubicBezTo>
                  <a:pt x="3417050" y="2307955"/>
                  <a:pt x="3414124" y="2313092"/>
                  <a:pt x="3412732" y="2318658"/>
                </a:cubicBezTo>
                <a:cubicBezTo>
                  <a:pt x="3410488" y="2327633"/>
                  <a:pt x="3409103" y="2336801"/>
                  <a:pt x="3407289" y="2345872"/>
                </a:cubicBezTo>
                <a:cubicBezTo>
                  <a:pt x="3400704" y="2411717"/>
                  <a:pt x="3407612" y="2383004"/>
                  <a:pt x="3390960" y="2432958"/>
                </a:cubicBezTo>
                <a:cubicBezTo>
                  <a:pt x="3389146" y="2438401"/>
                  <a:pt x="3390290" y="2446103"/>
                  <a:pt x="3385517" y="2449286"/>
                </a:cubicBezTo>
                <a:lnTo>
                  <a:pt x="3369189" y="2460172"/>
                </a:lnTo>
                <a:cubicBezTo>
                  <a:pt x="3343788" y="2498272"/>
                  <a:pt x="3358303" y="2485572"/>
                  <a:pt x="3331089" y="2503715"/>
                </a:cubicBezTo>
                <a:cubicBezTo>
                  <a:pt x="3305688" y="2541815"/>
                  <a:pt x="3320203" y="2529115"/>
                  <a:pt x="3292989" y="2547258"/>
                </a:cubicBezTo>
                <a:cubicBezTo>
                  <a:pt x="3266947" y="2586320"/>
                  <a:pt x="3280468" y="2570664"/>
                  <a:pt x="3254889" y="2596244"/>
                </a:cubicBezTo>
                <a:cubicBezTo>
                  <a:pt x="3250462" y="2609524"/>
                  <a:pt x="3249111" y="2618350"/>
                  <a:pt x="3238560" y="2628901"/>
                </a:cubicBezTo>
                <a:cubicBezTo>
                  <a:pt x="3233935" y="2633526"/>
                  <a:pt x="3227675" y="2636158"/>
                  <a:pt x="3222232" y="2639786"/>
                </a:cubicBezTo>
                <a:cubicBezTo>
                  <a:pt x="3212651" y="2668528"/>
                  <a:pt x="3219973" y="2651338"/>
                  <a:pt x="3195017" y="2688772"/>
                </a:cubicBezTo>
                <a:cubicBezTo>
                  <a:pt x="3191388" y="2694215"/>
                  <a:pt x="3190338" y="2703032"/>
                  <a:pt x="3184132" y="2705101"/>
                </a:cubicBezTo>
                <a:cubicBezTo>
                  <a:pt x="3178689" y="2706915"/>
                  <a:pt x="3172818" y="2707758"/>
                  <a:pt x="3167803" y="2710544"/>
                </a:cubicBezTo>
                <a:cubicBezTo>
                  <a:pt x="3156366" y="2716898"/>
                  <a:pt x="3135146" y="2732315"/>
                  <a:pt x="3135146" y="2732315"/>
                </a:cubicBezTo>
                <a:cubicBezTo>
                  <a:pt x="3106116" y="2775861"/>
                  <a:pt x="3144218" y="2723243"/>
                  <a:pt x="3107932" y="2759529"/>
                </a:cubicBezTo>
                <a:cubicBezTo>
                  <a:pt x="3103306" y="2764155"/>
                  <a:pt x="3101672" y="2771232"/>
                  <a:pt x="3097046" y="2775858"/>
                </a:cubicBezTo>
                <a:cubicBezTo>
                  <a:pt x="3086494" y="2786410"/>
                  <a:pt x="3077670" y="2787759"/>
                  <a:pt x="3064389" y="2792186"/>
                </a:cubicBezTo>
                <a:cubicBezTo>
                  <a:pt x="3060760" y="2786743"/>
                  <a:pt x="3058128" y="2780483"/>
                  <a:pt x="3053503" y="2775858"/>
                </a:cubicBezTo>
                <a:cubicBezTo>
                  <a:pt x="3048878" y="2771233"/>
                  <a:pt x="3041261" y="2770080"/>
                  <a:pt x="3037175" y="2764972"/>
                </a:cubicBezTo>
                <a:cubicBezTo>
                  <a:pt x="3033591" y="2760492"/>
                  <a:pt x="3035316" y="2753124"/>
                  <a:pt x="3031732" y="2748644"/>
                </a:cubicBezTo>
                <a:cubicBezTo>
                  <a:pt x="3027645" y="2743536"/>
                  <a:pt x="3020292" y="2742104"/>
                  <a:pt x="3015403" y="2737758"/>
                </a:cubicBezTo>
                <a:lnTo>
                  <a:pt x="2966417" y="2688772"/>
                </a:lnTo>
                <a:cubicBezTo>
                  <a:pt x="2960974" y="2683329"/>
                  <a:pt x="2954359" y="2678848"/>
                  <a:pt x="2950089" y="2672444"/>
                </a:cubicBezTo>
                <a:lnTo>
                  <a:pt x="2917432" y="2623458"/>
                </a:lnTo>
                <a:lnTo>
                  <a:pt x="2906546" y="2607129"/>
                </a:lnTo>
                <a:lnTo>
                  <a:pt x="2895660" y="2590801"/>
                </a:lnTo>
                <a:cubicBezTo>
                  <a:pt x="2889988" y="2573786"/>
                  <a:pt x="2884487" y="2552509"/>
                  <a:pt x="2868446" y="2541815"/>
                </a:cubicBezTo>
                <a:lnTo>
                  <a:pt x="2852117" y="2530929"/>
                </a:lnTo>
                <a:cubicBezTo>
                  <a:pt x="2848489" y="2525486"/>
                  <a:pt x="2844477" y="2520280"/>
                  <a:pt x="2841232" y="2514601"/>
                </a:cubicBezTo>
                <a:cubicBezTo>
                  <a:pt x="2837206" y="2507556"/>
                  <a:pt x="2835541" y="2499062"/>
                  <a:pt x="2830346" y="2492829"/>
                </a:cubicBezTo>
                <a:cubicBezTo>
                  <a:pt x="2826158" y="2487804"/>
                  <a:pt x="2819460" y="2485572"/>
                  <a:pt x="2814017" y="2481944"/>
                </a:cubicBezTo>
                <a:cubicBezTo>
                  <a:pt x="2809591" y="2468663"/>
                  <a:pt x="2808241" y="2459838"/>
                  <a:pt x="2797689" y="2449286"/>
                </a:cubicBezTo>
                <a:cubicBezTo>
                  <a:pt x="2793063" y="2444661"/>
                  <a:pt x="2786803" y="2442029"/>
                  <a:pt x="2781360" y="2438401"/>
                </a:cubicBezTo>
                <a:cubicBezTo>
                  <a:pt x="2770764" y="2406613"/>
                  <a:pt x="2784207" y="2435804"/>
                  <a:pt x="2759589" y="2411186"/>
                </a:cubicBezTo>
                <a:cubicBezTo>
                  <a:pt x="2754964" y="2406561"/>
                  <a:pt x="2752891" y="2399883"/>
                  <a:pt x="2748703" y="2394858"/>
                </a:cubicBezTo>
                <a:cubicBezTo>
                  <a:pt x="2743775" y="2388945"/>
                  <a:pt x="2737101" y="2384605"/>
                  <a:pt x="2732375" y="2378529"/>
                </a:cubicBezTo>
                <a:cubicBezTo>
                  <a:pt x="2724343" y="2368202"/>
                  <a:pt x="2719854" y="2355123"/>
                  <a:pt x="2710603" y="2345872"/>
                </a:cubicBezTo>
                <a:cubicBezTo>
                  <a:pt x="2662901" y="2298170"/>
                  <a:pt x="2721278" y="2358682"/>
                  <a:pt x="2683389" y="2313215"/>
                </a:cubicBezTo>
                <a:cubicBezTo>
                  <a:pt x="2678461" y="2307302"/>
                  <a:pt x="2671786" y="2302962"/>
                  <a:pt x="2667060" y="2296886"/>
                </a:cubicBezTo>
                <a:cubicBezTo>
                  <a:pt x="2659028" y="2286559"/>
                  <a:pt x="2652546" y="2275115"/>
                  <a:pt x="2645289" y="2264229"/>
                </a:cubicBezTo>
                <a:cubicBezTo>
                  <a:pt x="2641660" y="2258786"/>
                  <a:pt x="2639846" y="2251530"/>
                  <a:pt x="2634403" y="2247901"/>
                </a:cubicBezTo>
                <a:lnTo>
                  <a:pt x="2618075" y="2237015"/>
                </a:lnTo>
                <a:cubicBezTo>
                  <a:pt x="2607478" y="2205225"/>
                  <a:pt x="2620923" y="2234420"/>
                  <a:pt x="2596303" y="2209801"/>
                </a:cubicBezTo>
                <a:cubicBezTo>
                  <a:pt x="2560010" y="2173509"/>
                  <a:pt x="2612637" y="2211620"/>
                  <a:pt x="2569089" y="2182586"/>
                </a:cubicBezTo>
                <a:cubicBezTo>
                  <a:pt x="2559509" y="2153847"/>
                  <a:pt x="2568419" y="2169439"/>
                  <a:pt x="2530989" y="2144486"/>
                </a:cubicBezTo>
                <a:lnTo>
                  <a:pt x="2514660" y="2133601"/>
                </a:lnTo>
                <a:lnTo>
                  <a:pt x="2498332" y="2122715"/>
                </a:lnTo>
                <a:cubicBezTo>
                  <a:pt x="2492889" y="2126344"/>
                  <a:pt x="2486629" y="2128975"/>
                  <a:pt x="2482003" y="2133601"/>
                </a:cubicBezTo>
                <a:cubicBezTo>
                  <a:pt x="2477377" y="2138226"/>
                  <a:pt x="2475305" y="2144904"/>
                  <a:pt x="2471117" y="2149929"/>
                </a:cubicBezTo>
                <a:cubicBezTo>
                  <a:pt x="2466189" y="2155842"/>
                  <a:pt x="2459717" y="2160345"/>
                  <a:pt x="2454789" y="2166258"/>
                </a:cubicBezTo>
                <a:cubicBezTo>
                  <a:pt x="2432112" y="2193471"/>
                  <a:pt x="2457508" y="2173515"/>
                  <a:pt x="2427575" y="2193472"/>
                </a:cubicBezTo>
                <a:cubicBezTo>
                  <a:pt x="2398543" y="2237021"/>
                  <a:pt x="2436650" y="2184396"/>
                  <a:pt x="2400360" y="2220686"/>
                </a:cubicBezTo>
                <a:cubicBezTo>
                  <a:pt x="2364070" y="2256976"/>
                  <a:pt x="2416695" y="2218869"/>
                  <a:pt x="2373146" y="2247901"/>
                </a:cubicBezTo>
                <a:cubicBezTo>
                  <a:pt x="2344114" y="2291446"/>
                  <a:pt x="2382220" y="2238826"/>
                  <a:pt x="2345932" y="2275115"/>
                </a:cubicBezTo>
                <a:cubicBezTo>
                  <a:pt x="2341306" y="2279741"/>
                  <a:pt x="2339672" y="2286818"/>
                  <a:pt x="2335046" y="2291444"/>
                </a:cubicBezTo>
                <a:cubicBezTo>
                  <a:pt x="2330420" y="2296069"/>
                  <a:pt x="2323742" y="2298141"/>
                  <a:pt x="2318717" y="2302329"/>
                </a:cubicBezTo>
                <a:cubicBezTo>
                  <a:pt x="2312804" y="2307257"/>
                  <a:pt x="2308465" y="2313932"/>
                  <a:pt x="2302389" y="2318658"/>
                </a:cubicBezTo>
                <a:cubicBezTo>
                  <a:pt x="2292062" y="2326690"/>
                  <a:pt x="2280618" y="2333172"/>
                  <a:pt x="2269732" y="2340429"/>
                </a:cubicBezTo>
                <a:lnTo>
                  <a:pt x="2253403" y="2351315"/>
                </a:lnTo>
                <a:cubicBezTo>
                  <a:pt x="2247960" y="2354944"/>
                  <a:pt x="2243281" y="2360132"/>
                  <a:pt x="2237075" y="2362201"/>
                </a:cubicBezTo>
                <a:lnTo>
                  <a:pt x="2220746" y="2367644"/>
                </a:lnTo>
                <a:cubicBezTo>
                  <a:pt x="2203495" y="2393519"/>
                  <a:pt x="2216066" y="2381903"/>
                  <a:pt x="2177203" y="2394858"/>
                </a:cubicBezTo>
                <a:lnTo>
                  <a:pt x="2160875" y="2400301"/>
                </a:lnTo>
                <a:cubicBezTo>
                  <a:pt x="2135475" y="2398487"/>
                  <a:pt x="2109965" y="2397833"/>
                  <a:pt x="2084675" y="2394858"/>
                </a:cubicBezTo>
                <a:cubicBezTo>
                  <a:pt x="2078977" y="2394188"/>
                  <a:pt x="2072826" y="2392999"/>
                  <a:pt x="2068346" y="2389415"/>
                </a:cubicBezTo>
                <a:cubicBezTo>
                  <a:pt x="2033177" y="2361280"/>
                  <a:pt x="2082171" y="2381322"/>
                  <a:pt x="2041132" y="2367644"/>
                </a:cubicBezTo>
                <a:cubicBezTo>
                  <a:pt x="2039318" y="2373087"/>
                  <a:pt x="2035689" y="2378235"/>
                  <a:pt x="2035689" y="2383972"/>
                </a:cubicBezTo>
                <a:cubicBezTo>
                  <a:pt x="2035689" y="2432484"/>
                  <a:pt x="2037910" y="2436397"/>
                  <a:pt x="2046575" y="2471058"/>
                </a:cubicBezTo>
                <a:cubicBezTo>
                  <a:pt x="2053284" y="2531447"/>
                  <a:pt x="2046822" y="2504459"/>
                  <a:pt x="2062903" y="2552701"/>
                </a:cubicBezTo>
                <a:lnTo>
                  <a:pt x="2068346" y="2569029"/>
                </a:lnTo>
                <a:lnTo>
                  <a:pt x="2073789" y="2585358"/>
                </a:lnTo>
                <a:cubicBezTo>
                  <a:pt x="2011223" y="2606213"/>
                  <a:pt x="2075146" y="2586596"/>
                  <a:pt x="1915946" y="2596244"/>
                </a:cubicBezTo>
                <a:cubicBezTo>
                  <a:pt x="1903141" y="2597020"/>
                  <a:pt x="1890546" y="2599872"/>
                  <a:pt x="1877846" y="2601686"/>
                </a:cubicBezTo>
                <a:cubicBezTo>
                  <a:pt x="1816160" y="2599872"/>
                  <a:pt x="1754411" y="2599575"/>
                  <a:pt x="1692789" y="2596244"/>
                </a:cubicBezTo>
                <a:cubicBezTo>
                  <a:pt x="1687060" y="2595934"/>
                  <a:pt x="1681475" y="2593587"/>
                  <a:pt x="1676460" y="2590801"/>
                </a:cubicBezTo>
                <a:cubicBezTo>
                  <a:pt x="1665023" y="2584447"/>
                  <a:pt x="1654689" y="2576286"/>
                  <a:pt x="1643803" y="2569029"/>
                </a:cubicBezTo>
                <a:cubicBezTo>
                  <a:pt x="1638360" y="2565401"/>
                  <a:pt x="1632100" y="2562769"/>
                  <a:pt x="1627475" y="2558144"/>
                </a:cubicBezTo>
                <a:cubicBezTo>
                  <a:pt x="1622032" y="2552701"/>
                  <a:pt x="1617222" y="2546541"/>
                  <a:pt x="1611146" y="2541815"/>
                </a:cubicBezTo>
                <a:cubicBezTo>
                  <a:pt x="1600819" y="2533783"/>
                  <a:pt x="1578489" y="2520044"/>
                  <a:pt x="1578489" y="2520044"/>
                </a:cubicBezTo>
                <a:lnTo>
                  <a:pt x="1556717" y="2487386"/>
                </a:lnTo>
                <a:cubicBezTo>
                  <a:pt x="1553089" y="2481943"/>
                  <a:pt x="1551275" y="2474686"/>
                  <a:pt x="1545832" y="2471058"/>
                </a:cubicBezTo>
                <a:lnTo>
                  <a:pt x="1529503" y="2460172"/>
                </a:lnTo>
                <a:cubicBezTo>
                  <a:pt x="1525874" y="2454729"/>
                  <a:pt x="1523242" y="2448469"/>
                  <a:pt x="1518617" y="2443844"/>
                </a:cubicBezTo>
                <a:cubicBezTo>
                  <a:pt x="1475810" y="2401037"/>
                  <a:pt x="1530537" y="2470122"/>
                  <a:pt x="1485960" y="2416629"/>
                </a:cubicBezTo>
                <a:cubicBezTo>
                  <a:pt x="1481772" y="2411604"/>
                  <a:pt x="1479421" y="2405190"/>
                  <a:pt x="1475075" y="2400301"/>
                </a:cubicBezTo>
                <a:cubicBezTo>
                  <a:pt x="1447962" y="2369799"/>
                  <a:pt x="1450905" y="2373303"/>
                  <a:pt x="1426089" y="2356758"/>
                </a:cubicBezTo>
                <a:cubicBezTo>
                  <a:pt x="1420963" y="2358040"/>
                  <a:pt x="1394379" y="2364094"/>
                  <a:pt x="1387989" y="2367644"/>
                </a:cubicBezTo>
                <a:cubicBezTo>
                  <a:pt x="1376553" y="2373998"/>
                  <a:pt x="1355332" y="2389415"/>
                  <a:pt x="1355332" y="2389415"/>
                </a:cubicBezTo>
                <a:cubicBezTo>
                  <a:pt x="1335216" y="2419588"/>
                  <a:pt x="1355956" y="2395720"/>
                  <a:pt x="1328117" y="2411186"/>
                </a:cubicBezTo>
                <a:cubicBezTo>
                  <a:pt x="1316680" y="2417540"/>
                  <a:pt x="1295460" y="2432958"/>
                  <a:pt x="1295460" y="2432958"/>
                </a:cubicBezTo>
                <a:cubicBezTo>
                  <a:pt x="1251923" y="2498266"/>
                  <a:pt x="1319043" y="2402118"/>
                  <a:pt x="1268246" y="2460172"/>
                </a:cubicBezTo>
                <a:cubicBezTo>
                  <a:pt x="1259631" y="2470018"/>
                  <a:pt x="1253732" y="2481943"/>
                  <a:pt x="1246475" y="2492829"/>
                </a:cubicBezTo>
                <a:lnTo>
                  <a:pt x="1224703" y="2525486"/>
                </a:lnTo>
                <a:cubicBezTo>
                  <a:pt x="1221074" y="2530929"/>
                  <a:pt x="1218443" y="2537189"/>
                  <a:pt x="1213817" y="2541815"/>
                </a:cubicBezTo>
                <a:lnTo>
                  <a:pt x="1164832" y="2590801"/>
                </a:lnTo>
                <a:cubicBezTo>
                  <a:pt x="1159389" y="2596244"/>
                  <a:pt x="1154907" y="2602859"/>
                  <a:pt x="1148503" y="2607129"/>
                </a:cubicBezTo>
                <a:lnTo>
                  <a:pt x="1132175" y="2618015"/>
                </a:lnTo>
                <a:cubicBezTo>
                  <a:pt x="1118494" y="2659059"/>
                  <a:pt x="1138540" y="2610059"/>
                  <a:pt x="1110403" y="2645229"/>
                </a:cubicBezTo>
                <a:cubicBezTo>
                  <a:pt x="1080353" y="2682790"/>
                  <a:pt x="1135431" y="2641243"/>
                  <a:pt x="1088632" y="2672444"/>
                </a:cubicBezTo>
                <a:cubicBezTo>
                  <a:pt x="1068674" y="2702379"/>
                  <a:pt x="1088632" y="2676979"/>
                  <a:pt x="1061417" y="2699658"/>
                </a:cubicBezTo>
                <a:cubicBezTo>
                  <a:pt x="1055504" y="2704586"/>
                  <a:pt x="1051002" y="2711058"/>
                  <a:pt x="1045089" y="2715986"/>
                </a:cubicBezTo>
                <a:cubicBezTo>
                  <a:pt x="1030623" y="2728041"/>
                  <a:pt x="1023927" y="2728079"/>
                  <a:pt x="1006989" y="2737758"/>
                </a:cubicBezTo>
                <a:cubicBezTo>
                  <a:pt x="1001309" y="2741004"/>
                  <a:pt x="996638" y="2745987"/>
                  <a:pt x="990660" y="2748644"/>
                </a:cubicBezTo>
                <a:cubicBezTo>
                  <a:pt x="980174" y="2753304"/>
                  <a:pt x="968889" y="2755901"/>
                  <a:pt x="958003" y="2759529"/>
                </a:cubicBezTo>
                <a:lnTo>
                  <a:pt x="941675" y="2764972"/>
                </a:lnTo>
                <a:lnTo>
                  <a:pt x="925346" y="2770415"/>
                </a:lnTo>
                <a:lnTo>
                  <a:pt x="909017" y="2775858"/>
                </a:lnTo>
                <a:cubicBezTo>
                  <a:pt x="903574" y="2779487"/>
                  <a:pt x="896775" y="2781636"/>
                  <a:pt x="892689" y="2786744"/>
                </a:cubicBezTo>
                <a:cubicBezTo>
                  <a:pt x="871578" y="2813133"/>
                  <a:pt x="906543" y="2796640"/>
                  <a:pt x="870917" y="2808515"/>
                </a:cubicBezTo>
                <a:cubicBezTo>
                  <a:pt x="865474" y="2812144"/>
                  <a:pt x="859214" y="2814776"/>
                  <a:pt x="854589" y="2819401"/>
                </a:cubicBezTo>
                <a:cubicBezTo>
                  <a:pt x="849964" y="2824026"/>
                  <a:pt x="848811" y="2831643"/>
                  <a:pt x="843703" y="2835729"/>
                </a:cubicBezTo>
                <a:cubicBezTo>
                  <a:pt x="839223" y="2839313"/>
                  <a:pt x="832506" y="2838606"/>
                  <a:pt x="827375" y="2841172"/>
                </a:cubicBezTo>
                <a:cubicBezTo>
                  <a:pt x="821524" y="2844098"/>
                  <a:pt x="816489" y="2848429"/>
                  <a:pt x="811046" y="2852058"/>
                </a:cubicBezTo>
                <a:cubicBezTo>
                  <a:pt x="803789" y="2862944"/>
                  <a:pt x="793412" y="2872303"/>
                  <a:pt x="789275" y="2884715"/>
                </a:cubicBezTo>
                <a:cubicBezTo>
                  <a:pt x="781763" y="2907250"/>
                  <a:pt x="787015" y="2896270"/>
                  <a:pt x="772946" y="2917372"/>
                </a:cubicBezTo>
                <a:cubicBezTo>
                  <a:pt x="754660" y="2972230"/>
                  <a:pt x="782555" y="2887154"/>
                  <a:pt x="762060" y="2955472"/>
                </a:cubicBezTo>
                <a:cubicBezTo>
                  <a:pt x="758763" y="2966463"/>
                  <a:pt x="754803" y="2977243"/>
                  <a:pt x="751175" y="2988129"/>
                </a:cubicBezTo>
                <a:cubicBezTo>
                  <a:pt x="749361" y="2993572"/>
                  <a:pt x="748915" y="2999684"/>
                  <a:pt x="745732" y="3004458"/>
                </a:cubicBezTo>
                <a:lnTo>
                  <a:pt x="734846" y="3020786"/>
                </a:lnTo>
                <a:cubicBezTo>
                  <a:pt x="731217" y="3031672"/>
                  <a:pt x="726210" y="3042192"/>
                  <a:pt x="723960" y="3053444"/>
                </a:cubicBezTo>
                <a:cubicBezTo>
                  <a:pt x="722146" y="3062515"/>
                  <a:pt x="720951" y="3071733"/>
                  <a:pt x="718517" y="3080658"/>
                </a:cubicBezTo>
                <a:cubicBezTo>
                  <a:pt x="715498" y="3091728"/>
                  <a:pt x="707632" y="3113315"/>
                  <a:pt x="707632" y="3113315"/>
                </a:cubicBezTo>
                <a:cubicBezTo>
                  <a:pt x="678892" y="3103735"/>
                  <a:pt x="696076" y="3111054"/>
                  <a:pt x="658646" y="3086101"/>
                </a:cubicBezTo>
                <a:cubicBezTo>
                  <a:pt x="653203" y="3082472"/>
                  <a:pt x="648523" y="3077284"/>
                  <a:pt x="642317" y="3075215"/>
                </a:cubicBezTo>
                <a:cubicBezTo>
                  <a:pt x="613578" y="3065635"/>
                  <a:pt x="630762" y="3072954"/>
                  <a:pt x="593332" y="3048001"/>
                </a:cubicBezTo>
                <a:cubicBezTo>
                  <a:pt x="587889" y="3044372"/>
                  <a:pt x="583209" y="3039184"/>
                  <a:pt x="577003" y="3037115"/>
                </a:cubicBezTo>
                <a:cubicBezTo>
                  <a:pt x="554469" y="3029603"/>
                  <a:pt x="565449" y="3034854"/>
                  <a:pt x="544346" y="3020786"/>
                </a:cubicBezTo>
                <a:cubicBezTo>
                  <a:pt x="533750" y="2989000"/>
                  <a:pt x="547193" y="3018190"/>
                  <a:pt x="522575" y="2993572"/>
                </a:cubicBezTo>
                <a:cubicBezTo>
                  <a:pt x="517950" y="2988947"/>
                  <a:pt x="516035" y="2982133"/>
                  <a:pt x="511689" y="2977244"/>
                </a:cubicBezTo>
                <a:cubicBezTo>
                  <a:pt x="501461" y="2965738"/>
                  <a:pt x="489918" y="2955472"/>
                  <a:pt x="479032" y="2944586"/>
                </a:cubicBezTo>
                <a:cubicBezTo>
                  <a:pt x="473589" y="2939143"/>
                  <a:pt x="466973" y="2934663"/>
                  <a:pt x="462703" y="2928258"/>
                </a:cubicBezTo>
                <a:lnTo>
                  <a:pt x="430046" y="2879272"/>
                </a:lnTo>
                <a:lnTo>
                  <a:pt x="419160" y="2862944"/>
                </a:lnTo>
                <a:cubicBezTo>
                  <a:pt x="409182" y="2833009"/>
                  <a:pt x="419712" y="2859826"/>
                  <a:pt x="402832" y="2830286"/>
                </a:cubicBezTo>
                <a:cubicBezTo>
                  <a:pt x="393155" y="2813350"/>
                  <a:pt x="393113" y="2806650"/>
                  <a:pt x="381060" y="2792186"/>
                </a:cubicBezTo>
                <a:cubicBezTo>
                  <a:pt x="376132" y="2786273"/>
                  <a:pt x="370175" y="2781301"/>
                  <a:pt x="364732" y="2775858"/>
                </a:cubicBezTo>
                <a:cubicBezTo>
                  <a:pt x="362918" y="2770415"/>
                  <a:pt x="361855" y="2764661"/>
                  <a:pt x="359289" y="2759529"/>
                </a:cubicBezTo>
                <a:cubicBezTo>
                  <a:pt x="349156" y="2739264"/>
                  <a:pt x="347118" y="2744923"/>
                  <a:pt x="332075" y="2726872"/>
                </a:cubicBezTo>
                <a:cubicBezTo>
                  <a:pt x="327887" y="2721847"/>
                  <a:pt x="324818" y="2715987"/>
                  <a:pt x="321189" y="2710544"/>
                </a:cubicBezTo>
                <a:cubicBezTo>
                  <a:pt x="319375" y="2705101"/>
                  <a:pt x="318532" y="2699230"/>
                  <a:pt x="315746" y="2694215"/>
                </a:cubicBezTo>
                <a:cubicBezTo>
                  <a:pt x="309392" y="2682778"/>
                  <a:pt x="298112" y="2673970"/>
                  <a:pt x="293975" y="2661558"/>
                </a:cubicBezTo>
                <a:cubicBezTo>
                  <a:pt x="284395" y="2632817"/>
                  <a:pt x="291715" y="2650004"/>
                  <a:pt x="266760" y="2612572"/>
                </a:cubicBezTo>
                <a:lnTo>
                  <a:pt x="255875" y="2596244"/>
                </a:lnTo>
                <a:cubicBezTo>
                  <a:pt x="252246" y="2590801"/>
                  <a:pt x="247058" y="2586121"/>
                  <a:pt x="244989" y="2579915"/>
                </a:cubicBezTo>
                <a:cubicBezTo>
                  <a:pt x="235409" y="2551175"/>
                  <a:pt x="242728" y="2568358"/>
                  <a:pt x="217775" y="2530929"/>
                </a:cubicBezTo>
                <a:lnTo>
                  <a:pt x="206889" y="2514601"/>
                </a:lnTo>
                <a:cubicBezTo>
                  <a:pt x="197309" y="2485861"/>
                  <a:pt x="204628" y="2503045"/>
                  <a:pt x="179675" y="2465615"/>
                </a:cubicBezTo>
                <a:cubicBezTo>
                  <a:pt x="176046" y="2460172"/>
                  <a:pt x="170858" y="2455492"/>
                  <a:pt x="168789" y="2449286"/>
                </a:cubicBezTo>
                <a:cubicBezTo>
                  <a:pt x="166975" y="2443843"/>
                  <a:pt x="165912" y="2438089"/>
                  <a:pt x="163346" y="2432958"/>
                </a:cubicBezTo>
                <a:cubicBezTo>
                  <a:pt x="160420" y="2427107"/>
                  <a:pt x="155117" y="2422607"/>
                  <a:pt x="152460" y="2416629"/>
                </a:cubicBezTo>
                <a:cubicBezTo>
                  <a:pt x="147800" y="2406143"/>
                  <a:pt x="145203" y="2394858"/>
                  <a:pt x="141575" y="2383972"/>
                </a:cubicBezTo>
                <a:cubicBezTo>
                  <a:pt x="141574" y="2383968"/>
                  <a:pt x="130690" y="2351318"/>
                  <a:pt x="130689" y="2351315"/>
                </a:cubicBezTo>
                <a:cubicBezTo>
                  <a:pt x="127582" y="2335780"/>
                  <a:pt x="124415" y="2317700"/>
                  <a:pt x="119803" y="2302329"/>
                </a:cubicBezTo>
                <a:cubicBezTo>
                  <a:pt x="114857" y="2285843"/>
                  <a:pt x="108917" y="2269672"/>
                  <a:pt x="103475" y="2253344"/>
                </a:cubicBezTo>
                <a:cubicBezTo>
                  <a:pt x="101661" y="2247901"/>
                  <a:pt x="99424" y="2242581"/>
                  <a:pt x="98032" y="2237015"/>
                </a:cubicBezTo>
                <a:cubicBezTo>
                  <a:pt x="96218" y="2229758"/>
                  <a:pt x="95536" y="2222120"/>
                  <a:pt x="92589" y="2215244"/>
                </a:cubicBezTo>
                <a:cubicBezTo>
                  <a:pt x="90012" y="2209231"/>
                  <a:pt x="85332" y="2204358"/>
                  <a:pt x="81703" y="2198915"/>
                </a:cubicBezTo>
                <a:cubicBezTo>
                  <a:pt x="78074" y="2180772"/>
                  <a:pt x="76667" y="2162039"/>
                  <a:pt x="70817" y="2144486"/>
                </a:cubicBezTo>
                <a:cubicBezTo>
                  <a:pt x="57762" y="2105318"/>
                  <a:pt x="73608" y="2154252"/>
                  <a:pt x="59932" y="2106386"/>
                </a:cubicBezTo>
                <a:cubicBezTo>
                  <a:pt x="58356" y="2100870"/>
                  <a:pt x="55881" y="2095624"/>
                  <a:pt x="54489" y="2090058"/>
                </a:cubicBezTo>
                <a:cubicBezTo>
                  <a:pt x="52245" y="2081083"/>
                  <a:pt x="51053" y="2071875"/>
                  <a:pt x="49046" y="2062844"/>
                </a:cubicBezTo>
                <a:cubicBezTo>
                  <a:pt x="47423" y="2055541"/>
                  <a:pt x="44833" y="2048451"/>
                  <a:pt x="43603" y="2041072"/>
                </a:cubicBezTo>
                <a:cubicBezTo>
                  <a:pt x="41198" y="2026644"/>
                  <a:pt x="40384" y="2011986"/>
                  <a:pt x="38160" y="1997529"/>
                </a:cubicBezTo>
                <a:cubicBezTo>
                  <a:pt x="36753" y="1988386"/>
                  <a:pt x="34531" y="1979386"/>
                  <a:pt x="32717" y="1970315"/>
                </a:cubicBezTo>
                <a:cubicBezTo>
                  <a:pt x="30903" y="1943101"/>
                  <a:pt x="30130" y="1915797"/>
                  <a:pt x="27275" y="1888672"/>
                </a:cubicBezTo>
                <a:cubicBezTo>
                  <a:pt x="26492" y="1881233"/>
                  <a:pt x="23299" y="1874236"/>
                  <a:pt x="21832" y="1866901"/>
                </a:cubicBezTo>
                <a:cubicBezTo>
                  <a:pt x="19668" y="1856079"/>
                  <a:pt x="17848" y="1845183"/>
                  <a:pt x="16389" y="1834244"/>
                </a:cubicBezTo>
                <a:cubicBezTo>
                  <a:pt x="14218" y="1817959"/>
                  <a:pt x="13117" y="1801543"/>
                  <a:pt x="10946" y="1785258"/>
                </a:cubicBezTo>
                <a:cubicBezTo>
                  <a:pt x="7133" y="1756662"/>
                  <a:pt x="6241" y="1755553"/>
                  <a:pt x="60" y="1730829"/>
                </a:cubicBezTo>
                <a:cubicBezTo>
                  <a:pt x="1874" y="1721758"/>
                  <a:pt x="-3730" y="1704192"/>
                  <a:pt x="5503" y="1703615"/>
                </a:cubicBezTo>
                <a:cubicBezTo>
                  <a:pt x="90685" y="1698291"/>
                  <a:pt x="261317" y="1714501"/>
                  <a:pt x="261317" y="1714501"/>
                </a:cubicBezTo>
                <a:cubicBezTo>
                  <a:pt x="272295" y="1716331"/>
                  <a:pt x="322962" y="1725036"/>
                  <a:pt x="332075" y="1725386"/>
                </a:cubicBezTo>
                <a:cubicBezTo>
                  <a:pt x="413677" y="1728524"/>
                  <a:pt x="495360" y="1729015"/>
                  <a:pt x="577003" y="1730829"/>
                </a:cubicBezTo>
                <a:cubicBezTo>
                  <a:pt x="658780" y="1739916"/>
                  <a:pt x="595124" y="1731942"/>
                  <a:pt x="658646" y="1741715"/>
                </a:cubicBezTo>
                <a:cubicBezTo>
                  <a:pt x="671326" y="1743666"/>
                  <a:pt x="684166" y="1744642"/>
                  <a:pt x="696746" y="1747158"/>
                </a:cubicBezTo>
                <a:cubicBezTo>
                  <a:pt x="759975" y="1759804"/>
                  <a:pt x="719194" y="1758044"/>
                  <a:pt x="762060" y="175804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597220"/>
      </p:ext>
    </p:extLst>
  </p:cSld>
  <p:clrMapOvr>
    <a:masterClrMapping/>
  </p:clrMapOvr>
  <p:transition spd="slow">
    <p:push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F33B74FA-2AE3-4AD5-AFDA-56871A9DF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344" y="590046"/>
            <a:ext cx="5237547" cy="348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80970014"/>
      </p:ext>
    </p:extLst>
  </p:cSld>
  <p:clrMapOvr>
    <a:masterClrMapping/>
  </p:clrMapOvr>
  <p:transition spd="slow">
    <p:push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DC386AB-7AA7-4D99-A390-EBEA9D1CE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" t="3255" r="3736" b="5644"/>
          <a:stretch/>
        </p:blipFill>
        <p:spPr bwMode="auto">
          <a:xfrm>
            <a:off x="2813247" y="0"/>
            <a:ext cx="5791201" cy="4588329"/>
          </a:xfrm>
          <a:prstGeom prst="snip2DiagRect">
            <a:avLst>
              <a:gd name="adj1" fmla="val 30273"/>
              <a:gd name="adj2" fmla="val 1690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B13E04-3695-46F8-933E-A2BE66D3A98B}"/>
              </a:ext>
            </a:extLst>
          </p:cNvPr>
          <p:cNvSpPr txBox="1"/>
          <p:nvPr/>
        </p:nvSpPr>
        <p:spPr>
          <a:xfrm>
            <a:off x="87439" y="2265589"/>
            <a:ext cx="2780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Вариант 1:</a:t>
            </a:r>
          </a:p>
          <a:p>
            <a:r>
              <a:rPr lang="ru-RU" dirty="0"/>
              <a:t>Сразу прописать действия, для развития всех сфер.</a:t>
            </a:r>
          </a:p>
        </p:txBody>
      </p:sp>
    </p:spTree>
    <p:extLst>
      <p:ext uri="{BB962C8B-B14F-4D97-AF65-F5344CB8AC3E}">
        <p14:creationId xmlns:p14="http://schemas.microsoft.com/office/powerpoint/2010/main" val="855844247"/>
      </p:ext>
    </p:extLst>
  </p:cSld>
  <p:clrMapOvr>
    <a:masterClrMapping/>
  </p:clrMapOvr>
  <p:transition spd="slow">
    <p:push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23246" y="1203849"/>
            <a:ext cx="2908425" cy="92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Шкалирование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сферы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6239115-F824-4AAE-85C8-79F16636D43A}"/>
              </a:ext>
            </a:extLst>
          </p:cNvPr>
          <p:cNvGrpSpPr/>
          <p:nvPr/>
        </p:nvGrpSpPr>
        <p:grpSpPr>
          <a:xfrm>
            <a:off x="3031671" y="943219"/>
            <a:ext cx="5266963" cy="3257061"/>
            <a:chOff x="4203609" y="1667628"/>
            <a:chExt cx="4595107" cy="2873948"/>
          </a:xfrm>
        </p:grpSpPr>
        <p:sp>
          <p:nvSpPr>
            <p:cNvPr id="3" name="Стрелка: вправо 2">
              <a:extLst>
                <a:ext uri="{FF2B5EF4-FFF2-40B4-BE49-F238E27FC236}">
                  <a16:creationId xmlns:a16="http://schemas.microsoft.com/office/drawing/2014/main" id="{2D3C0C59-630C-4C61-BB57-5BEF7DDF0F70}"/>
                </a:ext>
              </a:extLst>
            </p:cNvPr>
            <p:cNvSpPr/>
            <p:nvPr/>
          </p:nvSpPr>
          <p:spPr>
            <a:xfrm>
              <a:off x="4338467" y="2456628"/>
              <a:ext cx="4190451" cy="115122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20D53B5-8FD2-4FA5-9901-7C1A58C56E7B}"/>
                </a:ext>
              </a:extLst>
            </p:cNvPr>
            <p:cNvSpPr txBox="1"/>
            <p:nvPr/>
          </p:nvSpPr>
          <p:spPr>
            <a:xfrm>
              <a:off x="5256155" y="1667628"/>
              <a:ext cx="2808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Шкала «</a:t>
              </a:r>
              <a:r>
                <a:rPr lang="ru-RU" i="1" dirty="0"/>
                <a:t>Яркости жизни»</a:t>
              </a:r>
              <a:endParaRPr lang="ru-RU" dirty="0"/>
            </a:p>
          </p:txBody>
        </p: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C358BADB-C484-48CC-9116-112C250AFFA0}"/>
                </a:ext>
              </a:extLst>
            </p:cNvPr>
            <p:cNvCxnSpPr/>
            <p:nvPr/>
          </p:nvCxnSpPr>
          <p:spPr>
            <a:xfrm>
              <a:off x="4338467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A774B0-B541-4B12-8B66-5530D79FDDF2}"/>
                </a:ext>
              </a:extLst>
            </p:cNvPr>
            <p:cNvSpPr txBox="1"/>
            <p:nvPr/>
          </p:nvSpPr>
          <p:spPr>
            <a:xfrm>
              <a:off x="4203609" y="2607931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6B6508-FA32-4607-857D-4CE3F9ACB99A}"/>
                </a:ext>
              </a:extLst>
            </p:cNvPr>
            <p:cNvSpPr txBox="1"/>
            <p:nvPr/>
          </p:nvSpPr>
          <p:spPr>
            <a:xfrm>
              <a:off x="8284377" y="2607931"/>
              <a:ext cx="4890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10</a:t>
              </a:r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813E5C29-434C-4479-81F4-988F0DF7E0FC}"/>
                </a:ext>
              </a:extLst>
            </p:cNvPr>
            <p:cNvCxnSpPr/>
            <p:nvPr/>
          </p:nvCxnSpPr>
          <p:spPr>
            <a:xfrm>
              <a:off x="5592752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B5AE54A0-A1C3-4D41-96FD-A0A920F84BFB}"/>
                </a:ext>
              </a:extLst>
            </p:cNvPr>
            <p:cNvCxnSpPr/>
            <p:nvPr/>
          </p:nvCxnSpPr>
          <p:spPr>
            <a:xfrm>
              <a:off x="8026767" y="2420445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2CCD2A-D149-40F8-A630-59A6A37DB3B0}"/>
                </a:ext>
              </a:extLst>
            </p:cNvPr>
            <p:cNvSpPr txBox="1"/>
            <p:nvPr/>
          </p:nvSpPr>
          <p:spPr>
            <a:xfrm>
              <a:off x="5474340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6D8723-DE26-4708-A084-FE9A32DE773E}"/>
                </a:ext>
              </a:extLst>
            </p:cNvPr>
            <p:cNvSpPr txBox="1"/>
            <p:nvPr/>
          </p:nvSpPr>
          <p:spPr>
            <a:xfrm>
              <a:off x="7884741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8" name="Дуга 7">
              <a:extLst>
                <a:ext uri="{FF2B5EF4-FFF2-40B4-BE49-F238E27FC236}">
                  <a16:creationId xmlns:a16="http://schemas.microsoft.com/office/drawing/2014/main" id="{7D2BC458-6836-4735-8396-F8A6E45A60D3}"/>
                </a:ext>
              </a:extLst>
            </p:cNvPr>
            <p:cNvSpPr/>
            <p:nvPr/>
          </p:nvSpPr>
          <p:spPr>
            <a:xfrm>
              <a:off x="5592751" y="2158835"/>
              <a:ext cx="2472378" cy="361930"/>
            </a:xfrm>
            <a:prstGeom prst="arc">
              <a:avLst>
                <a:gd name="adj1" fmla="val 10806036"/>
                <a:gd name="adj2" fmla="val 214283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22C8A9-F94D-4C90-B98D-7E70A9529C0A}"/>
                </a:ext>
              </a:extLst>
            </p:cNvPr>
            <p:cNvSpPr txBox="1"/>
            <p:nvPr/>
          </p:nvSpPr>
          <p:spPr>
            <a:xfrm>
              <a:off x="5047923" y="2782376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Где сейчас?</a:t>
              </a:r>
              <a:endParaRPr lang="ru-R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784BAD-218C-4B89-AA8C-AE7CB200DAA1}"/>
                </a:ext>
              </a:extLst>
            </p:cNvPr>
            <p:cNvSpPr txBox="1"/>
            <p:nvPr/>
          </p:nvSpPr>
          <p:spPr>
            <a:xfrm>
              <a:off x="7377779" y="2782375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Куда хочу?</a:t>
              </a:r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A89212-00DE-4253-A40F-B3758F38BD06}"/>
                </a:ext>
              </a:extLst>
            </p:cNvPr>
            <p:cNvSpPr txBox="1"/>
            <p:nvPr/>
          </p:nvSpPr>
          <p:spPr>
            <a:xfrm>
              <a:off x="5094479" y="3095026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понимаю что тут?: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173CE5-9F7B-4393-B362-0F0EEF042702}"/>
                </a:ext>
              </a:extLst>
            </p:cNvPr>
            <p:cNvSpPr txBox="1"/>
            <p:nvPr/>
          </p:nvSpPr>
          <p:spPr>
            <a:xfrm>
              <a:off x="7144753" y="3089153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пойму что достиг: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BE814CE-D5E3-45C7-A9FD-1090166DFD51}"/>
              </a:ext>
            </a:extLst>
          </p:cNvPr>
          <p:cNvSpPr txBox="1"/>
          <p:nvPr/>
        </p:nvSpPr>
        <p:spPr>
          <a:xfrm>
            <a:off x="123246" y="2273430"/>
            <a:ext cx="2780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Вариант 2:</a:t>
            </a:r>
          </a:p>
          <a:p>
            <a:r>
              <a:rPr lang="ru-RU" dirty="0"/>
              <a:t>Выбрать сферу и использовать шкалирование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87194927"/>
      </p:ext>
    </p:extLst>
  </p:cSld>
  <p:clrMapOvr>
    <a:masterClrMapping/>
  </p:clrMapOvr>
  <p:transition spd="slow">
    <p:push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3375258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ЯРКОСТЬ ЖИЗНИ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A9C4A4-FBBB-4263-9A70-F3BC43CE4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653" y="293913"/>
            <a:ext cx="4507361" cy="4284099"/>
          </a:xfrm>
          <a:prstGeom prst="ellipse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1240EE-B443-434A-A77D-CFF364402538}"/>
              </a:ext>
            </a:extLst>
          </p:cNvPr>
          <p:cNvSpPr txBox="1"/>
          <p:nvPr/>
        </p:nvSpPr>
        <p:spPr>
          <a:xfrm>
            <a:off x="87439" y="2265589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«</a:t>
            </a:r>
            <a:r>
              <a:rPr lang="ru-RU" i="1" dirty="0"/>
              <a:t>Из каких элементов состоит сфера – ЯРКОСТЬ ЖИЗНИ?»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1AABE-89C3-4EA3-8AE0-0765B17D3676}"/>
              </a:ext>
            </a:extLst>
          </p:cNvPr>
          <p:cNvSpPr txBox="1"/>
          <p:nvPr/>
        </p:nvSpPr>
        <p:spPr>
          <a:xfrm>
            <a:off x="103969" y="2944746"/>
            <a:ext cx="3145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Вариант 3:</a:t>
            </a:r>
          </a:p>
          <a:p>
            <a:r>
              <a:rPr lang="ru-RU" dirty="0"/>
              <a:t>Разбить сферу на составляющие</a:t>
            </a:r>
          </a:p>
        </p:txBody>
      </p:sp>
    </p:spTree>
    <p:extLst>
      <p:ext uri="{BB962C8B-B14F-4D97-AF65-F5344CB8AC3E}">
        <p14:creationId xmlns:p14="http://schemas.microsoft.com/office/powerpoint/2010/main" val="1663319416"/>
      </p:ext>
    </p:extLst>
  </p:cSld>
  <p:clrMapOvr>
    <a:masterClrMapping/>
  </p:clrMapOvr>
  <p:transition spd="slow">
    <p:push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0CC5B2D-283E-4195-A7FA-B8354F922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" t="18572" r="12846" b="4523"/>
          <a:stretch/>
        </p:blipFill>
        <p:spPr bwMode="auto">
          <a:xfrm>
            <a:off x="2550904" y="261258"/>
            <a:ext cx="5401111" cy="433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380680"/>
      </p:ext>
    </p:extLst>
  </p:cSld>
  <p:clrMapOvr>
    <a:masterClrMapping/>
  </p:clrMapOvr>
  <p:transition spd="slow">
    <p:push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83C1E0A3-4271-420E-8F85-DE3983BB8A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93" b="25706"/>
          <a:stretch/>
        </p:blipFill>
        <p:spPr bwMode="auto">
          <a:xfrm>
            <a:off x="2639787" y="0"/>
            <a:ext cx="4626428" cy="458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917908"/>
      </p:ext>
    </p:extLst>
  </p:cSld>
  <p:clrMapOvr>
    <a:masterClrMapping/>
  </p:clrMapOvr>
  <p:transition spd="slow">
    <p:push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97285" y="1256125"/>
            <a:ext cx="335348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 РАЗВИТИЯ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59109B8-FD29-4199-B0AA-380D84211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086" y="97662"/>
            <a:ext cx="4470400" cy="44528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01494"/>
      </p:ext>
    </p:extLst>
  </p:cSld>
  <p:clrMapOvr>
    <a:masterClrMapping/>
  </p:clrMapOvr>
  <p:transition spd="slow">
    <p:push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4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004400" cy="19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Варианты:</a:t>
            </a:r>
            <a:endParaRPr lang="ru-RU"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Сразу прописывать действия для улучшения сфер</a:t>
            </a: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Использовать шкалирование</a:t>
            </a: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Разбить сферу на составляющие, и заполнить еще одно колесо.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51" name="Google Shape;651;p8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4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КОЛЕСО</a:t>
            </a: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185904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58.jpg" descr="Log_urovny.jpg">
            <a:extLst>
              <a:ext uri="{FF2B5EF4-FFF2-40B4-BE49-F238E27FC236}">
                <a16:creationId xmlns:a16="http://schemas.microsoft.com/office/drawing/2014/main" id="{2E38469B-7D74-4E09-874C-06E638CEE78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383900" y="651160"/>
            <a:ext cx="5561079" cy="3702631"/>
          </a:xfrm>
          <a:prstGeom prst="snip2SameRect">
            <a:avLst>
              <a:gd name="adj1" fmla="val 43127"/>
              <a:gd name="adj2" fmla="val 882"/>
            </a:avLst>
          </a:prstGeom>
          <a:ln w="12700">
            <a:miter lim="400000"/>
          </a:ln>
        </p:spPr>
      </p:pic>
      <p:pic>
        <p:nvPicPr>
          <p:cNvPr id="700" name="Google Shape;700;p90"/>
          <p:cNvPicPr preferRelativeResize="0"/>
          <p:nvPr/>
        </p:nvPicPr>
        <p:blipFill rotWithShape="1">
          <a:blip r:embed="rId5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17725"/>
      </p:ext>
    </p:extLst>
  </p:cSld>
  <p:clrMapOvr>
    <a:masterClrMapping/>
  </p:clrMapOvr>
  <p:transition spd="slow">
    <p:push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Объект 3">
            <a:extLst>
              <a:ext uri="{FF2B5EF4-FFF2-40B4-BE49-F238E27FC236}">
                <a16:creationId xmlns:a16="http://schemas.microsoft.com/office/drawing/2014/main" id="{C15B19EC-0771-4D68-AF47-4BF0F308B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724" y="56564"/>
            <a:ext cx="5440647" cy="4248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2759713"/>
      </p:ext>
    </p:extLst>
  </p:cSld>
  <p:clrMapOvr>
    <a:masterClrMapping/>
  </p:clrMapOvr>
  <p:transition spd="slow">
    <p:push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Объект 3">
            <a:extLst>
              <a:ext uri="{FF2B5EF4-FFF2-40B4-BE49-F238E27FC236}">
                <a16:creationId xmlns:a16="http://schemas.microsoft.com/office/drawing/2014/main" id="{7E545AC3-4712-48AF-99E9-D7B2B469D4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9"/>
          <a:stretch/>
        </p:blipFill>
        <p:spPr>
          <a:xfrm>
            <a:off x="2218593" y="0"/>
            <a:ext cx="5129335" cy="4583494"/>
          </a:xfrm>
          <a:prstGeom prst="snip2SameRect">
            <a:avLst>
              <a:gd name="adj1" fmla="val 46675"/>
              <a:gd name="adj2" fmla="val 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6378651"/>
      </p:ext>
    </p:extLst>
  </p:cSld>
  <p:clrMapOvr>
    <a:masterClrMapping/>
  </p:clrMapOvr>
  <p:transition spd="slow">
    <p:push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59.jpg" descr="image002.jpg">
            <a:extLst>
              <a:ext uri="{FF2B5EF4-FFF2-40B4-BE49-F238E27FC236}">
                <a16:creationId xmlns:a16="http://schemas.microsoft.com/office/drawing/2014/main" id="{6ADA3C77-EAC4-442F-9B96-DABF77B2704B}"/>
              </a:ext>
            </a:extLst>
          </p:cNvPr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30000"/>
                    </a14:imgEffect>
                    <a14:imgEffect>
                      <a14:brightnessContrast contrast="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7000" y="328517"/>
            <a:ext cx="4996543" cy="428702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525450-6C30-4CC7-8E82-806EBC7F3A67}"/>
              </a:ext>
            </a:extLst>
          </p:cNvPr>
          <p:cNvSpPr txBox="1"/>
          <p:nvPr/>
        </p:nvSpPr>
        <p:spPr>
          <a:xfrm>
            <a:off x="76553" y="2472029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Вы можете создать в НЛУ - систему семьи</a:t>
            </a:r>
          </a:p>
        </p:txBody>
      </p:sp>
    </p:spTree>
    <p:extLst>
      <p:ext uri="{BB962C8B-B14F-4D97-AF65-F5344CB8AC3E}">
        <p14:creationId xmlns:p14="http://schemas.microsoft.com/office/powerpoint/2010/main" val="3468105001"/>
      </p:ext>
    </p:extLst>
  </p:cSld>
  <p:clrMapOvr>
    <a:masterClrMapping/>
  </p:clrMapOvr>
  <p:transition spd="slow">
    <p:push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3">
            <a:extLst>
              <a:ext uri="{FF2B5EF4-FFF2-40B4-BE49-F238E27FC236}">
                <a16:creationId xmlns:a16="http://schemas.microsoft.com/office/drawing/2014/main" id="{31045B00-34F7-457F-A850-354DE91E6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129" y="518589"/>
            <a:ext cx="4717437" cy="390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2524332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i="1" dirty="0">
                <a:latin typeface="Open Sans"/>
                <a:ea typeface="Open Sans"/>
                <a:cs typeface="Open Sans"/>
                <a:sym typeface="Open Sans"/>
              </a:rPr>
              <a:t>Матрица </a:t>
            </a:r>
            <a:r>
              <a:rPr lang="ru-RU" sz="2400" b="1" i="1" dirty="0" err="1">
                <a:latin typeface="Open Sans"/>
                <a:ea typeface="Open Sans"/>
                <a:cs typeface="Open Sans"/>
                <a:sym typeface="Open Sans"/>
              </a:rPr>
              <a:t>Эйзенхаура</a:t>
            </a:r>
            <a:r>
              <a:rPr lang="ru-RU" sz="2400" b="1" i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5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525450-6C30-4CC7-8E82-806EBC7F3A67}"/>
              </a:ext>
            </a:extLst>
          </p:cNvPr>
          <p:cNvSpPr txBox="1"/>
          <p:nvPr/>
        </p:nvSpPr>
        <p:spPr>
          <a:xfrm>
            <a:off x="76553" y="2472029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Для запросов с планированием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2279063651"/>
      </p:ext>
    </p:extLst>
  </p:cSld>
  <p:clrMapOvr>
    <a:masterClrMapping/>
  </p:clrMapOvr>
  <p:transition spd="slow">
    <p:push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2524332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525450-6C30-4CC7-8E82-806EBC7F3A67}"/>
              </a:ext>
            </a:extLst>
          </p:cNvPr>
          <p:cNvSpPr txBox="1"/>
          <p:nvPr/>
        </p:nvSpPr>
        <p:spPr>
          <a:xfrm>
            <a:off x="148916" y="2778715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Клиенту предлагается посмотреть на ситуацию с разных точек зрения:</a:t>
            </a:r>
          </a:p>
        </p:txBody>
      </p:sp>
      <p:sp>
        <p:nvSpPr>
          <p:cNvPr id="7" name="Скругленный прямоугольник 3">
            <a:extLst>
              <a:ext uri="{FF2B5EF4-FFF2-40B4-BE49-F238E27FC236}">
                <a16:creationId xmlns:a16="http://schemas.microsoft.com/office/drawing/2014/main" id="{9D615372-2B5D-4A9E-891F-B402971F1F2A}"/>
              </a:ext>
            </a:extLst>
          </p:cNvPr>
          <p:cNvSpPr/>
          <p:nvPr/>
        </p:nvSpPr>
        <p:spPr>
          <a:xfrm>
            <a:off x="5258055" y="2258696"/>
            <a:ext cx="1143630" cy="5635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Наблюдатель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24C161F-BB8F-4F68-8736-F177DD71BF74}"/>
              </a:ext>
            </a:extLst>
          </p:cNvPr>
          <p:cNvSpPr/>
          <p:nvPr/>
        </p:nvSpPr>
        <p:spPr>
          <a:xfrm>
            <a:off x="4052306" y="1074697"/>
            <a:ext cx="901116" cy="892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Я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40BF529E-6EEE-48AD-9032-78A17F6101FE}"/>
              </a:ext>
            </a:extLst>
          </p:cNvPr>
          <p:cNvSpPr/>
          <p:nvPr/>
        </p:nvSpPr>
        <p:spPr>
          <a:xfrm>
            <a:off x="4855667" y="3483532"/>
            <a:ext cx="1948406" cy="71005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Система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40CB55E-FDE5-4676-AE85-EAAF92343227}"/>
              </a:ext>
            </a:extLst>
          </p:cNvPr>
          <p:cNvSpPr/>
          <p:nvPr/>
        </p:nvSpPr>
        <p:spPr>
          <a:xfrm>
            <a:off x="6706318" y="1074696"/>
            <a:ext cx="901116" cy="892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Другой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D1931-EC2E-44DF-9DA3-F0DFF27FD5BE}"/>
              </a:ext>
            </a:extLst>
          </p:cNvPr>
          <p:cNvSpPr txBox="1"/>
          <p:nvPr/>
        </p:nvSpPr>
        <p:spPr>
          <a:xfrm>
            <a:off x="148916" y="3328679"/>
            <a:ext cx="4465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«Я сам» - видение клиентом ситуации «изнутри»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«Я – другой» - с позиции другого участника ситуации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«Я – наблюдатель» - взгляд со стороны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«Поле» или «Я-система» - системный взгляд на ситуацию; как изменения отразятся на элементах системы и их взаимосвязях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A2571-9A2E-4E99-9A7B-FAB6AB4E3C3D}"/>
              </a:ext>
            </a:extLst>
          </p:cNvPr>
          <p:cNvSpPr txBox="1"/>
          <p:nvPr/>
        </p:nvSpPr>
        <p:spPr>
          <a:xfrm>
            <a:off x="251525" y="1810617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Четырехпозиционная модель восприятия реальности</a:t>
            </a:r>
          </a:p>
        </p:txBody>
      </p:sp>
    </p:spTree>
    <p:extLst>
      <p:ext uri="{BB962C8B-B14F-4D97-AF65-F5344CB8AC3E}">
        <p14:creationId xmlns:p14="http://schemas.microsoft.com/office/powerpoint/2010/main" val="906765948"/>
      </p:ext>
    </p:extLst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2892</Words>
  <Application>Microsoft Office PowerPoint</Application>
  <PresentationFormat>Экран (16:9)</PresentationFormat>
  <Paragraphs>357</Paragraphs>
  <Slides>66</Slides>
  <Notes>66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66</vt:i4>
      </vt:variant>
    </vt:vector>
  </HeadingPairs>
  <TitlesOfParts>
    <vt:vector size="70" baseType="lpstr">
      <vt:lpstr>Open Sans</vt:lpstr>
      <vt:lpstr>Calibri</vt:lpstr>
      <vt:lpstr>Arial</vt:lpstr>
      <vt:lpstr>Simple Light</vt:lpstr>
      <vt:lpstr>Презентация PowerPoint</vt:lpstr>
      <vt:lpstr>Сальников Никита Фёдорович</vt:lpstr>
      <vt:lpstr>Круг в обучении</vt:lpstr>
      <vt:lpstr>Четыре стадии освоения любого нового знания (навыка)</vt:lpstr>
      <vt:lpstr>Концентрация внимания на различиях</vt:lpstr>
      <vt:lpstr>На чем фокус внимания коуча (по Т.Голви)</vt:lpstr>
      <vt:lpstr>Презентация PowerPoint</vt:lpstr>
      <vt:lpstr>Упражнение</vt:lpstr>
      <vt:lpstr>Коуч-позиция</vt:lpstr>
      <vt:lpstr>COACH</vt:lpstr>
      <vt:lpstr>CRASH</vt:lpstr>
      <vt:lpstr>Коуч-позиция</vt:lpstr>
      <vt:lpstr>Потенциал минус «вмешательство» равняется результативности (Майлз Дауни)</vt:lpstr>
      <vt:lpstr>Потенциал минус «вмешательство» равняется результативности (Майлз Дауни)</vt:lpstr>
      <vt:lpstr>Необходимые условия для эффективного коучингового взаимодействия</vt:lpstr>
      <vt:lpstr>1. Контакт, раппорт </vt:lpstr>
      <vt:lpstr>Возможные уровни установления контакта </vt:lpstr>
      <vt:lpstr>Воздействие на слушателя</vt:lpstr>
      <vt:lpstr>Метасообщение</vt:lpstr>
      <vt:lpstr>Тренировка</vt:lpstr>
      <vt:lpstr>2. Контракт в коучинге</vt:lpstr>
      <vt:lpstr>Вопросы контракта</vt:lpstr>
      <vt:lpstr>Вопросы контракта</vt:lpstr>
      <vt:lpstr>3. Ответственность клиента  и его обязательства</vt:lpstr>
      <vt:lpstr>Переходить от вопросов к ответам и советам Предлагать свои решения Забывать, что реальность клиента может не совпадать с реальностью коуча, начинать общаться только из своих представлений о ситуации, из своего взгляда на мир Много говорить и мало слушать Начинать использовать своих клиентов для того, чтобы удовлетворять какие-то свои внутренние нужды (внимание, восхищение, обогащение, доминирование и пр.) </vt:lpstr>
      <vt:lpstr>Ошибки коучингового взаимодействия</vt:lpstr>
      <vt:lpstr>Необходимые навыки коуча </vt:lpstr>
      <vt:lpstr>Умение калибровать</vt:lpstr>
      <vt:lpstr>Упражнение на определение  правды-лжи</vt:lpstr>
      <vt:lpstr>Речевые инструменты коучинга</vt:lpstr>
      <vt:lpstr>Речевые инструменты коучинга. Вопросы</vt:lpstr>
      <vt:lpstr>Речевые инструменты коучинга. Вопросы</vt:lpstr>
      <vt:lpstr>Речевые инструменты коучинга. Вопросы</vt:lpstr>
      <vt:lpstr>Речевые инструменты коучинга. Вопросы</vt:lpstr>
      <vt:lpstr>Речевые инструменты коучинга. Вопросы</vt:lpstr>
      <vt:lpstr>Речевые инструменты коучинга</vt:lpstr>
      <vt:lpstr>Речевые инструменты коучинга</vt:lpstr>
      <vt:lpstr>Речевые инструменты коучинга. Вопросы</vt:lpstr>
      <vt:lpstr>Речевые инструменты коучинга. Вопросы</vt:lpstr>
      <vt:lpstr>Моделирование ситуации</vt:lpstr>
      <vt:lpstr>Макромодели коучинга</vt:lpstr>
      <vt:lpstr>Микромодели коучинга</vt:lpstr>
      <vt:lpstr>Т- модель</vt:lpstr>
      <vt:lpstr>Микромодель  SMART   Цели. Что я хочу?</vt:lpstr>
      <vt:lpstr>Микромодель  Работа с ценностями пузырьковым методом   Работа с приоритетами</vt:lpstr>
      <vt:lpstr>Микромодель  Шкалирование</vt:lpstr>
      <vt:lpstr>Микромодель КОЛЕСО - балланса - ценностей - развития  </vt:lpstr>
      <vt:lpstr>  </vt:lpstr>
      <vt:lpstr>Микромодель  КОЛЕСО </vt:lpstr>
      <vt:lpstr>Микромодель  КОЛЕСО </vt:lpstr>
      <vt:lpstr>Микромодель  КОЛЕСО </vt:lpstr>
      <vt:lpstr>Микромодель  КОЛЕСО </vt:lpstr>
      <vt:lpstr>Микромодель  КОЛЕСО </vt:lpstr>
      <vt:lpstr>Презентация PowerPoint</vt:lpstr>
      <vt:lpstr>Шкалирование  сферы</vt:lpstr>
      <vt:lpstr>КОЛЕСО  ЯРКОСТЬ ЖИЗНИ </vt:lpstr>
      <vt:lpstr>Микромодель  КОЛЕСО </vt:lpstr>
      <vt:lpstr>Презентация PowerPoint</vt:lpstr>
      <vt:lpstr>Микромодель  КОЛЕСО РАЗВИТИЯ </vt:lpstr>
      <vt:lpstr>Микромодель КОЛЕСО</vt:lpstr>
      <vt:lpstr>Микромодель  НЛУ   </vt:lpstr>
      <vt:lpstr>Микромодель  НЛУ   </vt:lpstr>
      <vt:lpstr>Микромодель  НЛУ   </vt:lpstr>
      <vt:lpstr>Микромодель  НЛУ   </vt:lpstr>
      <vt:lpstr>Микромодель  Матрица Эйзенхаура   </vt:lpstr>
      <vt:lpstr>Микромодель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Nikita Salnikov</cp:lastModifiedBy>
  <cp:revision>11</cp:revision>
  <dcterms:modified xsi:type="dcterms:W3CDTF">2021-03-19T19:46:38Z</dcterms:modified>
</cp:coreProperties>
</file>