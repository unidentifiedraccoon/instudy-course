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6"/>
  </p:notesMasterIdLst>
  <p:sldIdLst>
    <p:sldId id="1019" r:id="rId2"/>
    <p:sldId id="1072" r:id="rId3"/>
    <p:sldId id="1111" r:id="rId4"/>
    <p:sldId id="382" r:id="rId5"/>
    <p:sldId id="360" r:id="rId6"/>
    <p:sldId id="362" r:id="rId7"/>
    <p:sldId id="380" r:id="rId8"/>
    <p:sldId id="410" r:id="rId9"/>
    <p:sldId id="412" r:id="rId10"/>
    <p:sldId id="1146" r:id="rId11"/>
    <p:sldId id="392" r:id="rId12"/>
    <p:sldId id="1038" r:id="rId13"/>
    <p:sldId id="393" r:id="rId14"/>
    <p:sldId id="1040" r:id="rId15"/>
    <p:sldId id="1041" r:id="rId16"/>
    <p:sldId id="1042" r:id="rId17"/>
    <p:sldId id="1043" r:id="rId18"/>
    <p:sldId id="256" r:id="rId19"/>
    <p:sldId id="1136" r:id="rId20"/>
    <p:sldId id="1137" r:id="rId21"/>
    <p:sldId id="1138" r:id="rId22"/>
    <p:sldId id="1139" r:id="rId23"/>
    <p:sldId id="1140" r:id="rId24"/>
    <p:sldId id="1141" r:id="rId25"/>
    <p:sldId id="1142" r:id="rId26"/>
    <p:sldId id="1022" r:id="rId27"/>
    <p:sldId id="258" r:id="rId28"/>
    <p:sldId id="950" r:id="rId29"/>
    <p:sldId id="1018" r:id="rId30"/>
    <p:sldId id="262" r:id="rId31"/>
    <p:sldId id="263" r:id="rId32"/>
    <p:sldId id="1144" r:id="rId33"/>
    <p:sldId id="1145" r:id="rId34"/>
    <p:sldId id="422" r:id="rId35"/>
    <p:sldId id="421" r:id="rId36"/>
    <p:sldId id="1069" r:id="rId37"/>
    <p:sldId id="302" r:id="rId38"/>
    <p:sldId id="1071" r:id="rId39"/>
    <p:sldId id="261" r:id="rId40"/>
    <p:sldId id="423" r:id="rId41"/>
    <p:sldId id="974" r:id="rId42"/>
    <p:sldId id="969" r:id="rId43"/>
    <p:sldId id="970" r:id="rId44"/>
    <p:sldId id="398" r:id="rId45"/>
    <p:sldId id="1126" r:id="rId46"/>
    <p:sldId id="1152" r:id="rId47"/>
    <p:sldId id="1149" r:id="rId48"/>
    <p:sldId id="1148" r:id="rId49"/>
    <p:sldId id="1153" r:id="rId50"/>
    <p:sldId id="1112" r:id="rId51"/>
    <p:sldId id="1113" r:id="rId52"/>
    <p:sldId id="280" r:id="rId53"/>
    <p:sldId id="1114" r:id="rId54"/>
    <p:sldId id="1115" r:id="rId55"/>
    <p:sldId id="1116" r:id="rId56"/>
    <p:sldId id="1117" r:id="rId57"/>
    <p:sldId id="281" r:id="rId58"/>
    <p:sldId id="1118" r:id="rId59"/>
    <p:sldId id="1119" r:id="rId60"/>
    <p:sldId id="1160" r:id="rId61"/>
    <p:sldId id="282" r:id="rId62"/>
    <p:sldId id="1161" r:id="rId63"/>
    <p:sldId id="1162" r:id="rId64"/>
    <p:sldId id="564" r:id="rId65"/>
    <p:sldId id="286" r:id="rId66"/>
    <p:sldId id="505" r:id="rId67"/>
    <p:sldId id="291" r:id="rId68"/>
    <p:sldId id="1021" r:id="rId69"/>
    <p:sldId id="506" r:id="rId70"/>
    <p:sldId id="266" r:id="rId71"/>
    <p:sldId id="1163" r:id="rId72"/>
    <p:sldId id="562" r:id="rId73"/>
    <p:sldId id="563" r:id="rId74"/>
    <p:sldId id="1164" r:id="rId75"/>
    <p:sldId id="1131" r:id="rId76"/>
    <p:sldId id="1154" r:id="rId77"/>
    <p:sldId id="1026" r:id="rId78"/>
    <p:sldId id="1025" r:id="rId79"/>
    <p:sldId id="1024" r:id="rId80"/>
    <p:sldId id="1155" r:id="rId81"/>
    <p:sldId id="1020" r:id="rId82"/>
    <p:sldId id="1156" r:id="rId83"/>
    <p:sldId id="1023" r:id="rId84"/>
    <p:sldId id="1157" r:id="rId85"/>
    <p:sldId id="1158" r:id="rId86"/>
    <p:sldId id="1159" r:id="rId87"/>
    <p:sldId id="1147" r:id="rId88"/>
    <p:sldId id="1074" r:id="rId89"/>
    <p:sldId id="1075" r:id="rId90"/>
    <p:sldId id="1076" r:id="rId91"/>
    <p:sldId id="1077" r:id="rId92"/>
    <p:sldId id="1078" r:id="rId93"/>
    <p:sldId id="1079" r:id="rId94"/>
    <p:sldId id="1080" r:id="rId95"/>
    <p:sldId id="1081" r:id="rId96"/>
    <p:sldId id="1082" r:id="rId97"/>
    <p:sldId id="1083" r:id="rId98"/>
    <p:sldId id="1084" r:id="rId99"/>
    <p:sldId id="1085" r:id="rId100"/>
    <p:sldId id="1086" r:id="rId101"/>
    <p:sldId id="1087" r:id="rId102"/>
    <p:sldId id="1088" r:id="rId103"/>
    <p:sldId id="1089" r:id="rId104"/>
    <p:sldId id="1090" r:id="rId105"/>
    <p:sldId id="1091" r:id="rId106"/>
    <p:sldId id="1092" r:id="rId107"/>
    <p:sldId id="1134" r:id="rId108"/>
    <p:sldId id="1093" r:id="rId109"/>
    <p:sldId id="1094" r:id="rId110"/>
    <p:sldId id="1095" r:id="rId111"/>
    <p:sldId id="1096" r:id="rId112"/>
    <p:sldId id="1097" r:id="rId113"/>
    <p:sldId id="1098" r:id="rId114"/>
    <p:sldId id="1133" r:id="rId115"/>
    <p:sldId id="1132" r:id="rId116"/>
    <p:sldId id="1058" r:id="rId117"/>
    <p:sldId id="1059" r:id="rId118"/>
    <p:sldId id="1050" r:id="rId119"/>
    <p:sldId id="1060" r:id="rId120"/>
    <p:sldId id="1051" r:id="rId121"/>
    <p:sldId id="1052" r:id="rId122"/>
    <p:sldId id="1053" r:id="rId123"/>
    <p:sldId id="1054" r:id="rId124"/>
    <p:sldId id="1055" r:id="rId125"/>
    <p:sldId id="1056" r:id="rId126"/>
    <p:sldId id="1057" r:id="rId127"/>
    <p:sldId id="1061" r:id="rId128"/>
    <p:sldId id="1062" r:id="rId129"/>
    <p:sldId id="1063" r:id="rId130"/>
    <p:sldId id="1064" r:id="rId131"/>
    <p:sldId id="1005" r:id="rId132"/>
    <p:sldId id="1009" r:id="rId133"/>
    <p:sldId id="1010" r:id="rId134"/>
    <p:sldId id="1143" r:id="rId13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62" autoAdjust="0"/>
    <p:restoredTop sz="94660"/>
  </p:normalViewPr>
  <p:slideViewPr>
    <p:cSldViewPr snapToGrid="0">
      <p:cViewPr varScale="1">
        <p:scale>
          <a:sx n="72" d="100"/>
          <a:sy n="72" d="100"/>
        </p:scale>
        <p:origin x="39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viewProps" Target="view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D25E85-275D-48E5-9A44-1A90A7F56B97}" type="doc">
      <dgm:prSet loTypeId="urn:microsoft.com/office/officeart/2005/8/layout/hProcess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EA8DD56-1CF4-4FC7-8226-74A9B004CB64}">
      <dgm:prSet phldrT="[Текст]" custT="1"/>
      <dgm:spPr>
        <a:solidFill>
          <a:srgbClr val="FF0000"/>
        </a:solidFill>
      </dgm:spPr>
      <dgm:t>
        <a:bodyPr/>
        <a:lstStyle/>
        <a:p>
          <a:r>
            <a:rPr lang="ru-RU" sz="1000" b="1" dirty="0">
              <a:solidFill>
                <a:schemeClr val="tx1"/>
              </a:solidFill>
            </a:rPr>
            <a:t>Желания</a:t>
          </a:r>
        </a:p>
      </dgm:t>
    </dgm:pt>
    <dgm:pt modelId="{CFBDFED4-FCA6-470C-A904-7A7852FA800C}" type="parTrans" cxnId="{11860BB5-4F86-40CF-A8AF-9A09368E053E}">
      <dgm:prSet/>
      <dgm:spPr/>
      <dgm:t>
        <a:bodyPr/>
        <a:lstStyle/>
        <a:p>
          <a:endParaRPr lang="ru-RU"/>
        </a:p>
      </dgm:t>
    </dgm:pt>
    <dgm:pt modelId="{700A98FA-9B6C-4198-B697-BEB7352D40BE}" type="sibTrans" cxnId="{11860BB5-4F86-40CF-A8AF-9A09368E053E}">
      <dgm:prSet/>
      <dgm:spPr/>
      <dgm:t>
        <a:bodyPr/>
        <a:lstStyle/>
        <a:p>
          <a:endParaRPr lang="ru-RU"/>
        </a:p>
      </dgm:t>
    </dgm:pt>
    <dgm:pt modelId="{84BFD923-E2DE-425C-805B-DB6A6C6C443E}">
      <dgm:prSet phldrT="[Текст]" custT="1"/>
      <dgm:spPr/>
      <dgm:t>
        <a:bodyPr/>
        <a:lstStyle/>
        <a:p>
          <a:r>
            <a:rPr lang="ru-RU" sz="1200" b="1" dirty="0" err="1"/>
            <a:t>Партнгеров</a:t>
          </a:r>
          <a:r>
            <a:rPr lang="ru-RU" sz="1200" b="1" dirty="0"/>
            <a:t> </a:t>
          </a:r>
        </a:p>
      </dgm:t>
    </dgm:pt>
    <dgm:pt modelId="{3967AF87-DA7A-4467-8340-86CD9706F824}" type="parTrans" cxnId="{B6A8301C-388B-4B4B-B072-492F2E3570C5}">
      <dgm:prSet/>
      <dgm:spPr/>
      <dgm:t>
        <a:bodyPr/>
        <a:lstStyle/>
        <a:p>
          <a:endParaRPr lang="ru-RU"/>
        </a:p>
      </dgm:t>
    </dgm:pt>
    <dgm:pt modelId="{E35BC016-EC2C-4E16-B366-54F2D0025856}" type="sibTrans" cxnId="{B6A8301C-388B-4B4B-B072-492F2E3570C5}">
      <dgm:prSet/>
      <dgm:spPr/>
      <dgm:t>
        <a:bodyPr/>
        <a:lstStyle/>
        <a:p>
          <a:endParaRPr lang="ru-RU"/>
        </a:p>
      </dgm:t>
    </dgm:pt>
    <dgm:pt modelId="{73F05CFD-0BC1-49F1-93C8-FC24496D2EEF}">
      <dgm:prSet phldrT="[Текст]" custT="1"/>
      <dgm:spPr/>
      <dgm:t>
        <a:bodyPr/>
        <a:lstStyle/>
        <a:p>
          <a:r>
            <a:rPr lang="ru-RU" sz="1200" b="1" dirty="0"/>
            <a:t>Родителей</a:t>
          </a:r>
        </a:p>
      </dgm:t>
    </dgm:pt>
    <dgm:pt modelId="{91D36D6A-2FC5-4F74-AF4A-27E579AF95F1}" type="parTrans" cxnId="{20D67A0F-3734-477C-8EA8-02C67FE598F6}">
      <dgm:prSet/>
      <dgm:spPr/>
      <dgm:t>
        <a:bodyPr/>
        <a:lstStyle/>
        <a:p>
          <a:endParaRPr lang="ru-RU"/>
        </a:p>
      </dgm:t>
    </dgm:pt>
    <dgm:pt modelId="{4F9F1D5F-9D95-4FF5-8C1F-829B9242BB0D}" type="sibTrans" cxnId="{20D67A0F-3734-477C-8EA8-02C67FE598F6}">
      <dgm:prSet/>
      <dgm:spPr/>
      <dgm:t>
        <a:bodyPr/>
        <a:lstStyle/>
        <a:p>
          <a:endParaRPr lang="ru-RU"/>
        </a:p>
      </dgm:t>
    </dgm:pt>
    <dgm:pt modelId="{397454AE-575F-4EB4-A39D-DDFFF6268951}">
      <dgm:prSet phldrT="[Текст]"/>
      <dgm:spPr>
        <a:solidFill>
          <a:schemeClr val="bg2">
            <a:lumMod val="25000"/>
          </a:schemeClr>
        </a:solidFill>
      </dgm:spPr>
      <dgm:t>
        <a:bodyPr/>
        <a:lstStyle/>
        <a:p>
          <a:r>
            <a:rPr lang="ru-RU" dirty="0"/>
            <a:t>действия</a:t>
          </a:r>
        </a:p>
      </dgm:t>
    </dgm:pt>
    <dgm:pt modelId="{88B52D9C-CDE7-4063-9B03-9B6C60F941FE}" type="parTrans" cxnId="{28D52864-B9C1-40A2-979F-59B90A191F9B}">
      <dgm:prSet/>
      <dgm:spPr/>
      <dgm:t>
        <a:bodyPr/>
        <a:lstStyle/>
        <a:p>
          <a:endParaRPr lang="ru-RU"/>
        </a:p>
      </dgm:t>
    </dgm:pt>
    <dgm:pt modelId="{700CB6BC-5CAD-49C2-B691-7BEABD179EAE}" type="sibTrans" cxnId="{28D52864-B9C1-40A2-979F-59B90A191F9B}">
      <dgm:prSet/>
      <dgm:spPr/>
      <dgm:t>
        <a:bodyPr/>
        <a:lstStyle/>
        <a:p>
          <a:endParaRPr lang="ru-RU"/>
        </a:p>
      </dgm:t>
    </dgm:pt>
    <dgm:pt modelId="{22A116B6-FAB6-413F-9E10-7F2B31E26BD1}">
      <dgm:prSet phldrT="[Текст]" custT="1"/>
      <dgm:spPr/>
      <dgm:t>
        <a:bodyPr/>
        <a:lstStyle/>
        <a:p>
          <a:r>
            <a:rPr lang="ru-RU" sz="1200" b="1" dirty="0"/>
            <a:t>Нарушение границ</a:t>
          </a:r>
        </a:p>
      </dgm:t>
    </dgm:pt>
    <dgm:pt modelId="{C8B85640-EC97-4451-9140-D8B04BA5F768}" type="parTrans" cxnId="{C5369126-0618-4A3C-B1FA-F7C92C273F36}">
      <dgm:prSet/>
      <dgm:spPr/>
      <dgm:t>
        <a:bodyPr/>
        <a:lstStyle/>
        <a:p>
          <a:endParaRPr lang="ru-RU"/>
        </a:p>
      </dgm:t>
    </dgm:pt>
    <dgm:pt modelId="{D82BF940-818E-47DC-966E-907FC6AABCB3}" type="sibTrans" cxnId="{C5369126-0618-4A3C-B1FA-F7C92C273F36}">
      <dgm:prSet/>
      <dgm:spPr/>
      <dgm:t>
        <a:bodyPr/>
        <a:lstStyle/>
        <a:p>
          <a:endParaRPr lang="ru-RU"/>
        </a:p>
      </dgm:t>
    </dgm:pt>
    <dgm:pt modelId="{75ED449D-63C8-49CA-99D7-D0B7658DAD03}">
      <dgm:prSet phldrT="[Текст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ru-RU" dirty="0"/>
            <a:t>чувства</a:t>
          </a:r>
        </a:p>
      </dgm:t>
    </dgm:pt>
    <dgm:pt modelId="{E42FABDF-29DD-4343-A582-B889B0A068CC}" type="parTrans" cxnId="{43A829B6-3723-4469-A6C9-DA1077EA57F8}">
      <dgm:prSet/>
      <dgm:spPr/>
      <dgm:t>
        <a:bodyPr/>
        <a:lstStyle/>
        <a:p>
          <a:endParaRPr lang="ru-RU"/>
        </a:p>
      </dgm:t>
    </dgm:pt>
    <dgm:pt modelId="{355A335B-AF4E-452A-BB89-5D8215CB8E24}" type="sibTrans" cxnId="{43A829B6-3723-4469-A6C9-DA1077EA57F8}">
      <dgm:prSet/>
      <dgm:spPr/>
      <dgm:t>
        <a:bodyPr/>
        <a:lstStyle/>
        <a:p>
          <a:endParaRPr lang="ru-RU"/>
        </a:p>
      </dgm:t>
    </dgm:pt>
    <dgm:pt modelId="{536B3546-3E51-406E-ACE7-B027A432DF56}">
      <dgm:prSet phldrT="[Текст]"/>
      <dgm:spPr/>
      <dgm:t>
        <a:bodyPr/>
        <a:lstStyle/>
        <a:p>
          <a:r>
            <a:rPr lang="ru-RU" b="1" dirty="0"/>
            <a:t>гнев</a:t>
          </a:r>
        </a:p>
      </dgm:t>
    </dgm:pt>
    <dgm:pt modelId="{ED67EFBB-BE56-4173-8CCF-00FF101EAC88}" type="sibTrans" cxnId="{E98EEE21-EDDB-45D5-B07B-3CA3E4021FAA}">
      <dgm:prSet/>
      <dgm:spPr/>
      <dgm:t>
        <a:bodyPr/>
        <a:lstStyle/>
        <a:p>
          <a:endParaRPr lang="ru-RU"/>
        </a:p>
      </dgm:t>
    </dgm:pt>
    <dgm:pt modelId="{3A006C52-33E1-4BF7-ADCD-4BBACA3CC3D3}" type="parTrans" cxnId="{E98EEE21-EDDB-45D5-B07B-3CA3E4021FAA}">
      <dgm:prSet/>
      <dgm:spPr/>
      <dgm:t>
        <a:bodyPr/>
        <a:lstStyle/>
        <a:p>
          <a:endParaRPr lang="ru-RU"/>
        </a:p>
      </dgm:t>
    </dgm:pt>
    <dgm:pt modelId="{5199A50D-527C-405C-BD0C-E5D167DF1BAD}">
      <dgm:prSet phldrT="[Текст]"/>
      <dgm:spPr/>
      <dgm:t>
        <a:bodyPr/>
        <a:lstStyle/>
        <a:p>
          <a:r>
            <a:rPr lang="ru-RU" b="1" dirty="0"/>
            <a:t>печаль</a:t>
          </a:r>
        </a:p>
      </dgm:t>
    </dgm:pt>
    <dgm:pt modelId="{B039DCB5-AE0B-4947-BEB7-B2F9CCD88744}" type="sibTrans" cxnId="{0F42BB9F-1B74-47CB-8614-8A67C68DC6D4}">
      <dgm:prSet/>
      <dgm:spPr/>
      <dgm:t>
        <a:bodyPr/>
        <a:lstStyle/>
        <a:p>
          <a:endParaRPr lang="ru-RU"/>
        </a:p>
      </dgm:t>
    </dgm:pt>
    <dgm:pt modelId="{1ACE3CAA-36A0-49C0-B340-465BFC05F8EC}" type="parTrans" cxnId="{0F42BB9F-1B74-47CB-8614-8A67C68DC6D4}">
      <dgm:prSet/>
      <dgm:spPr/>
      <dgm:t>
        <a:bodyPr/>
        <a:lstStyle/>
        <a:p>
          <a:endParaRPr lang="ru-RU"/>
        </a:p>
      </dgm:t>
    </dgm:pt>
    <dgm:pt modelId="{579DFDDA-CB1C-4749-A9E7-A4BDBBCE2146}">
      <dgm:prSet phldrT="[Текст]" custT="1"/>
      <dgm:spPr/>
      <dgm:t>
        <a:bodyPr/>
        <a:lstStyle/>
        <a:p>
          <a:r>
            <a:rPr lang="ru-RU" sz="1200" b="1" dirty="0"/>
            <a:t>Друзей</a:t>
          </a:r>
        </a:p>
      </dgm:t>
    </dgm:pt>
    <dgm:pt modelId="{E27E1FC6-8A7B-42D6-AE33-0871B2031C21}" type="parTrans" cxnId="{53D51D93-7335-4BC5-8E4E-0495BC888013}">
      <dgm:prSet/>
      <dgm:spPr/>
      <dgm:t>
        <a:bodyPr/>
        <a:lstStyle/>
        <a:p>
          <a:endParaRPr lang="ru-RU"/>
        </a:p>
      </dgm:t>
    </dgm:pt>
    <dgm:pt modelId="{520D2200-C0DE-445F-95D1-3A0886D60765}" type="sibTrans" cxnId="{53D51D93-7335-4BC5-8E4E-0495BC888013}">
      <dgm:prSet/>
      <dgm:spPr/>
      <dgm:t>
        <a:bodyPr/>
        <a:lstStyle/>
        <a:p>
          <a:endParaRPr lang="ru-RU"/>
        </a:p>
      </dgm:t>
    </dgm:pt>
    <dgm:pt modelId="{EFD2509B-0F22-423E-BE16-AB3D4B52BD4B}" type="pres">
      <dgm:prSet presAssocID="{44D25E85-275D-48E5-9A44-1A90A7F56B97}" presName="theList" presStyleCnt="0">
        <dgm:presLayoutVars>
          <dgm:dir/>
          <dgm:animLvl val="lvl"/>
          <dgm:resizeHandles val="exact"/>
        </dgm:presLayoutVars>
      </dgm:prSet>
      <dgm:spPr/>
    </dgm:pt>
    <dgm:pt modelId="{3967D7D6-08D0-41E8-AB49-59C4E4D42CD4}" type="pres">
      <dgm:prSet presAssocID="{AEA8DD56-1CF4-4FC7-8226-74A9B004CB64}" presName="compNode" presStyleCnt="0"/>
      <dgm:spPr/>
    </dgm:pt>
    <dgm:pt modelId="{C56634A4-F7B7-464E-B729-24A2E850C206}" type="pres">
      <dgm:prSet presAssocID="{AEA8DD56-1CF4-4FC7-8226-74A9B004CB64}" presName="noGeometry" presStyleCnt="0"/>
      <dgm:spPr/>
    </dgm:pt>
    <dgm:pt modelId="{455F4A48-2AF1-4988-9713-A26E5ABC3BE5}" type="pres">
      <dgm:prSet presAssocID="{AEA8DD56-1CF4-4FC7-8226-74A9B004CB64}" presName="childTextVisible" presStyleLbl="bgAccFollowNode1" presStyleIdx="0" presStyleCnt="3" custScaleX="130637">
        <dgm:presLayoutVars>
          <dgm:bulletEnabled val="1"/>
        </dgm:presLayoutVars>
      </dgm:prSet>
      <dgm:spPr/>
    </dgm:pt>
    <dgm:pt modelId="{02E2380A-3F5B-4E47-B473-D3193192CC8B}" type="pres">
      <dgm:prSet presAssocID="{AEA8DD56-1CF4-4FC7-8226-74A9B004CB64}" presName="childTextHidden" presStyleLbl="bgAccFollowNode1" presStyleIdx="0" presStyleCnt="3"/>
      <dgm:spPr/>
    </dgm:pt>
    <dgm:pt modelId="{B5648173-F299-45E7-8694-07870BD8E318}" type="pres">
      <dgm:prSet presAssocID="{AEA8DD56-1CF4-4FC7-8226-74A9B004CB64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446042ED-9ECF-4415-8199-743090D20162}" type="pres">
      <dgm:prSet presAssocID="{AEA8DD56-1CF4-4FC7-8226-74A9B004CB64}" presName="aSpace" presStyleCnt="0"/>
      <dgm:spPr/>
    </dgm:pt>
    <dgm:pt modelId="{7F5A9B79-37CE-4896-A718-6378B44D0884}" type="pres">
      <dgm:prSet presAssocID="{397454AE-575F-4EB4-A39D-DDFFF6268951}" presName="compNode" presStyleCnt="0"/>
      <dgm:spPr/>
    </dgm:pt>
    <dgm:pt modelId="{DCAA6AFC-D159-4E19-9969-C6C22FFC9DC3}" type="pres">
      <dgm:prSet presAssocID="{397454AE-575F-4EB4-A39D-DDFFF6268951}" presName="noGeometry" presStyleCnt="0"/>
      <dgm:spPr/>
    </dgm:pt>
    <dgm:pt modelId="{176D84B6-2D89-4CD6-AD32-BFD1251B9257}" type="pres">
      <dgm:prSet presAssocID="{397454AE-575F-4EB4-A39D-DDFFF6268951}" presName="childTextVisible" presStyleLbl="bgAccFollowNode1" presStyleIdx="1" presStyleCnt="3" custScaleX="115206">
        <dgm:presLayoutVars>
          <dgm:bulletEnabled val="1"/>
        </dgm:presLayoutVars>
      </dgm:prSet>
      <dgm:spPr/>
    </dgm:pt>
    <dgm:pt modelId="{90026BBF-A382-434D-8056-29FBFF2DF5FF}" type="pres">
      <dgm:prSet presAssocID="{397454AE-575F-4EB4-A39D-DDFFF6268951}" presName="childTextHidden" presStyleLbl="bgAccFollowNode1" presStyleIdx="1" presStyleCnt="3"/>
      <dgm:spPr/>
    </dgm:pt>
    <dgm:pt modelId="{4F8BAC09-00F8-465C-8F46-22680E9FC991}" type="pres">
      <dgm:prSet presAssocID="{397454AE-575F-4EB4-A39D-DDFFF6268951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2ADCE0E5-4102-4073-88E3-DE98EEAE20CA}" type="pres">
      <dgm:prSet presAssocID="{397454AE-575F-4EB4-A39D-DDFFF6268951}" presName="aSpace" presStyleCnt="0"/>
      <dgm:spPr/>
    </dgm:pt>
    <dgm:pt modelId="{65BAFB3A-B750-48C6-BBF9-A7E5D44532B5}" type="pres">
      <dgm:prSet presAssocID="{75ED449D-63C8-49CA-99D7-D0B7658DAD03}" presName="compNode" presStyleCnt="0"/>
      <dgm:spPr/>
    </dgm:pt>
    <dgm:pt modelId="{BF783A26-7649-41A3-B38E-5C3A04227CCE}" type="pres">
      <dgm:prSet presAssocID="{75ED449D-63C8-49CA-99D7-D0B7658DAD03}" presName="noGeometry" presStyleCnt="0"/>
      <dgm:spPr/>
    </dgm:pt>
    <dgm:pt modelId="{D53B790E-2224-4C4B-B28D-305680E347B4}" type="pres">
      <dgm:prSet presAssocID="{75ED449D-63C8-49CA-99D7-D0B7658DAD03}" presName="childTextVisible" presStyleLbl="bgAccFollowNode1" presStyleIdx="2" presStyleCnt="3" custScaleX="112147" custScaleY="99697" custLinFactNeighborX="-953" custLinFactNeighborY="-545">
        <dgm:presLayoutVars>
          <dgm:bulletEnabled val="1"/>
        </dgm:presLayoutVars>
      </dgm:prSet>
      <dgm:spPr/>
    </dgm:pt>
    <dgm:pt modelId="{4035166F-6C90-4557-AAAF-77FB8C246C55}" type="pres">
      <dgm:prSet presAssocID="{75ED449D-63C8-49CA-99D7-D0B7658DAD03}" presName="childTextHidden" presStyleLbl="bgAccFollowNode1" presStyleIdx="2" presStyleCnt="3"/>
      <dgm:spPr/>
    </dgm:pt>
    <dgm:pt modelId="{3DFA7077-C65F-4A89-A8AA-4A9DAA236776}" type="pres">
      <dgm:prSet presAssocID="{75ED449D-63C8-49CA-99D7-D0B7658DAD03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20D67A0F-3734-477C-8EA8-02C67FE598F6}" srcId="{AEA8DD56-1CF4-4FC7-8226-74A9B004CB64}" destId="{73F05CFD-0BC1-49F1-93C8-FC24496D2EEF}" srcOrd="1" destOrd="0" parTransId="{91D36D6A-2FC5-4F74-AF4A-27E579AF95F1}" sibTransId="{4F9F1D5F-9D95-4FF5-8C1F-829B9242BB0D}"/>
    <dgm:cxn modelId="{F3769E14-8C9A-4367-9B01-359261EE8D1C}" type="presOf" srcId="{536B3546-3E51-406E-ACE7-B027A432DF56}" destId="{4035166F-6C90-4557-AAAF-77FB8C246C55}" srcOrd="1" destOrd="0" presId="urn:microsoft.com/office/officeart/2005/8/layout/hProcess6"/>
    <dgm:cxn modelId="{F7EBC318-20FB-4E8E-8F98-DE9E1C9073A3}" type="presOf" srcId="{84BFD923-E2DE-425C-805B-DB6A6C6C443E}" destId="{02E2380A-3F5B-4E47-B473-D3193192CC8B}" srcOrd="1" destOrd="0" presId="urn:microsoft.com/office/officeart/2005/8/layout/hProcess6"/>
    <dgm:cxn modelId="{B6A8301C-388B-4B4B-B072-492F2E3570C5}" srcId="{AEA8DD56-1CF4-4FC7-8226-74A9B004CB64}" destId="{84BFD923-E2DE-425C-805B-DB6A6C6C443E}" srcOrd="0" destOrd="0" parTransId="{3967AF87-DA7A-4467-8340-86CD9706F824}" sibTransId="{E35BC016-EC2C-4E16-B366-54F2D0025856}"/>
    <dgm:cxn modelId="{E938261D-D868-4CD1-A498-31C838DB48C5}" type="presOf" srcId="{AEA8DD56-1CF4-4FC7-8226-74A9B004CB64}" destId="{B5648173-F299-45E7-8694-07870BD8E318}" srcOrd="0" destOrd="0" presId="urn:microsoft.com/office/officeart/2005/8/layout/hProcess6"/>
    <dgm:cxn modelId="{E4851C21-CA97-4BF2-98E9-547D941F17B4}" type="presOf" srcId="{84BFD923-E2DE-425C-805B-DB6A6C6C443E}" destId="{455F4A48-2AF1-4988-9713-A26E5ABC3BE5}" srcOrd="0" destOrd="0" presId="urn:microsoft.com/office/officeart/2005/8/layout/hProcess6"/>
    <dgm:cxn modelId="{E98EEE21-EDDB-45D5-B07B-3CA3E4021FAA}" srcId="{75ED449D-63C8-49CA-99D7-D0B7658DAD03}" destId="{536B3546-3E51-406E-ACE7-B027A432DF56}" srcOrd="0" destOrd="0" parTransId="{3A006C52-33E1-4BF7-ADCD-4BBACA3CC3D3}" sibTransId="{ED67EFBB-BE56-4173-8CCF-00FF101EAC88}"/>
    <dgm:cxn modelId="{F437A025-32C4-4665-BE91-864A6179BF2A}" type="presOf" srcId="{536B3546-3E51-406E-ACE7-B027A432DF56}" destId="{D53B790E-2224-4C4B-B28D-305680E347B4}" srcOrd="0" destOrd="0" presId="urn:microsoft.com/office/officeart/2005/8/layout/hProcess6"/>
    <dgm:cxn modelId="{C5369126-0618-4A3C-B1FA-F7C92C273F36}" srcId="{397454AE-575F-4EB4-A39D-DDFFF6268951}" destId="{22A116B6-FAB6-413F-9E10-7F2B31E26BD1}" srcOrd="0" destOrd="0" parTransId="{C8B85640-EC97-4451-9140-D8B04BA5F768}" sibTransId="{D82BF940-818E-47DC-966E-907FC6AABCB3}"/>
    <dgm:cxn modelId="{AD5EBD5F-18E9-4667-A633-1765A97878A3}" type="presOf" srcId="{73F05CFD-0BC1-49F1-93C8-FC24496D2EEF}" destId="{02E2380A-3F5B-4E47-B473-D3193192CC8B}" srcOrd="1" destOrd="1" presId="urn:microsoft.com/office/officeart/2005/8/layout/hProcess6"/>
    <dgm:cxn modelId="{28D52864-B9C1-40A2-979F-59B90A191F9B}" srcId="{44D25E85-275D-48E5-9A44-1A90A7F56B97}" destId="{397454AE-575F-4EB4-A39D-DDFFF6268951}" srcOrd="1" destOrd="0" parTransId="{88B52D9C-CDE7-4063-9B03-9B6C60F941FE}" sibTransId="{700CB6BC-5CAD-49C2-B691-7BEABD179EAE}"/>
    <dgm:cxn modelId="{FBF3104F-9403-4020-8070-D84125CF4692}" type="presOf" srcId="{22A116B6-FAB6-413F-9E10-7F2B31E26BD1}" destId="{176D84B6-2D89-4CD6-AD32-BFD1251B9257}" srcOrd="0" destOrd="0" presId="urn:microsoft.com/office/officeart/2005/8/layout/hProcess6"/>
    <dgm:cxn modelId="{CB373273-0DF5-48DB-B552-A27EE666D949}" type="presOf" srcId="{22A116B6-FAB6-413F-9E10-7F2B31E26BD1}" destId="{90026BBF-A382-434D-8056-29FBFF2DF5FF}" srcOrd="1" destOrd="0" presId="urn:microsoft.com/office/officeart/2005/8/layout/hProcess6"/>
    <dgm:cxn modelId="{F75DFD75-78FA-4909-A47C-674FAF9B9403}" type="presOf" srcId="{73F05CFD-0BC1-49F1-93C8-FC24496D2EEF}" destId="{455F4A48-2AF1-4988-9713-A26E5ABC3BE5}" srcOrd="0" destOrd="1" presId="urn:microsoft.com/office/officeart/2005/8/layout/hProcess6"/>
    <dgm:cxn modelId="{F7BE8C7A-7112-456D-A565-CA5A255F9984}" type="presOf" srcId="{5199A50D-527C-405C-BD0C-E5D167DF1BAD}" destId="{4035166F-6C90-4557-AAAF-77FB8C246C55}" srcOrd="1" destOrd="1" presId="urn:microsoft.com/office/officeart/2005/8/layout/hProcess6"/>
    <dgm:cxn modelId="{53D51D93-7335-4BC5-8E4E-0495BC888013}" srcId="{AEA8DD56-1CF4-4FC7-8226-74A9B004CB64}" destId="{579DFDDA-CB1C-4749-A9E7-A4BDBBCE2146}" srcOrd="2" destOrd="0" parTransId="{E27E1FC6-8A7B-42D6-AE33-0871B2031C21}" sibTransId="{520D2200-C0DE-445F-95D1-3A0886D60765}"/>
    <dgm:cxn modelId="{E73E5798-93D7-4BB4-B636-1C66F54756BF}" type="presOf" srcId="{579DFDDA-CB1C-4749-A9E7-A4BDBBCE2146}" destId="{02E2380A-3F5B-4E47-B473-D3193192CC8B}" srcOrd="1" destOrd="2" presId="urn:microsoft.com/office/officeart/2005/8/layout/hProcess6"/>
    <dgm:cxn modelId="{0F42BB9F-1B74-47CB-8614-8A67C68DC6D4}" srcId="{75ED449D-63C8-49CA-99D7-D0B7658DAD03}" destId="{5199A50D-527C-405C-BD0C-E5D167DF1BAD}" srcOrd="1" destOrd="0" parTransId="{1ACE3CAA-36A0-49C0-B340-465BFC05F8EC}" sibTransId="{B039DCB5-AE0B-4947-BEB7-B2F9CCD88744}"/>
    <dgm:cxn modelId="{5BF96CB0-C9E7-4252-A693-4D3BF0F19ABB}" type="presOf" srcId="{5199A50D-527C-405C-BD0C-E5D167DF1BAD}" destId="{D53B790E-2224-4C4B-B28D-305680E347B4}" srcOrd="0" destOrd="1" presId="urn:microsoft.com/office/officeart/2005/8/layout/hProcess6"/>
    <dgm:cxn modelId="{11860BB5-4F86-40CF-A8AF-9A09368E053E}" srcId="{44D25E85-275D-48E5-9A44-1A90A7F56B97}" destId="{AEA8DD56-1CF4-4FC7-8226-74A9B004CB64}" srcOrd="0" destOrd="0" parTransId="{CFBDFED4-FCA6-470C-A904-7A7852FA800C}" sibTransId="{700A98FA-9B6C-4198-B697-BEB7352D40BE}"/>
    <dgm:cxn modelId="{43A829B6-3723-4469-A6C9-DA1077EA57F8}" srcId="{44D25E85-275D-48E5-9A44-1A90A7F56B97}" destId="{75ED449D-63C8-49CA-99D7-D0B7658DAD03}" srcOrd="2" destOrd="0" parTransId="{E42FABDF-29DD-4343-A582-B889B0A068CC}" sibTransId="{355A335B-AF4E-452A-BB89-5D8215CB8E24}"/>
    <dgm:cxn modelId="{BECCE5B9-DBE2-41F2-B2FD-3D528EACB96B}" type="presOf" srcId="{397454AE-575F-4EB4-A39D-DDFFF6268951}" destId="{4F8BAC09-00F8-465C-8F46-22680E9FC991}" srcOrd="0" destOrd="0" presId="urn:microsoft.com/office/officeart/2005/8/layout/hProcess6"/>
    <dgm:cxn modelId="{9ADA1FD3-92B7-41CE-8AAF-0428844B32D4}" type="presOf" srcId="{579DFDDA-CB1C-4749-A9E7-A4BDBBCE2146}" destId="{455F4A48-2AF1-4988-9713-A26E5ABC3BE5}" srcOrd="0" destOrd="2" presId="urn:microsoft.com/office/officeart/2005/8/layout/hProcess6"/>
    <dgm:cxn modelId="{546C00E8-CD3C-464A-B24B-2C2FAEA5092B}" type="presOf" srcId="{44D25E85-275D-48E5-9A44-1A90A7F56B97}" destId="{EFD2509B-0F22-423E-BE16-AB3D4B52BD4B}" srcOrd="0" destOrd="0" presId="urn:microsoft.com/office/officeart/2005/8/layout/hProcess6"/>
    <dgm:cxn modelId="{A47F19EA-F940-484D-ABA3-F13175736079}" type="presOf" srcId="{75ED449D-63C8-49CA-99D7-D0B7658DAD03}" destId="{3DFA7077-C65F-4A89-A8AA-4A9DAA236776}" srcOrd="0" destOrd="0" presId="urn:microsoft.com/office/officeart/2005/8/layout/hProcess6"/>
    <dgm:cxn modelId="{8E951CAC-5963-48DD-AFAA-C2376D33641A}" type="presParOf" srcId="{EFD2509B-0F22-423E-BE16-AB3D4B52BD4B}" destId="{3967D7D6-08D0-41E8-AB49-59C4E4D42CD4}" srcOrd="0" destOrd="0" presId="urn:microsoft.com/office/officeart/2005/8/layout/hProcess6"/>
    <dgm:cxn modelId="{54C4CD86-29A6-4FB6-AC49-EE58ACE29AC2}" type="presParOf" srcId="{3967D7D6-08D0-41E8-AB49-59C4E4D42CD4}" destId="{C56634A4-F7B7-464E-B729-24A2E850C206}" srcOrd="0" destOrd="0" presId="urn:microsoft.com/office/officeart/2005/8/layout/hProcess6"/>
    <dgm:cxn modelId="{361839F5-2E70-4FC0-8721-628CD7C278B8}" type="presParOf" srcId="{3967D7D6-08D0-41E8-AB49-59C4E4D42CD4}" destId="{455F4A48-2AF1-4988-9713-A26E5ABC3BE5}" srcOrd="1" destOrd="0" presId="urn:microsoft.com/office/officeart/2005/8/layout/hProcess6"/>
    <dgm:cxn modelId="{2632EB6B-1FB4-419D-BAB9-9261F98BD5CD}" type="presParOf" srcId="{3967D7D6-08D0-41E8-AB49-59C4E4D42CD4}" destId="{02E2380A-3F5B-4E47-B473-D3193192CC8B}" srcOrd="2" destOrd="0" presId="urn:microsoft.com/office/officeart/2005/8/layout/hProcess6"/>
    <dgm:cxn modelId="{C9582D19-3C42-4616-A87E-EEE4A28675E9}" type="presParOf" srcId="{3967D7D6-08D0-41E8-AB49-59C4E4D42CD4}" destId="{B5648173-F299-45E7-8694-07870BD8E318}" srcOrd="3" destOrd="0" presId="urn:microsoft.com/office/officeart/2005/8/layout/hProcess6"/>
    <dgm:cxn modelId="{F7E981A0-49AB-492C-974E-022D5200B5D1}" type="presParOf" srcId="{EFD2509B-0F22-423E-BE16-AB3D4B52BD4B}" destId="{446042ED-9ECF-4415-8199-743090D20162}" srcOrd="1" destOrd="0" presId="urn:microsoft.com/office/officeart/2005/8/layout/hProcess6"/>
    <dgm:cxn modelId="{FE7179DE-964A-486A-8F8C-096E30CB3A05}" type="presParOf" srcId="{EFD2509B-0F22-423E-BE16-AB3D4B52BD4B}" destId="{7F5A9B79-37CE-4896-A718-6378B44D0884}" srcOrd="2" destOrd="0" presId="urn:microsoft.com/office/officeart/2005/8/layout/hProcess6"/>
    <dgm:cxn modelId="{7CBBF52C-383B-4399-905B-E4C41E2A76BD}" type="presParOf" srcId="{7F5A9B79-37CE-4896-A718-6378B44D0884}" destId="{DCAA6AFC-D159-4E19-9969-C6C22FFC9DC3}" srcOrd="0" destOrd="0" presId="urn:microsoft.com/office/officeart/2005/8/layout/hProcess6"/>
    <dgm:cxn modelId="{0AC869F2-6CA0-4FD4-88D6-9A416F0C50F0}" type="presParOf" srcId="{7F5A9B79-37CE-4896-A718-6378B44D0884}" destId="{176D84B6-2D89-4CD6-AD32-BFD1251B9257}" srcOrd="1" destOrd="0" presId="urn:microsoft.com/office/officeart/2005/8/layout/hProcess6"/>
    <dgm:cxn modelId="{F30C243B-5EC6-4845-8EEA-FD8314643115}" type="presParOf" srcId="{7F5A9B79-37CE-4896-A718-6378B44D0884}" destId="{90026BBF-A382-434D-8056-29FBFF2DF5FF}" srcOrd="2" destOrd="0" presId="urn:microsoft.com/office/officeart/2005/8/layout/hProcess6"/>
    <dgm:cxn modelId="{2A241D3D-1D1A-4C85-A9DA-DCA9DA960441}" type="presParOf" srcId="{7F5A9B79-37CE-4896-A718-6378B44D0884}" destId="{4F8BAC09-00F8-465C-8F46-22680E9FC991}" srcOrd="3" destOrd="0" presId="urn:microsoft.com/office/officeart/2005/8/layout/hProcess6"/>
    <dgm:cxn modelId="{41302582-D4FC-4FFA-A6C9-318D6F3D4411}" type="presParOf" srcId="{EFD2509B-0F22-423E-BE16-AB3D4B52BD4B}" destId="{2ADCE0E5-4102-4073-88E3-DE98EEAE20CA}" srcOrd="3" destOrd="0" presId="urn:microsoft.com/office/officeart/2005/8/layout/hProcess6"/>
    <dgm:cxn modelId="{C6C690F8-EEE5-418C-949A-4B3FA108C201}" type="presParOf" srcId="{EFD2509B-0F22-423E-BE16-AB3D4B52BD4B}" destId="{65BAFB3A-B750-48C6-BBF9-A7E5D44532B5}" srcOrd="4" destOrd="0" presId="urn:microsoft.com/office/officeart/2005/8/layout/hProcess6"/>
    <dgm:cxn modelId="{A778A540-3229-4A07-A4FB-72B9598A8329}" type="presParOf" srcId="{65BAFB3A-B750-48C6-BBF9-A7E5D44532B5}" destId="{BF783A26-7649-41A3-B38E-5C3A04227CCE}" srcOrd="0" destOrd="0" presId="urn:microsoft.com/office/officeart/2005/8/layout/hProcess6"/>
    <dgm:cxn modelId="{05F55B0B-6A8B-4DCA-84DA-C53A7CDD6647}" type="presParOf" srcId="{65BAFB3A-B750-48C6-BBF9-A7E5D44532B5}" destId="{D53B790E-2224-4C4B-B28D-305680E347B4}" srcOrd="1" destOrd="0" presId="urn:microsoft.com/office/officeart/2005/8/layout/hProcess6"/>
    <dgm:cxn modelId="{4418BC9C-8635-4658-BE15-B54E4609A316}" type="presParOf" srcId="{65BAFB3A-B750-48C6-BBF9-A7E5D44532B5}" destId="{4035166F-6C90-4557-AAAF-77FB8C246C55}" srcOrd="2" destOrd="0" presId="urn:microsoft.com/office/officeart/2005/8/layout/hProcess6"/>
    <dgm:cxn modelId="{7F1DDF92-2FB2-4CCE-AFE5-C90F2604D9CC}" type="presParOf" srcId="{65BAFB3A-B750-48C6-BBF9-A7E5D44532B5}" destId="{3DFA7077-C65F-4A89-A8AA-4A9DAA236776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B2FA193-F386-41D7-A7FF-6ECEBB460CD1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7185513-95A4-468B-8F96-8486B2351040}">
      <dgm:prSet phldrT="[Текст]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ru-RU" dirty="0"/>
            <a:t>результат</a:t>
          </a:r>
        </a:p>
      </dgm:t>
    </dgm:pt>
    <dgm:pt modelId="{221D85F9-8682-48FC-8CAD-2536FA6332FF}" type="parTrans" cxnId="{EDC340BA-EBA6-4A0D-9153-A9777952E015}">
      <dgm:prSet/>
      <dgm:spPr/>
      <dgm:t>
        <a:bodyPr/>
        <a:lstStyle/>
        <a:p>
          <a:endParaRPr lang="ru-RU"/>
        </a:p>
      </dgm:t>
    </dgm:pt>
    <dgm:pt modelId="{628B8D5F-536B-4204-9482-D0BEFC9C6B36}" type="sibTrans" cxnId="{EDC340BA-EBA6-4A0D-9153-A9777952E015}">
      <dgm:prSet/>
      <dgm:spPr/>
      <dgm:t>
        <a:bodyPr/>
        <a:lstStyle/>
        <a:p>
          <a:endParaRPr lang="ru-RU"/>
        </a:p>
      </dgm:t>
    </dgm:pt>
    <dgm:pt modelId="{E658561B-6E11-4F34-ADDF-5F9DF88A161A}">
      <dgm:prSet phldrT="[Текст]"/>
      <dgm:spPr/>
      <dgm:t>
        <a:bodyPr/>
        <a:lstStyle/>
        <a:p>
          <a:r>
            <a:rPr lang="ru-RU" dirty="0"/>
            <a:t>агрессия</a:t>
          </a:r>
        </a:p>
      </dgm:t>
    </dgm:pt>
    <dgm:pt modelId="{6AC59462-BFC1-48A3-8CBB-9411EC196B2E}" type="parTrans" cxnId="{FB2EB43F-E020-4389-8DEB-EF10C7077B7D}">
      <dgm:prSet/>
      <dgm:spPr/>
      <dgm:t>
        <a:bodyPr/>
        <a:lstStyle/>
        <a:p>
          <a:endParaRPr lang="ru-RU"/>
        </a:p>
      </dgm:t>
    </dgm:pt>
    <dgm:pt modelId="{D8518980-109B-4831-985E-C79B644FF6D9}" type="sibTrans" cxnId="{FB2EB43F-E020-4389-8DEB-EF10C7077B7D}">
      <dgm:prSet/>
      <dgm:spPr/>
      <dgm:t>
        <a:bodyPr/>
        <a:lstStyle/>
        <a:p>
          <a:endParaRPr lang="ru-RU"/>
        </a:p>
      </dgm:t>
    </dgm:pt>
    <dgm:pt modelId="{6D9BF940-37BD-44E6-ABA2-406636AC59A6}">
      <dgm:prSet phldrT="[Текст]"/>
      <dgm:spPr/>
      <dgm:t>
        <a:bodyPr/>
        <a:lstStyle/>
        <a:p>
          <a:r>
            <a:rPr lang="ru-RU" dirty="0"/>
            <a:t>злость</a:t>
          </a:r>
        </a:p>
      </dgm:t>
    </dgm:pt>
    <dgm:pt modelId="{F3D42E5E-EFFA-4C8F-BB8E-392DD1756794}" type="parTrans" cxnId="{F558AB0E-7E91-46BB-8FFF-05282CC3E291}">
      <dgm:prSet/>
      <dgm:spPr/>
      <dgm:t>
        <a:bodyPr/>
        <a:lstStyle/>
        <a:p>
          <a:endParaRPr lang="ru-RU"/>
        </a:p>
      </dgm:t>
    </dgm:pt>
    <dgm:pt modelId="{16F5F8CE-861E-4FFF-867D-22476C8D4A41}" type="sibTrans" cxnId="{F558AB0E-7E91-46BB-8FFF-05282CC3E291}">
      <dgm:prSet/>
      <dgm:spPr/>
      <dgm:t>
        <a:bodyPr/>
        <a:lstStyle/>
        <a:p>
          <a:endParaRPr lang="ru-RU"/>
        </a:p>
      </dgm:t>
    </dgm:pt>
    <dgm:pt modelId="{64B6A59B-105D-4195-BACA-3725B38D3457}">
      <dgm:prSet phldrT="[Текст]"/>
      <dgm:spPr>
        <a:solidFill>
          <a:srgbClr val="7030A0"/>
        </a:solidFill>
      </dgm:spPr>
      <dgm:t>
        <a:bodyPr/>
        <a:lstStyle/>
        <a:p>
          <a:r>
            <a:rPr lang="ru-RU" dirty="0"/>
            <a:t>результат</a:t>
          </a:r>
        </a:p>
      </dgm:t>
    </dgm:pt>
    <dgm:pt modelId="{73C6D899-9431-4950-B167-F067EE682E6F}" type="parTrans" cxnId="{11E5682C-4677-4E16-ACDC-2B2587AE660D}">
      <dgm:prSet/>
      <dgm:spPr/>
      <dgm:t>
        <a:bodyPr/>
        <a:lstStyle/>
        <a:p>
          <a:endParaRPr lang="ru-RU"/>
        </a:p>
      </dgm:t>
    </dgm:pt>
    <dgm:pt modelId="{0DBE3EC1-7E33-4F23-8CB0-4A61A59A09D9}" type="sibTrans" cxnId="{11E5682C-4677-4E16-ACDC-2B2587AE660D}">
      <dgm:prSet/>
      <dgm:spPr/>
      <dgm:t>
        <a:bodyPr/>
        <a:lstStyle/>
        <a:p>
          <a:endParaRPr lang="ru-RU"/>
        </a:p>
      </dgm:t>
    </dgm:pt>
    <dgm:pt modelId="{605EDC9B-CCAE-4C66-BDA6-C7DA6AFE8211}">
      <dgm:prSet phldrT="[Текст]"/>
      <dgm:spPr/>
      <dgm:t>
        <a:bodyPr/>
        <a:lstStyle/>
        <a:p>
          <a:r>
            <a:rPr lang="ru-RU" dirty="0"/>
            <a:t>уныние</a:t>
          </a:r>
        </a:p>
      </dgm:t>
    </dgm:pt>
    <dgm:pt modelId="{E883A5C2-58E6-4DFD-AFF0-C954BE3C08EC}" type="parTrans" cxnId="{C1B08CFE-9348-4FE2-A134-095598C92025}">
      <dgm:prSet/>
      <dgm:spPr/>
      <dgm:t>
        <a:bodyPr/>
        <a:lstStyle/>
        <a:p>
          <a:endParaRPr lang="ru-RU"/>
        </a:p>
      </dgm:t>
    </dgm:pt>
    <dgm:pt modelId="{A63E1743-985D-43D1-9A07-13D97831E0B0}" type="sibTrans" cxnId="{C1B08CFE-9348-4FE2-A134-095598C92025}">
      <dgm:prSet/>
      <dgm:spPr/>
      <dgm:t>
        <a:bodyPr/>
        <a:lstStyle/>
        <a:p>
          <a:endParaRPr lang="ru-RU"/>
        </a:p>
      </dgm:t>
    </dgm:pt>
    <dgm:pt modelId="{4A19D563-A00B-44C9-A7BA-5569AE22C92D}">
      <dgm:prSet phldrT="[Текст]"/>
      <dgm:spPr/>
      <dgm:t>
        <a:bodyPr/>
        <a:lstStyle/>
        <a:p>
          <a:r>
            <a:rPr lang="ru-RU" dirty="0"/>
            <a:t>пассивность</a:t>
          </a:r>
        </a:p>
      </dgm:t>
    </dgm:pt>
    <dgm:pt modelId="{126534A1-5A29-4469-B9A7-36CDE57DAEDB}" type="parTrans" cxnId="{1181F09A-1F28-4B46-8606-227E00A7B64F}">
      <dgm:prSet/>
      <dgm:spPr/>
      <dgm:t>
        <a:bodyPr/>
        <a:lstStyle/>
        <a:p>
          <a:endParaRPr lang="ru-RU"/>
        </a:p>
      </dgm:t>
    </dgm:pt>
    <dgm:pt modelId="{1E01F470-A196-4911-AC5C-30F82F101CB5}" type="sibTrans" cxnId="{1181F09A-1F28-4B46-8606-227E00A7B64F}">
      <dgm:prSet/>
      <dgm:spPr/>
      <dgm:t>
        <a:bodyPr/>
        <a:lstStyle/>
        <a:p>
          <a:endParaRPr lang="ru-RU"/>
        </a:p>
      </dgm:t>
    </dgm:pt>
    <dgm:pt modelId="{4B3E6411-8761-4CEE-8803-8982346F15FB}">
      <dgm:prSet phldrT="[Текст]"/>
      <dgm:spPr/>
      <dgm:t>
        <a:bodyPr/>
        <a:lstStyle/>
        <a:p>
          <a:r>
            <a:rPr lang="ru-RU" dirty="0"/>
            <a:t>разбой</a:t>
          </a:r>
        </a:p>
      </dgm:t>
    </dgm:pt>
    <dgm:pt modelId="{D5091518-4FC4-48AB-8B68-BA1BF21F7676}" type="parTrans" cxnId="{CE883EE7-F877-4817-9F01-6A6A1D286D8E}">
      <dgm:prSet/>
      <dgm:spPr/>
      <dgm:t>
        <a:bodyPr/>
        <a:lstStyle/>
        <a:p>
          <a:endParaRPr lang="ru-RU"/>
        </a:p>
      </dgm:t>
    </dgm:pt>
    <dgm:pt modelId="{64AFD7A1-A6D0-4181-AB06-A74C5FD4A6F0}" type="sibTrans" cxnId="{CE883EE7-F877-4817-9F01-6A6A1D286D8E}">
      <dgm:prSet/>
      <dgm:spPr/>
      <dgm:t>
        <a:bodyPr/>
        <a:lstStyle/>
        <a:p>
          <a:endParaRPr lang="ru-RU"/>
        </a:p>
      </dgm:t>
    </dgm:pt>
    <dgm:pt modelId="{00C05E24-D17B-4C6A-BA04-0CB27CA0AC80}">
      <dgm:prSet phldrT="[Текст]"/>
      <dgm:spPr/>
      <dgm:t>
        <a:bodyPr/>
        <a:lstStyle/>
        <a:p>
          <a:r>
            <a:rPr lang="ru-RU" dirty="0"/>
            <a:t>вредные привычки</a:t>
          </a:r>
        </a:p>
      </dgm:t>
    </dgm:pt>
    <dgm:pt modelId="{1710AE74-A5AC-44A6-9A81-774081D0AACF}" type="parTrans" cxnId="{DC27C1A3-1516-44D4-A779-C43E93459178}">
      <dgm:prSet/>
      <dgm:spPr/>
      <dgm:t>
        <a:bodyPr/>
        <a:lstStyle/>
        <a:p>
          <a:endParaRPr lang="ru-RU"/>
        </a:p>
      </dgm:t>
    </dgm:pt>
    <dgm:pt modelId="{44478BA8-618F-49BB-BEBB-9BA4A7C2EE32}" type="sibTrans" cxnId="{DC27C1A3-1516-44D4-A779-C43E93459178}">
      <dgm:prSet/>
      <dgm:spPr/>
      <dgm:t>
        <a:bodyPr/>
        <a:lstStyle/>
        <a:p>
          <a:endParaRPr lang="ru-RU"/>
        </a:p>
      </dgm:t>
    </dgm:pt>
    <dgm:pt modelId="{F1EC33C8-1781-43C8-8892-E71086FB1626}">
      <dgm:prSet phldrT="[Текст]"/>
      <dgm:spPr/>
      <dgm:t>
        <a:bodyPr/>
        <a:lstStyle/>
        <a:p>
          <a:r>
            <a:rPr lang="ru-RU" dirty="0"/>
            <a:t>психосоматика</a:t>
          </a:r>
        </a:p>
      </dgm:t>
    </dgm:pt>
    <dgm:pt modelId="{B83F4583-CA8C-47A1-A9F5-36EFEDC326A6}" type="parTrans" cxnId="{FD05E1BA-0C46-40C2-8242-C9046DF929BE}">
      <dgm:prSet/>
      <dgm:spPr/>
      <dgm:t>
        <a:bodyPr/>
        <a:lstStyle/>
        <a:p>
          <a:endParaRPr lang="ru-RU"/>
        </a:p>
      </dgm:t>
    </dgm:pt>
    <dgm:pt modelId="{B976BB39-5158-4157-8F0B-FA303524206E}" type="sibTrans" cxnId="{FD05E1BA-0C46-40C2-8242-C9046DF929BE}">
      <dgm:prSet/>
      <dgm:spPr/>
      <dgm:t>
        <a:bodyPr/>
        <a:lstStyle/>
        <a:p>
          <a:endParaRPr lang="ru-RU"/>
        </a:p>
      </dgm:t>
    </dgm:pt>
    <dgm:pt modelId="{32CADB6C-F86A-4C8B-8106-D1D4A181F021}" type="pres">
      <dgm:prSet presAssocID="{6B2FA193-F386-41D7-A7FF-6ECEBB460CD1}" presName="Name0" presStyleCnt="0">
        <dgm:presLayoutVars>
          <dgm:dir/>
          <dgm:animLvl val="lvl"/>
          <dgm:resizeHandles/>
        </dgm:presLayoutVars>
      </dgm:prSet>
      <dgm:spPr/>
    </dgm:pt>
    <dgm:pt modelId="{B248D6A8-1693-43E3-927E-FB8597FCD770}" type="pres">
      <dgm:prSet presAssocID="{77185513-95A4-468B-8F96-8486B2351040}" presName="linNode" presStyleCnt="0"/>
      <dgm:spPr/>
    </dgm:pt>
    <dgm:pt modelId="{BFFBFFF0-3291-460F-B6EF-DEF936503466}" type="pres">
      <dgm:prSet presAssocID="{77185513-95A4-468B-8F96-8486B2351040}" presName="parentShp" presStyleLbl="node1" presStyleIdx="0" presStyleCnt="2">
        <dgm:presLayoutVars>
          <dgm:bulletEnabled val="1"/>
        </dgm:presLayoutVars>
      </dgm:prSet>
      <dgm:spPr/>
    </dgm:pt>
    <dgm:pt modelId="{75413CE6-958B-46E6-8D5E-79EE87FCCEED}" type="pres">
      <dgm:prSet presAssocID="{77185513-95A4-468B-8F96-8486B2351040}" presName="childShp" presStyleLbl="bgAccFollowNode1" presStyleIdx="0" presStyleCnt="2">
        <dgm:presLayoutVars>
          <dgm:bulletEnabled val="1"/>
        </dgm:presLayoutVars>
      </dgm:prSet>
      <dgm:spPr/>
    </dgm:pt>
    <dgm:pt modelId="{8C5FB5D5-8295-4803-9090-F9BF8AABE01B}" type="pres">
      <dgm:prSet presAssocID="{628B8D5F-536B-4204-9482-D0BEFC9C6B36}" presName="spacing" presStyleCnt="0"/>
      <dgm:spPr/>
    </dgm:pt>
    <dgm:pt modelId="{B2881DCC-1209-4E33-A046-2A30A7605146}" type="pres">
      <dgm:prSet presAssocID="{64B6A59B-105D-4195-BACA-3725B38D3457}" presName="linNode" presStyleCnt="0"/>
      <dgm:spPr/>
    </dgm:pt>
    <dgm:pt modelId="{01AFC1A5-E9C0-4FC4-82A9-C250DF9A28AA}" type="pres">
      <dgm:prSet presAssocID="{64B6A59B-105D-4195-BACA-3725B38D3457}" presName="parentShp" presStyleLbl="node1" presStyleIdx="1" presStyleCnt="2">
        <dgm:presLayoutVars>
          <dgm:bulletEnabled val="1"/>
        </dgm:presLayoutVars>
      </dgm:prSet>
      <dgm:spPr/>
    </dgm:pt>
    <dgm:pt modelId="{0AAA64C7-0A6D-4A62-AF6B-743C30D0401E}" type="pres">
      <dgm:prSet presAssocID="{64B6A59B-105D-4195-BACA-3725B38D3457}" presName="childShp" presStyleLbl="bgAccFollowNode1" presStyleIdx="1" presStyleCnt="2">
        <dgm:presLayoutVars>
          <dgm:bulletEnabled val="1"/>
        </dgm:presLayoutVars>
      </dgm:prSet>
      <dgm:spPr/>
    </dgm:pt>
  </dgm:ptLst>
  <dgm:cxnLst>
    <dgm:cxn modelId="{914B4500-61B7-4A55-BBE8-B08DE91D81C2}" type="presOf" srcId="{64B6A59B-105D-4195-BACA-3725B38D3457}" destId="{01AFC1A5-E9C0-4FC4-82A9-C250DF9A28AA}" srcOrd="0" destOrd="0" presId="urn:microsoft.com/office/officeart/2005/8/layout/vList6"/>
    <dgm:cxn modelId="{F558AB0E-7E91-46BB-8FFF-05282CC3E291}" srcId="{77185513-95A4-468B-8F96-8486B2351040}" destId="{6D9BF940-37BD-44E6-ABA2-406636AC59A6}" srcOrd="1" destOrd="0" parTransId="{F3D42E5E-EFFA-4C8F-BB8E-392DD1756794}" sibTransId="{16F5F8CE-861E-4FFF-867D-22476C8D4A41}"/>
    <dgm:cxn modelId="{79125616-0EA2-40DB-871F-E72518A9B284}" type="presOf" srcId="{6B2FA193-F386-41D7-A7FF-6ECEBB460CD1}" destId="{32CADB6C-F86A-4C8B-8106-D1D4A181F021}" srcOrd="0" destOrd="0" presId="urn:microsoft.com/office/officeart/2005/8/layout/vList6"/>
    <dgm:cxn modelId="{62A19319-F758-4CB9-9247-CCEA8D7F5788}" type="presOf" srcId="{6D9BF940-37BD-44E6-ABA2-406636AC59A6}" destId="{75413CE6-958B-46E6-8D5E-79EE87FCCEED}" srcOrd="0" destOrd="1" presId="urn:microsoft.com/office/officeart/2005/8/layout/vList6"/>
    <dgm:cxn modelId="{4B52C31C-0D01-432B-904E-E394FCD3709A}" type="presOf" srcId="{4A19D563-A00B-44C9-A7BA-5569AE22C92D}" destId="{0AAA64C7-0A6D-4A62-AF6B-743C30D0401E}" srcOrd="0" destOrd="1" presId="urn:microsoft.com/office/officeart/2005/8/layout/vList6"/>
    <dgm:cxn modelId="{11E5682C-4677-4E16-ACDC-2B2587AE660D}" srcId="{6B2FA193-F386-41D7-A7FF-6ECEBB460CD1}" destId="{64B6A59B-105D-4195-BACA-3725B38D3457}" srcOrd="1" destOrd="0" parTransId="{73C6D899-9431-4950-B167-F067EE682E6F}" sibTransId="{0DBE3EC1-7E33-4F23-8CB0-4A61A59A09D9}"/>
    <dgm:cxn modelId="{72399E35-B10F-4345-B583-C852E08261C3}" type="presOf" srcId="{00C05E24-D17B-4C6A-BA04-0CB27CA0AC80}" destId="{0AAA64C7-0A6D-4A62-AF6B-743C30D0401E}" srcOrd="0" destOrd="2" presId="urn:microsoft.com/office/officeart/2005/8/layout/vList6"/>
    <dgm:cxn modelId="{633CD135-F634-4B4D-AC11-432506309054}" type="presOf" srcId="{605EDC9B-CCAE-4C66-BDA6-C7DA6AFE8211}" destId="{0AAA64C7-0A6D-4A62-AF6B-743C30D0401E}" srcOrd="0" destOrd="0" presId="urn:microsoft.com/office/officeart/2005/8/layout/vList6"/>
    <dgm:cxn modelId="{FB2EB43F-E020-4389-8DEB-EF10C7077B7D}" srcId="{77185513-95A4-468B-8F96-8486B2351040}" destId="{E658561B-6E11-4F34-ADDF-5F9DF88A161A}" srcOrd="0" destOrd="0" parTransId="{6AC59462-BFC1-48A3-8CBB-9411EC196B2E}" sibTransId="{D8518980-109B-4831-985E-C79B644FF6D9}"/>
    <dgm:cxn modelId="{5C4A0861-92A0-452B-9514-3A5B37868E12}" type="presOf" srcId="{E658561B-6E11-4F34-ADDF-5F9DF88A161A}" destId="{75413CE6-958B-46E6-8D5E-79EE87FCCEED}" srcOrd="0" destOrd="0" presId="urn:microsoft.com/office/officeart/2005/8/layout/vList6"/>
    <dgm:cxn modelId="{133A6F41-6FC0-4812-8910-034CE3F8CBA3}" type="presOf" srcId="{F1EC33C8-1781-43C8-8892-E71086FB1626}" destId="{0AAA64C7-0A6D-4A62-AF6B-743C30D0401E}" srcOrd="0" destOrd="3" presId="urn:microsoft.com/office/officeart/2005/8/layout/vList6"/>
    <dgm:cxn modelId="{B8DA9870-0BE4-4A1A-8614-E2F711FB261C}" type="presOf" srcId="{77185513-95A4-468B-8F96-8486B2351040}" destId="{BFFBFFF0-3291-460F-B6EF-DEF936503466}" srcOrd="0" destOrd="0" presId="urn:microsoft.com/office/officeart/2005/8/layout/vList6"/>
    <dgm:cxn modelId="{95612053-13C0-46C4-977A-E4D89D077D93}" type="presOf" srcId="{4B3E6411-8761-4CEE-8803-8982346F15FB}" destId="{75413CE6-958B-46E6-8D5E-79EE87FCCEED}" srcOrd="0" destOrd="2" presId="urn:microsoft.com/office/officeart/2005/8/layout/vList6"/>
    <dgm:cxn modelId="{1181F09A-1F28-4B46-8606-227E00A7B64F}" srcId="{64B6A59B-105D-4195-BACA-3725B38D3457}" destId="{4A19D563-A00B-44C9-A7BA-5569AE22C92D}" srcOrd="1" destOrd="0" parTransId="{126534A1-5A29-4469-B9A7-36CDE57DAEDB}" sibTransId="{1E01F470-A196-4911-AC5C-30F82F101CB5}"/>
    <dgm:cxn modelId="{DC27C1A3-1516-44D4-A779-C43E93459178}" srcId="{64B6A59B-105D-4195-BACA-3725B38D3457}" destId="{00C05E24-D17B-4C6A-BA04-0CB27CA0AC80}" srcOrd="2" destOrd="0" parTransId="{1710AE74-A5AC-44A6-9A81-774081D0AACF}" sibTransId="{44478BA8-618F-49BB-BEBB-9BA4A7C2EE32}"/>
    <dgm:cxn modelId="{EDC340BA-EBA6-4A0D-9153-A9777952E015}" srcId="{6B2FA193-F386-41D7-A7FF-6ECEBB460CD1}" destId="{77185513-95A4-468B-8F96-8486B2351040}" srcOrd="0" destOrd="0" parTransId="{221D85F9-8682-48FC-8CAD-2536FA6332FF}" sibTransId="{628B8D5F-536B-4204-9482-D0BEFC9C6B36}"/>
    <dgm:cxn modelId="{FD05E1BA-0C46-40C2-8242-C9046DF929BE}" srcId="{64B6A59B-105D-4195-BACA-3725B38D3457}" destId="{F1EC33C8-1781-43C8-8892-E71086FB1626}" srcOrd="3" destOrd="0" parTransId="{B83F4583-CA8C-47A1-A9F5-36EFEDC326A6}" sibTransId="{B976BB39-5158-4157-8F0B-FA303524206E}"/>
    <dgm:cxn modelId="{CE883EE7-F877-4817-9F01-6A6A1D286D8E}" srcId="{77185513-95A4-468B-8F96-8486B2351040}" destId="{4B3E6411-8761-4CEE-8803-8982346F15FB}" srcOrd="2" destOrd="0" parTransId="{D5091518-4FC4-48AB-8B68-BA1BF21F7676}" sibTransId="{64AFD7A1-A6D0-4181-AB06-A74C5FD4A6F0}"/>
    <dgm:cxn modelId="{C1B08CFE-9348-4FE2-A134-095598C92025}" srcId="{64B6A59B-105D-4195-BACA-3725B38D3457}" destId="{605EDC9B-CCAE-4C66-BDA6-C7DA6AFE8211}" srcOrd="0" destOrd="0" parTransId="{E883A5C2-58E6-4DFD-AFF0-C954BE3C08EC}" sibTransId="{A63E1743-985D-43D1-9A07-13D97831E0B0}"/>
    <dgm:cxn modelId="{9FFFB9FC-53D3-437A-AEB1-6E3E4AF90006}" type="presParOf" srcId="{32CADB6C-F86A-4C8B-8106-D1D4A181F021}" destId="{B248D6A8-1693-43E3-927E-FB8597FCD770}" srcOrd="0" destOrd="0" presId="urn:microsoft.com/office/officeart/2005/8/layout/vList6"/>
    <dgm:cxn modelId="{F8CD9422-FF2D-4198-82A2-D3E6F6B389B5}" type="presParOf" srcId="{B248D6A8-1693-43E3-927E-FB8597FCD770}" destId="{BFFBFFF0-3291-460F-B6EF-DEF936503466}" srcOrd="0" destOrd="0" presId="urn:microsoft.com/office/officeart/2005/8/layout/vList6"/>
    <dgm:cxn modelId="{ABDE3C9D-32EB-411F-8215-4089C7D79EC6}" type="presParOf" srcId="{B248D6A8-1693-43E3-927E-FB8597FCD770}" destId="{75413CE6-958B-46E6-8D5E-79EE87FCCEED}" srcOrd="1" destOrd="0" presId="urn:microsoft.com/office/officeart/2005/8/layout/vList6"/>
    <dgm:cxn modelId="{487373F6-AAF1-4554-A085-1254F0B41353}" type="presParOf" srcId="{32CADB6C-F86A-4C8B-8106-D1D4A181F021}" destId="{8C5FB5D5-8295-4803-9090-F9BF8AABE01B}" srcOrd="1" destOrd="0" presId="urn:microsoft.com/office/officeart/2005/8/layout/vList6"/>
    <dgm:cxn modelId="{79DABEF1-70C2-44F6-A446-74B13889AFC5}" type="presParOf" srcId="{32CADB6C-F86A-4C8B-8106-D1D4A181F021}" destId="{B2881DCC-1209-4E33-A046-2A30A7605146}" srcOrd="2" destOrd="0" presId="urn:microsoft.com/office/officeart/2005/8/layout/vList6"/>
    <dgm:cxn modelId="{B887FF56-8F79-4997-B579-1F8EC808D18B}" type="presParOf" srcId="{B2881DCC-1209-4E33-A046-2A30A7605146}" destId="{01AFC1A5-E9C0-4FC4-82A9-C250DF9A28AA}" srcOrd="0" destOrd="0" presId="urn:microsoft.com/office/officeart/2005/8/layout/vList6"/>
    <dgm:cxn modelId="{2D3003A8-D7BA-45B2-B6A3-3685F94D0013}" type="presParOf" srcId="{B2881DCC-1209-4E33-A046-2A30A7605146}" destId="{0AAA64C7-0A6D-4A62-AF6B-743C30D0401E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B6E4088-252F-4BE1-B4D9-E170CFED02A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4385ED6-FD35-4C22-88ED-B093E21F0463}">
      <dgm:prSet phldrT="[Текст]"/>
      <dgm:spPr/>
      <dgm:t>
        <a:bodyPr/>
        <a:lstStyle/>
        <a:p>
          <a:r>
            <a:rPr lang="ru-RU" dirty="0"/>
            <a:t>Государство А</a:t>
          </a:r>
        </a:p>
      </dgm:t>
    </dgm:pt>
    <dgm:pt modelId="{21F6DA1E-B1A7-43A7-811E-00CB5F59692A}" type="parTrans" cxnId="{760191ED-880E-4501-BDFB-2FAD0AC201C9}">
      <dgm:prSet/>
      <dgm:spPr/>
      <dgm:t>
        <a:bodyPr/>
        <a:lstStyle/>
        <a:p>
          <a:endParaRPr lang="ru-RU"/>
        </a:p>
      </dgm:t>
    </dgm:pt>
    <dgm:pt modelId="{D663995C-3F9A-4DAD-8B9C-B11E1D8CF648}" type="sibTrans" cxnId="{760191ED-880E-4501-BDFB-2FAD0AC201C9}">
      <dgm:prSet/>
      <dgm:spPr/>
      <dgm:t>
        <a:bodyPr/>
        <a:lstStyle/>
        <a:p>
          <a:endParaRPr lang="ru-RU"/>
        </a:p>
      </dgm:t>
    </dgm:pt>
    <dgm:pt modelId="{4293D5DB-1DD4-4693-B080-C997F1731174}">
      <dgm:prSet phldrT="[Текст]"/>
      <dgm:spPr/>
      <dgm:t>
        <a:bodyPr/>
        <a:lstStyle/>
        <a:p>
          <a:r>
            <a:rPr lang="ru-RU" dirty="0"/>
            <a:t>ГРАНИЦА</a:t>
          </a:r>
        </a:p>
      </dgm:t>
    </dgm:pt>
    <dgm:pt modelId="{6037B98E-21F5-482F-BDC0-C52D62BBA456}" type="parTrans" cxnId="{057FFA9C-D8BE-4EFE-931B-1A20F3B95EB9}">
      <dgm:prSet/>
      <dgm:spPr/>
      <dgm:t>
        <a:bodyPr/>
        <a:lstStyle/>
        <a:p>
          <a:endParaRPr lang="ru-RU"/>
        </a:p>
      </dgm:t>
    </dgm:pt>
    <dgm:pt modelId="{32930C93-DC58-4B86-A52A-B5F655CCA79A}" type="sibTrans" cxnId="{057FFA9C-D8BE-4EFE-931B-1A20F3B95EB9}">
      <dgm:prSet/>
      <dgm:spPr/>
      <dgm:t>
        <a:bodyPr/>
        <a:lstStyle/>
        <a:p>
          <a:endParaRPr lang="ru-RU"/>
        </a:p>
      </dgm:t>
    </dgm:pt>
    <dgm:pt modelId="{09861506-36C1-4DB3-90D3-38FD82B0F3AD}">
      <dgm:prSet phldrT="[Текст]"/>
      <dgm:spPr>
        <a:solidFill>
          <a:srgbClr val="FFC000"/>
        </a:solidFill>
      </dgm:spPr>
      <dgm:t>
        <a:bodyPr/>
        <a:lstStyle/>
        <a:p>
          <a:r>
            <a:rPr lang="ru-RU" dirty="0"/>
            <a:t>Государство В</a:t>
          </a:r>
        </a:p>
      </dgm:t>
    </dgm:pt>
    <dgm:pt modelId="{E7C0F77A-A887-4A9C-A410-7ADDB42AD50C}" type="parTrans" cxnId="{643AB7FE-7FF7-40E2-8F6A-997872B51CA3}">
      <dgm:prSet/>
      <dgm:spPr/>
      <dgm:t>
        <a:bodyPr/>
        <a:lstStyle/>
        <a:p>
          <a:endParaRPr lang="ru-RU"/>
        </a:p>
      </dgm:t>
    </dgm:pt>
    <dgm:pt modelId="{CE596B30-990D-47CC-B9FC-3C230808D48B}" type="sibTrans" cxnId="{643AB7FE-7FF7-40E2-8F6A-997872B51CA3}">
      <dgm:prSet/>
      <dgm:spPr/>
      <dgm:t>
        <a:bodyPr/>
        <a:lstStyle/>
        <a:p>
          <a:endParaRPr lang="ru-RU"/>
        </a:p>
      </dgm:t>
    </dgm:pt>
    <dgm:pt modelId="{38CA7281-FAC0-423F-BBEC-BAB21D2FBBC9}" type="pres">
      <dgm:prSet presAssocID="{1B6E4088-252F-4BE1-B4D9-E170CFED02A8}" presName="linear" presStyleCnt="0">
        <dgm:presLayoutVars>
          <dgm:animLvl val="lvl"/>
          <dgm:resizeHandles val="exact"/>
        </dgm:presLayoutVars>
      </dgm:prSet>
      <dgm:spPr/>
    </dgm:pt>
    <dgm:pt modelId="{55D4F420-58B7-4AFD-A633-5B401E5033C2}" type="pres">
      <dgm:prSet presAssocID="{C4385ED6-FD35-4C22-88ED-B093E21F0463}" presName="parentText" presStyleLbl="node1" presStyleIdx="0" presStyleCnt="2" custLinFactNeighborX="-2403" custLinFactNeighborY="-34211">
        <dgm:presLayoutVars>
          <dgm:chMax val="0"/>
          <dgm:bulletEnabled val="1"/>
        </dgm:presLayoutVars>
      </dgm:prSet>
      <dgm:spPr/>
    </dgm:pt>
    <dgm:pt modelId="{01EF8158-6B93-4503-83B3-4FE32B04288E}" type="pres">
      <dgm:prSet presAssocID="{C4385ED6-FD35-4C22-88ED-B093E21F0463}" presName="childText" presStyleLbl="revTx" presStyleIdx="0" presStyleCnt="1">
        <dgm:presLayoutVars>
          <dgm:bulletEnabled val="1"/>
        </dgm:presLayoutVars>
      </dgm:prSet>
      <dgm:spPr/>
    </dgm:pt>
    <dgm:pt modelId="{A4004F75-2E44-42F8-A22A-5C33B1571F8F}" type="pres">
      <dgm:prSet presAssocID="{09861506-36C1-4DB3-90D3-38FD82B0F3A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D894C22-1A58-4819-9B32-8FFFD92DC873}" type="presOf" srcId="{C4385ED6-FD35-4C22-88ED-B093E21F0463}" destId="{55D4F420-58B7-4AFD-A633-5B401E5033C2}" srcOrd="0" destOrd="0" presId="urn:microsoft.com/office/officeart/2005/8/layout/vList2"/>
    <dgm:cxn modelId="{D2D85156-E047-4FA4-8CF7-3A705DA5CC82}" type="presOf" srcId="{1B6E4088-252F-4BE1-B4D9-E170CFED02A8}" destId="{38CA7281-FAC0-423F-BBEC-BAB21D2FBBC9}" srcOrd="0" destOrd="0" presId="urn:microsoft.com/office/officeart/2005/8/layout/vList2"/>
    <dgm:cxn modelId="{A5561284-BEA9-4DEE-9FB6-AAD27FE17087}" type="presOf" srcId="{4293D5DB-1DD4-4693-B080-C997F1731174}" destId="{01EF8158-6B93-4503-83B3-4FE32B04288E}" srcOrd="0" destOrd="0" presId="urn:microsoft.com/office/officeart/2005/8/layout/vList2"/>
    <dgm:cxn modelId="{057FFA9C-D8BE-4EFE-931B-1A20F3B95EB9}" srcId="{C4385ED6-FD35-4C22-88ED-B093E21F0463}" destId="{4293D5DB-1DD4-4693-B080-C997F1731174}" srcOrd="0" destOrd="0" parTransId="{6037B98E-21F5-482F-BDC0-C52D62BBA456}" sibTransId="{32930C93-DC58-4B86-A52A-B5F655CCA79A}"/>
    <dgm:cxn modelId="{13B550BF-139C-4E7C-9F0C-14081F1EB531}" type="presOf" srcId="{09861506-36C1-4DB3-90D3-38FD82B0F3AD}" destId="{A4004F75-2E44-42F8-A22A-5C33B1571F8F}" srcOrd="0" destOrd="0" presId="urn:microsoft.com/office/officeart/2005/8/layout/vList2"/>
    <dgm:cxn modelId="{760191ED-880E-4501-BDFB-2FAD0AC201C9}" srcId="{1B6E4088-252F-4BE1-B4D9-E170CFED02A8}" destId="{C4385ED6-FD35-4C22-88ED-B093E21F0463}" srcOrd="0" destOrd="0" parTransId="{21F6DA1E-B1A7-43A7-811E-00CB5F59692A}" sibTransId="{D663995C-3F9A-4DAD-8B9C-B11E1D8CF648}"/>
    <dgm:cxn modelId="{643AB7FE-7FF7-40E2-8F6A-997872B51CA3}" srcId="{1B6E4088-252F-4BE1-B4D9-E170CFED02A8}" destId="{09861506-36C1-4DB3-90D3-38FD82B0F3AD}" srcOrd="1" destOrd="0" parTransId="{E7C0F77A-A887-4A9C-A410-7ADDB42AD50C}" sibTransId="{CE596B30-990D-47CC-B9FC-3C230808D48B}"/>
    <dgm:cxn modelId="{1CAF4C65-5519-415F-9E04-E20CAB8ED0B9}" type="presParOf" srcId="{38CA7281-FAC0-423F-BBEC-BAB21D2FBBC9}" destId="{55D4F420-58B7-4AFD-A633-5B401E5033C2}" srcOrd="0" destOrd="0" presId="urn:microsoft.com/office/officeart/2005/8/layout/vList2"/>
    <dgm:cxn modelId="{B5DCFB96-E341-4A3C-A6CD-23792AC91625}" type="presParOf" srcId="{38CA7281-FAC0-423F-BBEC-BAB21D2FBBC9}" destId="{01EF8158-6B93-4503-83B3-4FE32B04288E}" srcOrd="1" destOrd="0" presId="urn:microsoft.com/office/officeart/2005/8/layout/vList2"/>
    <dgm:cxn modelId="{DB912701-CED0-499C-83E0-165106883747}" type="presParOf" srcId="{38CA7281-FAC0-423F-BBEC-BAB21D2FBBC9}" destId="{A4004F75-2E44-42F8-A22A-5C33B1571F8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5F4A48-2AF1-4988-9713-A26E5ABC3BE5}">
      <dsp:nvSpPr>
        <dsp:cNvPr id="0" name=""/>
        <dsp:cNvSpPr/>
      </dsp:nvSpPr>
      <dsp:spPr>
        <a:xfrm>
          <a:off x="149617" y="2062872"/>
          <a:ext cx="1973694" cy="132065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1524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200" b="1" kern="1200" dirty="0" err="1"/>
            <a:t>Партнгеров</a:t>
          </a:r>
          <a:r>
            <a:rPr lang="ru-RU" sz="1200" b="1" kern="1200" dirty="0"/>
            <a:t>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200" b="1" kern="1200" dirty="0"/>
            <a:t>Родителей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200" b="1" kern="1200" dirty="0"/>
            <a:t>Друзей</a:t>
          </a:r>
        </a:p>
      </dsp:txBody>
      <dsp:txXfrm>
        <a:off x="643041" y="2260970"/>
        <a:ext cx="1018044" cy="924455"/>
      </dsp:txXfrm>
    </dsp:sp>
    <dsp:sp modelId="{B5648173-F299-45E7-8694-07870BD8E318}">
      <dsp:nvSpPr>
        <dsp:cNvPr id="0" name=""/>
        <dsp:cNvSpPr/>
      </dsp:nvSpPr>
      <dsp:spPr>
        <a:xfrm>
          <a:off x="3347" y="2345491"/>
          <a:ext cx="755411" cy="755411"/>
        </a:xfrm>
        <a:prstGeom prst="ellipse">
          <a:avLst/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b="1" kern="1200" dirty="0">
              <a:solidFill>
                <a:schemeClr val="tx1"/>
              </a:solidFill>
            </a:rPr>
            <a:t>Желания</a:t>
          </a:r>
        </a:p>
      </dsp:txBody>
      <dsp:txXfrm>
        <a:off x="113974" y="2456118"/>
        <a:ext cx="534157" cy="534157"/>
      </dsp:txXfrm>
    </dsp:sp>
    <dsp:sp modelId="{176D84B6-2D89-4CD6-AD32-BFD1251B9257}">
      <dsp:nvSpPr>
        <dsp:cNvPr id="0" name=""/>
        <dsp:cNvSpPr/>
      </dsp:nvSpPr>
      <dsp:spPr>
        <a:xfrm>
          <a:off x="2480577" y="2062872"/>
          <a:ext cx="1740559" cy="132065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1524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/>
            <a:t>Нарушение границ</a:t>
          </a:r>
        </a:p>
      </dsp:txBody>
      <dsp:txXfrm>
        <a:off x="2915716" y="2260970"/>
        <a:ext cx="848522" cy="924455"/>
      </dsp:txXfrm>
    </dsp:sp>
    <dsp:sp modelId="{4F8BAC09-00F8-465C-8F46-22680E9FC991}">
      <dsp:nvSpPr>
        <dsp:cNvPr id="0" name=""/>
        <dsp:cNvSpPr/>
      </dsp:nvSpPr>
      <dsp:spPr>
        <a:xfrm>
          <a:off x="2217739" y="2345491"/>
          <a:ext cx="755411" cy="755411"/>
        </a:xfrm>
        <a:prstGeom prst="ellipse">
          <a:avLst/>
        </a:prstGeom>
        <a:solidFill>
          <a:schemeClr val="bg2">
            <a:lumMod val="2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действия</a:t>
          </a:r>
        </a:p>
      </dsp:txBody>
      <dsp:txXfrm>
        <a:off x="2328366" y="2456118"/>
        <a:ext cx="534157" cy="534157"/>
      </dsp:txXfrm>
    </dsp:sp>
    <dsp:sp modelId="{D53B790E-2224-4C4B-B28D-305680E347B4}">
      <dsp:nvSpPr>
        <dsp:cNvPr id="0" name=""/>
        <dsp:cNvSpPr/>
      </dsp:nvSpPr>
      <dsp:spPr>
        <a:xfrm>
          <a:off x="4587111" y="2057675"/>
          <a:ext cx="1694343" cy="1316648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9525" rIns="19050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500" b="1" kern="1200" dirty="0"/>
            <a:t>гнев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500" b="1" kern="1200" dirty="0"/>
            <a:t>печаль</a:t>
          </a:r>
        </a:p>
      </dsp:txBody>
      <dsp:txXfrm>
        <a:off x="5010696" y="2255172"/>
        <a:ext cx="825992" cy="921654"/>
      </dsp:txXfrm>
    </dsp:sp>
    <dsp:sp modelId="{3DFA7077-C65F-4A89-A8AA-4A9DAA236776}">
      <dsp:nvSpPr>
        <dsp:cNvPr id="0" name=""/>
        <dsp:cNvSpPr/>
      </dsp:nvSpPr>
      <dsp:spPr>
        <a:xfrm>
          <a:off x="4315563" y="2345491"/>
          <a:ext cx="755411" cy="755411"/>
        </a:xfrm>
        <a:prstGeom prst="ellipse">
          <a:avLst/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чувства</a:t>
          </a:r>
        </a:p>
      </dsp:txBody>
      <dsp:txXfrm>
        <a:off x="4426190" y="2456118"/>
        <a:ext cx="534157" cy="5341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413CE6-958B-46E6-8D5E-79EE87FCCEED}">
      <dsp:nvSpPr>
        <dsp:cNvPr id="0" name=""/>
        <dsp:cNvSpPr/>
      </dsp:nvSpPr>
      <dsp:spPr>
        <a:xfrm>
          <a:off x="1465072" y="374"/>
          <a:ext cx="2197608" cy="146059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агрессия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злость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разбой</a:t>
          </a:r>
        </a:p>
      </dsp:txBody>
      <dsp:txXfrm>
        <a:off x="1465072" y="182949"/>
        <a:ext cx="1649885" cy="1095447"/>
      </dsp:txXfrm>
    </dsp:sp>
    <dsp:sp modelId="{BFFBFFF0-3291-460F-B6EF-DEF936503466}">
      <dsp:nvSpPr>
        <dsp:cNvPr id="0" name=""/>
        <dsp:cNvSpPr/>
      </dsp:nvSpPr>
      <dsp:spPr>
        <a:xfrm>
          <a:off x="0" y="374"/>
          <a:ext cx="1465072" cy="1460596"/>
        </a:xfrm>
        <a:prstGeom prst="roundRect">
          <a:avLst/>
        </a:prstGeom>
        <a:solidFill>
          <a:schemeClr val="tx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результат</a:t>
          </a:r>
        </a:p>
      </dsp:txBody>
      <dsp:txXfrm>
        <a:off x="71300" y="71674"/>
        <a:ext cx="1322472" cy="1317996"/>
      </dsp:txXfrm>
    </dsp:sp>
    <dsp:sp modelId="{0AAA64C7-0A6D-4A62-AF6B-743C30D0401E}">
      <dsp:nvSpPr>
        <dsp:cNvPr id="0" name=""/>
        <dsp:cNvSpPr/>
      </dsp:nvSpPr>
      <dsp:spPr>
        <a:xfrm>
          <a:off x="1465072" y="1607030"/>
          <a:ext cx="2197608" cy="146059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уныние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пассивность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вредные привычки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психосоматика</a:t>
          </a:r>
        </a:p>
      </dsp:txBody>
      <dsp:txXfrm>
        <a:off x="1465072" y="1789605"/>
        <a:ext cx="1649885" cy="1095447"/>
      </dsp:txXfrm>
    </dsp:sp>
    <dsp:sp modelId="{01AFC1A5-E9C0-4FC4-82A9-C250DF9A28AA}">
      <dsp:nvSpPr>
        <dsp:cNvPr id="0" name=""/>
        <dsp:cNvSpPr/>
      </dsp:nvSpPr>
      <dsp:spPr>
        <a:xfrm>
          <a:off x="0" y="1607030"/>
          <a:ext cx="1465072" cy="1460596"/>
        </a:xfrm>
        <a:prstGeom prst="roundRect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результат</a:t>
          </a:r>
        </a:p>
      </dsp:txBody>
      <dsp:txXfrm>
        <a:off x="71300" y="1678330"/>
        <a:ext cx="1322472" cy="13179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D4F420-58B7-4AFD-A633-5B401E5033C2}">
      <dsp:nvSpPr>
        <dsp:cNvPr id="0" name=""/>
        <dsp:cNvSpPr/>
      </dsp:nvSpPr>
      <dsp:spPr>
        <a:xfrm>
          <a:off x="0" y="0"/>
          <a:ext cx="10580458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500" kern="1200" dirty="0"/>
            <a:t>Государство А</a:t>
          </a:r>
        </a:p>
      </dsp:txBody>
      <dsp:txXfrm>
        <a:off x="64397" y="64397"/>
        <a:ext cx="10451664" cy="1190381"/>
      </dsp:txXfrm>
    </dsp:sp>
    <dsp:sp modelId="{01EF8158-6B93-4503-83B3-4FE32B04288E}">
      <dsp:nvSpPr>
        <dsp:cNvPr id="0" name=""/>
        <dsp:cNvSpPr/>
      </dsp:nvSpPr>
      <dsp:spPr>
        <a:xfrm>
          <a:off x="0" y="1319347"/>
          <a:ext cx="10580458" cy="910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5930" tIns="69850" rIns="391160" bIns="69850" numCol="1" spcCol="1270" anchor="t" anchorCtr="0">
          <a:noAutofit/>
        </a:bodyPr>
        <a:lstStyle/>
        <a:p>
          <a:pPr marL="285750" lvl="1" indent="-285750" algn="l" defTabSz="1911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4300" kern="1200" dirty="0"/>
            <a:t>ГРАНИЦА</a:t>
          </a:r>
        </a:p>
      </dsp:txBody>
      <dsp:txXfrm>
        <a:off x="0" y="1319347"/>
        <a:ext cx="10580458" cy="910800"/>
      </dsp:txXfrm>
    </dsp:sp>
    <dsp:sp modelId="{A4004F75-2E44-42F8-A22A-5C33B1571F8F}">
      <dsp:nvSpPr>
        <dsp:cNvPr id="0" name=""/>
        <dsp:cNvSpPr/>
      </dsp:nvSpPr>
      <dsp:spPr>
        <a:xfrm>
          <a:off x="0" y="2230147"/>
          <a:ext cx="10580458" cy="1319175"/>
        </a:xfrm>
        <a:prstGeom prst="roundRect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500" kern="1200" dirty="0"/>
            <a:t>Государство В</a:t>
          </a:r>
        </a:p>
      </dsp:txBody>
      <dsp:txXfrm>
        <a:off x="64397" y="2294544"/>
        <a:ext cx="10451664" cy="11903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1T15:34:54.206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1T15:34:55.686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1T15:35:20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7593 1 24575,'15'341'65,"-1"-110"-428,-11 82-681,-13 0 0,-53 318 0,4-282 522,-188 613-1,92-551 2093,119-324 113,0 16-1136,-37 169 0,44-149-419,-31 195-128,22 5 0,1-2 0,-25 31 0,6-139 0,28-117 0,-100 332 0,90-284 0,-49 156 0,10-47 0,51-158 0,-4-1 0,-53 116 0,42-125 0,-2 6 0,-102 159 0,-82 88 0,122-177 0,36-51 0,-34 51 0,77-129 0,2 2 0,1 1 0,2 1 0,-28 65 0,45-87 0,-1 0 0,-1-1 0,0 0 0,-1 0 0,-1-1 0,0 1 0,0-1 0,-1-1 0,-1 0 0,1 0 0,-2-1 0,-12 10 0,16-15 0,0 1 0,1 1 0,-1-1 0,1 1 0,1 0 0,-1 0 0,1 1 0,0-1 0,1 1 0,0 0 0,-3 10 0,2-10 0,0 1 0,0-1 0,0 0 0,-1-1 0,0 1 0,-1-1 0,-11 10 0,8-9 0,1 2 0,1-1 0,-11 15 0,-9 21 0,-22 33 0,-102 148 0,-21 10 0,90-129 0,49-63 0,-2-1 0,-2-2 0,-58 49 0,67-67 0,-1-1 0,-1-1 0,-1-1 0,-1-2 0,-69 27 0,-6-8 0,36-13 0,2 2 0,-96 50 0,-40 51 0,-24 12 0,183-118 0,34-16 0,1 0 0,-18 11 0,2 1 0,5-3 0,-35 28 0,-40 52 0,78-74 0,-42 30 0,-3 3 0,19-19 0,37-29 0,1 0 0,1 1 0,-1 0 0,1 0 0,0 1 0,1-1 0,-11 15 0,-15 43 0,28-52 0,-1-1 0,0 0 0,0 0 0,-1-1 0,-1 0 0,0 0 0,0 0 0,-1-1 0,-11 11 0,-44 30 0,-59 50 0,-453 379 0,525-446 0,39-28 0,0 2 0,1-1 0,0 2 0,0-1 0,0 1 0,-12 14 0,-99 144 0,35-51 0,69-90 0,-4 9 0,-3-1 0,-38 43 0,38-51 0,-83 82 0,95-98 0,0-1 0,0 0 0,-1-1 0,0-1 0,-1 0 0,-25 8 0,17-6 0,1 0 0,-25 14 0,-208 133 0,54-30 0,-64 36 0,250-153 0,-2 0 0,1-1 0,-1-1 0,0 0 0,0-1 0,-1-1 0,1-1 0,-1 0 0,0-1 0,-30 0 0,44-3 22,1 1-1,-1-1 0,1 1 1,0-1-1,-1 0 0,1 0 1,0 0-1,-1 0 0,1 0 1,0 0-1,0-1 0,0 1 1,0-1-1,0 0 0,-2-2 1,4 3-74,-1 0 0,0 0 0,0 0 1,1 0-1,-1 0 0,1 0 1,-1 0-1,1 0 0,-1 0 0,1-1 1,0 1-1,-1 0 0,1 0 1,0 0-1,0-1 0,0 1 0,0 0 1,0 0-1,0 0 0,0-1 1,1 1-1,-1 0 0,0 0 0,1 0 1,-1 0-1,1-1 0,-1 1 1,1 0-1,-1 0 0,1 0 0,0 0 1,0-1-1,10-8-6774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1T15:35:25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24575,'-1'20'0,"-6"39"0,0-5 0,-5 563 0,14-407 0,1-106 0,5 0 0,40 187 0,80 196 0,-90-356 0,67 223 0,101 396 0,-135-364 0,-52-278 0,3 5 0,60 177 0,-34-167 0,6 21 0,155 524 0,-174-567 0,53 106 0,64 87 0,-75-145-72,102 283-1,-119-246-110,-8 3 0,-8 2 0,28 301 0,-60-371 402,6 0-1,5-1 0,41 122 1,-36-153-218,4-1 0,48 94 0,-14-50-1,49 90 0,-37-91 0,72 111 0,-83-158 0,-56-73 0,0 0 0,0-1 0,1 0 0,25 14 0,20 9 0,135 76 0,-130-78 0,78 29 0,-49-29 0,0-4 0,134 22 0,331 73 0,-13 41 0,-494-148 0,257 93 0,-209-73 0,-38-16 0,20 8 0,-73-23 0,1 0 0,-1 0 0,0 0 0,0 1 0,0 0 0,7 8 0,15 12 0,-7-9 0,1 0 0,0-2 0,1-1 0,49 20 0,-66-30 0,1 0 0,-1 0 0,0 1 0,-1 0 0,1 0 0,-1 0 0,9 8 0,30 41 0,-35-42 0,88 122 0,-9 6 0,43 98-622,37 85-1865,-12-11 1445,203 388-2212,-239-476 3164,-93-174-5,77 158-262,-97-190 657,-1 0 1,-1 1-1,-1-1 0,-1 1 0,0 0 0,-1 0 0,-1 0 1,-2 35-1,0-25 508,1-24-611,0 0 0,0 0 0,0 0 0,1 0 0,0 0 0,-1 0-1,1 0 1,0 0 0,1-1 0,-1 1 0,1 0 0,0-1 0,3 5 0,-3-5-98,0-1 0,1 1-1,-1-1 1,1 0 0,0 0 0,-1-1 0,1 1 0,0 0-1,0-1 1,0 0 0,0 0 0,1 0 0,-1 0 0,0 0 0,0 0-1,5-1 1,25 3-99,0-2 0,47-4 0,-39 0 0,41 4 0,114 19 0,94 5 0,-183-19 0,190 35 0,-208-23 0,106 15 0,-170-29 0,0 0 0,0 2 0,41 14 0,67 36 0,-47-18 0,-19-15-1365,-51-16-5461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1T15:35:27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4140 1 24575,'-18'54'0,"0"3"0,-40 83 0,-15-11 0,-3 6 0,-20 47 0,-10 21 0,80-148 0,8-15 0,-1-1 0,-2 0 0,-2-2 0,-31 40 0,-7 2 0,3 3 0,-54 100 0,69-109 0,-16 30 0,23-38 0,-3-1 0,-87 108 0,83-127 0,27-31 0,1 2 0,-26 33 0,-71 137 0,65-102 0,-70 92 0,87-142 0,-1-1 0,-1-2 0,-2-1 0,-70 47 0,38-34 0,-3-3 0,-123 53 0,-160 37 0,306-114 0,-195 74 0,-86 28 0,269-100 0,-239 74 0,-5-23 0,88-39 0,156-25 0,-97-3 0,216-3-1365,-38 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1T15:35:29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1485 1 24575,'0'67'0,"-4"168"0,0-189 0,-1 0 0,-3 0 0,-13 46 0,16-75 0,-1 0 0,-10 19 0,13-30 0,-1 1 0,0-1 0,0 1 0,0-1 0,-1 0 0,0-1 0,-11 11 0,0-2 0,0 2 0,1 0 0,-20 28 0,-7 7 0,-21 13 0,-3-2 0,-83 60 0,-37 32 0,175-144 0,1 1 0,0 0 0,0 0 0,1 1 0,0 1 0,2-1 0,-1 1 0,1 1 0,1-1 0,0 1 0,1 0 0,-4 20 0,-66 354 0,32-139 0,26-169 0,-30 84 0,32-127 0,-1-1 0,-2 0 0,-2-2 0,-1 0 0,-43 54 0,19-29 0,-43 52 0,72-93 0,-1-1 0,-1-1 0,-37 27 0,40-32 0,0 1 0,0 0 0,-15 19 0,17-20-1365,1-3-5461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1T15:35:31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24575,'39'72'0,"-14"-28"0,54 99 0,198 400-2050,28 53-281,-260-511 2960,4-2 1,105 136-1,-128-189-427,1 0 1,2-1 0,0-2-1,2-1 1,1-2 0,1-1 0,1-1-1,1-2 1,50 21 0,2-10-110,1-3 0,1-5 1,1-3-1,174 14 0,-245-32-93,464 24 0,-289-28 0,251 7 0,-423-4 0,0 1 0,-1 1 0,1 1 0,0 1 0,-1 1 0,0 0 0,0 2 0,-1 0 0,0 2 0,31 19 0,-2 2 0,76 36 0,-119-65-62,0 2 0,0-1 0,0 1 0,0 0 0,-1 0 0,0 0 0,1 1 0,-2-1 0,1 1 0,0 1 0,-1-1 0,0 1-1,0-1 1,-1 1 0,0 0 0,0 1 0,0-1 0,-1 0 0,0 1 0,0-1 0,1 8 0,0 10-6764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1T15:35:32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24575,'104'119'0,"-44"-46"0,325 340-723,-56-65-371,12 43 130,295 444 0,-360-384 773,-211-304 1984,-49-106-1079,1 0 1,35 58-1,-16-40-714,-21-32 0,2 0 0,33 41 0,-44-62 0,0 0 0,1-1 0,-1 0 0,1 0 0,0 0 0,1-1 0,-1 0 0,1-1 0,-1 1 0,13 2 0,9 1 0,49 6 0,1 1 0,153 49 0,-32-8 0,-155-48 0,-36-7 0,0 1 0,0 1 0,0 0 0,14 4 0,-21-5-76,-1 0 1,0 0-1,1 0 0,-1 0 0,1 0 0,-1 0 0,0 0 0,0 0 1,0 0-1,0 0 0,0 1 0,0-1 0,0 0 0,0 1 1,0-1-1,0 1 0,0 1 0,3 11-6750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1T15:35:38.101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2869,'17'-318,"-8"196,128-1057,-137 1178,2-15,0-1,1 1,1 0,0 0,1 0,1 0,15-28,-6 20,134-226,-143 240,0-1,1 2,0-1,16-16,-19 22,-1 1,1 0,0 0,1 0,-1 1,0 0,1-1,0 2,-1-1,1 0,0 1,0 0,0 0,5 0,154 0,-109 3,105-11,-58-5,173-48,-73-8,202-103,-116 66,-121 50,-115 37,154-50,-180 65,1 2,0 0,-1 2,49 3,-15 0,384-21,-354 15,-62 4,56-8,-81 8,1-1,0 0,-1 0,1 0,-1 0,1 0,-1-1,0 0,0 1,0-1,0 0,0-1,0 1,0 0,0-1,-1 0,0 0,1 1,-1-1,0 0,0-1,-1 1,1 0,-1-1,1 1,-1-1,0 1,-1-1,2-3,1-19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1T15:35:40.162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1384,'28'-52,"43"-60,-39 63,65-99,218-340,-299 458,-13 23,0 1,0 0,1 0,0 1,0-1,0 1,0-1,1 1,0 1,8-7,22-9,0 2,69-25,83-14,-167 52,-16 3,314-83,-286 79,0 2,1 1,0 2,45 4,-6-1,-3-1,273-5,-255-1,166-33,-137 12,320-64,-330 74,0 4,126 3,-223 10,0-1,0 2,0-1,-1 1,1 1,15 6,0 2,23 15,11 7,123 41,-33-16,-116-43,-2 0,46 32,-30-12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1T15:35:42.121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7460 2506,'-1568'39,"890"1,-160 6,671-41,-452 17,140 20,53-3,376-36,-309 9,301-13,1-4,0-2,1-2,-71-21,-19-18,-167-44,301 89,-113-25,-131-48,216 62,1-3,0-1,2-2,0-2,1-1,1-2,-41-38,31 17,2-3,2-1,2-1,3-3,-44-85,23 23,-70-212,72 149,-39-234,15-192,74 547,-21-87,26 144,-1 0,1 1,0-1,-1 0,1 0,0 1,0-1,0 0,0 0,0 0,0 0,0 1,0-1,0 0,0 0,0 0,1 1,-1-1,0 0,1 0,0-1,-1 2,1 0,-1 0,1 0,0 0,-1 0,1 0,-1 0,1 0,0 0,-1 0,1 0,-1 0,1 0,-1 0,1 1,0-1,-1 0,1 0,-1 1,1-1,-1 0,1 1,29 25,-24-18,-1 0,1 0,-2 1,1 0,-1 0,0 0,-1 0,0 0,-1 1,2 11,2 2,-1-1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1T15:35:44.030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1653 2639,'-109'-35,"-132"-63,159 57,-145-98,150 84,-249-192,20 20,284 211,0 0,1-2,1 0,1-1,1-1,0-1,2-1,0 0,1-1,2 0,-12-26,12 21,2 5,-16-48,25 62,-1 0,2 0,0 0,0 0,0-1,1 1,0 0,1-1,2-9,-1 10,-1-2,1 0,0 0,1 1,0-1,1 1,0 0,1 0,0 0,0 0,10-12,33-32,-3-3,-3-1,58-104,-93 144,0 0,-1 0,6-29,5-16,-8 34,-2 0,-1-1,-1 1,-2-1,-1-1,-2-35,-4 5,-3 0,-16-62,18 99,1 0,0 0,2 0,2-43,0 66,0 0,0-1,0 1,0 0,1-1,-1 1,0 0,1 0,-1-1,1 1,0 0,-1 0,1 0,0 0,1-2,-1 3,-1-1,1 1,-1 0,1 0,0-1,-1 1,1 0,-1 0,1-1,0 1,0 0,-1 0,1 0,0 0,-1 0,1 0,0 0,-1 0,1 1,0-1,0 0,3 2,-1-1,1 1,-1 0,0 0,0 1,0-1,0 0,3 4,11 11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1T15:35:46.416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7548 1668,'-782'0,"724"4,0 2,1 3,-75 21,14-4,-320 80,-182 32,319-90,-253 34,-256-35,737-47,1-3,0-3,-81-18,-1002-312,653 154,17-39,459 207,-222-120,174 90,-87-69,134 89,0-1,1-1,2-1,0-1,-21-34,-82-162,40 68,49 107,27 37,1-1,-12-20,8 5,1 0,1-1,-10-41,10 30,8 28,-1 2,-12-22,13 25,0 0,0-1,0 0,1 1,0-1,1-1,-3-10,4 9,0 0,1-19,0 27,0 1,0-1,0 1,0-1,0 1,0 0,1-1,-1 1,0-1,1 1,-1 0,1-1,0 1,-1 0,1 0,0 0,0-1,0 1,0 0,0 0,0 0,0 0,0 0,0 1,0-1,0 0,1 0,-1 1,0-1,3 0,-3 1,0 0,0 0,0 1,0-1,0 0,0 1,0-1,0 1,0-1,0 1,-1-1,1 1,0 0,0-1,-1 1,1 0,0 0,-1-1,1 1,-1 0,1 0,-1 0,1 0,-1 0,0 0,1 0,-1 0,0 0,0 1,6 32,-6-32,2 22,-2-1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1T15:35:49.708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2003 1179,'-25'-1,"-1"-2,-25-5,7 1,30 4,0 1,1-2,-1 0,1-1,0 0,0 0,1-2,-20-12,10 2,1 0,0-2,-26-30,5 6,-62-47,39 35,-48-41,-69-63,118 106,-2 2,-76-43,108 72,-12-6,-101-44,-55-5,197 75,-43-17,-65-35,96 46,1 1,-23-6,24 9,0-1,1 0,-21-12,31 15,-36-20,38 21,0 0,1 1,-1-1,1 0,-1 1,0-1,1 1,-1 0,0 0,0-1,1 1,-1 0,0 0,0 1,1-1,-1 0,0 1,1-1,-1 1,0-1,-1 2,4-1,0 0,0 1,0-1,0 0,1 0,-1 0,1 0,-1 0,1 0,-1 0,3 0,0 1,8 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1T15:35:52.147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1198,'0'-6,"1"-1,-1 1,1 0,0 0,1 0,-1 0,1 0,0 0,1 0,-1 1,1-1,5-6,2-1,0 1,1 0,17-14,-18 17,7-8,27-37,-31 38,0 0,0 0,22-18,-6 10,0-2,-2-1,-1-2,-1 0,38-60,-31 38,-1 3,-2-1,38-90,-63 128,1 1,1-1,-1 1,2 0,0 0,0 1,0 0,13-11,-3 5,0 1,1 0,29-15,-39 25,-1 0,1 1,0 0,1 1,-1 0,0 0,1 0,11 1,72 2,-46 1,384-1,-421-1,1-1,0 0,-1-1,1 0,-1 0,0-1,1 0,-2-1,14-7,-9 4,0-1,-1-1,0-1,0 1,13-16,-14 14,2 1,-1 0,1 1,1 1,-1 0,26-10,-28 12,10-3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9T09:03:54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24575,'2'0'0,"-1"1"0,1-1 0,0 1 0,0-1 0,-1 1 0,1 0 0,0-1 0,-1 1 0,1 0 0,0 0 0,-1 0 0,1 0 0,-1 0 0,0 1 0,1-1 0,-1 0 0,0 1 0,0-1 0,0 1 0,1 1 0,20 39 0,-13-23 0,0-3 0,12 23 0,38 50 0,-47-72 0,-1 1 0,-1 0 0,0 1 0,6 21 0,-1-8 0,1 0 0,3-2 0,0 0 0,42 47 0,-24-31 0,20 28 0,16 23 0,91 92 0,-69-97 0,-83-78-1365,-4-1-5461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9T09:04:05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1018 0 24575,'-28'49'0,"-2"-1"0,-36 45 0,23-33 0,-39 58 0,-116 154 0,182-254 0,0 0 0,-1-1 0,-1 0 0,-1-1 0,0-2 0,-40 25 0,20-15 0,2 2 0,-40 34 0,39-29 0,-68 44 0,94-69 0,1 1 0,0 0 0,0 1 0,1 0 0,0 0 0,0 1 0,1 1 0,-12 15 0,17-16 0,9-10 0,16-16 0,-12 10 0,36-17 338,-35 20-764,-1-1 0,1 0 1,13-9-1,-11 3-6400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9T09:05:11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9T09:05:47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9T09:05:52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9T09:05:52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9T09:06:08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9T09:03:54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24575,'2'0'0,"-1"1"0,1-1 0,0 1 0,0-1 0,-1 1 0,1 0 0,0-1 0,-1 1 0,1 0 0,0 0 0,-1 0 0,1 0 0,-1 0 0,0 1 0,1-1 0,-1 0 0,0 1 0,0-1 0,0 1 0,1 1 0,20 39 0,-13-23 0,0-3 0,12 23 0,38 50 0,-47-72 0,-1 1 0,-1 0 0,0 1 0,6 21 0,-1-8 0,1 0 0,3-2 0,0 0 0,42 47 0,-24-31 0,20 28 0,16 23 0,91 92 0,-69-97 0,-83-78-1365,-4-1-5461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9T09:04:05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1018 0 24575,'-28'49'0,"-2"-1"0,-36 45 0,23-33 0,-39 58 0,-116 154 0,182-254 0,0 0 0,-1-1 0,-1 0 0,-1-1 0,0-2 0,-40 25 0,20-15 0,2 2 0,-40 34 0,39-29 0,-68 44 0,94-69 0,1 1 0,0 0 0,0 1 0,1 0 0,0 0 0,0 1 0,1 1 0,-12 15 0,17-16 0,9-10 0,16-16 0,-12 10 0,36-17 338,-35 20-764,-1-1 0,1 0 1,13-9-1,-11 3-6400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321E2C-7936-424F-BA46-DECC4C36E01B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D7A52C-BCE1-462B-BCBD-4FCD8E34FD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50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inpsycho.ru/edu_all/edu_add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inpsycho.ru/edu_all/edu_add" TargetMode="External"/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inpsycho.ru/edu_all/edu_add" TargetMode="External"/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inpsycho.ru/edu_all/edu_add" TargetMode="External"/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inpsycho.ru/edu_all/edu_add" TargetMode="External"/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inpsycho.ru/edu_all/edu_add" TargetMode="External"/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4206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43453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Название программы. Название модуля и его описание. Описание и название должно соответствовать информации на сайте.</a:t>
            </a:r>
          </a:p>
          <a:p>
            <a:r>
              <a:rPr lang="ru-RU" dirty="0"/>
              <a:t>Ссылка на сайт МИП - </a:t>
            </a:r>
            <a:r>
              <a:rPr lang="en-US" dirty="0">
                <a:hlinkClick r:id="rId3"/>
              </a:rPr>
              <a:t>http://inpsycho.ru/edu_all/edu_add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45B5B-B908-4B2A-9712-C992E0C1CD75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48085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Название программы. Название модуля и его описание. Описание и название должно соответствовать информации на сайте.</a:t>
            </a:r>
          </a:p>
          <a:p>
            <a:r>
              <a:rPr lang="ru-RU" dirty="0"/>
              <a:t>Ссылка на сайт МИП - </a:t>
            </a:r>
            <a:r>
              <a:rPr lang="en-US" dirty="0">
                <a:hlinkClick r:id="rId3"/>
              </a:rPr>
              <a:t>http://inpsycho.ru/edu_all/edu_add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45B5B-B908-4B2A-9712-C992E0C1CD75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8764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Название программы. Название модуля и его описание. Описание и название должно соответствовать информации на сайте.</a:t>
            </a:r>
          </a:p>
          <a:p>
            <a:r>
              <a:rPr lang="ru-RU" dirty="0"/>
              <a:t>Ссылка на сайт МИП - </a:t>
            </a:r>
            <a:r>
              <a:rPr lang="en-US" dirty="0">
                <a:hlinkClick r:id="rId3"/>
              </a:rPr>
              <a:t>http://inpsycho.ru/edu_all/edu_add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45B5B-B908-4B2A-9712-C992E0C1CD75}" type="slidenum">
              <a:rPr lang="ru-RU" smtClean="0"/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4808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6">
            <a:extLst>
              <a:ext uri="{FF2B5EF4-FFF2-40B4-BE49-F238E27FC236}">
                <a16:creationId xmlns:a16="http://schemas.microsoft.com/office/drawing/2014/main" id="{222EAE63-557B-48E1-9057-4CDA2FC0831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9pPr>
          </a:lstStyle>
          <a:p>
            <a:fld id="{951A45CF-6061-4BA4-9A36-063C62D621E5}" type="slidenum">
              <a:rPr lang="ru-RU" altLang="ru-RU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65</a:t>
            </a:fld>
            <a:endParaRPr lang="ru-RU" altLang="ru-RU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635" name="Rectangle 1">
            <a:extLst>
              <a:ext uri="{FF2B5EF4-FFF2-40B4-BE49-F238E27FC236}">
                <a16:creationId xmlns:a16="http://schemas.microsoft.com/office/drawing/2014/main" id="{8CB5F92D-CAAA-48F7-BC98-78AD5FB9E8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6" name="Rectangle 2">
            <a:extLst>
              <a:ext uri="{FF2B5EF4-FFF2-40B4-BE49-F238E27FC236}">
                <a16:creationId xmlns:a16="http://schemas.microsoft.com/office/drawing/2014/main" id="{C30AC23A-E543-4558-8748-BFEEA4249F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u-RU" altLang="ru-RU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9781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6">
            <a:extLst>
              <a:ext uri="{FF2B5EF4-FFF2-40B4-BE49-F238E27FC236}">
                <a16:creationId xmlns:a16="http://schemas.microsoft.com/office/drawing/2014/main" id="{D58A9F50-BB8C-47A1-AE92-6040DCF66E9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9pPr>
          </a:lstStyle>
          <a:p>
            <a:fld id="{9FA16AE8-5E34-45F1-BB99-6CB7E9377B7F}" type="slidenum">
              <a:rPr lang="ru-RU" altLang="ru-RU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67</a:t>
            </a:fld>
            <a:endParaRPr lang="ru-RU" altLang="ru-RU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947" name="Rectangle 1">
            <a:extLst>
              <a:ext uri="{FF2B5EF4-FFF2-40B4-BE49-F238E27FC236}">
                <a16:creationId xmlns:a16="http://schemas.microsoft.com/office/drawing/2014/main" id="{A4907FA1-9112-4AA4-9029-49624485BE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8" name="Rectangle 2">
            <a:extLst>
              <a:ext uri="{FF2B5EF4-FFF2-40B4-BE49-F238E27FC236}">
                <a16:creationId xmlns:a16="http://schemas.microsoft.com/office/drawing/2014/main" id="{DCB3B01A-DB81-48D9-8ABB-3A1698697D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u-RU" altLang="ru-RU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6">
            <a:extLst>
              <a:ext uri="{FF2B5EF4-FFF2-40B4-BE49-F238E27FC236}">
                <a16:creationId xmlns:a16="http://schemas.microsoft.com/office/drawing/2014/main" id="{D58A9F50-BB8C-47A1-AE92-6040DCF66E9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9pPr>
          </a:lstStyle>
          <a:p>
            <a:fld id="{9FA16AE8-5E34-45F1-BB99-6CB7E9377B7F}" type="slidenum">
              <a:rPr lang="ru-RU" altLang="ru-RU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68</a:t>
            </a:fld>
            <a:endParaRPr lang="ru-RU" altLang="ru-RU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947" name="Rectangle 1">
            <a:extLst>
              <a:ext uri="{FF2B5EF4-FFF2-40B4-BE49-F238E27FC236}">
                <a16:creationId xmlns:a16="http://schemas.microsoft.com/office/drawing/2014/main" id="{A4907FA1-9112-4AA4-9029-49624485BE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8" name="Rectangle 2">
            <a:extLst>
              <a:ext uri="{FF2B5EF4-FFF2-40B4-BE49-F238E27FC236}">
                <a16:creationId xmlns:a16="http://schemas.microsoft.com/office/drawing/2014/main" id="{DCB3B01A-DB81-48D9-8ABB-3A1698697D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u-RU" altLang="ru-RU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689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Название программы. Название модуля и его описание. Описание и название должно соответствовать информации на сайте.</a:t>
            </a:r>
          </a:p>
          <a:p>
            <a:r>
              <a:rPr lang="ru-RU" dirty="0"/>
              <a:t>Ссылка на сайт МИП - </a:t>
            </a:r>
            <a:r>
              <a:rPr lang="en-US" dirty="0">
                <a:hlinkClick r:id="rId3"/>
              </a:rPr>
              <a:t>http://inpsycho.ru/edu_all/edu_add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45B5B-B908-4B2A-9712-C992E0C1CD75}" type="slidenum">
              <a:rPr lang="ru-RU" smtClean="0"/>
              <a:t>76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48085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Название программы. Название модуля и его описание. Описание и название должно соответствовать информации на сайте.</a:t>
            </a:r>
          </a:p>
          <a:p>
            <a:r>
              <a:rPr lang="ru-RU" dirty="0"/>
              <a:t>Ссылка на сайт МИП - </a:t>
            </a:r>
            <a:r>
              <a:rPr lang="en-US" dirty="0">
                <a:hlinkClick r:id="rId3"/>
              </a:rPr>
              <a:t>http://inpsycho.ru/edu_all/edu_add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45B5B-B908-4B2A-9712-C992E0C1CD75}" type="slidenum">
              <a:rPr lang="ru-RU" smtClean="0"/>
              <a:t>88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99952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Название программы. Название модуля и его описание. Описание и название должно соответствовать информации на сайте.</a:t>
            </a:r>
          </a:p>
          <a:p>
            <a:r>
              <a:rPr lang="ru-RU" dirty="0"/>
              <a:t>Ссылка на сайт МИП - </a:t>
            </a:r>
            <a:r>
              <a:rPr lang="en-US" dirty="0">
                <a:hlinkClick r:id="rId3"/>
              </a:rPr>
              <a:t>http://inpsycho.ru/edu_all/edu_add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45B5B-B908-4B2A-9712-C992E0C1CD75}" type="slidenum">
              <a:rPr lang="ru-RU" smtClean="0"/>
              <a:t>116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1782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5159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C:\Users\v.pospelov\Desktop\лого.png">
            <a:extLst>
              <a:ext uri="{FF2B5EF4-FFF2-40B4-BE49-F238E27FC236}">
                <a16:creationId xmlns:a16="http://schemas.microsoft.com/office/drawing/2014/main" id="{3C1CC6F6-A74A-4590-925B-583BE0F01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4" y="528427"/>
            <a:ext cx="3174449" cy="67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v.pospelov\Desktop\птт.png">
            <a:extLst>
              <a:ext uri="{FF2B5EF4-FFF2-40B4-BE49-F238E27FC236}">
                <a16:creationId xmlns:a16="http://schemas.microsoft.com/office/drawing/2014/main" id="{71C0F0C6-CDFB-43BB-A411-B81D4C87D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69" y="0"/>
            <a:ext cx="1216992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7976" y="1277888"/>
            <a:ext cx="10972800" cy="1143000"/>
          </a:xfrm>
        </p:spPr>
        <p:txBody>
          <a:bodyPr>
            <a:normAutofit/>
          </a:bodyPr>
          <a:lstStyle>
            <a:lvl1pPr algn="l">
              <a:defRPr lang="ru-RU" sz="3600" kern="1200" dirty="0">
                <a:solidFill>
                  <a:schemeClr val="tx1"/>
                </a:solidFill>
                <a:latin typeface="HeliosBlack" pitchFamily="82" charset="0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600" y="2348881"/>
            <a:ext cx="10670976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D110F-3F4E-48D9-B8AA-5D0E825AFDBA}" type="datetime1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4415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4987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D110F-3F4E-48D9-B8AA-5D0E825AFDBA}" type="datetime1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6501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D110F-3F4E-48D9-B8AA-5D0E825AFDBA}" type="datetime1">
              <a:rPr lang="en-US" smtClean="0"/>
              <a:pPr/>
              <a:t>7/11/2025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0171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BF60-6CC3-4B74-A60D-3486985E4346}" type="datetime1">
              <a:rPr lang="en-US" smtClean="0"/>
              <a:pPr/>
              <a:t>7/11/2025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1615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4818-984F-4759-BF72-A33BDC1963BD}" type="datetime1">
              <a:rPr lang="en-US" smtClean="0"/>
              <a:pPr/>
              <a:t>7/11/2025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8527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D110F-3F4E-48D9-B8AA-5D0E825AFDBA}" type="datetime1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810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6D55-EFBE-4F9B-8A5F-09D42CA22A9B}" type="datetime1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8777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D110F-3F4E-48D9-B8AA-5D0E825AFDBA}" type="datetime1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262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D110F-3F4E-48D9-B8AA-5D0E825AFDBA}" type="datetime1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7182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D110F-3F4E-48D9-B8AA-5D0E825AFDBA}" type="datetime1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2669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6" y="618519"/>
            <a:ext cx="10364451" cy="159617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3" y="2367094"/>
            <a:ext cx="5106027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4"/>
            <a:ext cx="5105400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D110F-3F4E-48D9-B8AA-5D0E825AFDBA}" type="datetime1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6268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D110F-3F4E-48D9-B8AA-5D0E825AFDBA}" type="datetime1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5901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5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0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5.png"/><Relationship Id="rId21" Type="http://schemas.openxmlformats.org/officeDocument/2006/relationships/image" Target="../media/image14.png"/><Relationship Id="rId7" Type="http://schemas.openxmlformats.org/officeDocument/2006/relationships/image" Target="../media/image7.png"/><Relationship Id="rId12" Type="http://schemas.openxmlformats.org/officeDocument/2006/relationships/customXml" Target="../ink/ink6.xm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9.png"/><Relationship Id="rId24" Type="http://schemas.openxmlformats.org/officeDocument/2006/relationships/customXml" Target="../ink/ink12.xml"/><Relationship Id="rId5" Type="http://schemas.openxmlformats.org/officeDocument/2006/relationships/image" Target="../media/image6.png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customXml" Target="../ink/ink14.xml"/><Relationship Id="rId10" Type="http://schemas.openxmlformats.org/officeDocument/2006/relationships/customXml" Target="../ink/ink5.xml"/><Relationship Id="rId19" Type="http://schemas.openxmlformats.org/officeDocument/2006/relationships/image" Target="../media/image13.png"/><Relationship Id="rId31" Type="http://schemas.openxmlformats.org/officeDocument/2006/relationships/image" Target="../media/image19.png"/><Relationship Id="rId4" Type="http://schemas.openxmlformats.org/officeDocument/2006/relationships/customXml" Target="../ink/ink2.xml"/><Relationship Id="rId9" Type="http://schemas.openxmlformats.org/officeDocument/2006/relationships/image" Target="../media/image8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7.png"/><Relationship Id="rId30" Type="http://schemas.openxmlformats.org/officeDocument/2006/relationships/customXml" Target="../ink/ink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1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0.png"/><Relationship Id="rId4" Type="http://schemas.openxmlformats.org/officeDocument/2006/relationships/customXml" Target="../ink/ink1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7" Type="http://schemas.openxmlformats.org/officeDocument/2006/relationships/customXml" Target="../ink/ink22.xml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21.xml"/><Relationship Id="rId5" Type="http://schemas.openxmlformats.org/officeDocument/2006/relationships/customXml" Target="../ink/ink20.xml"/><Relationship Id="rId4" Type="http://schemas.openxmlformats.org/officeDocument/2006/relationships/customXml" Target="../ink/ink1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0.png"/><Relationship Id="rId4" Type="http://schemas.openxmlformats.org/officeDocument/2006/relationships/customXml" Target="../ink/ink2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rpmandramatriangle.com/" TargetMode="External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hyperlink" Target="https://www.adme.ru/svoboda-psihologiya/treugolnik-karpmana-obyasnyaet-pochemu-tak-mnogo-lyudej-neschastlivy-vmeste-1694315/#image11305615" TargetMode="External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hyperlink" Target="https://www.adme.ru/svoboda-psihologiya/treugolnik-karpmana-obyasnyaet-pochemu-tak-mnogo-lyudej-neschastlivy-vmeste-1694315/#image11305665" TargetMode="External"/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hyperlink" Target="https://www.adme.ru/svoboda-psihologiya/treugolnik-karpmana-obyasnyaet-pochemu-tak-mnogo-lyudej-neschastlivy-vmeste-1694315/#image11305715" TargetMode="External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hyperlink" Target="https://coollib.com/b/225628/read" TargetMode="External"/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5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4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4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4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6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4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4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6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hyperlink" Target="http://ivona.bigmir.net/psihologia/relate/relationship/311635-Desjat--faktov-o-sovremennom-flirte--obol-sti-ego" TargetMode="External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6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6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81747-74CD-4A75-B313-6DE3E4D2A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13484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«Гендерная психология. Коучинг отношений»</a:t>
            </a:r>
            <a:endParaRPr lang="ru-RU" sz="4000" dirty="0">
              <a:solidFill>
                <a:srgbClr val="FF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8CF61F-85A9-49F9-93B8-0160A6AE9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3284985"/>
            <a:ext cx="8003232" cy="2841179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2818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">
            <p14:nvContentPartPr>
              <p14:cNvPr id="4" name="Рукописный ввод 3">
                <a:extLst>
                  <a:ext uri="{FF2B5EF4-FFF2-40B4-BE49-F238E27FC236}">
                    <a16:creationId xmlns:a16="http://schemas.microsoft.com/office/drawing/2014/main" id="{16CBE6C6-3B5F-4AE1-BC8D-5A3E42A1C756}"/>
                  </a:ext>
                </a:extLst>
              </p14:cNvPr>
              <p14:cNvContentPartPr/>
              <p14:nvPr/>
            </p14:nvContentPartPr>
            <p14:xfrm>
              <a:off x="4580546" y="1162353"/>
              <a:ext cx="360" cy="360"/>
            </p14:xfrm>
          </p:contentPart>
        </mc:Choice>
        <mc:Fallback>
          <p:pic>
            <p:nvPicPr>
              <p:cNvPr id="4" name="Рукописный ввод 3">
                <a:extLst>
                  <a:ext uri="{FF2B5EF4-FFF2-40B4-BE49-F238E27FC236}">
                    <a16:creationId xmlns:a16="http://schemas.microsoft.com/office/drawing/2014/main" id="{16CBE6C6-3B5F-4AE1-BC8D-5A3E42A1C7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62546" y="1054353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143604EF-B916-49C5-9E00-BD15D1F4E1B7}"/>
                  </a:ext>
                </a:extLst>
              </p14:cNvPr>
              <p14:cNvContentPartPr/>
              <p14:nvPr/>
            </p14:nvContentPartPr>
            <p14:xfrm>
              <a:off x="4989146" y="1668513"/>
              <a:ext cx="360" cy="360"/>
            </p14:xfrm>
          </p:contentPart>
        </mc:Choice>
        <mc:Fallback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143604EF-B916-49C5-9E00-BD15D1F4E1B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71506" y="1560873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220198C8-30E0-4E50-92B2-1633538CF7E7}"/>
                  </a:ext>
                </a:extLst>
              </p14:cNvPr>
              <p14:cNvContentPartPr/>
              <p14:nvPr/>
            </p14:nvContentPartPr>
            <p14:xfrm>
              <a:off x="2388866" y="549633"/>
              <a:ext cx="2745360" cy="4715280"/>
            </p14:xfrm>
          </p:contentPart>
        </mc:Choice>
        <mc:Fallback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220198C8-30E0-4E50-92B2-1633538CF7E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79866" y="540993"/>
                <a:ext cx="2763000" cy="473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3F0F097C-3A84-49B6-ADFE-A54184E9E765}"/>
              </a:ext>
            </a:extLst>
          </p:cNvPr>
          <p:cNvGrpSpPr/>
          <p:nvPr/>
        </p:nvGrpSpPr>
        <p:grpSpPr>
          <a:xfrm>
            <a:off x="2948306" y="638913"/>
            <a:ext cx="5694120" cy="5183640"/>
            <a:chOff x="2948306" y="638913"/>
            <a:chExt cx="5694120" cy="518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Рукописный ввод 8">
                  <a:extLst>
                    <a:ext uri="{FF2B5EF4-FFF2-40B4-BE49-F238E27FC236}">
                      <a16:creationId xmlns:a16="http://schemas.microsoft.com/office/drawing/2014/main" id="{D48281DA-6DC9-482D-880A-787CC873AFDE}"/>
                    </a:ext>
                  </a:extLst>
                </p14:cNvPr>
                <p14:cNvContentPartPr/>
                <p14:nvPr/>
              </p14:nvContentPartPr>
              <p14:xfrm>
                <a:off x="5494226" y="638913"/>
                <a:ext cx="3148200" cy="4718520"/>
              </p14:xfrm>
            </p:contentPart>
          </mc:Choice>
          <mc:Fallback>
            <p:pic>
              <p:nvPicPr>
                <p:cNvPr id="9" name="Рукописный ввод 8">
                  <a:extLst>
                    <a:ext uri="{FF2B5EF4-FFF2-40B4-BE49-F238E27FC236}">
                      <a16:creationId xmlns:a16="http://schemas.microsoft.com/office/drawing/2014/main" id="{D48281DA-6DC9-482D-880A-787CC873AFD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485586" y="629913"/>
                  <a:ext cx="3165840" cy="47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Рукописный ввод 9">
                  <a:extLst>
                    <a:ext uri="{FF2B5EF4-FFF2-40B4-BE49-F238E27FC236}">
                      <a16:creationId xmlns:a16="http://schemas.microsoft.com/office/drawing/2014/main" id="{E3BDE032-C884-49DD-AF6A-6B8DD4432F04}"/>
                    </a:ext>
                  </a:extLst>
                </p14:cNvPr>
                <p14:cNvContentPartPr/>
                <p14:nvPr/>
              </p14:nvContentPartPr>
              <p14:xfrm>
                <a:off x="2948306" y="4287153"/>
                <a:ext cx="1490760" cy="1270440"/>
              </p14:xfrm>
            </p:contentPart>
          </mc:Choice>
          <mc:Fallback>
            <p:pic>
              <p:nvPicPr>
                <p:cNvPr id="10" name="Рукописный ввод 9">
                  <a:extLst>
                    <a:ext uri="{FF2B5EF4-FFF2-40B4-BE49-F238E27FC236}">
                      <a16:creationId xmlns:a16="http://schemas.microsoft.com/office/drawing/2014/main" id="{E3BDE032-C884-49DD-AF6A-6B8DD4432F0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39666" y="4278513"/>
                  <a:ext cx="1508400" cy="12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Рукописный ввод 11">
                  <a:extLst>
                    <a:ext uri="{FF2B5EF4-FFF2-40B4-BE49-F238E27FC236}">
                      <a16:creationId xmlns:a16="http://schemas.microsoft.com/office/drawing/2014/main" id="{3F7F20C2-B642-4C5C-92AB-1D583913B21E}"/>
                    </a:ext>
                  </a:extLst>
                </p14:cNvPr>
                <p14:cNvContentPartPr/>
                <p14:nvPr/>
              </p14:nvContentPartPr>
              <p14:xfrm>
                <a:off x="4472546" y="4589193"/>
                <a:ext cx="534600" cy="1037520"/>
              </p14:xfrm>
            </p:contentPart>
          </mc:Choice>
          <mc:Fallback>
            <p:pic>
              <p:nvPicPr>
                <p:cNvPr id="12" name="Рукописный ввод 11">
                  <a:extLst>
                    <a:ext uri="{FF2B5EF4-FFF2-40B4-BE49-F238E27FC236}">
                      <a16:creationId xmlns:a16="http://schemas.microsoft.com/office/drawing/2014/main" id="{3F7F20C2-B642-4C5C-92AB-1D583913B21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463906" y="4580553"/>
                  <a:ext cx="552240" cy="10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4" name="Рукописный ввод 13">
                  <a:extLst>
                    <a:ext uri="{FF2B5EF4-FFF2-40B4-BE49-F238E27FC236}">
                      <a16:creationId xmlns:a16="http://schemas.microsoft.com/office/drawing/2014/main" id="{7393AFFF-3155-4CE1-BE5D-4F5ACA1AF96A}"/>
                    </a:ext>
                  </a:extLst>
                </p14:cNvPr>
                <p14:cNvContentPartPr/>
                <p14:nvPr/>
              </p14:nvContentPartPr>
              <p14:xfrm>
                <a:off x="5619506" y="4713753"/>
                <a:ext cx="1305720" cy="917280"/>
              </p14:xfrm>
            </p:contentPart>
          </mc:Choice>
          <mc:Fallback>
            <p:pic>
              <p:nvPicPr>
                <p:cNvPr id="14" name="Рукописный ввод 13">
                  <a:extLst>
                    <a:ext uri="{FF2B5EF4-FFF2-40B4-BE49-F238E27FC236}">
                      <a16:creationId xmlns:a16="http://schemas.microsoft.com/office/drawing/2014/main" id="{7393AFFF-3155-4CE1-BE5D-4F5ACA1AF96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610506" y="4704753"/>
                  <a:ext cx="1323360" cy="9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6" name="Рукописный ввод 15">
                  <a:extLst>
                    <a:ext uri="{FF2B5EF4-FFF2-40B4-BE49-F238E27FC236}">
                      <a16:creationId xmlns:a16="http://schemas.microsoft.com/office/drawing/2014/main" id="{745CA8AB-7162-4E12-8E06-8A8044F29A31}"/>
                    </a:ext>
                  </a:extLst>
                </p14:cNvPr>
                <p14:cNvContentPartPr/>
                <p14:nvPr/>
              </p14:nvContentPartPr>
              <p14:xfrm>
                <a:off x="6888866" y="4598193"/>
                <a:ext cx="1164960" cy="1224360"/>
              </p14:xfrm>
            </p:contentPart>
          </mc:Choice>
          <mc:Fallback>
            <p:pic>
              <p:nvPicPr>
                <p:cNvPr id="16" name="Рукописный ввод 15">
                  <a:extLst>
                    <a:ext uri="{FF2B5EF4-FFF2-40B4-BE49-F238E27FC236}">
                      <a16:creationId xmlns:a16="http://schemas.microsoft.com/office/drawing/2014/main" id="{745CA8AB-7162-4E12-8E06-8A8044F29A3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879866" y="4589553"/>
                  <a:ext cx="1182600" cy="124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8" name="Рукописный ввод 17">
                <a:extLst>
                  <a:ext uri="{FF2B5EF4-FFF2-40B4-BE49-F238E27FC236}">
                    <a16:creationId xmlns:a16="http://schemas.microsoft.com/office/drawing/2014/main" id="{F3AE7C95-4670-4F84-9AC6-4FDF4AF284BA}"/>
                  </a:ext>
                </a:extLst>
              </p14:cNvPr>
              <p14:cNvContentPartPr/>
              <p14:nvPr/>
            </p14:nvContentPartPr>
            <p14:xfrm>
              <a:off x="5699426" y="618393"/>
              <a:ext cx="1272600" cy="1033200"/>
            </p14:xfrm>
          </p:contentPart>
        </mc:Choice>
        <mc:Fallback>
          <p:pic>
            <p:nvPicPr>
              <p:cNvPr id="18" name="Рукописный ввод 17">
                <a:extLst>
                  <a:ext uri="{FF2B5EF4-FFF2-40B4-BE49-F238E27FC236}">
                    <a16:creationId xmlns:a16="http://schemas.microsoft.com/office/drawing/2014/main" id="{F3AE7C95-4670-4F84-9AC6-4FDF4AF284B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681426" y="582393"/>
                <a:ext cx="1308240" cy="11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9" name="Рукописный ввод 18">
                <a:extLst>
                  <a:ext uri="{FF2B5EF4-FFF2-40B4-BE49-F238E27FC236}">
                    <a16:creationId xmlns:a16="http://schemas.microsoft.com/office/drawing/2014/main" id="{E504C477-CB8F-4358-825B-07326A593E80}"/>
                  </a:ext>
                </a:extLst>
              </p14:cNvPr>
              <p14:cNvContentPartPr/>
              <p14:nvPr/>
            </p14:nvContentPartPr>
            <p14:xfrm>
              <a:off x="5974826" y="1516953"/>
              <a:ext cx="1461600" cy="498240"/>
            </p14:xfrm>
          </p:contentPart>
        </mc:Choice>
        <mc:Fallback>
          <p:pic>
            <p:nvPicPr>
              <p:cNvPr id="19" name="Рукописный ввод 18">
                <a:extLst>
                  <a:ext uri="{FF2B5EF4-FFF2-40B4-BE49-F238E27FC236}">
                    <a16:creationId xmlns:a16="http://schemas.microsoft.com/office/drawing/2014/main" id="{E504C477-CB8F-4358-825B-07326A593E8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956826" y="1480953"/>
                <a:ext cx="1497240" cy="56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0" name="Рукописный ввод 19">
                <a:extLst>
                  <a:ext uri="{FF2B5EF4-FFF2-40B4-BE49-F238E27FC236}">
                    <a16:creationId xmlns:a16="http://schemas.microsoft.com/office/drawing/2014/main" id="{37EFBA61-3D4D-4654-A3E7-0D0EC9ADB52B}"/>
                  </a:ext>
                </a:extLst>
              </p14:cNvPr>
              <p14:cNvContentPartPr/>
              <p14:nvPr/>
            </p14:nvContentPartPr>
            <p14:xfrm>
              <a:off x="2339186" y="313833"/>
              <a:ext cx="2685600" cy="991800"/>
            </p14:xfrm>
          </p:contentPart>
        </mc:Choice>
        <mc:Fallback>
          <p:pic>
            <p:nvPicPr>
              <p:cNvPr id="20" name="Рукописный ввод 19">
                <a:extLst>
                  <a:ext uri="{FF2B5EF4-FFF2-40B4-BE49-F238E27FC236}">
                    <a16:creationId xmlns:a16="http://schemas.microsoft.com/office/drawing/2014/main" id="{37EFBA61-3D4D-4654-A3E7-0D0EC9ADB52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321546" y="278193"/>
                <a:ext cx="2721240" cy="10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1" name="Рукописный ввод 20">
                <a:extLst>
                  <a:ext uri="{FF2B5EF4-FFF2-40B4-BE49-F238E27FC236}">
                    <a16:creationId xmlns:a16="http://schemas.microsoft.com/office/drawing/2014/main" id="{16FFCFE3-3C19-42DB-A7FF-8D75BB511AAD}"/>
                  </a:ext>
                </a:extLst>
              </p14:cNvPr>
              <p14:cNvContentPartPr/>
              <p14:nvPr/>
            </p14:nvContentPartPr>
            <p14:xfrm>
              <a:off x="3195266" y="212313"/>
              <a:ext cx="595440" cy="950400"/>
            </p14:xfrm>
          </p:contentPart>
        </mc:Choice>
        <mc:Fallback>
          <p:pic>
            <p:nvPicPr>
              <p:cNvPr id="21" name="Рукописный ввод 20">
                <a:extLst>
                  <a:ext uri="{FF2B5EF4-FFF2-40B4-BE49-F238E27FC236}">
                    <a16:creationId xmlns:a16="http://schemas.microsoft.com/office/drawing/2014/main" id="{16FFCFE3-3C19-42DB-A7FF-8D75BB511AA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177266" y="176313"/>
                <a:ext cx="631080" cy="10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2" name="Рукописный ввод 21">
                <a:extLst>
                  <a:ext uri="{FF2B5EF4-FFF2-40B4-BE49-F238E27FC236}">
                    <a16:creationId xmlns:a16="http://schemas.microsoft.com/office/drawing/2014/main" id="{2D288256-CD95-4B7F-B3ED-82FA2DBE7D12}"/>
                  </a:ext>
                </a:extLst>
              </p14:cNvPr>
              <p14:cNvContentPartPr/>
              <p14:nvPr/>
            </p14:nvContentPartPr>
            <p14:xfrm>
              <a:off x="1987826" y="1609833"/>
              <a:ext cx="2717280" cy="779040"/>
            </p14:xfrm>
          </p:contentPart>
        </mc:Choice>
        <mc:Fallback>
          <p:pic>
            <p:nvPicPr>
              <p:cNvPr id="22" name="Рукописный ввод 21">
                <a:extLst>
                  <a:ext uri="{FF2B5EF4-FFF2-40B4-BE49-F238E27FC236}">
                    <a16:creationId xmlns:a16="http://schemas.microsoft.com/office/drawing/2014/main" id="{2D288256-CD95-4B7F-B3ED-82FA2DBE7D1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970186" y="1574193"/>
                <a:ext cx="2752920" cy="85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3" name="Рукописный ввод 22">
                <a:extLst>
                  <a:ext uri="{FF2B5EF4-FFF2-40B4-BE49-F238E27FC236}">
                    <a16:creationId xmlns:a16="http://schemas.microsoft.com/office/drawing/2014/main" id="{F7B8B7D0-1B6D-434E-8682-18BB302D09CE}"/>
                  </a:ext>
                </a:extLst>
              </p14:cNvPr>
              <p14:cNvContentPartPr/>
              <p14:nvPr/>
            </p14:nvContentPartPr>
            <p14:xfrm>
              <a:off x="4320986" y="125553"/>
              <a:ext cx="721440" cy="424800"/>
            </p14:xfrm>
          </p:contentPart>
        </mc:Choice>
        <mc:Fallback>
          <p:pic>
            <p:nvPicPr>
              <p:cNvPr id="23" name="Рукописный ввод 22">
                <a:extLst>
                  <a:ext uri="{FF2B5EF4-FFF2-40B4-BE49-F238E27FC236}">
                    <a16:creationId xmlns:a16="http://schemas.microsoft.com/office/drawing/2014/main" id="{F7B8B7D0-1B6D-434E-8682-18BB302D09C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303346" y="89553"/>
                <a:ext cx="757080" cy="49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4" name="Рукописный ввод 23">
                <a:extLst>
                  <a:ext uri="{FF2B5EF4-FFF2-40B4-BE49-F238E27FC236}">
                    <a16:creationId xmlns:a16="http://schemas.microsoft.com/office/drawing/2014/main" id="{0D482C06-96CD-4FDC-AA6C-4CD4A28813C0}"/>
                  </a:ext>
                </a:extLst>
              </p14:cNvPr>
              <p14:cNvContentPartPr/>
              <p14:nvPr/>
            </p14:nvContentPartPr>
            <p14:xfrm>
              <a:off x="5415026" y="118713"/>
              <a:ext cx="629280" cy="431280"/>
            </p14:xfrm>
          </p:contentPart>
        </mc:Choice>
        <mc:Fallback>
          <p:pic>
            <p:nvPicPr>
              <p:cNvPr id="24" name="Рукописный ввод 23">
                <a:extLst>
                  <a:ext uri="{FF2B5EF4-FFF2-40B4-BE49-F238E27FC236}">
                    <a16:creationId xmlns:a16="http://schemas.microsoft.com/office/drawing/2014/main" id="{0D482C06-96CD-4FDC-AA6C-4CD4A28813C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397026" y="83073"/>
                <a:ext cx="664920" cy="50292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01696270-B140-4249-AE09-182AFEDE72B4}"/>
              </a:ext>
            </a:extLst>
          </p:cNvPr>
          <p:cNvSpPr txBox="1"/>
          <p:nvPr/>
        </p:nvSpPr>
        <p:spPr>
          <a:xfrm>
            <a:off x="731074" y="5023256"/>
            <a:ext cx="34026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Эмоциональный интеллект</a:t>
            </a:r>
          </a:p>
          <a:p>
            <a:r>
              <a:rPr lang="ru-RU" dirty="0"/>
              <a:t>Экологическое общение</a:t>
            </a:r>
          </a:p>
          <a:p>
            <a:r>
              <a:rPr lang="ru-RU" dirty="0"/>
              <a:t>Границы 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1F6F7B-1A84-46DB-A8A6-574CF0EDA9B9}"/>
              </a:ext>
            </a:extLst>
          </p:cNvPr>
          <p:cNvSpPr txBox="1"/>
          <p:nvPr/>
        </p:nvSpPr>
        <p:spPr>
          <a:xfrm>
            <a:off x="7079136" y="4946717"/>
            <a:ext cx="314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Базовые подходы и модели коучинга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D22B5A-8E61-40C3-9458-1CE59CD6754E}"/>
              </a:ext>
            </a:extLst>
          </p:cNvPr>
          <p:cNvSpPr txBox="1"/>
          <p:nvPr/>
        </p:nvSpPr>
        <p:spPr>
          <a:xfrm>
            <a:off x="4062605" y="4997666"/>
            <a:ext cx="28941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Биологические потребности</a:t>
            </a:r>
          </a:p>
          <a:p>
            <a:r>
              <a:rPr lang="ru-RU" dirty="0"/>
              <a:t>Темперамент</a:t>
            </a:r>
          </a:p>
          <a:p>
            <a:r>
              <a:rPr lang="ru-RU" dirty="0"/>
              <a:t>Типологии (Майерс-</a:t>
            </a:r>
            <a:r>
              <a:rPr lang="ru-RU" dirty="0" err="1"/>
              <a:t>Бриггс</a:t>
            </a:r>
            <a:r>
              <a:rPr lang="ru-RU" dirty="0"/>
              <a:t> и пр.)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6E254B-DC0A-4CDD-A61B-202EF80AB884}"/>
              </a:ext>
            </a:extLst>
          </p:cNvPr>
          <p:cNvSpPr txBox="1"/>
          <p:nvPr/>
        </p:nvSpPr>
        <p:spPr>
          <a:xfrm>
            <a:off x="4104870" y="3587238"/>
            <a:ext cx="2778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Самооценка</a:t>
            </a:r>
          </a:p>
          <a:p>
            <a:r>
              <a:rPr lang="ru-RU" dirty="0"/>
              <a:t>Созависимость Выгорание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908BC3-75AA-4CEE-8CCD-E84E316908BA}"/>
              </a:ext>
            </a:extLst>
          </p:cNvPr>
          <p:cNvSpPr txBox="1"/>
          <p:nvPr/>
        </p:nvSpPr>
        <p:spPr>
          <a:xfrm flipH="1">
            <a:off x="7515308" y="1581407"/>
            <a:ext cx="146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Семейные системы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4E62BA-26C8-4B3A-A9EA-F4F412F000A7}"/>
              </a:ext>
            </a:extLst>
          </p:cNvPr>
          <p:cNvSpPr txBox="1"/>
          <p:nvPr/>
        </p:nvSpPr>
        <p:spPr>
          <a:xfrm>
            <a:off x="1138435" y="166851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Флирт</a:t>
            </a:r>
          </a:p>
        </p:txBody>
      </p:sp>
    </p:spTree>
    <p:extLst>
      <p:ext uri="{BB962C8B-B14F-4D97-AF65-F5344CB8AC3E}">
        <p14:creationId xmlns:p14="http://schemas.microsoft.com/office/powerpoint/2010/main" val="2314306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63754-5905-4B69-BDF8-F10FB872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8276" y="306023"/>
            <a:ext cx="6120680" cy="504056"/>
          </a:xfrm>
        </p:spPr>
        <p:txBody>
          <a:bodyPr>
            <a:noAutofit/>
          </a:bodyPr>
          <a:lstStyle/>
          <a:p>
            <a:br>
              <a:rPr lang="ru-RU" sz="2400" dirty="0"/>
            </a:br>
            <a:r>
              <a:rPr lang="ru-RU" sz="2800" b="1" dirty="0"/>
              <a:t>Основные навыки Эмоционального интеллекта</a:t>
            </a:r>
            <a:br>
              <a:rPr lang="ru-RU" sz="2800" dirty="0"/>
            </a:br>
            <a:endParaRPr lang="ru-RU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2761" y="1196752"/>
            <a:ext cx="9891711" cy="5184576"/>
          </a:xfrm>
        </p:spPr>
        <p:txBody>
          <a:bodyPr>
            <a:normAutofit fontScale="62500" lnSpcReduction="20000"/>
          </a:bodyPr>
          <a:lstStyle/>
          <a:p>
            <a:r>
              <a:rPr lang="ru-RU" sz="3400" dirty="0"/>
              <a:t>Умение чувствовать – быть в контакте с эмоциями.</a:t>
            </a:r>
          </a:p>
          <a:p>
            <a:r>
              <a:rPr lang="ru-RU" sz="3400" dirty="0"/>
              <a:t>Иметь расширенный запас слов, обозначающих оттенки чувств.</a:t>
            </a:r>
          </a:p>
          <a:p>
            <a:r>
              <a:rPr lang="ru-RU" sz="3400" dirty="0"/>
              <a:t>Умение называть свои чувства.</a:t>
            </a:r>
          </a:p>
          <a:p>
            <a:r>
              <a:rPr lang="ru-RU" sz="3400" dirty="0"/>
              <a:t>Умение работать с чувствами, в том числе и выражать их экологично. </a:t>
            </a:r>
          </a:p>
          <a:p>
            <a:r>
              <a:rPr lang="ru-RU" sz="3400" dirty="0"/>
              <a:t>Умение понимать чувства других людей, не входя в «слияние» с ними.</a:t>
            </a:r>
          </a:p>
          <a:p>
            <a:r>
              <a:rPr lang="ru-RU" sz="3400" dirty="0"/>
              <a:t>Умение помогать другому человеку выразить свои чувства, «ПОНИМАТЬ» другого человека. Эмпатия. </a:t>
            </a:r>
          </a:p>
          <a:p>
            <a:r>
              <a:rPr lang="ru-RU" sz="3400" dirty="0"/>
              <a:t>Умение влиять на эмоциональное состояние другого человека. </a:t>
            </a:r>
          </a:p>
          <a:p>
            <a:r>
              <a:rPr lang="ru-RU" sz="3400" dirty="0"/>
              <a:t>Понимание, как мысли влияют на эмоциональное состояние. Умение контролировать мыслительный процесс. </a:t>
            </a:r>
          </a:p>
          <a:p>
            <a:r>
              <a:rPr lang="ru-RU" sz="3400" dirty="0"/>
              <a:t>Владение навыками неразрушительной экологической коммуникации. </a:t>
            </a:r>
          </a:p>
          <a:p>
            <a:r>
              <a:rPr lang="ru-RU" sz="3400" dirty="0"/>
              <a:t>Умение управлять своими чувствами. </a:t>
            </a:r>
          </a:p>
          <a:p>
            <a:r>
              <a:rPr lang="ru-RU" sz="3400" dirty="0"/>
              <a:t>Умение изменять свои эмоциональные состояния.</a:t>
            </a:r>
          </a:p>
          <a:p>
            <a:r>
              <a:rPr lang="ru-RU" sz="3400" dirty="0"/>
              <a:t>Понимание, благодаря контакту с чувствами, своих границ и границ других  людей.</a:t>
            </a:r>
          </a:p>
          <a:p>
            <a:r>
              <a:rPr lang="ru-RU" sz="3400" dirty="0"/>
              <a:t>Адекватная самооценка. 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3933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233CAE6-107A-4898-8035-A33281599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9127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Почему нам важно это знать?</a:t>
            </a:r>
            <a:br>
              <a:rPr lang="ru-RU" dirty="0"/>
            </a:br>
            <a:r>
              <a:rPr lang="ru-RU" sz="3200" b="1" dirty="0">
                <a:solidFill>
                  <a:srgbClr val="FF0000"/>
                </a:solidFill>
              </a:rPr>
              <a:t>(мотиватор к работе)!!!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320467D6-A81D-4612-B243-D1E3CF3327C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45024028"/>
              </p:ext>
            </p:extLst>
          </p:nvPr>
        </p:nvGraphicFramePr>
        <p:xfrm>
          <a:off x="186413" y="1167923"/>
          <a:ext cx="6299200" cy="5446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22308CC9-E96A-4072-8A3B-748E6E74D55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1149289"/>
              </p:ext>
            </p:extLst>
          </p:nvPr>
        </p:nvGraphicFramePr>
        <p:xfrm>
          <a:off x="6644640" y="2357120"/>
          <a:ext cx="3662680" cy="30680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29271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DAA277-206E-4C0F-BB33-B9EACEFE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136" y="635619"/>
            <a:ext cx="7082781" cy="1546425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Границы? О чем это?</a:t>
            </a:r>
            <a:br>
              <a:rPr lang="ru-RU" b="1" dirty="0"/>
            </a:br>
            <a:r>
              <a:rPr lang="ru-RU" sz="3100" b="1" dirty="0"/>
              <a:t>Или откуда у детей агрессия или замкнутость?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9B5803-ED3F-4996-9A33-31F0ED2E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9268" y="2318275"/>
            <a:ext cx="8323200" cy="3362400"/>
          </a:xfrm>
        </p:spPr>
        <p:txBody>
          <a:bodyPr>
            <a:normAutofit/>
          </a:bodyPr>
          <a:lstStyle/>
          <a:p>
            <a:r>
              <a:rPr lang="ru-RU" dirty="0"/>
              <a:t>Что происходит, если одно государство нарушает границы другого? </a:t>
            </a:r>
          </a:p>
          <a:p>
            <a:r>
              <a:rPr lang="ru-RU" dirty="0"/>
              <a:t>Почему важно чувствовать, когда мы нарушаем свободу другого человека: когда контроль, или опека и забота становятся чрезмерными. </a:t>
            </a:r>
          </a:p>
          <a:p>
            <a:r>
              <a:rPr lang="ru-RU" dirty="0"/>
              <a:t>А если нарушаются наши интересы – что мы ощущаем?</a:t>
            </a:r>
          </a:p>
        </p:txBody>
      </p:sp>
      <p:pic>
        <p:nvPicPr>
          <p:cNvPr id="4098" name="Picture 2" descr="https://img-fotki.yandex.ru/get/59023/199203331.129/0_15e1be_282121ea_ori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799" y="3157200"/>
            <a:ext cx="2523475" cy="252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1692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1040A5D3-82A2-4764-80AE-FE344F7859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08518" y="1646974"/>
          <a:ext cx="10580458" cy="3549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2" descr="C:\Users\Alina\Downloads\1-01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2194" y="268598"/>
            <a:ext cx="2107581" cy="118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9414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63754-5905-4B69-BDF8-F10FB872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590" y="573847"/>
            <a:ext cx="7099098" cy="54927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Что разграничивают границы?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506" y="1349298"/>
            <a:ext cx="9155494" cy="4827665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Территорию</a:t>
            </a:r>
          </a:p>
          <a:p>
            <a:r>
              <a:rPr lang="ru-RU" dirty="0"/>
              <a:t>Законы</a:t>
            </a:r>
          </a:p>
          <a:p>
            <a:r>
              <a:rPr lang="ru-RU" dirty="0"/>
              <a:t>Вероисповедание</a:t>
            </a:r>
          </a:p>
          <a:p>
            <a:r>
              <a:rPr lang="ru-RU" dirty="0"/>
              <a:t>Политическое устройство и взгляды</a:t>
            </a:r>
          </a:p>
          <a:p>
            <a:r>
              <a:rPr lang="ru-RU" dirty="0"/>
              <a:t>Традиции</a:t>
            </a:r>
          </a:p>
          <a:p>
            <a:r>
              <a:rPr lang="ru-RU" dirty="0"/>
              <a:t>Манеру одеваться</a:t>
            </a:r>
          </a:p>
          <a:p>
            <a:r>
              <a:rPr lang="ru-RU" dirty="0"/>
              <a:t>Культуру</a:t>
            </a:r>
          </a:p>
          <a:p>
            <a:r>
              <a:rPr lang="ru-RU" dirty="0"/>
              <a:t>Порядки</a:t>
            </a:r>
          </a:p>
          <a:p>
            <a:r>
              <a:rPr lang="ru-RU" dirty="0"/>
              <a:t>Язык </a:t>
            </a:r>
          </a:p>
          <a:p>
            <a:r>
              <a:rPr lang="ru-RU" dirty="0"/>
              <a:t>И многое другое</a:t>
            </a:r>
          </a:p>
          <a:p>
            <a:endParaRPr lang="ru-RU" dirty="0"/>
          </a:p>
        </p:txBody>
      </p:sp>
      <p:pic>
        <p:nvPicPr>
          <p:cNvPr id="1026" name="Picture 2" descr="Картинки по запросу &quot;ГРАНИЦЫ&quot;">
            <a:extLst>
              <a:ext uri="{FF2B5EF4-FFF2-40B4-BE49-F238E27FC236}">
                <a16:creationId xmlns:a16="http://schemas.microsoft.com/office/drawing/2014/main" id="{DF0B71DB-37F0-460A-BFD2-1976CA48D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4139" y="2881622"/>
            <a:ext cx="3489233" cy="2321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2800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63754-5905-4B69-BDF8-F10FB872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321" y="406399"/>
            <a:ext cx="8297411" cy="54927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Какие бывают Границы?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506" y="1371600"/>
            <a:ext cx="8816216" cy="4805363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/>
              <a:t>Территориальные. </a:t>
            </a:r>
            <a:r>
              <a:rPr lang="ru-RU" dirty="0"/>
              <a:t>Земельная собственность, двор, комната человека в квартире, его кровать и стол в общей комнате, шкаф, место в шкафу, компьютерное пространство и др. </a:t>
            </a:r>
          </a:p>
          <a:p>
            <a:r>
              <a:rPr lang="ru-RU" b="1" dirty="0"/>
              <a:t>Функциональные. </a:t>
            </a:r>
            <a:r>
              <a:rPr lang="ru-RU" dirty="0"/>
              <a:t>Различные договоренности, правила, уставы, функциональные обязанности, договоры, соглашения. </a:t>
            </a:r>
            <a:endParaRPr lang="ru-RU" b="1" dirty="0"/>
          </a:p>
          <a:p>
            <a:r>
              <a:rPr lang="ru-RU" b="1" dirty="0"/>
              <a:t>Личностные. </a:t>
            </a:r>
            <a:r>
              <a:rPr lang="ru-RU" dirty="0"/>
              <a:t>Темперамент, самочувствие, настроение, сложившиеся взгляды, убеждения, ценности. Наше право выбора, решения, желания и потребности. Наша самооценка, достоинства, таланты, способности. Наши чувства, ощущения, мысли, помыслы, мечты.</a:t>
            </a:r>
          </a:p>
          <a:p>
            <a:endParaRPr lang="ru-RU" b="1" dirty="0"/>
          </a:p>
          <a:p>
            <a:r>
              <a:rPr lang="ru-RU" dirty="0"/>
              <a:t>Границы – это то, то разграничивает МОЕ и НЕ МОЕ. </a:t>
            </a:r>
          </a:p>
          <a:p>
            <a:r>
              <a:rPr lang="ru-RU" dirty="0"/>
              <a:t>В нормальной ситуации границы установлены, обговорены, охраняются. </a:t>
            </a:r>
          </a:p>
          <a:p>
            <a:r>
              <a:rPr lang="ru-RU" b="1" dirty="0"/>
              <a:t>Нарушение их вызывает конфликт интересов.</a:t>
            </a:r>
          </a:p>
        </p:txBody>
      </p:sp>
      <p:pic>
        <p:nvPicPr>
          <p:cNvPr id="2050" name="Picture 2" descr="Картинки по запросу &quot;границы&quot;">
            <a:extLst>
              <a:ext uri="{FF2B5EF4-FFF2-40B4-BE49-F238E27FC236}">
                <a16:creationId xmlns:a16="http://schemas.microsoft.com/office/drawing/2014/main" id="{2378BE67-C8E2-4F31-AD57-F2864FF55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4694" y="3557239"/>
            <a:ext cx="2181285" cy="1729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6286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63754-5905-4B69-BDF8-F10FB872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9166" y="681037"/>
            <a:ext cx="8297411" cy="54927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Что разграничивают границы?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506" y="1123122"/>
            <a:ext cx="9155494" cy="5053841"/>
          </a:xfrm>
        </p:spPr>
        <p:txBody>
          <a:bodyPr>
            <a:normAutofit/>
          </a:bodyPr>
          <a:lstStyle/>
          <a:p>
            <a:r>
              <a:rPr lang="ru-RU" sz="4000" dirty="0"/>
              <a:t>И у него есть…</a:t>
            </a:r>
            <a:endParaRPr lang="ru-RU" dirty="0"/>
          </a:p>
          <a:p>
            <a:r>
              <a:rPr lang="ru-RU" dirty="0"/>
              <a:t>«своя территория». Это комната, или стол в комнате, шкаф, или полки в шкафу, компьютер, телефон и пр.</a:t>
            </a:r>
          </a:p>
          <a:p>
            <a:r>
              <a:rPr lang="ru-RU" dirty="0"/>
              <a:t>Есть определенные договоренности по работе, с друзьями, к компанией.</a:t>
            </a:r>
          </a:p>
          <a:p>
            <a:r>
              <a:rPr lang="ru-RU" dirty="0"/>
              <a:t>свои взгляды, свои вкусы в одежде, музыке, предпочтения в еде и др.</a:t>
            </a:r>
          </a:p>
          <a:p>
            <a:r>
              <a:rPr lang="ru-RU" dirty="0"/>
              <a:t>особенности темперамента и характера</a:t>
            </a:r>
          </a:p>
          <a:p>
            <a:r>
              <a:rPr lang="ru-RU" dirty="0"/>
              <a:t>друзья и любимое время препровождения.</a:t>
            </a:r>
          </a:p>
          <a:p>
            <a:r>
              <a:rPr lang="ru-RU" dirty="0"/>
              <a:t>свои желания и потребности…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6986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4F9267-2ADF-43B7-82AF-2CBA2FF7C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088" y="274712"/>
            <a:ext cx="4092605" cy="1143000"/>
          </a:xfrm>
        </p:spPr>
        <p:txBody>
          <a:bodyPr/>
          <a:lstStyle/>
          <a:p>
            <a:r>
              <a:rPr lang="ru-RU" dirty="0"/>
              <a:t>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A10099-9D55-48B5-9482-D55FEDFBD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413" y="1540358"/>
            <a:ext cx="10670976" cy="3777283"/>
          </a:xfrm>
        </p:spPr>
        <p:txBody>
          <a:bodyPr>
            <a:normAutofit fontScale="92500"/>
          </a:bodyPr>
          <a:lstStyle/>
          <a:p>
            <a:r>
              <a:rPr lang="ru-RU" dirty="0"/>
              <a:t>Объединитесь в пары. </a:t>
            </a:r>
          </a:p>
          <a:p>
            <a:r>
              <a:rPr lang="ru-RU" dirty="0"/>
              <a:t>Обсудите на личных примерах, как нарушают Ваши территориальные, функциональные и личностные границы партнеров или других близких людей. Какие чувства Вы испытывали при этом? </a:t>
            </a:r>
          </a:p>
          <a:p>
            <a:r>
              <a:rPr lang="ru-RU" dirty="0"/>
              <a:t>Обсудите на личных примерах, как Вы нарушаете территориальные, функциональные и личностные границы партнеров или других близких людей. </a:t>
            </a:r>
          </a:p>
          <a:p>
            <a:r>
              <a:rPr lang="ru-RU" dirty="0"/>
              <a:t>Какую обратную связь Вы от них получали?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7197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Картинки по запросу &quot;ГРАНИЦЫ&quot;">
            <a:extLst>
              <a:ext uri="{FF2B5EF4-FFF2-40B4-BE49-F238E27FC236}">
                <a16:creationId xmlns:a16="http://schemas.microsoft.com/office/drawing/2014/main" id="{DC8AF3D7-E625-4A51-8D7B-63794DC31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052" y="621610"/>
            <a:ext cx="7986198" cy="527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2159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/>
        </p:nvSpPr>
        <p:spPr>
          <a:xfrm>
            <a:off x="1090967" y="1610251"/>
            <a:ext cx="7383250" cy="4723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8" tIns="60922" rIns="121878" bIns="60922" anchor="t" anchorCtr="0">
            <a:noAutofit/>
          </a:bodyPr>
          <a:lstStyle/>
          <a:p>
            <a:pPr>
              <a:lnSpc>
                <a:spcPct val="120000"/>
              </a:lnSpc>
              <a:buClr>
                <a:srgbClr val="000000"/>
              </a:buClr>
              <a:buSzPts val="1800"/>
              <a:buFont typeface="Arial"/>
              <a:buNone/>
            </a:pPr>
            <a:endParaRPr kern="0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118F526-0A1E-485C-913D-3E1A8D6A4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323" y="315764"/>
            <a:ext cx="7107553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Как мы понимаем, что наши границы нарушаются?</a:t>
            </a:r>
          </a:p>
        </p:txBody>
      </p:sp>
      <p:sp>
        <p:nvSpPr>
          <p:cNvPr id="2" name="Объект 1">
            <a:extLst>
              <a:ext uri="{FF2B5EF4-FFF2-40B4-BE49-F238E27FC236}">
                <a16:creationId xmlns:a16="http://schemas.microsoft.com/office/drawing/2014/main" id="{D0A64A7F-81D2-4E43-BA36-267B0C2EC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58765"/>
            <a:ext cx="5196396" cy="4667400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  <a:buClr>
                <a:srgbClr val="000000"/>
              </a:buClr>
              <a:buSzPts val="1800"/>
              <a:buFont typeface="Arial"/>
              <a:buNone/>
            </a:pPr>
            <a:r>
              <a:rPr lang="ru-RU" sz="3200" b="1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Мы испытываем большое количество чувств из раздела ГНЕВ «Словаря чувств»</a:t>
            </a:r>
          </a:p>
          <a:p>
            <a:r>
              <a:rPr lang="ru-RU" dirty="0"/>
              <a:t>Досада</a:t>
            </a:r>
          </a:p>
          <a:p>
            <a:r>
              <a:rPr lang="ru-RU" dirty="0"/>
              <a:t>Недовольство</a:t>
            </a:r>
          </a:p>
          <a:p>
            <a:r>
              <a:rPr lang="ru-RU" dirty="0"/>
              <a:t>Раздражение</a:t>
            </a:r>
          </a:p>
          <a:p>
            <a:r>
              <a:rPr lang="ru-RU" dirty="0"/>
              <a:t>Сердит</a:t>
            </a:r>
          </a:p>
          <a:p>
            <a:r>
              <a:rPr lang="ru-RU" dirty="0"/>
              <a:t>Расстроен</a:t>
            </a:r>
          </a:p>
          <a:p>
            <a:r>
              <a:rPr lang="ru-RU" dirty="0"/>
              <a:t>Злость</a:t>
            </a:r>
          </a:p>
          <a:p>
            <a:r>
              <a:rPr lang="ru-RU" dirty="0"/>
              <a:t>Надоело</a:t>
            </a:r>
          </a:p>
          <a:p>
            <a:r>
              <a:rPr lang="ru-RU" dirty="0"/>
              <a:t>Сыть по горло</a:t>
            </a:r>
          </a:p>
          <a:p>
            <a:r>
              <a:rPr lang="ru-RU" dirty="0"/>
              <a:t>Возмущен</a:t>
            </a:r>
          </a:p>
          <a:p>
            <a:r>
              <a:rPr lang="ru-RU" dirty="0"/>
              <a:t>Разозлен</a:t>
            </a:r>
          </a:p>
          <a:p>
            <a:r>
              <a:rPr lang="ru-RU" dirty="0"/>
              <a:t>Киплю от гнева</a:t>
            </a:r>
          </a:p>
          <a:p>
            <a:r>
              <a:rPr lang="ru-RU" dirty="0"/>
              <a:t>Вне себя от злости</a:t>
            </a:r>
          </a:p>
          <a:p>
            <a:r>
              <a:rPr lang="ru-RU" dirty="0"/>
              <a:t>Пылаю гневом</a:t>
            </a:r>
          </a:p>
          <a:p>
            <a:r>
              <a:rPr lang="ru-RU" dirty="0"/>
              <a:t>Разъярен</a:t>
            </a:r>
          </a:p>
          <a:p>
            <a:r>
              <a:rPr lang="ru-RU" dirty="0"/>
              <a:t>Ярость</a:t>
            </a:r>
          </a:p>
          <a:p>
            <a:r>
              <a:rPr lang="ru-RU" dirty="0"/>
              <a:t>Бешенство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2301324-5704-4FBA-B5FA-1631ED9B2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512" y="2349875"/>
            <a:ext cx="4397847" cy="293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138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/>
        </p:nvSpPr>
        <p:spPr>
          <a:xfrm>
            <a:off x="490655" y="122662"/>
            <a:ext cx="7738946" cy="66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8" tIns="60922" rIns="121878" bIns="60922" anchor="t" anchorCtr="0">
            <a:noAutofit/>
          </a:bodyPr>
          <a:lstStyle/>
          <a:p>
            <a:pPr>
              <a:lnSpc>
                <a:spcPct val="120000"/>
              </a:lnSpc>
              <a:buClr>
                <a:srgbClr val="000000"/>
              </a:buClr>
              <a:buSzPts val="1800"/>
              <a:buFont typeface="Arial"/>
              <a:buNone/>
            </a:pPr>
            <a:r>
              <a:rPr lang="ru-RU" sz="2000" b="1" kern="0" dirty="0">
                <a:solidFill>
                  <a:srgbClr val="000000"/>
                </a:solidFill>
                <a:ea typeface="Cambria"/>
                <a:cs typeface="Cambria"/>
                <a:sym typeface="Cambria"/>
              </a:rPr>
              <a:t>Важно извиниться: </a:t>
            </a:r>
          </a:p>
          <a:p>
            <a:pPr>
              <a:lnSpc>
                <a:spcPct val="120000"/>
              </a:lnSpc>
              <a:buClr>
                <a:srgbClr val="000000"/>
              </a:buClr>
              <a:buSzPts val="1800"/>
              <a:buFont typeface="Arial"/>
              <a:buNone/>
            </a:pPr>
            <a:r>
              <a:rPr lang="ru-RU" sz="2000" kern="0" dirty="0">
                <a:solidFill>
                  <a:srgbClr val="000000"/>
                </a:solidFill>
                <a:ea typeface="Cambria"/>
                <a:cs typeface="Cambria"/>
                <a:sym typeface="Cambria"/>
              </a:rPr>
              <a:t>«Прости, я кажется задела тебя, я была неправа»</a:t>
            </a:r>
          </a:p>
          <a:p>
            <a:pPr>
              <a:lnSpc>
                <a:spcPct val="120000"/>
              </a:lnSpc>
              <a:buClr>
                <a:srgbClr val="000000"/>
              </a:buClr>
              <a:buSzPts val="1800"/>
              <a:buFont typeface="Arial"/>
              <a:buNone/>
            </a:pPr>
            <a:r>
              <a:rPr lang="ru-RU" sz="2000" kern="0" dirty="0">
                <a:solidFill>
                  <a:srgbClr val="000000"/>
                </a:solidFill>
                <a:ea typeface="Cambria"/>
                <a:cs typeface="Cambria"/>
                <a:sym typeface="Cambria"/>
              </a:rPr>
              <a:t>«Мне кажется, ты сейчас сердишься на меня, прости»</a:t>
            </a:r>
          </a:p>
          <a:p>
            <a:pPr>
              <a:lnSpc>
                <a:spcPct val="120000"/>
              </a:lnSpc>
              <a:buClr>
                <a:srgbClr val="000000"/>
              </a:buClr>
              <a:buSzPts val="1800"/>
              <a:buFont typeface="Arial"/>
              <a:buNone/>
            </a:pPr>
            <a:endParaRPr lang="ru-RU" sz="2000" kern="0" dirty="0">
              <a:solidFill>
                <a:srgbClr val="000000"/>
              </a:solidFill>
              <a:ea typeface="Cambria"/>
              <a:cs typeface="Cambria"/>
              <a:sym typeface="Cambria"/>
            </a:endParaRPr>
          </a:p>
          <a:p>
            <a:pPr>
              <a:lnSpc>
                <a:spcPct val="120000"/>
              </a:lnSpc>
              <a:buClr>
                <a:srgbClr val="000000"/>
              </a:buClr>
              <a:buSzPts val="1800"/>
              <a:buFont typeface="Arial"/>
              <a:buNone/>
            </a:pPr>
            <a:r>
              <a:rPr lang="ru-RU" sz="2000" b="1" kern="0" dirty="0">
                <a:solidFill>
                  <a:srgbClr val="000000"/>
                </a:solidFill>
                <a:ea typeface="Cambria"/>
                <a:cs typeface="Cambria"/>
                <a:sym typeface="Cambria"/>
              </a:rPr>
              <a:t>Используем фразы смягчающие конфликт: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/>
              <a:t>меня беспокоит..., и я хотела бы это с тобой прояснить, если ты не возражаешь;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/>
              <a:t>мне  кажется,  что   в   наших  отношения   возникло  напряжение.   Могли  бы   мы поговорить об этом?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/>
              <a:t>итак, я поняла, что ты смотришь на это таким образом..., а я думаю по этому...;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/>
              <a:t>мне кажется, что существует такая проблема и давай подумаем, как мы можем её разрешить;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/>
              <a:t>возможно, я что-то не так поняла, но мне кажется я старалась поступать правильно (по крайней мере у меня было такое намерение), и мне бы хотелось, чтобы мы...;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/>
              <a:t>я хотела бы, чтобы мы пришли к взаимному компромиссу. Возможно ли это?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ru-RU" dirty="0"/>
          </a:p>
          <a:p>
            <a:pPr>
              <a:lnSpc>
                <a:spcPct val="120000"/>
              </a:lnSpc>
              <a:buClr>
                <a:srgbClr val="000000"/>
              </a:buClr>
              <a:buSzPts val="1800"/>
              <a:buFont typeface="Arial"/>
              <a:buNone/>
            </a:pPr>
            <a:endParaRPr kern="0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1" name="Google Shape;61;p2"/>
          <p:cNvSpPr txBox="1">
            <a:spLocks noGrp="1"/>
          </p:cNvSpPr>
          <p:nvPr>
            <p:ph type="ctrTitle"/>
          </p:nvPr>
        </p:nvSpPr>
        <p:spPr>
          <a:xfrm>
            <a:off x="8229601" y="393968"/>
            <a:ext cx="3039682" cy="6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8" tIns="121878" rIns="121878" bIns="121878" anchor="b" anchorCtr="0">
            <a:noAutofit/>
          </a:bodyPr>
          <a:lstStyle/>
          <a:p>
            <a:r>
              <a:rPr lang="ru-RU" sz="2900" b="1" dirty="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Что еще?</a:t>
            </a:r>
            <a:endParaRPr sz="2900" b="1" dirty="0">
              <a:solidFill>
                <a:srgbClr val="C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077270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CD7249-540C-4591-BB0E-8856500F0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5266" y="160336"/>
            <a:ext cx="6264174" cy="1143000"/>
          </a:xfrm>
        </p:spPr>
        <p:txBody>
          <a:bodyPr>
            <a:normAutofit fontScale="90000"/>
          </a:bodyPr>
          <a:lstStyle/>
          <a:p>
            <a:r>
              <a:rPr lang="ru-RU" sz="3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Как мы устанавливаем границы. Как правильно это делать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D16B44-675C-49A5-AEEB-D7EAB3029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64817"/>
            <a:ext cx="10670976" cy="4661348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Реактивная фаза: 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учимся говорить «НЕТ». 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ктивно указываем на то, что  нравится, против чего он выступает и чего не станет делать. </a:t>
            </a:r>
          </a:p>
          <a:p>
            <a:pPr algn="just"/>
            <a:r>
              <a:rPr lang="ru-RU" sz="1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П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остреактивная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фаза. 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У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станавливаем новые взаимоотношения, основанные на любви к ближнему, как к самому себе. </a:t>
            </a:r>
          </a:p>
          <a:p>
            <a:pPr algn="just"/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Способы установления границ.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18034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Просто сказать НЕТ, в ответ на предложение, или просьбу. (УПРАЖНЕНИЕ)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18034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Устанавливать временные рамки общения.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18034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Рассказать о своих личностных границах близкому человеку.  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18034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Сказать о своих чувствах, используя «Я - сообщение», если человек нарушает границы и не замечает этого. После «Я – сообщения» можно попросить так не делать.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18034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Здоровая конфронтация (формулу см. в предыдущих материалах). 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18034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помощи правды о себе (ложь обозначает ваши границы не в том месте, где они находятся). 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18034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помощи последовательности (сказал – сделал). 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18034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помощи установления эмоциональной дистанции (если человек нарушает ваши границы, 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18034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 отстраниться от близкого общения с ним и вовлеченности в его дела).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1026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0952D6-D1C5-49A7-B245-2D94B6A1D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6489" y="248078"/>
            <a:ext cx="6255296" cy="1143000"/>
          </a:xfrm>
        </p:spPr>
        <p:txBody>
          <a:bodyPr>
            <a:normAutofit fontScale="90000"/>
          </a:bodyPr>
          <a:lstStyle/>
          <a:p>
            <a:r>
              <a:rPr lang="ru-RU" sz="3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Что мешает нам устанавливать и охранять свои границы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A890BE-42A6-4F8C-9942-2AF4FD81B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35837"/>
            <a:ext cx="9892683" cy="459032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Страх потерять любовь или оказаться отвергнутым.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algn="just"/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 Боязнь гнева со стороны окружающих.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algn="just"/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 Страх одиночества.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algn="just"/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 Страх нарушить сложившееся представление о любви.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Многие люди не могут сказать: «Я люблю тебя, но это делать не хочу». </a:t>
            </a:r>
          </a:p>
          <a:p>
            <a:pPr algn="just"/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5. Вина.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У многих людей уступчивость и готовность отдавать мотивируется виной. </a:t>
            </a:r>
          </a:p>
          <a:p>
            <a:pPr algn="just"/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6. Стремление «отдать долг».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Родители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говорили что-то вроде: «У меня никогда не было того, что есть у тебя», или: «Помни, ты получаешь не заслуженные тобой блага». </a:t>
            </a:r>
          </a:p>
          <a:p>
            <a:pPr algn="just"/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7. Хотим получать одобрение.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Угождаем символическому внутреннему родителю.</a:t>
            </a:r>
          </a:p>
          <a:p>
            <a:pPr algn="just"/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8. Предположение, что в случае их отказа другой человек может испытать чувство потери.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1968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7602C1-3426-4829-AC47-EEEC1D47C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6791" y="248079"/>
            <a:ext cx="7128769" cy="1143000"/>
          </a:xfrm>
        </p:spPr>
        <p:txBody>
          <a:bodyPr>
            <a:normAutofit fontScale="90000"/>
          </a:bodyPr>
          <a:lstStyle/>
          <a:p>
            <a:r>
              <a:rPr lang="ru-RU" sz="3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Пять способов сказать «да» и «нет»</a:t>
            </a:r>
            <a:b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3A38D9-D820-4A07-AC3A-2FA7443B7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77881"/>
            <a:ext cx="9484311" cy="4448284"/>
          </a:xfrm>
        </p:spPr>
        <p:txBody>
          <a:bodyPr/>
          <a:lstStyle/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 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Здоровое «да».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Ты просишь меня о чем-то, мне это нра­вится, и я говорю «да».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Нездоровое «да».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Ты просишь меня о чем-то, мне это не нравится, я говорю «да», но возмущаюсь/обижа­юсь при этом.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 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Здоровое «нет».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Ты просишь меня о чем-то, мне это не нравится, я говорю «нет» и нормально к этому от­ношусь.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 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Нездоровое «нет».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Ты просишь меня о чем-то, мне это не нравится, я говорю «нет» и чувствую себя очень виноватым.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Люди, которых не научили заботиться о том, чтобы уста­навливать здоровые границы, обычно реагируют так, как описано в пунктах № 2 и 4,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5. 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Влюбленность.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Ты просишь меня о чем-то, мне это не нравится, но поскольку я отношусь к тебе с любовью и заботой, то я говорю «да» и не возмущаюсь/не обижаюсь при этом.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1165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7E9FC3-0301-43FF-8034-6CCB057D1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871" y="275208"/>
            <a:ext cx="6583771" cy="2198945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800" b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Границы в отношениях с людьми</a:t>
            </a:r>
            <a:br>
              <a:rPr lang="ru-RU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b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Способность к поддержанию границ и построению близких отношений в сочетании определяет качество отношений с окружающими людьми. </a:t>
            </a:r>
            <a:br>
              <a:rPr lang="ru-RU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85C7F8E3-B7AB-48A7-B765-088EB0A5119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0931" y="2831978"/>
          <a:ext cx="8212162" cy="32851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54455">
                  <a:extLst>
                    <a:ext uri="{9D8B030D-6E8A-4147-A177-3AD203B41FA5}">
                      <a16:colId xmlns:a16="http://schemas.microsoft.com/office/drawing/2014/main" val="414319830"/>
                    </a:ext>
                  </a:extLst>
                </a:gridCol>
                <a:gridCol w="2656972">
                  <a:extLst>
                    <a:ext uri="{9D8B030D-6E8A-4147-A177-3AD203B41FA5}">
                      <a16:colId xmlns:a16="http://schemas.microsoft.com/office/drawing/2014/main" val="3202935662"/>
                    </a:ext>
                  </a:extLst>
                </a:gridCol>
                <a:gridCol w="2600735">
                  <a:extLst>
                    <a:ext uri="{9D8B030D-6E8A-4147-A177-3AD203B41FA5}">
                      <a16:colId xmlns:a16="http://schemas.microsoft.com/office/drawing/2014/main" val="2781173294"/>
                    </a:ext>
                  </a:extLst>
                </a:gridCol>
              </a:tblGrid>
              <a:tr h="114362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400" dirty="0">
                          <a:effectLst/>
                        </a:rPr>
                        <a:t> 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400" dirty="0">
                          <a:effectLst/>
                        </a:rPr>
                        <a:t>Строю близкие отношения с людьми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400">
                          <a:effectLst/>
                        </a:rPr>
                        <a:t>Не сближаюсь с людьми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28500926"/>
                  </a:ext>
                </a:extLst>
              </a:tr>
              <a:tr h="114362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400">
                          <a:effectLst/>
                        </a:rPr>
                        <a:t>Поддерживаю свои границы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Clr>
                          <a:srgbClr val="000000"/>
                        </a:buClr>
                        <a:buFont typeface="+mj-lt"/>
                        <a:buAutoNum type="arabicPeriod"/>
                      </a:pPr>
                      <a:r>
                        <a:rPr lang="ru-RU" sz="2400" dirty="0">
                          <a:effectLst/>
                        </a:rPr>
                        <a:t>Подлинно близкие отношения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400">
                          <a:effectLst/>
                        </a:rPr>
                        <a:t>3. Одиночество</a:t>
                      </a:r>
                      <a:endParaRPr lang="ru-RU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76563665"/>
                  </a:ext>
                </a:extLst>
              </a:tr>
              <a:tr h="55318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400" dirty="0">
                          <a:effectLst/>
                        </a:rPr>
                        <a:t>Не устанавливаю свои границы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Clr>
                          <a:srgbClr val="000000"/>
                        </a:buClr>
                        <a:buFont typeface="+mj-lt"/>
                        <a:buAutoNum type="arabicPeriod"/>
                      </a:pPr>
                      <a:r>
                        <a:rPr lang="ru-RU" sz="2400" dirty="0">
                          <a:effectLst/>
                        </a:rPr>
                        <a:t>Нездоровое слияние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400" dirty="0">
                          <a:effectLst/>
                        </a:rPr>
                        <a:t>4. Беспорядочность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85960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0505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v.pospelov\Desktop\лого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553" y="528427"/>
            <a:ext cx="2380837" cy="67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v.pospelov\Desktop\паттерн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911" y="144001"/>
            <a:ext cx="5319748" cy="450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233213" y="3429000"/>
            <a:ext cx="58961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FF0000"/>
                </a:solidFill>
                <a:latin typeface="HeliosBlack" pitchFamily="82" charset="0"/>
              </a:rPr>
              <a:t>Как формировать глубокие близкие отношения</a:t>
            </a:r>
          </a:p>
        </p:txBody>
      </p:sp>
    </p:spTree>
    <p:extLst>
      <p:ext uri="{BB962C8B-B14F-4D97-AF65-F5344CB8AC3E}">
        <p14:creationId xmlns:p14="http://schemas.microsoft.com/office/powerpoint/2010/main" val="403846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D8B30E-8A5D-4FC4-9585-76DE6D60B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043" y="356988"/>
            <a:ext cx="7684698" cy="749695"/>
          </a:xfrm>
        </p:spPr>
        <p:txBody>
          <a:bodyPr>
            <a:normAutofit/>
          </a:bodyPr>
          <a:lstStyle/>
          <a:p>
            <a:r>
              <a:rPr lang="ru-RU" sz="2800" b="1" dirty="0"/>
              <a:t>Выстраиваем близкие отношения на 4 уровнях</a:t>
            </a:r>
            <a:endParaRPr lang="ru-RU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BAD265-468C-4D38-AE15-0895E201C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20079"/>
            <a:ext cx="10670976" cy="4506086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Первый уровень. </a:t>
            </a:r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Это уровень обмена шаблонами. «Как дела?». «Сколько лет, сколько зим?». «Что новенького?» </a:t>
            </a:r>
          </a:p>
          <a:p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Уровень установления контакта с людьми, для начала беседы. </a:t>
            </a:r>
          </a:p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Второй уровень. 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Уровень обмена информацией, когда люди становятся полезными друг для друга. </a:t>
            </a:r>
          </a:p>
          <a:p>
            <a:r>
              <a:rPr lang="ru-RU" b="1" dirty="0">
                <a:solidFill>
                  <a:schemeClr val="accent6">
                    <a:lumMod val="75000"/>
                  </a:schemeClr>
                </a:solidFill>
              </a:rPr>
              <a:t>Третий уровень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- обмен мнениями. Интерес к мнению другого человека и возможность поделиться своим приводят людей к отношениям, построенным на взаимном интересе. </a:t>
            </a:r>
          </a:p>
          <a:p>
            <a:r>
              <a:rPr lang="ru-RU" b="1" dirty="0">
                <a:solidFill>
                  <a:srgbClr val="FF33CC"/>
                </a:solidFill>
              </a:rPr>
              <a:t>Четвертый уровень</a:t>
            </a:r>
            <a:r>
              <a:rPr lang="ru-RU" dirty="0">
                <a:solidFill>
                  <a:srgbClr val="FF33CC"/>
                </a:solidFill>
              </a:rPr>
              <a:t>. Обмен чувствами и эмоциями. Этот уровень, требует развитого эмоционального интеллекта. На этом уровне возможны отношения глубокой привязанности и любви.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9448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63754-5905-4B69-BDF8-F10FB872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3944" y="193849"/>
            <a:ext cx="6410739" cy="837510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/>
              <a:t>П</a:t>
            </a:r>
            <a:r>
              <a:rPr lang="ru-RU" sz="2800" b="1" dirty="0"/>
              <a:t>ервый уровень. Уровень обмена шаблонами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845" y="1470991"/>
            <a:ext cx="7986198" cy="4334386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Обычно: «Как дела?», «Что новенького?» </a:t>
            </a:r>
          </a:p>
          <a:p>
            <a:r>
              <a:rPr lang="ru-RU" dirty="0"/>
              <a:t>Формируем шаблоны общения для Первого уровня. Включаем творчество. </a:t>
            </a:r>
          </a:p>
          <a:p>
            <a:r>
              <a:rPr lang="ru-RU" b="1" dirty="0"/>
              <a:t>Утро. </a:t>
            </a:r>
            <a:r>
              <a:rPr lang="ru-RU" dirty="0"/>
              <a:t>«Милый, вот и утро! Я тебя люблю! А сырники (и пр.) любят тебя!» </a:t>
            </a:r>
          </a:p>
          <a:p>
            <a:r>
              <a:rPr lang="ru-RU" dirty="0"/>
              <a:t> «Мороз и солнце – день чудесный! Еще ты дремлешь друг прелестный?»</a:t>
            </a:r>
          </a:p>
          <a:p>
            <a:r>
              <a:rPr lang="ru-RU" b="1" dirty="0"/>
              <a:t>Расставание.</a:t>
            </a:r>
            <a:r>
              <a:rPr lang="ru-RU" dirty="0"/>
              <a:t> Например: «До встречи, мой Секс-символ!», «Люблю тебя моя красавица! Хорошего дня!» </a:t>
            </a:r>
          </a:p>
          <a:p>
            <a:r>
              <a:rPr lang="ru-RU" b="1" dirty="0"/>
              <a:t>Встреча. </a:t>
            </a:r>
            <a:r>
              <a:rPr lang="ru-RU" dirty="0"/>
              <a:t>«Привет, привет тебе, мой друг!» «Я всегда радуюсь, когда ты входишь в дом!» «Моя красавица вернулась! Тебя ждет неприготовленный ужин!</a:t>
            </a:r>
            <a:r>
              <a:rPr lang="ru-RU" dirty="0">
                <a:sym typeface="Wingdings" panose="05000000000000000000" pitchFamily="2" charset="2"/>
              </a:rPr>
              <a:t>)</a:t>
            </a:r>
            <a:endParaRPr lang="ru-RU" dirty="0"/>
          </a:p>
          <a:p>
            <a:r>
              <a:rPr lang="ru-RU" dirty="0"/>
              <a:t>И многое другое, что Ваш партнер услышит только у Вас дома. </a:t>
            </a:r>
          </a:p>
        </p:txBody>
      </p:sp>
    </p:spTree>
    <p:extLst>
      <p:ext uri="{BB962C8B-B14F-4D97-AF65-F5344CB8AC3E}">
        <p14:creationId xmlns:p14="http://schemas.microsoft.com/office/powerpoint/2010/main" val="14317636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EA93DC-359D-45D3-A006-834858D7C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Задание. Уровень обмена шаблонами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59F57D-64C3-48CB-BCBC-8A5741DEC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800" dirty="0"/>
              <a:t>Подумайте, какие шаблоны общения у Вас уже есть</a:t>
            </a:r>
          </a:p>
          <a:p>
            <a:r>
              <a:rPr lang="ru-RU" dirty="0"/>
              <a:t>Какие шаблоны общения Вы могли бы добавить, поделитесь друг с другом</a:t>
            </a:r>
          </a:p>
        </p:txBody>
      </p:sp>
    </p:spTree>
    <p:extLst>
      <p:ext uri="{BB962C8B-B14F-4D97-AF65-F5344CB8AC3E}">
        <p14:creationId xmlns:p14="http://schemas.microsoft.com/office/powerpoint/2010/main" val="25465596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63754-5905-4B69-BDF8-F10FB872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7252" y="272438"/>
            <a:ext cx="6006334" cy="83751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100" b="1" dirty="0"/>
              <a:t>Второй уровень. Уровень обмена информацией</a:t>
            </a:r>
            <a:br>
              <a:rPr lang="ru-RU" dirty="0">
                <a:solidFill>
                  <a:schemeClr val="accent1">
                    <a:lumMod val="75000"/>
                  </a:schemeClr>
                </a:solidFill>
              </a:rPr>
            </a:b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844" y="1328609"/>
            <a:ext cx="8121649" cy="4710683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С помощью обмена информацией партнеры могут становиться все более и более  полезными друг для друга.</a:t>
            </a:r>
          </a:p>
          <a:p>
            <a:r>
              <a:rPr lang="ru-RU" dirty="0"/>
              <a:t>Жене важно знать про новые темы в компьютере. Мужу важно понять, как работать с женщинами в коллективе. Мы можем стать важным источником информации, если…</a:t>
            </a:r>
          </a:p>
          <a:p>
            <a:r>
              <a:rPr lang="ru-RU" dirty="0"/>
              <a:t>Нам важно интересоваться информацией, которую в периоды открытости дает нам партнер. Реагировать ИСКЛЮЧИТЕЛЬНО экологично.</a:t>
            </a:r>
          </a:p>
          <a:p>
            <a:r>
              <a:rPr lang="ru-RU" dirty="0"/>
              <a:t>В отношениях со своими родителями, с мужем, с другими близкими важно показывать пример, как обмен информацией помогает жить и ориентироваться в мире. </a:t>
            </a:r>
          </a:p>
        </p:txBody>
      </p:sp>
    </p:spTree>
    <p:extLst>
      <p:ext uri="{BB962C8B-B14F-4D97-AF65-F5344CB8AC3E}">
        <p14:creationId xmlns:p14="http://schemas.microsoft.com/office/powerpoint/2010/main" val="16851817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63754-5905-4B69-BDF8-F10FB872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2680" y="140224"/>
            <a:ext cx="6218475" cy="837510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/>
              <a:t>Третий уровень. Обмен мнениями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845" y="1302027"/>
            <a:ext cx="8644305" cy="482047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Интерес к мнению партнера – важный навык развития близких отношений. </a:t>
            </a:r>
          </a:p>
          <a:p>
            <a:r>
              <a:rPr lang="ru-RU" dirty="0"/>
              <a:t>Здесь очень важно использовать навыки внимательного слушания: откладывать дела, телефон, полностью сосредотачиваться на партнере, когда он делится своими мнениями и оценками. </a:t>
            </a:r>
          </a:p>
          <a:p>
            <a:r>
              <a:rPr lang="ru-RU" dirty="0"/>
              <a:t>Максимально соблюдаем ПРАВИЛА уважительного общения. </a:t>
            </a:r>
          </a:p>
          <a:p>
            <a:r>
              <a:rPr lang="ru-RU" dirty="0"/>
              <a:t>Даже, если мы не согласны, всегда начинаем с фраз: «Интересное мнение…», «Это интересно, я вижу тебе это важно». </a:t>
            </a:r>
          </a:p>
          <a:p>
            <a:r>
              <a:rPr lang="ru-RU" dirty="0"/>
              <a:t>Всегда начинаем не с отрицания, а с присоединения. </a:t>
            </a:r>
          </a:p>
          <a:p>
            <a:r>
              <a:rPr lang="ru-RU" dirty="0"/>
              <a:t>«Мне интересен этот стиль, но не очень близок»</a:t>
            </a:r>
          </a:p>
          <a:p>
            <a:r>
              <a:rPr lang="ru-RU" dirty="0"/>
              <a:t>«Мне интересно это мнение, я хотел бы узнать побольше, потому, что у меня другой взгляд на эту тему»</a:t>
            </a:r>
          </a:p>
        </p:txBody>
      </p:sp>
    </p:spTree>
    <p:extLst>
      <p:ext uri="{BB962C8B-B14F-4D97-AF65-F5344CB8AC3E}">
        <p14:creationId xmlns:p14="http://schemas.microsoft.com/office/powerpoint/2010/main" val="1803089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63754-5905-4B69-BDF8-F10FB872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869" y="166037"/>
            <a:ext cx="6113259" cy="83751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800" b="1" dirty="0"/>
              <a:t>Четвертый уровень. Обмен чувствами и эмоциями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845" y="1339701"/>
            <a:ext cx="7122188" cy="4933507"/>
          </a:xfrm>
        </p:spPr>
        <p:txBody>
          <a:bodyPr>
            <a:normAutofit lnSpcReduction="10000"/>
          </a:bodyPr>
          <a:lstStyle/>
          <a:p>
            <a:r>
              <a:rPr lang="ru-RU" dirty="0">
                <a:solidFill>
                  <a:srgbClr val="FF0000"/>
                </a:solidFill>
              </a:rPr>
              <a:t>На этом уровне возможны отношения глубокой привязанности и любви. </a:t>
            </a:r>
          </a:p>
          <a:p>
            <a:r>
              <a:rPr lang="ru-RU" dirty="0"/>
              <a:t>Нам важно иметь собственный глубокий контакт с чувствами. Важно иметь широкий словарь чувств. </a:t>
            </a:r>
          </a:p>
          <a:p>
            <a:r>
              <a:rPr lang="ru-RU" dirty="0"/>
              <a:t>Важно уметь выражать свои чувства, говорить с партнером о них, передавать ему это знание. </a:t>
            </a:r>
          </a:p>
          <a:p>
            <a:r>
              <a:rPr lang="ru-RU" dirty="0"/>
              <a:t>Нам важно уметь распознавать чувства партнера, говорить с ним о них (</a:t>
            </a:r>
            <a:r>
              <a:rPr lang="ru-RU" dirty="0" err="1"/>
              <a:t>эмпатическиое</a:t>
            </a:r>
            <a:r>
              <a:rPr lang="ru-RU" dirty="0"/>
              <a:t> слушание).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96882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173FE6-D9A9-4D80-AEEE-44869EEF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6793" y="239200"/>
            <a:ext cx="7222962" cy="11430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0363A5-7816-4CD3-8179-E882895C0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33491"/>
            <a:ext cx="10096870" cy="4492673"/>
          </a:xfrm>
        </p:spPr>
        <p:txBody>
          <a:bodyPr/>
          <a:lstStyle/>
          <a:p>
            <a:r>
              <a:rPr lang="ru-RU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Почему часто люди испытывают трудности в построении отношений на уровне обмена чувствами?</a:t>
            </a:r>
          </a:p>
          <a:p>
            <a:r>
              <a:rPr lang="ru-RU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Люди не владеют своей эмоциональной сферой и, желая выстраивать отношения на глубоком эмоциональном уровне, обмениваются всеми эмоциональными состояниями, в которые они попадают. </a:t>
            </a:r>
          </a:p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Но далеко не все эмоциональные состояния партнёр или ребёнок может переносить, не разрушая свою эмоциональную сферу. </a:t>
            </a:r>
          </a:p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Поэтому для того, чтобы и сохранить глубину 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чувственных 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отношений и в то же время не наносить эмоциональных ран партнёру или ребёнку, мы вынуждены фильтровать свои эмоции и управлять ими.  </a:t>
            </a:r>
          </a:p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 именно  этого в среднем люди делать не умеют: ни фильтровать, ни управлять.  </a:t>
            </a:r>
          </a:p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Поэтому они порой просто запрещают себе обмениваться эмоциональными состояниями и чувствуют глубокое неудовлетворение. 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6977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A084CE-2720-4FF6-8A5E-CFAB89E78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8794"/>
            <a:ext cx="5877339" cy="1143000"/>
          </a:xfrm>
        </p:spPr>
        <p:txBody>
          <a:bodyPr>
            <a:normAutofit/>
          </a:bodyPr>
          <a:lstStyle/>
          <a:p>
            <a:r>
              <a:rPr lang="ru-RU" sz="3200" b="1" dirty="0"/>
              <a:t>Адекватная самооценка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042F5E-5492-4D34-B4DF-9090AD92851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24678" y="1142794"/>
            <a:ext cx="10058400" cy="5586412"/>
          </a:xfrm>
        </p:spPr>
        <p:txBody>
          <a:bodyPr>
            <a:noAutofit/>
          </a:bodyPr>
          <a:lstStyle/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МЫ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х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орошо себя чувствуем. Хорошо выглядим. 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Мы – эффективны и продуктивны.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Мы хорошо относимся к другим. Мы прекрасно относимся к себе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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Мы с радостью совершенствуемся и благодарим за указание на наши несовершенства. 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Мы открыты миру и людям. Мы адекватно относимся к собственным промахам и ошибкам.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«Я имею право на ошибки!»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 ТАКЖЕ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мы уже не супер опекающие и не супер контролеры. 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395275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Психологический портрет личности, структура личности Э. Берна - презентация  онлайн">
            <a:extLst>
              <a:ext uri="{FF2B5EF4-FFF2-40B4-BE49-F238E27FC236}">
                <a16:creationId xmlns:a16="http://schemas.microsoft.com/office/drawing/2014/main" id="{84E1B1FF-EE8F-489C-9908-02284E9C9530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1578" y="91161"/>
            <a:ext cx="7808843" cy="5847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02533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D4019C-6B72-4BC2-B8B1-B6BDD5835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5882" y="365125"/>
            <a:ext cx="6235697" cy="895504"/>
          </a:xfrm>
        </p:spPr>
        <p:txBody>
          <a:bodyPr>
            <a:normAutofit fontScale="90000"/>
          </a:bodyPr>
          <a:lstStyle/>
          <a:p>
            <a:r>
              <a:rPr lang="ru-RU" dirty="0"/>
              <a:t>Что мешает адекватной самооценке? </a:t>
            </a:r>
            <a:br>
              <a:rPr lang="ru-RU" dirty="0"/>
            </a:br>
            <a:r>
              <a:rPr lang="ru-RU" dirty="0"/>
              <a:t>Я не люблю себя?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B73F68-2324-4326-9CAD-D2EF7CDEC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259" y="2141537"/>
            <a:ext cx="10515600" cy="4058541"/>
          </a:xfrm>
        </p:spPr>
        <p:txBody>
          <a:bodyPr>
            <a:normAutofit fontScale="92500"/>
          </a:bodyPr>
          <a:lstStyle/>
          <a:p>
            <a:r>
              <a:rPr lang="ru-RU" dirty="0"/>
              <a:t>Уделять себе время</a:t>
            </a:r>
          </a:p>
          <a:p>
            <a:r>
              <a:rPr lang="ru-RU" dirty="0"/>
              <a:t>Реализовывать то, что хочется (поставить в план)</a:t>
            </a:r>
          </a:p>
          <a:p>
            <a:r>
              <a:rPr lang="ru-RU" dirty="0"/>
              <a:t>Заботиться о своем здоровье: СОН, ПИТАНИЕ, ВОДА, ФИЗ. НАГРУЗКА</a:t>
            </a:r>
          </a:p>
          <a:p>
            <a:r>
              <a:rPr lang="ru-RU" dirty="0"/>
              <a:t>Хвалить себя! </a:t>
            </a:r>
          </a:p>
          <a:p>
            <a:r>
              <a:rPr lang="ru-RU" dirty="0"/>
              <a:t>Маленькие подарки!</a:t>
            </a:r>
          </a:p>
          <a:p>
            <a:r>
              <a:rPr lang="ru-RU" dirty="0"/>
              <a:t>Утренний завтрак?</a:t>
            </a:r>
          </a:p>
          <a:p>
            <a:r>
              <a:rPr lang="ru-RU" dirty="0"/>
              <a:t>Любимая музыка, фильм.</a:t>
            </a:r>
          </a:p>
          <a:p>
            <a:r>
              <a:rPr lang="ru-RU" dirty="0"/>
              <a:t>Что еще?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86089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57A186-C734-4501-8E11-E16A79181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976" y="1277888"/>
            <a:ext cx="10567888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Упражнение. Составляем билль о моем праве любить себя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58F03F-D706-41BE-9C06-7FF162274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Отныне я имею право делать… и буду это делать!</a:t>
            </a:r>
          </a:p>
        </p:txBody>
      </p:sp>
      <p:pic>
        <p:nvPicPr>
          <p:cNvPr id="4" name="Picture 2" descr="Любовь к себе: результаты - Психологос">
            <a:extLst>
              <a:ext uri="{FF2B5EF4-FFF2-40B4-BE49-F238E27FC236}">
                <a16:creationId xmlns:a16="http://schemas.microsoft.com/office/drawing/2014/main" id="{F52EEE9C-C9AB-4D62-9C4F-51688DCA1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532" y="3014011"/>
            <a:ext cx="4266739" cy="287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63679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066C19-AA19-4525-964B-F98D78329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134" y="239201"/>
            <a:ext cx="5140172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Что еще мешает </a:t>
            </a:r>
            <a:br>
              <a:rPr lang="ru-RU" dirty="0"/>
            </a:br>
            <a:r>
              <a:rPr lang="ru-RU" dirty="0"/>
              <a:t>адекватной самооценке?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74ADB5-EA36-4AA3-9B6C-6EC4B5D54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188" y="1569998"/>
            <a:ext cx="8915400" cy="4780720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/>
              <a:t>Сосредоточение на себе. Трудно выходить в «Карту мира»  другого человека. </a:t>
            </a:r>
          </a:p>
          <a:p>
            <a:r>
              <a:rPr lang="ru-RU" b="1" dirty="0"/>
              <a:t>УПРАЖНЕНИЕ</a:t>
            </a:r>
          </a:p>
          <a:p>
            <a:r>
              <a:rPr lang="ru-RU" dirty="0"/>
              <a:t>Когда Вы возмущаетесь поведением, видом, поступками другого человека, попробуйте ответить себе на такие вопросы:</a:t>
            </a:r>
            <a:br>
              <a:rPr lang="ru-RU" dirty="0"/>
            </a:br>
            <a:r>
              <a:rPr lang="ru-RU" dirty="0"/>
              <a:t>Почему этот человек ведет себя именно так?</a:t>
            </a:r>
          </a:p>
          <a:p>
            <a:r>
              <a:rPr lang="ru-RU" dirty="0"/>
              <a:t>Какие у него сейчас мысли? Что он чувствует и почему?</a:t>
            </a:r>
          </a:p>
          <a:p>
            <a:r>
              <a:rPr lang="ru-RU" dirty="0"/>
              <a:t>Как бы Вы поступили на его месте? </a:t>
            </a:r>
          </a:p>
          <a:p>
            <a:r>
              <a:rPr lang="ru-RU" dirty="0"/>
              <a:t>Если Вы считаете, что поступили бы по-другому, то какие обстоятельства Вашей жизни, как Вам кажется, способствуют (способствовали) этому. </a:t>
            </a:r>
          </a:p>
          <a:p>
            <a:r>
              <a:rPr lang="ru-RU" dirty="0"/>
              <a:t>Чем чаще Вы будете задаваться такими вопросами, тем скорее Вы сможете переключаться даже в острых ситуациях на ситуацию другого человека. </a:t>
            </a:r>
          </a:p>
          <a:p>
            <a:r>
              <a:rPr lang="ru-RU" b="1" dirty="0"/>
              <a:t> Объединитесь в пары, вспомните ситуацию, где Вы не могли учитывать карту реальности другого человека и постарайтесь с помощью вопросов партнера по упражнению увидеть ситуацию его глазами.  </a:t>
            </a:r>
          </a:p>
        </p:txBody>
      </p:sp>
    </p:spTree>
    <p:extLst>
      <p:ext uri="{BB962C8B-B14F-4D97-AF65-F5344CB8AC3E}">
        <p14:creationId xmlns:p14="http://schemas.microsoft.com/office/powerpoint/2010/main" val="13219765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7D27A4-1B48-47E2-9B0A-73D9E5BDC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4110361" y="467138"/>
            <a:ext cx="7394251" cy="722470"/>
          </a:xfrm>
        </p:spPr>
        <p:txBody>
          <a:bodyPr>
            <a:normAutofit fontScale="90000"/>
          </a:bodyPr>
          <a:lstStyle/>
          <a:p>
            <a:r>
              <a:rPr lang="ru-RU" dirty="0"/>
              <a:t>Мы зависим от мнения других людей.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8E34B6-A9AA-45CA-9E6C-15AE772B4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768" y="1351527"/>
            <a:ext cx="9410330" cy="4640900"/>
          </a:xfrm>
        </p:spPr>
        <p:txBody>
          <a:bodyPr>
            <a:normAutofit fontScale="85000" lnSpcReduction="20000"/>
          </a:bodyPr>
          <a:lstStyle/>
          <a:p>
            <a:r>
              <a:rPr lang="ru-RU" sz="2600" b="1" dirty="0"/>
              <a:t>УПРАЖНЕНИЕ</a:t>
            </a:r>
          </a:p>
          <a:p>
            <a:r>
              <a:rPr lang="ru-RU" sz="2600" dirty="0"/>
              <a:t>Прежде всего важно ловить себя на моментах, когда нам понятно, что сейчас я слишком близко принимаю к сердцу мнение того или иного человека. </a:t>
            </a:r>
          </a:p>
          <a:p>
            <a:r>
              <a:rPr lang="ru-RU" sz="2600" dirty="0"/>
              <a:t>Лучше сразу ОБРАБОТАТЬ этот момент. В крайнем случае запомнить и обработать в спокойное время. </a:t>
            </a:r>
          </a:p>
          <a:p>
            <a:r>
              <a:rPr lang="ru-RU" sz="2600" dirty="0"/>
              <a:t>Важно задать вопросы: почему меня волнует мнение этого человека? ЗАПИСЫВАЕМ ПРИЧИНЫ.</a:t>
            </a:r>
            <a:br>
              <a:rPr lang="ru-RU" sz="2600" dirty="0"/>
            </a:br>
            <a:r>
              <a:rPr lang="ru-RU" sz="2600" dirty="0"/>
              <a:t>Эти причины достаточно важны, существенны, чтобы я отказывал(ась)</a:t>
            </a:r>
            <a:r>
              <a:rPr lang="ru-RU" sz="2600" dirty="0" err="1"/>
              <a:t>ся</a:t>
            </a:r>
            <a:r>
              <a:rPr lang="ru-RU" sz="2600" dirty="0"/>
              <a:t> от того, что я хотела и что мне важно? Какие выгоды я от этого имею?</a:t>
            </a:r>
          </a:p>
          <a:p>
            <a:r>
              <a:rPr lang="ru-RU" sz="2600" dirty="0"/>
              <a:t>Если мы решили, что это не важные причины, </a:t>
            </a:r>
          </a:p>
          <a:p>
            <a:r>
              <a:rPr lang="ru-RU" sz="2600" dirty="0"/>
              <a:t>делаем упражнение </a:t>
            </a:r>
            <a:r>
              <a:rPr lang="ru-RU" sz="2600" b="1" dirty="0"/>
              <a:t>«А! ПЛЕВАТЬ!»</a:t>
            </a:r>
          </a:p>
          <a:p>
            <a:r>
              <a:rPr lang="ru-RU" sz="2400" b="1" dirty="0"/>
              <a:t> Объединитесь в пары, вспомните ситуацию, </a:t>
            </a:r>
            <a:r>
              <a:rPr lang="ru-RU" sz="2600" b="1" dirty="0"/>
              <a:t>где Вы были зависимы  от чужого мнения. Обсудите ее с партнером, сделайте выводы.</a:t>
            </a:r>
          </a:p>
        </p:txBody>
      </p:sp>
    </p:spTree>
    <p:extLst>
      <p:ext uri="{BB962C8B-B14F-4D97-AF65-F5344CB8AC3E}">
        <p14:creationId xmlns:p14="http://schemas.microsoft.com/office/powerpoint/2010/main" val="23416413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41CC48-ADD6-4DEE-A56D-903872BCA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9250" y="266868"/>
            <a:ext cx="7098674" cy="1143000"/>
          </a:xfrm>
        </p:spPr>
        <p:txBody>
          <a:bodyPr/>
          <a:lstStyle/>
          <a:p>
            <a:r>
              <a:rPr lang="ru-RU" dirty="0"/>
              <a:t>Я боюсь делать ошибки.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0C6C68-E0E2-45F9-9217-E3B898973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35837"/>
            <a:ext cx="9439922" cy="3799643"/>
          </a:xfrm>
        </p:spPr>
        <p:txBody>
          <a:bodyPr/>
          <a:lstStyle/>
          <a:p>
            <a:r>
              <a:rPr lang="ru-RU" dirty="0"/>
              <a:t>ОСОЗНАЕМ. Что самое страшное произойдет, если я сделаю эту ошибку? Как я смогу с этим справиться? </a:t>
            </a:r>
          </a:p>
          <a:p>
            <a:r>
              <a:rPr lang="ru-RU" dirty="0"/>
              <a:t>«Предупрежден, значит вооружен!»</a:t>
            </a:r>
          </a:p>
          <a:p>
            <a:r>
              <a:rPr lang="ru-RU" dirty="0"/>
              <a:t>Аффирмации. Работа с бессознательным.</a:t>
            </a:r>
          </a:p>
          <a:p>
            <a:r>
              <a:rPr lang="ru-RU" b="1" dirty="0"/>
              <a:t>Вспомните случаи, когда страх ошибки мешал Вам достигать результата, о</a:t>
            </a:r>
            <a:r>
              <a:rPr lang="ru-RU" sz="2800" b="1" dirty="0"/>
              <a:t>бсудите ее с партнером, сделайте выводы.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60037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E8C480-DD81-4C31-934B-E9FA25443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7713" y="363488"/>
            <a:ext cx="6592648" cy="1143000"/>
          </a:xfrm>
        </p:spPr>
        <p:txBody>
          <a:bodyPr>
            <a:normAutofit/>
          </a:bodyPr>
          <a:lstStyle/>
          <a:p>
            <a:r>
              <a:rPr lang="ru-RU" dirty="0"/>
              <a:t>Я ненавижу критику.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0F3904-A441-4579-8A4C-CCA0BC736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Работа с манипулятивной критикой. </a:t>
            </a:r>
          </a:p>
        </p:txBody>
      </p:sp>
    </p:spTree>
    <p:extLst>
      <p:ext uri="{BB962C8B-B14F-4D97-AF65-F5344CB8AC3E}">
        <p14:creationId xmlns:p14="http://schemas.microsoft.com/office/powerpoint/2010/main" val="27213584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160BBA-8020-44E4-AC5F-87CEE6E98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623" y="301345"/>
            <a:ext cx="5127832" cy="11430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46536C-2B8E-4C29-8201-BDFEAB1B7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169" y="1789588"/>
            <a:ext cx="10670976" cy="3777283"/>
          </a:xfrm>
        </p:spPr>
        <p:txBody>
          <a:bodyPr>
            <a:normAutofit/>
          </a:bodyPr>
          <a:lstStyle/>
          <a:p>
            <a:r>
              <a:rPr lang="ru-RU" dirty="0"/>
              <a:t>Я объективно понимаю, что люди вокруг меня более красивы, развиты и пр. Сравниваю не в свою пользу. (Разбираюсь, почему я сравниваю и почему меня это расстраивает)</a:t>
            </a:r>
          </a:p>
          <a:p>
            <a:endParaRPr lang="ru-RU" dirty="0"/>
          </a:p>
          <a:p>
            <a:r>
              <a:rPr lang="ru-RU" dirty="0"/>
              <a:t>Меня внезапно предали, бросили, уволили и пр. </a:t>
            </a:r>
          </a:p>
          <a:p>
            <a:r>
              <a:rPr lang="ru-RU" b="1" dirty="0"/>
              <a:t>В БАЗЕ </a:t>
            </a:r>
            <a:r>
              <a:rPr lang="ru-RU" dirty="0"/>
              <a:t>ДЛЯ РАБОТЫ С САМООЦЕНКОЙ ОЧЕНЬ ВАЖНО </a:t>
            </a:r>
            <a:r>
              <a:rPr lang="ru-RU" b="1" dirty="0"/>
              <a:t>УМЕТЬ РАБОТАТЬ С ЧУВСТВАМИ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51145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63754-5905-4B69-BDF8-F10FB872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0556" y="698325"/>
            <a:ext cx="6858002" cy="83751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Как меняется восприятие окружающего мира</a:t>
            </a:r>
            <a:br>
              <a:rPr lang="ru-RU" dirty="0"/>
            </a:b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844" y="1761401"/>
            <a:ext cx="7986198" cy="42340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Адекватная самооценка дает возможность нам: </a:t>
            </a:r>
          </a:p>
          <a:p>
            <a:pPr marL="0" indent="0">
              <a:buNone/>
            </a:pPr>
            <a:r>
              <a:rPr lang="ru-RU" dirty="0"/>
              <a:t> - </a:t>
            </a:r>
            <a:r>
              <a:rPr lang="ru-RU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СОчувствовать</a:t>
            </a:r>
            <a:r>
              <a:rPr lang="ru-RU" dirty="0"/>
              <a:t> тем, кто поступает зло, плохо, неадекватно ( </a:t>
            </a:r>
            <a:r>
              <a:rPr lang="ru-RU" dirty="0">
                <a:solidFill>
                  <a:srgbClr val="FF0000"/>
                </a:solidFill>
              </a:rPr>
              <a:t>а не бояться, не мстить, не унывать</a:t>
            </a:r>
            <a:r>
              <a:rPr lang="ru-RU" dirty="0"/>
              <a:t>)</a:t>
            </a:r>
          </a:p>
          <a:p>
            <a:pPr marL="0" indent="0">
              <a:buNone/>
            </a:pPr>
            <a:r>
              <a:rPr lang="ru-RU" b="1" i="1" dirty="0"/>
              <a:t> Не он плохой, а ему плохо.</a:t>
            </a:r>
          </a:p>
          <a:p>
            <a:pPr marL="0" indent="0">
              <a:buNone/>
            </a:pPr>
            <a:r>
              <a:rPr lang="ru-RU" dirty="0"/>
              <a:t>- </a:t>
            </a:r>
            <a:r>
              <a:rPr lang="ru-RU" b="1" dirty="0" err="1"/>
              <a:t>СОрадоваться</a:t>
            </a:r>
            <a:r>
              <a:rPr lang="ru-RU" dirty="0"/>
              <a:t>  тому, что хорошо и у него и у других ( </a:t>
            </a:r>
            <a:r>
              <a:rPr lang="ru-RU" dirty="0">
                <a:solidFill>
                  <a:srgbClr val="FF0000"/>
                </a:solidFill>
              </a:rPr>
              <a:t>а не завидовать и бояться «сглаза»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77876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02314" y="300111"/>
            <a:ext cx="4043551" cy="740898"/>
          </a:xfrm>
        </p:spPr>
        <p:txBody>
          <a:bodyPr/>
          <a:lstStyle/>
          <a:p>
            <a:r>
              <a:rPr lang="ru-RU" dirty="0"/>
              <a:t>Манипуляция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77334" y="1209822"/>
            <a:ext cx="8596668" cy="4831541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Манипуляция </a:t>
            </a:r>
            <a:r>
              <a:rPr lang="ru-RU" dirty="0"/>
              <a:t>- Это психологическое воздействие (влияние) на человека, с целью получить желаемое так, чтобы он сделал это сам, вроде бы по своей воле.</a:t>
            </a:r>
          </a:p>
          <a:p>
            <a:endParaRPr lang="ru-RU" dirty="0"/>
          </a:p>
          <a:p>
            <a:r>
              <a:rPr lang="ru-RU" dirty="0"/>
              <a:t> Как еще мы можем влиять?</a:t>
            </a:r>
          </a:p>
          <a:p>
            <a:r>
              <a:rPr lang="ru-RU" b="1" dirty="0"/>
              <a:t>Экологично: </a:t>
            </a:r>
            <a:r>
              <a:rPr lang="ru-RU" dirty="0"/>
              <a:t>договариваемся и  аргументируем. Это бережное общение. </a:t>
            </a:r>
          </a:p>
          <a:p>
            <a:r>
              <a:rPr lang="ru-RU" b="1" dirty="0"/>
              <a:t>Директивно: </a:t>
            </a:r>
            <a:r>
              <a:rPr lang="ru-RU" dirty="0"/>
              <a:t>открытое принуждение, команды.</a:t>
            </a:r>
          </a:p>
          <a:p>
            <a:r>
              <a:rPr lang="ru-RU" b="1" dirty="0"/>
              <a:t>Манипуляция занимает срединное положение</a:t>
            </a:r>
            <a:r>
              <a:rPr lang="ru-RU" dirty="0"/>
              <a:t> - это тоже принуждение, но скрытое. Человек воспринимается, как средство для достижения целей.</a:t>
            </a:r>
          </a:p>
          <a:p>
            <a:r>
              <a:rPr lang="ru-RU" b="1" dirty="0"/>
              <a:t>Манипулирование </a:t>
            </a:r>
            <a:r>
              <a:rPr lang="ru-RU" dirty="0"/>
              <a:t>- это управление другим человеком настолько искусно, что объект думает, что сам управляет своим поведением.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77278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07511" y="439968"/>
            <a:ext cx="5201336" cy="628357"/>
          </a:xfrm>
        </p:spPr>
        <p:txBody>
          <a:bodyPr>
            <a:normAutofit fontScale="90000"/>
          </a:bodyPr>
          <a:lstStyle/>
          <a:p>
            <a:r>
              <a:rPr lang="ru-RU" dirty="0"/>
              <a:t>ВАШИ ЛЮБИМЫЕ КНОПКИ?</a:t>
            </a:r>
            <a:br>
              <a:rPr lang="ru-RU" dirty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81521" y="1544288"/>
            <a:ext cx="8596668" cy="4873744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«На ДУРАКА не нужен нож, ему с три короба наврешь и делай с ним что </a:t>
            </a:r>
            <a:r>
              <a:rPr lang="ru-RU" dirty="0" err="1"/>
              <a:t>хошь</a:t>
            </a:r>
            <a:r>
              <a:rPr lang="ru-RU" dirty="0"/>
              <a:t>»</a:t>
            </a:r>
          </a:p>
          <a:p>
            <a:r>
              <a:rPr lang="ru-RU" dirty="0"/>
              <a:t>Превознесение компетентности, успеха. </a:t>
            </a:r>
          </a:p>
          <a:p>
            <a:r>
              <a:rPr lang="ru-RU" dirty="0"/>
              <a:t>«Спасатель». «Спаси меня»</a:t>
            </a:r>
          </a:p>
          <a:p>
            <a:r>
              <a:rPr lang="ru-RU" dirty="0"/>
              <a:t>«Я на тебя рассчитываю».</a:t>
            </a:r>
          </a:p>
          <a:p>
            <a:r>
              <a:rPr lang="ru-RU" dirty="0"/>
              <a:t>«Ты и только ты».</a:t>
            </a:r>
          </a:p>
          <a:p>
            <a:r>
              <a:rPr lang="ru-RU" dirty="0"/>
              <a:t>«Настоящий мужчина».</a:t>
            </a:r>
          </a:p>
          <a:p>
            <a:r>
              <a:rPr lang="ru-RU" dirty="0"/>
              <a:t>Жалость к детям.</a:t>
            </a:r>
          </a:p>
          <a:p>
            <a:r>
              <a:rPr lang="ru-RU" dirty="0"/>
              <a:t>Вызывание чувства вины, стыда, страха.</a:t>
            </a:r>
          </a:p>
          <a:p>
            <a:r>
              <a:rPr lang="ru-RU" dirty="0"/>
              <a:t>Должна быть хорошей … мать, хозяйка, настоящая женщина, сексапильность …</a:t>
            </a:r>
          </a:p>
          <a:p>
            <a:r>
              <a:rPr lang="ru-RU" dirty="0"/>
              <a:t>Общие интересы, перспективы роста.  </a:t>
            </a:r>
          </a:p>
          <a:p>
            <a:r>
              <a:rPr lang="ru-RU" dirty="0"/>
              <a:t>«Ты не как все», «ты не с нами», отвержение.</a:t>
            </a:r>
          </a:p>
          <a:p>
            <a:r>
              <a:rPr lang="ru-RU" dirty="0"/>
              <a:t>Шантаж + манипуляция. </a:t>
            </a:r>
          </a:p>
          <a:p>
            <a:r>
              <a:rPr lang="ru-RU" dirty="0"/>
              <a:t>Лесть.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13351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C4CC4B-FEF8-48C5-BD9A-84337E1EC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3391" y="494470"/>
            <a:ext cx="9512030" cy="271389"/>
          </a:xfrm>
        </p:spPr>
        <p:txBody>
          <a:bodyPr>
            <a:normAutofit fontScale="90000"/>
          </a:bodyPr>
          <a:lstStyle/>
          <a:p>
            <a:r>
              <a:rPr lang="ru-RU" dirty="0"/>
              <a:t>Почему люди манипулируют?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C01F5C-7896-4FE4-A512-59F487B37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977" y="1406484"/>
            <a:ext cx="8763000" cy="50610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К манипуляции любой человек прибегает </a:t>
            </a:r>
          </a:p>
          <a:p>
            <a:r>
              <a:rPr lang="ru-RU" dirty="0"/>
              <a:t>от слабости: невозможности добиться своего экологичным путем</a:t>
            </a:r>
          </a:p>
          <a:p>
            <a:r>
              <a:rPr lang="ru-RU" dirty="0"/>
              <a:t>от хитрости: в надежде, что другой не заметит манипуляции, сделает то, в чем нуждается манипулятор. Манипулятору же не надо будет «расплачиваться» за полученное. </a:t>
            </a:r>
          </a:p>
          <a:p>
            <a:pPr marL="0" indent="0">
              <a:buNone/>
            </a:pP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413993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705164" y="378780"/>
            <a:ext cx="4826289" cy="726831"/>
          </a:xfrm>
        </p:spPr>
        <p:txBody>
          <a:bodyPr>
            <a:normAutofit fontScale="90000"/>
          </a:bodyPr>
          <a:lstStyle/>
          <a:p>
            <a:r>
              <a:rPr lang="ru-RU" dirty="0"/>
              <a:t>Техники ухода от манипуляции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>
          <a:xfrm>
            <a:off x="677334" y="1448972"/>
            <a:ext cx="10315344" cy="47994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/>
              <a:t>1. </a:t>
            </a:r>
            <a:r>
              <a:rPr lang="ru-RU" sz="2400" b="1" dirty="0"/>
              <a:t>«Эмпатическое взаимодействие»  </a:t>
            </a:r>
            <a:r>
              <a:rPr lang="ru-RU" sz="2400" dirty="0"/>
              <a:t>Обращаемся к чувствам манипулятора.</a:t>
            </a:r>
            <a:endParaRPr lang="ru-RU" sz="2400" b="1" dirty="0"/>
          </a:p>
          <a:p>
            <a:pPr marL="0" indent="0">
              <a:buNone/>
            </a:pPr>
            <a:r>
              <a:rPr lang="ru-RU" sz="2400" dirty="0"/>
              <a:t>2. «</a:t>
            </a:r>
            <a:r>
              <a:rPr lang="ru-RU" sz="2400" b="1" dirty="0"/>
              <a:t>Заезженная пластинка»   </a:t>
            </a:r>
            <a:r>
              <a:rPr lang="ru-RU" sz="2400" dirty="0"/>
              <a:t>Монотонно и доброжелательно повторяем одну и ту же фразу. </a:t>
            </a:r>
          </a:p>
          <a:p>
            <a:pPr marL="0" indent="0">
              <a:buNone/>
            </a:pPr>
            <a:r>
              <a:rPr lang="ru-RU" sz="2400" dirty="0"/>
              <a:t>3. </a:t>
            </a:r>
            <a:r>
              <a:rPr lang="ru-RU" sz="2400" b="1" dirty="0"/>
              <a:t>«Внешнее согласие» </a:t>
            </a:r>
            <a:r>
              <a:rPr lang="ru-RU" sz="2400" dirty="0"/>
              <a:t>Соглашаемся с той частью, которая похожа на правду.</a:t>
            </a:r>
          </a:p>
          <a:p>
            <a:r>
              <a:rPr lang="ru-RU" sz="2400" dirty="0"/>
              <a:t>4. </a:t>
            </a:r>
            <a:r>
              <a:rPr lang="ru-RU" sz="2400" b="1" dirty="0"/>
              <a:t>«Уточняющий вопрос»  </a:t>
            </a:r>
            <a:r>
              <a:rPr lang="ru-RU" sz="2400" dirty="0"/>
              <a:t>Прояснение сути: «Что Вы имели в виду, когда говорите о…» «Какие факты Вы имели в виду?» </a:t>
            </a:r>
          </a:p>
          <a:p>
            <a:r>
              <a:rPr lang="ru-RU" sz="2400" dirty="0"/>
              <a:t>Определение  целей манипулятора: «Что ты хочешь этим сказать?» «Почему Вы </a:t>
            </a:r>
            <a:r>
              <a:rPr lang="ru-RU" sz="2400" dirty="0" err="1"/>
              <a:t>спрашиаете</a:t>
            </a:r>
            <a:r>
              <a:rPr lang="ru-RU" sz="2400" dirty="0"/>
              <a:t> об этом именно сейчас?»</a:t>
            </a:r>
            <a:endParaRPr lang="ru-RU" sz="2400" b="1" dirty="0"/>
          </a:p>
          <a:p>
            <a:pPr marL="0" indent="0">
              <a:buNone/>
            </a:pPr>
            <a:r>
              <a:rPr lang="ru-RU" sz="2400" dirty="0"/>
              <a:t>5. </a:t>
            </a:r>
            <a:r>
              <a:rPr lang="ru-RU" sz="2400" b="1" dirty="0"/>
              <a:t>«Английский профессор» </a:t>
            </a:r>
            <a:r>
              <a:rPr lang="ru-RU" sz="2400" dirty="0"/>
              <a:t>«Это неотъемлемая часть моей личности…»</a:t>
            </a:r>
          </a:p>
          <a:p>
            <a:r>
              <a:rPr lang="ru-RU" sz="2400" dirty="0"/>
              <a:t>«Не согласуется с моими убеждениями»</a:t>
            </a:r>
          </a:p>
          <a:p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19272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DE7425F3-C2FA-4102-A1AF-09751C43F3F2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457200" y="496956"/>
          <a:ext cx="11496261" cy="55360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54489">
                  <a:extLst>
                    <a:ext uri="{9D8B030D-6E8A-4147-A177-3AD203B41FA5}">
                      <a16:colId xmlns:a16="http://schemas.microsoft.com/office/drawing/2014/main" val="1470983798"/>
                    </a:ext>
                  </a:extLst>
                </a:gridCol>
                <a:gridCol w="6441772">
                  <a:extLst>
                    <a:ext uri="{9D8B030D-6E8A-4147-A177-3AD203B41FA5}">
                      <a16:colId xmlns:a16="http://schemas.microsoft.com/office/drawing/2014/main" val="857743365"/>
                    </a:ext>
                  </a:extLst>
                </a:gridCol>
              </a:tblGrid>
              <a:tr h="9434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dirty="0">
                          <a:effectLst/>
                        </a:rPr>
                        <a:t>Утверждение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dirty="0">
                          <a:effectLst/>
                        </a:rPr>
                        <a:t>(тщательно выписывается)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dirty="0">
                          <a:effectLst/>
                        </a:rPr>
                        <a:t>Негативный отклик (быстро пишется)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718246374"/>
                  </a:ext>
                </a:extLst>
              </a:tr>
              <a:tr h="3478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>
                          <a:effectLst/>
                        </a:rPr>
                        <a:t>Я люблю себя.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effectLst/>
                        </a:rPr>
                        <a:t>Да?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2300998346"/>
                  </a:ext>
                </a:extLst>
              </a:tr>
              <a:tr h="3478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>
                          <a:effectLst/>
                        </a:rPr>
                        <a:t>Я люблю себя.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effectLst/>
                        </a:rPr>
                        <a:t>Ты не заслуживаешь любви.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593116627"/>
                  </a:ext>
                </a:extLst>
              </a:tr>
              <a:tr h="3478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>
                          <a:effectLst/>
                        </a:rPr>
                        <a:t>Я люблю себя.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effectLst/>
                        </a:rPr>
                        <a:t>Но никто другой тебя не любит.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3935638410"/>
                  </a:ext>
                </a:extLst>
              </a:tr>
              <a:tr h="3478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>
                          <a:effectLst/>
                        </a:rPr>
                        <a:t>Я люблю себя.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effectLst/>
                        </a:rPr>
                        <a:t>Ты еще мало трудилась.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3647176934"/>
                  </a:ext>
                </a:extLst>
              </a:tr>
              <a:tr h="3478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>
                          <a:effectLst/>
                        </a:rPr>
                        <a:t>Я люблю себя.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effectLst/>
                        </a:rPr>
                        <a:t>Ты недостаточно умна.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551120494"/>
                  </a:ext>
                </a:extLst>
              </a:tr>
              <a:tr h="3478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>
                          <a:effectLst/>
                        </a:rPr>
                        <a:t>Я люблю себя.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effectLst/>
                        </a:rPr>
                        <a:t>Посмотри, какая ты толстая.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3543334972"/>
                  </a:ext>
                </a:extLst>
              </a:tr>
              <a:tr h="71918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>
                          <a:effectLst/>
                        </a:rPr>
                        <a:t>Я люблю себя.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effectLst/>
                        </a:rPr>
                        <a:t>Ты не смогла похудеть, но ты пыталась, и кое-что тебе удалось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289249608"/>
                  </a:ext>
                </a:extLst>
              </a:tr>
              <a:tr h="71918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>
                          <a:effectLst/>
                        </a:rPr>
                        <a:t>Я люблю себя.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effectLst/>
                        </a:rPr>
                        <a:t>Ну может быть, я люблю самую малость в себе.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2595546342"/>
                  </a:ext>
                </a:extLst>
              </a:tr>
              <a:tr h="71918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>
                          <a:effectLst/>
                        </a:rPr>
                        <a:t>Я люблю себя.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effectLst/>
                        </a:rPr>
                        <a:t>Ладно, я могу позволить себе любить себя.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42670688"/>
                  </a:ext>
                </a:extLst>
              </a:tr>
              <a:tr h="3478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>
                          <a:effectLst/>
                        </a:rPr>
                        <a:t>Я люблю себя.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dirty="0">
                          <a:effectLst/>
                        </a:rPr>
                        <a:t>Да, я люблю себя.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2204498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15711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63754-5905-4B69-BDF8-F10FB872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348" y="2919296"/>
            <a:ext cx="4950456" cy="628133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err="1"/>
              <a:t>Эгосостояния</a:t>
            </a:r>
            <a:r>
              <a:rPr lang="ru-RU" b="1" dirty="0"/>
              <a:t> по Э. Берну и как нам использовать эти знания</a:t>
            </a:r>
            <a:br>
              <a:rPr lang="ru-RU" dirty="0"/>
            </a:br>
            <a:br>
              <a:rPr lang="ru-RU" dirty="0"/>
            </a:br>
            <a:endParaRPr lang="ru-RU" b="1" dirty="0"/>
          </a:p>
        </p:txBody>
      </p:sp>
      <p:pic>
        <p:nvPicPr>
          <p:cNvPr id="1026" name="Picture 2" descr="Картинки по запросу &quot;эгосотояния по Берну&quot;">
            <a:extLst>
              <a:ext uri="{FF2B5EF4-FFF2-40B4-BE49-F238E27FC236}">
                <a16:creationId xmlns:a16="http://schemas.microsoft.com/office/drawing/2014/main" id="{0FD908C5-6092-478A-BA18-14C4B0BF638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5309" y="0"/>
            <a:ext cx="5540715" cy="6669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81927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63754-5905-4B69-BDF8-F10FB872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4890" y="443948"/>
            <a:ext cx="6706428" cy="635586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700" b="1" dirty="0"/>
              <a:t>РОДИТЕЛЬ – отражение всех родительских фигур в нашей жизни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9223" y="1789044"/>
            <a:ext cx="3478696" cy="37009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b="1" dirty="0"/>
              <a:t>Родитель, с которым КЛАССНО!!!</a:t>
            </a:r>
          </a:p>
          <a:p>
            <a:pPr marL="0" indent="0">
              <a:buNone/>
            </a:pPr>
            <a:r>
              <a:rPr lang="ru-RU" sz="2000" dirty="0"/>
              <a:t>Поддерживает, а не критикует</a:t>
            </a:r>
          </a:p>
          <a:p>
            <a:pPr marL="0" indent="0">
              <a:buNone/>
            </a:pPr>
            <a:r>
              <a:rPr lang="ru-RU" sz="2000" dirty="0"/>
              <a:t>Заботится о всех потребностях</a:t>
            </a:r>
          </a:p>
          <a:p>
            <a:pPr marL="0" indent="0">
              <a:buNone/>
            </a:pPr>
            <a:r>
              <a:rPr lang="ru-RU" sz="2000" dirty="0"/>
              <a:t>Готов прийти на помощь</a:t>
            </a:r>
          </a:p>
          <a:p>
            <a:pPr marL="0" indent="0">
              <a:buNone/>
            </a:pPr>
            <a:r>
              <a:rPr lang="ru-RU" sz="2000" dirty="0"/>
              <a:t>Не укоряет, если что-то не так</a:t>
            </a:r>
          </a:p>
          <a:p>
            <a:pPr marL="0" indent="0">
              <a:buNone/>
            </a:pPr>
            <a:r>
              <a:rPr lang="ru-RU" sz="2000" dirty="0"/>
              <a:t>Ласкает, нежен</a:t>
            </a:r>
          </a:p>
          <a:p>
            <a:pPr marL="0" indent="0">
              <a:buNone/>
            </a:pPr>
            <a:r>
              <a:rPr lang="ru-RU" sz="2000" dirty="0"/>
              <a:t>Уделяет время</a:t>
            </a:r>
          </a:p>
          <a:p>
            <a:pPr marL="0" indent="0">
              <a:buNone/>
            </a:pPr>
            <a:r>
              <a:rPr lang="ru-RU" sz="2000" dirty="0"/>
              <a:t>Дарит подарки</a:t>
            </a:r>
          </a:p>
          <a:p>
            <a:pPr marL="0" indent="0">
              <a:buNone/>
            </a:pPr>
            <a:r>
              <a:rPr lang="ru-RU" sz="2000" b="1" dirty="0"/>
              <a:t>(экологичен в общении!!!)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1F939A5-E5F6-43C7-A528-A3A7B91D1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2" y="1789044"/>
            <a:ext cx="3803372" cy="3810260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/>
              <a:t>РОДИТЕЛЬ, с которым ТРУДНО…</a:t>
            </a:r>
          </a:p>
          <a:p>
            <a:pPr marL="0" indent="0">
              <a:buNone/>
            </a:pPr>
            <a:r>
              <a:rPr lang="ru-RU" dirty="0"/>
              <a:t>Критикует, не умеет поддерживать</a:t>
            </a:r>
          </a:p>
          <a:p>
            <a:pPr marL="0" indent="0">
              <a:buNone/>
            </a:pPr>
            <a:r>
              <a:rPr lang="ru-RU" dirty="0"/>
              <a:t>Заботится только о том, о чем считает нужным</a:t>
            </a:r>
          </a:p>
          <a:p>
            <a:pPr marL="0" indent="0">
              <a:buNone/>
            </a:pPr>
            <a:r>
              <a:rPr lang="ru-RU" dirty="0"/>
              <a:t>Злорадствует, когда приходит на помощь</a:t>
            </a:r>
          </a:p>
          <a:p>
            <a:pPr marL="0" indent="0">
              <a:buNone/>
            </a:pPr>
            <a:r>
              <a:rPr lang="ru-RU" dirty="0"/>
              <a:t>Не ласкает, не нежен</a:t>
            </a:r>
          </a:p>
          <a:p>
            <a:pPr marL="0" indent="0">
              <a:buNone/>
            </a:pPr>
            <a:r>
              <a:rPr lang="ru-RU" dirty="0"/>
              <a:t>Не уделяет достаточно времени</a:t>
            </a:r>
          </a:p>
          <a:p>
            <a:pPr marL="0" indent="0">
              <a:buNone/>
            </a:pPr>
            <a:r>
              <a:rPr lang="ru-RU" dirty="0"/>
              <a:t>Подарками манипулирует</a:t>
            </a:r>
          </a:p>
          <a:p>
            <a:pPr marL="0" indent="0">
              <a:buNone/>
            </a:pPr>
            <a:r>
              <a:rPr lang="ru-RU" b="1" dirty="0"/>
              <a:t>(НЕ экологичен в общении!!!)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67910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63754-5905-4B69-BDF8-F10FB872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548680"/>
            <a:ext cx="6706428" cy="635586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700" b="1" dirty="0"/>
              <a:t>РЕБЕНОК – ВСЕ МЫ РОДОМ ИЗ ДЕТСТВА! </a:t>
            </a:r>
            <a:br>
              <a:rPr lang="ru-RU" sz="2700" b="1" dirty="0"/>
            </a:br>
            <a:r>
              <a:rPr lang="ru-RU" sz="2700" b="1" dirty="0"/>
              <a:t>Наши детские реакции всегда с нами!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59954" y="1789044"/>
            <a:ext cx="3478696" cy="370092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/>
              <a:t>РЕБЕНОК, с которым легко и интересно! </a:t>
            </a:r>
          </a:p>
          <a:p>
            <a:pPr marL="0" indent="0">
              <a:buNone/>
            </a:pPr>
            <a:r>
              <a:rPr lang="ru-RU" dirty="0"/>
              <a:t>Энергичен</a:t>
            </a:r>
          </a:p>
          <a:p>
            <a:pPr marL="0" indent="0">
              <a:buNone/>
            </a:pPr>
            <a:r>
              <a:rPr lang="ru-RU" dirty="0"/>
              <a:t>Послушен</a:t>
            </a:r>
          </a:p>
          <a:p>
            <a:pPr marL="0" indent="0">
              <a:buNone/>
            </a:pPr>
            <a:r>
              <a:rPr lang="ru-RU" dirty="0"/>
              <a:t>Эмпатичен, чувствителен</a:t>
            </a:r>
          </a:p>
          <a:p>
            <a:pPr marL="0" indent="0">
              <a:buNone/>
            </a:pPr>
            <a:r>
              <a:rPr lang="ru-RU" dirty="0"/>
              <a:t>Творческий</a:t>
            </a:r>
          </a:p>
          <a:p>
            <a:pPr marL="0" indent="0">
              <a:buNone/>
            </a:pPr>
            <a:r>
              <a:rPr lang="ru-RU" dirty="0"/>
              <a:t>Любознателен. Хочет все знать</a:t>
            </a:r>
          </a:p>
          <a:p>
            <a:pPr marL="0" indent="0">
              <a:buNone/>
            </a:pPr>
            <a:r>
              <a:rPr lang="ru-RU" dirty="0"/>
              <a:t>Легко прощает</a:t>
            </a:r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endParaRPr lang="ru-RU" b="1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1F939A5-E5F6-43C7-A528-A3A7B91D1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1" y="1789044"/>
            <a:ext cx="3227732" cy="370092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/>
              <a:t>РЕБЕНОК, с которым ТРУДНО…</a:t>
            </a:r>
          </a:p>
          <a:p>
            <a:pPr marL="0" indent="0">
              <a:buNone/>
            </a:pPr>
            <a:r>
              <a:rPr lang="ru-RU" dirty="0"/>
              <a:t>Уже пассивен</a:t>
            </a:r>
          </a:p>
          <a:p>
            <a:pPr marL="0" indent="0">
              <a:buNone/>
            </a:pPr>
            <a:r>
              <a:rPr lang="ru-RU" dirty="0"/>
              <a:t>Непослушный</a:t>
            </a:r>
          </a:p>
          <a:p>
            <a:pPr marL="0" indent="0">
              <a:buNone/>
            </a:pPr>
            <a:r>
              <a:rPr lang="ru-RU" dirty="0"/>
              <a:t>Не чувствует других людей</a:t>
            </a:r>
          </a:p>
          <a:p>
            <a:pPr marL="0" indent="0">
              <a:buNone/>
            </a:pPr>
            <a:r>
              <a:rPr lang="ru-RU" dirty="0"/>
              <a:t>Капризный! Назло!</a:t>
            </a:r>
          </a:p>
          <a:p>
            <a:pPr marL="0" indent="0">
              <a:buNone/>
            </a:pPr>
            <a:r>
              <a:rPr lang="ru-RU" dirty="0"/>
              <a:t>Упрямый</a:t>
            </a:r>
          </a:p>
          <a:p>
            <a:pPr marL="0" indent="0">
              <a:buNone/>
            </a:pPr>
            <a:r>
              <a:rPr lang="ru-RU" dirty="0"/>
              <a:t>Мстительный</a:t>
            </a:r>
          </a:p>
          <a:p>
            <a:pPr marL="0" indent="0">
              <a:buNone/>
            </a:pPr>
            <a:r>
              <a:rPr lang="ru-RU" dirty="0"/>
              <a:t>Агрессивен</a:t>
            </a:r>
          </a:p>
        </p:txBody>
      </p:sp>
    </p:spTree>
    <p:extLst>
      <p:ext uri="{BB962C8B-B14F-4D97-AF65-F5344CB8AC3E}">
        <p14:creationId xmlns:p14="http://schemas.microsoft.com/office/powerpoint/2010/main" val="25702924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63754-5905-4B69-BDF8-F10FB872935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46652" y="534780"/>
            <a:ext cx="9740348" cy="83820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b="1" dirty="0"/>
              <a:t>Важно стать хорошим родителем самому себе!</a:t>
            </a:r>
            <a:br>
              <a:rPr lang="ru-RU" dirty="0"/>
            </a:b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46652" y="1762125"/>
            <a:ext cx="7440061" cy="42338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Поддерживаем себя, а не критикуем, не укоряем, если что-то не так</a:t>
            </a:r>
          </a:p>
          <a:p>
            <a:pPr marL="0" indent="0">
              <a:buNone/>
            </a:pPr>
            <a:r>
              <a:rPr lang="ru-RU" i="1" dirty="0">
                <a:solidFill>
                  <a:srgbClr val="00B050"/>
                </a:solidFill>
              </a:rPr>
              <a:t>«Ну, не получилось сегодня, получится завтра!»</a:t>
            </a:r>
          </a:p>
          <a:p>
            <a:pPr marL="0" indent="0">
              <a:buNone/>
            </a:pPr>
            <a:r>
              <a:rPr lang="ru-RU" i="1" dirty="0">
                <a:solidFill>
                  <a:srgbClr val="00B050"/>
                </a:solidFill>
              </a:rPr>
              <a:t>«Кто не ошибается, тот ничего не делает!»</a:t>
            </a:r>
          </a:p>
          <a:p>
            <a:pPr marL="0" indent="0">
              <a:buNone/>
            </a:pPr>
            <a:r>
              <a:rPr lang="ru-RU" i="1" dirty="0">
                <a:solidFill>
                  <a:srgbClr val="00B050"/>
                </a:solidFill>
              </a:rPr>
              <a:t>«ну, правда не задумалась о последствиях, делаем выводы!»</a:t>
            </a:r>
          </a:p>
          <a:p>
            <a:pPr marL="0" indent="0">
              <a:buNone/>
            </a:pPr>
            <a:r>
              <a:rPr lang="ru-RU" dirty="0"/>
              <a:t>Заботимся о всех потребностях (Тема: любовь к себе!)</a:t>
            </a:r>
          </a:p>
          <a:p>
            <a:pPr marL="0" indent="0">
              <a:buNone/>
            </a:pPr>
            <a:r>
              <a:rPr lang="ru-RU" dirty="0"/>
              <a:t>Ищем </a:t>
            </a:r>
            <a:r>
              <a:rPr lang="ru-RU" dirty="0" err="1"/>
              <a:t>обнималки</a:t>
            </a:r>
            <a:r>
              <a:rPr lang="ru-RU" dirty="0"/>
              <a:t>! Заводим традицию! Ходим на расслабляющий массаж!</a:t>
            </a:r>
          </a:p>
          <a:p>
            <a:pPr marL="0" indent="0">
              <a:buNone/>
            </a:pPr>
            <a:r>
              <a:rPr lang="ru-RU" dirty="0"/>
              <a:t>Уделяем время себе любимым, делаем подарки</a:t>
            </a:r>
          </a:p>
          <a:p>
            <a:pPr marL="0" indent="0">
              <a:buNone/>
            </a:pPr>
            <a:r>
              <a:rPr lang="ru-RU" dirty="0"/>
              <a:t>Экологично общаемся с собой!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3074" name="Picture 2" descr="Картинки по запросу &quot;шаги к здоровой самооценке&quot;">
            <a:extLst>
              <a:ext uri="{FF2B5EF4-FFF2-40B4-BE49-F238E27FC236}">
                <a16:creationId xmlns:a16="http://schemas.microsoft.com/office/drawing/2014/main" id="{DC240562-E1C1-4271-9A8F-A04872521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7042" y="3429000"/>
            <a:ext cx="3151747" cy="2236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59528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v.pospelov\Desktop\лого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553" y="528427"/>
            <a:ext cx="2380837" cy="67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v.pospelov\Desktop\паттерн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911" y="144001"/>
            <a:ext cx="5319748" cy="450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84021" y="3009036"/>
            <a:ext cx="764120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>
                <a:solidFill>
                  <a:srgbClr val="FF0000"/>
                </a:solidFill>
              </a:rPr>
              <a:t>Семья, как система. Консультирование  пар </a:t>
            </a:r>
            <a:endParaRPr lang="ru-RU" sz="4400" b="1" dirty="0">
              <a:solidFill>
                <a:srgbClr val="FF0000"/>
              </a:solidFill>
              <a:latin typeface="HeliosBlack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423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E55467C5-3EC5-4811-B15E-E95B18BA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8947" y="265833"/>
            <a:ext cx="5140172" cy="1143000"/>
          </a:xfrm>
        </p:spPr>
        <p:txBody>
          <a:bodyPr/>
          <a:lstStyle/>
          <a:p>
            <a:r>
              <a:rPr lang="ru-RU" dirty="0"/>
              <a:t>Консультирование пар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91240806-70AC-4EF1-9B86-C1BF553E6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Что важно знать (как минимум):</a:t>
            </a:r>
          </a:p>
          <a:p>
            <a:r>
              <a:rPr lang="ru-RU" dirty="0"/>
              <a:t>Типология партнеров</a:t>
            </a:r>
          </a:p>
          <a:p>
            <a:r>
              <a:rPr lang="ru-RU" dirty="0"/>
              <a:t>Эмоциональный интеллект</a:t>
            </a:r>
          </a:p>
          <a:p>
            <a:r>
              <a:rPr lang="ru-RU" dirty="0"/>
              <a:t>Экологическое общение</a:t>
            </a:r>
          </a:p>
          <a:p>
            <a:r>
              <a:rPr lang="ru-RU" dirty="0"/>
              <a:t>Границы </a:t>
            </a:r>
          </a:p>
          <a:p>
            <a:r>
              <a:rPr lang="ru-RU" dirty="0"/>
              <a:t>Самооценка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509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48CB270-AE0B-4A1D-A7A7-99E90EF1B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76672"/>
            <a:ext cx="9919317" cy="940966"/>
          </a:xfrm>
        </p:spPr>
        <p:txBody>
          <a:bodyPr>
            <a:noAutofit/>
          </a:bodyPr>
          <a:lstStyle/>
          <a:p>
            <a:r>
              <a:rPr lang="ru-RU" sz="3600" dirty="0">
                <a:latin typeface="Verdana"/>
                <a:ea typeface="Verdana"/>
                <a:cs typeface="Verdana"/>
                <a:sym typeface="Verdana"/>
              </a:rPr>
              <a:t>Особенности консультирования пар</a:t>
            </a:r>
            <a:br>
              <a:rPr lang="ru-RU" sz="3600" dirty="0">
                <a:latin typeface="Verdana"/>
                <a:ea typeface="Verdana"/>
                <a:cs typeface="Verdana"/>
                <a:sym typeface="Verdana"/>
              </a:rPr>
            </a:b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CC30C8-3EE2-45E4-A88E-231FB8F002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30658" y="1174072"/>
            <a:ext cx="4038600" cy="4925144"/>
          </a:xfrm>
        </p:spPr>
        <p:txBody>
          <a:bodyPr>
            <a:normAutofit/>
          </a:bodyPr>
          <a:lstStyle/>
          <a:p>
            <a:pPr defTabSz="636485">
              <a:spcBef>
                <a:spcPts val="1336"/>
              </a:spcBef>
              <a:buSzPct val="40000"/>
              <a:defRPr sz="1800"/>
            </a:pPr>
            <a:r>
              <a:rPr lang="ru-RU" sz="2400" dirty="0"/>
              <a:t>1. Кто инициатор? </a:t>
            </a:r>
          </a:p>
          <a:p>
            <a:pPr defTabSz="636485">
              <a:spcBef>
                <a:spcPts val="1336"/>
              </a:spcBef>
              <a:buSzPct val="40000"/>
              <a:defRPr sz="1800"/>
            </a:pPr>
            <a:r>
              <a:rPr lang="ru-RU" sz="2400" dirty="0"/>
              <a:t>2. Вдвоем и ли по очереди?</a:t>
            </a:r>
          </a:p>
          <a:p>
            <a:pPr defTabSz="636485">
              <a:spcBef>
                <a:spcPts val="1336"/>
              </a:spcBef>
              <a:buSzPct val="40000"/>
              <a:defRPr sz="1800"/>
            </a:pPr>
            <a:r>
              <a:rPr lang="ru-RU" sz="2400" dirty="0"/>
              <a:t>3. Цель парной консультации? </a:t>
            </a:r>
          </a:p>
          <a:p>
            <a:pPr defTabSz="636485">
              <a:spcBef>
                <a:spcPts val="1336"/>
              </a:spcBef>
              <a:buSzPct val="40000"/>
              <a:defRPr sz="1800"/>
            </a:pPr>
            <a:r>
              <a:rPr lang="ru-RU" sz="2400" dirty="0"/>
              <a:t>4. Позиция консультанта при парной консультации, ведение консультации, установление правил 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B0CC421D-2EDC-4544-8F9A-771A0BD35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038600" cy="4781128"/>
          </a:xfrm>
        </p:spPr>
        <p:txBody>
          <a:bodyPr>
            <a:normAutofit/>
          </a:bodyPr>
          <a:lstStyle/>
          <a:p>
            <a:r>
              <a:rPr lang="ru-RU" sz="2400" dirty="0"/>
              <a:t>5. Пара в семейной системе</a:t>
            </a:r>
          </a:p>
          <a:p>
            <a:r>
              <a:rPr lang="ru-RU" sz="2400" dirty="0"/>
              <a:t>6. Возможно разделить пару снова?</a:t>
            </a:r>
          </a:p>
          <a:p>
            <a:r>
              <a:rPr lang="ru-RU" sz="2400" dirty="0"/>
              <a:t>7. Домашние задания.</a:t>
            </a:r>
          </a:p>
          <a:p>
            <a:r>
              <a:rPr lang="ru-RU" sz="2400" dirty="0"/>
              <a:t>8. Обратная связь: как продвигаемся к цели.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92684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48CB270-AE0B-4A1D-A7A7-99E90EF1B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>
                <a:latin typeface="Verdana"/>
                <a:ea typeface="Verdana"/>
                <a:cs typeface="Verdana"/>
                <a:sym typeface="Verdana"/>
              </a:rPr>
              <a:t>Ключевые особенности системы:</a:t>
            </a:r>
            <a:br>
              <a:rPr lang="ru-RU" sz="3600" dirty="0">
                <a:latin typeface="Verdana"/>
                <a:ea typeface="Verdana"/>
                <a:cs typeface="Verdana"/>
                <a:sym typeface="Verdana"/>
              </a:rPr>
            </a:b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CC30C8-3EE2-45E4-A88E-231FB8F002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81200" y="1600200"/>
            <a:ext cx="4038600" cy="4925144"/>
          </a:xfrm>
        </p:spPr>
        <p:txBody>
          <a:bodyPr>
            <a:normAutofit/>
          </a:bodyPr>
          <a:lstStyle/>
          <a:p>
            <a:pPr defTabSz="636485">
              <a:spcBef>
                <a:spcPts val="1336"/>
              </a:spcBef>
              <a:buSzPct val="40000"/>
              <a:defRPr sz="1800"/>
            </a:pPr>
            <a:r>
              <a:rPr lang="ru-RU" sz="2400" dirty="0">
                <a:ea typeface="Verdana"/>
                <a:cs typeface="Verdana"/>
                <a:sym typeface="Verdana"/>
              </a:rPr>
              <a:t>Систему выделяет/создает наблюдатель, который,  определяет границы. (Их можно расширить или сузить).</a:t>
            </a:r>
          </a:p>
          <a:p>
            <a:pPr defTabSz="636485">
              <a:spcBef>
                <a:spcPts val="1336"/>
              </a:spcBef>
              <a:buSzPct val="40000"/>
              <a:defRPr sz="1800"/>
            </a:pPr>
            <a:r>
              <a:rPr lang="ru-RU" sz="2400" dirty="0">
                <a:ea typeface="Verdana"/>
                <a:cs typeface="Verdana"/>
                <a:sym typeface="Verdana"/>
              </a:rPr>
              <a:t>Система состоит из элементов и динамических взаимосвязей между ними.</a:t>
            </a:r>
            <a:endParaRPr lang="ru-RU" sz="2400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B0CC421D-2EDC-4544-8F9A-771A0BD35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038600" cy="4781128"/>
          </a:xfrm>
        </p:spPr>
        <p:txBody>
          <a:bodyPr>
            <a:normAutofit/>
          </a:bodyPr>
          <a:lstStyle/>
          <a:p>
            <a:r>
              <a:rPr lang="ru-RU" sz="2400" dirty="0"/>
              <a:t>Работая с клиентом, Консультант-коуч определяет границы системы. </a:t>
            </a:r>
          </a:p>
          <a:p>
            <a:endParaRPr lang="ru-RU" sz="2400" dirty="0"/>
          </a:p>
          <a:p>
            <a:r>
              <a:rPr lang="ru-RU" sz="2400" dirty="0"/>
              <a:t>Члены семьи и взаимосвязи между ними образуют систему.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34192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562074"/>
          </a:xfrm>
        </p:spPr>
        <p:txBody>
          <a:bodyPr>
            <a:normAutofit fontScale="90000"/>
          </a:bodyPr>
          <a:lstStyle/>
          <a:p>
            <a:br>
              <a:rPr lang="ru-RU" dirty="0"/>
            </a:br>
            <a:r>
              <a:rPr lang="ru-RU" dirty="0"/>
              <a:t>Свойства систем</a:t>
            </a:r>
            <a:br>
              <a:rPr lang="ru-RU" dirty="0"/>
            </a:br>
            <a:endParaRPr lang="ru-RU" dirty="0"/>
          </a:p>
        </p:txBody>
      </p:sp>
      <p:sp>
        <p:nvSpPr>
          <p:cNvPr id="171" name="Shape 171"/>
          <p:cNvSpPr>
            <a:spLocks noGrp="1"/>
          </p:cNvSpPr>
          <p:nvPr>
            <p:ph sz="half" idx="1"/>
          </p:nvPr>
        </p:nvSpPr>
        <p:spPr>
          <a:xfrm>
            <a:off x="1981200" y="1052737"/>
            <a:ext cx="4038600" cy="5073427"/>
          </a:xfrm>
          <a:prstGeom prst="rect">
            <a:avLst/>
          </a:prstGeom>
        </p:spPr>
        <p:txBody>
          <a:bodyPr vert="horz" lIns="32144" tIns="32144" rIns="32144" bIns="32144" rtlCol="0">
            <a:noAutofit/>
          </a:bodyPr>
          <a:lstStyle/>
          <a:p>
            <a:pPr marL="342292" indent="-342292">
              <a:lnSpc>
                <a:spcPct val="80000"/>
              </a:lnSpc>
              <a:buSzPct val="60000"/>
              <a:buFont typeface="Arial"/>
              <a:buAutoNum type="arabicPeriod"/>
              <a:defRPr sz="1800"/>
            </a:pPr>
            <a:r>
              <a:rPr sz="1600" b="1" dirty="0" err="1">
                <a:ea typeface="Arial"/>
                <a:cs typeface="Arial" pitchFamily="34" charset="0"/>
                <a:sym typeface="Arial"/>
              </a:rPr>
              <a:t>Целостность</a:t>
            </a:r>
            <a:r>
              <a:rPr lang="ru-RU" sz="1600" b="1" dirty="0">
                <a:ea typeface="Arial"/>
                <a:cs typeface="Arial" pitchFamily="34" charset="0"/>
                <a:sym typeface="Arial"/>
              </a:rPr>
              <a:t> </a:t>
            </a:r>
            <a:r>
              <a:rPr lang="ru-RU" sz="1600" dirty="0">
                <a:cs typeface="Arial" pitchFamily="34" charset="0"/>
              </a:rPr>
              <a:t>си</a:t>
            </a:r>
            <a:r>
              <a:rPr sz="1600" dirty="0" err="1">
                <a:cs typeface="Arial" pitchFamily="34" charset="0"/>
              </a:rPr>
              <a:t>стемы</a:t>
            </a:r>
            <a:r>
              <a:rPr lang="ru-RU" sz="1600" dirty="0">
                <a:cs typeface="Arial" pitchFamily="34" charset="0"/>
              </a:rPr>
              <a:t>:</a:t>
            </a:r>
            <a:r>
              <a:rPr sz="1600" dirty="0">
                <a:cs typeface="Arial" pitchFamily="34" charset="0"/>
              </a:rPr>
              <a:t> </a:t>
            </a:r>
            <a:br>
              <a:rPr lang="ru-RU" sz="1600" dirty="0">
                <a:cs typeface="Arial" pitchFamily="34" charset="0"/>
              </a:rPr>
            </a:br>
            <a:r>
              <a:rPr sz="1600" dirty="0">
                <a:cs typeface="Arial" pitchFamily="34" charset="0"/>
              </a:rPr>
              <a:t>«</a:t>
            </a:r>
            <a:r>
              <a:rPr sz="1600" dirty="0" err="1">
                <a:cs typeface="Arial" pitchFamily="34" charset="0"/>
              </a:rPr>
              <a:t>сила</a:t>
            </a:r>
            <a:r>
              <a:rPr sz="1600" dirty="0">
                <a:cs typeface="Arial" pitchFamily="34" charset="0"/>
              </a:rPr>
              <a:t>» </a:t>
            </a:r>
            <a:r>
              <a:rPr sz="1600" dirty="0" err="1">
                <a:cs typeface="Arial" pitchFamily="34" charset="0"/>
              </a:rPr>
              <a:t>связей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элементов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внутри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системы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выше</a:t>
            </a:r>
            <a:r>
              <a:rPr sz="1600" dirty="0">
                <a:cs typeface="Arial" pitchFamily="34" charset="0"/>
              </a:rPr>
              <a:t>, </a:t>
            </a:r>
            <a:r>
              <a:rPr sz="1600" dirty="0" err="1">
                <a:cs typeface="Arial" pitchFamily="34" charset="0"/>
              </a:rPr>
              <a:t>чем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сила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связей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элементов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системы</a:t>
            </a:r>
            <a:r>
              <a:rPr sz="1600" dirty="0">
                <a:cs typeface="Arial" pitchFamily="34" charset="0"/>
              </a:rPr>
              <a:t> с </a:t>
            </a:r>
            <a:r>
              <a:rPr sz="1600" dirty="0" err="1">
                <a:cs typeface="Arial" pitchFamily="34" charset="0"/>
              </a:rPr>
              <a:t>элементами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внешних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систем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или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среды</a:t>
            </a:r>
            <a:r>
              <a:rPr sz="1600" dirty="0">
                <a:cs typeface="Arial" pitchFamily="34" charset="0"/>
              </a:rPr>
              <a:t>.</a:t>
            </a:r>
          </a:p>
          <a:p>
            <a:pPr marL="342292" indent="-342292">
              <a:lnSpc>
                <a:spcPct val="80000"/>
              </a:lnSpc>
              <a:buSzPct val="60000"/>
              <a:buFont typeface="Arial"/>
              <a:buAutoNum type="arabicPeriod"/>
              <a:defRPr sz="1800"/>
            </a:pPr>
            <a:r>
              <a:rPr sz="1600" b="1" dirty="0" err="1">
                <a:ea typeface="Arial"/>
                <a:cs typeface="Arial" pitchFamily="34" charset="0"/>
                <a:sym typeface="Arial"/>
              </a:rPr>
              <a:t>Синергичность</a:t>
            </a:r>
            <a:r>
              <a:rPr lang="ru-RU" sz="1600" b="1" dirty="0">
                <a:ea typeface="Arial"/>
                <a:cs typeface="Arial" pitchFamily="34" charset="0"/>
                <a:sym typeface="Arial"/>
              </a:rPr>
              <a:t>: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появление</a:t>
            </a:r>
            <a:r>
              <a:rPr sz="1600" dirty="0">
                <a:cs typeface="Arial" pitchFamily="34" charset="0"/>
              </a:rPr>
              <a:t> у </a:t>
            </a:r>
            <a:r>
              <a:rPr sz="1600" dirty="0" err="1">
                <a:cs typeface="Arial" pitchFamily="34" charset="0"/>
              </a:rPr>
              <a:t>системы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свойств</a:t>
            </a:r>
            <a:r>
              <a:rPr sz="1600" dirty="0">
                <a:cs typeface="Arial" pitchFamily="34" charset="0"/>
              </a:rPr>
              <a:t>, </a:t>
            </a:r>
            <a:r>
              <a:rPr sz="1600" dirty="0" err="1">
                <a:cs typeface="Arial" pitchFamily="34" charset="0"/>
              </a:rPr>
              <a:t>не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присущих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элементам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системы</a:t>
            </a:r>
            <a:r>
              <a:rPr sz="1600" dirty="0">
                <a:cs typeface="Arial" pitchFamily="34" charset="0"/>
              </a:rPr>
              <a:t>; </a:t>
            </a:r>
            <a:r>
              <a:rPr sz="1600" dirty="0" err="1">
                <a:cs typeface="Arial" pitchFamily="34" charset="0"/>
              </a:rPr>
              <a:t>принципиальная</a:t>
            </a:r>
            <a:r>
              <a:rPr sz="1600" dirty="0">
                <a:cs typeface="Arial" pitchFamily="34" charset="0"/>
              </a:rPr>
              <a:t> </a:t>
            </a:r>
            <a:r>
              <a:rPr sz="1600" i="1" dirty="0" err="1">
                <a:ea typeface="Arial"/>
                <a:cs typeface="Arial" pitchFamily="34" charset="0"/>
                <a:sym typeface="Arial"/>
              </a:rPr>
              <a:t>несводимость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свойств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системы</a:t>
            </a:r>
            <a:r>
              <a:rPr sz="1600" dirty="0">
                <a:cs typeface="Arial" pitchFamily="34" charset="0"/>
              </a:rPr>
              <a:t> </a:t>
            </a:r>
            <a:r>
              <a:rPr sz="1600" i="1" dirty="0">
                <a:ea typeface="Arial"/>
                <a:cs typeface="Arial" pitchFamily="34" charset="0"/>
                <a:sym typeface="Arial"/>
              </a:rPr>
              <a:t>к </a:t>
            </a:r>
            <a:r>
              <a:rPr sz="1600" i="1" dirty="0" err="1">
                <a:ea typeface="Arial"/>
                <a:cs typeface="Arial" pitchFamily="34" charset="0"/>
                <a:sym typeface="Arial"/>
              </a:rPr>
              <a:t>сумме</a:t>
            </a:r>
            <a:r>
              <a:rPr sz="1600" i="1" dirty="0">
                <a:ea typeface="Arial"/>
                <a:cs typeface="Arial" pitchFamily="34" charset="0"/>
                <a:sym typeface="Arial"/>
              </a:rPr>
              <a:t> </a:t>
            </a:r>
            <a:r>
              <a:rPr sz="1600" i="1" dirty="0" err="1">
                <a:ea typeface="Arial"/>
                <a:cs typeface="Arial" pitchFamily="34" charset="0"/>
                <a:sym typeface="Arial"/>
              </a:rPr>
              <a:t>свойств</a:t>
            </a:r>
            <a:r>
              <a:rPr sz="1600" i="1" dirty="0">
                <a:ea typeface="Arial"/>
                <a:cs typeface="Arial" pitchFamily="34" charset="0"/>
                <a:sym typeface="Arial"/>
              </a:rPr>
              <a:t> </a:t>
            </a:r>
            <a:r>
              <a:rPr sz="1600" i="1" dirty="0" err="1">
                <a:ea typeface="Arial"/>
                <a:cs typeface="Arial" pitchFamily="34" charset="0"/>
                <a:sym typeface="Arial"/>
              </a:rPr>
              <a:t>составляющих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её</a:t>
            </a:r>
            <a:r>
              <a:rPr sz="1600" dirty="0">
                <a:cs typeface="Arial" pitchFamily="34" charset="0"/>
              </a:rPr>
              <a:t> </a:t>
            </a:r>
            <a:r>
              <a:rPr sz="1600" dirty="0" err="1">
                <a:cs typeface="Arial" pitchFamily="34" charset="0"/>
              </a:rPr>
              <a:t>компонентов</a:t>
            </a:r>
            <a:r>
              <a:rPr sz="1600" dirty="0">
                <a:cs typeface="Arial" pitchFamily="34" charset="0"/>
              </a:rPr>
              <a:t>. </a:t>
            </a:r>
            <a:r>
              <a:rPr sz="1600" b="1" i="1" dirty="0" err="1">
                <a:cs typeface="Arial" pitchFamily="34" charset="0"/>
              </a:rPr>
              <a:t>Возможности</a:t>
            </a:r>
            <a:r>
              <a:rPr sz="1600" b="1" i="1" dirty="0">
                <a:cs typeface="Arial" pitchFamily="34" charset="0"/>
              </a:rPr>
              <a:t> </a:t>
            </a:r>
            <a:r>
              <a:rPr sz="1600" b="1" i="1" dirty="0" err="1">
                <a:cs typeface="Arial" pitchFamily="34" charset="0"/>
              </a:rPr>
              <a:t>системы</a:t>
            </a:r>
            <a:r>
              <a:rPr sz="1600" b="1" i="1" dirty="0">
                <a:cs typeface="Arial" pitchFamily="34" charset="0"/>
              </a:rPr>
              <a:t> </a:t>
            </a:r>
            <a:r>
              <a:rPr sz="1600" b="1" i="1" dirty="0" err="1">
                <a:cs typeface="Arial" pitchFamily="34" charset="0"/>
              </a:rPr>
              <a:t>превосходят</a:t>
            </a:r>
            <a:r>
              <a:rPr sz="1600" b="1" i="1" dirty="0">
                <a:cs typeface="Arial" pitchFamily="34" charset="0"/>
              </a:rPr>
              <a:t> </a:t>
            </a:r>
            <a:r>
              <a:rPr sz="1600" b="1" i="1" dirty="0" err="1">
                <a:cs typeface="Arial" pitchFamily="34" charset="0"/>
              </a:rPr>
              <a:t>сумму</a:t>
            </a:r>
            <a:r>
              <a:rPr sz="1600" b="1" i="1" dirty="0">
                <a:cs typeface="Arial" pitchFamily="34" charset="0"/>
              </a:rPr>
              <a:t> </a:t>
            </a:r>
            <a:r>
              <a:rPr sz="1600" b="1" i="1" dirty="0" err="1">
                <a:cs typeface="Arial" pitchFamily="34" charset="0"/>
              </a:rPr>
              <a:t>возможностей</a:t>
            </a:r>
            <a:r>
              <a:rPr sz="1600" b="1" i="1" dirty="0">
                <a:cs typeface="Arial" pitchFamily="34" charset="0"/>
              </a:rPr>
              <a:t> </a:t>
            </a:r>
            <a:r>
              <a:rPr sz="1600" b="1" i="1" dirty="0" err="1">
                <a:cs typeface="Arial" pitchFamily="34" charset="0"/>
              </a:rPr>
              <a:t>составляющих</a:t>
            </a:r>
            <a:r>
              <a:rPr sz="1600" b="1" i="1" dirty="0">
                <a:cs typeface="Arial" pitchFamily="34" charset="0"/>
              </a:rPr>
              <a:t> </a:t>
            </a:r>
            <a:r>
              <a:rPr sz="1600" b="1" i="1" dirty="0" err="1">
                <a:cs typeface="Arial" pitchFamily="34" charset="0"/>
              </a:rPr>
              <a:t>её</a:t>
            </a:r>
            <a:r>
              <a:rPr sz="1600" b="1" i="1" dirty="0">
                <a:cs typeface="Arial" pitchFamily="34" charset="0"/>
              </a:rPr>
              <a:t> </a:t>
            </a:r>
            <a:r>
              <a:rPr sz="1600" b="1" i="1" dirty="0" err="1">
                <a:cs typeface="Arial" pitchFamily="34" charset="0"/>
              </a:rPr>
              <a:t>частей</a:t>
            </a:r>
            <a:r>
              <a:rPr lang="ru-RU" sz="1600" b="1" i="1" dirty="0">
                <a:cs typeface="Arial" pitchFamily="34" charset="0"/>
              </a:rPr>
              <a:t>.</a:t>
            </a:r>
            <a:endParaRPr sz="1600" b="1" i="1" dirty="0">
              <a:cs typeface="Arial" pitchFamily="34" charset="0"/>
            </a:endParaRPr>
          </a:p>
          <a:p>
            <a:pPr marL="342292" indent="-342292">
              <a:lnSpc>
                <a:spcPct val="80000"/>
              </a:lnSpc>
              <a:buSzPct val="60000"/>
              <a:buFont typeface="Arial"/>
              <a:buAutoNum type="arabicPeriod"/>
              <a:defRPr sz="1800"/>
            </a:pPr>
            <a:r>
              <a:rPr sz="1600" b="1" dirty="0" err="1">
                <a:ea typeface="Arial"/>
                <a:cs typeface="Arial" pitchFamily="34" charset="0"/>
                <a:sym typeface="Arial"/>
              </a:rPr>
              <a:t>Иерархичность</a:t>
            </a:r>
            <a:r>
              <a:rPr lang="ru-RU" sz="1600" b="1" dirty="0">
                <a:ea typeface="Arial"/>
                <a:cs typeface="Arial" pitchFamily="34" charset="0"/>
                <a:sym typeface="Arial"/>
              </a:rPr>
              <a:t>:</a:t>
            </a:r>
            <a:r>
              <a:rPr sz="1600" dirty="0">
                <a:cs typeface="Arial" pitchFamily="34" charset="0"/>
              </a:rPr>
              <a:t> </a:t>
            </a:r>
            <a:br>
              <a:rPr lang="ru-RU" sz="1600" dirty="0">
                <a:cs typeface="Arial" pitchFamily="34" charset="0"/>
              </a:rPr>
            </a:br>
            <a:r>
              <a:rPr lang="ru-RU" sz="1600" dirty="0"/>
              <a:t>различие между целями </a:t>
            </a:r>
            <a:r>
              <a:rPr lang="ru-RU" sz="1600" b="1" dirty="0"/>
              <a:t>системы</a:t>
            </a:r>
            <a:r>
              <a:rPr lang="ru-RU" sz="1600" dirty="0"/>
              <a:t> и целями её элементов (подсистем), которые являются для неё подцелями. Причём, </a:t>
            </a:r>
            <a:r>
              <a:rPr lang="ru-RU" sz="1600" b="1" dirty="0"/>
              <a:t>системы</a:t>
            </a:r>
            <a:r>
              <a:rPr lang="ru-RU" sz="1600" dirty="0"/>
              <a:t> более высокого порядка ставят цели перед </a:t>
            </a:r>
            <a:r>
              <a:rPr lang="ru-RU" sz="1600" b="1" dirty="0"/>
              <a:t>системами</a:t>
            </a:r>
            <a:r>
              <a:rPr lang="ru-RU" sz="1600" dirty="0"/>
              <a:t> более низкого </a:t>
            </a:r>
            <a:r>
              <a:rPr lang="ru-RU" sz="1600" dirty="0">
                <a:solidFill>
                  <a:srgbClr val="333333"/>
                </a:solidFill>
              </a:rPr>
              <a:t>порядка. </a:t>
            </a:r>
            <a:endParaRPr sz="1600" dirty="0">
              <a:cs typeface="Arial" pitchFamily="34" charset="0"/>
            </a:endParaRPr>
          </a:p>
        </p:txBody>
      </p:sp>
      <p:sp>
        <p:nvSpPr>
          <p:cNvPr id="2" name="Объект 1">
            <a:extLst>
              <a:ext uri="{FF2B5EF4-FFF2-40B4-BE49-F238E27FC236}">
                <a16:creationId xmlns:a16="http://schemas.microsoft.com/office/drawing/2014/main" id="{E59DDE38-B4CF-4DBC-835B-3F43E3AD1D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3" y="1038181"/>
            <a:ext cx="3806623" cy="5073427"/>
          </a:xfrm>
        </p:spPr>
        <p:txBody>
          <a:bodyPr>
            <a:noAutofit/>
          </a:bodyPr>
          <a:lstStyle/>
          <a:p>
            <a:pPr marL="342292" indent="-342292">
              <a:lnSpc>
                <a:spcPct val="80000"/>
              </a:lnSpc>
              <a:buSzPct val="60000"/>
              <a:buFont typeface="Arial"/>
              <a:buAutoNum type="arabicPeriod"/>
              <a:defRPr sz="1800"/>
            </a:pPr>
            <a:r>
              <a:rPr lang="ru-RU" sz="1600" b="1" dirty="0">
                <a:latin typeface="Arial" pitchFamily="34" charset="0"/>
                <a:ea typeface="Arial"/>
                <a:cs typeface="Arial" pitchFamily="34" charset="0"/>
                <a:sym typeface="Arial"/>
              </a:rPr>
              <a:t>Целостность семейной системы</a:t>
            </a:r>
            <a:r>
              <a:rPr lang="ru-RU" sz="1600" dirty="0">
                <a:latin typeface="Arial" pitchFamily="34" charset="0"/>
                <a:cs typeface="Arial" pitchFamily="34" charset="0"/>
              </a:rPr>
              <a:t> </a:t>
            </a:r>
            <a:br>
              <a:rPr lang="ru-RU" sz="1600" dirty="0">
                <a:latin typeface="Arial" pitchFamily="34" charset="0"/>
                <a:cs typeface="Arial" pitchFamily="34" charset="0"/>
              </a:rPr>
            </a:br>
            <a:r>
              <a:rPr lang="ru-RU" sz="1600" dirty="0">
                <a:latin typeface="Arial" pitchFamily="34" charset="0"/>
                <a:cs typeface="Arial" pitchFamily="34" charset="0"/>
              </a:rPr>
              <a:t>Внутренние связи в семейной системе будем определять по «силе» связей между членами семьи (элементами).  </a:t>
            </a:r>
            <a:br>
              <a:rPr lang="ru-RU" sz="1600" dirty="0">
                <a:latin typeface="Arial" pitchFamily="34" charset="0"/>
                <a:cs typeface="Arial" pitchFamily="34" charset="0"/>
              </a:rPr>
            </a:br>
            <a:r>
              <a:rPr lang="ru-RU" sz="1600" dirty="0">
                <a:latin typeface="Arial" pitchFamily="34" charset="0"/>
                <a:cs typeface="Arial" pitchFamily="34" charset="0"/>
              </a:rPr>
              <a:t>Если сила связей с элементами внешних систем становится выше, семья имеет тенденцию потерять целостность (начать разваливаться). </a:t>
            </a:r>
          </a:p>
          <a:p>
            <a:pPr marL="342292" indent="-342292">
              <a:lnSpc>
                <a:spcPct val="80000"/>
              </a:lnSpc>
              <a:buSzPct val="60000"/>
              <a:buFont typeface="Arial"/>
              <a:buAutoNum type="arabicPeriod"/>
              <a:defRPr sz="1800"/>
            </a:pPr>
            <a:r>
              <a:rPr lang="ru-RU" sz="1600" b="1" dirty="0" err="1">
                <a:latin typeface="Arial" pitchFamily="34" charset="0"/>
                <a:ea typeface="Arial"/>
                <a:cs typeface="Arial" pitchFamily="34" charset="0"/>
                <a:sym typeface="Arial"/>
              </a:rPr>
              <a:t>Синергичность</a:t>
            </a:r>
            <a:br>
              <a:rPr lang="ru-RU" sz="1600" b="1" dirty="0">
                <a:latin typeface="Arial" pitchFamily="34" charset="0"/>
                <a:ea typeface="Arial"/>
                <a:cs typeface="Arial" pitchFamily="34" charset="0"/>
                <a:sym typeface="Arial"/>
              </a:rPr>
            </a:br>
            <a:r>
              <a:rPr lang="ru-RU" sz="1600" dirty="0">
                <a:latin typeface="Arial" pitchFamily="34" charset="0"/>
                <a:cs typeface="Arial" pitchFamily="34" charset="0"/>
              </a:rPr>
              <a:t>У семейной системы с необходимостью должна быть ЦЕЛЬ. Мы говорим о Миссии семьи. </a:t>
            </a:r>
            <a:br>
              <a:rPr lang="ru-RU" sz="1600" dirty="0">
                <a:latin typeface="Arial" pitchFamily="34" charset="0"/>
                <a:cs typeface="Arial" pitchFamily="34" charset="0"/>
              </a:rPr>
            </a:br>
            <a:r>
              <a:rPr lang="ru-RU" sz="1600" dirty="0">
                <a:latin typeface="Arial" pitchFamily="34" charset="0"/>
                <a:cs typeface="Arial" pitchFamily="34" charset="0"/>
              </a:rPr>
              <a:t>ИЛИ: Мы семья, мы со всем справимся. </a:t>
            </a:r>
            <a:r>
              <a:rPr lang="ru-RU" sz="1600" dirty="0" err="1">
                <a:latin typeface="Arial" pitchFamily="34" charset="0"/>
                <a:cs typeface="Arial" pitchFamily="34" charset="0"/>
              </a:rPr>
              <a:t>Взаимопожддержка</a:t>
            </a:r>
            <a:r>
              <a:rPr lang="ru-RU" sz="1600" dirty="0">
                <a:latin typeface="Arial" pitchFamily="34" charset="0"/>
                <a:cs typeface="Arial" pitchFamily="34" charset="0"/>
              </a:rPr>
              <a:t>. </a:t>
            </a:r>
          </a:p>
          <a:p>
            <a:pPr marL="342292" indent="-342292">
              <a:lnSpc>
                <a:spcPct val="80000"/>
              </a:lnSpc>
              <a:buSzPct val="60000"/>
              <a:buFont typeface="Arial"/>
              <a:buAutoNum type="arabicPeriod"/>
              <a:defRPr sz="1800"/>
            </a:pPr>
            <a:r>
              <a:rPr lang="ru-RU" sz="1600" b="1" dirty="0">
                <a:latin typeface="Arial" pitchFamily="34" charset="0"/>
                <a:ea typeface="Arial"/>
                <a:cs typeface="Arial" pitchFamily="34" charset="0"/>
                <a:sym typeface="Arial"/>
              </a:rPr>
              <a:t>Иерархичность:</a:t>
            </a:r>
            <a:r>
              <a:rPr lang="ru-RU" sz="1600" dirty="0">
                <a:latin typeface="Arial" pitchFamily="34" charset="0"/>
                <a:cs typeface="Arial" pitchFamily="34" charset="0"/>
              </a:rPr>
              <a:t> </a:t>
            </a:r>
            <a:br>
              <a:rPr lang="ru-RU" sz="1600" dirty="0">
                <a:latin typeface="Arial" pitchFamily="34" charset="0"/>
                <a:cs typeface="Arial" pitchFamily="34" charset="0"/>
              </a:rPr>
            </a:br>
            <a:r>
              <a:rPr lang="ru-RU" sz="1600" dirty="0">
                <a:latin typeface="Arial" pitchFamily="34" charset="0"/>
                <a:cs typeface="Arial" pitchFamily="34" charset="0"/>
              </a:rPr>
              <a:t>для здорового существования  семейной системы, цели членов семьи важно согласовывать с Целью семейной системы.</a:t>
            </a:r>
            <a:endParaRPr lang="ru-RU" sz="1600" dirty="0"/>
          </a:p>
        </p:txBody>
      </p:sp>
      <p:pic>
        <p:nvPicPr>
          <p:cNvPr id="5" name="image3.jpeg"/>
          <p:cNvPicPr/>
          <p:nvPr/>
        </p:nvPicPr>
        <p:blipFill>
          <a:blip r:embed="rId2">
            <a:alphaModFix amt="20361"/>
          </a:blip>
          <a:stretch>
            <a:fillRect/>
          </a:stretch>
        </p:blipFill>
        <p:spPr>
          <a:xfrm flipH="1">
            <a:off x="12515129" y="548680"/>
            <a:ext cx="937519" cy="63069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>
            <a:extLst>
              <a:ext uri="{FF2B5EF4-FFF2-40B4-BE49-F238E27FC236}">
                <a16:creationId xmlns:a16="http://schemas.microsoft.com/office/drawing/2014/main" id="{AA096AB6-FC74-4412-8E5B-8C93983C314F}"/>
              </a:ext>
            </a:extLst>
          </p:cNvPr>
          <p:cNvSpPr/>
          <p:nvPr/>
        </p:nvSpPr>
        <p:spPr>
          <a:xfrm>
            <a:off x="4329601" y="3357432"/>
            <a:ext cx="874553" cy="89342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70075E77-E59F-4743-BFAF-953B50B94AAE}"/>
              </a:ext>
            </a:extLst>
          </p:cNvPr>
          <p:cNvSpPr/>
          <p:nvPr/>
        </p:nvSpPr>
        <p:spPr>
          <a:xfrm>
            <a:off x="6332703" y="3315749"/>
            <a:ext cx="874553" cy="93747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ru-RU" sz="225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661D8BB-0389-4E08-A1AD-4763541261B6}"/>
              </a:ext>
            </a:extLst>
          </p:cNvPr>
          <p:cNvCxnSpPr>
            <a:cxnSpLocks/>
          </p:cNvCxnSpPr>
          <p:nvPr/>
        </p:nvCxnSpPr>
        <p:spPr>
          <a:xfrm flipV="1">
            <a:off x="7201332" y="2736905"/>
            <a:ext cx="435732" cy="5020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30C003B1-266A-4758-9186-1226C594E1BF}"/>
              </a:ext>
            </a:extLst>
          </p:cNvPr>
          <p:cNvCxnSpPr/>
          <p:nvPr/>
        </p:nvCxnSpPr>
        <p:spPr>
          <a:xfrm>
            <a:off x="5299047" y="3804146"/>
            <a:ext cx="8934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9EE9B779-EC85-4D4F-974F-1232C249D681}"/>
              </a:ext>
            </a:extLst>
          </p:cNvPr>
          <p:cNvCxnSpPr>
            <a:cxnSpLocks/>
          </p:cNvCxnSpPr>
          <p:nvPr/>
        </p:nvCxnSpPr>
        <p:spPr>
          <a:xfrm flipV="1">
            <a:off x="5951092" y="4308960"/>
            <a:ext cx="422384" cy="494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2D23D10-BC9A-4553-9F1C-1D62CB08EA66}"/>
              </a:ext>
            </a:extLst>
          </p:cNvPr>
          <p:cNvCxnSpPr>
            <a:cxnSpLocks/>
          </p:cNvCxnSpPr>
          <p:nvPr/>
        </p:nvCxnSpPr>
        <p:spPr>
          <a:xfrm flipV="1">
            <a:off x="6677195" y="2697121"/>
            <a:ext cx="419190" cy="539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63A578-0A67-4F01-B5B5-D2013473312C}"/>
              </a:ext>
            </a:extLst>
          </p:cNvPr>
          <p:cNvCxnSpPr>
            <a:cxnSpLocks/>
          </p:cNvCxnSpPr>
          <p:nvPr/>
        </p:nvCxnSpPr>
        <p:spPr>
          <a:xfrm>
            <a:off x="7071958" y="4172344"/>
            <a:ext cx="551053" cy="4731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DCF156DA-66A7-46ED-A481-776B48B2CE23}"/>
              </a:ext>
            </a:extLst>
          </p:cNvPr>
          <p:cNvCxnSpPr>
            <a:cxnSpLocks/>
          </p:cNvCxnSpPr>
          <p:nvPr/>
        </p:nvCxnSpPr>
        <p:spPr>
          <a:xfrm>
            <a:off x="6886790" y="4319808"/>
            <a:ext cx="505697" cy="4726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Равнобедренный треугольник 16">
            <a:extLst>
              <a:ext uri="{FF2B5EF4-FFF2-40B4-BE49-F238E27FC236}">
                <a16:creationId xmlns:a16="http://schemas.microsoft.com/office/drawing/2014/main" id="{96789E24-C541-4C6B-BE8C-94F9043E7D19}"/>
              </a:ext>
            </a:extLst>
          </p:cNvPr>
          <p:cNvSpPr/>
          <p:nvPr/>
        </p:nvSpPr>
        <p:spPr>
          <a:xfrm>
            <a:off x="7577815" y="1442384"/>
            <a:ext cx="734035" cy="1006679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8" name="Равнобедренный треугольник 17">
            <a:extLst>
              <a:ext uri="{FF2B5EF4-FFF2-40B4-BE49-F238E27FC236}">
                <a16:creationId xmlns:a16="http://schemas.microsoft.com/office/drawing/2014/main" id="{83B0EA88-C4D9-49ED-A339-FFD6F202A70F}"/>
              </a:ext>
            </a:extLst>
          </p:cNvPr>
          <p:cNvSpPr/>
          <p:nvPr/>
        </p:nvSpPr>
        <p:spPr>
          <a:xfrm rot="10800000">
            <a:off x="7577815" y="4722680"/>
            <a:ext cx="734035" cy="1006679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FD464851-4BF9-4C00-83AB-441CCC3344E9}"/>
              </a:ext>
            </a:extLst>
          </p:cNvPr>
          <p:cNvCxnSpPr>
            <a:cxnSpLocks/>
          </p:cNvCxnSpPr>
          <p:nvPr/>
        </p:nvCxnSpPr>
        <p:spPr>
          <a:xfrm flipV="1">
            <a:off x="6947534" y="2702892"/>
            <a:ext cx="419190" cy="539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FEB00724-3B27-4F3D-A74C-82D264D887EF}"/>
              </a:ext>
            </a:extLst>
          </p:cNvPr>
          <p:cNvCxnSpPr>
            <a:cxnSpLocks/>
          </p:cNvCxnSpPr>
          <p:nvPr/>
        </p:nvCxnSpPr>
        <p:spPr>
          <a:xfrm flipV="1">
            <a:off x="6142711" y="4315805"/>
            <a:ext cx="419190" cy="539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398C9463-7906-44F1-9946-787D5DD71B03}"/>
              </a:ext>
            </a:extLst>
          </p:cNvPr>
          <p:cNvCxnSpPr>
            <a:cxnSpLocks/>
          </p:cNvCxnSpPr>
          <p:nvPr/>
        </p:nvCxnSpPr>
        <p:spPr>
          <a:xfrm flipH="1" flipV="1">
            <a:off x="5017190" y="4308960"/>
            <a:ext cx="353083" cy="494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851E760C-F11B-428D-9EB6-9F1647078513}"/>
              </a:ext>
            </a:extLst>
          </p:cNvPr>
          <p:cNvCxnSpPr>
            <a:cxnSpLocks/>
          </p:cNvCxnSpPr>
          <p:nvPr/>
        </p:nvCxnSpPr>
        <p:spPr>
          <a:xfrm flipH="1" flipV="1">
            <a:off x="4772928" y="4315807"/>
            <a:ext cx="353870" cy="5391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Овал 29">
            <a:extLst>
              <a:ext uri="{FF2B5EF4-FFF2-40B4-BE49-F238E27FC236}">
                <a16:creationId xmlns:a16="http://schemas.microsoft.com/office/drawing/2014/main" id="{34AA1EE6-014E-45A1-9E1F-A490252603C2}"/>
              </a:ext>
            </a:extLst>
          </p:cNvPr>
          <p:cNvSpPr/>
          <p:nvPr/>
        </p:nvSpPr>
        <p:spPr>
          <a:xfrm>
            <a:off x="5223932" y="4803322"/>
            <a:ext cx="874553" cy="93747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ru-RU" sz="225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</a:p>
        </p:txBody>
      </p:sp>
      <p:sp>
        <p:nvSpPr>
          <p:cNvPr id="31" name="Равнобедренный треугольник 30">
            <a:extLst>
              <a:ext uri="{FF2B5EF4-FFF2-40B4-BE49-F238E27FC236}">
                <a16:creationId xmlns:a16="http://schemas.microsoft.com/office/drawing/2014/main" id="{DD6126C5-19E1-4242-A28E-9A1F26A05F57}"/>
              </a:ext>
            </a:extLst>
          </p:cNvPr>
          <p:cNvSpPr/>
          <p:nvPr/>
        </p:nvSpPr>
        <p:spPr>
          <a:xfrm>
            <a:off x="2287507" y="1442383"/>
            <a:ext cx="734035" cy="1006679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32" name="Равнобедренный треугольник 31">
            <a:extLst>
              <a:ext uri="{FF2B5EF4-FFF2-40B4-BE49-F238E27FC236}">
                <a16:creationId xmlns:a16="http://schemas.microsoft.com/office/drawing/2014/main" id="{7EAEC4D4-D4E7-4B2B-AF41-5C210A739D4C}"/>
              </a:ext>
            </a:extLst>
          </p:cNvPr>
          <p:cNvSpPr/>
          <p:nvPr/>
        </p:nvSpPr>
        <p:spPr>
          <a:xfrm rot="10800000">
            <a:off x="3237562" y="1442383"/>
            <a:ext cx="734035" cy="1006679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835A0578-5866-49DB-8B9B-274D5F8C063D}"/>
              </a:ext>
            </a:extLst>
          </p:cNvPr>
          <p:cNvCxnSpPr/>
          <p:nvPr/>
        </p:nvCxnSpPr>
        <p:spPr>
          <a:xfrm>
            <a:off x="3436690" y="2530854"/>
            <a:ext cx="213920" cy="205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F6ECC0A4-5FED-4870-8671-B80C085FFC36}"/>
              </a:ext>
            </a:extLst>
          </p:cNvPr>
          <p:cNvCxnSpPr/>
          <p:nvPr/>
        </p:nvCxnSpPr>
        <p:spPr>
          <a:xfrm>
            <a:off x="3757570" y="2869302"/>
            <a:ext cx="270545" cy="2695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96C4152F-DAF0-426B-A906-0E8FFDDD97A1}"/>
              </a:ext>
            </a:extLst>
          </p:cNvPr>
          <p:cNvCxnSpPr/>
          <p:nvPr/>
        </p:nvCxnSpPr>
        <p:spPr>
          <a:xfrm>
            <a:off x="4116198" y="3238348"/>
            <a:ext cx="213402" cy="1906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9F70214B-2DF8-48DB-B30F-5EAAB870C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семейной системы</a:t>
            </a: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C3543040-47BA-46FD-89CB-7D3A67407ED0}"/>
              </a:ext>
            </a:extLst>
          </p:cNvPr>
          <p:cNvCxnSpPr>
            <a:cxnSpLocks/>
          </p:cNvCxnSpPr>
          <p:nvPr/>
        </p:nvCxnSpPr>
        <p:spPr>
          <a:xfrm>
            <a:off x="5252612" y="4166574"/>
            <a:ext cx="1985465" cy="967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3" name="Рукописный ввод 22">
                <a:extLst>
                  <a:ext uri="{FF2B5EF4-FFF2-40B4-BE49-F238E27FC236}">
                    <a16:creationId xmlns:a16="http://schemas.microsoft.com/office/drawing/2014/main" id="{24E726DD-15C8-4C22-A493-A6B8AD801F62}"/>
                  </a:ext>
                </a:extLst>
              </p14:cNvPr>
              <p14:cNvContentPartPr/>
              <p14:nvPr/>
            </p14:nvContentPartPr>
            <p14:xfrm>
              <a:off x="6663664" y="4696113"/>
              <a:ext cx="283680" cy="383760"/>
            </p14:xfrm>
          </p:contentPart>
        </mc:Choice>
        <mc:Fallback xmlns="">
          <p:pic>
            <p:nvPicPr>
              <p:cNvPr id="23" name="Рукописный ввод 22">
                <a:extLst>
                  <a:ext uri="{FF2B5EF4-FFF2-40B4-BE49-F238E27FC236}">
                    <a16:creationId xmlns:a16="http://schemas.microsoft.com/office/drawing/2014/main" id="{24E726DD-15C8-4C22-A493-A6B8AD801F6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54664" y="4687113"/>
                <a:ext cx="301320" cy="40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3" name="Рукописный ввод 32">
                <a:extLst>
                  <a:ext uri="{FF2B5EF4-FFF2-40B4-BE49-F238E27FC236}">
                    <a16:creationId xmlns:a16="http://schemas.microsoft.com/office/drawing/2014/main" id="{CE84B771-D331-4584-A89D-9523C576CBF6}"/>
                  </a:ext>
                </a:extLst>
              </p14:cNvPr>
              <p14:cNvContentPartPr/>
              <p14:nvPr/>
            </p14:nvContentPartPr>
            <p14:xfrm>
              <a:off x="6511024" y="4713753"/>
              <a:ext cx="366480" cy="393480"/>
            </p14:xfrm>
          </p:contentPart>
        </mc:Choice>
        <mc:Fallback xmlns="">
          <p:pic>
            <p:nvPicPr>
              <p:cNvPr id="33" name="Рукописный ввод 32">
                <a:extLst>
                  <a:ext uri="{FF2B5EF4-FFF2-40B4-BE49-F238E27FC236}">
                    <a16:creationId xmlns:a16="http://schemas.microsoft.com/office/drawing/2014/main" id="{CE84B771-D331-4584-A89D-9523C576CB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02024" y="4704753"/>
                <a:ext cx="384120" cy="41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87822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lnSpc>
                <a:spcPct val="90000"/>
              </a:lnSpc>
              <a:spcBef>
                <a:spcPts val="400"/>
              </a:spcBef>
              <a:defRPr sz="5700">
                <a:solidFill>
                  <a:srgbClr val="000000"/>
                </a:solidFill>
              </a:defRPr>
            </a:lvl1pPr>
          </a:lstStyle>
          <a:p>
            <a:pPr lvl="0">
              <a:defRPr sz="1800">
                <a:effectLst/>
              </a:defRPr>
            </a:pPr>
            <a:r>
              <a:rPr sz="4000" b="1" dirty="0" err="1"/>
              <a:t>Энтропия</a:t>
            </a:r>
            <a:r>
              <a:rPr lang="ru-RU" sz="4000" b="1" dirty="0"/>
              <a:t>   </a:t>
            </a:r>
            <a:r>
              <a:rPr lang="ru-RU" sz="4000" b="1" dirty="0" err="1"/>
              <a:t>Негэнтропия</a:t>
            </a:r>
            <a:r>
              <a:rPr lang="ru-RU" sz="4000" b="1" dirty="0"/>
              <a:t> в системе</a:t>
            </a:r>
            <a:endParaRPr sz="4000" b="1" dirty="0"/>
          </a:p>
        </p:txBody>
      </p:sp>
      <p:sp>
        <p:nvSpPr>
          <p:cNvPr id="193" name="Shape 193"/>
          <p:cNvSpPr>
            <a:spLocks noGrp="1"/>
          </p:cNvSpPr>
          <p:nvPr>
            <p:ph sz="half" idx="1"/>
          </p:nvPr>
        </p:nvSpPr>
        <p:spPr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marL="348704" indent="-348704">
              <a:spcBef>
                <a:spcPts val="1406"/>
              </a:spcBef>
              <a:buSzPct val="40000"/>
              <a:buBlip>
                <a:blip r:embed="rId2"/>
              </a:buBlip>
              <a:defRPr sz="1800"/>
            </a:pPr>
            <a:r>
              <a:rPr sz="2000" b="1" dirty="0" err="1">
                <a:ea typeface="Verdana"/>
                <a:cs typeface="Verdana"/>
                <a:sym typeface="Verdana"/>
              </a:rPr>
              <a:t>Энтропия</a:t>
            </a:r>
            <a:r>
              <a:rPr sz="2000" b="1" dirty="0">
                <a:ea typeface="Verdana"/>
                <a:cs typeface="Verdana"/>
                <a:sym typeface="Verdana"/>
              </a:rPr>
              <a:t> (</a:t>
            </a:r>
            <a:r>
              <a:rPr sz="2000" b="1" dirty="0" err="1">
                <a:ea typeface="Verdana"/>
                <a:cs typeface="Verdana"/>
                <a:sym typeface="Verdana"/>
              </a:rPr>
              <a:t>нестабильности</a:t>
            </a:r>
            <a:r>
              <a:rPr sz="2000" b="1" dirty="0">
                <a:ea typeface="Verdana"/>
                <a:cs typeface="Verdana"/>
                <a:sym typeface="Verdana"/>
              </a:rPr>
              <a:t>) </a:t>
            </a:r>
            <a:r>
              <a:rPr sz="2000" dirty="0">
                <a:ea typeface="Verdana"/>
                <a:cs typeface="Verdana"/>
                <a:sym typeface="Verdana"/>
              </a:rPr>
              <a:t>- </a:t>
            </a:r>
            <a:r>
              <a:rPr sz="2000" dirty="0" err="1">
                <a:ea typeface="Verdana"/>
                <a:cs typeface="Verdana"/>
                <a:sym typeface="Verdana"/>
              </a:rPr>
              <a:t>от</a:t>
            </a:r>
            <a:r>
              <a:rPr sz="2000" dirty="0">
                <a:ea typeface="Verdana"/>
                <a:cs typeface="Verdana"/>
                <a:sym typeface="Verdana"/>
              </a:rPr>
              <a:t> </a:t>
            </a:r>
            <a:r>
              <a:rPr sz="2000" dirty="0" err="1">
                <a:ea typeface="Verdana"/>
                <a:cs typeface="Verdana"/>
                <a:sym typeface="Verdana"/>
              </a:rPr>
              <a:t>др</a:t>
            </a:r>
            <a:r>
              <a:rPr sz="2000" dirty="0">
                <a:ea typeface="Verdana"/>
                <a:cs typeface="Verdana"/>
                <a:sym typeface="Verdana"/>
              </a:rPr>
              <a:t>.-</a:t>
            </a:r>
            <a:r>
              <a:rPr sz="2000" dirty="0" err="1">
                <a:ea typeface="Verdana"/>
                <a:cs typeface="Verdana"/>
                <a:sym typeface="Verdana"/>
              </a:rPr>
              <a:t>греч</a:t>
            </a:r>
            <a:r>
              <a:rPr sz="2000" dirty="0">
                <a:ea typeface="Verdana"/>
                <a:cs typeface="Verdana"/>
                <a:sym typeface="Verdana"/>
              </a:rPr>
              <a:t>. </a:t>
            </a:r>
            <a:r>
              <a:rPr sz="2000" dirty="0" err="1">
                <a:ea typeface="Verdana"/>
                <a:cs typeface="Verdana"/>
                <a:sym typeface="Verdana"/>
              </a:rPr>
              <a:t>ἐντρο</a:t>
            </a:r>
            <a:r>
              <a:rPr sz="2000" dirty="0">
                <a:ea typeface="Verdana"/>
                <a:cs typeface="Verdana"/>
                <a:sym typeface="Verdana"/>
              </a:rPr>
              <a:t>πία — поворот, превращение) –  самопроизвольно протекающие процессы движутся в сторону увеличения хаоса.</a:t>
            </a:r>
          </a:p>
          <a:p>
            <a:pPr marL="348704" indent="-348704">
              <a:spcBef>
                <a:spcPts val="1406"/>
              </a:spcBef>
              <a:buSzPct val="40000"/>
              <a:buBlip>
                <a:blip r:embed="rId2"/>
              </a:buBlip>
              <a:defRPr sz="1800"/>
            </a:pPr>
            <a:r>
              <a:rPr sz="2000" b="1" dirty="0" err="1">
                <a:ea typeface="Verdana"/>
                <a:cs typeface="Verdana"/>
                <a:sym typeface="Verdana"/>
              </a:rPr>
              <a:t>Негэнтропия</a:t>
            </a:r>
            <a:r>
              <a:rPr sz="2000" b="1" dirty="0">
                <a:ea typeface="Verdana"/>
                <a:cs typeface="Verdana"/>
                <a:sym typeface="Verdana"/>
              </a:rPr>
              <a:t> (</a:t>
            </a:r>
            <a:r>
              <a:rPr sz="2000" b="1" dirty="0" err="1">
                <a:ea typeface="Verdana"/>
                <a:cs typeface="Verdana"/>
                <a:sym typeface="Verdana"/>
              </a:rPr>
              <a:t>показатель</a:t>
            </a:r>
            <a:r>
              <a:rPr sz="2000" b="1" dirty="0">
                <a:ea typeface="Verdana"/>
                <a:cs typeface="Verdana"/>
                <a:sym typeface="Verdana"/>
              </a:rPr>
              <a:t> </a:t>
            </a:r>
            <a:r>
              <a:rPr sz="2000" b="1" dirty="0" err="1">
                <a:ea typeface="Verdana"/>
                <a:cs typeface="Verdana"/>
                <a:sym typeface="Verdana"/>
              </a:rPr>
              <a:t>стабильности</a:t>
            </a:r>
            <a:r>
              <a:rPr sz="2000" b="1" dirty="0">
                <a:ea typeface="Verdana"/>
                <a:cs typeface="Verdana"/>
                <a:sym typeface="Verdana"/>
              </a:rPr>
              <a:t>, </a:t>
            </a:r>
            <a:r>
              <a:rPr sz="2000" b="1" dirty="0" err="1">
                <a:ea typeface="Verdana"/>
                <a:cs typeface="Verdana"/>
                <a:sym typeface="Verdana"/>
              </a:rPr>
              <a:t>пришедший</a:t>
            </a:r>
            <a:r>
              <a:rPr sz="2000" b="1" dirty="0">
                <a:ea typeface="Verdana"/>
                <a:cs typeface="Verdana"/>
                <a:sym typeface="Verdana"/>
              </a:rPr>
              <a:t> </a:t>
            </a:r>
            <a:r>
              <a:rPr sz="2000" b="1" dirty="0" err="1">
                <a:ea typeface="Verdana"/>
                <a:cs typeface="Verdana"/>
                <a:sym typeface="Verdana"/>
              </a:rPr>
              <a:t>из</a:t>
            </a:r>
            <a:r>
              <a:rPr sz="2000" b="1" dirty="0">
                <a:ea typeface="Verdana"/>
                <a:cs typeface="Verdana"/>
                <a:sym typeface="Verdana"/>
              </a:rPr>
              <a:t> </a:t>
            </a:r>
            <a:r>
              <a:rPr sz="2000" b="1" dirty="0" err="1">
                <a:ea typeface="Verdana"/>
                <a:cs typeface="Verdana"/>
                <a:sym typeface="Verdana"/>
              </a:rPr>
              <a:t>философии</a:t>
            </a:r>
            <a:r>
              <a:rPr sz="2000" b="1" dirty="0">
                <a:ea typeface="Verdana"/>
                <a:cs typeface="Verdana"/>
                <a:sym typeface="Verdana"/>
              </a:rPr>
              <a:t>)</a:t>
            </a:r>
            <a:r>
              <a:rPr lang="ru-RU" sz="2000" b="1" dirty="0">
                <a:ea typeface="Verdana"/>
                <a:cs typeface="Verdana"/>
                <a:sym typeface="Verdana"/>
              </a:rPr>
              <a:t> </a:t>
            </a:r>
            <a:r>
              <a:rPr sz="2000" b="1" dirty="0">
                <a:ea typeface="Verdana"/>
                <a:cs typeface="Verdana"/>
                <a:sym typeface="Verdana"/>
              </a:rPr>
              <a:t>- </a:t>
            </a:r>
            <a:r>
              <a:rPr sz="2000" dirty="0" err="1">
                <a:ea typeface="Verdana"/>
                <a:cs typeface="Verdana"/>
                <a:sym typeface="Verdana"/>
              </a:rPr>
              <a:t>показатель</a:t>
            </a:r>
            <a:r>
              <a:rPr sz="2000" dirty="0">
                <a:ea typeface="Verdana"/>
                <a:cs typeface="Verdana"/>
                <a:sym typeface="Verdana"/>
              </a:rPr>
              <a:t> </a:t>
            </a:r>
            <a:r>
              <a:rPr sz="2000" dirty="0" err="1">
                <a:ea typeface="Verdana"/>
                <a:cs typeface="Verdana"/>
                <a:sym typeface="Verdana"/>
              </a:rPr>
              <a:t>упорядоченности</a:t>
            </a:r>
            <a:r>
              <a:rPr sz="2000" dirty="0">
                <a:ea typeface="Verdana"/>
                <a:cs typeface="Verdana"/>
                <a:sym typeface="Verdana"/>
              </a:rPr>
              <a:t>, </a:t>
            </a:r>
            <a:r>
              <a:rPr sz="2000" dirty="0" err="1">
                <a:ea typeface="Verdana"/>
                <a:cs typeface="Verdana"/>
                <a:sym typeface="Verdana"/>
              </a:rPr>
              <a:t>демонстирирует</a:t>
            </a:r>
            <a:r>
              <a:rPr sz="2000" dirty="0">
                <a:ea typeface="Verdana"/>
                <a:cs typeface="Verdana"/>
                <a:sym typeface="Verdana"/>
              </a:rPr>
              <a:t> </a:t>
            </a:r>
            <a:r>
              <a:rPr sz="2000" dirty="0" err="1">
                <a:ea typeface="Verdana"/>
                <a:cs typeface="Verdana"/>
                <a:sym typeface="Verdana"/>
              </a:rPr>
              <a:t>меру</a:t>
            </a:r>
            <a:r>
              <a:rPr sz="2000" dirty="0">
                <a:ea typeface="Verdana"/>
                <a:cs typeface="Verdana"/>
                <a:sym typeface="Verdana"/>
              </a:rPr>
              <a:t> </a:t>
            </a:r>
            <a:r>
              <a:rPr sz="2000" dirty="0" err="1">
                <a:ea typeface="Verdana"/>
                <a:cs typeface="Verdana"/>
                <a:sym typeface="Verdana"/>
              </a:rPr>
              <a:t>упорядоченности</a:t>
            </a:r>
            <a:r>
              <a:rPr sz="2000" dirty="0">
                <a:ea typeface="Verdana"/>
                <a:cs typeface="Verdana"/>
                <a:sym typeface="Verdana"/>
              </a:rPr>
              <a:t> и </a:t>
            </a:r>
            <a:r>
              <a:rPr sz="2000" dirty="0" err="1">
                <a:ea typeface="Verdana"/>
                <a:cs typeface="Verdana"/>
                <a:sym typeface="Verdana"/>
              </a:rPr>
              <a:t>организованности</a:t>
            </a:r>
            <a:r>
              <a:rPr sz="2000" dirty="0">
                <a:ea typeface="Verdana"/>
                <a:cs typeface="Verdana"/>
                <a:sym typeface="Verdana"/>
              </a:rPr>
              <a:t> </a:t>
            </a:r>
            <a:r>
              <a:rPr sz="2000" dirty="0" err="1">
                <a:ea typeface="Verdana"/>
                <a:cs typeface="Verdana"/>
                <a:sym typeface="Verdana"/>
              </a:rPr>
              <a:t>системы</a:t>
            </a:r>
            <a:r>
              <a:rPr lang="ru-RU" sz="2000" dirty="0">
                <a:ea typeface="Verdana"/>
                <a:cs typeface="Verdana"/>
                <a:sym typeface="Verdana"/>
              </a:rPr>
              <a:t>. </a:t>
            </a:r>
            <a:endParaRPr sz="2000" dirty="0">
              <a:ea typeface="Verdana"/>
              <a:cs typeface="Verdana"/>
              <a:sym typeface="Verdana"/>
            </a:endParaRPr>
          </a:p>
        </p:txBody>
      </p:sp>
      <p:sp>
        <p:nvSpPr>
          <p:cNvPr id="2" name="Объект 1">
            <a:extLst>
              <a:ext uri="{FF2B5EF4-FFF2-40B4-BE49-F238E27FC236}">
                <a16:creationId xmlns:a16="http://schemas.microsoft.com/office/drawing/2014/main" id="{723FBD3B-5B86-40B0-9F75-514460D3B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47184" y="1324993"/>
            <a:ext cx="5384800" cy="4525963"/>
          </a:xfrm>
        </p:spPr>
        <p:txBody>
          <a:bodyPr>
            <a:normAutofit/>
          </a:bodyPr>
          <a:lstStyle/>
          <a:p>
            <a:r>
              <a:rPr lang="ru-RU" dirty="0"/>
              <a:t>Консультант может определить для себя уровень «энтропии» в семейной системе: </a:t>
            </a:r>
          </a:p>
          <a:p>
            <a:r>
              <a:rPr lang="ru-RU" dirty="0"/>
              <a:t>Есть ли семейные традиции? Кто устанавливал, все ли следуют?</a:t>
            </a:r>
          </a:p>
          <a:p>
            <a:r>
              <a:rPr lang="ru-RU" dirty="0"/>
              <a:t>Есть ли правила в семье? Они озвучены, или интуитивно существуют? И пр. </a:t>
            </a:r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A701A6-7629-4148-A140-534E63021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3826768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Разрушение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2C9FEC-7188-4B44-ABDA-89DF5AB95A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9622" y="1771059"/>
            <a:ext cx="4786489" cy="3017309"/>
          </a:xfrm>
        </p:spPr>
        <p:txBody>
          <a:bodyPr>
            <a:normAutofit fontScale="62500" lnSpcReduction="20000"/>
          </a:bodyPr>
          <a:lstStyle/>
          <a:p>
            <a:pPr defTabSz="321457">
              <a:spcBef>
                <a:spcPts val="0"/>
              </a:spcBef>
              <a:buSzPct val="40000"/>
              <a:defRPr sz="1800"/>
            </a:pPr>
            <a:r>
              <a:rPr lang="ru-RU" sz="4000" dirty="0"/>
              <a:t>Значительное усиление внешних влияний  и изменение силы внутренних связей в системе. </a:t>
            </a:r>
          </a:p>
          <a:p>
            <a:pPr defTabSz="321457">
              <a:spcBef>
                <a:spcPts val="0"/>
              </a:spcBef>
              <a:buSzPct val="40000"/>
              <a:defRPr sz="1800"/>
            </a:pPr>
            <a:endParaRPr lang="ru-RU" sz="4000" dirty="0"/>
          </a:p>
          <a:p>
            <a:pPr defTabSz="321457">
              <a:spcBef>
                <a:spcPts val="0"/>
              </a:spcBef>
              <a:buSzPct val="40000"/>
              <a:defRPr sz="1800"/>
            </a:pPr>
            <a:endParaRPr lang="ru-RU" sz="2800" dirty="0">
              <a:latin typeface="Arial"/>
              <a:ea typeface="Arial"/>
              <a:cs typeface="Arial"/>
              <a:sym typeface="Arial"/>
            </a:endParaRPr>
          </a:p>
          <a:p>
            <a:pPr defTabSz="321457">
              <a:spcBef>
                <a:spcPts val="0"/>
              </a:spcBef>
              <a:buSzPct val="40000"/>
              <a:defRPr sz="1800"/>
            </a:pPr>
            <a:r>
              <a:rPr lang="ru-RU" sz="2800" b="1" dirty="0">
                <a:latin typeface="Arial"/>
                <a:ea typeface="Arial"/>
                <a:cs typeface="Arial"/>
                <a:sym typeface="Arial"/>
              </a:rPr>
              <a:t>Варианты разрушения систем.</a:t>
            </a:r>
          </a:p>
          <a:p>
            <a:pPr defTabSz="321457">
              <a:spcBef>
                <a:spcPts val="0"/>
              </a:spcBef>
              <a:buSzPct val="40000"/>
              <a:defRPr sz="1800"/>
            </a:pPr>
            <a:endParaRPr lang="ru-RU" sz="2800" dirty="0">
              <a:latin typeface="Arial"/>
              <a:ea typeface="Arial"/>
              <a:cs typeface="Arial"/>
              <a:sym typeface="Arial"/>
            </a:endParaRPr>
          </a:p>
          <a:p>
            <a:pPr defTabSz="321457">
              <a:spcBef>
                <a:spcPts val="0"/>
              </a:spcBef>
              <a:buSzPct val="40000"/>
              <a:defRPr sz="1800"/>
            </a:pPr>
            <a:r>
              <a:rPr lang="ru-RU" sz="2800" dirty="0">
                <a:latin typeface="Arial"/>
                <a:ea typeface="Arial"/>
                <a:cs typeface="Arial"/>
                <a:sym typeface="Arial"/>
              </a:rPr>
              <a:t>КРИЗИС </a:t>
            </a:r>
          </a:p>
          <a:p>
            <a:pPr defTabSz="321457">
              <a:spcBef>
                <a:spcPts val="0"/>
              </a:spcBef>
              <a:buSzPct val="40000"/>
              <a:defRPr sz="1800"/>
            </a:pPr>
            <a:r>
              <a:rPr lang="ru-RU" sz="2800" dirty="0"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defTabSz="321457">
              <a:spcBef>
                <a:spcPts val="0"/>
              </a:spcBef>
              <a:buSzPct val="40000"/>
              <a:defRPr sz="1800"/>
            </a:pPr>
            <a:r>
              <a:rPr lang="ru-RU" sz="2800" dirty="0">
                <a:latin typeface="Arial"/>
                <a:ea typeface="Arial"/>
                <a:cs typeface="Arial"/>
                <a:sym typeface="Arial"/>
              </a:rPr>
              <a:t>ЛИЗИС (постепенное разрушение)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224D879-BC34-4E5A-87EB-DC7AFF44E1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692697"/>
            <a:ext cx="4316288" cy="5174035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/>
              <a:t>Примеры внешних влияний на семейную систему.</a:t>
            </a:r>
          </a:p>
          <a:p>
            <a:r>
              <a:rPr lang="ru-RU" dirty="0"/>
              <a:t>Родственники, выключенные из семейной системы.</a:t>
            </a:r>
          </a:p>
          <a:p>
            <a:r>
              <a:rPr lang="ru-RU" dirty="0"/>
              <a:t>Необходимость переезда одного из членов семьи</a:t>
            </a:r>
          </a:p>
          <a:p>
            <a:r>
              <a:rPr lang="ru-RU" dirty="0"/>
              <a:t>Болезнь одного из членов семьи. </a:t>
            </a:r>
          </a:p>
          <a:p>
            <a:r>
              <a:rPr lang="ru-RU" dirty="0"/>
              <a:t>Кто-то на стороне. </a:t>
            </a:r>
          </a:p>
          <a:p>
            <a:r>
              <a:rPr lang="ru-RU" b="1" dirty="0"/>
              <a:t>Изменение силы внутренних связей в том числе через появление </a:t>
            </a:r>
            <a:r>
              <a:rPr lang="ru-RU" sz="4500" b="1" dirty="0"/>
              <a:t>нездоровых коалиций. </a:t>
            </a:r>
          </a:p>
          <a:p>
            <a:endParaRPr lang="ru-RU" b="1" dirty="0"/>
          </a:p>
          <a:p>
            <a:r>
              <a:rPr lang="ru-RU" b="1" dirty="0"/>
              <a:t>КРИЗИС: развод, разрыв отношений с детьми.</a:t>
            </a:r>
          </a:p>
          <a:p>
            <a:r>
              <a:rPr lang="ru-RU" b="1" dirty="0"/>
              <a:t>ЛИЗИС : эмоциональный развод, постепенная деградация одного или нескольких членов семьи</a:t>
            </a:r>
            <a:br>
              <a:rPr lang="ru-RU" dirty="0"/>
            </a:br>
            <a:endParaRPr lang="ru-RU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8D3081A4-6E9D-4273-B5EA-E0CCF352ACEB}"/>
                  </a:ext>
                </a:extLst>
              </p14:cNvPr>
              <p14:cNvContentPartPr/>
              <p14:nvPr/>
            </p14:nvContentPartPr>
            <p14:xfrm>
              <a:off x="6495184" y="3399393"/>
              <a:ext cx="360" cy="360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8D3081A4-6E9D-4273-B5EA-E0CCF352AC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86184" y="339039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D3D2B150-5F13-46B9-9782-A070093D5784}"/>
                  </a:ext>
                </a:extLst>
              </p14:cNvPr>
              <p14:cNvContentPartPr/>
              <p14:nvPr/>
            </p14:nvContentPartPr>
            <p14:xfrm>
              <a:off x="-1536176" y="1331553"/>
              <a:ext cx="360" cy="360"/>
            </p14:xfrm>
          </p:contentPart>
        </mc:Choice>
        <mc:Fallback xmlns=""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D3D2B150-5F13-46B9-9782-A070093D578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545176" y="132255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28E4339A-326A-46A8-82C9-77B57184FDF0}"/>
                  </a:ext>
                </a:extLst>
              </p14:cNvPr>
              <p14:cNvContentPartPr/>
              <p14:nvPr/>
            </p14:nvContentPartPr>
            <p14:xfrm>
              <a:off x="-1314056" y="2831673"/>
              <a:ext cx="360" cy="360"/>
            </p14:xfrm>
          </p:contentPart>
        </mc:Choice>
        <mc:Fallback xmlns=""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28E4339A-326A-46A8-82C9-77B57184FDF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323056" y="282267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Рукописный ввод 8">
                <a:extLst>
                  <a:ext uri="{FF2B5EF4-FFF2-40B4-BE49-F238E27FC236}">
                    <a16:creationId xmlns:a16="http://schemas.microsoft.com/office/drawing/2014/main" id="{1C27F3AF-03B3-45D5-A978-BF0F79E44F09}"/>
                  </a:ext>
                </a:extLst>
              </p14:cNvPr>
              <p14:cNvContentPartPr/>
              <p14:nvPr/>
            </p14:nvContentPartPr>
            <p14:xfrm>
              <a:off x="-1314056" y="2831673"/>
              <a:ext cx="360" cy="360"/>
            </p14:xfrm>
          </p:contentPart>
        </mc:Choice>
        <mc:Fallback xmlns="">
          <p:pic>
            <p:nvPicPr>
              <p:cNvPr id="9" name="Рукописный ввод 8">
                <a:extLst>
                  <a:ext uri="{FF2B5EF4-FFF2-40B4-BE49-F238E27FC236}">
                    <a16:creationId xmlns:a16="http://schemas.microsoft.com/office/drawing/2014/main" id="{1C27F3AF-03B3-45D5-A978-BF0F79E44F0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323056" y="282267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Рукописный ввод 10">
                <a:extLst>
                  <a:ext uri="{FF2B5EF4-FFF2-40B4-BE49-F238E27FC236}">
                    <a16:creationId xmlns:a16="http://schemas.microsoft.com/office/drawing/2014/main" id="{9C9A3C99-FEFC-4F1A-8C92-B2EDE5B3A02B}"/>
                  </a:ext>
                </a:extLst>
              </p14:cNvPr>
              <p14:cNvContentPartPr/>
              <p14:nvPr/>
            </p14:nvContentPartPr>
            <p14:xfrm>
              <a:off x="-1438616" y="834033"/>
              <a:ext cx="360" cy="360"/>
            </p14:xfrm>
          </p:contentPart>
        </mc:Choice>
        <mc:Fallback xmlns="">
          <p:pic>
            <p:nvPicPr>
              <p:cNvPr id="11" name="Рукописный ввод 10">
                <a:extLst>
                  <a:ext uri="{FF2B5EF4-FFF2-40B4-BE49-F238E27FC236}">
                    <a16:creationId xmlns:a16="http://schemas.microsoft.com/office/drawing/2014/main" id="{9C9A3C99-FEFC-4F1A-8C92-B2EDE5B3A02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447616" y="825033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53408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A500EE-371E-4F01-822A-66E71A5C0F4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7202488" cy="1143000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коалиции?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F2D207-531B-4200-B0CB-B642A4ABFA3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74198" y="1578768"/>
            <a:ext cx="8229600" cy="3700463"/>
          </a:xfrm>
        </p:spPr>
        <p:txBody>
          <a:bodyPr>
            <a:normAutofit fontScale="77500" lnSpcReduction="2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Коалиции представляют собой формы союзов, альянсов или группировок, которые образуются между членами семьи. 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Они могут быть явными или скрытыми и часто возникают как реакция на конфликты или динамические изменения в семье. 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Коалиции могут формироваться между разными членами семьи, включая родителей, детей и даже других родственников. 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Они могут быть временными или стойкими, конструктивными или деструктивными.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19254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6A15E5-6A26-400B-B422-14B4FDCB5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B8FFDD-7DA6-4C54-9900-702BD509E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Как коалиции формируются внутри семейных систем?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Формирование коалиций обычно связано с попыткой членов семьи разрешить конфликты, удовлетворить свои потребности или изменить динамику в семье. Вот некоторые типичные сценарии:</a:t>
            </a:r>
          </a:p>
          <a:p>
            <a: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Вертикальные коалиции</a:t>
            </a:r>
          </a:p>
          <a:p>
            <a: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Горизонтальные коалиции</a:t>
            </a:r>
          </a:p>
          <a:p>
            <a: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Гендерные коалиции</a:t>
            </a:r>
            <a:endParaRPr lang="ru-RU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endParaRPr lang="ru-RU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endParaRPr lang="ru-RU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90028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76862E6-33A0-4329-86DB-F67AE6B82E44}"/>
              </a:ext>
            </a:extLst>
          </p:cNvPr>
          <p:cNvSpPr/>
          <p:nvPr/>
        </p:nvSpPr>
        <p:spPr>
          <a:xfrm>
            <a:off x="2143739" y="1719219"/>
            <a:ext cx="2126609" cy="748718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ПАПА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96119A3-3092-4B7D-9811-49A6CEEB7D6A}"/>
              </a:ext>
            </a:extLst>
          </p:cNvPr>
          <p:cNvSpPr/>
          <p:nvPr/>
        </p:nvSpPr>
        <p:spPr>
          <a:xfrm>
            <a:off x="5557009" y="1725772"/>
            <a:ext cx="2126609" cy="748718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МАМА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EE62AF97-6046-4F73-B76B-68FBD5773047}"/>
              </a:ext>
            </a:extLst>
          </p:cNvPr>
          <p:cNvCxnSpPr>
            <a:cxnSpLocks/>
          </p:cNvCxnSpPr>
          <p:nvPr/>
        </p:nvCxnSpPr>
        <p:spPr>
          <a:xfrm>
            <a:off x="7683616" y="2669273"/>
            <a:ext cx="665876" cy="598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6BA287-8295-46CB-BC80-A41CF6E3E997}"/>
              </a:ext>
            </a:extLst>
          </p:cNvPr>
          <p:cNvCxnSpPr>
            <a:cxnSpLocks/>
          </p:cNvCxnSpPr>
          <p:nvPr/>
        </p:nvCxnSpPr>
        <p:spPr>
          <a:xfrm>
            <a:off x="7533664" y="2789865"/>
            <a:ext cx="665876" cy="598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Овал 9">
            <a:extLst>
              <a:ext uri="{FF2B5EF4-FFF2-40B4-BE49-F238E27FC236}">
                <a16:creationId xmlns:a16="http://schemas.microsoft.com/office/drawing/2014/main" id="{F40C0ED2-D0F2-4D9B-A023-94113C744D67}"/>
              </a:ext>
            </a:extLst>
          </p:cNvPr>
          <p:cNvSpPr/>
          <p:nvPr/>
        </p:nvSpPr>
        <p:spPr>
          <a:xfrm>
            <a:off x="8199540" y="3429001"/>
            <a:ext cx="1264640" cy="1152962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Бм</a:t>
            </a:r>
            <a:endParaRPr lang="ru-RU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83AC5DF-4909-44C7-83DD-C86D8AD5AEE4}"/>
              </a:ext>
            </a:extLst>
          </p:cNvPr>
          <p:cNvSpPr/>
          <p:nvPr/>
        </p:nvSpPr>
        <p:spPr>
          <a:xfrm>
            <a:off x="5934513" y="3921330"/>
            <a:ext cx="1063304" cy="95634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430F0B1-994A-42B2-9706-58926086121E}"/>
              </a:ext>
            </a:extLst>
          </p:cNvPr>
          <p:cNvSpPr/>
          <p:nvPr/>
        </p:nvSpPr>
        <p:spPr>
          <a:xfrm>
            <a:off x="3738695" y="3921330"/>
            <a:ext cx="1063304" cy="95634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B9897C34-6D97-4E41-ABB9-4C77BF29EC09}"/>
              </a:ext>
            </a:extLst>
          </p:cNvPr>
          <p:cNvCxnSpPr/>
          <p:nvPr/>
        </p:nvCxnSpPr>
        <p:spPr>
          <a:xfrm>
            <a:off x="4301282" y="2529281"/>
            <a:ext cx="1613832" cy="13653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29F130CB-6A2E-4EB9-AD2E-42803AE793A6}"/>
              </a:ext>
            </a:extLst>
          </p:cNvPr>
          <p:cNvCxnSpPr>
            <a:cxnSpLocks/>
          </p:cNvCxnSpPr>
          <p:nvPr/>
        </p:nvCxnSpPr>
        <p:spPr>
          <a:xfrm>
            <a:off x="6466164" y="2635453"/>
            <a:ext cx="0" cy="11529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46D9AC7E-8C04-4D3A-B839-F5AFB25C0372}"/>
              </a:ext>
            </a:extLst>
          </p:cNvPr>
          <p:cNvCxnSpPr>
            <a:cxnSpLocks/>
          </p:cNvCxnSpPr>
          <p:nvPr/>
        </p:nvCxnSpPr>
        <p:spPr>
          <a:xfrm flipH="1">
            <a:off x="4864393" y="2669273"/>
            <a:ext cx="844142" cy="1119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56064783-694F-451F-91FA-492D2E9B44FC}"/>
              </a:ext>
            </a:extLst>
          </p:cNvPr>
          <p:cNvCxnSpPr>
            <a:cxnSpLocks/>
          </p:cNvCxnSpPr>
          <p:nvPr/>
        </p:nvCxnSpPr>
        <p:spPr>
          <a:xfrm flipH="1">
            <a:off x="4653100" y="2627588"/>
            <a:ext cx="814253" cy="10751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CED00F99-FF20-477F-AB27-64E2B6A9F275}"/>
              </a:ext>
            </a:extLst>
          </p:cNvPr>
          <p:cNvCxnSpPr/>
          <p:nvPr/>
        </p:nvCxnSpPr>
        <p:spPr>
          <a:xfrm>
            <a:off x="4348994" y="2093578"/>
            <a:ext cx="182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06B85D8B-C660-48FA-8109-3CF9483EF458}"/>
              </a:ext>
            </a:extLst>
          </p:cNvPr>
          <p:cNvCxnSpPr/>
          <p:nvPr/>
        </p:nvCxnSpPr>
        <p:spPr>
          <a:xfrm>
            <a:off x="4619539" y="2100131"/>
            <a:ext cx="182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DE700B89-2B59-4285-9314-7D6E39BAA1B4}"/>
              </a:ext>
            </a:extLst>
          </p:cNvPr>
          <p:cNvCxnSpPr/>
          <p:nvPr/>
        </p:nvCxnSpPr>
        <p:spPr>
          <a:xfrm>
            <a:off x="4877765" y="2100131"/>
            <a:ext cx="182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C40D72EF-00F8-43F4-96C8-9FACE7844582}"/>
              </a:ext>
            </a:extLst>
          </p:cNvPr>
          <p:cNvCxnSpPr/>
          <p:nvPr/>
        </p:nvCxnSpPr>
        <p:spPr>
          <a:xfrm>
            <a:off x="5108199" y="2100131"/>
            <a:ext cx="182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75422BCE-A0B8-42AC-B113-C67B2D796176}"/>
              </a:ext>
            </a:extLst>
          </p:cNvPr>
          <p:cNvCxnSpPr>
            <a:cxnSpLocks/>
          </p:cNvCxnSpPr>
          <p:nvPr/>
        </p:nvCxnSpPr>
        <p:spPr>
          <a:xfrm>
            <a:off x="3670535" y="2627588"/>
            <a:ext cx="68161" cy="162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573BAEC1-6E6E-4947-ABED-4BBBA922FCAD}"/>
              </a:ext>
            </a:extLst>
          </p:cNvPr>
          <p:cNvCxnSpPr>
            <a:cxnSpLocks/>
          </p:cNvCxnSpPr>
          <p:nvPr/>
        </p:nvCxnSpPr>
        <p:spPr>
          <a:xfrm>
            <a:off x="3762814" y="2855533"/>
            <a:ext cx="68161" cy="162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A151C13-14DD-4C21-A66D-D4456FAED1BC}"/>
              </a:ext>
            </a:extLst>
          </p:cNvPr>
          <p:cNvCxnSpPr>
            <a:cxnSpLocks/>
          </p:cNvCxnSpPr>
          <p:nvPr/>
        </p:nvCxnSpPr>
        <p:spPr>
          <a:xfrm>
            <a:off x="3855094" y="3089246"/>
            <a:ext cx="68161" cy="162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49C7175C-975B-43C9-9CFB-8169C5A6C8DC}"/>
              </a:ext>
            </a:extLst>
          </p:cNvPr>
          <p:cNvCxnSpPr>
            <a:cxnSpLocks/>
          </p:cNvCxnSpPr>
          <p:nvPr/>
        </p:nvCxnSpPr>
        <p:spPr>
          <a:xfrm>
            <a:off x="3957597" y="3347862"/>
            <a:ext cx="68161" cy="162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F0821B36-D40D-4245-A576-0C4A7BE06E39}"/>
              </a:ext>
            </a:extLst>
          </p:cNvPr>
          <p:cNvCxnSpPr>
            <a:cxnSpLocks/>
          </p:cNvCxnSpPr>
          <p:nvPr/>
        </p:nvCxnSpPr>
        <p:spPr>
          <a:xfrm>
            <a:off x="4054987" y="3600516"/>
            <a:ext cx="68161" cy="162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38176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>
            <a:extLst>
              <a:ext uri="{FF2B5EF4-FFF2-40B4-BE49-F238E27FC236}">
                <a16:creationId xmlns:a16="http://schemas.microsoft.com/office/drawing/2014/main" id="{AA096AB6-FC74-4412-8E5B-8C93983C314F}"/>
              </a:ext>
            </a:extLst>
          </p:cNvPr>
          <p:cNvSpPr/>
          <p:nvPr/>
        </p:nvSpPr>
        <p:spPr>
          <a:xfrm>
            <a:off x="4329601" y="3357432"/>
            <a:ext cx="874553" cy="89342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70075E77-E59F-4743-BFAF-953B50B94AAE}"/>
              </a:ext>
            </a:extLst>
          </p:cNvPr>
          <p:cNvSpPr/>
          <p:nvPr/>
        </p:nvSpPr>
        <p:spPr>
          <a:xfrm>
            <a:off x="6332703" y="3315749"/>
            <a:ext cx="874553" cy="93747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ru-RU" sz="225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661D8BB-0389-4E08-A1AD-4763541261B6}"/>
              </a:ext>
            </a:extLst>
          </p:cNvPr>
          <p:cNvCxnSpPr>
            <a:cxnSpLocks/>
          </p:cNvCxnSpPr>
          <p:nvPr/>
        </p:nvCxnSpPr>
        <p:spPr>
          <a:xfrm flipV="1">
            <a:off x="7201332" y="2736905"/>
            <a:ext cx="435732" cy="5020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30C003B1-266A-4758-9186-1226C594E1BF}"/>
              </a:ext>
            </a:extLst>
          </p:cNvPr>
          <p:cNvCxnSpPr/>
          <p:nvPr/>
        </p:nvCxnSpPr>
        <p:spPr>
          <a:xfrm>
            <a:off x="5299047" y="3804146"/>
            <a:ext cx="8934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9EE9B779-EC85-4D4F-974F-1232C249D681}"/>
              </a:ext>
            </a:extLst>
          </p:cNvPr>
          <p:cNvCxnSpPr>
            <a:cxnSpLocks/>
          </p:cNvCxnSpPr>
          <p:nvPr/>
        </p:nvCxnSpPr>
        <p:spPr>
          <a:xfrm flipV="1">
            <a:off x="5951092" y="4308960"/>
            <a:ext cx="422384" cy="494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2D23D10-BC9A-4553-9F1C-1D62CB08EA66}"/>
              </a:ext>
            </a:extLst>
          </p:cNvPr>
          <p:cNvCxnSpPr>
            <a:cxnSpLocks/>
          </p:cNvCxnSpPr>
          <p:nvPr/>
        </p:nvCxnSpPr>
        <p:spPr>
          <a:xfrm flipV="1">
            <a:off x="6677195" y="2697121"/>
            <a:ext cx="419190" cy="539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63A578-0A67-4F01-B5B5-D2013473312C}"/>
              </a:ext>
            </a:extLst>
          </p:cNvPr>
          <p:cNvCxnSpPr>
            <a:cxnSpLocks/>
          </p:cNvCxnSpPr>
          <p:nvPr/>
        </p:nvCxnSpPr>
        <p:spPr>
          <a:xfrm>
            <a:off x="7071958" y="4172344"/>
            <a:ext cx="551053" cy="4731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DCF156DA-66A7-46ED-A481-776B48B2CE23}"/>
              </a:ext>
            </a:extLst>
          </p:cNvPr>
          <p:cNvCxnSpPr>
            <a:cxnSpLocks/>
          </p:cNvCxnSpPr>
          <p:nvPr/>
        </p:nvCxnSpPr>
        <p:spPr>
          <a:xfrm>
            <a:off x="6886790" y="4319808"/>
            <a:ext cx="505697" cy="4726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Равнобедренный треугольник 16">
            <a:extLst>
              <a:ext uri="{FF2B5EF4-FFF2-40B4-BE49-F238E27FC236}">
                <a16:creationId xmlns:a16="http://schemas.microsoft.com/office/drawing/2014/main" id="{96789E24-C541-4C6B-BE8C-94F9043E7D19}"/>
              </a:ext>
            </a:extLst>
          </p:cNvPr>
          <p:cNvSpPr/>
          <p:nvPr/>
        </p:nvSpPr>
        <p:spPr>
          <a:xfrm>
            <a:off x="7577815" y="1442384"/>
            <a:ext cx="734035" cy="1006679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8" name="Равнобедренный треугольник 17">
            <a:extLst>
              <a:ext uri="{FF2B5EF4-FFF2-40B4-BE49-F238E27FC236}">
                <a16:creationId xmlns:a16="http://schemas.microsoft.com/office/drawing/2014/main" id="{83B0EA88-C4D9-49ED-A339-FFD6F202A70F}"/>
              </a:ext>
            </a:extLst>
          </p:cNvPr>
          <p:cNvSpPr/>
          <p:nvPr/>
        </p:nvSpPr>
        <p:spPr>
          <a:xfrm rot="10800000">
            <a:off x="7577815" y="4722680"/>
            <a:ext cx="734035" cy="1006679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FD464851-4BF9-4C00-83AB-441CCC3344E9}"/>
              </a:ext>
            </a:extLst>
          </p:cNvPr>
          <p:cNvCxnSpPr>
            <a:cxnSpLocks/>
          </p:cNvCxnSpPr>
          <p:nvPr/>
        </p:nvCxnSpPr>
        <p:spPr>
          <a:xfrm flipV="1">
            <a:off x="6947534" y="2702892"/>
            <a:ext cx="419190" cy="539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FEB00724-3B27-4F3D-A74C-82D264D887EF}"/>
              </a:ext>
            </a:extLst>
          </p:cNvPr>
          <p:cNvCxnSpPr>
            <a:cxnSpLocks/>
          </p:cNvCxnSpPr>
          <p:nvPr/>
        </p:nvCxnSpPr>
        <p:spPr>
          <a:xfrm flipV="1">
            <a:off x="6142711" y="4315805"/>
            <a:ext cx="419190" cy="539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398C9463-7906-44F1-9946-787D5DD71B03}"/>
              </a:ext>
            </a:extLst>
          </p:cNvPr>
          <p:cNvCxnSpPr>
            <a:cxnSpLocks/>
          </p:cNvCxnSpPr>
          <p:nvPr/>
        </p:nvCxnSpPr>
        <p:spPr>
          <a:xfrm flipH="1" flipV="1">
            <a:off x="5017190" y="4308960"/>
            <a:ext cx="353083" cy="494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851E760C-F11B-428D-9EB6-9F1647078513}"/>
              </a:ext>
            </a:extLst>
          </p:cNvPr>
          <p:cNvCxnSpPr>
            <a:cxnSpLocks/>
          </p:cNvCxnSpPr>
          <p:nvPr/>
        </p:nvCxnSpPr>
        <p:spPr>
          <a:xfrm flipH="1" flipV="1">
            <a:off x="4772928" y="4315807"/>
            <a:ext cx="353870" cy="5391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Овал 29">
            <a:extLst>
              <a:ext uri="{FF2B5EF4-FFF2-40B4-BE49-F238E27FC236}">
                <a16:creationId xmlns:a16="http://schemas.microsoft.com/office/drawing/2014/main" id="{34AA1EE6-014E-45A1-9E1F-A490252603C2}"/>
              </a:ext>
            </a:extLst>
          </p:cNvPr>
          <p:cNvSpPr/>
          <p:nvPr/>
        </p:nvSpPr>
        <p:spPr>
          <a:xfrm>
            <a:off x="5223932" y="4803322"/>
            <a:ext cx="874553" cy="93747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ru-RU" sz="225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</a:p>
        </p:txBody>
      </p:sp>
      <p:sp>
        <p:nvSpPr>
          <p:cNvPr id="31" name="Равнобедренный треугольник 30">
            <a:extLst>
              <a:ext uri="{FF2B5EF4-FFF2-40B4-BE49-F238E27FC236}">
                <a16:creationId xmlns:a16="http://schemas.microsoft.com/office/drawing/2014/main" id="{DD6126C5-19E1-4242-A28E-9A1F26A05F57}"/>
              </a:ext>
            </a:extLst>
          </p:cNvPr>
          <p:cNvSpPr/>
          <p:nvPr/>
        </p:nvSpPr>
        <p:spPr>
          <a:xfrm>
            <a:off x="2287507" y="1442383"/>
            <a:ext cx="734035" cy="1006679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32" name="Равнобедренный треугольник 31">
            <a:extLst>
              <a:ext uri="{FF2B5EF4-FFF2-40B4-BE49-F238E27FC236}">
                <a16:creationId xmlns:a16="http://schemas.microsoft.com/office/drawing/2014/main" id="{7EAEC4D4-D4E7-4B2B-AF41-5C210A739D4C}"/>
              </a:ext>
            </a:extLst>
          </p:cNvPr>
          <p:cNvSpPr/>
          <p:nvPr/>
        </p:nvSpPr>
        <p:spPr>
          <a:xfrm rot="10800000">
            <a:off x="3237562" y="1442383"/>
            <a:ext cx="734035" cy="1006679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835A0578-5866-49DB-8B9B-274D5F8C063D}"/>
              </a:ext>
            </a:extLst>
          </p:cNvPr>
          <p:cNvCxnSpPr/>
          <p:nvPr/>
        </p:nvCxnSpPr>
        <p:spPr>
          <a:xfrm>
            <a:off x="3436690" y="2530854"/>
            <a:ext cx="213920" cy="205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F6ECC0A4-5FED-4870-8671-B80C085FFC36}"/>
              </a:ext>
            </a:extLst>
          </p:cNvPr>
          <p:cNvCxnSpPr/>
          <p:nvPr/>
        </p:nvCxnSpPr>
        <p:spPr>
          <a:xfrm>
            <a:off x="3757570" y="2869302"/>
            <a:ext cx="270545" cy="2695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96C4152F-DAF0-426B-A906-0E8FFDDD97A1}"/>
              </a:ext>
            </a:extLst>
          </p:cNvPr>
          <p:cNvCxnSpPr/>
          <p:nvPr/>
        </p:nvCxnSpPr>
        <p:spPr>
          <a:xfrm>
            <a:off x="4116198" y="3238348"/>
            <a:ext cx="213402" cy="1906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9F70214B-2DF8-48DB-B30F-5EAAB870C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семейной системы</a:t>
            </a: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C3543040-47BA-46FD-89CB-7D3A67407ED0}"/>
              </a:ext>
            </a:extLst>
          </p:cNvPr>
          <p:cNvCxnSpPr>
            <a:cxnSpLocks/>
          </p:cNvCxnSpPr>
          <p:nvPr/>
        </p:nvCxnSpPr>
        <p:spPr>
          <a:xfrm>
            <a:off x="5252612" y="4166574"/>
            <a:ext cx="1985465" cy="967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3" name="Рукописный ввод 22">
                <a:extLst>
                  <a:ext uri="{FF2B5EF4-FFF2-40B4-BE49-F238E27FC236}">
                    <a16:creationId xmlns:a16="http://schemas.microsoft.com/office/drawing/2014/main" id="{24E726DD-15C8-4C22-A493-A6B8AD801F62}"/>
                  </a:ext>
                </a:extLst>
              </p14:cNvPr>
              <p14:cNvContentPartPr/>
              <p14:nvPr/>
            </p14:nvContentPartPr>
            <p14:xfrm>
              <a:off x="6663664" y="4696113"/>
              <a:ext cx="283680" cy="383760"/>
            </p14:xfrm>
          </p:contentPart>
        </mc:Choice>
        <mc:Fallback xmlns="">
          <p:pic>
            <p:nvPicPr>
              <p:cNvPr id="23" name="Рукописный ввод 22">
                <a:extLst>
                  <a:ext uri="{FF2B5EF4-FFF2-40B4-BE49-F238E27FC236}">
                    <a16:creationId xmlns:a16="http://schemas.microsoft.com/office/drawing/2014/main" id="{24E726DD-15C8-4C22-A493-A6B8AD801F6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54664" y="4687113"/>
                <a:ext cx="301320" cy="40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3" name="Рукописный ввод 32">
                <a:extLst>
                  <a:ext uri="{FF2B5EF4-FFF2-40B4-BE49-F238E27FC236}">
                    <a16:creationId xmlns:a16="http://schemas.microsoft.com/office/drawing/2014/main" id="{CE84B771-D331-4584-A89D-9523C576CBF6}"/>
                  </a:ext>
                </a:extLst>
              </p14:cNvPr>
              <p14:cNvContentPartPr/>
              <p14:nvPr/>
            </p14:nvContentPartPr>
            <p14:xfrm>
              <a:off x="6511024" y="4713753"/>
              <a:ext cx="366480" cy="393480"/>
            </p14:xfrm>
          </p:contentPart>
        </mc:Choice>
        <mc:Fallback xmlns="">
          <p:pic>
            <p:nvPicPr>
              <p:cNvPr id="33" name="Рукописный ввод 32">
                <a:extLst>
                  <a:ext uri="{FF2B5EF4-FFF2-40B4-BE49-F238E27FC236}">
                    <a16:creationId xmlns:a16="http://schemas.microsoft.com/office/drawing/2014/main" id="{CE84B771-D331-4584-A89D-9523C576CB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02024" y="4704753"/>
                <a:ext cx="384120" cy="41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891892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81132207-7789-495C-9BE5-5EAB9B8FD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может помочь сохранению семейной системы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93BAE38-B435-412D-BAE8-38C82151A0C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180730" y="1819922"/>
            <a:ext cx="7993433" cy="4306241"/>
          </a:xfrm>
        </p:spPr>
        <p:txBody>
          <a:bodyPr/>
          <a:lstStyle/>
          <a:p>
            <a:endParaRPr lang="ru-RU" dirty="0"/>
          </a:p>
          <a:p>
            <a:r>
              <a:rPr lang="ru-RU" dirty="0">
                <a:solidFill>
                  <a:schemeClr val="tx1"/>
                </a:solidFill>
              </a:rPr>
              <a:t>Разрешение проблем, связанных с внешними влияниями. </a:t>
            </a:r>
          </a:p>
          <a:p>
            <a:r>
              <a:rPr lang="ru-RU" dirty="0">
                <a:solidFill>
                  <a:schemeClr val="tx1"/>
                </a:solidFill>
              </a:rPr>
              <a:t>Варианты работы по усилению связей между членами семьи. </a:t>
            </a:r>
          </a:p>
        </p:txBody>
      </p:sp>
    </p:spTree>
    <p:extLst>
      <p:ext uri="{BB962C8B-B14F-4D97-AF65-F5344CB8AC3E}">
        <p14:creationId xmlns:p14="http://schemas.microsoft.com/office/powerpoint/2010/main" val="18228372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 defTabSz="584200">
              <a:defRPr sz="6800">
                <a:solidFill>
                  <a:srgbClr val="000000"/>
                </a:solidFill>
              </a:defRPr>
            </a:lvl1pPr>
          </a:lstStyle>
          <a:p>
            <a:pPr lvl="0">
              <a:defRPr sz="1800">
                <a:effectLst/>
              </a:defRPr>
            </a:pPr>
            <a:r>
              <a:rPr sz="4800" dirty="0" err="1"/>
              <a:t>Рычаг</a:t>
            </a:r>
            <a:r>
              <a:rPr sz="4800" dirty="0"/>
              <a:t> в </a:t>
            </a:r>
            <a:r>
              <a:rPr sz="4800" dirty="0" err="1"/>
              <a:t>системе</a:t>
            </a:r>
            <a:endParaRPr sz="4800" dirty="0"/>
          </a:p>
        </p:txBody>
      </p:sp>
      <p:sp>
        <p:nvSpPr>
          <p:cNvPr id="203" name="Shape 203"/>
          <p:cNvSpPr>
            <a:spLocks noGrp="1"/>
          </p:cNvSpPr>
          <p:nvPr>
            <p:ph sz="half" idx="1"/>
          </p:nvPr>
        </p:nvSpPr>
        <p:spPr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marL="0" indent="0" algn="just" defTabSz="321457">
              <a:spcBef>
                <a:spcPts val="0"/>
              </a:spcBef>
              <a:buNone/>
              <a:defRPr sz="1800"/>
            </a:pPr>
            <a:r>
              <a:rPr sz="2500" b="1" dirty="0" err="1">
                <a:latin typeface="Arial"/>
                <a:ea typeface="Arial"/>
                <a:cs typeface="Arial"/>
                <a:sym typeface="Arial"/>
              </a:rPr>
              <a:t>Рычаг</a:t>
            </a:r>
            <a:r>
              <a:rPr sz="2500" b="1" dirty="0"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sz="2500" b="1" dirty="0" err="1">
                <a:latin typeface="Arial"/>
                <a:ea typeface="Arial"/>
                <a:cs typeface="Arial"/>
                <a:sym typeface="Arial"/>
              </a:rPr>
              <a:t>ключевая</a:t>
            </a:r>
            <a:r>
              <a:rPr sz="25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z="2500" b="1" dirty="0" err="1">
                <a:latin typeface="Arial"/>
                <a:ea typeface="Arial"/>
                <a:cs typeface="Arial"/>
                <a:sym typeface="Arial"/>
              </a:rPr>
              <a:t>точка</a:t>
            </a:r>
            <a:r>
              <a:rPr sz="25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z="2500" b="1" dirty="0" err="1">
                <a:latin typeface="Arial"/>
                <a:ea typeface="Arial"/>
                <a:cs typeface="Arial"/>
                <a:sym typeface="Arial"/>
              </a:rPr>
              <a:t>воздействия</a:t>
            </a:r>
            <a:r>
              <a:rPr sz="25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z="2500" b="1" dirty="0" err="1"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sz="25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z="2500" b="1" dirty="0" err="1">
                <a:latin typeface="Arial"/>
                <a:ea typeface="Arial"/>
                <a:cs typeface="Arial"/>
                <a:sym typeface="Arial"/>
              </a:rPr>
              <a:t>систему</a:t>
            </a:r>
            <a:r>
              <a:rPr sz="2500" b="1" dirty="0"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marL="0" indent="0" algn="just" defTabSz="321457">
              <a:spcBef>
                <a:spcPts val="0"/>
              </a:spcBef>
              <a:buNone/>
              <a:defRPr sz="1800"/>
            </a:pPr>
            <a:r>
              <a:rPr sz="2500" dirty="0" err="1">
                <a:latin typeface="Arial"/>
                <a:ea typeface="Arial"/>
                <a:cs typeface="Arial"/>
                <a:sym typeface="Arial"/>
              </a:rPr>
              <a:t>Это</a:t>
            </a:r>
            <a:r>
              <a:rPr sz="25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z="2500" dirty="0" err="1">
                <a:latin typeface="Arial"/>
                <a:ea typeface="Arial"/>
                <a:cs typeface="Arial"/>
                <a:sym typeface="Arial"/>
              </a:rPr>
              <a:t>либо</a:t>
            </a:r>
            <a:r>
              <a:rPr sz="25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z="2500" dirty="0" err="1">
                <a:latin typeface="Arial"/>
                <a:ea typeface="Arial"/>
                <a:cs typeface="Arial"/>
                <a:sym typeface="Arial"/>
              </a:rPr>
              <a:t>элемент</a:t>
            </a:r>
            <a:r>
              <a:rPr sz="2500" dirty="0"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sz="2500" dirty="0" err="1">
                <a:latin typeface="Arial"/>
                <a:ea typeface="Arial"/>
                <a:cs typeface="Arial"/>
                <a:sym typeface="Arial"/>
              </a:rPr>
              <a:t>либо</a:t>
            </a:r>
            <a:r>
              <a:rPr sz="25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z="2500" dirty="0" err="1">
                <a:latin typeface="Arial"/>
                <a:ea typeface="Arial"/>
                <a:cs typeface="Arial"/>
                <a:sym typeface="Arial"/>
              </a:rPr>
              <a:t>особенности</a:t>
            </a:r>
            <a:r>
              <a:rPr sz="25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z="2500" dirty="0" err="1">
                <a:latin typeface="Arial"/>
                <a:ea typeface="Arial"/>
                <a:cs typeface="Arial"/>
                <a:sym typeface="Arial"/>
              </a:rPr>
              <a:t>взаимодействия</a:t>
            </a:r>
            <a:r>
              <a:rPr sz="25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z="2500" dirty="0" err="1">
                <a:latin typeface="Arial"/>
                <a:ea typeface="Arial"/>
                <a:cs typeface="Arial"/>
                <a:sym typeface="Arial"/>
              </a:rPr>
              <a:t>между</a:t>
            </a:r>
            <a:r>
              <a:rPr sz="25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z="2500" dirty="0" err="1">
                <a:latin typeface="Arial"/>
                <a:ea typeface="Arial"/>
                <a:cs typeface="Arial"/>
                <a:sym typeface="Arial"/>
              </a:rPr>
              <a:t>элементами</a:t>
            </a:r>
            <a:r>
              <a:rPr sz="2500" dirty="0">
                <a:latin typeface="Arial"/>
                <a:ea typeface="Arial"/>
                <a:cs typeface="Arial"/>
                <a:sym typeface="Arial"/>
              </a:rPr>
              <a:t>. </a:t>
            </a:r>
          </a:p>
        </p:txBody>
      </p:sp>
      <p:sp>
        <p:nvSpPr>
          <p:cNvPr id="2" name="Объект 1">
            <a:extLst>
              <a:ext uri="{FF2B5EF4-FFF2-40B4-BE49-F238E27FC236}">
                <a16:creationId xmlns:a16="http://schemas.microsoft.com/office/drawing/2014/main" id="{92412EA3-746F-4627-B10D-3F35ADA2350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Кто из членов семьи наиболее заинтересован в изменениях?</a:t>
            </a:r>
          </a:p>
          <a:p>
            <a:r>
              <a:rPr lang="ru-RU" dirty="0"/>
              <a:t>Изменение каких взаимодействий повлияло бы на усиление связей между элементами (с чего начнем?)</a:t>
            </a:r>
          </a:p>
        </p:txBody>
      </p:sp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28BE67-E702-412A-B2D3-523F1C467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346050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FB4121-E290-48CF-8B83-2C14D4AA6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57" y="1014274"/>
            <a:ext cx="10972800" cy="4525963"/>
          </a:xfrm>
        </p:spPr>
        <p:txBody>
          <a:bodyPr>
            <a:normAutofit fontScale="85000" lnSpcReduction="20000"/>
          </a:bodyPr>
          <a:lstStyle/>
          <a:p>
            <a:pPr marL="431586" indent="-431586" defTabSz="585051">
              <a:spcBef>
                <a:spcPts val="422"/>
              </a:spcBef>
              <a:buSzPct val="100000"/>
              <a:buFont typeface="Arial"/>
              <a:buChar char="•"/>
              <a:defRPr sz="1800"/>
            </a:pPr>
            <a:r>
              <a:rPr lang="ru-RU" sz="3200" dirty="0">
                <a:solidFill>
                  <a:schemeClr val="tx1"/>
                </a:solidFill>
              </a:rPr>
              <a:t>Если рычагом является человек, то имеет смысл определить ключевые  ценности, которые могут его мотивировать, например:</a:t>
            </a:r>
            <a:endParaRPr lang="ru-RU" sz="320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1586" indent="-431586" defTabSz="585051">
              <a:spcBef>
                <a:spcPts val="422"/>
              </a:spcBef>
              <a:buSzPct val="100000"/>
              <a:buFont typeface="Arial"/>
              <a:buChar char="•"/>
              <a:defRPr sz="1800"/>
            </a:pPr>
            <a:endParaRPr lang="ru-RU" sz="320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1586" indent="-431586" defTabSz="585051">
              <a:spcBef>
                <a:spcPts val="422"/>
              </a:spcBef>
              <a:buSzPct val="100000"/>
              <a:buFont typeface="Arial"/>
              <a:buChar char="•"/>
              <a:defRPr sz="1800"/>
            </a:pPr>
            <a:r>
              <a:rPr lang="ru-RU" sz="32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Здоровье свое и детей</a:t>
            </a:r>
          </a:p>
          <a:p>
            <a:pPr marL="431586" indent="-431586" defTabSz="585051">
              <a:spcBef>
                <a:spcPts val="422"/>
              </a:spcBef>
              <a:buSzPct val="100000"/>
              <a:buFont typeface="Arial"/>
              <a:buChar char="•"/>
              <a:defRPr sz="1800"/>
            </a:pPr>
            <a:r>
              <a:rPr lang="ru-RU" sz="32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Жизнь-смерть</a:t>
            </a:r>
          </a:p>
          <a:p>
            <a:pPr marL="431586" indent="-431586" defTabSz="585051">
              <a:spcBef>
                <a:spcPts val="422"/>
              </a:spcBef>
              <a:buSzPct val="100000"/>
              <a:buFont typeface="Arial"/>
              <a:buChar char="•"/>
              <a:defRPr sz="1800"/>
            </a:pPr>
            <a:r>
              <a:rPr lang="ru-RU" sz="32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Свобода и ее ограничение</a:t>
            </a:r>
          </a:p>
          <a:p>
            <a:pPr marL="431586" indent="-431586" defTabSz="585051">
              <a:spcBef>
                <a:spcPts val="422"/>
              </a:spcBef>
              <a:buSzPct val="100000"/>
              <a:buFont typeface="Arial"/>
              <a:buChar char="•"/>
              <a:defRPr sz="1800"/>
            </a:pPr>
            <a:r>
              <a:rPr lang="ru-RU" sz="32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Большие деньги</a:t>
            </a:r>
          </a:p>
          <a:p>
            <a:pPr marL="431586" indent="-431586" defTabSz="585051">
              <a:spcBef>
                <a:spcPts val="422"/>
              </a:spcBef>
              <a:buSzPct val="100000"/>
              <a:buFont typeface="Arial"/>
              <a:buChar char="•"/>
              <a:defRPr sz="1800"/>
            </a:pPr>
            <a:r>
              <a:rPr lang="ru-RU" sz="32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Статус престиж</a:t>
            </a:r>
          </a:p>
          <a:p>
            <a:pPr marL="431586" indent="-431586" defTabSz="585051">
              <a:spcBef>
                <a:spcPts val="422"/>
              </a:spcBef>
              <a:buSzPct val="100000"/>
              <a:buFont typeface="Arial"/>
              <a:buChar char="•"/>
              <a:defRPr sz="1800"/>
            </a:pPr>
            <a:r>
              <a:rPr lang="ru-RU" sz="32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Отношения мужчина-женщина</a:t>
            </a:r>
          </a:p>
          <a:p>
            <a:pPr marL="431586" indent="-431586" defTabSz="585051">
              <a:spcBef>
                <a:spcPts val="422"/>
              </a:spcBef>
              <a:buSzPct val="100000"/>
              <a:buFont typeface="Arial"/>
              <a:buChar char="•"/>
              <a:defRPr sz="1800"/>
            </a:pPr>
            <a:r>
              <a:rPr lang="ru-RU" sz="32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Отношения со значимой фигурой</a:t>
            </a:r>
          </a:p>
          <a:p>
            <a:pPr marL="431586" indent="-431586" defTabSz="585051">
              <a:spcBef>
                <a:spcPts val="422"/>
              </a:spcBef>
              <a:buSzPct val="100000"/>
              <a:buFont typeface="Arial"/>
              <a:buChar char="•"/>
              <a:defRPr sz="1800"/>
            </a:pPr>
            <a:r>
              <a:rPr lang="ru-RU" sz="32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Высшие ценности (религиозные, хобби, справедливость, самореализация)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92060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CA712B-4A86-4789-B8CB-07D0D5D7C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5486400" cy="1143000"/>
          </a:xfrm>
        </p:spPr>
        <p:txBody>
          <a:bodyPr/>
          <a:lstStyle/>
          <a:p>
            <a:r>
              <a:rPr lang="ru-RU" dirty="0"/>
              <a:t>Упражнение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61F66E-7B1F-49AF-859F-5A2F025D4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Составьте схему своей семейной системы. </a:t>
            </a:r>
          </a:p>
          <a:p>
            <a:r>
              <a:rPr lang="ru-RU" dirty="0"/>
              <a:t>Выявите коалиции.</a:t>
            </a:r>
          </a:p>
          <a:p>
            <a:r>
              <a:rPr lang="ru-RU" dirty="0"/>
              <a:t>Определите, кто основной рычаг изменений в вашей семейной системе.</a:t>
            </a:r>
          </a:p>
        </p:txBody>
      </p:sp>
    </p:spTree>
    <p:extLst>
      <p:ext uri="{BB962C8B-B14F-4D97-AF65-F5344CB8AC3E}">
        <p14:creationId xmlns:p14="http://schemas.microsoft.com/office/powerpoint/2010/main" val="354330971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25D8B8-8BB6-4968-89E9-7986368D57C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47565" y="65553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FF0000"/>
                </a:solidFill>
              </a:rPr>
              <a:t>Что делать? (Варианты работы по уменьшению Энтропии и усилению связей между членами семьи) </a:t>
            </a:r>
            <a:br>
              <a:rPr lang="ru-RU" sz="3600" dirty="0">
                <a:solidFill>
                  <a:srgbClr val="FF0000"/>
                </a:solidFill>
              </a:rPr>
            </a:br>
            <a:r>
              <a:rPr lang="ru-RU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6F94FE-D135-4C11-A6F3-35B0B6FC701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242874" y="2130210"/>
            <a:ext cx="8229600" cy="2778342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Выстраиваем отношения на 4 уровнях</a:t>
            </a:r>
          </a:p>
          <a:p>
            <a:r>
              <a:rPr lang="ru-RU" dirty="0">
                <a:solidFill>
                  <a:schemeClr val="tx1"/>
                </a:solidFill>
              </a:rPr>
              <a:t>Правила Семьи (По Ю. Б. </a:t>
            </a:r>
            <a:r>
              <a:rPr lang="ru-RU" dirty="0" err="1">
                <a:solidFill>
                  <a:schemeClr val="tx1"/>
                </a:solidFill>
              </a:rPr>
              <a:t>Гиппенрейтер</a:t>
            </a:r>
            <a:r>
              <a:rPr lang="ru-RU" dirty="0">
                <a:solidFill>
                  <a:schemeClr val="tx1"/>
                </a:solidFill>
              </a:rPr>
              <a:t>)</a:t>
            </a:r>
          </a:p>
          <a:p>
            <a:r>
              <a:rPr lang="ru-RU" dirty="0">
                <a:solidFill>
                  <a:schemeClr val="tx1"/>
                </a:solidFill>
              </a:rPr>
              <a:t>Миссия Семьи (По Стивену </a:t>
            </a:r>
            <a:r>
              <a:rPr lang="ru-RU" dirty="0" err="1">
                <a:solidFill>
                  <a:schemeClr val="tx1"/>
                </a:solidFill>
              </a:rPr>
              <a:t>Кови</a:t>
            </a:r>
            <a:r>
              <a:rPr lang="ru-RU" dirty="0">
                <a:solidFill>
                  <a:schemeClr val="tx1"/>
                </a:solidFill>
              </a:rPr>
              <a:t>)</a:t>
            </a:r>
          </a:p>
          <a:p>
            <a:r>
              <a:rPr lang="ru-RU" dirty="0">
                <a:solidFill>
                  <a:schemeClr val="tx1"/>
                </a:solidFill>
              </a:rPr>
              <a:t>Что еще?</a:t>
            </a:r>
          </a:p>
        </p:txBody>
      </p:sp>
    </p:spTree>
    <p:extLst>
      <p:ext uri="{BB962C8B-B14F-4D97-AF65-F5344CB8AC3E}">
        <p14:creationId xmlns:p14="http://schemas.microsoft.com/office/powerpoint/2010/main" val="25212856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v.pospelov\Desktop\лого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553" y="528427"/>
            <a:ext cx="2380837" cy="67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v.pospelov\Desktop\паттерн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911" y="144001"/>
            <a:ext cx="5319748" cy="450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33717" y="3883680"/>
            <a:ext cx="764120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>
                <a:solidFill>
                  <a:srgbClr val="FF0000"/>
                </a:solidFill>
                <a:latin typeface="HeliosBlack" pitchFamily="82" charset="0"/>
                <a:ea typeface="+mj-ea"/>
                <a:cs typeface="+mj-cs"/>
              </a:rPr>
              <a:t>Работа с неадаптивными мыслями</a:t>
            </a:r>
            <a:endParaRPr lang="ru-RU" sz="3200" b="1" dirty="0">
              <a:solidFill>
                <a:srgbClr val="FF0000"/>
              </a:solidFill>
              <a:latin typeface="HeliosBlack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3227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CE8BD1-000A-4461-A93E-A56F04D04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 и мои мысли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DA9178-1C85-4635-8F01-72C78264F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Свободное мысленное время</a:t>
            </a:r>
          </a:p>
          <a:p>
            <a:r>
              <a:rPr lang="ru-RU" dirty="0"/>
              <a:t>В чем внимание – в том рост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2949189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2D2F86-D059-42D3-A880-1D0FEDE99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694" y="160336"/>
            <a:ext cx="5834271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Автоматические и неадаптивные мысли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0B1462-0F31-4C3E-8394-2975D335A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51113"/>
            <a:ext cx="9846365" cy="4675051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Мышление управляет эмоциями, мотивами, планами поведения и поведением. </a:t>
            </a:r>
          </a:p>
          <a:p>
            <a:r>
              <a:rPr lang="ru-RU" b="1" dirty="0">
                <a:solidFill>
                  <a:srgbClr val="444444"/>
                </a:solidFill>
                <a:effectLst/>
              </a:rPr>
              <a:t>Автоматические мысли</a:t>
            </a:r>
            <a:r>
              <a:rPr lang="ru-RU" b="0" dirty="0">
                <a:solidFill>
                  <a:srgbClr val="444444"/>
                </a:solidFill>
                <a:effectLst/>
              </a:rPr>
              <a:t> – это внутренний процесс комментирования всего происходящего. Они проявляются сами по себе. Их не нужно “думать”, они появляются </a:t>
            </a:r>
            <a:r>
              <a:rPr lang="ru-RU" b="1" dirty="0">
                <a:solidFill>
                  <a:srgbClr val="444444"/>
                </a:solidFill>
                <a:effectLst/>
              </a:rPr>
              <a:t>машинально</a:t>
            </a:r>
            <a:r>
              <a:rPr lang="ru-RU" b="0" dirty="0">
                <a:solidFill>
                  <a:srgbClr val="444444"/>
                </a:solidFill>
                <a:effectLst/>
              </a:rPr>
              <a:t>. В повседневной жизни мы не замечаем их, потому что они очень быстро проскальзывают мимо осознания.</a:t>
            </a:r>
            <a:endParaRPr lang="ru-RU" dirty="0"/>
          </a:p>
          <a:p>
            <a:r>
              <a:rPr lang="ru-RU" dirty="0"/>
              <a:t> Иногда эти автоматические мысли существуют в виде </a:t>
            </a:r>
            <a:r>
              <a:rPr lang="ru-RU" dirty="0" err="1"/>
              <a:t>интериоризованной</a:t>
            </a:r>
            <a:r>
              <a:rPr lang="ru-RU" dirty="0"/>
              <a:t> внутренней речи, иногда — в виде образов. </a:t>
            </a:r>
            <a:r>
              <a:rPr lang="ru-RU" b="1" dirty="0">
                <a:solidFill>
                  <a:srgbClr val="FF0000"/>
                </a:solidFill>
              </a:rPr>
              <a:t>При некоторой тренировке эти мысли можно осознать и изменить . </a:t>
            </a:r>
          </a:p>
          <a:p>
            <a:r>
              <a:rPr lang="ru-RU" dirty="0"/>
              <a:t>Некоторые автоматические мысли становятся </a:t>
            </a:r>
            <a:r>
              <a:rPr lang="ru-RU" b="1" dirty="0"/>
              <a:t>неадаптивными и вызывают дискомфорт, страдания, нарушают внутреннюю гармонию </a:t>
            </a:r>
            <a:r>
              <a:rPr lang="ru-RU" dirty="0"/>
              <a:t>и порождают болезненные эмоциональные реакции. </a:t>
            </a:r>
          </a:p>
          <a:p>
            <a:r>
              <a:rPr lang="ru-RU" dirty="0"/>
              <a:t>Неадаптивные автоматические мысли — это обычные адаптивные мысли, проявляющиеся в преувеличенном виде или же в неподходящей ситуации. 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87428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">
            <a:extLst>
              <a:ext uri="{FF2B5EF4-FFF2-40B4-BE49-F238E27FC236}">
                <a16:creationId xmlns:a16="http://schemas.microsoft.com/office/drawing/2014/main" id="{FFBC3E0C-B7F7-4286-A655-A0A187B5A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73276" y="1"/>
            <a:ext cx="8042275" cy="239713"/>
          </a:xfrm>
        </p:spPr>
        <p:txBody>
          <a:bodyPr>
            <a:normAutofit fontScale="90000"/>
          </a:bodyPr>
          <a:lstStyle/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endParaRPr lang="ru-RU" altLang="ru-RU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C2FB22AE-F717-4361-AFB5-BC1AB6A72B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47719" y="1847919"/>
            <a:ext cx="4141788" cy="3162161"/>
          </a:xfrm>
        </p:spPr>
        <p:txBody>
          <a:bodyPr>
            <a:normAutofit fontScale="77500" lnSpcReduction="20000"/>
          </a:bodyPr>
          <a:lstStyle/>
          <a:p>
            <a:pPr marL="347663" indent="-347663">
              <a:spcBef>
                <a:spcPts val="2000"/>
              </a:spcBef>
              <a:buClr>
                <a:srgbClr val="6FB7D7"/>
              </a:buClr>
              <a:buSzPct val="110000"/>
              <a:buFont typeface="Wingdings 2" panose="05020102010507070707" pitchFamily="18" charset="2"/>
              <a:buChar char="●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</a:pPr>
            <a:r>
              <a:rPr lang="ru-RU" altLang="ru-RU" b="1" dirty="0"/>
              <a:t>Аарон Темкин Бек </a:t>
            </a:r>
            <a:r>
              <a:rPr lang="ru-RU" altLang="ru-RU" dirty="0"/>
              <a:t>— американский психотерапевт, профессор психиатрии </a:t>
            </a:r>
            <a:r>
              <a:rPr lang="ru-RU" altLang="ru-RU" dirty="0" err="1"/>
              <a:t>Пенсильванского</a:t>
            </a:r>
            <a:r>
              <a:rPr lang="ru-RU" altLang="ru-RU" dirty="0"/>
              <a:t> университета, создатель когнитивной психотерапии, одного из направлений современного когнитивно-</a:t>
            </a:r>
            <a:r>
              <a:rPr lang="ru-RU" altLang="ru-RU" dirty="0" err="1"/>
              <a:t>бихевиорального</a:t>
            </a:r>
            <a:r>
              <a:rPr lang="ru-RU" altLang="ru-RU" dirty="0"/>
              <a:t> направления в психотерапии.</a:t>
            </a:r>
          </a:p>
        </p:txBody>
      </p:sp>
      <p:pic>
        <p:nvPicPr>
          <p:cNvPr id="68612" name="Picture 3">
            <a:extLst>
              <a:ext uri="{FF2B5EF4-FFF2-40B4-BE49-F238E27FC236}">
                <a16:creationId xmlns:a16="http://schemas.microsoft.com/office/drawing/2014/main" id="{413C1BBE-1EB9-4306-A2E2-8E21C745C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2575" y="1058864"/>
            <a:ext cx="3333750" cy="418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16171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F78A757-76BA-432B-A9A4-9A88E839F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Работа неадаптивными автоматическими мыслями по  А. Беку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4AEF4A89-5592-4C87-832D-853F40E84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348881"/>
            <a:ext cx="10670976" cy="4260641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2000"/>
              </a:spcBef>
              <a:buClr>
                <a:srgbClr val="6FB7D7"/>
              </a:buClr>
              <a:buSzPct val="11000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ru-RU" altLang="ru-RU" sz="2800" b="1" dirty="0"/>
              <a:t>Проверка обоснованности автоматической мысли следствиями из нее</a:t>
            </a:r>
          </a:p>
          <a:p>
            <a:pPr>
              <a:spcBef>
                <a:spcPts val="2000"/>
              </a:spcBef>
              <a:buClr>
                <a:srgbClr val="6FB7D7"/>
              </a:buClr>
              <a:buSzPct val="11000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ru-RU" altLang="ru-RU" sz="2800" b="1" dirty="0"/>
              <a:t>(</a:t>
            </a:r>
            <a:r>
              <a:rPr lang="ru-RU" altLang="ru-RU" dirty="0"/>
              <a:t>Эта техника имеет другое название — </a:t>
            </a:r>
            <a:r>
              <a:rPr lang="ru-RU" altLang="ru-RU" b="1" dirty="0" err="1"/>
              <a:t>декатастрофизация</a:t>
            </a:r>
            <a:r>
              <a:rPr lang="ru-RU" altLang="ru-RU" dirty="0"/>
              <a:t>, или </a:t>
            </a:r>
            <a:r>
              <a:rPr lang="ru-RU" altLang="ru-RU" b="1" dirty="0"/>
              <a:t>"что если"-</a:t>
            </a:r>
            <a:r>
              <a:rPr lang="ru-RU" altLang="ru-RU" dirty="0"/>
              <a:t>техника)</a:t>
            </a:r>
            <a:endParaRPr lang="ru-RU" altLang="ru-RU" sz="2800" b="1" dirty="0"/>
          </a:p>
          <a:p>
            <a:pPr>
              <a:spcBef>
                <a:spcPts val="2000"/>
              </a:spcBef>
              <a:buClr>
                <a:srgbClr val="6FB7D7"/>
              </a:buClr>
              <a:buSzPct val="11000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ru-RU" altLang="ru-RU" sz="2800" dirty="0"/>
              <a:t>П. </a:t>
            </a:r>
            <a:r>
              <a:rPr lang="ru-RU" altLang="ru-RU" sz="2800" dirty="0">
                <a:solidFill>
                  <a:srgbClr val="FF0000"/>
                </a:solidFill>
              </a:rPr>
              <a:t>Если я провалюсь — это катастрофа. (неадаптивная мысль)</a:t>
            </a:r>
            <a:br>
              <a:rPr lang="ru-RU" altLang="ru-RU" sz="2800" b="1" dirty="0">
                <a:solidFill>
                  <a:srgbClr val="FF0000"/>
                </a:solidFill>
              </a:rPr>
            </a:br>
            <a:r>
              <a:rPr lang="ru-RU" altLang="ru-RU" sz="2800" dirty="0"/>
              <a:t>Т. А что произойдет, если Вы провалитесь? Умрут Ваши родственники, от Вас уйдет жена?!</a:t>
            </a:r>
            <a:br>
              <a:rPr lang="ru-RU" altLang="ru-RU" sz="2800" dirty="0"/>
            </a:br>
            <a:r>
              <a:rPr lang="ru-RU" altLang="ru-RU" sz="2800" dirty="0"/>
              <a:t>П. Нет, я просто буду себя плохо чувствовать!</a:t>
            </a:r>
            <a:br>
              <a:rPr lang="ru-RU" altLang="ru-RU" sz="2800" dirty="0"/>
            </a:br>
            <a:r>
              <a:rPr lang="ru-RU" altLang="ru-RU" sz="2800" dirty="0"/>
              <a:t>Т. Представьте, что будет, если Вы получите "2".</a:t>
            </a:r>
            <a:br>
              <a:rPr lang="ru-RU" altLang="ru-RU" sz="2800" dirty="0"/>
            </a:br>
            <a:r>
              <a:rPr lang="ru-RU" altLang="ru-RU" sz="2800" dirty="0"/>
              <a:t>П. Я буду себя плохо чувствовать.</a:t>
            </a:r>
            <a:br>
              <a:rPr lang="ru-RU" altLang="ru-RU" sz="2800" dirty="0"/>
            </a:br>
            <a:r>
              <a:rPr lang="ru-RU" altLang="ru-RU" sz="2800" dirty="0"/>
              <a:t>Т. И как долго?</a:t>
            </a:r>
            <a:br>
              <a:rPr lang="ru-RU" altLang="ru-RU" sz="2800" dirty="0"/>
            </a:br>
            <a:r>
              <a:rPr lang="ru-RU" altLang="ru-RU" sz="2800" dirty="0"/>
              <a:t>П. Два дня.</a:t>
            </a:r>
            <a:br>
              <a:rPr lang="ru-RU" altLang="ru-RU" sz="2800" dirty="0"/>
            </a:br>
            <a:r>
              <a:rPr lang="ru-RU" altLang="ru-RU" sz="2800" dirty="0"/>
              <a:t>Т. И из-за такой малости стоит это рассматривать как катастрофу?!</a:t>
            </a:r>
            <a:br>
              <a:rPr lang="ru-RU" altLang="ru-RU" sz="2800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300222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1">
            <a:extLst>
              <a:ext uri="{FF2B5EF4-FFF2-40B4-BE49-F238E27FC236}">
                <a16:creationId xmlns:a16="http://schemas.microsoft.com/office/drawing/2014/main" id="{897547D2-C733-4606-92AB-4696CCE006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73276" y="0"/>
            <a:ext cx="8042275" cy="1149350"/>
          </a:xfrm>
        </p:spPr>
        <p:txBody>
          <a:bodyPr/>
          <a:lstStyle/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endParaRPr lang="ru-RU" altLang="ru-RU" sz="2800" dirty="0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606BCC28-66F6-483E-BB77-368D027C57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78146" y="1749287"/>
            <a:ext cx="8042275" cy="4323522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2000"/>
              </a:spcBef>
              <a:buClr>
                <a:srgbClr val="6FB7D7"/>
              </a:buClr>
              <a:buSzPct val="11000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endParaRPr lang="ru-RU" altLang="ru-RU" sz="2000" dirty="0"/>
          </a:p>
          <a:p>
            <a:pPr marL="347663" indent="-347663">
              <a:spcBef>
                <a:spcPts val="2000"/>
              </a:spcBef>
              <a:buClr>
                <a:srgbClr val="6FB7D7"/>
              </a:buClr>
              <a:buSzPct val="11000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ru-RU" altLang="ru-RU" sz="2000" b="1" dirty="0"/>
              <a:t>Побуждение к проверке неадаптивной мысли в реальном действии.</a:t>
            </a:r>
            <a:r>
              <a:rPr lang="ru-RU" altLang="ru-RU" sz="2000" dirty="0"/>
              <a:t> </a:t>
            </a:r>
          </a:p>
          <a:p>
            <a:pPr marL="347663" indent="-347663">
              <a:spcBef>
                <a:spcPts val="2000"/>
              </a:spcBef>
              <a:buClr>
                <a:srgbClr val="6FB7D7"/>
              </a:buClr>
              <a:buSzPct val="11000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ru-RU" altLang="ru-RU" sz="2000" dirty="0"/>
              <a:t>Например, у депрессивного больного имеется мысль: </a:t>
            </a:r>
            <a:r>
              <a:rPr lang="ru-RU" altLang="ru-RU" sz="2000" dirty="0">
                <a:solidFill>
                  <a:srgbClr val="FF0000"/>
                </a:solidFill>
              </a:rPr>
              <a:t>"Я ни к чему не способен". </a:t>
            </a:r>
            <a:r>
              <a:rPr lang="ru-RU" altLang="ru-RU" sz="2000" dirty="0"/>
              <a:t>Пациента побуждают к маленьким, но реальным успешным действиям. Например, женщину побуждают к тому, чтобы она приготовила обед. Постепенно пациент выполняет все более трудные задания.</a:t>
            </a:r>
          </a:p>
          <a:p>
            <a:pPr marL="347663" indent="-347663">
              <a:spcBef>
                <a:spcPts val="2000"/>
              </a:spcBef>
              <a:buClr>
                <a:srgbClr val="6FB7D7"/>
              </a:buClr>
              <a:buSzPct val="11000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endParaRPr lang="ru-RU" altLang="ru-RU" sz="20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1">
            <a:extLst>
              <a:ext uri="{FF2B5EF4-FFF2-40B4-BE49-F238E27FC236}">
                <a16:creationId xmlns:a16="http://schemas.microsoft.com/office/drawing/2014/main" id="{897547D2-C733-4606-92AB-4696CCE006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73276" y="0"/>
            <a:ext cx="8042275" cy="1149350"/>
          </a:xfrm>
        </p:spPr>
        <p:txBody>
          <a:bodyPr/>
          <a:lstStyle/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endParaRPr lang="ru-RU" altLang="ru-RU" sz="2800" dirty="0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606BCC28-66F6-483E-BB77-368D027C57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78146" y="1749287"/>
            <a:ext cx="8042275" cy="4323522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2000"/>
              </a:spcBef>
              <a:buClr>
                <a:srgbClr val="6FB7D7"/>
              </a:buClr>
              <a:buSzPct val="11000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endParaRPr lang="ru-RU" altLang="ru-RU" sz="2000" dirty="0"/>
          </a:p>
          <a:p>
            <a:r>
              <a:rPr lang="ru-RU" sz="2000" b="1" dirty="0"/>
              <a:t>Метод записи событий дня. </a:t>
            </a:r>
          </a:p>
          <a:p>
            <a:r>
              <a:rPr lang="ru-RU" sz="2000" dirty="0"/>
              <a:t>Пример использования этой техники: женщина жалуется на поведение сына.</a:t>
            </a:r>
          </a:p>
          <a:p>
            <a:r>
              <a:rPr lang="ru-RU" sz="2000" i="1" dirty="0"/>
              <a:t>Пациентка. </a:t>
            </a:r>
            <a:r>
              <a:rPr lang="ru-RU" sz="2000" dirty="0">
                <a:solidFill>
                  <a:srgbClr val="FF0000"/>
                </a:solidFill>
              </a:rPr>
              <a:t>Сын меня не слушается.</a:t>
            </a:r>
          </a:p>
          <a:p>
            <a:r>
              <a:rPr lang="ru-RU" sz="2000" i="1" dirty="0"/>
              <a:t>Терапевт. </a:t>
            </a:r>
            <a:r>
              <a:rPr lang="ru-RU" sz="2000" dirty="0"/>
              <a:t>Ставьте знак "+" в листе наблюдений всякий раз, когда сын послушался вас, и знак "-", когда не послушался.</a:t>
            </a:r>
          </a:p>
          <a:p>
            <a:r>
              <a:rPr lang="ru-RU" sz="2000" dirty="0"/>
              <a:t>Если пациент жалуется: "Все люди агрессивно настроены по отношению ко мне", то терапевт дает такой же совет - отмечать "+" или "-" каждое взаимодействие с людьми.</a:t>
            </a:r>
          </a:p>
          <a:p>
            <a:pPr marL="347663" indent="-347663">
              <a:spcBef>
                <a:spcPts val="2000"/>
              </a:spcBef>
              <a:buClr>
                <a:srgbClr val="6FB7D7"/>
              </a:buClr>
              <a:buSzPct val="11000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endParaRPr lang="ru-RU" altLang="ru-RU" sz="2000" dirty="0"/>
          </a:p>
        </p:txBody>
      </p:sp>
    </p:spTree>
    <p:extLst>
      <p:ext uri="{BB962C8B-B14F-4D97-AF65-F5344CB8AC3E}">
        <p14:creationId xmlns:p14="http://schemas.microsoft.com/office/powerpoint/2010/main" val="16917372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B4DA71-3097-42DB-A193-6F84EE44F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4270" y="704088"/>
            <a:ext cx="4376530" cy="687390"/>
          </a:xfrm>
        </p:spPr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ACD3BA-31D9-4FDC-9C07-910F522BF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7528" y="1560442"/>
            <a:ext cx="8229600" cy="4692149"/>
          </a:xfrm>
        </p:spPr>
        <p:txBody>
          <a:bodyPr>
            <a:normAutofit/>
          </a:bodyPr>
          <a:lstStyle/>
          <a:p>
            <a:r>
              <a:rPr lang="ru-RU" sz="2000" b="1" dirty="0"/>
              <a:t>Имагинальная техника.</a:t>
            </a:r>
            <a:endParaRPr lang="ru-RU" sz="2000" dirty="0"/>
          </a:p>
          <a:p>
            <a:r>
              <a:rPr lang="ru-RU" sz="2000" i="1" dirty="0"/>
              <a:t>Пациент. </a:t>
            </a:r>
            <a:r>
              <a:rPr lang="ru-RU" sz="2000" dirty="0">
                <a:solidFill>
                  <a:srgbClr val="FF0000"/>
                </a:solidFill>
              </a:rPr>
              <a:t>Я не смогу.</a:t>
            </a:r>
          </a:p>
          <a:p>
            <a:r>
              <a:rPr lang="ru-RU" sz="2000" i="1" dirty="0"/>
              <a:t>Терапевт. </a:t>
            </a:r>
            <a:r>
              <a:rPr lang="ru-RU" sz="2000" dirty="0"/>
              <a:t>Вообразите и попробуйте.</a:t>
            </a:r>
          </a:p>
          <a:p>
            <a:endParaRPr lang="ru-RU" sz="2000" dirty="0"/>
          </a:p>
          <a:p>
            <a:r>
              <a:rPr lang="ru-RU" sz="2000" b="1" dirty="0"/>
              <a:t>Метод разыгрывания ролей. </a:t>
            </a:r>
            <a:r>
              <a:rPr lang="ru-RU" sz="2000" dirty="0"/>
              <a:t>Пример: терапевт играет роль сурового критика, встав на позицию, с которой депрессивный пациент </a:t>
            </a:r>
            <a:r>
              <a:rPr lang="ru-RU" sz="2000" dirty="0">
                <a:solidFill>
                  <a:srgbClr val="FF0000"/>
                </a:solidFill>
              </a:rPr>
              <a:t>постоянно критикует самого себя, </a:t>
            </a:r>
            <a:r>
              <a:rPr lang="ru-RU" sz="2000" dirty="0"/>
              <a:t>т. е. терапевт критикует пациента его словами и мыслями. Пациент начинает осознавать перегибы собственной критики.</a:t>
            </a:r>
          </a:p>
          <a:p>
            <a:pPr marL="0" indent="0">
              <a:buNone/>
            </a:pP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075907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78CBB9-602F-4519-BD0B-D513FA55B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Неадаптивные мысли, или «тараканы»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F04CB6-F807-45FB-83FA-9A9BF7CFB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348881"/>
            <a:ext cx="9359348" cy="3777283"/>
          </a:xfrm>
        </p:spPr>
        <p:txBody>
          <a:bodyPr>
            <a:normAutofit/>
          </a:bodyPr>
          <a:lstStyle/>
          <a:p>
            <a:r>
              <a:rPr lang="ru-RU" sz="2400" dirty="0"/>
              <a:t>«Таракан» - (иррациональная мысль), гуляющий на свободе, может «инфицировать» весь организм. </a:t>
            </a:r>
          </a:p>
          <a:p>
            <a:r>
              <a:rPr lang="ru-RU" sz="2400" dirty="0"/>
              <a:t>Поэтому «тараканов» надо уничтожать, как только вы их замечаете.</a:t>
            </a:r>
          </a:p>
          <a:p>
            <a:r>
              <a:rPr lang="ru-RU" sz="2400" dirty="0"/>
              <a:t> Иначе они станут портить ваши отношения с окружающими, вашу работу и всю вашу жизнь</a:t>
            </a:r>
            <a:r>
              <a:rPr lang="ru-RU" sz="2000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42983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1E1F25-A8C8-4051-81D7-E9DA57547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5148" y="496754"/>
            <a:ext cx="6683765" cy="45625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Виды «тараканов»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80E58E-DBE8-49BC-8A7E-C6623278D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8948" y="1371601"/>
            <a:ext cx="8160915" cy="4452730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ru-RU" sz="2900" dirty="0"/>
              <a:t>Мысли из разряда «вечно или никогда». Выражения, как «всегда», «никогда», «никто», «все», «каждый раз» - </a:t>
            </a:r>
            <a:r>
              <a:rPr lang="ru-RU" sz="2900" dirty="0" err="1"/>
              <a:t>конфликтогены</a:t>
            </a:r>
            <a:r>
              <a:rPr lang="ru-RU" sz="2900" dirty="0"/>
              <a:t> общения. </a:t>
            </a:r>
          </a:p>
          <a:p>
            <a:pPr lvl="0"/>
            <a:r>
              <a:rPr lang="ru-RU" sz="2900" dirty="0"/>
              <a:t>Сосредоточенность на плохом. Способность в любой ситуации видеть только плохое. </a:t>
            </a:r>
          </a:p>
          <a:p>
            <a:pPr lvl="0"/>
            <a:r>
              <a:rPr lang="ru-RU" sz="2900" dirty="0"/>
              <a:t>«Ясновидение ». « Я так и знал(а)». Склонность ожидать худшего из всех возможных вариантов развития ситуации. Негативное видение будущего. </a:t>
            </a:r>
          </a:p>
          <a:p>
            <a:pPr lvl="0"/>
            <a:r>
              <a:rPr lang="ru-RU" sz="2900" dirty="0"/>
              <a:t>«Чтение мыслей». Убежденность, что вы знаете, о чем думают другие, даже если вам они об этом не говорят. </a:t>
            </a:r>
          </a:p>
          <a:p>
            <a:pPr lvl="0"/>
            <a:r>
              <a:rPr lang="ru-RU" sz="2900" dirty="0"/>
              <a:t>Мышление чувствами. Безусловное доверие своим негативным чувствам.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076357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9996D4A1-23F4-4F44-B6F2-66F74FDA8C7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8893515" cy="7092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4505">
                  <a:extLst>
                    <a:ext uri="{9D8B030D-6E8A-4147-A177-3AD203B41FA5}">
                      <a16:colId xmlns:a16="http://schemas.microsoft.com/office/drawing/2014/main" val="3058801346"/>
                    </a:ext>
                  </a:extLst>
                </a:gridCol>
                <a:gridCol w="2964505">
                  <a:extLst>
                    <a:ext uri="{9D8B030D-6E8A-4147-A177-3AD203B41FA5}">
                      <a16:colId xmlns:a16="http://schemas.microsoft.com/office/drawing/2014/main" val="1659169952"/>
                    </a:ext>
                  </a:extLst>
                </a:gridCol>
                <a:gridCol w="2964505">
                  <a:extLst>
                    <a:ext uri="{9D8B030D-6E8A-4147-A177-3AD203B41FA5}">
                      <a16:colId xmlns:a16="http://schemas.microsoft.com/office/drawing/2014/main" val="251136187"/>
                    </a:ext>
                  </a:extLst>
                </a:gridCol>
              </a:tblGrid>
              <a:tr h="1145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«Таракан»</a:t>
                      </a:r>
                    </a:p>
                    <a:p>
                      <a:endParaRPr lang="ru-RU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Вид «таракана» </a:t>
                      </a:r>
                      <a:endParaRPr lang="ru-RU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Убить «таракана»</a:t>
                      </a:r>
                      <a:endParaRPr lang="ru-RU" sz="18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25211147"/>
                  </a:ext>
                </a:extLst>
              </a:tr>
              <a:tr h="845623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Ты никогда меня не слушаешь</a:t>
                      </a:r>
                    </a:p>
                    <a:p>
                      <a:endParaRPr lang="ru-RU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Мысли из разряда «вечно или никогда»</a:t>
                      </a:r>
                    </a:p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Поиск виновного</a:t>
                      </a:r>
                    </a:p>
                    <a:p>
                      <a:endParaRPr lang="ru-RU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Меня раздражает, когда ты меня не слушаешь, но я же знаю, что ты и раньше прислушивался и будешь прислушиваться и дальше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90002619"/>
                  </a:ext>
                </a:extLst>
              </a:tr>
              <a:tr h="102896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Моя начальница меня не любит</a:t>
                      </a:r>
                    </a:p>
                    <a:p>
                      <a:endParaRPr lang="ru-RU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Чтение мыслей</a:t>
                      </a:r>
                      <a:endParaRPr lang="ru-RU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Я ведь не знаю, любит она меня или нет. Может быть, у нее сегодня просто тяжелый день. </a:t>
                      </a:r>
                      <a:endParaRPr lang="ru-RU" sz="18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243279599"/>
                  </a:ext>
                </a:extLst>
              </a:tr>
              <a:tr h="84562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Надо мной будет смеяться весь класс</a:t>
                      </a:r>
                    </a:p>
                    <a:p>
                      <a:endParaRPr lang="ru-RU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«Ясновидение»</a:t>
                      </a:r>
                    </a:p>
                    <a:p>
                      <a:endParaRPr lang="ru-RU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Я не могу этого знать. </a:t>
                      </a:r>
                      <a:endParaRPr lang="ru-RU" sz="1800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Может быть, им мое выступление как раз понравится</a:t>
                      </a:r>
                      <a:endParaRPr lang="ru-RU" sz="18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29128842"/>
                  </a:ext>
                </a:extLst>
              </a:tr>
              <a:tr h="100836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Я глуп (он глуп, нет смысла продолжать общение)</a:t>
                      </a:r>
                    </a:p>
                    <a:p>
                      <a:endParaRPr lang="ru-RU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Ярлык</a:t>
                      </a:r>
                    </a:p>
                    <a:p>
                      <a:endParaRPr lang="ru-RU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Может, иногда я и поступаю не очень умно, но я отнюдь не глуп</a:t>
                      </a:r>
                      <a:endParaRPr lang="ru-RU" sz="18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98247494"/>
                  </a:ext>
                </a:extLst>
              </a:tr>
              <a:tr h="32639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Это ты виноват, что в наших отношениях возникли трудности</a:t>
                      </a:r>
                    </a:p>
                    <a:p>
                      <a:endParaRPr lang="ru-RU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Поиск виновного</a:t>
                      </a:r>
                    </a:p>
                    <a:p>
                      <a:endParaRPr lang="ru-RU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Я должна посмотреть, в чем есть и мои ошибки</a:t>
                      </a:r>
                    </a:p>
                    <a:p>
                      <a:endParaRPr lang="ru-RU" sz="18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4468749"/>
                  </a:ext>
                </a:extLst>
              </a:tr>
            </a:tbl>
          </a:graphicData>
        </a:graphic>
      </p:graphicFrame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EF85C1B-AB2B-4058-8F8D-3081590D9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333588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20F765-EAE5-4155-BE21-473D7196C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8104" y="164705"/>
            <a:ext cx="5985106" cy="1143000"/>
          </a:xfrm>
        </p:spPr>
        <p:txBody>
          <a:bodyPr/>
          <a:lstStyle/>
          <a:p>
            <a:r>
              <a:rPr lang="ru-RU" b="1" dirty="0"/>
              <a:t>Упражнение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470AA0-D703-4724-AFE8-CF06FF94F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254" y="1709532"/>
            <a:ext cx="7875668" cy="3619499"/>
          </a:xfrm>
        </p:spPr>
        <p:txBody>
          <a:bodyPr>
            <a:normAutofit/>
          </a:bodyPr>
          <a:lstStyle/>
          <a:p>
            <a:r>
              <a:rPr lang="ru-RU" dirty="0"/>
              <a:t>Сделайте упражнение в парах. Поддержите друг друга, как коучи в этой работе. </a:t>
            </a:r>
          </a:p>
          <a:p>
            <a:r>
              <a:rPr lang="ru-RU" dirty="0"/>
              <a:t>Запишите событие, с которым связаны ваши собственные неприятные мысли и ощущения.</a:t>
            </a:r>
          </a:p>
          <a:p>
            <a:r>
              <a:rPr lang="ru-RU" dirty="0"/>
              <a:t>«ТАРАКАН»  - ОПРЕДЕЛИТЕ ВИД «ТАРАКАНА»</a:t>
            </a:r>
          </a:p>
          <a:p>
            <a:r>
              <a:rPr lang="ru-RU" dirty="0"/>
              <a:t>УНИЧТОЖЬТЕ «ТАРАКАНА»  - поспорьте с этой иррациональной  мыслью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813473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2D2F86-D059-42D3-A880-1D0FEDE99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/>
              <a:t>Схема работы с неадаптивными мыслями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0B1462-0F31-4C3E-8394-2975D335A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348881"/>
            <a:ext cx="11386930" cy="3777283"/>
          </a:xfrm>
        </p:spPr>
        <p:txBody>
          <a:bodyPr>
            <a:normAutofit/>
          </a:bodyPr>
          <a:lstStyle/>
          <a:p>
            <a:r>
              <a:rPr lang="ru-RU" dirty="0"/>
              <a:t>1. Выявляем неадаптивную мысль</a:t>
            </a:r>
          </a:p>
          <a:p>
            <a:r>
              <a:rPr lang="ru-RU" dirty="0"/>
              <a:t>2. Работаем с чувствами, которые она вызывает </a:t>
            </a:r>
          </a:p>
          <a:p>
            <a:r>
              <a:rPr lang="ru-RU" dirty="0"/>
              <a:t>3. Далее работаем с неадаптивной мыслью одним из способов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059112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B3819C-A364-4DFD-B0C7-E514B06A2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Немного о ПРАВИЛАХ семьи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171" y="2014345"/>
            <a:ext cx="9816790" cy="3126368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endParaRPr lang="ru-RU" b="1" dirty="0"/>
          </a:p>
          <a:p>
            <a:pPr marL="0" lvl="0" indent="0">
              <a:buNone/>
            </a:pPr>
            <a:r>
              <a:rPr lang="ru-RU" b="1" dirty="0"/>
              <a:t>4 цветовые зоны Ю. Б. </a:t>
            </a:r>
            <a:r>
              <a:rPr lang="ru-RU" b="1" dirty="0" err="1"/>
              <a:t>Гиппенрейтер</a:t>
            </a:r>
            <a:endParaRPr lang="ru-RU" b="1" dirty="0"/>
          </a:p>
          <a:p>
            <a:pPr marL="0" lvl="0" indent="0">
              <a:buNone/>
            </a:pPr>
            <a:endParaRPr lang="ru-RU" b="1" dirty="0"/>
          </a:p>
          <a:p>
            <a:pPr marL="0" lvl="0" indent="0">
              <a:buNone/>
            </a:pPr>
            <a:r>
              <a:rPr lang="ru-RU" b="1" dirty="0">
                <a:solidFill>
                  <a:srgbClr val="00B050"/>
                </a:solidFill>
              </a:rPr>
              <a:t>ЗЕЛЕНАЯ: </a:t>
            </a:r>
            <a:r>
              <a:rPr lang="ru-RU" b="1" dirty="0"/>
              <a:t>То, что можно делать по своему усмотрению.</a:t>
            </a:r>
          </a:p>
          <a:p>
            <a:pPr marL="0" lvl="0" indent="0">
              <a:buNone/>
            </a:pPr>
            <a:r>
              <a:rPr lang="ru-RU" b="1" dirty="0">
                <a:solidFill>
                  <a:srgbClr val="FFCC00"/>
                </a:solidFill>
              </a:rPr>
              <a:t>ЖЕЛТАЯ: </a:t>
            </a:r>
            <a:r>
              <a:rPr lang="ru-RU" b="1" dirty="0"/>
              <a:t>Можно делать все, но в определенных границах.</a:t>
            </a:r>
          </a:p>
          <a:p>
            <a:pPr marL="0" lvl="0" indent="0">
              <a:buNone/>
            </a:pPr>
            <a:r>
              <a:rPr lang="ru-RU" b="1" dirty="0">
                <a:solidFill>
                  <a:schemeClr val="accent6">
                    <a:lumMod val="75000"/>
                  </a:schemeClr>
                </a:solidFill>
              </a:rPr>
              <a:t>ОРАНЖЕВАЯ: </a:t>
            </a:r>
            <a:r>
              <a:rPr lang="ru-RU" b="1" dirty="0"/>
              <a:t>Особые обстоятельства.</a:t>
            </a:r>
          </a:p>
          <a:p>
            <a:pPr marL="0" lvl="0" indent="0">
              <a:buNone/>
            </a:pPr>
            <a:r>
              <a:rPr lang="ru-RU" b="1" dirty="0">
                <a:solidFill>
                  <a:srgbClr val="FF0000"/>
                </a:solidFill>
              </a:rPr>
              <a:t>КРАСНАЯ: </a:t>
            </a:r>
            <a:r>
              <a:rPr lang="ru-RU" b="1" dirty="0"/>
              <a:t>НЕПРИЕМЛЕМО НИ ПРИ КАКИХ ОБСТОЯТЕЛЬСТВАХ.</a:t>
            </a:r>
          </a:p>
          <a:p>
            <a:pPr marL="0" lvl="0" indent="0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740254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v.pospelov\Desktop\лого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553" y="528427"/>
            <a:ext cx="2380837" cy="67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v.pospelov\Desktop\паттерн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911" y="144001"/>
            <a:ext cx="5319748" cy="450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33717" y="3883680"/>
            <a:ext cx="76412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>
                <a:solidFill>
                  <a:srgbClr val="FF0000"/>
                </a:solidFill>
                <a:latin typeface="HeliosBlack" pitchFamily="82" charset="0"/>
                <a:ea typeface="+mj-ea"/>
                <a:cs typeface="+mj-cs"/>
              </a:rPr>
              <a:t>Упражнения для пары</a:t>
            </a:r>
            <a:endParaRPr lang="ru-RU" sz="3200" b="1" dirty="0">
              <a:solidFill>
                <a:srgbClr val="FF0000"/>
              </a:solidFill>
              <a:latin typeface="HeliosBlack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00560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3B96B9-D6E8-4741-9D4B-A585D65D0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обидами партнеров друг на друга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96E9C1-7245-4453-BAFB-412577C43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348881"/>
            <a:ext cx="9289002" cy="3777283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Конечно часто в паре накоплены невысказанные обиды.</a:t>
            </a:r>
          </a:p>
          <a:p>
            <a:r>
              <a:rPr lang="ru-RU" dirty="0"/>
              <a:t>Одно из упражнений, которое дается на дом – бой подушками (снимаем самые простые недовольства, желательно с включением флирта).</a:t>
            </a:r>
            <a:br>
              <a:rPr lang="ru-RU" dirty="0"/>
            </a:br>
            <a:r>
              <a:rPr lang="ru-RU" dirty="0"/>
              <a:t>1. Выписываем причины недовольства друг другом (15), ранжируем их (сначала достаточно простые), выбираем первые 3-5. </a:t>
            </a:r>
          </a:p>
          <a:p>
            <a:r>
              <a:rPr lang="ru-RU" dirty="0"/>
              <a:t>2. Достаем маленькие декоративные подушки, договариваемся о времени и каждый по очереди высказывает причину недовольства и бьет подушкой партнера (стараемся не попадать по чувствительным местам)</a:t>
            </a:r>
          </a:p>
          <a:p>
            <a:r>
              <a:rPr lang="ru-RU" dirty="0"/>
              <a:t>3. Высказав первые 3-5 претензий в зависимости от состояния Смеемся и обнимается, или говорим : «Все, продолжим завтра! Я ценю, что мы с тобой решились на это!»</a:t>
            </a:r>
          </a:p>
          <a:p>
            <a:r>
              <a:rPr lang="ru-RU" dirty="0"/>
              <a:t>4. Договариваемся о следующих «баталиях».</a:t>
            </a:r>
          </a:p>
          <a:p>
            <a:endParaRPr lang="ru-RU" dirty="0"/>
          </a:p>
          <a:p>
            <a:r>
              <a:rPr lang="ru-RU" dirty="0"/>
              <a:t>В </a:t>
            </a:r>
            <a:r>
              <a:rPr lang="ru-RU"/>
              <a:t>цеом</a:t>
            </a:r>
            <a:r>
              <a:rPr lang="ru-RU" dirty="0"/>
              <a:t> работа с обидами идет в индивидуальном порядке. </a:t>
            </a:r>
          </a:p>
          <a:p>
            <a:r>
              <a:rPr lang="ru-RU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24655479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D49B37-AC94-4BA7-AE38-A51266A65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Слова поддержки и восхищения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0DE51E-34B1-4838-BFC9-D2FD6B0EC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348881"/>
            <a:ext cx="9324513" cy="3777283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Во многих семьях (партнерствах) такие слова произносятся редко и почти всегда несоответственно (смотри тему: Слова поддержки и восхищения, как правильно говорить)</a:t>
            </a:r>
            <a:br>
              <a:rPr lang="ru-RU" dirty="0"/>
            </a:br>
            <a:r>
              <a:rPr lang="ru-RU" dirty="0"/>
              <a:t>Делаем интервенцию: учимся говорить слова поддержки и восхищения, тренируемся письменно и доводим написанные слова до совершенства. </a:t>
            </a:r>
          </a:p>
          <a:p>
            <a:r>
              <a:rPr lang="ru-RU" dirty="0"/>
              <a:t>Далее партнеры в смс обмениваются в течении недели смс-посланиями со словами поддержки и восхищения, затем постепенно  вводим в дневное общение обмен словами поддержки и восхищения. </a:t>
            </a:r>
          </a:p>
        </p:txBody>
      </p:sp>
    </p:spTree>
    <p:extLst>
      <p:ext uri="{BB962C8B-B14F-4D97-AF65-F5344CB8AC3E}">
        <p14:creationId xmlns:p14="http://schemas.microsoft.com/office/powerpoint/2010/main" val="193590946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E901BA-9F0A-415E-88DD-1112994A9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Благодарность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4134D3-99A2-4D43-8D48-A2F6FBB16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В партнерстве, начиная возможно с определенного периода отношений, пары забывают благодарить друг друга. </a:t>
            </a:r>
          </a:p>
          <a:p>
            <a:r>
              <a:rPr lang="ru-RU" dirty="0"/>
              <a:t>Важно возобновить этот навык. Для этого можно сделать такое упражнение. </a:t>
            </a:r>
          </a:p>
          <a:p>
            <a:r>
              <a:rPr lang="ru-RU" dirty="0"/>
              <a:t>1. Написать список, за что я хотел(а) бы поблагодарить партнера, но забываю в суете дел. </a:t>
            </a:r>
          </a:p>
          <a:p>
            <a:r>
              <a:rPr lang="ru-RU" dirty="0"/>
              <a:t>2. Написать список того, за что в принципе можно было бы поблагодарить партнера, хотя в моей карте реальности это просто не стоит благодарности. </a:t>
            </a:r>
          </a:p>
          <a:p>
            <a:r>
              <a:rPr lang="ru-RU" dirty="0"/>
              <a:t>3. Обратить внимание на то, как часто я благодарю партнера за вещи из списка 1. Хотя бы иногда я благодарю партнера за некоторые вещи из списка 2? </a:t>
            </a:r>
          </a:p>
          <a:p>
            <a:r>
              <a:rPr lang="ru-RU" dirty="0"/>
              <a:t>4. Стоит подумать, готов(а) ли я включить в дневное общение слова благодарности. </a:t>
            </a:r>
          </a:p>
          <a:p>
            <a:r>
              <a:rPr lang="ru-RU" dirty="0"/>
              <a:t>5. В крайних случаях партнеры в смс обмениваются в течении недели </a:t>
            </a:r>
            <a:r>
              <a:rPr lang="ru-RU" dirty="0" err="1"/>
              <a:t>смсками</a:t>
            </a:r>
            <a:r>
              <a:rPr lang="ru-RU" dirty="0"/>
              <a:t> со словами благодарности из списка.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308229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F87867-89C0-43A7-A31E-EC71CFCC0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1800" y="439340"/>
            <a:ext cx="7018776" cy="653964"/>
          </a:xfrm>
        </p:spPr>
        <p:txBody>
          <a:bodyPr>
            <a:normAutofit/>
          </a:bodyPr>
          <a:lstStyle/>
          <a:p>
            <a:r>
              <a:rPr lang="ru-RU" b="1" dirty="0"/>
              <a:t>Вопросы для женщин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5D70DE-A10E-40CD-874F-0CE3B1F7A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41175"/>
            <a:ext cx="10670976" cy="4684990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1.Когда я плачу мне хочется, что б мой возлюбленный…</a:t>
            </a:r>
          </a:p>
          <a:p>
            <a:r>
              <a:rPr lang="ru-RU" dirty="0"/>
              <a:t>2. Я люблю, когда мой возлюбленный проявляет ко мне интерес и внимание следующим образом…</a:t>
            </a:r>
          </a:p>
          <a:p>
            <a:r>
              <a:rPr lang="ru-RU" dirty="0"/>
              <a:t>3.Мне хотелось бы, чтоб мой возлюбленный укрепил мое самоуважение следующим образом…</a:t>
            </a:r>
          </a:p>
          <a:p>
            <a:r>
              <a:rPr lang="ru-RU" dirty="0"/>
              <a:t>4.По моему, мой возлюбленный относится к моей женской интуиции следующим образом…</a:t>
            </a:r>
          </a:p>
          <a:p>
            <a:r>
              <a:rPr lang="ru-RU" dirty="0"/>
              <a:t>5.Когда я испытываю предменструальное напряжение, мне бы хотелось, чтоб мой возлюбленный…</a:t>
            </a:r>
          </a:p>
          <a:p>
            <a:r>
              <a:rPr lang="ru-RU" dirty="0"/>
              <a:t>6.Мне бы хотелось, чтоб мой возлюбленный проявлял интерес к нашему дому следующим образом…</a:t>
            </a:r>
          </a:p>
          <a:p>
            <a:pPr lvl="0"/>
            <a:r>
              <a:rPr lang="ru-RU" dirty="0"/>
              <a:t>Я хотела бы реализовывать свои способности вне дома следующим образом…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253490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F63525-A7B4-4C81-BBD3-F23143A28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2486" y="274036"/>
            <a:ext cx="7277193" cy="749695"/>
          </a:xfrm>
        </p:spPr>
        <p:txBody>
          <a:bodyPr/>
          <a:lstStyle/>
          <a:p>
            <a:r>
              <a:rPr lang="ru-RU" b="1" dirty="0"/>
              <a:t>Вопросы для мужчин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BE1929-D29F-401F-87A7-14E9FD4C3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31235"/>
            <a:ext cx="10670976" cy="4694929"/>
          </a:xfrm>
        </p:spPr>
        <p:txBody>
          <a:bodyPr>
            <a:normAutofit fontScale="92500"/>
          </a:bodyPr>
          <a:lstStyle/>
          <a:p>
            <a:r>
              <a:rPr lang="ru-RU" dirty="0"/>
              <a:t>Мне бы хотелось, чтоб моя возлюбленная понимала мою потребность в _____________ и проявляла это следующим образом: </a:t>
            </a:r>
          </a:p>
          <a:p>
            <a:r>
              <a:rPr lang="ru-RU" dirty="0"/>
              <a:t>мне бы хотелось, чтоб моя возлюбленная понимала мою потребность в _______________ и проявляла это следующим образом: </a:t>
            </a:r>
          </a:p>
          <a:p>
            <a:r>
              <a:rPr lang="ru-RU" dirty="0"/>
              <a:t>мне бы хотелось, чтоб моя возлюбленная понимала мою потребность в ______________и проявляла это следующим образом:  </a:t>
            </a:r>
          </a:p>
          <a:p>
            <a:r>
              <a:rPr lang="ru-RU" dirty="0"/>
              <a:t>мне бы хотелось, чтоб моя возлюбленная понимала мою потребность в ______________ и проявляла это следующим образом: </a:t>
            </a:r>
          </a:p>
          <a:p>
            <a:r>
              <a:rPr lang="ru-RU" dirty="0"/>
              <a:t>мне бы хотелось, чтоб моя возлюбленная сделала наш дом местом, куда приятно возвращаться и сделала это следующим образом…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116479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B39351-799C-4508-82B0-AF4B4375A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583" y="264097"/>
            <a:ext cx="7267254" cy="690060"/>
          </a:xfrm>
        </p:spPr>
        <p:txBody>
          <a:bodyPr/>
          <a:lstStyle/>
          <a:p>
            <a:r>
              <a:rPr lang="ru-RU" b="1" dirty="0"/>
              <a:t>Вопросы для мужчин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6B99E7-6F47-473F-AEDD-7D963B60A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41175"/>
            <a:ext cx="10670976" cy="4684990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Когда я чувствую, что мужество покидает меня (неприятности на работе, усталость) я хотел бы, что б моя возлюбленная делала следующее…</a:t>
            </a:r>
          </a:p>
          <a:p>
            <a:r>
              <a:rPr lang="ru-RU" dirty="0"/>
              <a:t>Когда я возвращаюсь домой с работы, я хочу, что б возлюбленная меня встречала… (в каком виде, как она должна при этом выглядеть?)…</a:t>
            </a:r>
          </a:p>
          <a:p>
            <a:r>
              <a:rPr lang="ru-RU" dirty="0"/>
              <a:t>Каким образом возлюбленная может помочь укрепить Вам свое мужское достоинство?</a:t>
            </a:r>
          </a:p>
          <a:p>
            <a:r>
              <a:rPr lang="ru-RU" dirty="0"/>
              <a:t>Как вы реагируете, когда возлюбленная перебивает Вас? Как Вы хотите, чтоб она это делала? </a:t>
            </a:r>
          </a:p>
          <a:p>
            <a:r>
              <a:rPr lang="ru-RU" dirty="0"/>
              <a:t>Каким образом Ваша возлюбленная может помочь Вам расслабиться или снять напряжение? </a:t>
            </a:r>
          </a:p>
          <a:p>
            <a:r>
              <a:rPr lang="ru-RU" dirty="0"/>
              <a:t>Нравится ли Вам, когда Ваша возлюбленная поддерживает Вас и сочувствует вашим интересам в профессиональном плане? каким образом ей лучше это сделать? </a:t>
            </a:r>
          </a:p>
          <a:p>
            <a:r>
              <a:rPr lang="ru-RU" dirty="0"/>
              <a:t>К чему Вы бы хотели, что б ваша возлюбленная проявила больший интерес в вашей совместной жизни?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474806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F63525-A7B4-4C81-BBD3-F23143A28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2486" y="274036"/>
            <a:ext cx="7277193" cy="749695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Вопросы для женщин</a:t>
            </a:r>
            <a:br>
              <a:rPr lang="ru-RU" b="1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BE1929-D29F-401F-87A7-14E9FD4C3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31235"/>
            <a:ext cx="10670976" cy="4694929"/>
          </a:xfrm>
        </p:spPr>
        <p:txBody>
          <a:bodyPr>
            <a:normAutofit fontScale="92500"/>
          </a:bodyPr>
          <a:lstStyle/>
          <a:p>
            <a:r>
              <a:rPr lang="ru-RU" dirty="0"/>
              <a:t>Мне бы хотелось, чтоб мой возлюбленный понимал мою потребность в _____________ и проявлял это следующим образом: </a:t>
            </a:r>
          </a:p>
          <a:p>
            <a:r>
              <a:rPr lang="ru-RU" dirty="0"/>
              <a:t>мне бы хотелось, чтоб мой возлюбленный понимал мою потребность в _______________ и проявлял это следующим образом: </a:t>
            </a:r>
          </a:p>
          <a:p>
            <a:r>
              <a:rPr lang="ru-RU" dirty="0"/>
              <a:t>мне бы хотелось, чтоб мой возлюбленный понимал мою потребность в ______________и проявлял это следующим образом:  </a:t>
            </a:r>
          </a:p>
          <a:p>
            <a:r>
              <a:rPr lang="ru-RU" dirty="0"/>
              <a:t>мне бы хотелось, чтоб мой возлюбленный понимал мою потребность в ______________ </a:t>
            </a:r>
            <a:r>
              <a:rPr lang="ru-RU"/>
              <a:t>и проявлял </a:t>
            </a:r>
            <a:r>
              <a:rPr lang="ru-RU" dirty="0"/>
              <a:t>это следующим образом: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856857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2099AD-0619-4E50-88D4-A843FD6D5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1330" y="160336"/>
            <a:ext cx="6720602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Основные правила восстановления отношений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7C1890-602F-46C3-85CF-320ED9BE2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9471"/>
            <a:ext cx="10303565" cy="4406694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Проявляйте нежность. Регулярно прикасайтесь к партнеру, целуйте его и обнимайте — и это необяза­тельно должно приводить к сексу.</a:t>
            </a:r>
          </a:p>
          <a:p>
            <a:r>
              <a:rPr lang="ru-RU" dirty="0"/>
              <a:t>Защищайте свои отношения. Выкраивайте время для качественного общения, как вы выкраиваете время для друга или ребенка.</a:t>
            </a:r>
          </a:p>
          <a:p>
            <a:r>
              <a:rPr lang="ru-RU" dirty="0"/>
              <a:t>Делитесь друг с другом впечатлениями в течение дня. Спрашивайте его, как у него идут дела, и рассказы­вайте ему о своих делах</a:t>
            </a:r>
          </a:p>
          <a:p>
            <a:r>
              <a:rPr lang="ru-RU" dirty="0"/>
              <a:t>Пересмотрите роли в своих отношениях. Создайте собственные отношения вместо того, чтобы слепо копировать стандарты общества.</a:t>
            </a:r>
          </a:p>
          <a:p>
            <a:r>
              <a:rPr lang="ru-RU" dirty="0"/>
              <a:t>Подумайте о том, что вы и ваш партнер делаете всег­да и не делаете никогда. Будьте более разборчивы в отношении того, как вы проводите время вместе.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541888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471BA5-7CE6-4315-8168-8804B5929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670" y="264097"/>
            <a:ext cx="7108228" cy="670182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F7923D-A254-4C86-96FE-D09F9EC6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10139"/>
            <a:ext cx="10670976" cy="4516025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Ежедневно выражайте свои чувства. Говорите ему, что любите его, и уточняйте, почему. Вместо «я люб­лю тебя» говорите: «Мне ужасно нравится твоя улыбка / твоя попка / то, как ты обращаешься с детьми».</a:t>
            </a:r>
          </a:p>
          <a:p>
            <a:r>
              <a:rPr lang="ru-RU" dirty="0"/>
              <a:t>Предавайтесь приятным воспоминаниям и делайте сегодня то, о чем не раз вспомните с удовольствием в будущем. Напоминайте партнеру о хороших време­нах</a:t>
            </a:r>
          </a:p>
          <a:p>
            <a:r>
              <a:rPr lang="ru-RU" dirty="0"/>
              <a:t>Чаще развлекайтесь. Затейте бой на подушках, сыг­райте в «Монополию» и заведите музыку, которую вы слушали во время первых свиданий.</a:t>
            </a:r>
          </a:p>
          <a:p>
            <a:r>
              <a:rPr lang="ru-RU" dirty="0"/>
              <a:t>По возможности ломайте повседневную рутину. От­правьтесь на полночную прогулку, пригласите его после работы в бар или приготовьте ему какой-ни­будь сюрприз.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379899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194D08-6F89-46B6-963F-3F54BA21A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9670" y="260437"/>
            <a:ext cx="6670906" cy="47139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4930C1-1AD5-45B6-A8F2-3FF826142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90870"/>
            <a:ext cx="10670976" cy="463529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/>
              <a:t>Установите правила поведения дома, например:</a:t>
            </a:r>
          </a:p>
          <a:p>
            <a:pPr lvl="0"/>
            <a:r>
              <a:rPr lang="ru-RU" dirty="0"/>
              <a:t>не кричите из комнаты в комнату;</a:t>
            </a:r>
          </a:p>
          <a:p>
            <a:pPr lvl="0"/>
            <a:r>
              <a:rPr lang="ru-RU" dirty="0"/>
              <a:t>не перебивайте;</a:t>
            </a:r>
          </a:p>
          <a:p>
            <a:pPr lvl="0"/>
            <a:r>
              <a:rPr lang="ru-RU" dirty="0"/>
              <a:t>не смотрите телевизор во время ужина и после одинна­дцати часов вечера;</a:t>
            </a:r>
          </a:p>
          <a:p>
            <a:pPr lvl="0"/>
            <a:r>
              <a:rPr lang="ru-RU" dirty="0"/>
              <a:t>не говорите помногу о работе;</a:t>
            </a:r>
          </a:p>
          <a:p>
            <a:pPr lvl="0"/>
            <a:r>
              <a:rPr lang="ru-RU" dirty="0"/>
              <a:t>не звоните из дома по делам без крайней нужды.</a:t>
            </a:r>
          </a:p>
          <a:p>
            <a:pPr marL="0" indent="0">
              <a:buNone/>
            </a:pPr>
            <a:r>
              <a:rPr lang="ru-RU" dirty="0"/>
              <a:t>Согласовывайте свои личные пели с вашими общими целями. </a:t>
            </a:r>
          </a:p>
          <a:p>
            <a:pPr marL="0" indent="0">
              <a:buNone/>
            </a:pPr>
            <a:r>
              <a:rPr lang="ru-RU" dirty="0"/>
              <a:t>Не скрывайте мысли и чувства. </a:t>
            </a:r>
          </a:p>
          <a:p>
            <a:pPr marL="0" indent="0">
              <a:buNone/>
            </a:pPr>
            <a:r>
              <a:rPr lang="ru-RU" dirty="0"/>
              <a:t>Пообещайте оба, что не будете больше относиться другу к Другу с безразличием. </a:t>
            </a:r>
          </a:p>
          <a:p>
            <a:pPr marL="0" indent="0">
              <a:buNone/>
            </a:pPr>
            <a:r>
              <a:rPr lang="ru-RU" dirty="0"/>
              <a:t>Договоритесь о клю­чевой фразе, которую вы оба будете произносить, когда почувствуете, что это происходит вновь, — например: </a:t>
            </a:r>
          </a:p>
          <a:p>
            <a:pPr marL="0" indent="0">
              <a:buNone/>
            </a:pPr>
            <a:r>
              <a:rPr lang="ru-RU" dirty="0"/>
              <a:t>«Не забывай, дорогая, мы с тобой вдвоем против всего мира».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212095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4735B0-4451-488E-BB30-56277230D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37" y="647500"/>
            <a:ext cx="10972800" cy="639762"/>
          </a:xfrm>
        </p:spPr>
        <p:txBody>
          <a:bodyPr>
            <a:normAutofit fontScale="90000"/>
          </a:bodyPr>
          <a:lstStyle/>
          <a:p>
            <a:pPr>
              <a:lnSpc>
                <a:spcPts val="1200"/>
              </a:lnSpc>
              <a:spcAft>
                <a:spcPts val="1000"/>
              </a:spcAft>
            </a:pPr>
            <a:r>
              <a:rPr lang="ru-RU" sz="27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Какие способности и душевные качества нужны, </a:t>
            </a:r>
            <a:br>
              <a:rPr lang="ru-RU" sz="27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ru-RU" sz="27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7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чтобы вступать и поддерживать хорошие </a:t>
            </a:r>
            <a:br>
              <a:rPr lang="ru-RU" sz="27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ru-RU" sz="27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7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любовные отношения</a:t>
            </a:r>
            <a:br>
              <a:rPr lang="ru-R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B03787-71AD-48B4-8308-E45E068E610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100830" y="1198485"/>
            <a:ext cx="9277165" cy="5659515"/>
          </a:xfrm>
        </p:spPr>
        <p:txBody>
          <a:bodyPr>
            <a:normAutofit fontScale="47500" lnSpcReduction="20000"/>
          </a:bodyPr>
          <a:lstStyle/>
          <a:p>
            <a:pPr marL="0" indent="0" algn="ctr">
              <a:lnSpc>
                <a:spcPts val="1200"/>
              </a:lnSpc>
              <a:spcAft>
                <a:spcPts val="1000"/>
              </a:spcAft>
              <a:buNone/>
            </a:pP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50000"/>
              </a:lnSpc>
              <a:buFont typeface="+mj-lt"/>
              <a:buAutoNum type="arabicPeriod"/>
            </a:pPr>
            <a:r>
              <a:rPr lang="ru-RU" sz="33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Готовность идти в партнерские отношения.</a:t>
            </a:r>
          </a:p>
          <a:p>
            <a:pPr marL="1143000" lvl="2" indent="-228600">
              <a:lnSpc>
                <a:spcPct val="150000"/>
              </a:lnSpc>
              <a:buFont typeface="+mj-lt"/>
              <a:buAutoNum type="arabicPeriod"/>
            </a:pPr>
            <a:r>
              <a:rPr lang="ru-RU" sz="33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Способность к эмпатии.</a:t>
            </a:r>
          </a:p>
          <a:p>
            <a:pPr marL="1143000" lvl="2" indent="-228600">
              <a:lnSpc>
                <a:spcPct val="150000"/>
              </a:lnSpc>
              <a:buFont typeface="+mj-lt"/>
              <a:buAutoNum type="arabicPeriod"/>
            </a:pPr>
            <a:r>
              <a:rPr lang="ru-RU" sz="33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Доверие.</a:t>
            </a:r>
          </a:p>
          <a:p>
            <a:pPr marL="1143000" lvl="2" indent="-228600">
              <a:lnSpc>
                <a:spcPct val="150000"/>
              </a:lnSpc>
              <a:buFont typeface="+mj-lt"/>
              <a:buAutoNum type="arabicPeriod"/>
            </a:pPr>
            <a:r>
              <a:rPr lang="ru-RU" sz="33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Восприятие собственных потребностей, чувств, умение о них говорить.</a:t>
            </a:r>
          </a:p>
          <a:p>
            <a:pPr marL="1143000" lvl="2" indent="-228600">
              <a:lnSpc>
                <a:spcPct val="150000"/>
              </a:lnSpc>
              <a:buFont typeface="+mj-lt"/>
              <a:buAutoNum type="arabicPeriod"/>
            </a:pPr>
            <a:r>
              <a:rPr lang="ru-RU" sz="3300" dirty="0">
                <a:ea typeface="Calibri" panose="020F0502020204030204" pitchFamily="34" charset="0"/>
                <a:cs typeface="Times New Roman" panose="02020603050405020304" pitchFamily="18" charset="0"/>
              </a:rPr>
              <a:t>Понимать «карту реальности» партнера, уметь посмотреть на ситуацию его глазами.</a:t>
            </a:r>
            <a:endParaRPr lang="ru-RU" sz="33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50000"/>
              </a:lnSpc>
              <a:buFont typeface="+mj-lt"/>
              <a:buAutoNum type="arabicPeriod"/>
            </a:pPr>
            <a:r>
              <a:rPr lang="ru-RU" sz="33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Принятие партнера:  понимать,  что партнер – он Другой, и вполне возможны  конфликты.</a:t>
            </a:r>
          </a:p>
          <a:p>
            <a:pPr marL="1143000" lvl="2" indent="-228600">
              <a:lnSpc>
                <a:spcPct val="150000"/>
              </a:lnSpc>
              <a:buFont typeface="+mj-lt"/>
              <a:buAutoNum type="arabicPeriod"/>
            </a:pPr>
            <a:r>
              <a:rPr lang="ru-RU" sz="3300" dirty="0">
                <a:ea typeface="Calibri" panose="020F0502020204030204" pitchFamily="34" charset="0"/>
                <a:cs typeface="Times New Roman" panose="02020603050405020304" pitchFamily="18" charset="0"/>
              </a:rPr>
              <a:t>Умение конфликтовать экологично.</a:t>
            </a:r>
            <a:endParaRPr lang="ru-RU" sz="33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50000"/>
              </a:lnSpc>
              <a:buFont typeface="+mj-lt"/>
              <a:buAutoNum type="arabicPeriod"/>
            </a:pPr>
            <a:r>
              <a:rPr lang="ru-RU" sz="33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Способность выдерживать фрустрацию, что мои потребности не всегда удовлетворяются.</a:t>
            </a:r>
          </a:p>
          <a:p>
            <a:pPr marL="1143000" lvl="2" indent="-228600">
              <a:lnSpc>
                <a:spcPct val="150000"/>
              </a:lnSpc>
              <a:buFont typeface="+mj-lt"/>
              <a:buAutoNum type="arabicPeriod"/>
            </a:pPr>
            <a:r>
              <a:rPr lang="ru-RU" sz="33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Также умение партнеру сказать «нет».</a:t>
            </a:r>
          </a:p>
          <a:p>
            <a:pPr marL="1143000" lvl="2" indent="-228600">
              <a:lnSpc>
                <a:spcPct val="150000"/>
              </a:lnSpc>
              <a:buFont typeface="+mj-lt"/>
              <a:buAutoNum type="arabicPeriod"/>
            </a:pPr>
            <a:r>
              <a:rPr lang="ru-RU" sz="33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Способность регулировать собственные аффекты. Умение дистанцироваться в конфликте.</a:t>
            </a:r>
          </a:p>
          <a:p>
            <a:pPr marL="1143000" lvl="2" indent="-228600">
              <a:lnSpc>
                <a:spcPct val="150000"/>
              </a:lnSpc>
              <a:buFont typeface="+mj-lt"/>
              <a:buAutoNum type="arabicPeriod"/>
            </a:pPr>
            <a:r>
              <a:rPr lang="ru-RU" sz="33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Способность быть одному.</a:t>
            </a:r>
          </a:p>
          <a:p>
            <a:pPr marL="1143000" lvl="2" indent="-2286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ru-RU" sz="33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Ответственность.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639491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v.pospelov\Desktop\лого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553" y="528427"/>
            <a:ext cx="2380837" cy="67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v.pospelov\Desktop\паттерн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911" y="144001"/>
            <a:ext cx="5319748" cy="450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84021" y="3009036"/>
            <a:ext cx="7641209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 err="1">
                <a:solidFill>
                  <a:srgbClr val="FF0000"/>
                </a:solidFill>
              </a:rPr>
              <a:t>Созависимые</a:t>
            </a:r>
            <a:r>
              <a:rPr lang="ru-RU" sz="4400" b="1" dirty="0">
                <a:solidFill>
                  <a:srgbClr val="FF0000"/>
                </a:solidFill>
              </a:rPr>
              <a:t> отношения и пути преодоления созависимости</a:t>
            </a:r>
            <a:endParaRPr lang="ru-RU" sz="2400" b="1" dirty="0"/>
          </a:p>
          <a:p>
            <a:endParaRPr lang="ru-RU" sz="3200" b="1" dirty="0">
              <a:solidFill>
                <a:srgbClr val="FF0000"/>
              </a:solidFill>
              <a:latin typeface="HeliosBlack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20420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32CD0A-33B5-4879-95D8-DD225EA80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17" y="274638"/>
            <a:ext cx="9919253" cy="114300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«Мы все склонны к </a:t>
            </a:r>
            <a:r>
              <a:rPr lang="ru-RU" b="1" dirty="0" err="1">
                <a:solidFill>
                  <a:srgbClr val="FF0000"/>
                </a:solidFill>
              </a:rPr>
              <a:t>созависимым</a:t>
            </a:r>
            <a:r>
              <a:rPr lang="ru-RU" b="1" dirty="0">
                <a:solidFill>
                  <a:srgbClr val="FF0000"/>
                </a:solidFill>
              </a:rPr>
              <a:t> отношениям в той или иной степени…»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6289F3-DDD9-424A-9788-59E45CAD5BC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87017" y="1558167"/>
            <a:ext cx="6054793" cy="4802877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/>
              <a:t>«Созависимость — это нездоровая, неадекватная или опасная потребность в другом человеке» </a:t>
            </a:r>
            <a:r>
              <a:rPr lang="ru-RU" sz="1900" b="1" dirty="0"/>
              <a:t>Андреа Миллер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Мало у кого родители были настолько мудры, что дали в детстве ровно столько любви, заботы, принятия, свободы и контроля, сколько было необходимо.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Чаще всего, любви не хватало, свободы тоже, а контроля было в избытке.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Поэтому большинство из нас в большей или меньшей степени зависимы в своих отношениях, даже не осознавая этого. </a:t>
            </a:r>
          </a:p>
        </p:txBody>
      </p:sp>
      <p:pic>
        <p:nvPicPr>
          <p:cNvPr id="12290" name="Picture 2" descr="Созависимые отношения: как перестать цепляться за партнёра?">
            <a:extLst>
              <a:ext uri="{FF2B5EF4-FFF2-40B4-BE49-F238E27FC236}">
                <a16:creationId xmlns:a16="http://schemas.microsoft.com/office/drawing/2014/main" id="{2C0BD2F3-DFDF-42E2-BFF9-13BDA604A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3117" y="1647618"/>
            <a:ext cx="4086084" cy="2238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009522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7A91DA-40AF-4740-A110-5CB5D1FC2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92" y="0"/>
            <a:ext cx="7739270" cy="580127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Признаем наличие проблемы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309666-64E9-4559-AD62-AC6ABB6DD18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99661" y="865187"/>
            <a:ext cx="6278217" cy="585366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b="1" dirty="0"/>
              <a:t>Люди, склонные к </a:t>
            </a:r>
            <a:r>
              <a:rPr lang="ru-RU" b="1" dirty="0" err="1"/>
              <a:t>созависимым</a:t>
            </a:r>
            <a:r>
              <a:rPr lang="ru-RU" b="1" dirty="0"/>
              <a:t> отношениям с другими людьми обладают следующими личностными особенностями:</a:t>
            </a:r>
          </a:p>
          <a:p>
            <a:r>
              <a:rPr lang="ru-RU" dirty="0"/>
              <a:t> У них занижена самооценка, наблюдается нелюбовь к себе (иногда это может проявляться как высокомерие, чувство превосходства над другими)</a:t>
            </a:r>
          </a:p>
          <a:p>
            <a:r>
              <a:rPr lang="ru-RU" dirty="0"/>
              <a:t>Они плохо осознают свои потребности и желания, не умеют их удовлетворять Не умеют просить то, что им необходимо</a:t>
            </a:r>
          </a:p>
          <a:p>
            <a:r>
              <a:rPr lang="ru-RU" dirty="0"/>
              <a:t>У них много подавленных (неосознаваемых) чувств</a:t>
            </a:r>
          </a:p>
          <a:p>
            <a:r>
              <a:rPr lang="ru-RU" dirty="0"/>
              <a:t>Они не умеют говорить «нет», психологические границы либо размыты, либо </a:t>
            </a:r>
            <a:r>
              <a:rPr lang="ru-RU" dirty="0" err="1"/>
              <a:t>железобетонны</a:t>
            </a:r>
            <a:endParaRPr lang="ru-RU" dirty="0"/>
          </a:p>
          <a:p>
            <a:r>
              <a:rPr lang="ru-RU" dirty="0"/>
              <a:t>У них присутствует страх перед жизнью, имеется повышенная тревожность (иногда неосознанная)</a:t>
            </a:r>
          </a:p>
          <a:p>
            <a:r>
              <a:rPr lang="ru-RU" dirty="0"/>
              <a:t>Велик страх отвержения</a:t>
            </a:r>
          </a:p>
          <a:p>
            <a:r>
              <a:rPr lang="ru-RU" dirty="0"/>
              <a:t>Чувство вины и стыда играет большую роль в их жизни</a:t>
            </a:r>
          </a:p>
          <a:p>
            <a:r>
              <a:rPr lang="ru-RU" dirty="0"/>
              <a:t>Сильно зависимы от внешних оценок</a:t>
            </a:r>
            <a:br>
              <a:rPr lang="ru-RU" dirty="0"/>
            </a:br>
            <a:endParaRPr lang="ru-RU" dirty="0"/>
          </a:p>
        </p:txBody>
      </p:sp>
      <p:pic>
        <p:nvPicPr>
          <p:cNvPr id="13314" name="Picture 2" descr="sozavisimye_otnosheniya">
            <a:extLst>
              <a:ext uri="{FF2B5EF4-FFF2-40B4-BE49-F238E27FC236}">
                <a16:creationId xmlns:a16="http://schemas.microsoft.com/office/drawing/2014/main" id="{3E708911-8D4E-4A19-99A6-7351F2F90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7147" y="1578528"/>
            <a:ext cx="5072270" cy="3275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378380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1A243D1-F9A3-4889-A932-28EA5AA19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4E50EF-70D9-4F07-8E3F-109AF86CC5A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19150" y="1644650"/>
            <a:ext cx="10175875" cy="3776663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Треугольник </a:t>
            </a:r>
            <a:r>
              <a:rPr lang="ru-RU" dirty="0" err="1"/>
              <a:t>Карпмана</a:t>
            </a:r>
            <a:r>
              <a:rPr lang="ru-RU" dirty="0"/>
              <a:t> — это самая распространенная модель взаимоотношений между </a:t>
            </a:r>
            <a:r>
              <a:rPr lang="ru-RU" dirty="0" err="1"/>
              <a:t>созависимыми</a:t>
            </a:r>
            <a:r>
              <a:rPr lang="ru-RU" dirty="0"/>
              <a:t> людьми. Впервые описал ее классик </a:t>
            </a:r>
            <a:r>
              <a:rPr lang="ru-RU" dirty="0" err="1"/>
              <a:t>трансактного</a:t>
            </a:r>
            <a:r>
              <a:rPr lang="ru-RU" dirty="0"/>
              <a:t> анализа </a:t>
            </a:r>
            <a:r>
              <a:rPr lang="ru-RU" u="sng" dirty="0">
                <a:hlinkClick r:id="rId2"/>
              </a:rPr>
              <a:t>Стивен </a:t>
            </a:r>
            <a:r>
              <a:rPr lang="ru-RU" u="sng" dirty="0" err="1">
                <a:hlinkClick r:id="rId2"/>
              </a:rPr>
              <a:t>Карпман</a:t>
            </a:r>
            <a:r>
              <a:rPr lang="ru-RU" dirty="0"/>
              <a:t> в 1968 году. Люди манипулируют друг другом, зависят друг от друга и очень от этого устают. Счастья в таких отношениях крайне мало. Как и сил, чтобы изменить ситуацию. Но выход из этого есть.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887558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AA6225F-B558-410C-8547-2B92E55BE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Треугольник </a:t>
            </a:r>
            <a:r>
              <a:rPr lang="ru-RU" dirty="0" err="1"/>
              <a:t>Карпмана</a:t>
            </a:r>
            <a:br>
              <a:rPr lang="ru-RU" dirty="0"/>
            </a:b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DF9794A4-CEAA-442A-A092-84E6680D6E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4033" y="1298846"/>
            <a:ext cx="5021843" cy="3734342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В  треугольнике могут крутиться и двое, и трое, и целые группы людей. </a:t>
            </a:r>
          </a:p>
          <a:p>
            <a:r>
              <a:rPr lang="ru-RU" dirty="0"/>
              <a:t>Но ролей в нем всегда три: </a:t>
            </a:r>
          </a:p>
          <a:p>
            <a:r>
              <a:rPr lang="ru-RU" b="1" dirty="0"/>
              <a:t>жертва, гонитель, спасатель. </a:t>
            </a:r>
          </a:p>
          <a:p>
            <a:r>
              <a:rPr lang="ru-RU" dirty="0"/>
              <a:t>Участники треугольника</a:t>
            </a:r>
            <a:br>
              <a:rPr lang="ru-RU" dirty="0"/>
            </a:br>
            <a:r>
              <a:rPr lang="ru-RU" dirty="0"/>
              <a:t>периодически меняются ролями, но все они являются манипуляторами и здорово</a:t>
            </a:r>
            <a:br>
              <a:rPr lang="ru-RU" dirty="0"/>
            </a:br>
            <a:r>
              <a:rPr lang="ru-RU" dirty="0"/>
              <a:t>портят себе и близким жизнь.</a:t>
            </a:r>
          </a:p>
          <a:p>
            <a:endParaRPr lang="ru-RU" dirty="0"/>
          </a:p>
        </p:txBody>
      </p:sp>
      <p:pic>
        <p:nvPicPr>
          <p:cNvPr id="7" name="Объект 6" descr="О треугольнике Карпмана стоит знать всем, кто хочет иметь счастливую семью">
            <a:hlinkClick r:id="rId2"/>
            <a:extLst>
              <a:ext uri="{FF2B5EF4-FFF2-40B4-BE49-F238E27FC236}">
                <a16:creationId xmlns:a16="http://schemas.microsoft.com/office/drawing/2014/main" id="{06B491E6-C4E1-42D1-BDC4-B28A81A37B74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6126" y="1394638"/>
            <a:ext cx="4300562" cy="3638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650723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8A69884D-1DB9-4DCA-AB5A-7637F6B78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5" y="397668"/>
            <a:ext cx="4133850" cy="11430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Жертва</a:t>
            </a:r>
            <a:br>
              <a:rPr lang="ru-RU" dirty="0"/>
            </a:br>
            <a:r>
              <a:rPr lang="ru-RU" dirty="0"/>
              <a:t> 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4567AA9-EB9B-4925-B21C-32B54832CC9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78890" y="1091953"/>
            <a:ext cx="9658904" cy="4847207"/>
          </a:xfrm>
        </p:spPr>
        <p:txBody>
          <a:bodyPr>
            <a:normAutofit fontScale="77500" lnSpcReduction="20000"/>
          </a:bodyPr>
          <a:lstStyle/>
          <a:p>
            <a: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Жертва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сознательно или бессознательно выбирает страдания. Жертва НЕ берет ответственность за свои проблемы на себя, а ищет (и находит) виноватых вокруг. Такая позиция выгодна для Жертвы, появляется причина, объясняющая, причины ее неудач. 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Ей то обидно, то страшно, то стыдно. Она завидует и ревнует. Ей не хватает ни сил, ни времени, ни желания сделать что-то для улучшения своей жизни. Она инертна. 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Такой подход позволяет Жертве «привлечь» Спасателя (того, кто посочувствует, поможет, избавит от проблем). В начале Жертва получает от него сочувствие, соучастие, дальше пытается переложить на Спасателя СВОЮ ответственность, а затем  еще и обвиняет в своих неудачах.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620891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4E4C39-4E24-4793-8893-F315CC232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Гонитель</a:t>
            </a:r>
            <a:r>
              <a:rPr lang="ru-RU" dirty="0"/>
              <a:t> (контролер, диктатор, агрессор)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AEFDF6-E2F5-495F-9B06-03AFB351D77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49910" y="1074198"/>
            <a:ext cx="9587883" cy="4696287"/>
          </a:xfrm>
        </p:spPr>
        <p:txBody>
          <a:bodyPr>
            <a:normAutofit fontScale="77500" lnSpcReduction="20000"/>
          </a:bodyPr>
          <a:lstStyle/>
          <a:p>
            <a:endParaRPr lang="ru-RU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Он уверен, что Жертва является виновником всех проблем (и его в том числе). 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Гонитель навязывает свой стиль поведения и мыслей (или тот, который считает правильным), в общем «учит жизни». Это может проявляться тиранией вплоть до физического воздействия. </a:t>
            </a:r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Гонитель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почти всегда напряжен, раздражен, зол и боится расслабиться. Он контролирует, преследует и критикует жертву, чувствует невыносимый груз ответственности и очень от этого устает.</a:t>
            </a:r>
          </a:p>
          <a:p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Но 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бесс</a:t>
            </a:r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ознательно он 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ощущает собственную важность и значимость. 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719438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5B1D1A-1136-4143-BF6C-101428DEC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325" y="482600"/>
            <a:ext cx="59817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/>
              <a:t>Спасатель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111650-8FDD-40C9-9BB5-30B20967B41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6847" y="1189609"/>
            <a:ext cx="9747681" cy="4492100"/>
          </a:xfrm>
        </p:spPr>
        <p:txBody>
          <a:bodyPr>
            <a:normAutofit fontScale="77500" lnSpcReduction="20000"/>
          </a:bodyPr>
          <a:lstStyle/>
          <a:p>
            <a: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Спасатель 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чаще всего испытывает жалость и сочувствие к жертве и злость и порой враждебность и агрессию к контролеру. 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Помогая Жертве, он к тому же бессознательно чувствует себя «выше»: умнее, способнее, успешнее. Он испытывает «глубокое удовлетворение» от того, что он «Спасает» других. 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Со стороны все выглядит благопристойно. Он же вроде бы как помогает! Но основная цель его действий и советов — самоутверждение и уход от своих собственных проблем.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Хотя он может считать и убеждать сам себя, что его миссия «избавлять» страдающих людей от проблем, но действительно помочь человеку можно только тогда, когда он сам просит о помощи.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670910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34B666-F85E-4F55-8D55-9502947CE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549" y="465138"/>
            <a:ext cx="6391275" cy="1143000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/>
              <a:t>Как это работает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CB5AD3-CCC5-46D6-AB2C-4802B8810F2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90599" y="1133475"/>
            <a:ext cx="8183563" cy="4886325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Гонитель не дает покоя жертве, он контролирует, следит порой за каждым шагом, критикует, заставляет делать «то, что надо». </a:t>
            </a:r>
            <a:br>
              <a:rPr lang="ru-RU" dirty="0"/>
            </a:br>
            <a:r>
              <a:rPr lang="ru-RU" dirty="0"/>
              <a:t>Жертва старается, мучается, устает и жалуется. </a:t>
            </a:r>
          </a:p>
          <a:p>
            <a:r>
              <a:rPr lang="ru-RU" dirty="0"/>
              <a:t>Спасатель утешает, советует, подставляет уши и жилетку для слез. </a:t>
            </a:r>
          </a:p>
          <a:p>
            <a:r>
              <a:rPr lang="ru-RU" dirty="0"/>
              <a:t>Участники периодически меняются ролями.</a:t>
            </a:r>
          </a:p>
          <a:p>
            <a:r>
              <a:rPr lang="ru-RU" dirty="0"/>
              <a:t>Такая мелодрама может длиться многие годы, люди могут даже не осознавать, что прочно застряли в треугольнике. </a:t>
            </a:r>
          </a:p>
          <a:p>
            <a:r>
              <a:rPr lang="ru-RU" dirty="0"/>
              <a:t>Их устраивает до поры до времени такое положение вещей. Гонителю есть на кого изливать свой негатив и есть кого винить в своих бедах, жертва получает сочувствие и избавляется от ответственности за свою жизнь, спасатель наслаждается ролью героя.</a:t>
            </a:r>
          </a:p>
          <a:p>
            <a:r>
              <a:rPr lang="ru-RU" dirty="0"/>
              <a:t>Все они зависят друг от друга, потому что источник своих проблем они видят в другом человеке. И бесконечно пытаются изменить человека так, чтобы он служил их целям.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373967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5289AFC-7AD5-46C0-88EB-D045BBD22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D928CBB0-92BA-412B-B4D8-1ECDAB37E1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Партнеры переключаются между ролями треугольника и то контролируют, то спасают друг друга. </a:t>
            </a:r>
          </a:p>
          <a:p>
            <a:r>
              <a:rPr lang="ru-RU" dirty="0"/>
              <a:t>Такие отношения точно не про любовь, а про желание</a:t>
            </a:r>
            <a:br>
              <a:rPr lang="ru-RU" dirty="0"/>
            </a:br>
            <a:r>
              <a:rPr lang="ru-RU" dirty="0"/>
              <a:t>доминировать, жалость к себе, изматывающие претензии и неуслышанные</a:t>
            </a:r>
            <a:br>
              <a:rPr lang="ru-RU" dirty="0"/>
            </a:br>
            <a:r>
              <a:rPr lang="ru-RU" dirty="0"/>
              <a:t>оправдания. </a:t>
            </a:r>
          </a:p>
          <a:p>
            <a:r>
              <a:rPr lang="ru-RU" dirty="0"/>
              <a:t>Это не про любовь, не про поддержку, не про счастье.</a:t>
            </a:r>
          </a:p>
        </p:txBody>
      </p:sp>
      <p:pic>
        <p:nvPicPr>
          <p:cNvPr id="7" name="Объект 6" descr="О треугольнике Карпмана стоит знать всем, кто хочет иметь счастливую семью">
            <a:hlinkClick r:id="rId2"/>
            <a:extLst>
              <a:ext uri="{FF2B5EF4-FFF2-40B4-BE49-F238E27FC236}">
                <a16:creationId xmlns:a16="http://schemas.microsoft.com/office/drawing/2014/main" id="{F4F27ABE-3658-4989-B684-8E0C2FAD8825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7602" y="274638"/>
            <a:ext cx="3705225" cy="56864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527145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66406D-0148-4FEF-9EE2-84F077AFF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2F761D-6584-433C-B588-4AC38B9872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9116" y="396063"/>
            <a:ext cx="4645152" cy="5699937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Когда семья живет в треугольнике </a:t>
            </a:r>
            <a:r>
              <a:rPr lang="ru-RU" dirty="0" err="1"/>
              <a:t>Карпмана</a:t>
            </a:r>
            <a:r>
              <a:rPr lang="ru-RU" dirty="0"/>
              <a:t>, то и появившийся ребенок неизбежно будет затянут в этот треугольник. </a:t>
            </a:r>
          </a:p>
          <a:p>
            <a:r>
              <a:rPr lang="ru-RU" dirty="0"/>
              <a:t>Скорее всего, его будут ограничивать в самостоятельности, возможности выбора, принятии решения.  </a:t>
            </a:r>
          </a:p>
          <a:p>
            <a:r>
              <a:rPr lang="ru-RU" dirty="0"/>
              <a:t>Люди, живущие в треугольнике, думают, что защищают таким образом своего ребенка. Такие родители часто играют на чувстве долга, стыда, вины, жалости.</a:t>
            </a:r>
          </a:p>
        </p:txBody>
      </p:sp>
      <p:pic>
        <p:nvPicPr>
          <p:cNvPr id="5" name="Объект 4" descr="О треугольнике Карпмана стоит знать всем, кто хочет иметь счастливую семью">
            <a:hlinkClick r:id="rId2"/>
            <a:extLst>
              <a:ext uri="{FF2B5EF4-FFF2-40B4-BE49-F238E27FC236}">
                <a16:creationId xmlns:a16="http://schemas.microsoft.com/office/drawing/2014/main" id="{D9119AD4-C694-4259-8F51-AF1144A4B480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3885" y="342900"/>
            <a:ext cx="4126466" cy="5448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994703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6BE51A-6C4C-4099-A6A7-ABF3252FD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FF0000"/>
                </a:solidFill>
              </a:rPr>
              <a:t>Здоровые отношения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577A02-530D-4BD3-A91C-4EBAC16242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 algn="l"/>
            <a:r>
              <a:rPr lang="ru-RU" b="0" i="0" cap="small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в здоровых отношениях есть привязанность, но есть и автономия, возможность опираться на себя, на свои личные ресурсы, не зависящие от другого человека.</a:t>
            </a:r>
          </a:p>
          <a:p>
            <a:pPr algn="l"/>
            <a:r>
              <a:rPr lang="ru-RU" b="0" i="0" cap="small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есть поддержка  с уважением  к границам другого человека.</a:t>
            </a:r>
          </a:p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Garamond" panose="02020404030301010803" pitchFamily="18" charset="0"/>
              </a:rPr>
              <a:t>В здоровых отношениях люди остаются вместе не потому что друг без друга невозможно, а потому что вместе лучше, чем по-отдельности.</a:t>
            </a:r>
          </a:p>
          <a:p>
            <a:endParaRPr lang="ru-RU" dirty="0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0F945717-D8F0-4F29-84CE-A914CA4ADB6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7602" y="1600201"/>
            <a:ext cx="4788450" cy="3234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479396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405808-D878-4A55-8656-986BA4466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6838765" cy="1143000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FF0000"/>
                </a:solidFill>
              </a:rPr>
              <a:t>Любовь к себе – шаг № 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623F73-6184-42D1-8DF1-4B145F82057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216241" y="1802168"/>
            <a:ext cx="9454934" cy="4323996"/>
          </a:xfrm>
        </p:spPr>
        <p:txBody>
          <a:bodyPr/>
          <a:lstStyle/>
          <a:p>
            <a:r>
              <a:rPr lang="ru-RU" dirty="0"/>
              <a:t>Как на самом деле любить себя?</a:t>
            </a:r>
          </a:p>
          <a:p>
            <a:r>
              <a:rPr lang="ru-RU" dirty="0"/>
              <a:t>Мои языки любви?</a:t>
            </a:r>
          </a:p>
          <a:p>
            <a:r>
              <a:rPr lang="ru-RU" dirty="0"/>
              <a:t>«Я – обаятельная и привлекательная», «Я – мужчина ГЕРОЙ, я все могу!»</a:t>
            </a:r>
          </a:p>
          <a:p>
            <a:r>
              <a:rPr lang="ru-RU" dirty="0"/>
              <a:t>Упражнения на работу с самооценкой</a:t>
            </a:r>
          </a:p>
        </p:txBody>
      </p:sp>
    </p:spTree>
    <p:extLst>
      <p:ext uri="{BB962C8B-B14F-4D97-AF65-F5344CB8AC3E}">
        <p14:creationId xmlns:p14="http://schemas.microsoft.com/office/powerpoint/2010/main" val="375726342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92050" y="274638"/>
            <a:ext cx="8365563" cy="1143000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FF0000"/>
                </a:solidFill>
              </a:rPr>
              <a:t>Принятие себя – основа любви к себе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4294967295"/>
          </p:nvPr>
        </p:nvSpPr>
        <p:spPr>
          <a:xfrm>
            <a:off x="992050" y="1550781"/>
            <a:ext cx="9520237" cy="4252913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Наши недостатки – продолжения наших достоинств</a:t>
            </a:r>
          </a:p>
          <a:p>
            <a:r>
              <a:rPr lang="ru-RU" dirty="0"/>
              <a:t>Выпишите свои достоинства – напишите их противоположность. </a:t>
            </a:r>
          </a:p>
          <a:p>
            <a:r>
              <a:rPr lang="ru-RU" dirty="0"/>
              <a:t>Разделение себя и своих недостатков. </a:t>
            </a:r>
          </a:p>
          <a:p>
            <a:r>
              <a:rPr lang="ru-RU" dirty="0"/>
              <a:t>УПРАЖНЕНИЕ.</a:t>
            </a:r>
          </a:p>
          <a:p>
            <a:r>
              <a:rPr lang="ru-RU" dirty="0"/>
              <a:t>ПРИМЕР:</a:t>
            </a:r>
          </a:p>
          <a:p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Я умею добиваться своего</a:t>
            </a:r>
          </a:p>
          <a:p>
            <a:r>
              <a:rPr lang="ru-RU" dirty="0">
                <a:solidFill>
                  <a:srgbClr val="FF0000"/>
                </a:solidFill>
              </a:rPr>
              <a:t>Упрямая</a:t>
            </a:r>
          </a:p>
          <a:p>
            <a:r>
              <a:rPr lang="ru-RU" dirty="0"/>
              <a:t>«Если бы я не была упрямой, мне было бы трудно добиваться результатов»</a:t>
            </a:r>
          </a:p>
        </p:txBody>
      </p:sp>
    </p:spTree>
    <p:extLst>
      <p:ext uri="{BB962C8B-B14F-4D97-AF65-F5344CB8AC3E}">
        <p14:creationId xmlns:p14="http://schemas.microsoft.com/office/powerpoint/2010/main" val="401105438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F941F7-D72F-4C22-B71D-455BB7EB2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16" y="239127"/>
            <a:ext cx="7709452" cy="1143000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FF0000"/>
                </a:solidFill>
              </a:rPr>
              <a:t>Контакт с чувствами – шаг № 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E0B4D8-1E9C-41C8-8F89-8CDD451FD43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4948" y="1248672"/>
            <a:ext cx="6003235" cy="47085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br>
              <a:rPr lang="ru-RU" dirty="0"/>
            </a:br>
            <a:r>
              <a:rPr lang="ru-RU" b="1" dirty="0" err="1"/>
              <a:t>Соависимость</a:t>
            </a:r>
            <a:r>
              <a:rPr lang="ru-RU" dirty="0"/>
              <a:t> характеризуется нарушением способности адекватно чувствовать. </a:t>
            </a:r>
            <a:br>
              <a:rPr lang="ru-RU" dirty="0"/>
            </a:br>
            <a:r>
              <a:rPr lang="ru-RU" dirty="0"/>
              <a:t>У зависимых людей очень много подавленных чувств. </a:t>
            </a:r>
            <a:br>
              <a:rPr lang="ru-RU" dirty="0"/>
            </a:br>
            <a:r>
              <a:rPr lang="ru-RU" dirty="0"/>
              <a:t>Подавленный гнев иногда может случайно проявиться в нахмуренный бровях, резкости нашего голоса, резкости суждений, категоричности наших оценок, в осуждении другого человека. </a:t>
            </a:r>
            <a:br>
              <a:rPr lang="ru-RU" dirty="0"/>
            </a:br>
            <a:r>
              <a:rPr lang="ru-RU" dirty="0"/>
              <a:t>Очень трудно признавать отрицательные чувства.</a:t>
            </a:r>
          </a:p>
        </p:txBody>
      </p:sp>
      <p:pic>
        <p:nvPicPr>
          <p:cNvPr id="19458" name="Picture 2" descr="Что вы сейчас чувствуете или Как понять свои чувства?">
            <a:extLst>
              <a:ext uri="{FF2B5EF4-FFF2-40B4-BE49-F238E27FC236}">
                <a16:creationId xmlns:a16="http://schemas.microsoft.com/office/drawing/2014/main" id="{B350FFDA-546D-4EA9-9D2D-A771345C3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6417" y="1288428"/>
            <a:ext cx="4094921" cy="3071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185458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E23BE1-C9B9-4146-A426-8F3D9FFAB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223682" cy="1143000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FF0000"/>
                </a:solidFill>
              </a:rPr>
              <a:t>Страх – основа зависимости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A85130-D9C5-4195-B36C-0F7B76630A1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518082" y="1557584"/>
            <a:ext cx="7956550" cy="4010025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В формировании зависимых отношений большую роль играет </a:t>
            </a:r>
            <a:r>
              <a:rPr lang="ru-RU" b="1" dirty="0"/>
              <a:t>страх</a:t>
            </a:r>
            <a:r>
              <a:rPr lang="ru-RU" dirty="0"/>
              <a:t>.</a:t>
            </a:r>
          </a:p>
          <a:p>
            <a:r>
              <a:rPr lang="ru-RU" dirty="0"/>
              <a:t>Тревога, страх – противоположность любви. Страх нас сковывает, блокирует, отстраняет нас от тех ситуаций, где мы чувствуем опасность, ограничивает нашу реальность.</a:t>
            </a:r>
          </a:p>
          <a:p>
            <a:r>
              <a:rPr lang="ru-RU" dirty="0"/>
              <a:t>Страх, как и любое другое чувство, надо принять – не убегать от него, не подавлять, не обманывать себя, что страха нет – принять и прожить его, не избегая, побыть в нем, пройти сквозь него.</a:t>
            </a:r>
          </a:p>
          <a:p>
            <a:r>
              <a:rPr lang="ru-RU" dirty="0"/>
              <a:t>РАБОТА СО СТРАХОМ НАЧИНАЕТСЯ С РБОТЫ С ЧУВСТВАМИ</a:t>
            </a:r>
          </a:p>
        </p:txBody>
      </p:sp>
    </p:spTree>
    <p:extLst>
      <p:ext uri="{BB962C8B-B14F-4D97-AF65-F5344CB8AC3E}">
        <p14:creationId xmlns:p14="http://schemas.microsoft.com/office/powerpoint/2010/main" val="396102997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013794" cy="1143000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FF0000"/>
                </a:solidFill>
              </a:rPr>
              <a:t>Чувство Вины заменяем Ответственностью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4294967295"/>
          </p:nvPr>
        </p:nvSpPr>
        <p:spPr>
          <a:xfrm>
            <a:off x="1038687" y="1553592"/>
            <a:ext cx="10235954" cy="4572571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УПРАЖНЕНИЕ</a:t>
            </a:r>
          </a:p>
          <a:p>
            <a:pPr marL="0" indent="0">
              <a:buNone/>
            </a:pPr>
            <a:r>
              <a:rPr lang="ru-RU" dirty="0"/>
              <a:t>1. Какие реальные чувства (по словарю чувств) 	скрываются за «чувством» ВИНЫ? </a:t>
            </a:r>
          </a:p>
          <a:p>
            <a:pPr marL="0" indent="0">
              <a:buNone/>
            </a:pPr>
            <a:r>
              <a:rPr lang="ru-RU" dirty="0"/>
              <a:t>Что я могу (должен) сделать с этими чувствами?</a:t>
            </a:r>
          </a:p>
          <a:p>
            <a:pPr marL="0" indent="0">
              <a:buNone/>
            </a:pPr>
            <a:r>
              <a:rPr lang="ru-RU" dirty="0"/>
              <a:t>2. Какие действия я могу(хочу) сделать по отношению к …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401624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52F3AF-63E6-44F4-B091-5926918E9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7211627" cy="1143000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FF0000"/>
                </a:solidFill>
              </a:rPr>
              <a:t>Работа с границами – шаг № 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A9C92A-9731-401E-AA6A-6694443AA89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54602" y="1664764"/>
            <a:ext cx="5453063" cy="3989387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Подавление чувств приводит к тому, что люди не чувствуют свои границы и </a:t>
            </a:r>
            <a:r>
              <a:rPr lang="ru-RU" b="1" dirty="0"/>
              <a:t>не умеют их отстаивать. </a:t>
            </a:r>
            <a:r>
              <a:rPr lang="ru-RU" dirty="0"/>
              <a:t>У них агрессия направлена вовнутрь, на себя.</a:t>
            </a:r>
          </a:p>
          <a:p>
            <a:endParaRPr lang="ru-RU" dirty="0"/>
          </a:p>
          <a:p>
            <a:r>
              <a:rPr lang="ru-RU" dirty="0"/>
              <a:t>Есть другой тип зависимых людей – они умеют отстаивать свои границы, умеют говорить «нет», </a:t>
            </a:r>
            <a:r>
              <a:rPr lang="ru-RU" b="1" dirty="0"/>
              <a:t>но нарушают чужие, </a:t>
            </a:r>
            <a:r>
              <a:rPr lang="ru-RU" dirty="0"/>
              <a:t>требуют от партнера того, что требовать не вправе.</a:t>
            </a:r>
          </a:p>
        </p:txBody>
      </p:sp>
      <p:pic>
        <p:nvPicPr>
          <p:cNvPr id="20482" name="Picture 2" descr="Что такое психологические границы личности?">
            <a:extLst>
              <a:ext uri="{FF2B5EF4-FFF2-40B4-BE49-F238E27FC236}">
                <a16:creationId xmlns:a16="http://schemas.microsoft.com/office/drawing/2014/main" id="{9C497BAA-DCB9-489D-93FA-62909EC77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850" y="2136533"/>
            <a:ext cx="4136649" cy="275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217332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8D7E66D-E3B2-4A80-8F26-0067FC92726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56948" y="80963"/>
            <a:ext cx="9614516" cy="1049337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rgbClr val="FF0000"/>
                </a:solidFill>
              </a:rPr>
              <a:t>Я – беру ответственность за свою жизнь - Шаг № 4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05C8F03-0F3D-42C4-A300-4CED0B7D6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152" y="1191303"/>
            <a:ext cx="4554244" cy="447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50113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6377126" cy="1143000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FF0000"/>
                </a:solidFill>
              </a:rPr>
              <a:t>Кто виноват и что делать?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4294967295"/>
          </p:nvPr>
        </p:nvSpPr>
        <p:spPr>
          <a:xfrm>
            <a:off x="1074198" y="1653142"/>
            <a:ext cx="8078895" cy="3551715"/>
          </a:xfrm>
        </p:spPr>
        <p:txBody>
          <a:bodyPr>
            <a:normAutofit fontScale="77500" lnSpcReduction="20000"/>
          </a:bodyPr>
          <a:lstStyle/>
          <a:p>
            <a:r>
              <a:rPr lang="ru-RU" dirty="0" err="1"/>
              <a:t>Проактивность</a:t>
            </a:r>
            <a:r>
              <a:rPr lang="ru-RU" dirty="0"/>
              <a:t> и реактивность. </a:t>
            </a:r>
          </a:p>
          <a:p>
            <a:r>
              <a:rPr lang="ru-RU" dirty="0"/>
              <a:t>Стивен </a:t>
            </a:r>
            <a:r>
              <a:rPr lang="ru-RU" dirty="0" err="1"/>
              <a:t>Кови</a:t>
            </a:r>
            <a:r>
              <a:rPr lang="ru-RU" dirty="0"/>
              <a:t> «7 навыков высокоэффективных людей»</a:t>
            </a:r>
          </a:p>
          <a:p>
            <a:endParaRPr lang="ru-RU" dirty="0"/>
          </a:p>
          <a:p>
            <a:r>
              <a:rPr lang="ru-RU" dirty="0"/>
              <a:t>Как я это создал?</a:t>
            </a:r>
          </a:p>
          <a:p>
            <a:r>
              <a:rPr lang="ru-RU" dirty="0"/>
              <a:t>Какие выводы я могу из этого сделать?</a:t>
            </a:r>
          </a:p>
          <a:p>
            <a:r>
              <a:rPr lang="ru-RU" dirty="0"/>
              <a:t>Что я могу сделать теперь, чтобы исправить последствия?</a:t>
            </a:r>
          </a:p>
          <a:p>
            <a:r>
              <a:rPr lang="ru-RU" dirty="0"/>
              <a:t>(Что я могу </a:t>
            </a:r>
            <a:r>
              <a:rPr lang="ru-RU" dirty="0" err="1"/>
              <a:t>седать</a:t>
            </a:r>
            <a:r>
              <a:rPr lang="ru-RU" dirty="0"/>
              <a:t> для других людей?) </a:t>
            </a:r>
          </a:p>
        </p:txBody>
      </p:sp>
    </p:spTree>
    <p:extLst>
      <p:ext uri="{BB962C8B-B14F-4D97-AF65-F5344CB8AC3E}">
        <p14:creationId xmlns:p14="http://schemas.microsoft.com/office/powerpoint/2010/main" val="163643520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052482" cy="1143000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FF0000"/>
                </a:solidFill>
              </a:rPr>
              <a:t>Быть хорошим Родителем самому себе - Шаг 5.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Поддержка Родителя +  </a:t>
            </a:r>
          </a:p>
          <a:p>
            <a:r>
              <a:rPr lang="ru-RU" dirty="0"/>
              <a:t>Трансформация Родителя –</a:t>
            </a:r>
          </a:p>
          <a:p>
            <a:r>
              <a:rPr lang="ru-RU"/>
              <a:t>Формирование Взрослой </a:t>
            </a:r>
            <a:r>
              <a:rPr lang="ru-RU" dirty="0"/>
              <a:t>части личности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F4440D86-04BD-4549-AA76-904DBAA26AB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 rot="16200000">
            <a:off x="7035800" y="1444096"/>
            <a:ext cx="3441700" cy="4588933"/>
          </a:xfrm>
        </p:spPr>
      </p:pic>
    </p:spTree>
    <p:extLst>
      <p:ext uri="{BB962C8B-B14F-4D97-AF65-F5344CB8AC3E}">
        <p14:creationId xmlns:p14="http://schemas.microsoft.com/office/powerpoint/2010/main" val="67626437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54EF55-FADB-4501-BA57-D5F6C5515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051" y="0"/>
            <a:ext cx="9942443" cy="1143000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Я родом из детства (упражнение)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5A0411-7BD1-46AC-958D-C25CB1CB6B8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26775" y="1038225"/>
            <a:ext cx="6013173" cy="5391150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Составьте два списка незавершенных проблем в отношениях с родителями (матерью и отцом отдельно). </a:t>
            </a:r>
          </a:p>
          <a:p>
            <a:r>
              <a:rPr lang="ru-RU" dirty="0"/>
              <a:t>В первом списке напишите всё, что говорила и делала по отношению к вам мать (отец) в то время, когда вы были ребенком, и что, на ваш теперешний взгляд, не принесло вам никакой пользы и даже могло повредить. </a:t>
            </a:r>
          </a:p>
          <a:p>
            <a:r>
              <a:rPr lang="ru-RU" dirty="0"/>
              <a:t>Во втором списке перечислите все, что вы хотели бы, чтобы ваша мать (отец) говорила и делала, когда вы были ребенком, и что, по вашему мнению, сделало бы вашу жизнь сейчас более легкой, пошло бы вам на пользу.</a:t>
            </a:r>
            <a:br>
              <a:rPr lang="ru-RU" dirty="0"/>
            </a:br>
            <a:endParaRPr lang="ru-RU" dirty="0"/>
          </a:p>
        </p:txBody>
      </p:sp>
      <p:pic>
        <p:nvPicPr>
          <p:cNvPr id="21506" name="Picture 2" descr="Детство в СССР и детство сейчас. Где было лучше? — LegendaPress">
            <a:extLst>
              <a:ext uri="{FF2B5EF4-FFF2-40B4-BE49-F238E27FC236}">
                <a16:creationId xmlns:a16="http://schemas.microsoft.com/office/drawing/2014/main" id="{C132FC14-2B11-4D45-A9EE-C5711C7A96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869" y="1262269"/>
            <a:ext cx="3845461" cy="3707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274003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017F19A-1D0A-4BF9-B1C8-9AE936DA9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351A7F-CEC9-4DAD-B1FF-AC01A275002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32415" y="1420018"/>
            <a:ext cx="9520237" cy="4017963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/>
              <a:t>Первый список показывает </a:t>
            </a:r>
            <a:r>
              <a:rPr lang="ru-RU" dirty="0"/>
              <a:t>то, что вы не полностью простили своим родителям, то, за что вы, возможно, до сих пор на них в обиде. </a:t>
            </a:r>
          </a:p>
          <a:p>
            <a:r>
              <a:rPr lang="ru-RU" dirty="0"/>
              <a:t>Это то, что сдерживает вас и способствует вашей зависимости. </a:t>
            </a:r>
          </a:p>
          <a:p>
            <a:r>
              <a:rPr lang="ru-RU" b="1" dirty="0"/>
              <a:t>Во втором списке </a:t>
            </a:r>
            <a:r>
              <a:rPr lang="ru-RU" dirty="0"/>
              <a:t>перечислено все то, что вы до сих пор ожидаете от своих родителей или от своего партнера. </a:t>
            </a:r>
          </a:p>
          <a:p>
            <a:r>
              <a:rPr lang="ru-RU" dirty="0"/>
              <a:t>Здесь указано все то, что кто-то другой, как вы до сих пор надеетесь, должен сделать для вас. </a:t>
            </a:r>
          </a:p>
          <a:p>
            <a:r>
              <a:rPr lang="ru-RU" dirty="0"/>
              <a:t>Вам придется взять эти заботы на себя или попросить близких людей помочь удовлетворить вам эти потребности.</a:t>
            </a:r>
          </a:p>
        </p:txBody>
      </p:sp>
    </p:spTree>
    <p:extLst>
      <p:ext uri="{BB962C8B-B14F-4D97-AF65-F5344CB8AC3E}">
        <p14:creationId xmlns:p14="http://schemas.microsoft.com/office/powerpoint/2010/main" val="296023439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0B50FB-EFF0-48F4-9A43-E62591275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037443" cy="114300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Работа с самооценкой – шаг № 6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EA513F-7E36-4BA4-A04D-723D007CF44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09600" y="1345648"/>
            <a:ext cx="9687201" cy="3776663"/>
          </a:xfrm>
        </p:spPr>
        <p:txBody>
          <a:bodyPr/>
          <a:lstStyle/>
          <a:p>
            <a:r>
              <a:rPr lang="ru-RU" dirty="0"/>
              <a:t>«Зависимость – семейная болезнь» Валентина Москаленко, часть 2.</a:t>
            </a:r>
            <a:br>
              <a:rPr lang="ru-RU" dirty="0"/>
            </a:br>
            <a:r>
              <a:rPr lang="en-US" dirty="0">
                <a:hlinkClick r:id="rId2"/>
              </a:rPr>
              <a:t>https://coollib.com/b/225628/read</a:t>
            </a:r>
            <a:endParaRPr lang="ru-RU" dirty="0"/>
          </a:p>
          <a:p>
            <a:r>
              <a:rPr lang="ru-RU" dirty="0"/>
              <a:t>Статья «Самооценка» </a:t>
            </a:r>
          </a:p>
        </p:txBody>
      </p:sp>
      <p:pic>
        <p:nvPicPr>
          <p:cNvPr id="22530" name="Picture 2" descr="Метафизика Личности - Самооценка человека Помните у Ильфа и Петрова, «Я  старый больной человек, меня девушки не любят…») Что это такое? Признаком  чего являются эти душераздирающие слова?..) Это самооценка. Да-да… Именно,  самооценка.">
            <a:extLst>
              <a:ext uri="{FF2B5EF4-FFF2-40B4-BE49-F238E27FC236}">
                <a16:creationId xmlns:a16="http://schemas.microsoft.com/office/drawing/2014/main" id="{46362C5D-1133-429E-B167-8ECAA6500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3555" y="2505075"/>
            <a:ext cx="3494145" cy="261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46449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89AB80D-CAE2-415D-9A4A-EFBFAD13B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AECB45F1-D097-4CF8-8024-2869105FEE2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 rot="5400000">
            <a:off x="-39644" y="451947"/>
            <a:ext cx="2353582" cy="1765187"/>
          </a:xfrm>
        </p:spPr>
      </p:pic>
      <p:pic>
        <p:nvPicPr>
          <p:cNvPr id="9" name="Объект 8">
            <a:extLst>
              <a:ext uri="{FF2B5EF4-FFF2-40B4-BE49-F238E27FC236}">
                <a16:creationId xmlns:a16="http://schemas.microsoft.com/office/drawing/2014/main" id="{E9308244-4EA2-4522-AD24-EBFD6D94352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148577" y="477147"/>
            <a:ext cx="4785640" cy="638085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BA15D74-51BC-4A7B-BA1E-B6DBDBC82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7999" y="804889"/>
            <a:ext cx="4832134" cy="343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80279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00762D-E797-452B-A132-EF7BC0F52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CF6926A-BE82-4C5C-80FC-EB17875EA67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55661" y="-121913"/>
            <a:ext cx="5081547" cy="6147808"/>
          </a:xfrm>
          <a:prstGeom prst="rect">
            <a:avLst/>
          </a:prstGeom>
        </p:spPr>
      </p:pic>
      <p:pic>
        <p:nvPicPr>
          <p:cNvPr id="6" name="Объект 5">
            <a:extLst>
              <a:ext uri="{FF2B5EF4-FFF2-40B4-BE49-F238E27FC236}">
                <a16:creationId xmlns:a16="http://schemas.microsoft.com/office/drawing/2014/main" id="{67F64157-2D93-47EA-AE73-6BA195E24A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987209" y="1375228"/>
            <a:ext cx="2650389" cy="353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1494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38A9F4F2-FEB5-437C-B9D1-0508AFBA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9209103" cy="701906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ЗАДАНИЕ. Любовь или зависимость?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CF3B113-9D55-4349-A1BD-D59D802B15F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905522" y="1216240"/>
            <a:ext cx="8709025" cy="4563431"/>
          </a:xfrm>
        </p:spPr>
        <p:txBody>
          <a:bodyPr>
            <a:normAutofit fontScale="92500" lnSpcReduction="10000"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"/>
              <a:tabLst>
                <a:tab pos="457200" algn="l"/>
              </a:tabLst>
            </a:pPr>
            <a:r>
              <a:rPr lang="ru-RU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Есть ли у каждого из любящих твердая уверенность в своей собственной ценности?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"/>
              <a:tabLst>
                <a:tab pos="457200" algn="l"/>
              </a:tabLst>
            </a:pPr>
            <a:r>
              <a:rPr lang="ru-RU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Оказывает ли на любящих благотворное влияние связь между ними? Становятся ли они и в отношениях с другими людьми лучше, сильнее, привлекательнее, совершеннее или чувствительнее? Дорожат ли они этой связью именно по этой причине?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"/>
              <a:tabLst>
                <a:tab pos="457200" algn="l"/>
              </a:tabLst>
            </a:pPr>
            <a:r>
              <a:rPr lang="ru-RU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Сохраняют ли любящие какие-либо важные для них близкие отношения с другими людьми?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"/>
              <a:tabLst>
                <a:tab pos="457200" algn="l"/>
              </a:tabLs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ru-RU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Вписываются ли отношения между любящими в их жизнь в целом или же они обособлены от нее?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"/>
              <a:tabLst>
                <a:tab pos="457200" algn="l"/>
              </a:tabLst>
            </a:pPr>
            <a:r>
              <a:rPr lang="ru-RU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Способны ли любящие преодолеть собственнические инстинкты или ревность к успехам партнера?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"/>
              <a:tabLst>
                <a:tab pos="457200" algn="l"/>
              </a:tabLst>
            </a:pPr>
            <a:r>
              <a:rPr lang="ru-RU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Связывает ли любящих не только любовь, но и дружба? Останутся ли они близкими людьми, если сексуальные отношения потеряют свою остроту?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5BDEEBF-306E-44EA-8573-CD2AC9F45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6862" y="126526"/>
            <a:ext cx="2274518" cy="153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70557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0608A99-5319-4671-90BA-6C6AF073B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76" y="102093"/>
            <a:ext cx="9934112" cy="6755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032635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v.pospelov\Desktop\лого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553" y="528427"/>
            <a:ext cx="2380837" cy="67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v.pospelov\Desktop\паттерн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911" y="144001"/>
            <a:ext cx="5319748" cy="450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0178C8-B288-4A12-A0B5-E15E3793C2B0}"/>
              </a:ext>
            </a:extLst>
          </p:cNvPr>
          <p:cNvSpPr txBox="1"/>
          <p:nvPr/>
        </p:nvSpPr>
        <p:spPr>
          <a:xfrm>
            <a:off x="1637472" y="2846769"/>
            <a:ext cx="60976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b="1" dirty="0">
                <a:solidFill>
                  <a:srgbClr val="FF0000"/>
                </a:solidFill>
              </a:rPr>
              <a:t>Флирт – топливо отношений</a:t>
            </a:r>
          </a:p>
        </p:txBody>
      </p:sp>
    </p:spTree>
    <p:extLst>
      <p:ext uri="{BB962C8B-B14F-4D97-AF65-F5344CB8AC3E}">
        <p14:creationId xmlns:p14="http://schemas.microsoft.com/office/powerpoint/2010/main" val="289810340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AEFCBAF-B13E-42E6-AF1D-85E10C533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FF0000"/>
                </a:solidFill>
              </a:rPr>
              <a:t>Что для Вас ФЛИРТ?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D99FAD8-6D32-41EA-8EA0-259DF6D08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D4904AF-7897-41C3-9B3B-8EAC715057D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B884A58F-BBA1-4C33-8CFF-4FD7F3D959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2787D827-0995-4A8B-8002-970F6DBD42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4938458" cy="3951288"/>
          </a:xfrm>
        </p:spPr>
        <p:txBody>
          <a:bodyPr>
            <a:normAutofit/>
          </a:bodyPr>
          <a:lstStyle/>
          <a:p>
            <a:r>
              <a:rPr lang="ru-RU" b="0" i="0" dirty="0">
                <a:solidFill>
                  <a:srgbClr val="1D1D1F"/>
                </a:solidFill>
                <a:effectLst/>
                <a:latin typeface="Arial" panose="020B0604020202020204" pitchFamily="34" charset="0"/>
              </a:rPr>
              <a:t>Порой так все спокойно в отношениях, что хочется закатить скандал на ровном месте. </a:t>
            </a:r>
          </a:p>
          <a:p>
            <a:r>
              <a:rPr lang="ru-RU" b="0" i="0" dirty="0">
                <a:solidFill>
                  <a:srgbClr val="1D1D1F"/>
                </a:solidFill>
                <a:effectLst/>
                <a:latin typeface="Arial" panose="020B0604020202020204" pitchFamily="34" charset="0"/>
              </a:rPr>
              <a:t>«Да чего ей (ему) не хватает? Я так стараюсь!» — недоумевает партнер.</a:t>
            </a:r>
            <a:br>
              <a:rPr lang="ru-RU" b="0" i="0" dirty="0">
                <a:solidFill>
                  <a:srgbClr val="1D1D1F"/>
                </a:solidFill>
                <a:effectLst/>
                <a:latin typeface="Arial" panose="020B0604020202020204" pitchFamily="34" charset="0"/>
              </a:rPr>
            </a:br>
            <a:endParaRPr lang="ru-RU" dirty="0"/>
          </a:p>
        </p:txBody>
      </p:sp>
      <p:pic>
        <p:nvPicPr>
          <p:cNvPr id="23554" name="Picture 2" descr="unsplash.com">
            <a:extLst>
              <a:ext uri="{FF2B5EF4-FFF2-40B4-BE49-F238E27FC236}">
                <a16:creationId xmlns:a16="http://schemas.microsoft.com/office/drawing/2014/main" id="{965391E6-FE0D-4AEC-AB74-6D031319E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947" y="1838771"/>
            <a:ext cx="4644887" cy="3180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086320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6B1245-4BE0-4E7F-8C29-41FED842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6293476" cy="114300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Флирт в отношениях?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350931-83AD-4E82-BC1F-D453EF19CC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7505" y="1321904"/>
            <a:ext cx="6495572" cy="4589318"/>
          </a:xfrm>
        </p:spPr>
        <p:txBody>
          <a:bodyPr>
            <a:normAutofit/>
          </a:bodyPr>
          <a:lstStyle/>
          <a:p>
            <a:r>
              <a:rPr lang="ru-RU" dirty="0"/>
              <a:t>Многие ошибочно полагают, что флирту в отношениях не место, что любовь должна подпитываться сама собой, а интерес друг другу вспыхивать просто на пустом месте.</a:t>
            </a:r>
          </a:p>
          <a:p>
            <a:r>
              <a:rPr lang="ru-RU" dirty="0"/>
              <a:t>Психологи давно нашли определенную взаимосвязь между расставанием и отсутствием флирта в продолжительных отношениях. </a:t>
            </a:r>
          </a:p>
        </p:txBody>
      </p:sp>
      <p:pic>
        <p:nvPicPr>
          <p:cNvPr id="5" name="Объект 4" descr="Флирт 5">
            <a:extLst>
              <a:ext uri="{FF2B5EF4-FFF2-40B4-BE49-F238E27FC236}">
                <a16:creationId xmlns:a16="http://schemas.microsoft.com/office/drawing/2014/main" id="{C29040C9-9733-410E-978C-6987028BC4F8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869" y="1593130"/>
            <a:ext cx="4045742" cy="43107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993687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A11CD4-0F65-4210-ADD5-8D8175B32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8F1546-1D9E-4831-BB0A-A22104A5ED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0" i="0" dirty="0">
                <a:solidFill>
                  <a:srgbClr val="1D1D1F"/>
                </a:solidFill>
                <a:effectLst/>
                <a:latin typeface="Arial" panose="020B0604020202020204" pitchFamily="34" charset="0"/>
              </a:rPr>
              <a:t>Часто нам кажется, что наш партнер не развивается. Иногда просто не меняется наше представление о нем. Мы не даем себе труда обнаружить происходящие обновления. </a:t>
            </a:r>
          </a:p>
          <a:p>
            <a:r>
              <a:rPr lang="ru-RU" b="0" i="0" dirty="0">
                <a:solidFill>
                  <a:srgbClr val="1D1D1F"/>
                </a:solidFill>
                <a:effectLst/>
                <a:latin typeface="Arial" panose="020B0604020202020204" pitchFamily="34" charset="0"/>
              </a:rPr>
              <a:t>Держим свои отношения в плену стереотипного восприятия. Но в нашей власти это изменить.</a:t>
            </a:r>
            <a:br>
              <a:rPr lang="ru-RU" b="0" i="0" dirty="0">
                <a:solidFill>
                  <a:srgbClr val="1D1D1F"/>
                </a:solidFill>
                <a:effectLst/>
                <a:latin typeface="Arial" panose="020B0604020202020204" pitchFamily="34" charset="0"/>
              </a:rPr>
            </a:br>
            <a:endParaRPr lang="ru-RU" dirty="0"/>
          </a:p>
        </p:txBody>
      </p:sp>
      <p:pic>
        <p:nvPicPr>
          <p:cNvPr id="24578" name="Picture 2" descr="Флирт с другими, находясь в отношениях | ЖЕНСКИЙ УГОЛОК | Яндекс Дзен">
            <a:extLst>
              <a:ext uri="{FF2B5EF4-FFF2-40B4-BE49-F238E27FC236}">
                <a16:creationId xmlns:a16="http://schemas.microsoft.com/office/drawing/2014/main" id="{C8043305-431F-45DF-A97A-189CAB7D9EB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7600" y="2248793"/>
            <a:ext cx="4785139" cy="322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714508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8E52D1-DF80-469A-8F52-16CBEC888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7759148" cy="1143000"/>
          </a:xfrm>
        </p:spPr>
        <p:txBody>
          <a:bodyPr/>
          <a:lstStyle/>
          <a:p>
            <a:r>
              <a:rPr lang="ru-RU" b="1" dirty="0">
                <a:solidFill>
                  <a:srgbClr val="FF0000"/>
                </a:solidFill>
              </a:rPr>
              <a:t>Некоторые принципы флирта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528A45-2E30-4D65-AB0A-4FDE9CBF79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Живите с мыслью, что ФЛИРТ необходим.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Получайте удовольствие от ФЛИРТА.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Уважайте тех, с кем </a:t>
            </a:r>
            <a:r>
              <a:rPr lang="ru-RU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ФЛИРТуете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Принимайте, как данность, что иногда  партнер может на ФЛИРТ не ответить.  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Флиртуйте так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чтобы Ваш партнер  чувствовал себя особенным.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Будьте искренними.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Помните! ФЛИРТ это о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бщение из Эго-состояния Ребенок +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endParaRPr lang="ru-RU" dirty="0"/>
          </a:p>
        </p:txBody>
      </p:sp>
      <p:pic>
        <p:nvPicPr>
          <p:cNvPr id="25602" name="Picture 2" descr="7 нерушимых правил начала отношений — Женский журнал &quot;ЗОЛОТОЙ&quot;">
            <a:extLst>
              <a:ext uri="{FF2B5EF4-FFF2-40B4-BE49-F238E27FC236}">
                <a16:creationId xmlns:a16="http://schemas.microsoft.com/office/drawing/2014/main" id="{59211D62-21D4-4712-933B-F0214EC3C2F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1197" y="1958008"/>
            <a:ext cx="4256011" cy="2723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40067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6337A5-85F0-4CCE-B183-9C76A4C62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7192617" cy="1143000"/>
          </a:xfrm>
        </p:spPr>
        <p:txBody>
          <a:bodyPr/>
          <a:lstStyle/>
          <a:p>
            <a:r>
              <a:rPr lang="ru-RU" b="1" dirty="0">
                <a:solidFill>
                  <a:srgbClr val="FF0000"/>
                </a:solidFill>
              </a:rPr>
              <a:t>О чем мы забываем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5D52F1-AC66-4F3E-B700-EC8611D4EA0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470991" y="1600200"/>
            <a:ext cx="7779372" cy="4525963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Как мы выглядим? Часто длительные отношения позволяют им расслабиться и меньше следить за собой. </a:t>
            </a:r>
          </a:p>
          <a:p>
            <a:r>
              <a:rPr lang="ru-RU" dirty="0"/>
              <a:t>Однако, если хочется оставаться желанным (это касается и мужчин и женщин), то важно вызывать сексуальный интерес у партнера. И, конечно, важно знать, что именно во внешности важно для Вашего партнера. </a:t>
            </a:r>
          </a:p>
          <a:p>
            <a:r>
              <a:rPr lang="ru-RU" b="1" dirty="0"/>
              <a:t>Выводы: </a:t>
            </a:r>
          </a:p>
          <a:p>
            <a:r>
              <a:rPr lang="ru-RU" dirty="0"/>
              <a:t>узнаем, что именно привлекает  партнера в Вашей внешности;</a:t>
            </a:r>
          </a:p>
          <a:p>
            <a:r>
              <a:rPr lang="ru-RU" dirty="0"/>
              <a:t>стараемся иметь ОБРАЗ, быть в образе, иначе получается БЕЗ </a:t>
            </a:r>
            <a:r>
              <a:rPr lang="ru-RU" dirty="0" err="1"/>
              <a:t>образие</a:t>
            </a:r>
            <a:r>
              <a:rPr lang="ru-RU" dirty="0">
                <a:sym typeface="Wingdings" panose="05000000000000000000" pitchFamily="2" charset="2"/>
              </a:rPr>
              <a:t></a:t>
            </a:r>
          </a:p>
          <a:p>
            <a:r>
              <a:rPr lang="ru-RU" dirty="0">
                <a:sym typeface="Wingdings" panose="05000000000000000000" pitchFamily="2" charset="2"/>
              </a:rPr>
              <a:t>Не пренебрегаем игровыми образами в отношениях (важно, чтобы партнер был к этому расположен)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043876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3F0FB4-A374-4365-8345-878E15C6C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390" y="160336"/>
            <a:ext cx="8392559" cy="1143000"/>
          </a:xfrm>
        </p:spPr>
        <p:txBody>
          <a:bodyPr/>
          <a:lstStyle/>
          <a:p>
            <a:r>
              <a:rPr lang="ru-RU" b="1" dirty="0">
                <a:solidFill>
                  <a:srgbClr val="FF0000"/>
                </a:solidFill>
              </a:rPr>
              <a:t>Флиртующая коммуникация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E47CFE-D0FE-4A8E-A6C9-ABF185239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Взгляды, прикосновения, открытые вопросы</a:t>
            </a:r>
          </a:p>
          <a:p>
            <a:r>
              <a:rPr lang="ru-RU" dirty="0"/>
              <a:t>Интонация</a:t>
            </a:r>
          </a:p>
          <a:p>
            <a:r>
              <a:rPr lang="ru-RU" dirty="0"/>
              <a:t>СМС?</a:t>
            </a:r>
          </a:p>
          <a:p>
            <a:r>
              <a:rPr lang="ru-RU" dirty="0"/>
              <a:t>Фото?</a:t>
            </a:r>
          </a:p>
          <a:p>
            <a:r>
              <a:rPr lang="ru-RU" dirty="0"/>
              <a:t>Шутки</a:t>
            </a:r>
          </a:p>
          <a:p>
            <a:r>
              <a:rPr lang="ru-RU" dirty="0"/>
              <a:t>Смех по вкусу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26626" name="Picture 2" descr="Как узнать, что мужчина флиртует с вами">
            <a:extLst>
              <a:ext uri="{FF2B5EF4-FFF2-40B4-BE49-F238E27FC236}">
                <a16:creationId xmlns:a16="http://schemas.microsoft.com/office/drawing/2014/main" id="{481BB5A4-9F4D-40E0-91A9-0B616AB55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5425" y="3128849"/>
            <a:ext cx="3546199" cy="2362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790548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F52EA5-1BF7-4720-88DE-AD36D8768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433664"/>
            <a:ext cx="10611678" cy="114300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Делайте друг другу сюрпризы без всякого повода 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736918-32CA-44D2-9BF7-FD430ECAEB7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06287" y="1461054"/>
            <a:ext cx="5565913" cy="4784380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Мы знаем о Пяти языках любви: маленький подарок внезапно и с намеком. (</a:t>
            </a:r>
            <a:r>
              <a:rPr lang="ru-RU" b="1" dirty="0"/>
              <a:t>Подарки</a:t>
            </a:r>
            <a:r>
              <a:rPr lang="ru-RU" dirty="0"/>
              <a:t>)</a:t>
            </a:r>
          </a:p>
          <a:p>
            <a:r>
              <a:rPr lang="ru-RU" dirty="0"/>
              <a:t>Совместная прогулка в интересном месте, где можно пообщаться, или просто незапланированный вечер дома. (</a:t>
            </a:r>
            <a:r>
              <a:rPr lang="ru-RU" b="1" dirty="0"/>
              <a:t>Время</a:t>
            </a:r>
            <a:r>
              <a:rPr lang="ru-RU" dirty="0"/>
              <a:t>)</a:t>
            </a:r>
          </a:p>
          <a:p>
            <a:r>
              <a:rPr lang="ru-RU" dirty="0"/>
              <a:t>Объятий много не бывает, обнимаем и ласкаем партнера неожиданно и по-разному, почему – нет? (</a:t>
            </a:r>
            <a:r>
              <a:rPr lang="ru-RU" b="1" dirty="0"/>
              <a:t>Прикосновения</a:t>
            </a:r>
            <a:r>
              <a:rPr lang="ru-RU" dirty="0"/>
              <a:t>)</a:t>
            </a:r>
          </a:p>
          <a:p>
            <a:r>
              <a:rPr lang="ru-RU" dirty="0"/>
              <a:t>Если язык любви </a:t>
            </a:r>
            <a:r>
              <a:rPr lang="ru-RU" b="1" dirty="0"/>
              <a:t>Помощь</a:t>
            </a:r>
            <a:r>
              <a:rPr lang="ru-RU" dirty="0"/>
              <a:t> – проявите фантазию, как сделать приятное на этом языке, но не буднично, а интересно!</a:t>
            </a:r>
          </a:p>
          <a:p>
            <a:r>
              <a:rPr lang="ru-RU" dirty="0"/>
              <a:t>Ну а о словах восхищения и комплиментах – и говорить не стоит. </a:t>
            </a:r>
            <a:r>
              <a:rPr lang="ru-RU" b="1" dirty="0"/>
              <a:t>Это важнейший язык флирта. </a:t>
            </a:r>
            <a:r>
              <a:rPr lang="ru-RU" dirty="0"/>
              <a:t>Добавляем интонацию, взгляды и смех!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31746" name="Picture 2" descr="9 научных фактов о флирте, которые мало кто знает (это поможет и в  отношениях, и на работе) | КТО?ЧТО?ГДЕ?">
            <a:extLst>
              <a:ext uri="{FF2B5EF4-FFF2-40B4-BE49-F238E27FC236}">
                <a16:creationId xmlns:a16="http://schemas.microsoft.com/office/drawing/2014/main" id="{C8D184FC-E33C-49DD-99AB-E3DEDF809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8871" y="1311964"/>
            <a:ext cx="4539118" cy="2854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834886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AF5419-6FBB-4263-A46B-3AEC462BF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Играйте и кокетничайте с любимым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E94A53-2325-4440-99A7-5E20972FE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Игра – это синоним флирта. Она требует и фантазии и раскованности. </a:t>
            </a:r>
          </a:p>
          <a:p>
            <a:r>
              <a:rPr lang="ru-RU" dirty="0"/>
              <a:t>Последите за собой – </a:t>
            </a:r>
            <a:r>
              <a:rPr lang="ru-RU" dirty="0" err="1"/>
              <a:t>м.б</a:t>
            </a:r>
            <a:r>
              <a:rPr lang="ru-RU" dirty="0"/>
              <a:t>. Ваш внутренний ребенок «закован» и «зажат». Важно поработать над тем, чтобы помочь ему освободиться. </a:t>
            </a:r>
          </a:p>
          <a:p>
            <a:r>
              <a:rPr lang="ru-RU" dirty="0"/>
              <a:t>Подумайте, где найти ресурс для высвобождения творческой активности, импульсивности, которой заведует Ваше </a:t>
            </a:r>
            <a:r>
              <a:rPr lang="ru-RU" dirty="0" err="1"/>
              <a:t>эгосостояние</a:t>
            </a:r>
            <a:r>
              <a:rPr lang="ru-RU" dirty="0"/>
              <a:t> «Ребенок».</a:t>
            </a:r>
          </a:p>
          <a:p>
            <a:r>
              <a:rPr lang="ru-RU" dirty="0"/>
              <a:t>Проведем мозговой штурм!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190411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06A718-9DA1-4ACC-8B7D-057D5387F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b="1" dirty="0">
                <a:solidFill>
                  <a:srgbClr val="FF0000"/>
                </a:solidFill>
              </a:rPr>
              <a:t>Решение конфликтов через флирт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003FB7-2DD4-4495-8EFC-63770E77F13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Муж разбрасывает носки</a:t>
            </a:r>
          </a:p>
          <a:p>
            <a:r>
              <a:rPr lang="ru-RU" dirty="0"/>
              <a:t>Жена потратила все деньги на…</a:t>
            </a:r>
          </a:p>
          <a:p>
            <a:r>
              <a:rPr lang="ru-RU" dirty="0"/>
              <a:t>Муж собирается уехать на рыбалку вместо того, чтобы поехать к теще</a:t>
            </a:r>
          </a:p>
          <a:p>
            <a:endParaRPr lang="ru-RU" dirty="0"/>
          </a:p>
        </p:txBody>
      </p:sp>
      <p:pic>
        <p:nvPicPr>
          <p:cNvPr id="28674" name="Picture 2" descr="Женский флирт: как понять, что девушка заигрывает с парнем">
            <a:extLst>
              <a:ext uri="{FF2B5EF4-FFF2-40B4-BE49-F238E27FC236}">
                <a16:creationId xmlns:a16="http://schemas.microsoft.com/office/drawing/2014/main" id="{544046B3-2DBC-42E8-8C39-7DE6431443C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7452" y="1316065"/>
            <a:ext cx="2875998" cy="3771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659490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7CA35C2-4CBF-4806-81CA-61A152062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A4E6FB-A2FA-4469-80BC-D3C1A7955D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Флиртовать с любимым человеком отнюдь не так просто, как кажется.</a:t>
            </a:r>
          </a:p>
          <a:p>
            <a:r>
              <a:rPr lang="ru-RU" dirty="0"/>
              <a:t>Иногда придется поговорить на эту тему с партнером, прослушать какую-то тему. </a:t>
            </a:r>
          </a:p>
          <a:p>
            <a:r>
              <a:rPr lang="ru-RU" dirty="0"/>
              <a:t>Важно наблюдать за партнером, ведь часто шутки, </a:t>
            </a:r>
            <a:r>
              <a:rPr lang="ru-RU" dirty="0" err="1"/>
              <a:t>подкалывания</a:t>
            </a:r>
            <a:r>
              <a:rPr lang="ru-RU" dirty="0"/>
              <a:t>, анекдоты, смех – это начало флирта. Не пресекайте его занудством, поддержите. </a:t>
            </a:r>
          </a:p>
          <a:p>
            <a:r>
              <a:rPr lang="ru-RU" dirty="0"/>
              <a:t>И, конечно, искренность. Искреннее желание внести в отношения искорку, интерес. </a:t>
            </a:r>
          </a:p>
          <a:p>
            <a:r>
              <a:rPr lang="ru-RU"/>
              <a:t>Помните! Флирт </a:t>
            </a:r>
            <a:r>
              <a:rPr lang="ru-RU" dirty="0"/>
              <a:t>и творческий подход к нему - залог успешных отношений. </a:t>
            </a:r>
          </a:p>
          <a:p>
            <a:endParaRPr lang="ru-RU" dirty="0"/>
          </a:p>
        </p:txBody>
      </p:sp>
      <p:pic>
        <p:nvPicPr>
          <p:cNvPr id="29698" name="Picture 2" descr="10 фактов о флирте, которые вас удивят 😉 | Знакомства в интернете | Яндекс  Дзен">
            <a:extLst>
              <a:ext uri="{FF2B5EF4-FFF2-40B4-BE49-F238E27FC236}">
                <a16:creationId xmlns:a16="http://schemas.microsoft.com/office/drawing/2014/main" id="{3FA09851-5CC0-4DE0-A2DB-1C8BB8A732E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1991" y="1863627"/>
            <a:ext cx="3657600" cy="2587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245351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34569EA-568E-4EF5-8523-FB9E98355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269" y="294516"/>
            <a:ext cx="10972800" cy="361466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solidFill>
                  <a:srgbClr val="FF0000"/>
                </a:solidFill>
              </a:rPr>
              <a:t>Интересное!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B242AB-BF76-4DC7-8BA8-84D97AC4505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39148" y="775255"/>
            <a:ext cx="7345017" cy="5609326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Флирт полезен для здоровья. У тех, кто регулярно и активно флиртует, прекрасный иммунитет и крепкое здоровье.</a:t>
            </a:r>
          </a:p>
          <a:p>
            <a:pPr marL="514350" indent="-514350"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Стрельба глазами – не единственное оружие во флирте. Ученые утверждает, что человек использует во время флирта более 52 сигналов тела. </a:t>
            </a:r>
            <a:endParaRPr lang="ru-RU" dirty="0">
              <a:solidFill>
                <a:srgbClr val="000000"/>
              </a:solidFill>
              <a:latin typeface="PT Sans"/>
            </a:endParaRPr>
          </a:p>
          <a:p>
            <a:pPr marL="514350" indent="-514350"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В некоторых местностях флирт запрещен законом. В Нью-Йорке продолжает действовать устаревший закон, по которому мужчина может быть оштрафован на 25 долларов за слишком откровенные взгляды; при вторичном нарушении этого закона преступник будет обязан выходить на улицу в специальной повязке, наподобие конских шор. </a:t>
            </a:r>
            <a:endParaRPr lang="ru-RU" dirty="0">
              <a:solidFill>
                <a:srgbClr val="000000"/>
              </a:solidFill>
              <a:latin typeface="PT Sans"/>
            </a:endParaRPr>
          </a:p>
          <a:p>
            <a:pPr marL="514350" indent="-514350"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Флиртовать можно в любое время. Многие люди не ждут выходных, чтобы отправиться в бар или ночной клуб и там флиртовать – они заигрывают по дороге на работу. </a:t>
            </a:r>
            <a:endParaRPr lang="ru-RU" dirty="0"/>
          </a:p>
        </p:txBody>
      </p:sp>
      <p:pic>
        <p:nvPicPr>
          <p:cNvPr id="27652" name="Picture 4" descr="Флирт: десять фактов для настоящих соблазнительниц">
            <a:extLst>
              <a:ext uri="{FF2B5EF4-FFF2-40B4-BE49-F238E27FC236}">
                <a16:creationId xmlns:a16="http://schemas.microsoft.com/office/drawing/2014/main" id="{8287E6AA-E756-4678-96F9-136119922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4165" y="1371600"/>
            <a:ext cx="3644348" cy="3061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8390854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>
            <a:extLst>
              <a:ext uri="{FF2B5EF4-FFF2-40B4-BE49-F238E27FC236}">
                <a16:creationId xmlns:a16="http://schemas.microsoft.com/office/drawing/2014/main" id="{F5645A1A-01BF-4F58-8353-4107F7B0DE20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924339" y="725556"/>
            <a:ext cx="6211957" cy="540060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5. Необязательно флиртовать лицом к лицу. По данным исследовательского центра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PT Sans"/>
              </a:rPr>
              <a:t>Pew</a:t>
            </a: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PT Sans"/>
              </a:rPr>
              <a:t>Research</a:t>
            </a: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PT Sans"/>
              </a:rPr>
              <a:t>Center</a:t>
            </a: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, 40% респондентов, искавших любовь в виртуальном пространстве, признались, что они легко готовы флиртовать по электронной почте или в чате. </a:t>
            </a:r>
          </a:p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6. В викторианскую эпоху веера играли роль языка тела. С помощью веера можно было передать целую гамму чувств. Так, если дама в присутствии мужчины прижимала веер к груди, к сердцу, это было равносильно признанию в любви: «Вы завоевали мое сердце». Полураскрытый веер, кокетливо прижатый к губам, был приглашением к поцелую. Если полностью раскрытый веер скрывал глаза, это означало «Я вас люблю», а если дама несколько раз подряд раскрывала и складывала веер, она хотела сказать «Как вы жестоки». Даже жалко, что изобрели кондиционеры, и флирт с помощью веера стал невозможен.</a:t>
            </a:r>
          </a:p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7. Навязчивый флирт дает противоположный эффект. По данным центра социальных исследований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PT Sans"/>
              </a:rPr>
              <a:t>Social</a:t>
            </a: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PT Sans"/>
              </a:rPr>
              <a:t>Issues</a:t>
            </a: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PT Sans"/>
              </a:rPr>
              <a:t>Research</a:t>
            </a: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PT Sans"/>
              </a:rPr>
              <a:t>Centre</a:t>
            </a: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, самая распространенная ошибка во флирте - слишком навязчивый зрительный контакт. </a:t>
            </a:r>
          </a:p>
        </p:txBody>
      </p:sp>
      <p:pic>
        <p:nvPicPr>
          <p:cNvPr id="30724" name="Picture 4" descr="Как правильно кокетничать с другими, если вы в отношениях - Психология  отношений и любви, отношения на расстоянии, отношения мужчины и женщины -  Он и Она - IVONA - bigmir)net - IVONA bigmir)net">
            <a:extLst>
              <a:ext uri="{FF2B5EF4-FFF2-40B4-BE49-F238E27FC236}">
                <a16:creationId xmlns:a16="http://schemas.microsoft.com/office/drawing/2014/main" id="{86E87329-AF6B-4BEB-8890-A6A1AB2E6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2713" y="315153"/>
            <a:ext cx="2600325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4457030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>
            <a:extLst>
              <a:ext uri="{FF2B5EF4-FFF2-40B4-BE49-F238E27FC236}">
                <a16:creationId xmlns:a16="http://schemas.microsoft.com/office/drawing/2014/main" id="{D9C81368-C1EC-4AB4-A599-40E539FF3F4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487018" y="693945"/>
            <a:ext cx="5386388" cy="523971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9. Иногда за флирт можно принять дружеское участие. Исследования показали, что эту ошибку чаще всего совершают мужчины – они принимают вежливость женщины и дружеское расположение за флирт. </a:t>
            </a:r>
          </a:p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10. Флирт универсален. Девушка, живущая в Нью-Йорке, имеет мало общего с жительницей камбоджийской деревни, но они совершенно одинаково пытаются привлечь внимание противоположного пола: улыбаются, удивленно поднимают брови, отводят взгляд, хихикают и поправляют волосы. Кстати, животные тоже флиртуют: птицы, рептилии, и даже рыбы, и у каждого вида есть собственный способ флирта. Так что даже если морской окунь может флиртовать, то ты и подавно – не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PT Sans"/>
              </a:rPr>
              <a:t>стесняйтся</a:t>
            </a: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 и будь смелее!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Источник: </a:t>
            </a:r>
            <a:r>
              <a:rPr lang="ru-RU" b="0" i="0" u="none" strike="noStrike" dirty="0">
                <a:solidFill>
                  <a:srgbClr val="005599"/>
                </a:solidFill>
                <a:effectLst/>
                <a:latin typeface="PT Sans"/>
                <a:hlinkClick r:id="rId2"/>
              </a:rPr>
              <a:t>http://ivona.bigmir.net/psihologia/relate/relationship/311635-Desjat--faktov-o-sovremennom-flirte--obol-sti-ego</a:t>
            </a: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PT Sans"/>
              </a:rPr>
              <a:t>© Ivona.bigmir.net</a:t>
            </a:r>
            <a:endParaRPr lang="ru-RU" dirty="0"/>
          </a:p>
          <a:p>
            <a:endParaRPr lang="ru-RU" dirty="0"/>
          </a:p>
        </p:txBody>
      </p:sp>
      <p:pic>
        <p:nvPicPr>
          <p:cNvPr id="7" name="Picture 2" descr="Instagram флиртует, как тайно разрушает ваши отношения / Диван любви |  Советы и полезная информация об отношениях и браке.">
            <a:extLst>
              <a:ext uri="{FF2B5EF4-FFF2-40B4-BE49-F238E27FC236}">
                <a16:creationId xmlns:a16="http://schemas.microsoft.com/office/drawing/2014/main" id="{789AD3CA-41AC-4C40-81FE-D254F15DE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7948" y="1192695"/>
            <a:ext cx="4404229" cy="2531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3855996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 descr="Как правильно флиртовать. Топ-10 советов о флирте всех времен и народов">
            <a:extLst>
              <a:ext uri="{FF2B5EF4-FFF2-40B4-BE49-F238E27FC236}">
                <a16:creationId xmlns:a16="http://schemas.microsoft.com/office/drawing/2014/main" id="{3104453B-8D62-44C2-AC02-FEE66637B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314" y="258418"/>
            <a:ext cx="3731102" cy="5522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39718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D779D4-F0D9-4A73-8EC0-1480240F9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Баланс брать – давать!!!</a:t>
            </a:r>
          </a:p>
        </p:txBody>
      </p:sp>
      <p:pic>
        <p:nvPicPr>
          <p:cNvPr id="4098" name="Picture 2" descr="О балансе брать-давать. Как избежать истощения? - psy-practice.com">
            <a:extLst>
              <a:ext uri="{FF2B5EF4-FFF2-40B4-BE49-F238E27FC236}">
                <a16:creationId xmlns:a16="http://schemas.microsoft.com/office/drawing/2014/main" id="{7EE4E025-589B-4082-9910-EAC1511C1273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610725" y="1162050"/>
            <a:ext cx="2581275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CEB3655C-EC13-4968-A431-2F1D641FBE50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92458" y="1417638"/>
            <a:ext cx="8099425" cy="4433888"/>
          </a:xfrm>
        </p:spPr>
        <p:txBody>
          <a:bodyPr>
            <a:normAutofit/>
          </a:bodyPr>
          <a:lstStyle/>
          <a:p>
            <a:r>
              <a:rPr lang="ru-RU" sz="2000" b="0" i="0" dirty="0">
                <a:effectLst/>
                <a:latin typeface="+mj-lt"/>
              </a:rPr>
              <a:t>Партнёрские отношения удаются благодаря постоянному обмену «давать-брать». Иногда у людей возникают трудности с тем, чтобы научиться полноценно вкладываться и одновременно с этим регулировать, что, сколько и зачем они берут.</a:t>
            </a:r>
            <a:endParaRPr lang="ru-RU" sz="2000" dirty="0">
              <a:latin typeface="+mj-lt"/>
            </a:endParaRPr>
          </a:p>
          <a:p>
            <a:r>
              <a:rPr lang="ru-RU" sz="2000" b="1" dirty="0">
                <a:latin typeface="+mj-lt"/>
              </a:rPr>
              <a:t>Возможные причины нарушения баланса</a:t>
            </a:r>
          </a:p>
          <a:p>
            <a:r>
              <a:rPr lang="ru-RU" sz="2000" dirty="0">
                <a:solidFill>
                  <a:srgbClr val="000000"/>
                </a:solidFill>
                <a:latin typeface="+mj-lt"/>
              </a:rPr>
              <a:t>П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+mj-lt"/>
              </a:rPr>
              <a:t>артнер чувствует потребность в таком количестве любви, которое другой не способен вам дать.</a:t>
            </a:r>
          </a:p>
          <a:p>
            <a:r>
              <a:rPr lang="ru-RU" sz="2000" b="0" i="0" dirty="0">
                <a:solidFill>
                  <a:srgbClr val="3F3F3F"/>
                </a:solidFill>
                <a:effectLst/>
                <a:latin typeface="+mj-lt"/>
              </a:rPr>
              <a:t>Один из партнеров склонен в большей степени отдавать (причины?), потом негодовать на неблагодарность другого. </a:t>
            </a:r>
          </a:p>
          <a:p>
            <a:r>
              <a:rPr lang="ru-RU" sz="2000" dirty="0">
                <a:solidFill>
                  <a:srgbClr val="3F3F3F"/>
                </a:solidFill>
                <a:latin typeface="+mj-lt"/>
              </a:rPr>
              <a:t>Один из партнеров склонен в большей степени забирать (причины?). </a:t>
            </a:r>
          </a:p>
          <a:p>
            <a:r>
              <a:rPr lang="ru-RU" sz="2000" dirty="0">
                <a:solidFill>
                  <a:srgbClr val="3F3F3F"/>
                </a:solidFill>
                <a:latin typeface="+mj-lt"/>
              </a:rPr>
              <a:t>П</a:t>
            </a:r>
            <a:r>
              <a:rPr lang="ru-RU" sz="2000" b="0" i="0" dirty="0">
                <a:solidFill>
                  <a:srgbClr val="3F3F3F"/>
                </a:solidFill>
                <a:effectLst/>
                <a:latin typeface="+mj-lt"/>
              </a:rPr>
              <a:t>артнер большую </a:t>
            </a:r>
            <a:r>
              <a:rPr lang="ru-RU" sz="2000" i="0" dirty="0">
                <a:solidFill>
                  <a:srgbClr val="3F3F3F"/>
                </a:solidFill>
                <a:effectLst/>
                <a:latin typeface="+mj-lt"/>
              </a:rPr>
              <a:t>часть своей энергии тратит на обслуживание </a:t>
            </a:r>
            <a:r>
              <a:rPr lang="ru-RU" sz="2000" b="1" i="1" dirty="0">
                <a:solidFill>
                  <a:srgbClr val="3F3F3F"/>
                </a:solidFill>
                <a:effectLst/>
                <a:latin typeface="+mj-lt"/>
              </a:rPr>
              <a:t>системных семейных динамик</a:t>
            </a:r>
            <a:r>
              <a:rPr lang="ru-RU" sz="2000" dirty="0">
                <a:solidFill>
                  <a:srgbClr val="3F3F3F"/>
                </a:solidFill>
                <a:effectLst/>
                <a:latin typeface="+mj-lt"/>
              </a:rPr>
              <a:t>, что съедает большую часть его ресурса, и нарушает ВАШ С НИМ БАЛАНС.</a:t>
            </a:r>
            <a:endParaRPr lang="ru-RU" sz="2000" dirty="0">
              <a:solidFill>
                <a:srgbClr val="000000"/>
              </a:solidFill>
              <a:effectLst/>
              <a:latin typeface="+mj-lt"/>
            </a:endParaRPr>
          </a:p>
          <a:p>
            <a:endParaRPr lang="ru-RU" sz="2400" dirty="0">
              <a:solidFill>
                <a:srgbClr val="000000"/>
              </a:solidFill>
              <a:latin typeface="+mj-lt"/>
            </a:endParaRPr>
          </a:p>
          <a:p>
            <a:endParaRPr lang="ru-RU" sz="2400" dirty="0">
              <a:solidFill>
                <a:srgbClr val="000000"/>
              </a:solidFill>
              <a:latin typeface="+mj-lt"/>
            </a:endParaRPr>
          </a:p>
          <a:p>
            <a:endParaRPr lang="ru-RU" sz="2400" dirty="0">
              <a:solidFill>
                <a:srgbClr val="000000"/>
              </a:solidFill>
              <a:latin typeface="+mj-lt"/>
            </a:endParaRPr>
          </a:p>
          <a:p>
            <a:endParaRPr lang="ru-RU" sz="2400" dirty="0">
              <a:solidFill>
                <a:srgbClr val="0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07463208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72E31E-FF3E-4047-AF80-07F0CD09E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Баланс брать – давать!!!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64A207-428F-42E4-95EA-202B0BB87EA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43379" y="1349622"/>
            <a:ext cx="10017125" cy="4797425"/>
          </a:xfrm>
        </p:spPr>
        <p:txBody>
          <a:bodyPr>
            <a:normAutofit fontScale="62500" lnSpcReduction="20000"/>
          </a:bodyPr>
          <a:lstStyle/>
          <a:p>
            <a:r>
              <a:rPr lang="ru-RU" dirty="0">
                <a:solidFill>
                  <a:srgbClr val="000000"/>
                </a:solidFill>
                <a:latin typeface="+mj-lt"/>
              </a:rPr>
              <a:t>При нарушении </a:t>
            </a:r>
            <a:r>
              <a:rPr lang="ru-RU" b="0" i="0" dirty="0">
                <a:solidFill>
                  <a:srgbClr val="000000"/>
                </a:solidFill>
                <a:effectLst/>
                <a:latin typeface="+mj-lt"/>
              </a:rPr>
              <a:t>баланса в отношениях важно начинать работать над его восстановлением.</a:t>
            </a:r>
          </a:p>
          <a:p>
            <a:r>
              <a:rPr lang="ru-RU" b="1" i="1" dirty="0">
                <a:solidFill>
                  <a:srgbClr val="000000"/>
                </a:solidFill>
                <a:effectLst/>
                <a:latin typeface="+mj-lt"/>
              </a:rPr>
              <a:t>Что можно делать?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+mj-lt"/>
              </a:rPr>
              <a:t>Говорим с партнером о своих пожеланиях и чувствах, </a:t>
            </a:r>
            <a:r>
              <a:rPr lang="ru-RU" dirty="0">
                <a:solidFill>
                  <a:srgbClr val="000000"/>
                </a:solidFill>
                <a:latin typeface="+mj-lt"/>
              </a:rPr>
              <a:t>в</a:t>
            </a:r>
            <a:r>
              <a:rPr lang="ru-RU" b="0" i="0" dirty="0">
                <a:solidFill>
                  <a:srgbClr val="000000"/>
                </a:solidFill>
                <a:effectLst/>
                <a:latin typeface="+mj-lt"/>
              </a:rPr>
              <a:t>место претензий.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+mj-lt"/>
              </a:rPr>
              <a:t>«Неутолимая жажда — это желание иметь, не принимая» Берт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+mj-lt"/>
              </a:rPr>
              <a:t>Хеллингер</a:t>
            </a:r>
            <a:r>
              <a:rPr lang="ru-RU" b="0" i="0" dirty="0">
                <a:solidFill>
                  <a:srgbClr val="000000"/>
                </a:solidFill>
                <a:effectLst/>
                <a:latin typeface="+mj-lt"/>
              </a:rPr>
              <a:t>. Тогда необходима личная терапия.</a:t>
            </a:r>
          </a:p>
          <a:p>
            <a:r>
              <a:rPr lang="ru-RU" dirty="0">
                <a:solidFill>
                  <a:srgbClr val="3F3F3F"/>
                </a:solidFill>
                <a:latin typeface="+mj-lt"/>
              </a:rPr>
              <a:t>П</a:t>
            </a:r>
            <a:r>
              <a:rPr lang="ru-RU" b="0" i="0" dirty="0">
                <a:solidFill>
                  <a:srgbClr val="3F3F3F"/>
                </a:solidFill>
                <a:effectLst/>
                <a:latin typeface="+mj-lt"/>
              </a:rPr>
              <a:t>артнеру, который склонен значительно больше отдавать,  важно научиться брать, заметить свои потребности в отношениях и разрешить их себе.</a:t>
            </a:r>
          </a:p>
          <a:p>
            <a:r>
              <a:rPr lang="ru-RU" dirty="0">
                <a:solidFill>
                  <a:srgbClr val="3F3F3F"/>
                </a:solidFill>
                <a:latin typeface="+mj-lt"/>
              </a:rPr>
              <a:t>Для партнера, который склонен в большей степени забирать, стоит устанавливать границы (тема границ в партнерстве не проработана). 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+mj-lt"/>
              </a:rPr>
              <a:t>При потере сил для обслуживания </a:t>
            </a:r>
            <a:r>
              <a:rPr lang="ru-RU" b="1" i="1" dirty="0">
                <a:solidFill>
                  <a:srgbClr val="3F3F3F"/>
                </a:solidFill>
                <a:effectLst/>
                <a:latin typeface="+mj-lt"/>
              </a:rPr>
              <a:t>системных семейных динамик</a:t>
            </a:r>
            <a:r>
              <a:rPr lang="ru-RU" dirty="0">
                <a:solidFill>
                  <a:srgbClr val="3F3F3F"/>
                </a:solidFill>
                <a:effectLst/>
                <a:latin typeface="+mj-lt"/>
              </a:rPr>
              <a:t>, партнеру необходимо разобраться с этим. </a:t>
            </a:r>
            <a:endParaRPr lang="ru-RU" b="0" i="0" dirty="0">
              <a:solidFill>
                <a:srgbClr val="000000"/>
              </a:solidFill>
              <a:effectLst/>
              <a:latin typeface="+mj-lt"/>
            </a:endParaRP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+mj-lt"/>
              </a:rPr>
              <a:t>«Положительное уравновешивание», когда в ответ на полученную пользу партнер делает тоже пользу «и еще чуть-чуть».</a:t>
            </a: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+mj-lt"/>
              </a:rPr>
              <a:t>Благодарность тоже служит уравновешиванию отношений. Важно с  благодарностью принимать то, что дают, и из любви возвращать несколько больше.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3554285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572141-DD6D-4349-87F1-8F2E4EC4E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dirty="0"/>
              <a:t>А можно ли посчитать?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F7A5663-FD55-458D-8BF7-45BDAA3E3079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5805996" y="1446490"/>
            <a:ext cx="5086905" cy="4525963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Если нельзя посчитать, как будем определять?</a:t>
            </a:r>
          </a:p>
          <a:p>
            <a:r>
              <a:rPr lang="ru-RU" dirty="0"/>
              <a:t>Варианты:</a:t>
            </a:r>
            <a:br>
              <a:rPr lang="ru-RU" dirty="0"/>
            </a:br>
            <a:r>
              <a:rPr lang="ru-RU" dirty="0"/>
              <a:t>Определить правила, функционал</a:t>
            </a:r>
          </a:p>
          <a:p>
            <a:r>
              <a:rPr lang="ru-RU" dirty="0"/>
              <a:t>Взаимно описать потребности</a:t>
            </a:r>
          </a:p>
          <a:p>
            <a:r>
              <a:rPr lang="ru-RU" dirty="0"/>
              <a:t>Сообщить о недостаче…</a:t>
            </a:r>
          </a:p>
          <a:p>
            <a:r>
              <a:rPr lang="ru-RU" dirty="0"/>
              <a:t>Спросить, возможно чего-то не хватает.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9E7EF82-DF7F-4B97-BCC0-B9ABA1139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25" y="1768875"/>
            <a:ext cx="5160639" cy="3535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5904155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E0226B56-EEC9-4452-9691-378D58317EC6}"/>
              </a:ext>
            </a:extLst>
          </p:cNvPr>
          <p:cNvGraphicFramePr>
            <a:graphicFrameLocks noGrp="1"/>
          </p:cNvGraphicFramePr>
          <p:nvPr/>
        </p:nvGraphicFramePr>
        <p:xfrm>
          <a:off x="1073426" y="1182757"/>
          <a:ext cx="8438324" cy="44726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75128">
                  <a:extLst>
                    <a:ext uri="{9D8B030D-6E8A-4147-A177-3AD203B41FA5}">
                      <a16:colId xmlns:a16="http://schemas.microsoft.com/office/drawing/2014/main" val="904663455"/>
                    </a:ext>
                  </a:extLst>
                </a:gridCol>
                <a:gridCol w="5202594">
                  <a:extLst>
                    <a:ext uri="{9D8B030D-6E8A-4147-A177-3AD203B41FA5}">
                      <a16:colId xmlns:a16="http://schemas.microsoft.com/office/drawing/2014/main" val="250661499"/>
                    </a:ext>
                  </a:extLst>
                </a:gridCol>
                <a:gridCol w="2660602">
                  <a:extLst>
                    <a:ext uri="{9D8B030D-6E8A-4147-A177-3AD203B41FA5}">
                      <a16:colId xmlns:a16="http://schemas.microsoft.com/office/drawing/2014/main" val="2646462932"/>
                    </a:ext>
                  </a:extLst>
                </a:gridCol>
              </a:tblGrid>
              <a:tr h="559076"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№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Почему мужчины не берут ответственность?</a:t>
                      </a:r>
                    </a:p>
                    <a:p>
                      <a:r>
                        <a:rPr lang="ru-RU" sz="1200" dirty="0">
                          <a:effectLst/>
                        </a:rPr>
                        <a:t> 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Кто причина этого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6995823"/>
                  </a:ext>
                </a:extLst>
              </a:tr>
              <a:tr h="559076"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Семейная история. Так воспитали.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Кто воспитывал?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1272910"/>
                  </a:ext>
                </a:extLst>
              </a:tr>
              <a:tr h="559076"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Кто-то не дает взять ответственность, не доверяет.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>
                          <a:effectLst/>
                        </a:rPr>
                        <a:t>Кто не доверят?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66790153"/>
                  </a:ext>
                </a:extLst>
              </a:tr>
              <a:tr h="559076"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Кто-то уже взял ответственность или уже сделал дело.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>
                          <a:effectLst/>
                        </a:rPr>
                        <a:t>Кто всё сделал?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0536399"/>
                  </a:ext>
                </a:extLst>
              </a:tr>
              <a:tr h="838614"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Так удобнее, потому что… см. пункт 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>
                          <a:effectLst/>
                        </a:rPr>
                        <a:t>Кто всё делает за мужчину и приучает к этому?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9983450"/>
                  </a:ext>
                </a:extLst>
              </a:tr>
              <a:tr h="838614"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5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Долго думают (обдумывают решение в пещере).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>
                          <a:effectLst/>
                        </a:rPr>
                        <a:t>Кто торопит, пилит, укоряет?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36756260"/>
                  </a:ext>
                </a:extLst>
              </a:tr>
              <a:tr h="559076"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6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Боятся, что результат будет плохо оценен.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>
                          <a:effectLst/>
                        </a:rPr>
                        <a:t>Боятся чьей критики?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59510299"/>
                  </a:ext>
                </a:extLst>
              </a:tr>
            </a:tbl>
          </a:graphicData>
        </a:graphic>
      </p:graphicFrame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DA7C6048-AFB0-4B8A-B414-D1DD9C1B8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4090"/>
            <a:ext cx="10972800" cy="749092"/>
          </a:xfrm>
        </p:spPr>
        <p:txBody>
          <a:bodyPr>
            <a:normAutofit fontScale="90000"/>
          </a:bodyPr>
          <a:lstStyle/>
          <a:p>
            <a:r>
              <a:rPr lang="ru-RU" sz="4400" dirty="0">
                <a:effectLst/>
              </a:rPr>
              <a:t>Почему мужчины не берут ответственность?</a:t>
            </a:r>
            <a:br>
              <a:rPr lang="ru-RU" sz="4400" dirty="0">
                <a:effectLst/>
              </a:rPr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6041457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презентации 30.04.2020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ии 30.04.2020" id="{8EC166D9-960F-45B0-A4D3-64F2AD2DA673}" vid="{89611A37-9DA5-47CA-9E67-9EE3312C594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13918</TotalTime>
  <Words>9763</Words>
  <Application>Microsoft Office PowerPoint</Application>
  <PresentationFormat>Широкоэкранный</PresentationFormat>
  <Paragraphs>868</Paragraphs>
  <Slides>134</Slides>
  <Notes>11</Notes>
  <HiddenSlides>3</HiddenSlides>
  <MMClips>0</MMClips>
  <ScaleCrop>false</ScaleCrop>
  <HeadingPairs>
    <vt:vector size="6" baseType="variant">
      <vt:variant>
        <vt:lpstr>Использованные шрифты</vt:lpstr>
      </vt:variant>
      <vt:variant>
        <vt:i4>12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134</vt:i4>
      </vt:variant>
    </vt:vector>
  </HeadingPairs>
  <TitlesOfParts>
    <vt:vector size="147" baseType="lpstr">
      <vt:lpstr>Arial</vt:lpstr>
      <vt:lpstr>Calibri</vt:lpstr>
      <vt:lpstr>Cambria</vt:lpstr>
      <vt:lpstr>Garamond</vt:lpstr>
      <vt:lpstr>HeliosBlack</vt:lpstr>
      <vt:lpstr>PT Sans</vt:lpstr>
      <vt:lpstr>roboto</vt:lpstr>
      <vt:lpstr>Symbol</vt:lpstr>
      <vt:lpstr>Times New Roman</vt:lpstr>
      <vt:lpstr>Verdana</vt:lpstr>
      <vt:lpstr>Wingdings 2</vt:lpstr>
      <vt:lpstr>Wingdings 3</vt:lpstr>
      <vt:lpstr>Шаблон презентации 30.04.2020</vt:lpstr>
      <vt:lpstr>«Гендерная психология. Коучинг отношений»</vt:lpstr>
      <vt:lpstr>Презентация PowerPoint</vt:lpstr>
      <vt:lpstr> Основные навыки Эмоционального интеллекта </vt:lpstr>
      <vt:lpstr>Почему нам важно это знать? (мотиватор к работе)!!!</vt:lpstr>
      <vt:lpstr>Границы? О чем это? Или откуда у детей агрессия или замкнутость?</vt:lpstr>
      <vt:lpstr>Презентация PowerPoint</vt:lpstr>
      <vt:lpstr>Что разграничивают границы? </vt:lpstr>
      <vt:lpstr>Какие бывают Границы? </vt:lpstr>
      <vt:lpstr>Что разграничивают границы? </vt:lpstr>
      <vt:lpstr>Задание</vt:lpstr>
      <vt:lpstr>Презентация PowerPoint</vt:lpstr>
      <vt:lpstr>Как мы понимаем, что наши границы нарушаются?</vt:lpstr>
      <vt:lpstr>Что еще?</vt:lpstr>
      <vt:lpstr>Как мы устанавливаем границы. Как правильно это делать</vt:lpstr>
      <vt:lpstr>Что мешает нам устанавливать и охранять свои границы</vt:lpstr>
      <vt:lpstr>Пять способов сказать «да» и «нет» </vt:lpstr>
      <vt:lpstr>Границы в отношениях с людьми Способность к поддержанию границ и построению близких отношений в сочетании определяет качество отношений с окружающими людьми.  </vt:lpstr>
      <vt:lpstr>Презентация PowerPoint</vt:lpstr>
      <vt:lpstr>Выстраиваем близкие отношения на 4 уровнях</vt:lpstr>
      <vt:lpstr>Первый уровень. Уровень обмена шаблонами</vt:lpstr>
      <vt:lpstr>Задание. Уровень обмена шаблонами</vt:lpstr>
      <vt:lpstr>Второй уровень. Уровень обмена информацией </vt:lpstr>
      <vt:lpstr>Третий уровень. Обмен мнениями</vt:lpstr>
      <vt:lpstr>Четвертый уровень. Обмен чувствами и эмоциями</vt:lpstr>
      <vt:lpstr>Презентация PowerPoint</vt:lpstr>
      <vt:lpstr>Адекватная самооценка</vt:lpstr>
      <vt:lpstr>Презентация PowerPoint</vt:lpstr>
      <vt:lpstr>Что мешает адекватной самооценке?  Я не люблю себя?</vt:lpstr>
      <vt:lpstr>Упражнение. Составляем билль о моем праве любить себя</vt:lpstr>
      <vt:lpstr>Что еще мешает  адекватной самооценке?</vt:lpstr>
      <vt:lpstr>Мы зависим от мнения других людей. </vt:lpstr>
      <vt:lpstr>Я боюсь делать ошибки.</vt:lpstr>
      <vt:lpstr>Я ненавижу критику. </vt:lpstr>
      <vt:lpstr>Презентация PowerPoint</vt:lpstr>
      <vt:lpstr>Как меняется восприятие окружающего мира </vt:lpstr>
      <vt:lpstr>Манипуляция</vt:lpstr>
      <vt:lpstr>ВАШИ ЛЮБИМЫЕ КНОПКИ? </vt:lpstr>
      <vt:lpstr>Почему люди манипулируют? </vt:lpstr>
      <vt:lpstr>Техники ухода от манипуляции</vt:lpstr>
      <vt:lpstr>Презентация PowerPoint</vt:lpstr>
      <vt:lpstr>Эгосостояния по Э. Берну и как нам использовать эти знания  </vt:lpstr>
      <vt:lpstr>РОДИТЕЛЬ – отражение всех родительских фигур в нашей жизни</vt:lpstr>
      <vt:lpstr>РЕБЕНОК – ВСЕ МЫ РОДОМ ИЗ ДЕТСТВА!  Наши детские реакции всегда с нами!</vt:lpstr>
      <vt:lpstr>Важно стать хорошим родителем самому себе! </vt:lpstr>
      <vt:lpstr>Презентация PowerPoint</vt:lpstr>
      <vt:lpstr>Консультирование пар</vt:lpstr>
      <vt:lpstr>Особенности консультирования пар </vt:lpstr>
      <vt:lpstr>Ключевые особенности системы: </vt:lpstr>
      <vt:lpstr> Свойства систем </vt:lpstr>
      <vt:lpstr>Пример семейной системы</vt:lpstr>
      <vt:lpstr>Энтропия   Негэнтропия в системе</vt:lpstr>
      <vt:lpstr>Разрушение системы</vt:lpstr>
      <vt:lpstr>Что такое коалиции?</vt:lpstr>
      <vt:lpstr>Презентация PowerPoint</vt:lpstr>
      <vt:lpstr>Презентация PowerPoint</vt:lpstr>
      <vt:lpstr>Пример семейной системы</vt:lpstr>
      <vt:lpstr>Что может помочь сохранению семейной системы</vt:lpstr>
      <vt:lpstr>Рычаг в системе</vt:lpstr>
      <vt:lpstr>Презентация PowerPoint</vt:lpstr>
      <vt:lpstr>Упражнение</vt:lpstr>
      <vt:lpstr>Что делать? (Варианты работы по уменьшению Энтропии и усилению связей между членами семьи)   </vt:lpstr>
      <vt:lpstr>Презентация PowerPoint</vt:lpstr>
      <vt:lpstr>Я и мои мысли</vt:lpstr>
      <vt:lpstr>Автоматические и неадаптивные мысли</vt:lpstr>
      <vt:lpstr>Презентация PowerPoint</vt:lpstr>
      <vt:lpstr>Работа неадаптивными автоматическими мыслями по  А. Беку</vt:lpstr>
      <vt:lpstr>Презентация PowerPoint</vt:lpstr>
      <vt:lpstr>Презентация PowerPoint</vt:lpstr>
      <vt:lpstr>Презентация PowerPoint</vt:lpstr>
      <vt:lpstr>Неадаптивные мысли, или «тараканы»</vt:lpstr>
      <vt:lpstr>Виды «тараканов»</vt:lpstr>
      <vt:lpstr>Презентация PowerPoint</vt:lpstr>
      <vt:lpstr>Упражнение</vt:lpstr>
      <vt:lpstr>Схема работы с неадаптивными мыслями</vt:lpstr>
      <vt:lpstr>Немного о ПРАВИЛАХ семьи </vt:lpstr>
      <vt:lpstr>Презентация PowerPoint</vt:lpstr>
      <vt:lpstr>Работа с обидами партнеров друг на друга</vt:lpstr>
      <vt:lpstr>Слова поддержки и восхищения</vt:lpstr>
      <vt:lpstr>Благодарность</vt:lpstr>
      <vt:lpstr>Вопросы для женщин</vt:lpstr>
      <vt:lpstr>Вопросы для мужчин</vt:lpstr>
      <vt:lpstr>Вопросы для мужчин</vt:lpstr>
      <vt:lpstr>Вопросы для женщин </vt:lpstr>
      <vt:lpstr>Основные правила восстановления отношений</vt:lpstr>
      <vt:lpstr>Презентация PowerPoint</vt:lpstr>
      <vt:lpstr>Презентация PowerPoint</vt:lpstr>
      <vt:lpstr>Какие способности и душевные качества нужны,   чтобы вступать и поддерживать хорошие    любовные отношения </vt:lpstr>
      <vt:lpstr>Презентация PowerPoint</vt:lpstr>
      <vt:lpstr>«Мы все склонны к созависимым отношениям в той или иной степени…»</vt:lpstr>
      <vt:lpstr>Признаем наличие проблемы</vt:lpstr>
      <vt:lpstr>Презентация PowerPoint</vt:lpstr>
      <vt:lpstr>Треугольник Карпмана </vt:lpstr>
      <vt:lpstr>Жертва  </vt:lpstr>
      <vt:lpstr>Гонитель (контролер, диктатор, агрессор) </vt:lpstr>
      <vt:lpstr>Спасатель </vt:lpstr>
      <vt:lpstr>Как это работает </vt:lpstr>
      <vt:lpstr>Презентация PowerPoint</vt:lpstr>
      <vt:lpstr>Презентация PowerPoint</vt:lpstr>
      <vt:lpstr>Здоровые отношения</vt:lpstr>
      <vt:lpstr>Любовь к себе – шаг № 1</vt:lpstr>
      <vt:lpstr>Принятие себя – основа любви к себе</vt:lpstr>
      <vt:lpstr>Контакт с чувствами – шаг № 2</vt:lpstr>
      <vt:lpstr>Страх – основа зависимости</vt:lpstr>
      <vt:lpstr>Чувство Вины заменяем Ответственностью</vt:lpstr>
      <vt:lpstr>Работа с границами – шаг № 3</vt:lpstr>
      <vt:lpstr>Я – беру ответственность за свою жизнь - Шаг № 4</vt:lpstr>
      <vt:lpstr>Кто виноват и что делать?</vt:lpstr>
      <vt:lpstr>Быть хорошим Родителем самому себе - Шаг 5. </vt:lpstr>
      <vt:lpstr>Я родом из детства (упражнение)</vt:lpstr>
      <vt:lpstr>Презентация PowerPoint</vt:lpstr>
      <vt:lpstr>Работа с самооценкой – шаг № 6 </vt:lpstr>
      <vt:lpstr>Презентация PowerPoint</vt:lpstr>
      <vt:lpstr>Презентация PowerPoint</vt:lpstr>
      <vt:lpstr>ЗАДАНИЕ. Любовь или зависимость?</vt:lpstr>
      <vt:lpstr>Презентация PowerPoint</vt:lpstr>
      <vt:lpstr>Презентация PowerPoint</vt:lpstr>
      <vt:lpstr>Что для Вас ФЛИРТ?</vt:lpstr>
      <vt:lpstr>Флирт в отношениях? </vt:lpstr>
      <vt:lpstr>Презентация PowerPoint</vt:lpstr>
      <vt:lpstr>Некоторые принципы флирта</vt:lpstr>
      <vt:lpstr>О чем мы забываем</vt:lpstr>
      <vt:lpstr>Флиртующая коммуникация</vt:lpstr>
      <vt:lpstr>Делайте друг другу сюрпризы без всякого повода  </vt:lpstr>
      <vt:lpstr>Играйте и кокетничайте с любимым</vt:lpstr>
      <vt:lpstr>Решение конфликтов через флирт</vt:lpstr>
      <vt:lpstr>Презентация PowerPoint</vt:lpstr>
      <vt:lpstr>Интересное!</vt:lpstr>
      <vt:lpstr>Презентация PowerPoint</vt:lpstr>
      <vt:lpstr>Презентация PowerPoint</vt:lpstr>
      <vt:lpstr>Презентация PowerPoint</vt:lpstr>
      <vt:lpstr>Баланс брать – давать!!!</vt:lpstr>
      <vt:lpstr>Баланс брать – давать!!!</vt:lpstr>
      <vt:lpstr>А можно ли посчитать?</vt:lpstr>
      <vt:lpstr>Почему мужчины не берут ответственность?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«Гендерная психология. Коучинг отношений»</dc:title>
  <dc:creator>Nataliya Ponomareva</dc:creator>
  <cp:lastModifiedBy>user</cp:lastModifiedBy>
  <cp:revision>41</cp:revision>
  <dcterms:created xsi:type="dcterms:W3CDTF">2021-01-22T16:57:16Z</dcterms:created>
  <dcterms:modified xsi:type="dcterms:W3CDTF">2025-07-13T16:02:40Z</dcterms:modified>
</cp:coreProperties>
</file>