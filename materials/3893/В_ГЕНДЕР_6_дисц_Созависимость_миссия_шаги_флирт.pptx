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88"/>
  </p:notesMasterIdLst>
  <p:sldIdLst>
    <p:sldId id="258" r:id="rId2"/>
    <p:sldId id="950" r:id="rId3"/>
    <p:sldId id="1018" r:id="rId4"/>
    <p:sldId id="262" r:id="rId5"/>
    <p:sldId id="263" r:id="rId6"/>
    <p:sldId id="1150" r:id="rId7"/>
    <p:sldId id="1151" r:id="rId8"/>
    <p:sldId id="422" r:id="rId9"/>
    <p:sldId id="1017" r:id="rId10"/>
    <p:sldId id="421" r:id="rId11"/>
    <p:sldId id="1126" r:id="rId12"/>
    <p:sldId id="1149" r:id="rId13"/>
    <p:sldId id="1148" r:id="rId14"/>
    <p:sldId id="1111" r:id="rId15"/>
    <p:sldId id="1112" r:id="rId16"/>
    <p:sldId id="1113" r:id="rId17"/>
    <p:sldId id="280" r:id="rId18"/>
    <p:sldId id="1114" r:id="rId19"/>
    <p:sldId id="1115" r:id="rId20"/>
    <p:sldId id="1116" r:id="rId21"/>
    <p:sldId id="1117" r:id="rId22"/>
    <p:sldId id="281" r:id="rId23"/>
    <p:sldId id="1118" r:id="rId24"/>
    <p:sldId id="1119" r:id="rId25"/>
    <p:sldId id="282" r:id="rId26"/>
    <p:sldId id="1131" r:id="rId27"/>
    <p:sldId id="256" r:id="rId28"/>
    <p:sldId id="1136" r:id="rId29"/>
    <p:sldId id="1137" r:id="rId30"/>
    <p:sldId id="1138" r:id="rId31"/>
    <p:sldId id="1139" r:id="rId32"/>
    <p:sldId id="1140" r:id="rId33"/>
    <p:sldId id="1141" r:id="rId34"/>
    <p:sldId id="1142" r:id="rId35"/>
    <p:sldId id="1143" r:id="rId36"/>
    <p:sldId id="1144" r:id="rId37"/>
    <p:sldId id="1145" r:id="rId38"/>
    <p:sldId id="1146" r:id="rId39"/>
    <p:sldId id="1147" r:id="rId40"/>
    <p:sldId id="1074" r:id="rId41"/>
    <p:sldId id="1075" r:id="rId42"/>
    <p:sldId id="1076" r:id="rId43"/>
    <p:sldId id="1077" r:id="rId44"/>
    <p:sldId id="1078" r:id="rId45"/>
    <p:sldId id="1079" r:id="rId46"/>
    <p:sldId id="1080" r:id="rId47"/>
    <p:sldId id="1081" r:id="rId48"/>
    <p:sldId id="1082" r:id="rId49"/>
    <p:sldId id="1083" r:id="rId50"/>
    <p:sldId id="1084" r:id="rId51"/>
    <p:sldId id="1085" r:id="rId52"/>
    <p:sldId id="1086" r:id="rId53"/>
    <p:sldId id="1087" r:id="rId54"/>
    <p:sldId id="1088" r:id="rId55"/>
    <p:sldId id="1089" r:id="rId56"/>
    <p:sldId id="1090" r:id="rId57"/>
    <p:sldId id="1091" r:id="rId58"/>
    <p:sldId id="1092" r:id="rId59"/>
    <p:sldId id="1134" r:id="rId60"/>
    <p:sldId id="1093" r:id="rId61"/>
    <p:sldId id="1094" r:id="rId62"/>
    <p:sldId id="1095" r:id="rId63"/>
    <p:sldId id="1096" r:id="rId64"/>
    <p:sldId id="1097" r:id="rId65"/>
    <p:sldId id="1098" r:id="rId66"/>
    <p:sldId id="1132" r:id="rId67"/>
    <p:sldId id="1005" r:id="rId68"/>
    <p:sldId id="1009" r:id="rId69"/>
    <p:sldId id="1010" r:id="rId70"/>
    <p:sldId id="1133" r:id="rId71"/>
    <p:sldId id="1058" r:id="rId72"/>
    <p:sldId id="1059" r:id="rId73"/>
    <p:sldId id="1050" r:id="rId74"/>
    <p:sldId id="1060" r:id="rId75"/>
    <p:sldId id="1051" r:id="rId76"/>
    <p:sldId id="1052" r:id="rId77"/>
    <p:sldId id="1053" r:id="rId78"/>
    <p:sldId id="1054" r:id="rId79"/>
    <p:sldId id="1055" r:id="rId80"/>
    <p:sldId id="1056" r:id="rId81"/>
    <p:sldId id="1057" r:id="rId82"/>
    <p:sldId id="1061" r:id="rId83"/>
    <p:sldId id="1062" r:id="rId84"/>
    <p:sldId id="1063" r:id="rId85"/>
    <p:sldId id="1064" r:id="rId86"/>
    <p:sldId id="1127" r:id="rId8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3:5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24575,'2'0'0,"-1"1"0,1-1 0,0 1 0,0-1 0,-1 1 0,1 0 0,0-1 0,-1 1 0,1 0 0,0 0 0,-1 0 0,1 0 0,-1 0 0,0 1 0,1-1 0,-1 0 0,0 1 0,0-1 0,0 1 0,1 1 0,20 39 0,-13-23 0,0-3 0,12 23 0,38 50 0,-47-72 0,-1 1 0,-1 0 0,0 1 0,6 21 0,-1-8 0,1 0 0,3-2 0,0 0 0,42 47 0,-24-31 0,20 28 0,16 23 0,91 92 0,-69-97 0,-83-78-1365,-4-1-5461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4:0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1018 0 24575,'-28'49'0,"-2"-1"0,-36 45 0,23-33 0,-39 58 0,-116 154 0,182-254 0,0 0 0,-1-1 0,-1 0 0,-1-1 0,0-2 0,-40 25 0,20-15 0,2 2 0,-40 34 0,39-29 0,-68 44 0,94-69 0,1 1 0,0 0 0,0 1 0,1 0 0,0 0 0,0 1 0,1 1 0,-12 15 0,17-16 0,9-10 0,16-16 0,-12 10 0,36-17 338,-35 20-764,-1-1 0,1 0 1,13-9-1,-11 3-6400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5:1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5:47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5:5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5:5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6:08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3:5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24575,'2'0'0,"-1"1"0,1-1 0,0 1 0,0-1 0,-1 1 0,1 0 0,0-1 0,-1 1 0,1 0 0,0 0 0,-1 0 0,1 0 0,-1 0 0,0 1 0,1-1 0,-1 0 0,0 1 0,0-1 0,0 1 0,1 1 0,20 39 0,-13-23 0,0-3 0,12 23 0,38 50 0,-47-72 0,-1 1 0,-1 0 0,0 1 0,6 21 0,-1-8 0,1 0 0,3-2 0,0 0 0,42 47 0,-24-31 0,20 28 0,16 23 0,91 92 0,-69-97 0,-83-78-1365,-4-1-5461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4:0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1018 0 24575,'-28'49'0,"-2"-1"0,-36 45 0,23-33 0,-39 58 0,-116 154 0,182-254 0,0 0 0,-1-1 0,-1 0 0,-1-1 0,0-2 0,-40 25 0,20-15 0,2 2 0,-40 34 0,39-29 0,-68 44 0,94-69 0,1 1 0,0 0 0,0 1 0,1 0 0,0 0 0,0 1 0,1 1 0,-12 15 0,17-16 0,9-10 0,16-16 0,-12 10 0,36-17 338,-35 20-764,-1-1 0,1 0 1,13-9-1,-11 3-6400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85ECA-1773-4348-9D74-A539183EE8AB}" type="datetimeFigureOut">
              <a:rPr lang="ru-RU" smtClean="0"/>
              <a:t>31.01.2025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BCDBA-6FCF-4C95-98D3-389CD2C3A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700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76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808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995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782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83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v.pospelov\Desktop\лого.png">
            <a:extLst>
              <a:ext uri="{FF2B5EF4-FFF2-40B4-BE49-F238E27FC236}">
                <a16:creationId xmlns:a16="http://schemas.microsoft.com/office/drawing/2014/main" id="{3C1CC6F6-A74A-4590-925B-583BE0F0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4" y="528427"/>
            <a:ext cx="3174449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v.pospelov\Desktop\птт.png">
            <a:extLst>
              <a:ext uri="{FF2B5EF4-FFF2-40B4-BE49-F238E27FC236}">
                <a16:creationId xmlns:a16="http://schemas.microsoft.com/office/drawing/2014/main" id="{71C0F0C6-CDFB-43BB-A411-B81D4C87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9" y="0"/>
            <a:ext cx="121699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976" y="1277888"/>
            <a:ext cx="10972800" cy="1143000"/>
          </a:xfrm>
        </p:spPr>
        <p:txBody>
          <a:bodyPr>
            <a:normAutofit/>
          </a:bodyPr>
          <a:lstStyle>
            <a:lvl1pPr algn="l">
              <a:defRPr lang="ru-RU" sz="3600" kern="1200" dirty="0">
                <a:solidFill>
                  <a:schemeClr val="tx1"/>
                </a:solidFill>
                <a:latin typeface="HeliosBlack" pitchFamily="82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2348881"/>
            <a:ext cx="10670976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5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2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0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0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3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4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6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0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8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80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 w="18415" cmpd="sng">
                  <a:solidFill>
                    <a:srgbClr val="0066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n>
                  <a:noFill/>
                </a:ln>
                <a:solidFill>
                  <a:srgbClr val="0000CC"/>
                </a:solidFill>
              </a:defRPr>
            </a:lvl1pPr>
            <a:lvl2pPr>
              <a:defRPr>
                <a:ln>
                  <a:noFill/>
                </a:ln>
                <a:solidFill>
                  <a:srgbClr val="0000CC"/>
                </a:solidFill>
              </a:defRPr>
            </a:lvl2pPr>
            <a:lvl3pPr>
              <a:defRPr>
                <a:ln>
                  <a:noFill/>
                </a:ln>
                <a:solidFill>
                  <a:srgbClr val="0000CC"/>
                </a:solidFill>
              </a:defRPr>
            </a:lvl3pPr>
            <a:lvl4pPr>
              <a:defRPr>
                <a:ln>
                  <a:noFill/>
                </a:ln>
                <a:solidFill>
                  <a:srgbClr val="0000CC"/>
                </a:solidFill>
              </a:defRPr>
            </a:lvl4pPr>
            <a:lvl5pPr>
              <a:defRPr>
                <a:ln>
                  <a:noFill/>
                </a:ln>
                <a:solidFill>
                  <a:srgbClr val="0000CC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CC2A-0209-407F-B3D9-0840C384EB7C}" type="datetimeFigureOut">
              <a:rPr lang="es-ES" smtClean="0"/>
              <a:pPr/>
              <a:t>31/01/2025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C029-DB55-4711-BF78-58FBB075B157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344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2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customXml" Target="../ink/ink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customXml" Target="../ink/ink7.xm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6.xml"/><Relationship Id="rId5" Type="http://schemas.openxmlformats.org/officeDocument/2006/relationships/customXml" Target="../ink/ink5.xml"/><Relationship Id="rId4" Type="http://schemas.openxmlformats.org/officeDocument/2006/relationships/customXml" Target="../ink/ink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customXml" Target="../ink/ink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rpmandramatriangle.com/" TargetMode="Externa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www.adme.ru/svoboda-psihologiya/treugolnik-karpmana-obyasnyaet-pochemu-tak-mnogo-lyudej-neschastlivy-vmeste-1694315/#image11305615" TargetMode="Externa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www.adme.ru/svoboda-psihologiya/treugolnik-karpmana-obyasnyaet-pochemu-tak-mnogo-lyudej-neschastlivy-vmeste-1694315/#image11305665" TargetMode="Externa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www.adme.ru/svoboda-psihologiya/treugolnik-karpmana-obyasnyaet-pochemu-tak-mnogo-lyudej-neschastlivy-vmeste-1694315/#image11305715" TargetMode="Externa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hyperlink" Target="https://coollib.com/b/225628/read" TargetMode="Externa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hyperlink" Target="http://ivona.bigmir.net/psihologia/relate/relationship/311635-Desjat--faktov-o-sovremennom-flirte--obol-sti-ego" TargetMode="Externa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Психологический портрет личности, структура личности Э. Берна - презентация  онлайн">
            <a:extLst>
              <a:ext uri="{FF2B5EF4-FFF2-40B4-BE49-F238E27FC236}">
                <a16:creationId xmlns:a16="http://schemas.microsoft.com/office/drawing/2014/main" id="{84E1B1FF-EE8F-489C-9908-02284E9C9530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578" y="91161"/>
            <a:ext cx="7808843" cy="584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25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4019C-6B72-4BC2-B8B1-B6BDD583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882" y="365125"/>
            <a:ext cx="6235697" cy="895504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мешает адекватной самооценке? </a:t>
            </a:r>
            <a:br>
              <a:rPr lang="ru-RU" dirty="0"/>
            </a:br>
            <a:r>
              <a:rPr lang="ru-RU" dirty="0"/>
              <a:t>Я не люблю себя?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B73F68-2324-4326-9CAD-D2EF7CDEC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259" y="2141537"/>
            <a:ext cx="10515600" cy="4058541"/>
          </a:xfrm>
        </p:spPr>
        <p:txBody>
          <a:bodyPr>
            <a:normAutofit fontScale="92500"/>
          </a:bodyPr>
          <a:lstStyle/>
          <a:p>
            <a:r>
              <a:rPr lang="ru-RU" dirty="0"/>
              <a:t>Уделять себе время</a:t>
            </a:r>
          </a:p>
          <a:p>
            <a:r>
              <a:rPr lang="ru-RU" dirty="0"/>
              <a:t>Реализовывать то, что хочется (поставить в план)</a:t>
            </a:r>
          </a:p>
          <a:p>
            <a:r>
              <a:rPr lang="ru-RU" dirty="0"/>
              <a:t>Заботиться о своем здоровье: СОН, ПИТАНИЕ, ВОДА, ФИЗ. НАГРУЗКА</a:t>
            </a:r>
          </a:p>
          <a:p>
            <a:r>
              <a:rPr lang="ru-RU" dirty="0"/>
              <a:t>Хвалить себя! </a:t>
            </a:r>
          </a:p>
          <a:p>
            <a:r>
              <a:rPr lang="ru-RU" dirty="0"/>
              <a:t>Маленькие подарки!</a:t>
            </a:r>
          </a:p>
          <a:p>
            <a:r>
              <a:rPr lang="ru-RU" dirty="0"/>
              <a:t>Утренний завтрак?</a:t>
            </a:r>
          </a:p>
          <a:p>
            <a:r>
              <a:rPr lang="ru-RU" dirty="0"/>
              <a:t>Любимая музыка, фильм.</a:t>
            </a:r>
          </a:p>
          <a:p>
            <a:r>
              <a:rPr lang="ru-RU" dirty="0"/>
              <a:t>Что еще?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60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7A186-C734-4501-8E11-E16A7918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76" y="1277888"/>
            <a:ext cx="10567888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Упражнение. Составляем билль о моем праве любить себя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58F03F-D706-41BE-9C06-7FF162274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Отныне я имею право делать и буду это делать!</a:t>
            </a:r>
          </a:p>
        </p:txBody>
      </p:sp>
    </p:spTree>
    <p:extLst>
      <p:ext uri="{BB962C8B-B14F-4D97-AF65-F5344CB8AC3E}">
        <p14:creationId xmlns:p14="http://schemas.microsoft.com/office/powerpoint/2010/main" val="59636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66C19-AA19-4525-964B-F98D7832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134" y="239201"/>
            <a:ext cx="5140172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еще мешает </a:t>
            </a:r>
            <a:br>
              <a:rPr lang="ru-RU" dirty="0"/>
            </a:br>
            <a:r>
              <a:rPr lang="ru-RU" dirty="0"/>
              <a:t>адекватной самооценке?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4ADB5-EA36-4AA3-9B6C-6EC4B5D5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188" y="1569998"/>
            <a:ext cx="8915400" cy="4780720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Сосредоточение на себе. Трудно выходить в «Карту мира»  другого человека. </a:t>
            </a:r>
          </a:p>
          <a:p>
            <a:r>
              <a:rPr lang="ru-RU" b="1" dirty="0"/>
              <a:t>УПРАЖНЕНИЕ</a:t>
            </a:r>
          </a:p>
          <a:p>
            <a:r>
              <a:rPr lang="ru-RU" dirty="0"/>
              <a:t>Когда Вы возмущаетесь поведением, видом, поступками другого человека, попробуйте ответить себе на такие вопросы:</a:t>
            </a:r>
            <a:br>
              <a:rPr lang="ru-RU" dirty="0"/>
            </a:br>
            <a:r>
              <a:rPr lang="ru-RU" dirty="0"/>
              <a:t>Почему этот человек ведет себя именно так?</a:t>
            </a:r>
          </a:p>
          <a:p>
            <a:r>
              <a:rPr lang="ru-RU" dirty="0"/>
              <a:t>Какие у него сейчас мысли? Что он чувствует и почему?</a:t>
            </a:r>
          </a:p>
          <a:p>
            <a:r>
              <a:rPr lang="ru-RU" dirty="0"/>
              <a:t>Как бы Вы поступили на его месте? </a:t>
            </a:r>
          </a:p>
          <a:p>
            <a:r>
              <a:rPr lang="ru-RU" dirty="0"/>
              <a:t>Если Вы считаете, что поступили бы по-другому, то какие обстоятельства Вашей жизни, как Вам кажется, способствуют (способствовали) этому. </a:t>
            </a:r>
          </a:p>
          <a:p>
            <a:r>
              <a:rPr lang="ru-RU" dirty="0"/>
              <a:t>Чем чаще Вы будете задаваться такими вопросами, тем скорее Вы сможете переключаться даже в острых ситуациях на ситуацию другого человека. </a:t>
            </a:r>
          </a:p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197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D27A4-1B48-47E2-9B0A-73D9E5BD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4110361" y="467138"/>
            <a:ext cx="7394251" cy="722470"/>
          </a:xfrm>
        </p:spPr>
        <p:txBody>
          <a:bodyPr>
            <a:normAutofit fontScale="90000"/>
          </a:bodyPr>
          <a:lstStyle/>
          <a:p>
            <a:r>
              <a:rPr lang="ru-RU" dirty="0"/>
              <a:t>Мы зависим от мнения других людей.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8E34B6-A9AA-45CA-9E6C-15AE772B4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768" y="1351527"/>
            <a:ext cx="9410330" cy="4436713"/>
          </a:xfrm>
        </p:spPr>
        <p:txBody>
          <a:bodyPr>
            <a:normAutofit fontScale="92500" lnSpcReduction="20000"/>
          </a:bodyPr>
          <a:lstStyle/>
          <a:p>
            <a:endParaRPr lang="ru-RU" b="1" dirty="0"/>
          </a:p>
          <a:p>
            <a:r>
              <a:rPr lang="ru-RU" sz="2600" b="1" dirty="0"/>
              <a:t>УПРАЖНЕНИЕ</a:t>
            </a:r>
          </a:p>
          <a:p>
            <a:r>
              <a:rPr lang="ru-RU" sz="2600" dirty="0"/>
              <a:t>Прежде всего важно ловить себя на моментах, когда мы делаем что-то, что не хотим,  или НЕ делаем то, что хотим. </a:t>
            </a:r>
            <a:br>
              <a:rPr lang="ru-RU" sz="2600" dirty="0"/>
            </a:br>
            <a:r>
              <a:rPr lang="ru-RU" sz="2600" dirty="0"/>
              <a:t>Лучше сразу ОБРАБОТАТЬ этот момент. В крайнем случае запомнить и обработать в спокойное время. </a:t>
            </a:r>
          </a:p>
          <a:p>
            <a:r>
              <a:rPr lang="ru-RU" sz="2600" dirty="0"/>
              <a:t>Почему меня волнует мнение этого человека? ЗАПИСЫВАЕМ ПРИЧИНЫ.</a:t>
            </a:r>
            <a:br>
              <a:rPr lang="ru-RU" sz="2600" dirty="0"/>
            </a:br>
            <a:r>
              <a:rPr lang="ru-RU" sz="2600" dirty="0"/>
              <a:t>Эти причины достаточно важны, существенны, чтобы я отказывал(ась)</a:t>
            </a:r>
            <a:r>
              <a:rPr lang="ru-RU" sz="2600" dirty="0" err="1"/>
              <a:t>ся</a:t>
            </a:r>
            <a:r>
              <a:rPr lang="ru-RU" sz="2600" dirty="0"/>
              <a:t> от того, что я хотела и что мне важно? Какие выгоды я от этого имею?</a:t>
            </a:r>
          </a:p>
          <a:p>
            <a:r>
              <a:rPr lang="ru-RU" sz="2600" dirty="0"/>
              <a:t>Если мы решили, что это не важные причины, </a:t>
            </a:r>
          </a:p>
          <a:p>
            <a:r>
              <a:rPr lang="ru-RU" sz="2600" dirty="0"/>
              <a:t>делаем упражнение </a:t>
            </a:r>
            <a:r>
              <a:rPr lang="ru-RU" sz="2600" b="1" dirty="0"/>
              <a:t>«А! ПЛЕВАТЬ!»</a:t>
            </a:r>
          </a:p>
        </p:txBody>
      </p:sp>
    </p:spTree>
    <p:extLst>
      <p:ext uri="{BB962C8B-B14F-4D97-AF65-F5344CB8AC3E}">
        <p14:creationId xmlns:p14="http://schemas.microsoft.com/office/powerpoint/2010/main" val="234164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1CC48-ADD6-4DEE-A56D-903872BC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9250" y="266868"/>
            <a:ext cx="7098674" cy="1143000"/>
          </a:xfrm>
        </p:spPr>
        <p:txBody>
          <a:bodyPr/>
          <a:lstStyle/>
          <a:p>
            <a:r>
              <a:rPr lang="ru-RU" dirty="0"/>
              <a:t>Я боюсь делать ошибки.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0C6C68-E0E2-45F9-9217-E3B898973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35837"/>
            <a:ext cx="9439922" cy="3799643"/>
          </a:xfrm>
        </p:spPr>
        <p:txBody>
          <a:bodyPr/>
          <a:lstStyle/>
          <a:p>
            <a:r>
              <a:rPr lang="ru-RU" dirty="0"/>
              <a:t>ОСОЗНАЕМ. Что самое страшное произойдет, если я сделаю эту ошибку? Как я смогу с этим справиться? </a:t>
            </a:r>
          </a:p>
          <a:p>
            <a:r>
              <a:rPr lang="ru-RU" dirty="0"/>
              <a:t>«Предупрежден, значит вооружен!»</a:t>
            </a:r>
          </a:p>
          <a:p>
            <a:r>
              <a:rPr lang="ru-RU" dirty="0"/>
              <a:t>Аффирмации. Работа с бессознательным.</a:t>
            </a:r>
          </a:p>
        </p:txBody>
      </p:sp>
    </p:spTree>
    <p:extLst>
      <p:ext uri="{BB962C8B-B14F-4D97-AF65-F5344CB8AC3E}">
        <p14:creationId xmlns:p14="http://schemas.microsoft.com/office/powerpoint/2010/main" val="776003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8C480-DD81-4C31-934B-E9FA2544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713" y="363488"/>
            <a:ext cx="6592648" cy="1143000"/>
          </a:xfrm>
        </p:spPr>
        <p:txBody>
          <a:bodyPr>
            <a:normAutofit/>
          </a:bodyPr>
          <a:lstStyle/>
          <a:p>
            <a:r>
              <a:rPr lang="ru-RU" dirty="0"/>
              <a:t>Я ненавижу критику.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0F3904-A441-4579-8A4C-CCA0BC736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Работа с манипулятивной критикой. </a:t>
            </a:r>
          </a:p>
        </p:txBody>
      </p:sp>
    </p:spTree>
    <p:extLst>
      <p:ext uri="{BB962C8B-B14F-4D97-AF65-F5344CB8AC3E}">
        <p14:creationId xmlns:p14="http://schemas.microsoft.com/office/powerpoint/2010/main" val="2721358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60BBA-8020-44E4-AC5F-87CEE6E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623" y="301345"/>
            <a:ext cx="5127832" cy="1143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46536C-2B8E-4C29-8201-BDFEAB1B7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69" y="1789588"/>
            <a:ext cx="10670976" cy="3777283"/>
          </a:xfrm>
        </p:spPr>
        <p:txBody>
          <a:bodyPr>
            <a:normAutofit/>
          </a:bodyPr>
          <a:lstStyle/>
          <a:p>
            <a:r>
              <a:rPr lang="ru-RU" dirty="0"/>
              <a:t>Я объективно понимаю, что люди вокруг меня более красивы, развиты и пр. Сравниваю не в свою пользу. (Разбираюсь, почему я сравниваю и почему меня это расстраивает)</a:t>
            </a:r>
          </a:p>
          <a:p>
            <a:endParaRPr lang="ru-RU" dirty="0"/>
          </a:p>
          <a:p>
            <a:r>
              <a:rPr lang="ru-RU" dirty="0"/>
              <a:t>Меня внезапно предали, бросили, уволили и пр. </a:t>
            </a:r>
          </a:p>
          <a:p>
            <a:r>
              <a:rPr lang="ru-RU" b="1" dirty="0"/>
              <a:t>В БАЗЕ </a:t>
            </a:r>
            <a:r>
              <a:rPr lang="ru-RU" dirty="0"/>
              <a:t>ДЛЯ РАБОТЫ С САМООЦЕНКОЙ ОЧЕНЬ ВАЖНО </a:t>
            </a:r>
            <a:r>
              <a:rPr lang="ru-RU" b="1" dirty="0"/>
              <a:t>УМЕТЬ РАБОТАТЬ С ЧУВСТВАМИ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5114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6BF797-A555-4E07-BBCA-F494500F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0987398-61C9-4E9C-82AE-59CE31E39E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609332"/>
              </p:ext>
            </p:extLst>
          </p:nvPr>
        </p:nvGraphicFramePr>
        <p:xfrm>
          <a:off x="2880707" y="1304025"/>
          <a:ext cx="6858000" cy="48346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5214">
                  <a:extLst>
                    <a:ext uri="{9D8B030D-6E8A-4147-A177-3AD203B41FA5}">
                      <a16:colId xmlns:a16="http://schemas.microsoft.com/office/drawing/2014/main" val="2053456923"/>
                    </a:ext>
                  </a:extLst>
                </a:gridCol>
                <a:gridCol w="3842786">
                  <a:extLst>
                    <a:ext uri="{9D8B030D-6E8A-4147-A177-3AD203B41FA5}">
                      <a16:colId xmlns:a16="http://schemas.microsoft.com/office/drawing/2014/main" val="1432534741"/>
                    </a:ext>
                  </a:extLst>
                </a:gridCol>
              </a:tblGrid>
              <a:tr h="8238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Утверждение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(тщательно печатается)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Негативный отклик (быстро пишется)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919384616"/>
                  </a:ext>
                </a:extLst>
              </a:tr>
              <a:tr h="3038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effectLst/>
                        </a:rPr>
                        <a:t>Я люблю себя.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Да?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946499631"/>
                  </a:ext>
                </a:extLst>
              </a:tr>
              <a:tr h="3038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effectLst/>
                        </a:rPr>
                        <a:t>Я люблю себя.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Ты не заслуживаешь любви.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767637480"/>
                  </a:ext>
                </a:extLst>
              </a:tr>
              <a:tr h="3038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effectLst/>
                        </a:rPr>
                        <a:t>Я люблю себя.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Но никто другой тебя не любит.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747398398"/>
                  </a:ext>
                </a:extLst>
              </a:tr>
              <a:tr h="3038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effectLst/>
                        </a:rPr>
                        <a:t>Я люблю себя.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Ты еще мало трудилась.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65136584"/>
                  </a:ext>
                </a:extLst>
              </a:tr>
              <a:tr h="3038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effectLst/>
                        </a:rPr>
                        <a:t>Я люблю себя.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Ты недостаточно умна.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726797292"/>
                  </a:ext>
                </a:extLst>
              </a:tr>
              <a:tr h="3038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effectLst/>
                        </a:rPr>
                        <a:t>Я люблю себя.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Посмотри, какая ты толстая.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944971861"/>
                  </a:ext>
                </a:extLst>
              </a:tr>
              <a:tr h="6280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effectLst/>
                        </a:rPr>
                        <a:t>Я люблю себя.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Ты не смогла похудеть, но ты пыталась, и кое-что тебе удалось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513760969"/>
                  </a:ext>
                </a:extLst>
              </a:tr>
              <a:tr h="6280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effectLst/>
                        </a:rPr>
                        <a:t>Я люблю себя.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Не может быть, я люблю самую малость в себе.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185410271"/>
                  </a:ext>
                </a:extLst>
              </a:tr>
              <a:tr h="6280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effectLst/>
                        </a:rPr>
                        <a:t>Я люблю себя.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Ладно, я могу позволить себе любить себя.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685205017"/>
                  </a:ext>
                </a:extLst>
              </a:tr>
              <a:tr h="3038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>
                          <a:effectLst/>
                        </a:rPr>
                        <a:t>Я люблю себя.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effectLst/>
                        </a:rPr>
                        <a:t>Да, я люблю себя.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926097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2583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556" y="698325"/>
            <a:ext cx="6858002" cy="83751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Как меняется восприятие окружающего мира</a:t>
            </a:r>
            <a:br>
              <a:rPr lang="ru-RU" dirty="0"/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4" y="1761401"/>
            <a:ext cx="7986198" cy="42340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Адекватная самооценка дает возможность нам и нашему подростку: </a:t>
            </a:r>
          </a:p>
          <a:p>
            <a:pPr marL="0" indent="0">
              <a:buNone/>
            </a:pPr>
            <a:r>
              <a:rPr lang="ru-RU" dirty="0"/>
              <a:t> - </a:t>
            </a:r>
            <a:r>
              <a:rPr lang="ru-RU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СОчувствовать</a:t>
            </a:r>
            <a:r>
              <a:rPr lang="ru-RU" dirty="0"/>
              <a:t> тем, кто поступает зло, плохо, неадекватно ( </a:t>
            </a:r>
            <a:r>
              <a:rPr lang="ru-RU" dirty="0">
                <a:solidFill>
                  <a:srgbClr val="FF0000"/>
                </a:solidFill>
              </a:rPr>
              <a:t>а не бояться, не мстить, не унывать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b="1" i="1" dirty="0"/>
              <a:t> Не он плохой, а ему плохо.</a:t>
            </a:r>
          </a:p>
          <a:p>
            <a:pPr marL="0" indent="0">
              <a:buNone/>
            </a:pPr>
            <a:r>
              <a:rPr lang="ru-RU" dirty="0"/>
              <a:t>- </a:t>
            </a:r>
            <a:r>
              <a:rPr lang="ru-RU" b="1" dirty="0" err="1"/>
              <a:t>СОрадоваться</a:t>
            </a:r>
            <a:r>
              <a:rPr lang="ru-RU" dirty="0"/>
              <a:t>  тому, что хорошо и у него и у других ( </a:t>
            </a:r>
            <a:r>
              <a:rPr lang="ru-RU" dirty="0">
                <a:solidFill>
                  <a:srgbClr val="FF0000"/>
                </a:solidFill>
              </a:rPr>
              <a:t>а не завидовать и бояться «сглаза»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</p:txBody>
      </p:sp>
      <p:pic>
        <p:nvPicPr>
          <p:cNvPr id="9218" name="Picture 2" descr="Картинки по запросу &quot;шаги к здоровой самооценке&quot;">
            <a:extLst>
              <a:ext uri="{FF2B5EF4-FFF2-40B4-BE49-F238E27FC236}">
                <a16:creationId xmlns:a16="http://schemas.microsoft.com/office/drawing/2014/main" id="{E1DB943E-AA63-46BB-ACAC-7568ED489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108" y="3624146"/>
            <a:ext cx="3082449" cy="169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87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4021" y="3009036"/>
            <a:ext cx="76412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F0000"/>
                </a:solidFill>
              </a:rPr>
              <a:t>Семья, как система. Консультирование  пар </a:t>
            </a:r>
            <a:endParaRPr lang="ru-RU" sz="4400" b="1" dirty="0">
              <a:solidFill>
                <a:srgbClr val="FF0000"/>
              </a:solidFill>
              <a:latin typeface="HeliosBlac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42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48CB270-AE0B-4A1D-A7A7-99E90EF1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6672"/>
            <a:ext cx="9919317" cy="940966"/>
          </a:xfrm>
        </p:spPr>
        <p:txBody>
          <a:bodyPr>
            <a:noAutofit/>
          </a:bodyPr>
          <a:lstStyle/>
          <a:p>
            <a:r>
              <a:rPr lang="ru-RU" sz="3600" dirty="0">
                <a:latin typeface="Verdana"/>
                <a:ea typeface="Verdana"/>
                <a:cs typeface="Verdana"/>
                <a:sym typeface="Verdana"/>
              </a:rPr>
              <a:t>Особенности консультирования пар</a:t>
            </a:r>
            <a:br>
              <a:rPr lang="ru-RU" sz="3600" dirty="0">
                <a:latin typeface="Verdana"/>
                <a:ea typeface="Verdana"/>
                <a:cs typeface="Verdana"/>
                <a:sym typeface="Verdana"/>
              </a:rPr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CC30C8-3EE2-45E4-A88E-231FB8F00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30658" y="1174072"/>
            <a:ext cx="4038600" cy="4925144"/>
          </a:xfrm>
        </p:spPr>
        <p:txBody>
          <a:bodyPr>
            <a:normAutofit/>
          </a:bodyPr>
          <a:lstStyle/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/>
              <a:t>1. Кто инициатор? </a:t>
            </a:r>
          </a:p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/>
              <a:t>2. Вдвоем и ли по очереди?</a:t>
            </a:r>
          </a:p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/>
              <a:t>3. Цель парной консультации? </a:t>
            </a:r>
          </a:p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/>
              <a:t>4. Позиция консультанта при парной консультации, ведение консультации, правила 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0CC421D-2EDC-4544-8F9A-771A0BD35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038600" cy="4781128"/>
          </a:xfrm>
        </p:spPr>
        <p:txBody>
          <a:bodyPr>
            <a:normAutofit/>
          </a:bodyPr>
          <a:lstStyle/>
          <a:p>
            <a:r>
              <a:rPr lang="ru-RU" sz="2400" dirty="0"/>
              <a:t>5. Пара в семейной системе</a:t>
            </a:r>
          </a:p>
          <a:p>
            <a:r>
              <a:rPr lang="ru-RU" sz="2400" dirty="0"/>
              <a:t>6. Возможно разделить пару снова?</a:t>
            </a:r>
          </a:p>
          <a:p>
            <a:r>
              <a:rPr lang="ru-RU" sz="2400" dirty="0"/>
              <a:t>5. Домашние задания.</a:t>
            </a:r>
          </a:p>
          <a:p>
            <a:r>
              <a:rPr lang="ru-RU" sz="2400" dirty="0"/>
              <a:t>7. Обратная связь: как продвигаемся к цели.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268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48CB270-AE0B-4A1D-A7A7-99E90EF1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>
                <a:latin typeface="Verdana"/>
                <a:ea typeface="Verdana"/>
                <a:cs typeface="Verdana"/>
                <a:sym typeface="Verdana"/>
              </a:rPr>
              <a:t>Ключевые особенности системы:</a:t>
            </a:r>
            <a:br>
              <a:rPr lang="ru-RU" sz="3600" dirty="0">
                <a:latin typeface="Verdana"/>
                <a:ea typeface="Verdana"/>
                <a:cs typeface="Verdana"/>
                <a:sym typeface="Verdana"/>
              </a:rPr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CC30C8-3EE2-45E4-A88E-231FB8F00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1200" y="1600200"/>
            <a:ext cx="4038600" cy="4925144"/>
          </a:xfrm>
        </p:spPr>
        <p:txBody>
          <a:bodyPr>
            <a:normAutofit/>
          </a:bodyPr>
          <a:lstStyle/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>
                <a:ea typeface="Verdana"/>
                <a:cs typeface="Verdana"/>
                <a:sym typeface="Verdana"/>
              </a:rPr>
              <a:t>Систему выделяет/создает наблюдатель, который,  определяет границы. (Их можно расширить или сузить).</a:t>
            </a:r>
          </a:p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>
                <a:ea typeface="Verdana"/>
                <a:cs typeface="Verdana"/>
                <a:sym typeface="Verdana"/>
              </a:rPr>
              <a:t>Система состоит из элементов и динамических взаимосвязей между ними.</a:t>
            </a:r>
            <a:endParaRPr lang="ru-RU" sz="24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0CC421D-2EDC-4544-8F9A-771A0BD35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038600" cy="4781128"/>
          </a:xfrm>
        </p:spPr>
        <p:txBody>
          <a:bodyPr>
            <a:normAutofit/>
          </a:bodyPr>
          <a:lstStyle/>
          <a:p>
            <a:r>
              <a:rPr lang="ru-RU" sz="2400" dirty="0"/>
              <a:t>Работая с клиентом, Консультант-коуч определяет границы системы. </a:t>
            </a:r>
          </a:p>
          <a:p>
            <a:endParaRPr lang="ru-RU" sz="2400" dirty="0"/>
          </a:p>
          <a:p>
            <a:r>
              <a:rPr lang="ru-RU" sz="2400" dirty="0"/>
              <a:t>Члены семьи и взаимосвязи между ними образуют систему.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3419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2074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/>
              <a:t>Свойства систем</a:t>
            </a:r>
            <a:br>
              <a:rPr lang="ru-RU" dirty="0"/>
            </a:br>
            <a:endParaRPr lang="ru-RU" dirty="0"/>
          </a:p>
        </p:txBody>
      </p:sp>
      <p:sp>
        <p:nvSpPr>
          <p:cNvPr id="171" name="Shape 171"/>
          <p:cNvSpPr>
            <a:spLocks noGrp="1"/>
          </p:cNvSpPr>
          <p:nvPr>
            <p:ph sz="half" idx="1"/>
          </p:nvPr>
        </p:nvSpPr>
        <p:spPr>
          <a:xfrm>
            <a:off x="1981200" y="1052737"/>
            <a:ext cx="4038600" cy="5073427"/>
          </a:xfrm>
          <a:prstGeom prst="rect">
            <a:avLst/>
          </a:prstGeom>
        </p:spPr>
        <p:txBody>
          <a:bodyPr vert="horz" lIns="32144" tIns="32144" rIns="32144" bIns="32144" rtlCol="0">
            <a:noAutofit/>
          </a:bodyPr>
          <a:lstStyle/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sz="1600" b="1" dirty="0" err="1">
                <a:ea typeface="Arial"/>
                <a:cs typeface="Arial" pitchFamily="34" charset="0"/>
                <a:sym typeface="Arial"/>
              </a:rPr>
              <a:t>Целостность</a:t>
            </a:r>
            <a:r>
              <a:rPr lang="ru-RU" sz="1600" b="1" dirty="0">
                <a:ea typeface="Arial"/>
                <a:cs typeface="Arial" pitchFamily="34" charset="0"/>
                <a:sym typeface="Arial"/>
              </a:rPr>
              <a:t> </a:t>
            </a:r>
            <a:r>
              <a:rPr lang="ru-RU" sz="1600" dirty="0">
                <a:cs typeface="Arial" pitchFamily="34" charset="0"/>
              </a:rPr>
              <a:t>си</a:t>
            </a:r>
            <a:r>
              <a:rPr sz="1600" dirty="0" err="1">
                <a:cs typeface="Arial" pitchFamily="34" charset="0"/>
              </a:rPr>
              <a:t>стемы</a:t>
            </a:r>
            <a:r>
              <a:rPr lang="ru-RU" sz="1600" dirty="0">
                <a:cs typeface="Arial" pitchFamily="34" charset="0"/>
              </a:rPr>
              <a:t>:</a:t>
            </a:r>
            <a:r>
              <a:rPr sz="1600" dirty="0">
                <a:cs typeface="Arial" pitchFamily="34" charset="0"/>
              </a:rPr>
              <a:t> </a:t>
            </a:r>
            <a:br>
              <a:rPr lang="ru-RU" sz="1600" dirty="0">
                <a:cs typeface="Arial" pitchFamily="34" charset="0"/>
              </a:rPr>
            </a:br>
            <a:r>
              <a:rPr sz="1600" dirty="0">
                <a:cs typeface="Arial" pitchFamily="34" charset="0"/>
              </a:rPr>
              <a:t>«</a:t>
            </a:r>
            <a:r>
              <a:rPr sz="1600" dirty="0" err="1">
                <a:cs typeface="Arial" pitchFamily="34" charset="0"/>
              </a:rPr>
              <a:t>сила</a:t>
            </a:r>
            <a:r>
              <a:rPr sz="1600" dirty="0">
                <a:cs typeface="Arial" pitchFamily="34" charset="0"/>
              </a:rPr>
              <a:t>» </a:t>
            </a:r>
            <a:r>
              <a:rPr sz="1600" dirty="0" err="1">
                <a:cs typeface="Arial" pitchFamily="34" charset="0"/>
              </a:rPr>
              <a:t>связей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элементов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внутри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системы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выше</a:t>
            </a:r>
            <a:r>
              <a:rPr sz="1600" dirty="0">
                <a:cs typeface="Arial" pitchFamily="34" charset="0"/>
              </a:rPr>
              <a:t>, </a:t>
            </a:r>
            <a:r>
              <a:rPr sz="1600" dirty="0" err="1">
                <a:cs typeface="Arial" pitchFamily="34" charset="0"/>
              </a:rPr>
              <a:t>чем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сила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связей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элементов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системы</a:t>
            </a:r>
            <a:r>
              <a:rPr sz="1600" dirty="0">
                <a:cs typeface="Arial" pitchFamily="34" charset="0"/>
              </a:rPr>
              <a:t> с </a:t>
            </a:r>
            <a:r>
              <a:rPr sz="1600" dirty="0" err="1">
                <a:cs typeface="Arial" pitchFamily="34" charset="0"/>
              </a:rPr>
              <a:t>элементами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внешних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систем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или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среды</a:t>
            </a:r>
            <a:r>
              <a:rPr sz="1600" dirty="0">
                <a:cs typeface="Arial" pitchFamily="34" charset="0"/>
              </a:rPr>
              <a:t>.</a:t>
            </a:r>
          </a:p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sz="1600" b="1" dirty="0" err="1">
                <a:ea typeface="Arial"/>
                <a:cs typeface="Arial" pitchFamily="34" charset="0"/>
                <a:sym typeface="Arial"/>
              </a:rPr>
              <a:t>Синергичность</a:t>
            </a:r>
            <a:r>
              <a:rPr lang="ru-RU" sz="1600" b="1" dirty="0">
                <a:ea typeface="Arial"/>
                <a:cs typeface="Arial" pitchFamily="34" charset="0"/>
                <a:sym typeface="Arial"/>
              </a:rPr>
              <a:t>: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появление</a:t>
            </a:r>
            <a:r>
              <a:rPr sz="1600" dirty="0">
                <a:cs typeface="Arial" pitchFamily="34" charset="0"/>
              </a:rPr>
              <a:t> у </a:t>
            </a:r>
            <a:r>
              <a:rPr sz="1600" dirty="0" err="1">
                <a:cs typeface="Arial" pitchFamily="34" charset="0"/>
              </a:rPr>
              <a:t>системы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свойств</a:t>
            </a:r>
            <a:r>
              <a:rPr sz="1600" dirty="0">
                <a:cs typeface="Arial" pitchFamily="34" charset="0"/>
              </a:rPr>
              <a:t>, </a:t>
            </a:r>
            <a:r>
              <a:rPr sz="1600" dirty="0" err="1">
                <a:cs typeface="Arial" pitchFamily="34" charset="0"/>
              </a:rPr>
              <a:t>не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присущих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элементам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системы</a:t>
            </a:r>
            <a:r>
              <a:rPr sz="1600" dirty="0">
                <a:cs typeface="Arial" pitchFamily="34" charset="0"/>
              </a:rPr>
              <a:t>; </a:t>
            </a:r>
            <a:r>
              <a:rPr sz="1600" dirty="0" err="1">
                <a:cs typeface="Arial" pitchFamily="34" charset="0"/>
              </a:rPr>
              <a:t>принципиальная</a:t>
            </a:r>
            <a:r>
              <a:rPr sz="1600" dirty="0">
                <a:cs typeface="Arial" pitchFamily="34" charset="0"/>
              </a:rPr>
              <a:t> </a:t>
            </a:r>
            <a:r>
              <a:rPr sz="1600" i="1" dirty="0" err="1">
                <a:ea typeface="Arial"/>
                <a:cs typeface="Arial" pitchFamily="34" charset="0"/>
                <a:sym typeface="Arial"/>
              </a:rPr>
              <a:t>несводимость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свойств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системы</a:t>
            </a:r>
            <a:r>
              <a:rPr sz="1600" dirty="0">
                <a:cs typeface="Arial" pitchFamily="34" charset="0"/>
              </a:rPr>
              <a:t> </a:t>
            </a:r>
            <a:r>
              <a:rPr sz="1600" i="1" dirty="0">
                <a:ea typeface="Arial"/>
                <a:cs typeface="Arial" pitchFamily="34" charset="0"/>
                <a:sym typeface="Arial"/>
              </a:rPr>
              <a:t>к </a:t>
            </a:r>
            <a:r>
              <a:rPr sz="1600" i="1" dirty="0" err="1">
                <a:ea typeface="Arial"/>
                <a:cs typeface="Arial" pitchFamily="34" charset="0"/>
                <a:sym typeface="Arial"/>
              </a:rPr>
              <a:t>сумме</a:t>
            </a:r>
            <a:r>
              <a:rPr sz="1600" i="1" dirty="0">
                <a:ea typeface="Arial"/>
                <a:cs typeface="Arial" pitchFamily="34" charset="0"/>
                <a:sym typeface="Arial"/>
              </a:rPr>
              <a:t> </a:t>
            </a:r>
            <a:r>
              <a:rPr sz="1600" i="1" dirty="0" err="1">
                <a:ea typeface="Arial"/>
                <a:cs typeface="Arial" pitchFamily="34" charset="0"/>
                <a:sym typeface="Arial"/>
              </a:rPr>
              <a:t>свойств</a:t>
            </a:r>
            <a:r>
              <a:rPr sz="1600" i="1" dirty="0">
                <a:ea typeface="Arial"/>
                <a:cs typeface="Arial" pitchFamily="34" charset="0"/>
                <a:sym typeface="Arial"/>
              </a:rPr>
              <a:t> </a:t>
            </a:r>
            <a:r>
              <a:rPr sz="1600" i="1" dirty="0" err="1">
                <a:ea typeface="Arial"/>
                <a:cs typeface="Arial" pitchFamily="34" charset="0"/>
                <a:sym typeface="Arial"/>
              </a:rPr>
              <a:t>составляющих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её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компонентов</a:t>
            </a:r>
            <a:r>
              <a:rPr sz="1600" dirty="0">
                <a:cs typeface="Arial" pitchFamily="34" charset="0"/>
              </a:rPr>
              <a:t>. </a:t>
            </a:r>
            <a:r>
              <a:rPr sz="1600" b="1" i="1" dirty="0" err="1">
                <a:cs typeface="Arial" pitchFamily="34" charset="0"/>
              </a:rPr>
              <a:t>Возможности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системы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превосходят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сумму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возможностей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составляющих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её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частей</a:t>
            </a:r>
            <a:r>
              <a:rPr lang="ru-RU" sz="1600" b="1" i="1" dirty="0">
                <a:cs typeface="Arial" pitchFamily="34" charset="0"/>
              </a:rPr>
              <a:t>.</a:t>
            </a:r>
            <a:endParaRPr sz="1600" b="1" i="1" dirty="0">
              <a:cs typeface="Arial" pitchFamily="34" charset="0"/>
            </a:endParaRPr>
          </a:p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sz="1600" b="1" dirty="0" err="1">
                <a:ea typeface="Arial"/>
                <a:cs typeface="Arial" pitchFamily="34" charset="0"/>
                <a:sym typeface="Arial"/>
              </a:rPr>
              <a:t>Иерархичность</a:t>
            </a:r>
            <a:r>
              <a:rPr lang="ru-RU" sz="1600" b="1" dirty="0">
                <a:ea typeface="Arial"/>
                <a:cs typeface="Arial" pitchFamily="34" charset="0"/>
                <a:sym typeface="Arial"/>
              </a:rPr>
              <a:t>:</a:t>
            </a:r>
            <a:r>
              <a:rPr sz="1600" dirty="0">
                <a:cs typeface="Arial" pitchFamily="34" charset="0"/>
              </a:rPr>
              <a:t> </a:t>
            </a:r>
            <a:br>
              <a:rPr lang="ru-RU" sz="1600" dirty="0">
                <a:cs typeface="Arial" pitchFamily="34" charset="0"/>
              </a:rPr>
            </a:br>
            <a:r>
              <a:rPr lang="ru-RU" sz="1600" dirty="0"/>
              <a:t>различие между целями </a:t>
            </a:r>
            <a:r>
              <a:rPr lang="ru-RU" sz="1600" b="1" dirty="0"/>
              <a:t>системы</a:t>
            </a:r>
            <a:r>
              <a:rPr lang="ru-RU" sz="1600" dirty="0"/>
              <a:t> и целями её элементов (подсистем), которые являются для неё подцелями. Причём, </a:t>
            </a:r>
            <a:r>
              <a:rPr lang="ru-RU" sz="1600" b="1" dirty="0"/>
              <a:t>системы</a:t>
            </a:r>
            <a:r>
              <a:rPr lang="ru-RU" sz="1600" dirty="0"/>
              <a:t> более высокого порядка ставят цели перед </a:t>
            </a:r>
            <a:r>
              <a:rPr lang="ru-RU" sz="1600" b="1" dirty="0"/>
              <a:t>системами</a:t>
            </a:r>
            <a:r>
              <a:rPr lang="ru-RU" sz="1600" dirty="0"/>
              <a:t> более низкого </a:t>
            </a:r>
            <a:r>
              <a:rPr lang="ru-RU" sz="1600" dirty="0">
                <a:solidFill>
                  <a:srgbClr val="333333"/>
                </a:solidFill>
              </a:rPr>
              <a:t>порядка. </a:t>
            </a:r>
            <a:endParaRPr sz="1600" dirty="0">
              <a:cs typeface="Arial" pitchFamily="34" charset="0"/>
            </a:endParaRP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E59DDE38-B4CF-4DBC-835B-3F43E3AD1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3" y="1038181"/>
            <a:ext cx="3806623" cy="5073427"/>
          </a:xfrm>
        </p:spPr>
        <p:txBody>
          <a:bodyPr>
            <a:noAutofit/>
          </a:bodyPr>
          <a:lstStyle/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lang="ru-RU" sz="1600" b="1" dirty="0">
                <a:latin typeface="Arial" pitchFamily="34" charset="0"/>
                <a:ea typeface="Arial"/>
                <a:cs typeface="Arial" pitchFamily="34" charset="0"/>
                <a:sym typeface="Arial"/>
              </a:rPr>
              <a:t>Целостность семейной системы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 </a:t>
            </a:r>
            <a:br>
              <a:rPr lang="ru-RU" sz="1600" dirty="0">
                <a:latin typeface="Arial" pitchFamily="34" charset="0"/>
                <a:cs typeface="Arial" pitchFamily="34" charset="0"/>
              </a:rPr>
            </a:br>
            <a:r>
              <a:rPr lang="ru-RU" sz="1600" dirty="0">
                <a:latin typeface="Arial" pitchFamily="34" charset="0"/>
                <a:cs typeface="Arial" pitchFamily="34" charset="0"/>
              </a:rPr>
              <a:t>Внутренние связи в семейной системе будем определять по «силе» связей между членами семьи (элементами).  </a:t>
            </a:r>
            <a:br>
              <a:rPr lang="ru-RU" sz="1600" dirty="0">
                <a:latin typeface="Arial" pitchFamily="34" charset="0"/>
                <a:cs typeface="Arial" pitchFamily="34" charset="0"/>
              </a:rPr>
            </a:br>
            <a:r>
              <a:rPr lang="ru-RU" sz="1600" dirty="0">
                <a:latin typeface="Arial" pitchFamily="34" charset="0"/>
                <a:cs typeface="Arial" pitchFamily="34" charset="0"/>
              </a:rPr>
              <a:t>Если сила связей с элементами внешних систем становится выше, семья имеет тенденцию потерять целостность (начать разваливаться). </a:t>
            </a:r>
          </a:p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lang="ru-RU" sz="1600" b="1" dirty="0" err="1">
                <a:latin typeface="Arial" pitchFamily="34" charset="0"/>
                <a:ea typeface="Arial"/>
                <a:cs typeface="Arial" pitchFamily="34" charset="0"/>
                <a:sym typeface="Arial"/>
              </a:rPr>
              <a:t>Синергичность</a:t>
            </a:r>
            <a:br>
              <a:rPr lang="ru-RU" sz="1600" b="1" dirty="0">
                <a:latin typeface="Arial" pitchFamily="34" charset="0"/>
                <a:ea typeface="Arial"/>
                <a:cs typeface="Arial" pitchFamily="34" charset="0"/>
                <a:sym typeface="Arial"/>
              </a:rPr>
            </a:br>
            <a:r>
              <a:rPr lang="ru-RU" sz="1600" dirty="0">
                <a:latin typeface="Arial" pitchFamily="34" charset="0"/>
                <a:cs typeface="Arial" pitchFamily="34" charset="0"/>
              </a:rPr>
              <a:t>У семейной системы с необходимостью должна быть ЦЕЛЬ. Мы говорим о Миссии семьи. </a:t>
            </a:r>
            <a:br>
              <a:rPr lang="ru-RU" sz="1600" dirty="0">
                <a:latin typeface="Arial" pitchFamily="34" charset="0"/>
                <a:cs typeface="Arial" pitchFamily="34" charset="0"/>
              </a:rPr>
            </a:br>
            <a:r>
              <a:rPr lang="ru-RU" sz="1600" dirty="0">
                <a:latin typeface="Arial" pitchFamily="34" charset="0"/>
                <a:cs typeface="Arial" pitchFamily="34" charset="0"/>
              </a:rPr>
              <a:t>ИЛИ: Мы семья, мы со всем справимся. </a:t>
            </a:r>
            <a:r>
              <a:rPr lang="ru-RU" sz="1600" dirty="0" err="1">
                <a:latin typeface="Arial" pitchFamily="34" charset="0"/>
                <a:cs typeface="Arial" pitchFamily="34" charset="0"/>
              </a:rPr>
              <a:t>Взаимопожддержка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lang="ru-RU" sz="1600" b="1" dirty="0">
                <a:latin typeface="Arial" pitchFamily="34" charset="0"/>
                <a:ea typeface="Arial"/>
                <a:cs typeface="Arial" pitchFamily="34" charset="0"/>
                <a:sym typeface="Arial"/>
              </a:rPr>
              <a:t>Иерархичность: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 </a:t>
            </a:r>
            <a:br>
              <a:rPr lang="ru-RU" sz="1600" dirty="0">
                <a:latin typeface="Arial" pitchFamily="34" charset="0"/>
                <a:cs typeface="Arial" pitchFamily="34" charset="0"/>
              </a:rPr>
            </a:br>
            <a:r>
              <a:rPr lang="ru-RU" sz="1600" dirty="0">
                <a:latin typeface="Arial" pitchFamily="34" charset="0"/>
                <a:cs typeface="Arial" pitchFamily="34" charset="0"/>
              </a:rPr>
              <a:t>для здорового существования  семейной системы, цели членов семьи важно согласовывать с Целью семейной системы.</a:t>
            </a:r>
            <a:endParaRPr lang="ru-RU" sz="1600" dirty="0"/>
          </a:p>
        </p:txBody>
      </p:sp>
      <p:pic>
        <p:nvPicPr>
          <p:cNvPr id="5" name="image3.jpeg"/>
          <p:cNvPicPr/>
          <p:nvPr/>
        </p:nvPicPr>
        <p:blipFill>
          <a:blip r:embed="rId2">
            <a:alphaModFix amt="20361"/>
          </a:blip>
          <a:stretch>
            <a:fillRect/>
          </a:stretch>
        </p:blipFill>
        <p:spPr>
          <a:xfrm flipH="1">
            <a:off x="12515129" y="548680"/>
            <a:ext cx="937519" cy="63069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AA096AB6-FC74-4412-8E5B-8C93983C314F}"/>
              </a:ext>
            </a:extLst>
          </p:cNvPr>
          <p:cNvSpPr/>
          <p:nvPr/>
        </p:nvSpPr>
        <p:spPr>
          <a:xfrm>
            <a:off x="4329601" y="3357432"/>
            <a:ext cx="874553" cy="8934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0075E77-E59F-4743-BFAF-953B50B94AAE}"/>
              </a:ext>
            </a:extLst>
          </p:cNvPr>
          <p:cNvSpPr/>
          <p:nvPr/>
        </p:nvSpPr>
        <p:spPr>
          <a:xfrm>
            <a:off x="6332703" y="3315749"/>
            <a:ext cx="874553" cy="937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ru-RU" sz="225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661D8BB-0389-4E08-A1AD-4763541261B6}"/>
              </a:ext>
            </a:extLst>
          </p:cNvPr>
          <p:cNvCxnSpPr>
            <a:cxnSpLocks/>
          </p:cNvCxnSpPr>
          <p:nvPr/>
        </p:nvCxnSpPr>
        <p:spPr>
          <a:xfrm flipV="1">
            <a:off x="7201332" y="2736905"/>
            <a:ext cx="435732" cy="502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0C003B1-266A-4758-9186-1226C594E1BF}"/>
              </a:ext>
            </a:extLst>
          </p:cNvPr>
          <p:cNvCxnSpPr/>
          <p:nvPr/>
        </p:nvCxnSpPr>
        <p:spPr>
          <a:xfrm>
            <a:off x="5299047" y="3804146"/>
            <a:ext cx="89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EE9B779-EC85-4D4F-974F-1232C249D681}"/>
              </a:ext>
            </a:extLst>
          </p:cNvPr>
          <p:cNvCxnSpPr>
            <a:cxnSpLocks/>
          </p:cNvCxnSpPr>
          <p:nvPr/>
        </p:nvCxnSpPr>
        <p:spPr>
          <a:xfrm flipV="1">
            <a:off x="5951092" y="4308960"/>
            <a:ext cx="422384" cy="49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2D23D10-BC9A-4553-9F1C-1D62CB08EA66}"/>
              </a:ext>
            </a:extLst>
          </p:cNvPr>
          <p:cNvCxnSpPr>
            <a:cxnSpLocks/>
          </p:cNvCxnSpPr>
          <p:nvPr/>
        </p:nvCxnSpPr>
        <p:spPr>
          <a:xfrm flipV="1">
            <a:off x="6677195" y="2697121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63A578-0A67-4F01-B5B5-D2013473312C}"/>
              </a:ext>
            </a:extLst>
          </p:cNvPr>
          <p:cNvCxnSpPr>
            <a:cxnSpLocks/>
          </p:cNvCxnSpPr>
          <p:nvPr/>
        </p:nvCxnSpPr>
        <p:spPr>
          <a:xfrm>
            <a:off x="7071958" y="4172344"/>
            <a:ext cx="551053" cy="473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DCF156DA-66A7-46ED-A481-776B48B2CE23}"/>
              </a:ext>
            </a:extLst>
          </p:cNvPr>
          <p:cNvCxnSpPr>
            <a:cxnSpLocks/>
          </p:cNvCxnSpPr>
          <p:nvPr/>
        </p:nvCxnSpPr>
        <p:spPr>
          <a:xfrm>
            <a:off x="6886790" y="4319808"/>
            <a:ext cx="505697" cy="472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Равнобедренный треугольник 16">
            <a:extLst>
              <a:ext uri="{FF2B5EF4-FFF2-40B4-BE49-F238E27FC236}">
                <a16:creationId xmlns:a16="http://schemas.microsoft.com/office/drawing/2014/main" id="{96789E24-C541-4C6B-BE8C-94F9043E7D19}"/>
              </a:ext>
            </a:extLst>
          </p:cNvPr>
          <p:cNvSpPr/>
          <p:nvPr/>
        </p:nvSpPr>
        <p:spPr>
          <a:xfrm>
            <a:off x="7577815" y="1442384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Равнобедренный треугольник 17">
            <a:extLst>
              <a:ext uri="{FF2B5EF4-FFF2-40B4-BE49-F238E27FC236}">
                <a16:creationId xmlns:a16="http://schemas.microsoft.com/office/drawing/2014/main" id="{83B0EA88-C4D9-49ED-A339-FFD6F202A70F}"/>
              </a:ext>
            </a:extLst>
          </p:cNvPr>
          <p:cNvSpPr/>
          <p:nvPr/>
        </p:nvSpPr>
        <p:spPr>
          <a:xfrm rot="10800000">
            <a:off x="7577815" y="4722680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FD464851-4BF9-4C00-83AB-441CCC3344E9}"/>
              </a:ext>
            </a:extLst>
          </p:cNvPr>
          <p:cNvCxnSpPr>
            <a:cxnSpLocks/>
          </p:cNvCxnSpPr>
          <p:nvPr/>
        </p:nvCxnSpPr>
        <p:spPr>
          <a:xfrm flipV="1">
            <a:off x="6947534" y="2702892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FEB00724-3B27-4F3D-A74C-82D264D887EF}"/>
              </a:ext>
            </a:extLst>
          </p:cNvPr>
          <p:cNvCxnSpPr>
            <a:cxnSpLocks/>
          </p:cNvCxnSpPr>
          <p:nvPr/>
        </p:nvCxnSpPr>
        <p:spPr>
          <a:xfrm flipV="1">
            <a:off x="6142711" y="4315805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98C9463-7906-44F1-9946-787D5DD71B03}"/>
              </a:ext>
            </a:extLst>
          </p:cNvPr>
          <p:cNvCxnSpPr>
            <a:cxnSpLocks/>
          </p:cNvCxnSpPr>
          <p:nvPr/>
        </p:nvCxnSpPr>
        <p:spPr>
          <a:xfrm flipH="1" flipV="1">
            <a:off x="5017190" y="4308960"/>
            <a:ext cx="353083" cy="49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851E760C-F11B-428D-9EB6-9F1647078513}"/>
              </a:ext>
            </a:extLst>
          </p:cNvPr>
          <p:cNvCxnSpPr>
            <a:cxnSpLocks/>
          </p:cNvCxnSpPr>
          <p:nvPr/>
        </p:nvCxnSpPr>
        <p:spPr>
          <a:xfrm flipH="1" flipV="1">
            <a:off x="4772928" y="4315807"/>
            <a:ext cx="353870" cy="539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>
            <a:extLst>
              <a:ext uri="{FF2B5EF4-FFF2-40B4-BE49-F238E27FC236}">
                <a16:creationId xmlns:a16="http://schemas.microsoft.com/office/drawing/2014/main" id="{34AA1EE6-014E-45A1-9E1F-A490252603C2}"/>
              </a:ext>
            </a:extLst>
          </p:cNvPr>
          <p:cNvSpPr/>
          <p:nvPr/>
        </p:nvSpPr>
        <p:spPr>
          <a:xfrm>
            <a:off x="5223932" y="4803322"/>
            <a:ext cx="874553" cy="937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ru-RU" sz="225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</a:p>
        </p:txBody>
      </p:sp>
      <p:sp>
        <p:nvSpPr>
          <p:cNvPr id="31" name="Равнобедренный треугольник 30">
            <a:extLst>
              <a:ext uri="{FF2B5EF4-FFF2-40B4-BE49-F238E27FC236}">
                <a16:creationId xmlns:a16="http://schemas.microsoft.com/office/drawing/2014/main" id="{DD6126C5-19E1-4242-A28E-9A1F26A05F57}"/>
              </a:ext>
            </a:extLst>
          </p:cNvPr>
          <p:cNvSpPr/>
          <p:nvPr/>
        </p:nvSpPr>
        <p:spPr>
          <a:xfrm>
            <a:off x="2287507" y="1442383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2" name="Равнобедренный треугольник 31">
            <a:extLst>
              <a:ext uri="{FF2B5EF4-FFF2-40B4-BE49-F238E27FC236}">
                <a16:creationId xmlns:a16="http://schemas.microsoft.com/office/drawing/2014/main" id="{7EAEC4D4-D4E7-4B2B-AF41-5C210A739D4C}"/>
              </a:ext>
            </a:extLst>
          </p:cNvPr>
          <p:cNvSpPr/>
          <p:nvPr/>
        </p:nvSpPr>
        <p:spPr>
          <a:xfrm rot="10800000">
            <a:off x="3237562" y="1442383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835A0578-5866-49DB-8B9B-274D5F8C063D}"/>
              </a:ext>
            </a:extLst>
          </p:cNvPr>
          <p:cNvCxnSpPr/>
          <p:nvPr/>
        </p:nvCxnSpPr>
        <p:spPr>
          <a:xfrm>
            <a:off x="3436690" y="2530854"/>
            <a:ext cx="213920" cy="205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F6ECC0A4-5FED-4870-8671-B80C085FFC36}"/>
              </a:ext>
            </a:extLst>
          </p:cNvPr>
          <p:cNvCxnSpPr/>
          <p:nvPr/>
        </p:nvCxnSpPr>
        <p:spPr>
          <a:xfrm>
            <a:off x="3757570" y="2869302"/>
            <a:ext cx="270545" cy="269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96C4152F-DAF0-426B-A906-0E8FFDDD97A1}"/>
              </a:ext>
            </a:extLst>
          </p:cNvPr>
          <p:cNvCxnSpPr/>
          <p:nvPr/>
        </p:nvCxnSpPr>
        <p:spPr>
          <a:xfrm>
            <a:off x="4116198" y="3238348"/>
            <a:ext cx="213402" cy="190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9F70214B-2DF8-48DB-B30F-5EAAB870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семейной системы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3543040-47BA-46FD-89CB-7D3A67407ED0}"/>
              </a:ext>
            </a:extLst>
          </p:cNvPr>
          <p:cNvCxnSpPr>
            <a:cxnSpLocks/>
          </p:cNvCxnSpPr>
          <p:nvPr/>
        </p:nvCxnSpPr>
        <p:spPr>
          <a:xfrm>
            <a:off x="5252612" y="4166574"/>
            <a:ext cx="1985465" cy="96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24E726DD-15C8-4C22-A493-A6B8AD801F62}"/>
                  </a:ext>
                </a:extLst>
              </p14:cNvPr>
              <p14:cNvContentPartPr/>
              <p14:nvPr/>
            </p14:nvContentPartPr>
            <p14:xfrm>
              <a:off x="6663664" y="4696113"/>
              <a:ext cx="283680" cy="383760"/>
            </p14:xfrm>
          </p:contentPart>
        </mc:Choice>
        <mc:Fallback xmlns=""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24E726DD-15C8-4C22-A493-A6B8AD801F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4664" y="4687113"/>
                <a:ext cx="30132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Рукописный ввод 32">
                <a:extLst>
                  <a:ext uri="{FF2B5EF4-FFF2-40B4-BE49-F238E27FC236}">
                    <a16:creationId xmlns:a16="http://schemas.microsoft.com/office/drawing/2014/main" id="{CE84B771-D331-4584-A89D-9523C576CBF6}"/>
                  </a:ext>
                </a:extLst>
              </p14:cNvPr>
              <p14:cNvContentPartPr/>
              <p14:nvPr/>
            </p14:nvContentPartPr>
            <p14:xfrm>
              <a:off x="6511024" y="4713753"/>
              <a:ext cx="366480" cy="393480"/>
            </p14:xfrm>
          </p:contentPart>
        </mc:Choice>
        <mc:Fallback xmlns="">
          <p:pic>
            <p:nvPicPr>
              <p:cNvPr id="33" name="Рукописный ввод 32">
                <a:extLst>
                  <a:ext uri="{FF2B5EF4-FFF2-40B4-BE49-F238E27FC236}">
                    <a16:creationId xmlns:a16="http://schemas.microsoft.com/office/drawing/2014/main" id="{CE84B771-D331-4584-A89D-9523C576C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2024" y="4704753"/>
                <a:ext cx="384120" cy="4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8782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lnSpc>
                <a:spcPct val="90000"/>
              </a:lnSpc>
              <a:spcBef>
                <a:spcPts val="400"/>
              </a:spcBef>
              <a:defRPr sz="5700">
                <a:solidFill>
                  <a:srgbClr val="000000"/>
                </a:solidFill>
              </a:defRPr>
            </a:lvl1pPr>
          </a:lstStyle>
          <a:p>
            <a:pPr lvl="0">
              <a:defRPr sz="1800">
                <a:effectLst/>
              </a:defRPr>
            </a:pPr>
            <a:r>
              <a:rPr sz="4000" b="1" dirty="0" err="1"/>
              <a:t>Энтропия</a:t>
            </a:r>
            <a:r>
              <a:rPr lang="ru-RU" sz="4000" b="1" dirty="0"/>
              <a:t>   </a:t>
            </a:r>
            <a:r>
              <a:rPr lang="ru-RU" sz="4000" b="1" dirty="0" err="1"/>
              <a:t>Негэнтропия</a:t>
            </a:r>
            <a:r>
              <a:rPr lang="ru-RU" sz="4000" b="1" dirty="0"/>
              <a:t> в системе</a:t>
            </a:r>
            <a:endParaRPr sz="4000" b="1" dirty="0"/>
          </a:p>
        </p:txBody>
      </p:sp>
      <p:sp>
        <p:nvSpPr>
          <p:cNvPr id="193" name="Shape 193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348704" indent="-348704">
              <a:spcBef>
                <a:spcPts val="1406"/>
              </a:spcBef>
              <a:buSzPct val="40000"/>
              <a:buBlip>
                <a:blip r:embed="rId2"/>
              </a:buBlip>
              <a:defRPr sz="1800"/>
            </a:pPr>
            <a:r>
              <a:rPr sz="2000" b="1" dirty="0" err="1">
                <a:ea typeface="Verdana"/>
                <a:cs typeface="Verdana"/>
                <a:sym typeface="Verdana"/>
              </a:rPr>
              <a:t>Энтропия</a:t>
            </a:r>
            <a:r>
              <a:rPr sz="2000" b="1" dirty="0">
                <a:ea typeface="Verdana"/>
                <a:cs typeface="Verdana"/>
                <a:sym typeface="Verdana"/>
              </a:rPr>
              <a:t> (</a:t>
            </a:r>
            <a:r>
              <a:rPr sz="2000" b="1" dirty="0" err="1">
                <a:ea typeface="Verdana"/>
                <a:cs typeface="Verdana"/>
                <a:sym typeface="Verdana"/>
              </a:rPr>
              <a:t>нестабильности</a:t>
            </a:r>
            <a:r>
              <a:rPr sz="2000" b="1" dirty="0">
                <a:ea typeface="Verdana"/>
                <a:cs typeface="Verdana"/>
                <a:sym typeface="Verdana"/>
              </a:rPr>
              <a:t>) </a:t>
            </a:r>
            <a:r>
              <a:rPr sz="2000" dirty="0">
                <a:ea typeface="Verdana"/>
                <a:cs typeface="Verdana"/>
                <a:sym typeface="Verdana"/>
              </a:rPr>
              <a:t>- </a:t>
            </a:r>
            <a:r>
              <a:rPr sz="2000" dirty="0" err="1">
                <a:ea typeface="Verdana"/>
                <a:cs typeface="Verdana"/>
                <a:sym typeface="Verdana"/>
              </a:rPr>
              <a:t>от</a:t>
            </a:r>
            <a:r>
              <a:rPr sz="2000" dirty="0">
                <a:ea typeface="Verdana"/>
                <a:cs typeface="Verdana"/>
                <a:sym typeface="Verdana"/>
              </a:rPr>
              <a:t> </a:t>
            </a:r>
            <a:r>
              <a:rPr sz="2000" dirty="0" err="1">
                <a:ea typeface="Verdana"/>
                <a:cs typeface="Verdana"/>
                <a:sym typeface="Verdana"/>
              </a:rPr>
              <a:t>др</a:t>
            </a:r>
            <a:r>
              <a:rPr sz="2000" dirty="0">
                <a:ea typeface="Verdana"/>
                <a:cs typeface="Verdana"/>
                <a:sym typeface="Verdana"/>
              </a:rPr>
              <a:t>.-</a:t>
            </a:r>
            <a:r>
              <a:rPr sz="2000" dirty="0" err="1">
                <a:ea typeface="Verdana"/>
                <a:cs typeface="Verdana"/>
                <a:sym typeface="Verdana"/>
              </a:rPr>
              <a:t>греч</a:t>
            </a:r>
            <a:r>
              <a:rPr sz="2000" dirty="0">
                <a:ea typeface="Verdana"/>
                <a:cs typeface="Verdana"/>
                <a:sym typeface="Verdana"/>
              </a:rPr>
              <a:t>. </a:t>
            </a:r>
            <a:r>
              <a:rPr sz="2000" dirty="0" err="1">
                <a:ea typeface="Verdana"/>
                <a:cs typeface="Verdana"/>
                <a:sym typeface="Verdana"/>
              </a:rPr>
              <a:t>ἐντρο</a:t>
            </a:r>
            <a:r>
              <a:rPr sz="2000" dirty="0">
                <a:ea typeface="Verdana"/>
                <a:cs typeface="Verdana"/>
                <a:sym typeface="Verdana"/>
              </a:rPr>
              <a:t>πία — поворот, превращение) –  самопроизвольно протекающие процессы движутся в сторону увеличения хаоса.</a:t>
            </a:r>
          </a:p>
          <a:p>
            <a:pPr marL="348704" indent="-348704">
              <a:spcBef>
                <a:spcPts val="1406"/>
              </a:spcBef>
              <a:buSzPct val="40000"/>
              <a:buBlip>
                <a:blip r:embed="rId2"/>
              </a:buBlip>
              <a:defRPr sz="1800"/>
            </a:pPr>
            <a:r>
              <a:rPr sz="2000" b="1" dirty="0" err="1">
                <a:ea typeface="Verdana"/>
                <a:cs typeface="Verdana"/>
                <a:sym typeface="Verdana"/>
              </a:rPr>
              <a:t>Негэнтропия</a:t>
            </a:r>
            <a:r>
              <a:rPr sz="2000" b="1" dirty="0">
                <a:ea typeface="Verdana"/>
                <a:cs typeface="Verdana"/>
                <a:sym typeface="Verdana"/>
              </a:rPr>
              <a:t> (</a:t>
            </a:r>
            <a:r>
              <a:rPr sz="2000" b="1" dirty="0" err="1">
                <a:ea typeface="Verdana"/>
                <a:cs typeface="Verdana"/>
                <a:sym typeface="Verdana"/>
              </a:rPr>
              <a:t>показатель</a:t>
            </a:r>
            <a:r>
              <a:rPr sz="2000" b="1" dirty="0">
                <a:ea typeface="Verdana"/>
                <a:cs typeface="Verdana"/>
                <a:sym typeface="Verdana"/>
              </a:rPr>
              <a:t> </a:t>
            </a:r>
            <a:r>
              <a:rPr sz="2000" b="1" dirty="0" err="1">
                <a:ea typeface="Verdana"/>
                <a:cs typeface="Verdana"/>
                <a:sym typeface="Verdana"/>
              </a:rPr>
              <a:t>стабильности</a:t>
            </a:r>
            <a:r>
              <a:rPr sz="2000" b="1" dirty="0">
                <a:ea typeface="Verdana"/>
                <a:cs typeface="Verdana"/>
                <a:sym typeface="Verdana"/>
              </a:rPr>
              <a:t>, </a:t>
            </a:r>
            <a:r>
              <a:rPr sz="2000" b="1" dirty="0" err="1">
                <a:ea typeface="Verdana"/>
                <a:cs typeface="Verdana"/>
                <a:sym typeface="Verdana"/>
              </a:rPr>
              <a:t>пришедший</a:t>
            </a:r>
            <a:r>
              <a:rPr sz="2000" b="1" dirty="0">
                <a:ea typeface="Verdana"/>
                <a:cs typeface="Verdana"/>
                <a:sym typeface="Verdana"/>
              </a:rPr>
              <a:t> </a:t>
            </a:r>
            <a:r>
              <a:rPr sz="2000" b="1" dirty="0" err="1">
                <a:ea typeface="Verdana"/>
                <a:cs typeface="Verdana"/>
                <a:sym typeface="Verdana"/>
              </a:rPr>
              <a:t>из</a:t>
            </a:r>
            <a:r>
              <a:rPr sz="2000" b="1" dirty="0">
                <a:ea typeface="Verdana"/>
                <a:cs typeface="Verdana"/>
                <a:sym typeface="Verdana"/>
              </a:rPr>
              <a:t> </a:t>
            </a:r>
            <a:r>
              <a:rPr sz="2000" b="1" dirty="0" err="1">
                <a:ea typeface="Verdana"/>
                <a:cs typeface="Verdana"/>
                <a:sym typeface="Verdana"/>
              </a:rPr>
              <a:t>философии</a:t>
            </a:r>
            <a:r>
              <a:rPr sz="2000" b="1" dirty="0">
                <a:ea typeface="Verdana"/>
                <a:cs typeface="Verdana"/>
                <a:sym typeface="Verdana"/>
              </a:rPr>
              <a:t>)</a:t>
            </a:r>
            <a:r>
              <a:rPr lang="ru-RU" sz="2000" b="1" dirty="0">
                <a:ea typeface="Verdana"/>
                <a:cs typeface="Verdana"/>
                <a:sym typeface="Verdana"/>
              </a:rPr>
              <a:t> </a:t>
            </a:r>
            <a:r>
              <a:rPr sz="2000" b="1" dirty="0">
                <a:ea typeface="Verdana"/>
                <a:cs typeface="Verdana"/>
                <a:sym typeface="Verdana"/>
              </a:rPr>
              <a:t>- </a:t>
            </a:r>
            <a:r>
              <a:rPr sz="2000" dirty="0" err="1">
                <a:ea typeface="Verdana"/>
                <a:cs typeface="Verdana"/>
                <a:sym typeface="Verdana"/>
              </a:rPr>
              <a:t>показатель</a:t>
            </a:r>
            <a:r>
              <a:rPr sz="2000" dirty="0">
                <a:ea typeface="Verdana"/>
                <a:cs typeface="Verdana"/>
                <a:sym typeface="Verdana"/>
              </a:rPr>
              <a:t> </a:t>
            </a:r>
            <a:r>
              <a:rPr sz="2000" dirty="0" err="1">
                <a:ea typeface="Verdana"/>
                <a:cs typeface="Verdana"/>
                <a:sym typeface="Verdana"/>
              </a:rPr>
              <a:t>упорядоченности</a:t>
            </a:r>
            <a:r>
              <a:rPr sz="2000" dirty="0">
                <a:ea typeface="Verdana"/>
                <a:cs typeface="Verdana"/>
                <a:sym typeface="Verdana"/>
              </a:rPr>
              <a:t>, </a:t>
            </a:r>
            <a:r>
              <a:rPr sz="2000" dirty="0" err="1">
                <a:ea typeface="Verdana"/>
                <a:cs typeface="Verdana"/>
                <a:sym typeface="Verdana"/>
              </a:rPr>
              <a:t>демонстирирует</a:t>
            </a:r>
            <a:r>
              <a:rPr sz="2000" dirty="0">
                <a:ea typeface="Verdana"/>
                <a:cs typeface="Verdana"/>
                <a:sym typeface="Verdana"/>
              </a:rPr>
              <a:t> </a:t>
            </a:r>
            <a:r>
              <a:rPr sz="2000" dirty="0" err="1">
                <a:ea typeface="Verdana"/>
                <a:cs typeface="Verdana"/>
                <a:sym typeface="Verdana"/>
              </a:rPr>
              <a:t>меру</a:t>
            </a:r>
            <a:r>
              <a:rPr sz="2000" dirty="0">
                <a:ea typeface="Verdana"/>
                <a:cs typeface="Verdana"/>
                <a:sym typeface="Verdana"/>
              </a:rPr>
              <a:t> </a:t>
            </a:r>
            <a:r>
              <a:rPr sz="2000" dirty="0" err="1">
                <a:ea typeface="Verdana"/>
                <a:cs typeface="Verdana"/>
                <a:sym typeface="Verdana"/>
              </a:rPr>
              <a:t>упорядоченности</a:t>
            </a:r>
            <a:r>
              <a:rPr sz="2000" dirty="0">
                <a:ea typeface="Verdana"/>
                <a:cs typeface="Verdana"/>
                <a:sym typeface="Verdana"/>
              </a:rPr>
              <a:t> и </a:t>
            </a:r>
            <a:r>
              <a:rPr sz="2000" dirty="0" err="1">
                <a:ea typeface="Verdana"/>
                <a:cs typeface="Verdana"/>
                <a:sym typeface="Verdana"/>
              </a:rPr>
              <a:t>организованности</a:t>
            </a:r>
            <a:r>
              <a:rPr sz="2000" dirty="0">
                <a:ea typeface="Verdana"/>
                <a:cs typeface="Verdana"/>
                <a:sym typeface="Verdana"/>
              </a:rPr>
              <a:t> </a:t>
            </a:r>
            <a:r>
              <a:rPr sz="2000" dirty="0" err="1">
                <a:ea typeface="Verdana"/>
                <a:cs typeface="Verdana"/>
                <a:sym typeface="Verdana"/>
              </a:rPr>
              <a:t>системы</a:t>
            </a:r>
            <a:r>
              <a:rPr lang="ru-RU" sz="2000" dirty="0">
                <a:ea typeface="Verdana"/>
                <a:cs typeface="Verdana"/>
                <a:sym typeface="Verdana"/>
              </a:rPr>
              <a:t>. </a:t>
            </a:r>
            <a:endParaRPr sz="2000" dirty="0">
              <a:ea typeface="Verdana"/>
              <a:cs typeface="Verdana"/>
              <a:sym typeface="Verdana"/>
            </a:endParaRP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723FBD3B-5B86-40B0-9F75-514460D3BF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Консультант может определить для себя уровень «энтропии» в семейной системе: </a:t>
            </a:r>
          </a:p>
          <a:p>
            <a:r>
              <a:rPr lang="ru-RU" dirty="0"/>
              <a:t>Есть ли семейные традиции? Кто устанавливал, все ли следуют?</a:t>
            </a:r>
          </a:p>
          <a:p>
            <a:r>
              <a:rPr lang="ru-RU" dirty="0"/>
              <a:t>Есть ли правила в семье? Они озвучены, или интуитивно существуют? И пр. 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701A6-7629-4148-A140-534E6302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3826768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Разрушение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2C9FEC-7188-4B44-ABDA-89DF5AB95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9622" y="1771059"/>
            <a:ext cx="4786489" cy="3017309"/>
          </a:xfrm>
        </p:spPr>
        <p:txBody>
          <a:bodyPr>
            <a:normAutofit fontScale="62500" lnSpcReduction="20000"/>
          </a:bodyPr>
          <a:lstStyle/>
          <a:p>
            <a:pPr defTabSz="321457">
              <a:spcBef>
                <a:spcPts val="0"/>
              </a:spcBef>
              <a:buSzPct val="40000"/>
              <a:defRPr sz="1800"/>
            </a:pPr>
            <a:r>
              <a:rPr lang="ru-RU" sz="4000" dirty="0"/>
              <a:t>Значительное усиление внешних влияний  и изменение силы внутренних связей в системе. </a:t>
            </a:r>
          </a:p>
          <a:p>
            <a:pPr defTabSz="321457">
              <a:spcBef>
                <a:spcPts val="0"/>
              </a:spcBef>
              <a:buSzPct val="40000"/>
              <a:defRPr sz="1800"/>
            </a:pPr>
            <a:endParaRPr lang="ru-RU" sz="4000" dirty="0"/>
          </a:p>
          <a:p>
            <a:pPr defTabSz="321457">
              <a:spcBef>
                <a:spcPts val="0"/>
              </a:spcBef>
              <a:buSzPct val="40000"/>
              <a:defRPr sz="1800"/>
            </a:pPr>
            <a:endParaRPr lang="ru-RU" sz="2800" dirty="0">
              <a:latin typeface="Arial"/>
              <a:ea typeface="Arial"/>
              <a:cs typeface="Arial"/>
              <a:sym typeface="Arial"/>
            </a:endParaRPr>
          </a:p>
          <a:p>
            <a:pPr defTabSz="321457">
              <a:spcBef>
                <a:spcPts val="0"/>
              </a:spcBef>
              <a:buSzPct val="40000"/>
              <a:defRPr sz="1800"/>
            </a:pPr>
            <a:r>
              <a:rPr lang="ru-RU" sz="2800" b="1" dirty="0">
                <a:latin typeface="Arial"/>
                <a:ea typeface="Arial"/>
                <a:cs typeface="Arial"/>
                <a:sym typeface="Arial"/>
              </a:rPr>
              <a:t>Варианты разрушения систем.</a:t>
            </a:r>
          </a:p>
          <a:p>
            <a:pPr defTabSz="321457">
              <a:spcBef>
                <a:spcPts val="0"/>
              </a:spcBef>
              <a:buSzPct val="40000"/>
              <a:defRPr sz="1800"/>
            </a:pPr>
            <a:endParaRPr lang="ru-RU" sz="2800" dirty="0">
              <a:latin typeface="Arial"/>
              <a:ea typeface="Arial"/>
              <a:cs typeface="Arial"/>
              <a:sym typeface="Arial"/>
            </a:endParaRPr>
          </a:p>
          <a:p>
            <a:pPr defTabSz="321457">
              <a:spcBef>
                <a:spcPts val="0"/>
              </a:spcBef>
              <a:buSzPct val="40000"/>
              <a:defRPr sz="1800"/>
            </a:pPr>
            <a:r>
              <a:rPr lang="ru-RU" sz="2800" dirty="0">
                <a:latin typeface="Arial"/>
                <a:ea typeface="Arial"/>
                <a:cs typeface="Arial"/>
                <a:sym typeface="Arial"/>
              </a:rPr>
              <a:t>КРИЗИС </a:t>
            </a:r>
          </a:p>
          <a:p>
            <a:pPr defTabSz="321457">
              <a:spcBef>
                <a:spcPts val="0"/>
              </a:spcBef>
              <a:buSzPct val="40000"/>
              <a:defRPr sz="1800"/>
            </a:pPr>
            <a:r>
              <a:rPr lang="ru-RU" sz="2800" dirty="0"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defTabSz="321457">
              <a:spcBef>
                <a:spcPts val="0"/>
              </a:spcBef>
              <a:buSzPct val="40000"/>
              <a:defRPr sz="1800"/>
            </a:pPr>
            <a:r>
              <a:rPr lang="ru-RU" sz="2800" dirty="0">
                <a:latin typeface="Arial"/>
                <a:ea typeface="Arial"/>
                <a:cs typeface="Arial"/>
                <a:sym typeface="Arial"/>
              </a:rPr>
              <a:t>ЛИЗИС (постепенное разрушение)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24D879-BC34-4E5A-87EB-DC7AFF44E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692697"/>
            <a:ext cx="4316288" cy="5174035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Примеры внешних влияний на семейную систему.</a:t>
            </a:r>
          </a:p>
          <a:p>
            <a:r>
              <a:rPr lang="ru-RU" dirty="0"/>
              <a:t>Родственники, выключенные из семейной системы.</a:t>
            </a:r>
          </a:p>
          <a:p>
            <a:r>
              <a:rPr lang="ru-RU" dirty="0"/>
              <a:t>Необходимость переезда одного из членов семьи</a:t>
            </a:r>
          </a:p>
          <a:p>
            <a:r>
              <a:rPr lang="ru-RU" dirty="0"/>
              <a:t>Болезнь одного из членов семьи. </a:t>
            </a:r>
          </a:p>
          <a:p>
            <a:r>
              <a:rPr lang="ru-RU" dirty="0"/>
              <a:t>Кто-то на стороне. </a:t>
            </a:r>
          </a:p>
          <a:p>
            <a:r>
              <a:rPr lang="ru-RU" b="1" dirty="0"/>
              <a:t>Изменение силы внутренних связей в том числе через появление </a:t>
            </a:r>
            <a:r>
              <a:rPr lang="ru-RU" sz="4500" b="1" dirty="0"/>
              <a:t>нездоровых коалиций. </a:t>
            </a:r>
          </a:p>
          <a:p>
            <a:endParaRPr lang="ru-RU" b="1" dirty="0"/>
          </a:p>
          <a:p>
            <a:r>
              <a:rPr lang="ru-RU" b="1" dirty="0"/>
              <a:t>КРИЗИС: развод, разрыв отношений с детьми.</a:t>
            </a:r>
          </a:p>
          <a:p>
            <a:r>
              <a:rPr lang="ru-RU" b="1" dirty="0"/>
              <a:t>ЛИЗИС : эмоциональный развод, постепенная деградация одного или нескольких членов семьи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8D3081A4-6E9D-4273-B5EA-E0CCF352ACEB}"/>
                  </a:ext>
                </a:extLst>
              </p14:cNvPr>
              <p14:cNvContentPartPr/>
              <p14:nvPr/>
            </p14:nvContentPartPr>
            <p14:xfrm>
              <a:off x="6495184" y="3399393"/>
              <a:ext cx="360" cy="3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8D3081A4-6E9D-4273-B5EA-E0CCF352AC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86184" y="33903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D3D2B150-5F13-46B9-9782-A070093D5784}"/>
                  </a:ext>
                </a:extLst>
              </p14:cNvPr>
              <p14:cNvContentPartPr/>
              <p14:nvPr/>
            </p14:nvContentPartPr>
            <p14:xfrm>
              <a:off x="-1536176" y="1331553"/>
              <a:ext cx="360" cy="3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D3D2B150-5F13-46B9-9782-A070093D57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45176" y="13225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28E4339A-326A-46A8-82C9-77B57184FDF0}"/>
                  </a:ext>
                </a:extLst>
              </p14:cNvPr>
              <p14:cNvContentPartPr/>
              <p14:nvPr/>
            </p14:nvContentPartPr>
            <p14:xfrm>
              <a:off x="-1314056" y="2831673"/>
              <a:ext cx="360" cy="3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28E4339A-326A-46A8-82C9-77B57184FD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323056" y="28226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1C27F3AF-03B3-45D5-A978-BF0F79E44F09}"/>
                  </a:ext>
                </a:extLst>
              </p14:cNvPr>
              <p14:cNvContentPartPr/>
              <p14:nvPr/>
            </p14:nvContentPartPr>
            <p14:xfrm>
              <a:off x="-1314056" y="2831673"/>
              <a:ext cx="360" cy="36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1C27F3AF-03B3-45D5-A978-BF0F79E44F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323056" y="28226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9C9A3C99-FEFC-4F1A-8C92-B2EDE5B3A02B}"/>
                  </a:ext>
                </a:extLst>
              </p14:cNvPr>
              <p14:cNvContentPartPr/>
              <p14:nvPr/>
            </p14:nvContentPartPr>
            <p14:xfrm>
              <a:off x="-1438616" y="834033"/>
              <a:ext cx="360" cy="360"/>
            </p14:xfrm>
          </p:contentPart>
        </mc:Choice>
        <mc:Fallback xmlns=""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9C9A3C99-FEFC-4F1A-8C92-B2EDE5B3A0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47616" y="82503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5340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500EE-371E-4F01-822A-66E71A5C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239" y="274638"/>
            <a:ext cx="7202750" cy="1143000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коалиции?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F2D207-531B-4200-B0CB-B642A4ABF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3701008"/>
          </a:xfrm>
        </p:spPr>
        <p:txBody>
          <a:bodyPr>
            <a:normAutofit fontScale="85000" lnSpcReduction="2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Коалиции представляют собой формы союзов, альянсов или группировок, которые образуются между членами семьи.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Они могут быть явными или скрытыми и часто возникают как реакция на конфликты или динамические изменения в семье.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Коалиции могут формироваться между разными членами семьи, включая родителей, детей и даже других родственников.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Они могут быть временными или стойкими, конструктивными или деструктивными.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1925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A15E5-6A26-400B-B422-14B4FDCB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B8FFDD-7DA6-4C54-9900-702BD509E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Как коалиции формируются внутри семейных систем?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Формирование коалиций обычно связано с попыткой членов семьи разрешить конфликты, удовлетворить свои потребности или изменить динамику в семье. Вот некоторые типичные сценарии:</a:t>
            </a: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Вертикальные коалиции</a:t>
            </a: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Горизонтальные коалиции</a:t>
            </a: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Гендерные коалиции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9002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76862E6-33A0-4329-86DB-F67AE6B82E44}"/>
              </a:ext>
            </a:extLst>
          </p:cNvPr>
          <p:cNvSpPr/>
          <p:nvPr/>
        </p:nvSpPr>
        <p:spPr>
          <a:xfrm>
            <a:off x="2143739" y="1719219"/>
            <a:ext cx="2126609" cy="74871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ПАПА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96119A3-3092-4B7D-9811-49A6CEEB7D6A}"/>
              </a:ext>
            </a:extLst>
          </p:cNvPr>
          <p:cNvSpPr/>
          <p:nvPr/>
        </p:nvSpPr>
        <p:spPr>
          <a:xfrm>
            <a:off x="5557009" y="1725772"/>
            <a:ext cx="2126609" cy="74871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МАМА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EE62AF97-6046-4F73-B76B-68FBD5773047}"/>
              </a:ext>
            </a:extLst>
          </p:cNvPr>
          <p:cNvCxnSpPr>
            <a:cxnSpLocks/>
          </p:cNvCxnSpPr>
          <p:nvPr/>
        </p:nvCxnSpPr>
        <p:spPr>
          <a:xfrm>
            <a:off x="7683616" y="2669273"/>
            <a:ext cx="665876" cy="598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6BA287-8295-46CB-BC80-A41CF6E3E997}"/>
              </a:ext>
            </a:extLst>
          </p:cNvPr>
          <p:cNvCxnSpPr>
            <a:cxnSpLocks/>
          </p:cNvCxnSpPr>
          <p:nvPr/>
        </p:nvCxnSpPr>
        <p:spPr>
          <a:xfrm>
            <a:off x="7533664" y="2789865"/>
            <a:ext cx="665876" cy="598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>
            <a:extLst>
              <a:ext uri="{FF2B5EF4-FFF2-40B4-BE49-F238E27FC236}">
                <a16:creationId xmlns:a16="http://schemas.microsoft.com/office/drawing/2014/main" id="{F40C0ED2-D0F2-4D9B-A023-94113C744D67}"/>
              </a:ext>
            </a:extLst>
          </p:cNvPr>
          <p:cNvSpPr/>
          <p:nvPr/>
        </p:nvSpPr>
        <p:spPr>
          <a:xfrm>
            <a:off x="8199540" y="3429001"/>
            <a:ext cx="1264640" cy="1152962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Бм</a:t>
            </a:r>
            <a:endParaRPr lang="ru-RU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83AC5DF-4909-44C7-83DD-C86D8AD5AEE4}"/>
              </a:ext>
            </a:extLst>
          </p:cNvPr>
          <p:cNvSpPr/>
          <p:nvPr/>
        </p:nvSpPr>
        <p:spPr>
          <a:xfrm>
            <a:off x="5934513" y="3921330"/>
            <a:ext cx="1063304" cy="95634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430F0B1-994A-42B2-9706-58926086121E}"/>
              </a:ext>
            </a:extLst>
          </p:cNvPr>
          <p:cNvSpPr/>
          <p:nvPr/>
        </p:nvSpPr>
        <p:spPr>
          <a:xfrm>
            <a:off x="3738695" y="3921330"/>
            <a:ext cx="1063304" cy="95634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9897C34-6D97-4E41-ABB9-4C77BF29EC09}"/>
              </a:ext>
            </a:extLst>
          </p:cNvPr>
          <p:cNvCxnSpPr/>
          <p:nvPr/>
        </p:nvCxnSpPr>
        <p:spPr>
          <a:xfrm>
            <a:off x="4301282" y="2529281"/>
            <a:ext cx="1613832" cy="136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9F130CB-6A2E-4EB9-AD2E-42803AE793A6}"/>
              </a:ext>
            </a:extLst>
          </p:cNvPr>
          <p:cNvCxnSpPr>
            <a:cxnSpLocks/>
          </p:cNvCxnSpPr>
          <p:nvPr/>
        </p:nvCxnSpPr>
        <p:spPr>
          <a:xfrm>
            <a:off x="6466164" y="2635453"/>
            <a:ext cx="0" cy="1152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46D9AC7E-8C04-4D3A-B839-F5AFB25C0372}"/>
              </a:ext>
            </a:extLst>
          </p:cNvPr>
          <p:cNvCxnSpPr>
            <a:cxnSpLocks/>
          </p:cNvCxnSpPr>
          <p:nvPr/>
        </p:nvCxnSpPr>
        <p:spPr>
          <a:xfrm flipH="1">
            <a:off x="4864393" y="2669273"/>
            <a:ext cx="844142" cy="1119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6064783-694F-451F-91FA-492D2E9B44FC}"/>
              </a:ext>
            </a:extLst>
          </p:cNvPr>
          <p:cNvCxnSpPr>
            <a:cxnSpLocks/>
          </p:cNvCxnSpPr>
          <p:nvPr/>
        </p:nvCxnSpPr>
        <p:spPr>
          <a:xfrm flipH="1">
            <a:off x="4653100" y="2627588"/>
            <a:ext cx="814253" cy="1075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ED00F99-FF20-477F-AB27-64E2B6A9F275}"/>
              </a:ext>
            </a:extLst>
          </p:cNvPr>
          <p:cNvCxnSpPr/>
          <p:nvPr/>
        </p:nvCxnSpPr>
        <p:spPr>
          <a:xfrm>
            <a:off x="4348994" y="2093578"/>
            <a:ext cx="182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06B85D8B-C660-48FA-8109-3CF9483EF458}"/>
              </a:ext>
            </a:extLst>
          </p:cNvPr>
          <p:cNvCxnSpPr/>
          <p:nvPr/>
        </p:nvCxnSpPr>
        <p:spPr>
          <a:xfrm>
            <a:off x="4619539" y="2100131"/>
            <a:ext cx="182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DE700B89-2B59-4285-9314-7D6E39BAA1B4}"/>
              </a:ext>
            </a:extLst>
          </p:cNvPr>
          <p:cNvCxnSpPr/>
          <p:nvPr/>
        </p:nvCxnSpPr>
        <p:spPr>
          <a:xfrm>
            <a:off x="4877765" y="2100131"/>
            <a:ext cx="182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C40D72EF-00F8-43F4-96C8-9FACE7844582}"/>
              </a:ext>
            </a:extLst>
          </p:cNvPr>
          <p:cNvCxnSpPr/>
          <p:nvPr/>
        </p:nvCxnSpPr>
        <p:spPr>
          <a:xfrm>
            <a:off x="5108199" y="2100131"/>
            <a:ext cx="182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75422BCE-A0B8-42AC-B113-C67B2D796176}"/>
              </a:ext>
            </a:extLst>
          </p:cNvPr>
          <p:cNvCxnSpPr>
            <a:cxnSpLocks/>
          </p:cNvCxnSpPr>
          <p:nvPr/>
        </p:nvCxnSpPr>
        <p:spPr>
          <a:xfrm>
            <a:off x="3670535" y="2627588"/>
            <a:ext cx="68161" cy="16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73BAEC1-6E6E-4947-ABED-4BBBA922FCAD}"/>
              </a:ext>
            </a:extLst>
          </p:cNvPr>
          <p:cNvCxnSpPr>
            <a:cxnSpLocks/>
          </p:cNvCxnSpPr>
          <p:nvPr/>
        </p:nvCxnSpPr>
        <p:spPr>
          <a:xfrm>
            <a:off x="3762814" y="2855533"/>
            <a:ext cx="68161" cy="16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A151C13-14DD-4C21-A66D-D4456FAED1BC}"/>
              </a:ext>
            </a:extLst>
          </p:cNvPr>
          <p:cNvCxnSpPr>
            <a:cxnSpLocks/>
          </p:cNvCxnSpPr>
          <p:nvPr/>
        </p:nvCxnSpPr>
        <p:spPr>
          <a:xfrm>
            <a:off x="3855094" y="3089246"/>
            <a:ext cx="68161" cy="16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49C7175C-975B-43C9-9CFB-8169C5A6C8DC}"/>
              </a:ext>
            </a:extLst>
          </p:cNvPr>
          <p:cNvCxnSpPr>
            <a:cxnSpLocks/>
          </p:cNvCxnSpPr>
          <p:nvPr/>
        </p:nvCxnSpPr>
        <p:spPr>
          <a:xfrm>
            <a:off x="3957597" y="3347862"/>
            <a:ext cx="68161" cy="16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F0821B36-D40D-4245-A576-0C4A7BE06E39}"/>
              </a:ext>
            </a:extLst>
          </p:cNvPr>
          <p:cNvCxnSpPr>
            <a:cxnSpLocks/>
          </p:cNvCxnSpPr>
          <p:nvPr/>
        </p:nvCxnSpPr>
        <p:spPr>
          <a:xfrm>
            <a:off x="4054987" y="3600516"/>
            <a:ext cx="68161" cy="16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817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AA096AB6-FC74-4412-8E5B-8C93983C314F}"/>
              </a:ext>
            </a:extLst>
          </p:cNvPr>
          <p:cNvSpPr/>
          <p:nvPr/>
        </p:nvSpPr>
        <p:spPr>
          <a:xfrm>
            <a:off x="4329601" y="3357432"/>
            <a:ext cx="874553" cy="8934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0075E77-E59F-4743-BFAF-953B50B94AAE}"/>
              </a:ext>
            </a:extLst>
          </p:cNvPr>
          <p:cNvSpPr/>
          <p:nvPr/>
        </p:nvSpPr>
        <p:spPr>
          <a:xfrm>
            <a:off x="6332703" y="3315749"/>
            <a:ext cx="874553" cy="937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ru-RU" sz="225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661D8BB-0389-4E08-A1AD-4763541261B6}"/>
              </a:ext>
            </a:extLst>
          </p:cNvPr>
          <p:cNvCxnSpPr>
            <a:cxnSpLocks/>
          </p:cNvCxnSpPr>
          <p:nvPr/>
        </p:nvCxnSpPr>
        <p:spPr>
          <a:xfrm flipV="1">
            <a:off x="7201332" y="2736905"/>
            <a:ext cx="435732" cy="502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0C003B1-266A-4758-9186-1226C594E1BF}"/>
              </a:ext>
            </a:extLst>
          </p:cNvPr>
          <p:cNvCxnSpPr/>
          <p:nvPr/>
        </p:nvCxnSpPr>
        <p:spPr>
          <a:xfrm>
            <a:off x="5299047" y="3804146"/>
            <a:ext cx="89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EE9B779-EC85-4D4F-974F-1232C249D681}"/>
              </a:ext>
            </a:extLst>
          </p:cNvPr>
          <p:cNvCxnSpPr>
            <a:cxnSpLocks/>
          </p:cNvCxnSpPr>
          <p:nvPr/>
        </p:nvCxnSpPr>
        <p:spPr>
          <a:xfrm flipV="1">
            <a:off x="5951092" y="4308960"/>
            <a:ext cx="422384" cy="49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2D23D10-BC9A-4553-9F1C-1D62CB08EA66}"/>
              </a:ext>
            </a:extLst>
          </p:cNvPr>
          <p:cNvCxnSpPr>
            <a:cxnSpLocks/>
          </p:cNvCxnSpPr>
          <p:nvPr/>
        </p:nvCxnSpPr>
        <p:spPr>
          <a:xfrm flipV="1">
            <a:off x="6677195" y="2697121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63A578-0A67-4F01-B5B5-D2013473312C}"/>
              </a:ext>
            </a:extLst>
          </p:cNvPr>
          <p:cNvCxnSpPr>
            <a:cxnSpLocks/>
          </p:cNvCxnSpPr>
          <p:nvPr/>
        </p:nvCxnSpPr>
        <p:spPr>
          <a:xfrm>
            <a:off x="7071958" y="4172344"/>
            <a:ext cx="551053" cy="473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DCF156DA-66A7-46ED-A481-776B48B2CE23}"/>
              </a:ext>
            </a:extLst>
          </p:cNvPr>
          <p:cNvCxnSpPr>
            <a:cxnSpLocks/>
          </p:cNvCxnSpPr>
          <p:nvPr/>
        </p:nvCxnSpPr>
        <p:spPr>
          <a:xfrm>
            <a:off x="6886790" y="4319808"/>
            <a:ext cx="505697" cy="472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Равнобедренный треугольник 16">
            <a:extLst>
              <a:ext uri="{FF2B5EF4-FFF2-40B4-BE49-F238E27FC236}">
                <a16:creationId xmlns:a16="http://schemas.microsoft.com/office/drawing/2014/main" id="{96789E24-C541-4C6B-BE8C-94F9043E7D19}"/>
              </a:ext>
            </a:extLst>
          </p:cNvPr>
          <p:cNvSpPr/>
          <p:nvPr/>
        </p:nvSpPr>
        <p:spPr>
          <a:xfrm>
            <a:off x="7577815" y="1442384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Равнобедренный треугольник 17">
            <a:extLst>
              <a:ext uri="{FF2B5EF4-FFF2-40B4-BE49-F238E27FC236}">
                <a16:creationId xmlns:a16="http://schemas.microsoft.com/office/drawing/2014/main" id="{83B0EA88-C4D9-49ED-A339-FFD6F202A70F}"/>
              </a:ext>
            </a:extLst>
          </p:cNvPr>
          <p:cNvSpPr/>
          <p:nvPr/>
        </p:nvSpPr>
        <p:spPr>
          <a:xfrm rot="10800000">
            <a:off x="7577815" y="4722680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FD464851-4BF9-4C00-83AB-441CCC3344E9}"/>
              </a:ext>
            </a:extLst>
          </p:cNvPr>
          <p:cNvCxnSpPr>
            <a:cxnSpLocks/>
          </p:cNvCxnSpPr>
          <p:nvPr/>
        </p:nvCxnSpPr>
        <p:spPr>
          <a:xfrm flipV="1">
            <a:off x="6947534" y="2702892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FEB00724-3B27-4F3D-A74C-82D264D887EF}"/>
              </a:ext>
            </a:extLst>
          </p:cNvPr>
          <p:cNvCxnSpPr>
            <a:cxnSpLocks/>
          </p:cNvCxnSpPr>
          <p:nvPr/>
        </p:nvCxnSpPr>
        <p:spPr>
          <a:xfrm flipV="1">
            <a:off x="6142711" y="4315805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98C9463-7906-44F1-9946-787D5DD71B03}"/>
              </a:ext>
            </a:extLst>
          </p:cNvPr>
          <p:cNvCxnSpPr>
            <a:cxnSpLocks/>
          </p:cNvCxnSpPr>
          <p:nvPr/>
        </p:nvCxnSpPr>
        <p:spPr>
          <a:xfrm flipH="1" flipV="1">
            <a:off x="5017190" y="4308960"/>
            <a:ext cx="353083" cy="49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851E760C-F11B-428D-9EB6-9F1647078513}"/>
              </a:ext>
            </a:extLst>
          </p:cNvPr>
          <p:cNvCxnSpPr>
            <a:cxnSpLocks/>
          </p:cNvCxnSpPr>
          <p:nvPr/>
        </p:nvCxnSpPr>
        <p:spPr>
          <a:xfrm flipH="1" flipV="1">
            <a:off x="4772928" y="4315807"/>
            <a:ext cx="353870" cy="539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>
            <a:extLst>
              <a:ext uri="{FF2B5EF4-FFF2-40B4-BE49-F238E27FC236}">
                <a16:creationId xmlns:a16="http://schemas.microsoft.com/office/drawing/2014/main" id="{34AA1EE6-014E-45A1-9E1F-A490252603C2}"/>
              </a:ext>
            </a:extLst>
          </p:cNvPr>
          <p:cNvSpPr/>
          <p:nvPr/>
        </p:nvSpPr>
        <p:spPr>
          <a:xfrm>
            <a:off x="5223932" y="4803322"/>
            <a:ext cx="874553" cy="937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ru-RU" sz="225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</a:p>
        </p:txBody>
      </p:sp>
      <p:sp>
        <p:nvSpPr>
          <p:cNvPr id="31" name="Равнобедренный треугольник 30">
            <a:extLst>
              <a:ext uri="{FF2B5EF4-FFF2-40B4-BE49-F238E27FC236}">
                <a16:creationId xmlns:a16="http://schemas.microsoft.com/office/drawing/2014/main" id="{DD6126C5-19E1-4242-A28E-9A1F26A05F57}"/>
              </a:ext>
            </a:extLst>
          </p:cNvPr>
          <p:cNvSpPr/>
          <p:nvPr/>
        </p:nvSpPr>
        <p:spPr>
          <a:xfrm>
            <a:off x="2287507" y="1442383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2" name="Равнобедренный треугольник 31">
            <a:extLst>
              <a:ext uri="{FF2B5EF4-FFF2-40B4-BE49-F238E27FC236}">
                <a16:creationId xmlns:a16="http://schemas.microsoft.com/office/drawing/2014/main" id="{7EAEC4D4-D4E7-4B2B-AF41-5C210A739D4C}"/>
              </a:ext>
            </a:extLst>
          </p:cNvPr>
          <p:cNvSpPr/>
          <p:nvPr/>
        </p:nvSpPr>
        <p:spPr>
          <a:xfrm rot="10800000">
            <a:off x="3237562" y="1442383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835A0578-5866-49DB-8B9B-274D5F8C063D}"/>
              </a:ext>
            </a:extLst>
          </p:cNvPr>
          <p:cNvCxnSpPr/>
          <p:nvPr/>
        </p:nvCxnSpPr>
        <p:spPr>
          <a:xfrm>
            <a:off x="3436690" y="2530854"/>
            <a:ext cx="213920" cy="205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F6ECC0A4-5FED-4870-8671-B80C085FFC36}"/>
              </a:ext>
            </a:extLst>
          </p:cNvPr>
          <p:cNvCxnSpPr/>
          <p:nvPr/>
        </p:nvCxnSpPr>
        <p:spPr>
          <a:xfrm>
            <a:off x="3757570" y="2869302"/>
            <a:ext cx="270545" cy="269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96C4152F-DAF0-426B-A906-0E8FFDDD97A1}"/>
              </a:ext>
            </a:extLst>
          </p:cNvPr>
          <p:cNvCxnSpPr/>
          <p:nvPr/>
        </p:nvCxnSpPr>
        <p:spPr>
          <a:xfrm>
            <a:off x="4116198" y="3238348"/>
            <a:ext cx="213402" cy="190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9F70214B-2DF8-48DB-B30F-5EAAB870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семейной системы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3543040-47BA-46FD-89CB-7D3A67407ED0}"/>
              </a:ext>
            </a:extLst>
          </p:cNvPr>
          <p:cNvCxnSpPr>
            <a:cxnSpLocks/>
          </p:cNvCxnSpPr>
          <p:nvPr/>
        </p:nvCxnSpPr>
        <p:spPr>
          <a:xfrm>
            <a:off x="5252612" y="4166574"/>
            <a:ext cx="1985465" cy="96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24E726DD-15C8-4C22-A493-A6B8AD801F62}"/>
                  </a:ext>
                </a:extLst>
              </p14:cNvPr>
              <p14:cNvContentPartPr/>
              <p14:nvPr/>
            </p14:nvContentPartPr>
            <p14:xfrm>
              <a:off x="6663664" y="4696113"/>
              <a:ext cx="283680" cy="383760"/>
            </p14:xfrm>
          </p:contentPart>
        </mc:Choice>
        <mc:Fallback xmlns=""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24E726DD-15C8-4C22-A493-A6B8AD801F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4664" y="4687113"/>
                <a:ext cx="30132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Рукописный ввод 32">
                <a:extLst>
                  <a:ext uri="{FF2B5EF4-FFF2-40B4-BE49-F238E27FC236}">
                    <a16:creationId xmlns:a16="http://schemas.microsoft.com/office/drawing/2014/main" id="{CE84B771-D331-4584-A89D-9523C576CBF6}"/>
                  </a:ext>
                </a:extLst>
              </p14:cNvPr>
              <p14:cNvContentPartPr/>
              <p14:nvPr/>
            </p14:nvContentPartPr>
            <p14:xfrm>
              <a:off x="6511024" y="4713753"/>
              <a:ext cx="366480" cy="393480"/>
            </p14:xfrm>
          </p:contentPart>
        </mc:Choice>
        <mc:Fallback xmlns="">
          <p:pic>
            <p:nvPicPr>
              <p:cNvPr id="33" name="Рукописный ввод 32">
                <a:extLst>
                  <a:ext uri="{FF2B5EF4-FFF2-40B4-BE49-F238E27FC236}">
                    <a16:creationId xmlns:a16="http://schemas.microsoft.com/office/drawing/2014/main" id="{CE84B771-D331-4584-A89D-9523C576C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2024" y="4704753"/>
                <a:ext cx="384120" cy="4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8918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1132207-7789-495C-9BE5-5EAB9B8F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9244614" cy="11430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может помочь сохранению семейной системы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3BAE38-B435-412D-BAE8-38C82151A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9173592" cy="4525963"/>
          </a:xfrm>
        </p:spPr>
        <p:txBody>
          <a:bodyPr/>
          <a:lstStyle/>
          <a:p>
            <a:endParaRPr lang="ru-RU" dirty="0"/>
          </a:p>
          <a:p>
            <a:r>
              <a:rPr lang="ru-RU" dirty="0">
                <a:solidFill>
                  <a:schemeClr val="tx1"/>
                </a:solidFill>
              </a:rPr>
              <a:t>Разрешение проблем, связанных с внешними влияниями. </a:t>
            </a:r>
          </a:p>
          <a:p>
            <a:r>
              <a:rPr lang="ru-RU" dirty="0">
                <a:solidFill>
                  <a:schemeClr val="tx1"/>
                </a:solidFill>
              </a:rPr>
              <a:t>Варианты работы по усилению связей между членами семьи. </a:t>
            </a:r>
          </a:p>
        </p:txBody>
      </p:sp>
    </p:spTree>
    <p:extLst>
      <p:ext uri="{BB962C8B-B14F-4D97-AF65-F5344CB8AC3E}">
        <p14:creationId xmlns:p14="http://schemas.microsoft.com/office/powerpoint/2010/main" val="1822837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584200">
              <a:defRPr sz="6800">
                <a:solidFill>
                  <a:srgbClr val="000000"/>
                </a:solidFill>
              </a:defRPr>
            </a:lvl1pPr>
          </a:lstStyle>
          <a:p>
            <a:pPr lvl="0">
              <a:defRPr sz="1800">
                <a:effectLst/>
              </a:defRPr>
            </a:pPr>
            <a:r>
              <a:rPr sz="4800" dirty="0" err="1"/>
              <a:t>Рычаг</a:t>
            </a:r>
            <a:r>
              <a:rPr sz="4800" dirty="0"/>
              <a:t> в </a:t>
            </a:r>
            <a:r>
              <a:rPr sz="4800" dirty="0" err="1"/>
              <a:t>системе</a:t>
            </a:r>
            <a:endParaRPr sz="4800" dirty="0"/>
          </a:p>
        </p:txBody>
      </p:sp>
      <p:sp>
        <p:nvSpPr>
          <p:cNvPr id="203" name="Shape 203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marL="0" indent="0" algn="just" defTabSz="321457">
              <a:spcBef>
                <a:spcPts val="0"/>
              </a:spcBef>
              <a:buNone/>
              <a:defRPr sz="1800"/>
            </a:pP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Рычаг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ключевая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точка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воздействия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систему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indent="0" algn="just" defTabSz="321457">
              <a:spcBef>
                <a:spcPts val="0"/>
              </a:spcBef>
              <a:buNone/>
              <a:defRPr sz="1800"/>
            </a:pP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Это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либо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элемент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либо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особенности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взаимодействия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между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элементами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92412EA3-746F-4627-B10D-3F35ADA235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Кто из членов семьи наиболее заинтересован в изменениях?</a:t>
            </a:r>
          </a:p>
          <a:p>
            <a:r>
              <a:rPr lang="ru-RU" dirty="0"/>
              <a:t>Изменение каких взаимодействий повлияло бы на усиление связей между элементами (с чего начнем?)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8BE67-E702-412A-B2D3-523F1C46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4605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FB4121-E290-48CF-8B83-2C14D4AA6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57" y="1014274"/>
            <a:ext cx="10972800" cy="4525963"/>
          </a:xfrm>
        </p:spPr>
        <p:txBody>
          <a:bodyPr>
            <a:normAutofit fontScale="85000" lnSpcReduction="20000"/>
          </a:bodyPr>
          <a:lstStyle/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</a:rPr>
              <a:t>Если рычагом является человек, то имеет смысл определить ключевые  ценности, которые могут его мотивировать, например:</a:t>
            </a:r>
            <a:endParaRPr lang="ru-RU" sz="3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endParaRPr lang="ru-RU" sz="3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Здоровье свое и детей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Жизнь-смерть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Свобода и ее ограничение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Большие деньги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Статус престиж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Отношения мужчина-женщина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Отношения со значимой фигурой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Высшие ценности (религиозные, хобби, справедливость, самореализация)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06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5D8B8-8BB6-4968-89E9-7986368D5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130" y="80662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Что делать? (Варианты работы по уменьшению Энтропии и усилению связей между членами семьи) </a:t>
            </a:r>
            <a:br>
              <a:rPr lang="ru-RU" sz="3600" dirty="0">
                <a:solidFill>
                  <a:srgbClr val="FF0000"/>
                </a:solidFill>
              </a:rPr>
            </a:b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6F94FE-D135-4C11-A6F3-35B0B6FC7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024" y="2431738"/>
            <a:ext cx="8229600" cy="4209331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Выстраиваем отношения на 4 уровнях</a:t>
            </a:r>
          </a:p>
          <a:p>
            <a:r>
              <a:rPr lang="ru-RU" dirty="0">
                <a:solidFill>
                  <a:schemeClr val="tx1"/>
                </a:solidFill>
              </a:rPr>
              <a:t>Правила Семьи (По Ю. Б. </a:t>
            </a:r>
            <a:r>
              <a:rPr lang="ru-RU" dirty="0" err="1">
                <a:solidFill>
                  <a:schemeClr val="tx1"/>
                </a:solidFill>
              </a:rPr>
              <a:t>Гиппенрейтер</a:t>
            </a:r>
            <a:r>
              <a:rPr lang="ru-RU" dirty="0">
                <a:solidFill>
                  <a:schemeClr val="tx1"/>
                </a:solidFill>
              </a:rPr>
              <a:t>)</a:t>
            </a:r>
          </a:p>
          <a:p>
            <a:r>
              <a:rPr lang="ru-RU" dirty="0">
                <a:solidFill>
                  <a:schemeClr val="tx1"/>
                </a:solidFill>
              </a:rPr>
              <a:t>Миссия Семьи (По Стивену </a:t>
            </a:r>
            <a:r>
              <a:rPr lang="ru-RU" dirty="0" err="1">
                <a:solidFill>
                  <a:schemeClr val="tx1"/>
                </a:solidFill>
              </a:rPr>
              <a:t>Кови</a:t>
            </a:r>
            <a:r>
              <a:rPr lang="ru-RU" dirty="0">
                <a:solidFill>
                  <a:schemeClr val="tx1"/>
                </a:solidFill>
              </a:rPr>
              <a:t>)</a:t>
            </a:r>
          </a:p>
          <a:p>
            <a:r>
              <a:rPr lang="ru-RU" dirty="0">
                <a:solidFill>
                  <a:schemeClr val="tx1"/>
                </a:solidFill>
              </a:rPr>
              <a:t>Что еще?</a:t>
            </a:r>
          </a:p>
        </p:txBody>
      </p:sp>
    </p:spTree>
    <p:extLst>
      <p:ext uri="{BB962C8B-B14F-4D97-AF65-F5344CB8AC3E}">
        <p14:creationId xmlns:p14="http://schemas.microsoft.com/office/powerpoint/2010/main" val="2521285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3819C-A364-4DFD-B0C7-E514B06A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Немного о ПРАВИЛАХ семьи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171" y="2014345"/>
            <a:ext cx="9816790" cy="312636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endParaRPr lang="ru-RU" b="1" dirty="0"/>
          </a:p>
          <a:p>
            <a:pPr marL="0" lvl="0" indent="0">
              <a:buNone/>
            </a:pPr>
            <a:r>
              <a:rPr lang="ru-RU" b="1" dirty="0"/>
              <a:t>4 цветовые зоны Ю. Б. </a:t>
            </a:r>
            <a:r>
              <a:rPr lang="ru-RU" b="1" dirty="0" err="1"/>
              <a:t>Гиппенрейтер</a:t>
            </a:r>
            <a:endParaRPr lang="ru-RU" b="1" dirty="0"/>
          </a:p>
          <a:p>
            <a:pPr marL="0" lvl="0" indent="0">
              <a:buNone/>
            </a:pPr>
            <a:endParaRPr lang="ru-RU" b="1" dirty="0"/>
          </a:p>
          <a:p>
            <a:pPr marL="0" lvl="0" indent="0">
              <a:buNone/>
            </a:pPr>
            <a:r>
              <a:rPr lang="ru-RU" b="1" dirty="0">
                <a:solidFill>
                  <a:srgbClr val="00B050"/>
                </a:solidFill>
              </a:rPr>
              <a:t>ЗЕЛЕНАЯ: </a:t>
            </a:r>
            <a:r>
              <a:rPr lang="ru-RU" b="1" dirty="0"/>
              <a:t>То, что можно делать по своему усмотрению.</a:t>
            </a:r>
          </a:p>
          <a:p>
            <a:pPr marL="0" lvl="0" indent="0">
              <a:buNone/>
            </a:pPr>
            <a:r>
              <a:rPr lang="ru-RU" b="1" dirty="0">
                <a:solidFill>
                  <a:srgbClr val="FFCC00"/>
                </a:solidFill>
              </a:rPr>
              <a:t>ЖЕЛТАЯ: </a:t>
            </a:r>
            <a:r>
              <a:rPr lang="ru-RU" b="1" dirty="0"/>
              <a:t>Можно делать все, но в определенных границах.</a:t>
            </a:r>
          </a:p>
          <a:p>
            <a:pPr marL="0" lvl="0" indent="0">
              <a:buNone/>
            </a:pP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ОРАНЖЕВАЯ: </a:t>
            </a:r>
            <a:r>
              <a:rPr lang="ru-RU" b="1" dirty="0"/>
              <a:t>Особые обстоятельства.</a:t>
            </a:r>
          </a:p>
          <a:p>
            <a:pPr marL="0" lvl="0" indent="0">
              <a:buNone/>
            </a:pPr>
            <a:r>
              <a:rPr lang="ru-RU" b="1" dirty="0">
                <a:solidFill>
                  <a:srgbClr val="FF0000"/>
                </a:solidFill>
              </a:rPr>
              <a:t>КРАСНАЯ: </a:t>
            </a:r>
            <a:r>
              <a:rPr lang="ru-RU" b="1" dirty="0"/>
              <a:t>НЕПРИЕМЛЕМО НИ ПРИ КАКИХ ОБСТОЯТЕЛЬСТВАХ.</a:t>
            </a:r>
          </a:p>
          <a:p>
            <a:pPr marL="0" lvl="0" indent="0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7402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33213" y="3429000"/>
            <a:ext cx="58961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FF0000"/>
                </a:solidFill>
                <a:latin typeface="HeliosBlack" pitchFamily="82" charset="0"/>
              </a:rPr>
              <a:t>Как формировать глубокие близкие отношения</a:t>
            </a:r>
          </a:p>
        </p:txBody>
      </p:sp>
    </p:spTree>
    <p:extLst>
      <p:ext uri="{BB962C8B-B14F-4D97-AF65-F5344CB8AC3E}">
        <p14:creationId xmlns:p14="http://schemas.microsoft.com/office/powerpoint/2010/main" val="403846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8B30E-8A5D-4FC4-9585-76DE6D60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3" y="356988"/>
            <a:ext cx="7684698" cy="749695"/>
          </a:xfrm>
        </p:spPr>
        <p:txBody>
          <a:bodyPr>
            <a:normAutofit/>
          </a:bodyPr>
          <a:lstStyle/>
          <a:p>
            <a:r>
              <a:rPr lang="ru-RU" sz="2800" b="1" dirty="0"/>
              <a:t>Выстраиваем близкие отношения на 4 уровнях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AD265-468C-4D38-AE15-0895E201C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20079"/>
            <a:ext cx="10670976" cy="4506086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Первый уровень. 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Это уровень обмена шаблонами. «Как дела?». «Сколько лет, сколько зим?». «Что новенького?» </a:t>
            </a:r>
          </a:p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Уровень установления контакта с людьми, для начала беседы. </a:t>
            </a:r>
          </a:p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Второй уровень.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Уровень обмена информацией, когда люди становятся полезными друг для друга. </a:t>
            </a:r>
          </a:p>
          <a:p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Третий уровень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- обмен мнениями. Интерес к мнению другого человека и возможность поделиться своим приводят людей к отношениям, построенным на взаимном интересе. </a:t>
            </a:r>
          </a:p>
          <a:p>
            <a:r>
              <a:rPr lang="ru-RU" b="1" dirty="0">
                <a:solidFill>
                  <a:srgbClr val="FF33CC"/>
                </a:solidFill>
              </a:rPr>
              <a:t>Четвертый уровень</a:t>
            </a:r>
            <a:r>
              <a:rPr lang="ru-RU" dirty="0">
                <a:solidFill>
                  <a:srgbClr val="FF33CC"/>
                </a:solidFill>
              </a:rPr>
              <a:t>. Обмен чувствами и эмоциями. Этот уровень, требует развитого эмоционального интеллекта. На этом уровне возможны отношения глубокой привязанности и любви.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9448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3944" y="193849"/>
            <a:ext cx="6410739" cy="837510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</a:t>
            </a:r>
            <a:r>
              <a:rPr lang="ru-RU" sz="2800" b="1" dirty="0"/>
              <a:t>ервый уровень. Уровень обмена шаблонами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5" y="1470991"/>
            <a:ext cx="7986198" cy="433438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Обычно: «Как дела?», «Что новенького?» </a:t>
            </a:r>
          </a:p>
          <a:p>
            <a:r>
              <a:rPr lang="ru-RU" dirty="0"/>
              <a:t>Формируем шаблоны общения для Первого уровня. Включаем творчество. </a:t>
            </a:r>
          </a:p>
          <a:p>
            <a:r>
              <a:rPr lang="ru-RU" b="1" dirty="0"/>
              <a:t>Утро. </a:t>
            </a:r>
            <a:r>
              <a:rPr lang="ru-RU" dirty="0"/>
              <a:t>«Милый, вот и утро! Я тебя люблю! А сырники (и пр.) любят тебя!» </a:t>
            </a:r>
          </a:p>
          <a:p>
            <a:r>
              <a:rPr lang="ru-RU" dirty="0"/>
              <a:t> «Мороз и солнце – день чудесный! Еще ты дремлешь друг прелестный?»</a:t>
            </a:r>
          </a:p>
          <a:p>
            <a:r>
              <a:rPr lang="ru-RU" b="1" dirty="0"/>
              <a:t>Расставание.</a:t>
            </a:r>
            <a:r>
              <a:rPr lang="ru-RU" dirty="0"/>
              <a:t> Например: «До встречи, мой Секс-символ!», «Люблю тебя моя красавица! Хорошего дня!» </a:t>
            </a:r>
          </a:p>
          <a:p>
            <a:r>
              <a:rPr lang="ru-RU" b="1" dirty="0"/>
              <a:t>Встреча. </a:t>
            </a:r>
            <a:r>
              <a:rPr lang="ru-RU" dirty="0"/>
              <a:t>«Привет, привет тебе, мой друг!» «Я всегда радуюсь, когда ты входишь в дом!» «Моя красавица вернулась! Тебя ждет неприготовленный ужин!</a:t>
            </a:r>
            <a:r>
              <a:rPr lang="ru-RU" dirty="0">
                <a:sym typeface="Wingdings" panose="05000000000000000000" pitchFamily="2" charset="2"/>
              </a:rPr>
              <a:t>)</a:t>
            </a:r>
            <a:endParaRPr lang="ru-RU" dirty="0"/>
          </a:p>
          <a:p>
            <a:r>
              <a:rPr lang="ru-RU" dirty="0"/>
              <a:t>И многое другое, что Ваш партнер услышит только у Вас дома. </a:t>
            </a:r>
          </a:p>
        </p:txBody>
      </p:sp>
    </p:spTree>
    <p:extLst>
      <p:ext uri="{BB962C8B-B14F-4D97-AF65-F5344CB8AC3E}">
        <p14:creationId xmlns:p14="http://schemas.microsoft.com/office/powerpoint/2010/main" val="1431763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A93DC-359D-45D3-A006-834858D7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Задание. Уровень обмена шаблонами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59F57D-64C3-48CB-BCBC-8A5741DEC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Подумайте, какие шаблоны общения у Вас уже есть</a:t>
            </a:r>
          </a:p>
          <a:p>
            <a:r>
              <a:rPr lang="ru-RU" dirty="0"/>
              <a:t>Какие шаблоны общения Вы могли бы добавить, поделитесь друг с другом</a:t>
            </a:r>
          </a:p>
        </p:txBody>
      </p:sp>
    </p:spTree>
    <p:extLst>
      <p:ext uri="{BB962C8B-B14F-4D97-AF65-F5344CB8AC3E}">
        <p14:creationId xmlns:p14="http://schemas.microsoft.com/office/powerpoint/2010/main" val="2546559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7252" y="272438"/>
            <a:ext cx="6006334" cy="83751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100" b="1" dirty="0"/>
              <a:t>Второй уровень. Уровень обмена информацией</a:t>
            </a:r>
            <a:br>
              <a:rPr lang="ru-RU" dirty="0">
                <a:solidFill>
                  <a:schemeClr val="accent1">
                    <a:lumMod val="75000"/>
                  </a:schemeClr>
                </a:solidFill>
              </a:rPr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4" y="1328609"/>
            <a:ext cx="8121649" cy="4710683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С помощью обмена информацией партнеры могут становиться все более и более  полезными друг для друга.</a:t>
            </a:r>
          </a:p>
          <a:p>
            <a:r>
              <a:rPr lang="ru-RU" dirty="0"/>
              <a:t>Жене важно знать про новые темы в компьютере. Мужу важно понять, как работать с женщинами в коллективе. Мы можем стать важным источником информации, если…</a:t>
            </a:r>
          </a:p>
          <a:p>
            <a:r>
              <a:rPr lang="ru-RU" dirty="0"/>
              <a:t>Нам важно интересоваться информацией, которую в периоды открытости дает нам партнер. Реагировать ИСКЛЮЧИТЕЛЬНО экологично.</a:t>
            </a:r>
          </a:p>
          <a:p>
            <a:r>
              <a:rPr lang="ru-RU" dirty="0"/>
              <a:t>В отношениях со своими родителями, с мужем, с другими близкими важно показывать пример, как обмен информацией помогает жить и ориентироваться в мире. </a:t>
            </a:r>
          </a:p>
        </p:txBody>
      </p:sp>
    </p:spTree>
    <p:extLst>
      <p:ext uri="{BB962C8B-B14F-4D97-AF65-F5344CB8AC3E}">
        <p14:creationId xmlns:p14="http://schemas.microsoft.com/office/powerpoint/2010/main" val="16851817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680" y="140224"/>
            <a:ext cx="6218475" cy="837510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Третий уровень. Обмен мнениями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5" y="1302027"/>
            <a:ext cx="8644305" cy="482047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Интерес к мнению партнера – важный навык развития близких отношений. </a:t>
            </a:r>
          </a:p>
          <a:p>
            <a:r>
              <a:rPr lang="ru-RU" dirty="0"/>
              <a:t>Здесь очень важно использовать навыки внимательного слушания: откладывать дела, телефон, полностью сосредотачиваться на партнере, когда он делится своими мнениями и оценками. </a:t>
            </a:r>
          </a:p>
          <a:p>
            <a:r>
              <a:rPr lang="ru-RU" dirty="0"/>
              <a:t>Максимально соблюдаем ПРАВИЛА уважительного общения. </a:t>
            </a:r>
          </a:p>
          <a:p>
            <a:r>
              <a:rPr lang="ru-RU" dirty="0"/>
              <a:t>Даже, если мы не согласны, всегда начинаем с фраз: «Интересное мнение…», «Это интересно, я вижу тебе это важно». </a:t>
            </a:r>
          </a:p>
          <a:p>
            <a:r>
              <a:rPr lang="ru-RU" dirty="0"/>
              <a:t>Всегда начинаем не с отрицания, а с присоединения. </a:t>
            </a:r>
          </a:p>
          <a:p>
            <a:r>
              <a:rPr lang="ru-RU" dirty="0"/>
              <a:t>«Мне интересен этот стиль, но не очень близок»</a:t>
            </a:r>
          </a:p>
          <a:p>
            <a:r>
              <a:rPr lang="ru-RU" dirty="0"/>
              <a:t>«Мне интересно это мнение, я хотел бы узнать побольше, потому, что у меня другой взгляд на эту тему»</a:t>
            </a:r>
          </a:p>
        </p:txBody>
      </p:sp>
    </p:spTree>
    <p:extLst>
      <p:ext uri="{BB962C8B-B14F-4D97-AF65-F5344CB8AC3E}">
        <p14:creationId xmlns:p14="http://schemas.microsoft.com/office/powerpoint/2010/main" val="180308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869" y="166037"/>
            <a:ext cx="6113259" cy="83751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/>
              <a:t>Четвертый уровень. Обмен чувствами и эмоциями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5" y="1339701"/>
            <a:ext cx="7122188" cy="4933507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FF0000"/>
                </a:solidFill>
              </a:rPr>
              <a:t>На этом уровне возможны отношения глубокой привязанности и любви. </a:t>
            </a:r>
          </a:p>
          <a:p>
            <a:r>
              <a:rPr lang="ru-RU" dirty="0"/>
              <a:t>Нам важно иметь собственный глубокий контакт с чувствами. Важно иметь широкий словарь чувств. </a:t>
            </a:r>
          </a:p>
          <a:p>
            <a:r>
              <a:rPr lang="ru-RU" dirty="0"/>
              <a:t>Важно уметь выражать свои чувства, говорить с партнером о них, передавать ему это знание. </a:t>
            </a:r>
          </a:p>
          <a:p>
            <a:r>
              <a:rPr lang="ru-RU" dirty="0"/>
              <a:t>Нам важно уметь распознавать чувства партнера, говорить с ним о них (</a:t>
            </a:r>
            <a:r>
              <a:rPr lang="ru-RU" dirty="0" err="1"/>
              <a:t>эмпатическиое</a:t>
            </a:r>
            <a:r>
              <a:rPr lang="ru-RU" dirty="0"/>
              <a:t> слушание).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9688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73FE6-D9A9-4D80-AEEE-44869EEF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793" y="239200"/>
            <a:ext cx="7222962" cy="1143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363A5-7816-4CD3-8179-E882895C0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33491"/>
            <a:ext cx="10096870" cy="4492673"/>
          </a:xfrm>
        </p:spPr>
        <p:txBody>
          <a:bodyPr/>
          <a:lstStyle/>
          <a:p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Почему часто люди испытывают трудности в построении отношений на уровне обмена чувствами?</a:t>
            </a:r>
          </a:p>
          <a:p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Люди не владеют своей эмоциональной сферой и, желая выстраивать отношения на глубоком эмоциональном уровне, обмениваются всеми эмоциональными состояниями, в которые они попадают.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Но далеко не все эмоциональные состояния партнёр или ребёнок может переносить, не разрушая свою эмоциональную сферу.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Поэтому для того, чтобы и сохранить глубину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чувственных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отношений и в то же время не наносить эмоциональных ран партнёру или ребёнку, мы вынуждены фильтровать свои эмоции и управлять ими. 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 именно  этого в среднем люди делать не умеют: ни фильтровать, ни управлять. 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Поэтому они порой просто запрещают себе обмениваться эмоциональными состояниями и чувствуют глубокое неудовлетворение.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697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273827-1991-4DCF-9ED6-D66CA5C4B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04" y="253013"/>
            <a:ext cx="8074611" cy="605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64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099AD-0619-4E50-88D4-A843FD6D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330" y="160336"/>
            <a:ext cx="6720602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Основные правила восстановления отношений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7C1890-602F-46C3-85CF-320ED9BE2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9471"/>
            <a:ext cx="10303565" cy="4406694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Проявляйте нежность. Регулярно прикасайтесь к партнеру, целуйте его и обнимайте — и это необяза­тельно должно приводить к сексу.</a:t>
            </a:r>
          </a:p>
          <a:p>
            <a:r>
              <a:rPr lang="ru-RU" dirty="0"/>
              <a:t>Защищайте свои отношения. Выкраивайте время для качественного общения, как вы выкраиваете время для друга или ребенка.</a:t>
            </a:r>
          </a:p>
          <a:p>
            <a:r>
              <a:rPr lang="ru-RU" dirty="0"/>
              <a:t>Делитесь друг с другом впечатлениями в течение дня. Спрашивайте его, как у него идут дела, и рассказы­вайте ему о своих делах</a:t>
            </a:r>
          </a:p>
          <a:p>
            <a:r>
              <a:rPr lang="ru-RU" dirty="0"/>
              <a:t>Пересмотрите роли в своих отношениях. Создайте собственные отношения вместо того, чтобы слепо копировать стандарты общества.</a:t>
            </a:r>
          </a:p>
          <a:p>
            <a:r>
              <a:rPr lang="ru-RU" dirty="0"/>
              <a:t>Подумайте о том, что вы и ваш партнер делаете всег­да и не делаете никогда. Будьте более разборчивы в отношении того, как вы проводите время вместе.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54188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71BA5-7CE6-4315-8168-8804B5929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670" y="264097"/>
            <a:ext cx="7108228" cy="67018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F7923D-A254-4C86-96FE-D09F9EC6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0139"/>
            <a:ext cx="10670976" cy="451602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Ежедневно выражайте свои чувства. Говорите ему, что любите его, и уточняйте, почему. Вместо «я люб­лю тебя» говорите: «Мне ужасно нравится твоя улыбка / твоя попка / то, как ты обращаешься с детьми».</a:t>
            </a:r>
          </a:p>
          <a:p>
            <a:r>
              <a:rPr lang="ru-RU" dirty="0"/>
              <a:t>Предавайтесь приятным воспоминаниям и делайте сегодня то, о чем не раз вспомните с удовольствием в будущем. Напоминайте партнеру о хороших време­нах</a:t>
            </a:r>
          </a:p>
          <a:p>
            <a:r>
              <a:rPr lang="ru-RU" dirty="0"/>
              <a:t>Чаще развлекайтесь. Затейте бой на подушках, сыг­райте в «Монополию» и заведите музыку, которую вы слушали во время первых свиданий.</a:t>
            </a:r>
          </a:p>
          <a:p>
            <a:r>
              <a:rPr lang="ru-RU" dirty="0"/>
              <a:t>По возможности ломайте повседневную рутину. От­правьтесь на полночную прогулку, пригласите его после работы в бар или приготовьте ему какой-ни­будь сюрприз.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37989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194D08-6F89-46B6-963F-3F54BA21A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9670" y="260437"/>
            <a:ext cx="6670906" cy="47139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4930C1-1AD5-45B6-A8F2-3FF826142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0870"/>
            <a:ext cx="10670976" cy="46352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Установите правила поведения дома:</a:t>
            </a:r>
          </a:p>
          <a:p>
            <a:pPr lvl="0"/>
            <a:r>
              <a:rPr lang="ru-RU" dirty="0"/>
              <a:t>не кричите из комнаты в комнату;</a:t>
            </a:r>
          </a:p>
          <a:p>
            <a:pPr lvl="0"/>
            <a:r>
              <a:rPr lang="ru-RU" dirty="0"/>
              <a:t>не перебивайте;</a:t>
            </a:r>
          </a:p>
          <a:p>
            <a:pPr lvl="0"/>
            <a:r>
              <a:rPr lang="ru-RU" dirty="0"/>
              <a:t>не смотрите телевизор во время ужина и после одинна­дцати часов вечера;</a:t>
            </a:r>
          </a:p>
          <a:p>
            <a:pPr lvl="0"/>
            <a:r>
              <a:rPr lang="ru-RU" dirty="0"/>
              <a:t>не говорите помногу о работе;</a:t>
            </a:r>
          </a:p>
          <a:p>
            <a:pPr lvl="0"/>
            <a:r>
              <a:rPr lang="ru-RU" dirty="0"/>
              <a:t>не звоните из дома по делам без крайней нужды.</a:t>
            </a:r>
          </a:p>
          <a:p>
            <a:pPr marL="0" indent="0">
              <a:buNone/>
            </a:pPr>
            <a:r>
              <a:rPr lang="ru-RU" dirty="0"/>
              <a:t>Согласовывайте свои личные пели с вашими общими целями. </a:t>
            </a:r>
          </a:p>
          <a:p>
            <a:pPr marL="0" indent="0">
              <a:buNone/>
            </a:pPr>
            <a:r>
              <a:rPr lang="ru-RU" dirty="0"/>
              <a:t>Не скрывайте мысли и чувства. </a:t>
            </a:r>
          </a:p>
          <a:p>
            <a:pPr marL="0" indent="0">
              <a:buNone/>
            </a:pPr>
            <a:r>
              <a:rPr lang="ru-RU" dirty="0"/>
              <a:t>Пообещайте оба, что не будете больше относиться другу к Другу с безразличием. </a:t>
            </a:r>
          </a:p>
          <a:p>
            <a:pPr marL="0" indent="0">
              <a:buNone/>
            </a:pPr>
            <a:r>
              <a:rPr lang="ru-RU" dirty="0"/>
              <a:t>Договоритесь о клю­чевой фразе, которую вы оба будете произносить, когда почувствуете, что это происходит вновь, — например: </a:t>
            </a:r>
          </a:p>
          <a:p>
            <a:pPr marL="0" indent="0">
              <a:buNone/>
            </a:pPr>
            <a:r>
              <a:rPr lang="ru-RU" dirty="0"/>
              <a:t>«Не забывай, дорогая, мы с тобой вдвоем против всего мира».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2120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735B0-4451-488E-BB30-56277230D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816" y="1517586"/>
            <a:ext cx="8362765" cy="1143000"/>
          </a:xfrm>
        </p:spPr>
        <p:txBody>
          <a:bodyPr>
            <a:normAutofit fontScale="90000"/>
          </a:bodyPr>
          <a:lstStyle/>
          <a:p>
            <a:pPr>
              <a:lnSpc>
                <a:spcPts val="1200"/>
              </a:lnSpc>
              <a:spcAft>
                <a:spcPts val="1000"/>
              </a:spcAft>
            </a:pPr>
            <a:r>
              <a:rPr lang="ru-RU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Какие способности и душевные качества нужны,</a:t>
            </a:r>
            <a:br>
              <a:rPr lang="ru-RU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3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чтобы вступать и поддерживать хорошие</a:t>
            </a:r>
            <a:br>
              <a:rPr lang="ru-RU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любовные отношения</a:t>
            </a:r>
            <a:br>
              <a:rPr lang="ru-R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B03787-71AD-48B4-8308-E45E068E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769833"/>
            <a:ext cx="8889507" cy="3356331"/>
          </a:xfrm>
        </p:spPr>
        <p:txBody>
          <a:bodyPr/>
          <a:lstStyle/>
          <a:p>
            <a:pPr marL="0" indent="0" algn="ctr">
              <a:lnSpc>
                <a:spcPts val="1200"/>
              </a:lnSpc>
              <a:spcAft>
                <a:spcPts val="1000"/>
              </a:spcAft>
              <a:buNone/>
            </a:pP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1200"/>
              </a:lnSpc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Готовность идти в партнерские отношения.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1200"/>
              </a:lnSpc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Способность к эмпатии.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1200"/>
              </a:lnSpc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Доверие.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1200"/>
              </a:lnSpc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Восприятие собственных потребностей, чувств, умение о них говорить.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1200"/>
              </a:lnSpc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Принятие партнера:  понимать,  что партнер – он Другой, и вполне возможны  конфликты.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1200"/>
              </a:lnSpc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Способность выдерживать фрустрацию, что мои потребности не всегда удовлетворяются.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1200"/>
              </a:lnSpc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Также умение партнеру сказать «нет».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1200"/>
              </a:lnSpc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Способность регулировать собственные аффекты. Умение дистанцироваться в конфликте.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1200"/>
              </a:lnSpc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Способность быть одному.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12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Ответственность.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63949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4021" y="3009036"/>
            <a:ext cx="764120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err="1">
                <a:solidFill>
                  <a:srgbClr val="FF0000"/>
                </a:solidFill>
              </a:rPr>
              <a:t>Созависимые</a:t>
            </a:r>
            <a:r>
              <a:rPr lang="ru-RU" sz="4400" b="1" dirty="0">
                <a:solidFill>
                  <a:srgbClr val="FF0000"/>
                </a:solidFill>
              </a:rPr>
              <a:t> отношения и пути преодоления созависимости</a:t>
            </a:r>
            <a:endParaRPr lang="ru-RU" sz="2400" b="1" dirty="0"/>
          </a:p>
          <a:p>
            <a:endParaRPr lang="ru-RU" sz="3200" b="1" dirty="0">
              <a:solidFill>
                <a:srgbClr val="FF0000"/>
              </a:solidFill>
              <a:latin typeface="HeliosBlac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042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2CD0A-33B5-4879-95D8-DD225EA8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7" y="274638"/>
            <a:ext cx="9919253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«Мы все склонны к </a:t>
            </a:r>
            <a:r>
              <a:rPr lang="ru-RU" b="1" dirty="0" err="1">
                <a:solidFill>
                  <a:srgbClr val="FF0000"/>
                </a:solidFill>
              </a:rPr>
              <a:t>созависимым</a:t>
            </a:r>
            <a:r>
              <a:rPr lang="ru-RU" b="1" dirty="0">
                <a:solidFill>
                  <a:srgbClr val="FF0000"/>
                </a:solidFill>
              </a:rPr>
              <a:t> отношениям в той или иной степени…»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6289F3-DDD9-424A-9788-59E45CAD5BC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7017" y="1558167"/>
            <a:ext cx="6054793" cy="4802877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«Созависимость — это нездоровая, неадекватная или опасная потребность в другом человеке» </a:t>
            </a:r>
            <a:r>
              <a:rPr lang="ru-RU" sz="1900" b="1" dirty="0"/>
              <a:t>Андреа Миллер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Мало у кого родители были настолько мудры, что дали в детстве ровно столько любви, заботы, принятия, свободы и контроля, сколько было необходимо.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Чаще всего, любви не хватало, свободы тоже, а контроля было в избытке.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большинство из нас в большей или меньшей степени зависимы в своих отношениях, даже не осознавая этого. </a:t>
            </a:r>
          </a:p>
        </p:txBody>
      </p:sp>
      <p:pic>
        <p:nvPicPr>
          <p:cNvPr id="12290" name="Picture 2" descr="Созависимые отношения: как перестать цепляться за партнёра?">
            <a:extLst>
              <a:ext uri="{FF2B5EF4-FFF2-40B4-BE49-F238E27FC236}">
                <a16:creationId xmlns:a16="http://schemas.microsoft.com/office/drawing/2014/main" id="{2C0BD2F3-DFDF-42E2-BFF9-13BDA604A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117" y="1647618"/>
            <a:ext cx="4086084" cy="2238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0952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A91DA-40AF-4740-A110-5CB5D1FC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2" y="0"/>
            <a:ext cx="7739270" cy="58012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Признаем наличие проблемы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309666-64E9-4559-AD62-AC6ABB6DD18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9661" y="865187"/>
            <a:ext cx="6278217" cy="585366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/>
              <a:t>Люди, склонные к </a:t>
            </a:r>
            <a:r>
              <a:rPr lang="ru-RU" b="1" dirty="0" err="1"/>
              <a:t>созависимым</a:t>
            </a:r>
            <a:r>
              <a:rPr lang="ru-RU" b="1" dirty="0"/>
              <a:t> отношениям с другими людьми обладают следующими личностными особенностями:</a:t>
            </a:r>
          </a:p>
          <a:p>
            <a:r>
              <a:rPr lang="ru-RU" dirty="0"/>
              <a:t> У них занижена самооценка, наблюдается нелюбовь к себе (иногда это может проявляться как высокомерие, чувство превосходства над другими)</a:t>
            </a:r>
          </a:p>
          <a:p>
            <a:r>
              <a:rPr lang="ru-RU" dirty="0"/>
              <a:t>Они плохо осознают свои потребности и желания, не умеют их удовлетворять Не умеют просить то, что им необходимо</a:t>
            </a:r>
          </a:p>
          <a:p>
            <a:r>
              <a:rPr lang="ru-RU" dirty="0"/>
              <a:t>У них много подавленных (неосознаваемых) чувств</a:t>
            </a:r>
          </a:p>
          <a:p>
            <a:r>
              <a:rPr lang="ru-RU" dirty="0"/>
              <a:t>Они не умеют говорить «нет», психологические границы либо размыты, либо </a:t>
            </a:r>
            <a:r>
              <a:rPr lang="ru-RU" dirty="0" err="1"/>
              <a:t>железобетонны</a:t>
            </a:r>
            <a:endParaRPr lang="ru-RU" dirty="0"/>
          </a:p>
          <a:p>
            <a:r>
              <a:rPr lang="ru-RU" dirty="0"/>
              <a:t>У них присутствует страх перед жизнью, имеется повышенная тревожность (иногда неосознанная)</a:t>
            </a:r>
          </a:p>
          <a:p>
            <a:r>
              <a:rPr lang="ru-RU" dirty="0"/>
              <a:t>Велик страх отвержения</a:t>
            </a:r>
          </a:p>
          <a:p>
            <a:r>
              <a:rPr lang="ru-RU" dirty="0"/>
              <a:t>Чувство вины и стыда играет большую роль в их жизни</a:t>
            </a:r>
          </a:p>
          <a:p>
            <a:r>
              <a:rPr lang="ru-RU" dirty="0"/>
              <a:t>Сильно зависимы от внешних оценок</a:t>
            </a:r>
            <a:br>
              <a:rPr lang="ru-RU" dirty="0"/>
            </a:br>
            <a:endParaRPr lang="ru-RU" dirty="0"/>
          </a:p>
        </p:txBody>
      </p:sp>
      <p:pic>
        <p:nvPicPr>
          <p:cNvPr id="13314" name="Picture 2" descr="sozavisimye_otnosheniya">
            <a:extLst>
              <a:ext uri="{FF2B5EF4-FFF2-40B4-BE49-F238E27FC236}">
                <a16:creationId xmlns:a16="http://schemas.microsoft.com/office/drawing/2014/main" id="{3E708911-8D4E-4A19-99A6-7351F2F90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147" y="1578528"/>
            <a:ext cx="5072270" cy="327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783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1A243D1-F9A3-4889-A932-28EA5AA19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4E50EF-70D9-4F07-8E3F-109AF86CC5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150" y="1644650"/>
            <a:ext cx="10175875" cy="377666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Треугольник </a:t>
            </a:r>
            <a:r>
              <a:rPr lang="ru-RU" dirty="0" err="1"/>
              <a:t>Карпмана</a:t>
            </a:r>
            <a:r>
              <a:rPr lang="ru-RU" dirty="0"/>
              <a:t> — это самая распространенная модель взаимоотношений между </a:t>
            </a:r>
            <a:r>
              <a:rPr lang="ru-RU" dirty="0" err="1"/>
              <a:t>созависимыми</a:t>
            </a:r>
            <a:r>
              <a:rPr lang="ru-RU" dirty="0"/>
              <a:t> людьми. Впервые описал ее классик </a:t>
            </a:r>
            <a:r>
              <a:rPr lang="ru-RU" dirty="0" err="1"/>
              <a:t>трансактного</a:t>
            </a:r>
            <a:r>
              <a:rPr lang="ru-RU" dirty="0"/>
              <a:t> анализа </a:t>
            </a:r>
            <a:r>
              <a:rPr lang="ru-RU" u="sng" dirty="0">
                <a:hlinkClick r:id="rId2"/>
              </a:rPr>
              <a:t>Стивен </a:t>
            </a:r>
            <a:r>
              <a:rPr lang="ru-RU" u="sng" dirty="0" err="1">
                <a:hlinkClick r:id="rId2"/>
              </a:rPr>
              <a:t>Карпман</a:t>
            </a:r>
            <a:r>
              <a:rPr lang="ru-RU" dirty="0"/>
              <a:t> в 1968 году. Люди манипулируют друг другом, зависят друг от друга и очень от этого устают. Счастья в таких отношениях крайне мало. Как и сил, чтобы изменить ситуацию. Но выход из этого есть.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88755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AA6225F-B558-410C-8547-2B92E55B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Треугольник </a:t>
            </a:r>
            <a:r>
              <a:rPr lang="ru-RU" dirty="0" err="1"/>
              <a:t>Карпмана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F9794A4-CEAA-442A-A092-84E6680D6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033" y="1298846"/>
            <a:ext cx="5021843" cy="373434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  треугольнике могут крутиться и двое, и трое, и целые группы людей. </a:t>
            </a:r>
          </a:p>
          <a:p>
            <a:r>
              <a:rPr lang="ru-RU" dirty="0"/>
              <a:t>Но ролей в нем всегда три: </a:t>
            </a:r>
          </a:p>
          <a:p>
            <a:r>
              <a:rPr lang="ru-RU" b="1" dirty="0"/>
              <a:t>жертва, гонитель, спасатель. </a:t>
            </a:r>
          </a:p>
          <a:p>
            <a:r>
              <a:rPr lang="ru-RU" dirty="0"/>
              <a:t>Участники треугольника</a:t>
            </a:r>
            <a:br>
              <a:rPr lang="ru-RU" dirty="0"/>
            </a:br>
            <a:r>
              <a:rPr lang="ru-RU" dirty="0"/>
              <a:t>периодически меняются ролями, но все они являются манипуляторами и здорово</a:t>
            </a:r>
            <a:br>
              <a:rPr lang="ru-RU" dirty="0"/>
            </a:br>
            <a:r>
              <a:rPr lang="ru-RU" dirty="0"/>
              <a:t>портят себе и близким жизнь.</a:t>
            </a:r>
          </a:p>
          <a:p>
            <a:endParaRPr lang="ru-RU" dirty="0"/>
          </a:p>
        </p:txBody>
      </p:sp>
      <p:pic>
        <p:nvPicPr>
          <p:cNvPr id="7" name="Объект 6" descr="О треугольнике Карпмана стоит знать всем, кто хочет иметь счастливую семью">
            <a:hlinkClick r:id="rId2"/>
            <a:extLst>
              <a:ext uri="{FF2B5EF4-FFF2-40B4-BE49-F238E27FC236}">
                <a16:creationId xmlns:a16="http://schemas.microsoft.com/office/drawing/2014/main" id="{06B491E6-C4E1-42D1-BDC4-B28A81A37B74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126" y="1394638"/>
            <a:ext cx="4300562" cy="3638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65072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A69884D-1DB9-4DCA-AB5A-7637F6B7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397668"/>
            <a:ext cx="413385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Жертва</a:t>
            </a:r>
            <a:br>
              <a:rPr lang="ru-RU" dirty="0"/>
            </a:br>
            <a:r>
              <a:rPr lang="ru-RU" dirty="0"/>
              <a:t> 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4567AA9-EB9B-4925-B21C-32B54832CC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78890" y="1091953"/>
            <a:ext cx="9658904" cy="4847207"/>
          </a:xfrm>
        </p:spPr>
        <p:txBody>
          <a:bodyPr>
            <a:normAutofit fontScale="77500" lnSpcReduction="20000"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Жертва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сознательно или бессознательно выбирает страдания. Жертва НЕ берет ответственность за свои проблемы на себя, а ищет (и находит) виноватых вокруг. Такая позиция выгодна для Жертвы, появляется причина, объясняющая, причины ее неудач.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Ей то обидно, то страшно, то стыдно. Она завидует и ревнует. Ей не хватает ни сил, ни времени, ни желания сделать что-то для улучшения своей жизни. Она инертна.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Такой подход позволяет Жертве «привлечь» Спасателя (того, кто посочувствует, поможет, избавит от проблем). В начале Жертва получает от него сочувствие, соучастие, дальше пытается переложить на Спасателя СВОЮ ответственность, а затем  еще и обвиняет в своих неудачах.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62089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E4C39-4E24-4793-8893-F315CC23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Гонитель</a:t>
            </a:r>
            <a:r>
              <a:rPr lang="ru-RU" dirty="0"/>
              <a:t> (контролер, диктатор, агрессор)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AEFDF6-E2F5-495F-9B06-03AFB351D7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49910" y="1074198"/>
            <a:ext cx="9587883" cy="4696287"/>
          </a:xfrm>
        </p:spPr>
        <p:txBody>
          <a:bodyPr>
            <a:normAutofit fontScale="77500" lnSpcReduction="20000"/>
          </a:bodyPr>
          <a:lstStyle/>
          <a:p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Он уверен, что Жертва является виновником всех проблем (и его в том числе).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Гонитель навязывает свой стиль поведения и мыслей (или тот, который считает правильным), в общем «учит жизни». Это может проявляться тиранией вплоть до физического воздействия. </a:t>
            </a: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Гонитель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почти всегда напряжен, раздражен, зол и боится расслабиться. Он контролирует, преследует и критикует жертву, чувствует невыносимый груз ответственности и очень от этого устает.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Но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бесс</a:t>
            </a: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ознательно он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ощущает собственную важность и значимость.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1943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B1D1A-1136-4143-BF6C-101428DEC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5" y="482600"/>
            <a:ext cx="59817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Спасатель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11650-8FDD-40C9-9BB5-30B20967B41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6847" y="1189609"/>
            <a:ext cx="9747681" cy="4492100"/>
          </a:xfrm>
        </p:spPr>
        <p:txBody>
          <a:bodyPr>
            <a:normAutofit fontScale="77500" lnSpcReduction="20000"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Спасатель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чаще всего испытывает жалость и сочувствие к жертве и злость и порой враждебность и агрессию к контролеру.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Помогая Жертве, он к тому же бессознательно чувствует себя «выше»: умнее, способнее, успешнее. Он испытывает «глубокое удовлетворение» от того, что он «Спасает» других.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Со стороны все выглядит благопристойно. Он же вроде бы как помогает! Но основная цель его действий и советов — самоутверждение и уход от своих собственных проблем.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Хотя он может считать и убеждать сам себя, что его миссия «избавлять» страдающих людей от проблем, но действительно помочь человеку можно только тогда, когда он сам просит о помощи.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7091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4B666-F85E-4F55-8D55-9502947C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49" y="465138"/>
            <a:ext cx="6391275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Как это работает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CB5AD3-CCC5-46D6-AB2C-4802B8810F2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90599" y="1133475"/>
            <a:ext cx="8183563" cy="4886325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Гонитель не дает покоя жертве, он контролирует, следит порой за каждым шагом, критикует, заставляет делать «то, что надо». </a:t>
            </a:r>
            <a:br>
              <a:rPr lang="ru-RU" dirty="0"/>
            </a:br>
            <a:r>
              <a:rPr lang="ru-RU" dirty="0"/>
              <a:t>Жертва старается, мучается, устает и жалуется. </a:t>
            </a:r>
          </a:p>
          <a:p>
            <a:r>
              <a:rPr lang="ru-RU" dirty="0"/>
              <a:t>Спасатель утешает, советует, подставляет уши и жилетку для слез. </a:t>
            </a:r>
          </a:p>
          <a:p>
            <a:r>
              <a:rPr lang="ru-RU" dirty="0"/>
              <a:t>Участники периодически меняются ролями.</a:t>
            </a:r>
          </a:p>
          <a:p>
            <a:r>
              <a:rPr lang="ru-RU" dirty="0"/>
              <a:t>Такая мелодрама может длиться многие годы, люди могут даже не осознавать, что прочно застряли в треугольнике. </a:t>
            </a:r>
          </a:p>
          <a:p>
            <a:r>
              <a:rPr lang="ru-RU" dirty="0"/>
              <a:t>Их устраивает до поры до времени такое положение вещей. Гонителю есть на кого изливать свой негатив и есть кого винить в своих бедах, жертва получает сочувствие и избавляется от ответственности за свою жизнь, спасатель наслаждается ролью героя.</a:t>
            </a:r>
          </a:p>
          <a:p>
            <a:r>
              <a:rPr lang="ru-RU" dirty="0"/>
              <a:t>Все они зависят друг от друга, потому что источник своих проблем они видят в другом человеке. И бесконечно пытаются изменить человека так, чтобы он служил их целям.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37396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5289AFC-7AD5-46C0-88EB-D045BBD22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928CBB0-92BA-412B-B4D8-1ECDAB37E1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Партнеры переключаются между ролями треугольника и то контролируют, то спасают друг друга. </a:t>
            </a:r>
          </a:p>
          <a:p>
            <a:r>
              <a:rPr lang="ru-RU" dirty="0"/>
              <a:t>Такие отношения точно не про любовь, а про желание</a:t>
            </a:r>
            <a:br>
              <a:rPr lang="ru-RU" dirty="0"/>
            </a:br>
            <a:r>
              <a:rPr lang="ru-RU" dirty="0"/>
              <a:t>доминировать, жалость к себе, изматывающие претензии и неуслышанные</a:t>
            </a:r>
            <a:br>
              <a:rPr lang="ru-RU" dirty="0"/>
            </a:br>
            <a:r>
              <a:rPr lang="ru-RU" dirty="0"/>
              <a:t>оправдания. </a:t>
            </a:r>
          </a:p>
          <a:p>
            <a:r>
              <a:rPr lang="ru-RU" dirty="0"/>
              <a:t>Это не про любовь, не про поддержку, не про счастье.</a:t>
            </a:r>
          </a:p>
        </p:txBody>
      </p:sp>
      <p:pic>
        <p:nvPicPr>
          <p:cNvPr id="7" name="Объект 6" descr="О треугольнике Карпмана стоит знать всем, кто хочет иметь счастливую семью">
            <a:hlinkClick r:id="rId2"/>
            <a:extLst>
              <a:ext uri="{FF2B5EF4-FFF2-40B4-BE49-F238E27FC236}">
                <a16:creationId xmlns:a16="http://schemas.microsoft.com/office/drawing/2014/main" id="{F4F27ABE-3658-4989-B684-8E0C2FAD8825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2" y="274638"/>
            <a:ext cx="3705225" cy="5686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52714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6406D-0148-4FEF-9EE2-84F077AF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2F761D-6584-433C-B588-4AC38B987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9116" y="396063"/>
            <a:ext cx="4645152" cy="5699937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Когда семья живет в треугольнике </a:t>
            </a:r>
            <a:r>
              <a:rPr lang="ru-RU" dirty="0" err="1"/>
              <a:t>Карпмана</a:t>
            </a:r>
            <a:r>
              <a:rPr lang="ru-RU" dirty="0"/>
              <a:t>, то и появившийся ребенок неизбежно будет затянут в этот треугольник. </a:t>
            </a:r>
          </a:p>
          <a:p>
            <a:r>
              <a:rPr lang="ru-RU" dirty="0"/>
              <a:t>Скорее всего, его будут ограничивать в самостоятельности, возможности выбора, принятии решения.  </a:t>
            </a:r>
          </a:p>
          <a:p>
            <a:r>
              <a:rPr lang="ru-RU" dirty="0"/>
              <a:t>Люди, живущие в треугольнике, думают, что защищают таким образом своего ребенка. Такие родители часто играют на чувстве долга, стыда, вины, жалости.</a:t>
            </a:r>
          </a:p>
        </p:txBody>
      </p:sp>
      <p:pic>
        <p:nvPicPr>
          <p:cNvPr id="5" name="Объект 4" descr="О треугольнике Карпмана стоит знать всем, кто хочет иметь счастливую семью">
            <a:hlinkClick r:id="rId2"/>
            <a:extLst>
              <a:ext uri="{FF2B5EF4-FFF2-40B4-BE49-F238E27FC236}">
                <a16:creationId xmlns:a16="http://schemas.microsoft.com/office/drawing/2014/main" id="{D9119AD4-C694-4259-8F51-AF1144A4B480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885" y="342900"/>
            <a:ext cx="4126466" cy="5448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99470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BE51A-6C4C-4099-A6A7-ABF3252F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Здоровые отношения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577A02-530D-4BD3-A91C-4EBAC16242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ru-RU" b="0" i="0" cap="small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в здоровых отношениях есть привязанность, но есть и автономия, возможность опираться на себя, на свои личные ресурсы, не зависящие от другого человека.</a:t>
            </a:r>
          </a:p>
          <a:p>
            <a:pPr algn="l"/>
            <a:r>
              <a:rPr lang="ru-RU" b="0" i="0" cap="small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есть поддержка  с уважением  к границам другого человека.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Garamond" panose="02020404030301010803" pitchFamily="18" charset="0"/>
              </a:rPr>
              <a:t>В здоровых отношениях люди остаются вместе не потому что друг без друга невозможно, а потому что вместе лучше, чем по-отдельности.</a:t>
            </a:r>
          </a:p>
          <a:p>
            <a:endParaRPr lang="ru-RU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0F945717-D8F0-4F29-84CE-A914CA4ADB6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2" y="1600201"/>
            <a:ext cx="4788450" cy="323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7939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05808-D878-4A55-8656-986BA446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Любовь к себе – шаг №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623F73-6184-42D1-8DF1-4B145F820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на самом деле любить себя?</a:t>
            </a:r>
          </a:p>
          <a:p>
            <a:r>
              <a:rPr lang="ru-RU" dirty="0"/>
              <a:t>Мои языки любви?</a:t>
            </a:r>
          </a:p>
          <a:p>
            <a:r>
              <a:rPr lang="ru-RU" dirty="0"/>
              <a:t>«Я – обаятельная и привлекательная», «Я – мужчина ГЕРОЙ, я </a:t>
            </a:r>
            <a:r>
              <a:rPr lang="ru-RU"/>
              <a:t>все могу!»</a:t>
            </a:r>
            <a:endParaRPr lang="ru-RU" dirty="0"/>
          </a:p>
          <a:p>
            <a:r>
              <a:rPr lang="ru-RU" dirty="0"/>
              <a:t>Упражнения на работу с самооценкой</a:t>
            </a:r>
          </a:p>
        </p:txBody>
      </p:sp>
    </p:spTree>
    <p:extLst>
      <p:ext uri="{BB962C8B-B14F-4D97-AF65-F5344CB8AC3E}">
        <p14:creationId xmlns:p14="http://schemas.microsoft.com/office/powerpoint/2010/main" val="37572634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472530" cy="1143000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Принятие себя – основа любви к себе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4294967295"/>
          </p:nvPr>
        </p:nvSpPr>
        <p:spPr>
          <a:xfrm>
            <a:off x="992050" y="1550781"/>
            <a:ext cx="9520237" cy="425291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Наши недостатки – продолжения наших достоинств</a:t>
            </a:r>
          </a:p>
          <a:p>
            <a:r>
              <a:rPr lang="ru-RU" dirty="0"/>
              <a:t>Выпишите свои достоинства – напишите их противоположность. </a:t>
            </a:r>
          </a:p>
          <a:p>
            <a:r>
              <a:rPr lang="ru-RU" dirty="0"/>
              <a:t>Разделение себя и своих недостатков. </a:t>
            </a:r>
          </a:p>
          <a:p>
            <a:r>
              <a:rPr lang="ru-RU" dirty="0"/>
              <a:t>УПРАЖНЕНИЕ.</a:t>
            </a:r>
          </a:p>
          <a:p>
            <a:r>
              <a:rPr lang="ru-RU" dirty="0"/>
              <a:t>ПРИМЕР: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Я умею добиваться своего</a:t>
            </a:r>
          </a:p>
          <a:p>
            <a:r>
              <a:rPr lang="ru-RU" dirty="0">
                <a:solidFill>
                  <a:srgbClr val="FF0000"/>
                </a:solidFill>
              </a:rPr>
              <a:t>Упрямая</a:t>
            </a:r>
          </a:p>
          <a:p>
            <a:r>
              <a:rPr lang="ru-RU" dirty="0"/>
              <a:t>«Если бы я не была упрямой, мне было бы трудно добиваться результатов»</a:t>
            </a:r>
          </a:p>
        </p:txBody>
      </p:sp>
    </p:spTree>
    <p:extLst>
      <p:ext uri="{BB962C8B-B14F-4D97-AF65-F5344CB8AC3E}">
        <p14:creationId xmlns:p14="http://schemas.microsoft.com/office/powerpoint/2010/main" val="40110543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941F7-D72F-4C22-B71D-455BB7EB2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709452" cy="1143000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Контакт с чувствами – шаг №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0B4D8-1E9C-41C8-8F89-8CDD451FD43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4948" y="1248672"/>
            <a:ext cx="6003235" cy="47085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br>
              <a:rPr lang="ru-RU" dirty="0"/>
            </a:br>
            <a:r>
              <a:rPr lang="ru-RU" b="1" dirty="0" err="1"/>
              <a:t>Соависимость</a:t>
            </a:r>
            <a:r>
              <a:rPr lang="ru-RU" dirty="0"/>
              <a:t> характеризуется нарушением способности адекватно чувствовать. </a:t>
            </a:r>
            <a:br>
              <a:rPr lang="ru-RU" dirty="0"/>
            </a:br>
            <a:r>
              <a:rPr lang="ru-RU" dirty="0"/>
              <a:t>У зависимых людей очень много подавленных чувств. </a:t>
            </a:r>
            <a:br>
              <a:rPr lang="ru-RU" dirty="0"/>
            </a:br>
            <a:r>
              <a:rPr lang="ru-RU" dirty="0"/>
              <a:t>Подавленный гнев иногда может случайно проявиться в нахмуренный бровях, резкости нашего голоса, резкости суждений, категоричности наших оценок, в осуждении другого человека. </a:t>
            </a:r>
            <a:br>
              <a:rPr lang="ru-RU" dirty="0"/>
            </a:br>
            <a:r>
              <a:rPr lang="ru-RU" dirty="0"/>
              <a:t>Очень трудно признавать отрицательные чувства.</a:t>
            </a:r>
          </a:p>
        </p:txBody>
      </p:sp>
      <p:pic>
        <p:nvPicPr>
          <p:cNvPr id="19458" name="Picture 2" descr="Что вы сейчас чувствуете или Как понять свои чувства?">
            <a:extLst>
              <a:ext uri="{FF2B5EF4-FFF2-40B4-BE49-F238E27FC236}">
                <a16:creationId xmlns:a16="http://schemas.microsoft.com/office/drawing/2014/main" id="{B350FFDA-546D-4EA9-9D2D-A771345C3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417" y="1288428"/>
            <a:ext cx="4094921" cy="307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18545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23BE1-C9B9-4146-A426-8F3D9FFA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3096" y="147294"/>
            <a:ext cx="6661758" cy="1049235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Страх – основа зависимости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A85130-D9C5-4195-B36C-0F7B76630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13" y="1735621"/>
            <a:ext cx="7957174" cy="400902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 формировании зависимых отношений большую роль играет </a:t>
            </a:r>
            <a:r>
              <a:rPr lang="ru-RU" b="1" dirty="0"/>
              <a:t>страх</a:t>
            </a:r>
            <a:r>
              <a:rPr lang="ru-RU" dirty="0"/>
              <a:t>.</a:t>
            </a:r>
          </a:p>
          <a:p>
            <a:r>
              <a:rPr lang="ru-RU" dirty="0"/>
              <a:t>Тревога, страх – противоположность любви. Страх нас сковывает, блокирует, отстраняет нас от тех ситуаций, где мы чувствуем опасность, ограничивает нашу реальность.</a:t>
            </a:r>
          </a:p>
          <a:p>
            <a:r>
              <a:rPr lang="ru-RU" dirty="0"/>
              <a:t>Страх, как и любое другое чувство, надо принять – не убегать от него, не подавлять, не обманывать себя, что страха нет – принять и прожить его, не избегая, побыть в нем, пройти сквозь него.</a:t>
            </a:r>
          </a:p>
          <a:p>
            <a:r>
              <a:rPr lang="ru-RU" dirty="0"/>
              <a:t>РАБОТА СО СТРАХОМ НАЧИНАЕТСЯ С РБОТЫ С ЧУВСТВАМИ</a:t>
            </a:r>
          </a:p>
        </p:txBody>
      </p:sp>
    </p:spTree>
    <p:extLst>
      <p:ext uri="{BB962C8B-B14F-4D97-AF65-F5344CB8AC3E}">
        <p14:creationId xmlns:p14="http://schemas.microsoft.com/office/powerpoint/2010/main" val="39610299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6207" y="333671"/>
            <a:ext cx="7505793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Чувство Вины заменяем Ответственностью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УПРАЖНЕНИЕ</a:t>
            </a:r>
          </a:p>
          <a:p>
            <a:pPr marL="0" indent="0">
              <a:buNone/>
            </a:pPr>
            <a:r>
              <a:rPr lang="ru-RU" dirty="0"/>
              <a:t>1. Какие реальные чувства (по словарю чувств) 	скрываются за «чувством» ВИНЫ? </a:t>
            </a:r>
          </a:p>
          <a:p>
            <a:pPr marL="0" indent="0">
              <a:buNone/>
            </a:pPr>
            <a:r>
              <a:rPr lang="ru-RU" dirty="0"/>
              <a:t>Что я могу (должен) сделать с этими чувствами?</a:t>
            </a:r>
          </a:p>
          <a:p>
            <a:pPr marL="0" indent="0">
              <a:buNone/>
            </a:pPr>
            <a:r>
              <a:rPr lang="ru-RU" dirty="0"/>
              <a:t>2. Какие действия я могу(хочу) сделать по отношению к …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40162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52F3AF-63E6-44F4-B091-5926918E9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826" y="342420"/>
            <a:ext cx="6457178" cy="1049235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Работа с границами – шаг №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A9C92A-9731-401E-AA6A-6694443AA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261" y="1744733"/>
            <a:ext cx="5452513" cy="398997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Подавление чувств приводит к тому, что люди не чувствуют свои границы и </a:t>
            </a:r>
            <a:r>
              <a:rPr lang="ru-RU" b="1" dirty="0"/>
              <a:t>не умеют их отстаивать. </a:t>
            </a:r>
            <a:r>
              <a:rPr lang="ru-RU" dirty="0"/>
              <a:t>У них агрессия направлена вовнутрь, на себя.</a:t>
            </a:r>
          </a:p>
          <a:p>
            <a:endParaRPr lang="ru-RU" dirty="0"/>
          </a:p>
          <a:p>
            <a:r>
              <a:rPr lang="ru-RU" dirty="0"/>
              <a:t>Есть другой тип зависимых людей – они умеют отстаивать свои границы, умеют говорить «нет», </a:t>
            </a:r>
            <a:r>
              <a:rPr lang="ru-RU" b="1" dirty="0"/>
              <a:t>но нарушают чужие, </a:t>
            </a:r>
            <a:r>
              <a:rPr lang="ru-RU" dirty="0"/>
              <a:t>требуют от партнера того, что требовать не вправе.</a:t>
            </a:r>
          </a:p>
        </p:txBody>
      </p:sp>
      <p:pic>
        <p:nvPicPr>
          <p:cNvPr id="20482" name="Picture 2" descr="Что такое психологические границы личности?">
            <a:extLst>
              <a:ext uri="{FF2B5EF4-FFF2-40B4-BE49-F238E27FC236}">
                <a16:creationId xmlns:a16="http://schemas.microsoft.com/office/drawing/2014/main" id="{9C497BAA-DCB9-489D-93FA-62909EC77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50" y="2136533"/>
            <a:ext cx="4136649" cy="275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1733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4" name="Table 394"/>
          <p:cNvGraphicFramePr/>
          <p:nvPr/>
        </p:nvGraphicFramePr>
        <p:xfrm>
          <a:off x="886653" y="1384852"/>
          <a:ext cx="8001000" cy="5248274"/>
        </p:xfrm>
        <a:graphic>
          <a:graphicData uri="http://schemas.openxmlformats.org/drawingml/2006/table">
            <a:tbl>
              <a:tblPr firstRow="1" bandRow="1"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674"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 err="1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Позиция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dirty="0" err="1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ответственности</a:t>
                      </a:r>
                      <a:r>
                        <a:rPr lang="ru-RU" sz="1400" b="1" dirty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АВТОР</a:t>
                      </a:r>
                      <a:endParaRPr sz="1400" b="1" dirty="0">
                        <a:solidFill>
                          <a:schemeClr val="tx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5730" marR="45730" marT="45730" marB="45730" horzOverflow="overflow"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 err="1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Позиция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ru-RU" sz="1400" b="1" dirty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безответственности ЖЕРТВА</a:t>
                      </a:r>
                      <a:endParaRPr sz="1400" b="1" dirty="0">
                        <a:solidFill>
                          <a:schemeClr val="tx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5730" marR="45730" marT="45730" marB="4573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624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Возможности есть в любых ситуациях</a:t>
                      </a:r>
                    </a:p>
                  </a:txBody>
                  <a:tcPr marL="45730" marR="45730" marT="45730" marB="45730" horzOverflow="overflow"/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Возможностей нет.</a:t>
                      </a:r>
                    </a:p>
                  </a:txBody>
                  <a:tcPr marL="45730" marR="45730" marT="45730" marB="4573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3172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Меня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ведут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действия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,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основанные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на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целях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и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обязательствах</a:t>
                      </a:r>
                      <a:endParaRPr sz="1400" b="1" i="1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5730" marR="45730" marT="45730" marB="45730" horzOverflow="overflow"/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Меня ведут надежды, пожелания, оценки (нравится- не нравится). Суждения, мнения и чувства доминируют над действиями.</a:t>
                      </a:r>
                    </a:p>
                  </a:txBody>
                  <a:tcPr marL="45730" marR="45730" marT="45730" marB="4573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624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Я –чемпион по результатам</a:t>
                      </a:r>
                      <a:endParaRPr i="1"/>
                    </a:p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Я –часть решения</a:t>
                      </a:r>
                    </a:p>
                  </a:txBody>
                  <a:tcPr marL="45730" marR="45730" marT="45730" marB="45730" horzOverflow="overflow"/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Я – чемпион по оправданиям</a:t>
                      </a:r>
                      <a:endParaRPr i="1"/>
                    </a:p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Я – часть проблемы</a:t>
                      </a:r>
                    </a:p>
                  </a:txBody>
                  <a:tcPr marL="45730" marR="45730" marT="45730" marB="4573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3172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Каковы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мои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цели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? </a:t>
                      </a:r>
                      <a:endParaRPr i="1" dirty="0"/>
                    </a:p>
                    <a:p>
                      <a:pPr lvl="0" algn="l">
                        <a:defRPr sz="1800" b="0" i="0"/>
                      </a:pP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Что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я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могу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сделать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?</a:t>
                      </a:r>
                      <a:endParaRPr i="1" dirty="0"/>
                    </a:p>
                    <a:p>
                      <a:pPr lvl="0" algn="l">
                        <a:defRPr sz="1800" b="0" i="0"/>
                      </a:pP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Каковы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мои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обязательства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?</a:t>
                      </a:r>
                    </a:p>
                  </a:txBody>
                  <a:tcPr marL="45730" marR="45730" marT="45730" marB="45730" horzOverflow="overflow"/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Что не так со мной? Что не так с ними? Стремление к комфорту, желание хорошо выглядеть и быть правым.</a:t>
                      </a:r>
                    </a:p>
                  </a:txBody>
                  <a:tcPr marL="45730" marR="45730" marT="45730" marB="4573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74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Я – мое слово</a:t>
                      </a:r>
                    </a:p>
                  </a:txBody>
                  <a:tcPr marL="45730" marR="45730" marT="45730" marB="45730" horzOverflow="overflow"/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Я- это мои чувства</a:t>
                      </a:r>
                    </a:p>
                  </a:txBody>
                  <a:tcPr marL="45730" marR="45730" marT="45730" marB="4573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162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Выбор</a:t>
                      </a:r>
                    </a:p>
                  </a:txBody>
                  <a:tcPr marL="45730" marR="45730" marT="45730" marB="45730" horzOverflow="overflow"/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Вынужденность, соглашательство</a:t>
                      </a:r>
                    </a:p>
                  </a:txBody>
                  <a:tcPr marL="45730" marR="45730" marT="45730" marB="4573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63172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Успех – это намеренно созданный результат</a:t>
                      </a:r>
                      <a:endParaRPr i="1"/>
                    </a:p>
                    <a:p>
                      <a:pPr lvl="0" algn="l">
                        <a:defRPr sz="1800" b="0" i="0"/>
                      </a:pPr>
                      <a:endParaRPr sz="1400" i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lvl="0" algn="l">
                        <a:defRPr sz="1800" b="0" i="0"/>
                      </a:pPr>
                      <a:r>
                        <a:rPr sz="1400" b="1" i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ЖИЗНЬ</a:t>
                      </a:r>
                    </a:p>
                  </a:txBody>
                  <a:tcPr marL="45730" marR="45730" marT="45730" marB="45730" horzOverflow="overflow"/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Я –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жертва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обстоятельств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.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Мне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просто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sz="1400" b="1" i="1" dirty="0" err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повезло</a:t>
                      </a: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.</a:t>
                      </a:r>
                      <a:endParaRPr i="1" dirty="0"/>
                    </a:p>
                    <a:p>
                      <a:pPr lvl="0" algn="l">
                        <a:defRPr sz="1800" b="0" i="0"/>
                      </a:pPr>
                      <a:endParaRPr sz="1400" i="1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lvl="0" algn="l">
                        <a:defRPr sz="1800" b="0" i="0"/>
                      </a:pPr>
                      <a:r>
                        <a:rPr sz="1400" b="1" i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ВЫЖИВАНИЕ</a:t>
                      </a:r>
                    </a:p>
                  </a:txBody>
                  <a:tcPr marL="45730" marR="45730" marT="45730" marB="4573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D7E66D-E3B2-4A80-8F26-0067FC9272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0963"/>
            <a:ext cx="9518650" cy="1049337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FF0000"/>
                </a:solidFill>
              </a:rPr>
              <a:t>Я – Автор своей Жизни – шаг № 4 (С. </a:t>
            </a:r>
            <a:r>
              <a:rPr lang="ru-RU" sz="2800" b="1" dirty="0" err="1">
                <a:solidFill>
                  <a:srgbClr val="FF0000"/>
                </a:solidFill>
              </a:rPr>
              <a:t>Кови</a:t>
            </a:r>
            <a:r>
              <a:rPr lang="ru-RU" sz="2800" b="1" dirty="0">
                <a:solidFill>
                  <a:srgbClr val="FF0000"/>
                </a:solidFill>
              </a:rPr>
              <a:t> 7 навыков высокоэффективных людей 1 глава)</a:t>
            </a:r>
          </a:p>
        </p:txBody>
      </p:sp>
    </p:spTree>
    <p:extLst>
      <p:ext uri="{BB962C8B-B14F-4D97-AF65-F5344CB8AC3E}">
        <p14:creationId xmlns:p14="http://schemas.microsoft.com/office/powerpoint/2010/main" val="13875011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5568" y="319100"/>
            <a:ext cx="7098675" cy="1784908"/>
          </a:xfrm>
        </p:spPr>
        <p:txBody>
          <a:bodyPr>
            <a:normAutofit/>
          </a:bodyPr>
          <a:lstStyle/>
          <a:p>
            <a:r>
              <a:rPr lang="ru-RU" dirty="0"/>
              <a:t>Кто виноват и что делать?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94191" y="1718567"/>
            <a:ext cx="10670976" cy="3777283"/>
          </a:xfrm>
        </p:spPr>
        <p:txBody>
          <a:bodyPr>
            <a:normAutofit/>
          </a:bodyPr>
          <a:lstStyle/>
          <a:p>
            <a:r>
              <a:rPr lang="ru-RU" dirty="0" err="1"/>
              <a:t>Проактивность</a:t>
            </a:r>
            <a:r>
              <a:rPr lang="ru-RU" dirty="0"/>
              <a:t> и реактивность. </a:t>
            </a:r>
          </a:p>
          <a:p>
            <a:r>
              <a:rPr lang="ru-RU" dirty="0"/>
              <a:t>Стивен </a:t>
            </a:r>
            <a:r>
              <a:rPr lang="ru-RU" dirty="0" err="1"/>
              <a:t>Кови</a:t>
            </a:r>
            <a:r>
              <a:rPr lang="ru-RU" dirty="0"/>
              <a:t> «7 навыков высокоэффективных людей»</a:t>
            </a:r>
          </a:p>
          <a:p>
            <a:endParaRPr lang="ru-RU" dirty="0"/>
          </a:p>
          <a:p>
            <a:r>
              <a:rPr lang="ru-RU" dirty="0"/>
              <a:t>Как я это создал?</a:t>
            </a:r>
          </a:p>
          <a:p>
            <a:r>
              <a:rPr lang="ru-RU" dirty="0"/>
              <a:t>Какие выводы я могу из этого сделать?</a:t>
            </a:r>
          </a:p>
          <a:p>
            <a:r>
              <a:rPr lang="ru-RU" dirty="0"/>
              <a:t>Что я могу сделать теперь, чтобы исправить последствия?</a:t>
            </a:r>
          </a:p>
          <a:p>
            <a:r>
              <a:rPr lang="ru-RU" dirty="0"/>
              <a:t>(Что я могу </a:t>
            </a:r>
            <a:r>
              <a:rPr lang="ru-RU" dirty="0" err="1"/>
              <a:t>седать</a:t>
            </a:r>
            <a:r>
              <a:rPr lang="ru-RU" dirty="0"/>
              <a:t> для других людей?) </a:t>
            </a:r>
          </a:p>
        </p:txBody>
      </p:sp>
    </p:spTree>
    <p:extLst>
      <p:ext uri="{BB962C8B-B14F-4D97-AF65-F5344CB8AC3E}">
        <p14:creationId xmlns:p14="http://schemas.microsoft.com/office/powerpoint/2010/main" val="16364352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Быть хорошим Родителем самому себе!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Поддержка Родителя +  </a:t>
            </a:r>
          </a:p>
          <a:p>
            <a:r>
              <a:rPr lang="ru-RU" dirty="0"/>
              <a:t>Трансформация Родителя –</a:t>
            </a:r>
          </a:p>
          <a:p>
            <a:r>
              <a:rPr lang="ru-RU"/>
              <a:t>Формирование Взрослой </a:t>
            </a:r>
            <a:r>
              <a:rPr lang="ru-RU" dirty="0"/>
              <a:t>части личности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4440D86-04BD-4549-AA76-904DBAA26A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 rot="16200000">
            <a:off x="7035800" y="1444096"/>
            <a:ext cx="3441700" cy="4588933"/>
          </a:xfrm>
        </p:spPr>
      </p:pic>
    </p:spTree>
    <p:extLst>
      <p:ext uri="{BB962C8B-B14F-4D97-AF65-F5344CB8AC3E}">
        <p14:creationId xmlns:p14="http://schemas.microsoft.com/office/powerpoint/2010/main" val="6762643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4EF55-FADB-4501-BA57-D5F6C5515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1" y="0"/>
            <a:ext cx="9942443" cy="114300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Я родом из детства (упражнение)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5A0411-7BD1-46AC-958D-C25CB1CB6B8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6775" y="1038225"/>
            <a:ext cx="6013173" cy="539115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Составьте два списка незавершенных проблем в отношениях с родителями (матерью и отцом отдельно). </a:t>
            </a:r>
          </a:p>
          <a:p>
            <a:r>
              <a:rPr lang="ru-RU" dirty="0"/>
              <a:t>В первом списке напишите всё, что говорила и делала по отношению к вам мать (отец) в то время, когда вы были ребенком, и что, на ваш теперешний взгляд, не принесло вам никакой пользы и даже могло повредить. </a:t>
            </a:r>
          </a:p>
          <a:p>
            <a:r>
              <a:rPr lang="ru-RU" dirty="0"/>
              <a:t>Во втором списке перечислите все, что вы хотели бы, чтобы ваша мать (отец) говорила и делала, когда вы были ребенком, и что, по вашему мнению, сделало бы вашу жизнь сейчас более легкой, пошло бы вам на пользу.</a:t>
            </a:r>
            <a:br>
              <a:rPr lang="ru-RU" dirty="0"/>
            </a:br>
            <a:endParaRPr lang="ru-RU" dirty="0"/>
          </a:p>
        </p:txBody>
      </p:sp>
      <p:pic>
        <p:nvPicPr>
          <p:cNvPr id="21506" name="Picture 2" descr="Детство в СССР и детство сейчас. Где было лучше? — LegendaPress">
            <a:extLst>
              <a:ext uri="{FF2B5EF4-FFF2-40B4-BE49-F238E27FC236}">
                <a16:creationId xmlns:a16="http://schemas.microsoft.com/office/drawing/2014/main" id="{C132FC14-2B11-4D45-A9EE-C5711C7A9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869" y="1262269"/>
            <a:ext cx="3845461" cy="370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7400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017F19A-1D0A-4BF9-B1C8-9AE936DA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351A7F-CEC9-4DAD-B1FF-AC01A27500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2415" y="1420018"/>
            <a:ext cx="9520237" cy="4017963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Первый список показывает </a:t>
            </a:r>
            <a:r>
              <a:rPr lang="ru-RU" dirty="0"/>
              <a:t>то, что вы не полностью простили своим родителям, то, за что вы, возможно, до сих пор на них в обиде. </a:t>
            </a:r>
          </a:p>
          <a:p>
            <a:r>
              <a:rPr lang="ru-RU" dirty="0"/>
              <a:t>Это то, что сдерживает вас и способствует вашей зависимости. </a:t>
            </a:r>
          </a:p>
          <a:p>
            <a:r>
              <a:rPr lang="ru-RU" b="1" dirty="0"/>
              <a:t>Во втором списке </a:t>
            </a:r>
            <a:r>
              <a:rPr lang="ru-RU" dirty="0"/>
              <a:t>перечислено все то, что вы до сих пор ожидаете от своих родителей или от своего партнера. </a:t>
            </a:r>
          </a:p>
          <a:p>
            <a:r>
              <a:rPr lang="ru-RU" dirty="0"/>
              <a:t>Здесь указано все то, что кто-то другой, как вы до сих пор надеетесь, должен сделать для вас. </a:t>
            </a:r>
          </a:p>
          <a:p>
            <a:r>
              <a:rPr lang="ru-RU" dirty="0"/>
              <a:t>Вам придется взять эти заботы на себя или попросить близких людей помочь удовлетворить вам эти потребности.</a:t>
            </a:r>
          </a:p>
        </p:txBody>
      </p:sp>
    </p:spTree>
    <p:extLst>
      <p:ext uri="{BB962C8B-B14F-4D97-AF65-F5344CB8AC3E}">
        <p14:creationId xmlns:p14="http://schemas.microsoft.com/office/powerpoint/2010/main" val="29602343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B50FB-EFF0-48F4-9A43-E62591275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037443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Работа с самооценкой – шаг № 5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EA513F-7E36-4BA4-A04D-723D007CF44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345648"/>
            <a:ext cx="9687201" cy="3776663"/>
          </a:xfrm>
        </p:spPr>
        <p:txBody>
          <a:bodyPr/>
          <a:lstStyle/>
          <a:p>
            <a:r>
              <a:rPr lang="ru-RU" dirty="0"/>
              <a:t>«Зависимость – семейная болезнь» Валентина Москаленко, часть 2.</a:t>
            </a:r>
            <a:br>
              <a:rPr lang="ru-RU" dirty="0"/>
            </a:br>
            <a:r>
              <a:rPr lang="en-US" dirty="0">
                <a:hlinkClick r:id="rId2"/>
              </a:rPr>
              <a:t>https://coollib.com/b/225628/read</a:t>
            </a:r>
            <a:endParaRPr lang="ru-RU" dirty="0"/>
          </a:p>
          <a:p>
            <a:r>
              <a:rPr lang="ru-RU" dirty="0"/>
              <a:t>Статья «Самооценка» </a:t>
            </a:r>
          </a:p>
        </p:txBody>
      </p:sp>
      <p:pic>
        <p:nvPicPr>
          <p:cNvPr id="22530" name="Picture 2" descr="Метафизика Личности - Самооценка человека Помните у Ильфа и Петрова, «Я  старый больной человек, меня девушки не любят…») Что это такое? Признаком  чего являются эти душераздирающие слова?..) Это самооценка. Да-да… Именно,  самооценка.">
            <a:extLst>
              <a:ext uri="{FF2B5EF4-FFF2-40B4-BE49-F238E27FC236}">
                <a16:creationId xmlns:a16="http://schemas.microsoft.com/office/drawing/2014/main" id="{46362C5D-1133-429E-B167-8ECAA6500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555" y="2505075"/>
            <a:ext cx="3494145" cy="261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644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9AB80D-CAE2-415D-9A4A-EFBFAD13B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AECB45F1-D097-4CF8-8024-2869105FEE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5400000">
            <a:off x="-39644" y="451947"/>
            <a:ext cx="2353582" cy="1765187"/>
          </a:xfr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E9308244-4EA2-4522-AD24-EBFD6D9435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148577" y="477147"/>
            <a:ext cx="4785640" cy="638085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BA15D74-51BC-4A7B-BA1E-B6DBDBC82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999" y="804889"/>
            <a:ext cx="4832134" cy="343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027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0762D-E797-452B-A132-EF7BC0F5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CF6926A-BE82-4C5C-80FC-EB17875EA6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5661" y="-121913"/>
            <a:ext cx="5081547" cy="6147808"/>
          </a:xfrm>
          <a:prstGeom prst="rect">
            <a:avLst/>
          </a:prstGeom>
        </p:spPr>
      </p:pic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F64157-2D93-47EA-AE73-6BA195E24A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87209" y="1375228"/>
            <a:ext cx="2650389" cy="353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14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0608A99-5319-4671-90BA-6C6AF073B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76" y="102093"/>
            <a:ext cx="9007876" cy="6755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6046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779D4-F0D9-4A73-8EC0-1480240F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Баланс брать – давать!!!</a:t>
            </a:r>
          </a:p>
        </p:txBody>
      </p:sp>
      <p:pic>
        <p:nvPicPr>
          <p:cNvPr id="4098" name="Picture 2" descr="О балансе брать-давать. Как избежать истощения? - psy-practice.com">
            <a:extLst>
              <a:ext uri="{FF2B5EF4-FFF2-40B4-BE49-F238E27FC236}">
                <a16:creationId xmlns:a16="http://schemas.microsoft.com/office/drawing/2014/main" id="{7EE4E025-589B-4082-9910-EAC1511C127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10725" y="1162050"/>
            <a:ext cx="2581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EB3655C-EC13-4968-A431-2F1D641FBE5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92458" y="1417638"/>
            <a:ext cx="8099425" cy="4433888"/>
          </a:xfrm>
        </p:spPr>
        <p:txBody>
          <a:bodyPr>
            <a:normAutofit/>
          </a:bodyPr>
          <a:lstStyle/>
          <a:p>
            <a:r>
              <a:rPr lang="ru-RU" sz="2000" b="0" i="0" dirty="0">
                <a:effectLst/>
                <a:latin typeface="+mj-lt"/>
              </a:rPr>
              <a:t>Партнёрские отношения удаются благодаря постоянному обмену «давать-брать». Иногда у людей возникают трудности с тем, чтобы научиться полноценно вкладываться и одновременно с этим регулировать, что, сколько и зачем они берут.</a:t>
            </a:r>
            <a:endParaRPr lang="ru-RU" sz="2000" dirty="0">
              <a:latin typeface="+mj-lt"/>
            </a:endParaRPr>
          </a:p>
          <a:p>
            <a:r>
              <a:rPr lang="ru-RU" sz="2000" b="1" dirty="0">
                <a:latin typeface="+mj-lt"/>
              </a:rPr>
              <a:t>Возможные причины нарушения баланса</a:t>
            </a:r>
          </a:p>
          <a:p>
            <a:r>
              <a:rPr lang="ru-RU" sz="2000" dirty="0">
                <a:solidFill>
                  <a:srgbClr val="000000"/>
                </a:solidFill>
                <a:latin typeface="+mj-lt"/>
              </a:rPr>
              <a:t>П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+mj-lt"/>
              </a:rPr>
              <a:t>артнер чувствует потребность в таком количестве любви, которое другой не способен вам дать.</a:t>
            </a:r>
          </a:p>
          <a:p>
            <a:r>
              <a:rPr lang="ru-RU" sz="2000" b="0" i="0" dirty="0">
                <a:solidFill>
                  <a:srgbClr val="3F3F3F"/>
                </a:solidFill>
                <a:effectLst/>
                <a:latin typeface="+mj-lt"/>
              </a:rPr>
              <a:t>Один из партнеров склонен в большей степени отдавать (причины?), потом негодовать на неблагодарность другого. </a:t>
            </a:r>
          </a:p>
          <a:p>
            <a:r>
              <a:rPr lang="ru-RU" sz="2000" dirty="0">
                <a:solidFill>
                  <a:srgbClr val="3F3F3F"/>
                </a:solidFill>
                <a:latin typeface="+mj-lt"/>
              </a:rPr>
              <a:t>Один из партнеров склонен в большей степени забирать (причины?). </a:t>
            </a:r>
          </a:p>
          <a:p>
            <a:r>
              <a:rPr lang="ru-RU" sz="2000" dirty="0">
                <a:solidFill>
                  <a:srgbClr val="3F3F3F"/>
                </a:solidFill>
                <a:latin typeface="+mj-lt"/>
              </a:rPr>
              <a:t>П</a:t>
            </a:r>
            <a:r>
              <a:rPr lang="ru-RU" sz="2000" b="0" i="0" dirty="0">
                <a:solidFill>
                  <a:srgbClr val="3F3F3F"/>
                </a:solidFill>
                <a:effectLst/>
                <a:latin typeface="+mj-lt"/>
              </a:rPr>
              <a:t>артнер большую </a:t>
            </a:r>
            <a:r>
              <a:rPr lang="ru-RU" sz="2000" i="0" dirty="0">
                <a:solidFill>
                  <a:srgbClr val="3F3F3F"/>
                </a:solidFill>
                <a:effectLst/>
                <a:latin typeface="+mj-lt"/>
              </a:rPr>
              <a:t>часть своей энергии тратит на обслуживание </a:t>
            </a:r>
            <a:r>
              <a:rPr lang="ru-RU" sz="2000" b="1" i="1" dirty="0">
                <a:solidFill>
                  <a:srgbClr val="3F3F3F"/>
                </a:solidFill>
                <a:effectLst/>
                <a:latin typeface="+mj-lt"/>
              </a:rPr>
              <a:t>системных семейных динамик</a:t>
            </a:r>
            <a:r>
              <a:rPr lang="ru-RU" sz="2000" dirty="0">
                <a:solidFill>
                  <a:srgbClr val="3F3F3F"/>
                </a:solidFill>
                <a:effectLst/>
                <a:latin typeface="+mj-lt"/>
              </a:rPr>
              <a:t>, что съедает большую часть его ресурса, и нарушает ВАШ С НИМ БАЛАНС.</a:t>
            </a:r>
            <a:endParaRPr lang="ru-RU" sz="2000" dirty="0">
              <a:solidFill>
                <a:srgbClr val="000000"/>
              </a:solidFill>
              <a:effectLst/>
              <a:latin typeface="+mj-lt"/>
            </a:endParaRPr>
          </a:p>
          <a:p>
            <a:endParaRPr lang="ru-RU" sz="2400" dirty="0">
              <a:solidFill>
                <a:srgbClr val="000000"/>
              </a:solidFill>
              <a:latin typeface="+mj-lt"/>
            </a:endParaRPr>
          </a:p>
          <a:p>
            <a:endParaRPr lang="ru-RU" sz="2400" dirty="0">
              <a:solidFill>
                <a:srgbClr val="000000"/>
              </a:solidFill>
              <a:latin typeface="+mj-lt"/>
            </a:endParaRPr>
          </a:p>
          <a:p>
            <a:endParaRPr lang="ru-RU" sz="2400" dirty="0">
              <a:solidFill>
                <a:srgbClr val="000000"/>
              </a:solidFill>
              <a:latin typeface="+mj-lt"/>
            </a:endParaRPr>
          </a:p>
          <a:p>
            <a:endParaRPr lang="ru-RU" sz="2400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074632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2E31E-FF3E-4047-AF80-07F0CD09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Баланс брать – давать!!!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64A207-428F-42E4-95EA-202B0BB87EA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43379" y="1349622"/>
            <a:ext cx="10017125" cy="4797425"/>
          </a:xfrm>
        </p:spPr>
        <p:txBody>
          <a:bodyPr>
            <a:normAutofit fontScale="62500" lnSpcReduction="20000"/>
          </a:bodyPr>
          <a:lstStyle/>
          <a:p>
            <a:r>
              <a:rPr lang="ru-RU" dirty="0">
                <a:solidFill>
                  <a:srgbClr val="000000"/>
                </a:solidFill>
                <a:latin typeface="+mj-lt"/>
              </a:rPr>
              <a:t>При нарушении </a:t>
            </a:r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баланса в отношениях важно начинать работать над его восстановлением.</a:t>
            </a:r>
          </a:p>
          <a:p>
            <a:r>
              <a:rPr lang="ru-RU" b="1" i="1" dirty="0">
                <a:solidFill>
                  <a:srgbClr val="000000"/>
                </a:solidFill>
                <a:effectLst/>
                <a:latin typeface="+mj-lt"/>
              </a:rPr>
              <a:t>Что можно делать?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Говорим с партнером о своих пожеланиях и чувствах, </a:t>
            </a:r>
            <a:r>
              <a:rPr lang="ru-RU" dirty="0">
                <a:solidFill>
                  <a:srgbClr val="000000"/>
                </a:solidFill>
                <a:latin typeface="+mj-lt"/>
              </a:rPr>
              <a:t>в</a:t>
            </a:r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место претензий.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«Неутолимая жажда — это желание иметь, не принимая» Берт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+mj-lt"/>
              </a:rPr>
              <a:t>Хеллингер</a:t>
            </a:r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. Тогда необходима личная терапия.</a:t>
            </a:r>
          </a:p>
          <a:p>
            <a:r>
              <a:rPr lang="ru-RU" dirty="0">
                <a:solidFill>
                  <a:srgbClr val="3F3F3F"/>
                </a:solidFill>
                <a:latin typeface="+mj-lt"/>
              </a:rPr>
              <a:t>П</a:t>
            </a:r>
            <a:r>
              <a:rPr lang="ru-RU" b="0" i="0" dirty="0">
                <a:solidFill>
                  <a:srgbClr val="3F3F3F"/>
                </a:solidFill>
                <a:effectLst/>
                <a:latin typeface="+mj-lt"/>
              </a:rPr>
              <a:t>артнеру, который склонен значительно больше отдавать,  важно научиться брать, заметить свои потребности в отношениях и разрешить их себе.</a:t>
            </a:r>
          </a:p>
          <a:p>
            <a:r>
              <a:rPr lang="ru-RU" dirty="0">
                <a:solidFill>
                  <a:srgbClr val="3F3F3F"/>
                </a:solidFill>
                <a:latin typeface="+mj-lt"/>
              </a:rPr>
              <a:t>Для партнера, который склонен в большей степени забирать, стоит устанавливать границы (тема границ в партнерстве не проработана).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При потере сил для обслуживания </a:t>
            </a:r>
            <a:r>
              <a:rPr lang="ru-RU" b="1" i="1" dirty="0">
                <a:solidFill>
                  <a:srgbClr val="3F3F3F"/>
                </a:solidFill>
                <a:effectLst/>
                <a:latin typeface="+mj-lt"/>
              </a:rPr>
              <a:t>системных семейных динамик</a:t>
            </a:r>
            <a:r>
              <a:rPr lang="ru-RU" dirty="0">
                <a:solidFill>
                  <a:srgbClr val="3F3F3F"/>
                </a:solidFill>
                <a:effectLst/>
                <a:latin typeface="+mj-lt"/>
              </a:rPr>
              <a:t>, партнеру необходимо разобраться с этим. </a:t>
            </a:r>
            <a:endParaRPr lang="ru-RU" b="0" i="0" dirty="0">
              <a:solidFill>
                <a:srgbClr val="000000"/>
              </a:solidFill>
              <a:effectLst/>
              <a:latin typeface="+mj-lt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«Положительное уравновешивание», когда в ответ на полученную пользу партнер делает тоже пользу «и еще чуть-чуть».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Благодарность тоже служит уравновешиванию отношений. Важно с  благодарностью принимать то, что дают, и из любви возвращать несколько больше.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35542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72141-DD6D-4349-87F1-8F2E4EC4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А можно ли посчитать?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7A5663-FD55-458D-8BF7-45BDAA3E307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805996" y="1446490"/>
            <a:ext cx="5086905" cy="452596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Если нельзя посчитать, как будем определять?</a:t>
            </a:r>
          </a:p>
          <a:p>
            <a:r>
              <a:rPr lang="ru-RU" dirty="0"/>
              <a:t>Варианты:</a:t>
            </a:r>
            <a:br>
              <a:rPr lang="ru-RU" dirty="0"/>
            </a:br>
            <a:r>
              <a:rPr lang="ru-RU" dirty="0"/>
              <a:t>Определить правила, функционал</a:t>
            </a:r>
          </a:p>
          <a:p>
            <a:r>
              <a:rPr lang="ru-RU" dirty="0"/>
              <a:t>Взаимно описать потребности</a:t>
            </a:r>
          </a:p>
          <a:p>
            <a:r>
              <a:rPr lang="ru-RU" dirty="0"/>
              <a:t>Сообщить о недостаче…</a:t>
            </a:r>
          </a:p>
          <a:p>
            <a:r>
              <a:rPr lang="ru-RU" dirty="0"/>
              <a:t>Спросить, возможно чего-то не хватает.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E7EF82-DF7F-4B97-BCC0-B9ABA1139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25" y="1768875"/>
            <a:ext cx="5160639" cy="353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9041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8A9F4F2-FEB5-437C-B9D1-0508AFBA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9209103" cy="701906"/>
          </a:xfrm>
        </p:spPr>
        <p:txBody>
          <a:bodyPr>
            <a:normAutofit fontScale="90000"/>
          </a:bodyPr>
          <a:lstStyle/>
          <a:p>
            <a:r>
              <a:rPr lang="ru-RU" dirty="0"/>
              <a:t>Любовь или зависимость?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F3B113-9D55-4349-A1BD-D59D802B15F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905522" y="1216240"/>
            <a:ext cx="8709025" cy="4563431"/>
          </a:xfrm>
        </p:spPr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Есть ли у каждого из любящих твердая уверенность в своей собственной ценности?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Оказывает ли на любящих благотворное влияние связь между ними? Становятся ли они и в отношениях с другими людьми лучше, сильнее, привлекательнее, совершеннее или чувствительнее? Дорожат ли они этой связью именно по этой причине?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Сохраняют ли любящие какие-либо важные для них близкие отношения с другими людьми?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Вписываются ли отношения между любящими в их жизнь в целом или же они обособлены от нее?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Способны ли любящие преодолеть собственнические инстинкты или ревность к успехам партнера?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Связывает ли любящих не только любовь, но и дружба? Останутся ли они близкими людьми, если сексуальные отношения потеряют свою остроту?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BDEEBF-306E-44EA-8573-CD2AC9F45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862" y="126526"/>
            <a:ext cx="2274518" cy="153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588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0178C8-B288-4A12-A0B5-E15E3793C2B0}"/>
              </a:ext>
            </a:extLst>
          </p:cNvPr>
          <p:cNvSpPr txBox="1"/>
          <p:nvPr/>
        </p:nvSpPr>
        <p:spPr>
          <a:xfrm>
            <a:off x="1637472" y="2846769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>
                <a:solidFill>
                  <a:srgbClr val="FF0000"/>
                </a:solidFill>
              </a:rPr>
              <a:t>Флирт – топливо отношений</a:t>
            </a:r>
          </a:p>
        </p:txBody>
      </p:sp>
    </p:spTree>
    <p:extLst>
      <p:ext uri="{BB962C8B-B14F-4D97-AF65-F5344CB8AC3E}">
        <p14:creationId xmlns:p14="http://schemas.microsoft.com/office/powerpoint/2010/main" val="28981034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AEFCBAF-B13E-42E6-AF1D-85E10C533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Что для Вас ФЛИРТ?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99FAD8-6D32-41EA-8EA0-259DF6D08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4904AF-7897-41C3-9B3B-8EAC715057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884A58F-BBA1-4C33-8CFF-4FD7F3D95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787D827-0995-4A8B-8002-970F6DBD4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4938458" cy="395128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Порой так все спокойно в отношениях, что хочется закатить скандал на ровном месте. 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«Да чего ей (ему) не хватает? Я так стараюсь!» — недоумевает партнер.</a:t>
            </a:r>
            <a:b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</a:br>
            <a:endParaRPr lang="ru-RU" dirty="0"/>
          </a:p>
        </p:txBody>
      </p:sp>
      <p:pic>
        <p:nvPicPr>
          <p:cNvPr id="23554" name="Picture 2" descr="unsplash.com">
            <a:extLst>
              <a:ext uri="{FF2B5EF4-FFF2-40B4-BE49-F238E27FC236}">
                <a16:creationId xmlns:a16="http://schemas.microsoft.com/office/drawing/2014/main" id="{965391E6-FE0D-4AEC-AB74-6D031319E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47" y="1838771"/>
            <a:ext cx="4644887" cy="318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8632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B1245-4BE0-4E7F-8C29-41FED842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6293476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Флирт в отношениях?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350931-83AD-4E82-BC1F-D453EF19C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505" y="1321904"/>
            <a:ext cx="6495572" cy="4589318"/>
          </a:xfrm>
        </p:spPr>
        <p:txBody>
          <a:bodyPr>
            <a:normAutofit/>
          </a:bodyPr>
          <a:lstStyle/>
          <a:p>
            <a:r>
              <a:rPr lang="ru-RU" dirty="0"/>
              <a:t>Многие ошибочно полагают, что флирту в отношениях не место, что любовь должна подпитываться сама собой, а интерес друг другу вспыхивать просто на пустом месте.</a:t>
            </a:r>
          </a:p>
          <a:p>
            <a:r>
              <a:rPr lang="ru-RU" dirty="0"/>
              <a:t>Психологи давно нашли определенную взаимосвязь между расставанием и отсутствием флирта в продолжительных отношениях. </a:t>
            </a:r>
          </a:p>
        </p:txBody>
      </p:sp>
      <p:pic>
        <p:nvPicPr>
          <p:cNvPr id="5" name="Объект 4" descr="Флирт 5">
            <a:extLst>
              <a:ext uri="{FF2B5EF4-FFF2-40B4-BE49-F238E27FC236}">
                <a16:creationId xmlns:a16="http://schemas.microsoft.com/office/drawing/2014/main" id="{C29040C9-9733-410E-978C-6987028BC4F8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869" y="1593130"/>
            <a:ext cx="4045742" cy="4310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99368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11CD4-0F65-4210-ADD5-8D8175B3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F1546-1D9E-4831-BB0A-A22104A5ED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Часто нам кажется, что наш партнер не развивается. Иногда просто не меняется наше представление о нем. Мы не даем себе труда обнаружить происходящие обновления. 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Держим свои отношения в плену стереотипного восприятия. Но в нашей власти это изменить.</a:t>
            </a:r>
            <a:b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</a:br>
            <a:endParaRPr lang="ru-RU" dirty="0"/>
          </a:p>
        </p:txBody>
      </p:sp>
      <p:pic>
        <p:nvPicPr>
          <p:cNvPr id="24578" name="Picture 2" descr="Флирт с другими, находясь в отношениях | ЖЕНСКИЙ УГОЛОК | Яндекс Дзен">
            <a:extLst>
              <a:ext uri="{FF2B5EF4-FFF2-40B4-BE49-F238E27FC236}">
                <a16:creationId xmlns:a16="http://schemas.microsoft.com/office/drawing/2014/main" id="{C8043305-431F-45DF-A97A-189CAB7D9EB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2248793"/>
            <a:ext cx="4785139" cy="32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1450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E52D1-DF80-469A-8F52-16CBEC88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759148" cy="1143000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Некоторые принципы флирта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528A45-2E30-4D65-AB0A-4FDE9CBF79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Живите с мыслью, что ФЛИРТ необходим.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Получайте удовольствие от ФЛИРТА.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Уважайте тех, с кем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ФЛИРТуете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Принимайте, как данность, что иногда  партнер может на ФЛИРТ не ответить.  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Флиртуйте так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чтобы Ваш партнер  чувствовал себя особенным.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Будьте искренними.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Помните! ФЛИРТ это о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бщение из Эго-состояния Ребенок +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ru-RU" dirty="0"/>
          </a:p>
        </p:txBody>
      </p:sp>
      <p:pic>
        <p:nvPicPr>
          <p:cNvPr id="25602" name="Picture 2" descr="7 нерушимых правил начала отношений — Женский журнал &quot;ЗОЛОТОЙ&quot;">
            <a:extLst>
              <a:ext uri="{FF2B5EF4-FFF2-40B4-BE49-F238E27FC236}">
                <a16:creationId xmlns:a16="http://schemas.microsoft.com/office/drawing/2014/main" id="{59211D62-21D4-4712-933B-F0214EC3C2F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197" y="1958008"/>
            <a:ext cx="4256011" cy="272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006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337A5-85F0-4CCE-B183-9C76A4C62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192617" cy="1143000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О чем мы забываем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D52F1-AC66-4F3E-B700-EC8611D4EA0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70991" y="1600200"/>
            <a:ext cx="7779372" cy="452596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Как мы выглядим? Часто длительные отношения позволяют им расслабиться и меньше следить за собой. </a:t>
            </a:r>
          </a:p>
          <a:p>
            <a:r>
              <a:rPr lang="ru-RU" dirty="0"/>
              <a:t>Однако, если хочется оставаться желанным (это касается и мужчин и женщин), то важно вызывать сексуальный интерес у партнера. И, конечно, важно знать, что именно во внешности важно для Вашего партнера. </a:t>
            </a:r>
          </a:p>
          <a:p>
            <a:r>
              <a:rPr lang="ru-RU" b="1" dirty="0"/>
              <a:t>Выводы: </a:t>
            </a:r>
          </a:p>
          <a:p>
            <a:r>
              <a:rPr lang="ru-RU" dirty="0"/>
              <a:t>узнаем, что именно привлекает  партнера в Вашей внешности;</a:t>
            </a:r>
          </a:p>
          <a:p>
            <a:r>
              <a:rPr lang="ru-RU" dirty="0"/>
              <a:t>стараемся иметь ОБРАЗ, быть в образе, иначе получается БЕЗ </a:t>
            </a:r>
            <a:r>
              <a:rPr lang="ru-RU" dirty="0" err="1"/>
              <a:t>образие</a:t>
            </a:r>
            <a:r>
              <a:rPr lang="ru-RU" dirty="0">
                <a:sym typeface="Wingdings" panose="05000000000000000000" pitchFamily="2" charset="2"/>
              </a:rPr>
              <a:t></a:t>
            </a:r>
          </a:p>
          <a:p>
            <a:r>
              <a:rPr lang="ru-RU" dirty="0">
                <a:sym typeface="Wingdings" panose="05000000000000000000" pitchFamily="2" charset="2"/>
              </a:rPr>
              <a:t>Не пренебрегаем игровыми образами в отношениях (важно, чтобы партнер был к этому расположен)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04387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F0FB4-A374-4365-8345-878E15C6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0" y="160336"/>
            <a:ext cx="8392559" cy="1143000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Флиртующая коммуникация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E47CFE-D0FE-4A8E-A6C9-ABF185239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Взгляды, прикосновения, открытые вопросы</a:t>
            </a:r>
          </a:p>
          <a:p>
            <a:r>
              <a:rPr lang="ru-RU" dirty="0"/>
              <a:t>Интонация</a:t>
            </a:r>
          </a:p>
          <a:p>
            <a:r>
              <a:rPr lang="ru-RU" dirty="0"/>
              <a:t>СМС?</a:t>
            </a:r>
          </a:p>
          <a:p>
            <a:r>
              <a:rPr lang="ru-RU" dirty="0"/>
              <a:t>Фото?</a:t>
            </a:r>
          </a:p>
          <a:p>
            <a:r>
              <a:rPr lang="ru-RU" dirty="0"/>
              <a:t>Шутки</a:t>
            </a:r>
          </a:p>
          <a:p>
            <a:r>
              <a:rPr lang="ru-RU" dirty="0"/>
              <a:t>Смех по вкусу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6626" name="Picture 2" descr="Как узнать, что мужчина флиртует с вами">
            <a:extLst>
              <a:ext uri="{FF2B5EF4-FFF2-40B4-BE49-F238E27FC236}">
                <a16:creationId xmlns:a16="http://schemas.microsoft.com/office/drawing/2014/main" id="{481BB5A4-9F4D-40E0-91A9-0B616AB55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425" y="3128849"/>
            <a:ext cx="3546199" cy="236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9054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52EA5-1BF7-4720-88DE-AD36D876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433664"/>
            <a:ext cx="10611678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Делайте друг другу сюрпризы без всякого повода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736918-32CA-44D2-9BF7-FD430ECAEB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6287" y="1461054"/>
            <a:ext cx="5565913" cy="478438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Мы знаем о Пяти языках любви: маленький подарок внезапно и с намеком. (</a:t>
            </a:r>
            <a:r>
              <a:rPr lang="ru-RU" b="1" dirty="0"/>
              <a:t>Подарки</a:t>
            </a:r>
            <a:r>
              <a:rPr lang="ru-RU" dirty="0"/>
              <a:t>)</a:t>
            </a:r>
          </a:p>
          <a:p>
            <a:r>
              <a:rPr lang="ru-RU" dirty="0"/>
              <a:t>Совместная прогулка в интересном месте, где можно пообщаться, или просто незапланированный вечер дома. (</a:t>
            </a:r>
            <a:r>
              <a:rPr lang="ru-RU" b="1" dirty="0"/>
              <a:t>Время</a:t>
            </a:r>
            <a:r>
              <a:rPr lang="ru-RU" dirty="0"/>
              <a:t>)</a:t>
            </a:r>
          </a:p>
          <a:p>
            <a:r>
              <a:rPr lang="ru-RU" dirty="0"/>
              <a:t>Объятий много не бывает, обнимаем и ласкаем партнера неожиданно и по-разному, почему – нет? (</a:t>
            </a:r>
            <a:r>
              <a:rPr lang="ru-RU" b="1" dirty="0"/>
              <a:t>Прикосновения</a:t>
            </a:r>
            <a:r>
              <a:rPr lang="ru-RU" dirty="0"/>
              <a:t>)</a:t>
            </a:r>
          </a:p>
          <a:p>
            <a:r>
              <a:rPr lang="ru-RU" dirty="0"/>
              <a:t>Если язык любви </a:t>
            </a:r>
            <a:r>
              <a:rPr lang="ru-RU" b="1" dirty="0"/>
              <a:t>Помощь</a:t>
            </a:r>
            <a:r>
              <a:rPr lang="ru-RU" dirty="0"/>
              <a:t> – проявите фантазию, как сделать приятное на этом языке, но не буднично, а интересно!</a:t>
            </a:r>
          </a:p>
          <a:p>
            <a:r>
              <a:rPr lang="ru-RU" dirty="0"/>
              <a:t>Ну а о словах восхищения и комплиментах – и говорить не стоит. </a:t>
            </a:r>
            <a:r>
              <a:rPr lang="ru-RU" b="1" dirty="0"/>
              <a:t>Это важнейший язык флирта. </a:t>
            </a:r>
            <a:r>
              <a:rPr lang="ru-RU" dirty="0"/>
              <a:t>Добавляем интонацию, взгляды и смех!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31746" name="Picture 2" descr="9 научных фактов о флирте, которые мало кто знает (это поможет и в  отношениях, и на работе) | КТО?ЧТО?ГДЕ?">
            <a:extLst>
              <a:ext uri="{FF2B5EF4-FFF2-40B4-BE49-F238E27FC236}">
                <a16:creationId xmlns:a16="http://schemas.microsoft.com/office/drawing/2014/main" id="{C8D184FC-E33C-49DD-99AB-E3DEDF809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871" y="1311964"/>
            <a:ext cx="4539118" cy="285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3488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AF5419-6FBB-4263-A46B-3AEC462BF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Играйте и кокетничайте с любимым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94A53-2325-4440-99A7-5E20972FE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Игра – это синоним флирта. Она требует и фантазии и раскованности. </a:t>
            </a:r>
          </a:p>
          <a:p>
            <a:r>
              <a:rPr lang="ru-RU" dirty="0"/>
              <a:t>Последите за собой – </a:t>
            </a:r>
            <a:r>
              <a:rPr lang="ru-RU" dirty="0" err="1"/>
              <a:t>м.б</a:t>
            </a:r>
            <a:r>
              <a:rPr lang="ru-RU" dirty="0"/>
              <a:t>. Ваш внутренний ребенок «закован» и «зажат». Важно поработать над тем, чтобы помочь ему освободиться. </a:t>
            </a:r>
          </a:p>
          <a:p>
            <a:r>
              <a:rPr lang="ru-RU" dirty="0"/>
              <a:t>Подумайте, где найти ресурс для высвобождения творческой активности, импульсивности, которой заведует Ваше </a:t>
            </a:r>
            <a:r>
              <a:rPr lang="ru-RU" dirty="0" err="1"/>
              <a:t>эгосостояние</a:t>
            </a:r>
            <a:r>
              <a:rPr lang="ru-RU" dirty="0"/>
              <a:t> «Ребенок».</a:t>
            </a:r>
          </a:p>
          <a:p>
            <a:r>
              <a:rPr lang="ru-RU" dirty="0"/>
              <a:t>Проведем мозговой штурм!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1904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06A718-9DA1-4ACC-8B7D-057D5387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>
                <a:solidFill>
                  <a:srgbClr val="FF0000"/>
                </a:solidFill>
              </a:rPr>
              <a:t>Решение конфликтов через флирт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03FB7-2DD4-4495-8EFC-63770E77F1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Муж разбрасывает носки</a:t>
            </a:r>
          </a:p>
          <a:p>
            <a:r>
              <a:rPr lang="ru-RU" dirty="0"/>
              <a:t>Жена потратила все деньги на…</a:t>
            </a:r>
          </a:p>
          <a:p>
            <a:r>
              <a:rPr lang="ru-RU" dirty="0"/>
              <a:t>Муж собирается уехать на рыбалку вместо того, чтобы поехать к теще</a:t>
            </a:r>
          </a:p>
          <a:p>
            <a:endParaRPr lang="ru-RU" dirty="0"/>
          </a:p>
        </p:txBody>
      </p:sp>
      <p:pic>
        <p:nvPicPr>
          <p:cNvPr id="28674" name="Picture 2" descr="Женский флирт: как понять, что девушка заигрывает с парнем">
            <a:extLst>
              <a:ext uri="{FF2B5EF4-FFF2-40B4-BE49-F238E27FC236}">
                <a16:creationId xmlns:a16="http://schemas.microsoft.com/office/drawing/2014/main" id="{544046B3-2DBC-42E8-8C39-7DE6431443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452" y="1316065"/>
            <a:ext cx="2875998" cy="377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5949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7CA35C2-4CBF-4806-81CA-61A152062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A4E6FB-A2FA-4469-80BC-D3C1A7955D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Флиртовать с любимым человеком отнюдь не так просто, как кажется.</a:t>
            </a:r>
          </a:p>
          <a:p>
            <a:r>
              <a:rPr lang="ru-RU" dirty="0"/>
              <a:t>Иногда придется поговорить на эту тему с партнером, прослушать какую-то тему. </a:t>
            </a:r>
          </a:p>
          <a:p>
            <a:r>
              <a:rPr lang="ru-RU" dirty="0"/>
              <a:t>Важно наблюдать за партнером, ведь часто шутки, </a:t>
            </a:r>
            <a:r>
              <a:rPr lang="ru-RU" dirty="0" err="1"/>
              <a:t>подкалывания</a:t>
            </a:r>
            <a:r>
              <a:rPr lang="ru-RU" dirty="0"/>
              <a:t>, анекдоты, смех – это начало флирта. Не пресекайте его занудством, поддержите. </a:t>
            </a:r>
          </a:p>
          <a:p>
            <a:r>
              <a:rPr lang="ru-RU" dirty="0"/>
              <a:t>И, конечно, искренность. Искреннее желание внести в отношения искорку, интерес. </a:t>
            </a:r>
          </a:p>
          <a:p>
            <a:r>
              <a:rPr lang="ru-RU"/>
              <a:t>Помните! Флирт </a:t>
            </a:r>
            <a:r>
              <a:rPr lang="ru-RU" dirty="0"/>
              <a:t>и творческий подход к нему - залог успешных отношений. </a:t>
            </a:r>
          </a:p>
          <a:p>
            <a:endParaRPr lang="ru-RU" dirty="0"/>
          </a:p>
        </p:txBody>
      </p:sp>
      <p:pic>
        <p:nvPicPr>
          <p:cNvPr id="29698" name="Picture 2" descr="10 фактов о флирте, которые вас удивят 😉 | Знакомства в интернете | Яндекс  Дзен">
            <a:extLst>
              <a:ext uri="{FF2B5EF4-FFF2-40B4-BE49-F238E27FC236}">
                <a16:creationId xmlns:a16="http://schemas.microsoft.com/office/drawing/2014/main" id="{3FA09851-5CC0-4DE0-A2DB-1C8BB8A732E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991" y="1863627"/>
            <a:ext cx="3657600" cy="258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4535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34569EA-568E-4EF5-8523-FB9E98355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69" y="294516"/>
            <a:ext cx="10972800" cy="361466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solidFill>
                  <a:srgbClr val="FF0000"/>
                </a:solidFill>
              </a:rPr>
              <a:t>Интересное!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B242AB-BF76-4DC7-8BA8-84D97AC4505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9148" y="775255"/>
            <a:ext cx="7345017" cy="5609326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Флирт полезен для здоровья. У тех, кто регулярно и активно флиртует, прекрасный иммунитет и крепкое здоровье.</a:t>
            </a:r>
          </a:p>
          <a:p>
            <a:pPr marL="514350" indent="-514350"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Стрельба глазами – не единственное оружие во флирте. Ученые утверждает, что человек использует во время флирта более 52 сигналов тела. </a:t>
            </a:r>
            <a:endParaRPr lang="ru-RU" dirty="0">
              <a:solidFill>
                <a:srgbClr val="000000"/>
              </a:solidFill>
              <a:latin typeface="PT Sans"/>
            </a:endParaRPr>
          </a:p>
          <a:p>
            <a:pPr marL="514350" indent="-514350"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В некоторых местностях флирт запрещен законом. В Нью-Йорке продолжает действовать устаревший закон, по которому мужчина может быть оштрафован на 25 долларов за слишком откровенные взгляды; при вторичном нарушении этого закона преступник будет обязан выходить на улицу в специальной повязке, наподобие конских шор. </a:t>
            </a:r>
            <a:endParaRPr lang="ru-RU" dirty="0">
              <a:solidFill>
                <a:srgbClr val="000000"/>
              </a:solidFill>
              <a:latin typeface="PT Sans"/>
            </a:endParaRPr>
          </a:p>
          <a:p>
            <a:pPr marL="514350" indent="-514350"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Флиртовать можно в любое время. Многие люди не ждут выходных, чтобы отправиться в бар или ночной клуб и там флиртовать – они заигрывают по дороге на работу. </a:t>
            </a:r>
            <a:endParaRPr lang="ru-RU" dirty="0"/>
          </a:p>
        </p:txBody>
      </p:sp>
      <p:pic>
        <p:nvPicPr>
          <p:cNvPr id="27652" name="Picture 4" descr="Флирт: десять фактов для настоящих соблазнительниц">
            <a:extLst>
              <a:ext uri="{FF2B5EF4-FFF2-40B4-BE49-F238E27FC236}">
                <a16:creationId xmlns:a16="http://schemas.microsoft.com/office/drawing/2014/main" id="{8287E6AA-E756-4678-96F9-136119922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165" y="1371600"/>
            <a:ext cx="3644348" cy="306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3908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F5645A1A-01BF-4F58-8353-4107F7B0DE2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924339" y="725556"/>
            <a:ext cx="6211957" cy="540060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5. Необязательно флиртовать лицом к лицу. По данным исследовательского центра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Pew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Research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Center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, 40% респондентов, искавших любовь в виртуальном пространстве, признались, что они легко готовы флиртовать по электронной почте или в чате. 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6. В викторианскую эпоху веера играли роль языка тела. С помощью веера можно было передать целую гамму чувств. Так, если дама в присутствии мужчины прижимала веер к груди, к сердцу, это было равносильно признанию в любви: «Вы завоевали мое сердце». Полураскрытый веер, кокетливо прижатый к губам, был приглашением к поцелую. Если полностью раскрытый веер скрывал глаза, это означало «Я вас люблю», а если дама несколько раз подряд раскрывала и складывала веер, она хотела сказать «Как вы жестоки». Даже жалко, что изобрели кондиционеры, и флирт с помощью веера стал невозможен.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7. Навязчивый флирт дает противоположный эффект. По данным центра социальных исследований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Social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Issues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Research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Centre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, самая распространенная ошибка во флирте - слишком навязчивый зрительный контакт. </a:t>
            </a:r>
          </a:p>
        </p:txBody>
      </p:sp>
      <p:pic>
        <p:nvPicPr>
          <p:cNvPr id="30724" name="Picture 4" descr="Как правильно кокетничать с другими, если вы в отношениях - Психология  отношений и любви, отношения на расстоянии, отношения мужчины и женщины -  Он и Она - IVONA - bigmir)net - IVONA bigmir)net">
            <a:extLst>
              <a:ext uri="{FF2B5EF4-FFF2-40B4-BE49-F238E27FC236}">
                <a16:creationId xmlns:a16="http://schemas.microsoft.com/office/drawing/2014/main" id="{86E87329-AF6B-4BEB-8890-A6A1AB2E6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713" y="315153"/>
            <a:ext cx="2600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4570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D9C81368-C1EC-4AB4-A599-40E539FF3F4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87018" y="693945"/>
            <a:ext cx="5386388" cy="523971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9. Иногда за флирт можно принять дружеское участие. Исследования показали, что эту ошибку чаще всего совершают мужчины – они принимают вежливость женщины и дружеское расположение за флирт. 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10. Флирт универсален. Девушка, живущая в Нью-Йорке, имеет мало общего с жительницей камбоджийской деревни, но они совершенно одинаково пытаются привлечь внимание противоположного пола: улыбаются, удивленно поднимают брови, отводят взгляд, хихикают и поправляют волосы. Кстати, животные тоже флиртуют: птицы, рептилии, и даже рыбы, и у каждого вида есть собственный способ флирта. Так что даже если морской окунь может флиртовать, то ты и подавно – не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стесняйтся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и будь смелее!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Источник: </a:t>
            </a:r>
            <a:r>
              <a:rPr lang="ru-RU" b="0" i="0" u="none" strike="noStrike" dirty="0">
                <a:solidFill>
                  <a:srgbClr val="005599"/>
                </a:solidFill>
                <a:effectLst/>
                <a:latin typeface="PT Sans"/>
                <a:hlinkClick r:id="rId2"/>
              </a:rPr>
              <a:t>http://ivona.bigmir.net/psihologia/relate/relationship/311635-Desjat--faktov-o-sovremennom-flirte--obol-sti-ego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© Ivona.bigmir.net</a:t>
            </a:r>
            <a:endParaRPr lang="ru-RU" dirty="0"/>
          </a:p>
          <a:p>
            <a:endParaRPr lang="ru-RU" dirty="0"/>
          </a:p>
        </p:txBody>
      </p:sp>
      <p:pic>
        <p:nvPicPr>
          <p:cNvPr id="7" name="Picture 2" descr="Instagram флиртует, как тайно разрушает ваши отношения / Диван любви |  Советы и полезная информация об отношениях и браке.">
            <a:extLst>
              <a:ext uri="{FF2B5EF4-FFF2-40B4-BE49-F238E27FC236}">
                <a16:creationId xmlns:a16="http://schemas.microsoft.com/office/drawing/2014/main" id="{789AD3CA-41AC-4C40-81FE-D254F15DE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948" y="1192695"/>
            <a:ext cx="4404229" cy="253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8559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Как правильно флиртовать. Топ-10 советов о флирте всех времен и народов">
            <a:extLst>
              <a:ext uri="{FF2B5EF4-FFF2-40B4-BE49-F238E27FC236}">
                <a16:creationId xmlns:a16="http://schemas.microsoft.com/office/drawing/2014/main" id="{3104453B-8D62-44C2-AC02-FEE66637B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14" y="258418"/>
            <a:ext cx="3731102" cy="552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971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EE0A0-9933-4339-8FC5-66B417C7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77CB53-8AC6-4B7A-8599-BBDA31C935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78FAA1-3309-400B-B75E-EA7989253E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5">
            <a:extLst>
              <a:ext uri="{FF2B5EF4-FFF2-40B4-BE49-F238E27FC236}">
                <a16:creationId xmlns:a16="http://schemas.microsoft.com/office/drawing/2014/main" id="{1126690F-C676-400B-8C03-3EB88350FC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947" y="1795783"/>
            <a:ext cx="2308010" cy="346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37016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ии 30.04.2020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ии 30.04.2020" id="{8EC166D9-960F-45B0-A4D3-64F2AD2DA673}" vid="{89611A37-9DA5-47CA-9E67-9EE3312C594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15207</TotalTime>
  <Words>5944</Words>
  <Application>Microsoft Office PowerPoint</Application>
  <PresentationFormat>Широкоэкранный</PresentationFormat>
  <Paragraphs>483</Paragraphs>
  <Slides>86</Slides>
  <Notes>4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86</vt:i4>
      </vt:variant>
    </vt:vector>
  </HeadingPairs>
  <TitlesOfParts>
    <vt:vector size="96" baseType="lpstr">
      <vt:lpstr>Arial</vt:lpstr>
      <vt:lpstr>Calibri</vt:lpstr>
      <vt:lpstr>Garamond</vt:lpstr>
      <vt:lpstr>HeliosBlack</vt:lpstr>
      <vt:lpstr>PT Sans</vt:lpstr>
      <vt:lpstr>roboto</vt:lpstr>
      <vt:lpstr>Times New Roman</vt:lpstr>
      <vt:lpstr>Verdana</vt:lpstr>
      <vt:lpstr>Wingdings 3</vt:lpstr>
      <vt:lpstr>Шаблон презентации 30.04.2020</vt:lpstr>
      <vt:lpstr>Презентация PowerPoint</vt:lpstr>
      <vt:lpstr>Что мешает адекватной самооценке?  Я не люблю себя?</vt:lpstr>
      <vt:lpstr>Упражнение. Составляем билль о моем праве любить себя</vt:lpstr>
      <vt:lpstr>Что еще мешает  адекватной самооценке?</vt:lpstr>
      <vt:lpstr>Мы зависим от мнения других людей. </vt:lpstr>
      <vt:lpstr>Я боюсь делать ошибки.</vt:lpstr>
      <vt:lpstr>Я ненавижу критику. </vt:lpstr>
      <vt:lpstr>Презентация PowerPoint</vt:lpstr>
      <vt:lpstr>Презентация PowerPoint</vt:lpstr>
      <vt:lpstr>Как меняется восприятие окружающего мира </vt:lpstr>
      <vt:lpstr>Презентация PowerPoint</vt:lpstr>
      <vt:lpstr>Особенности консультирования пар </vt:lpstr>
      <vt:lpstr>Ключевые особенности системы: </vt:lpstr>
      <vt:lpstr> Свойства систем </vt:lpstr>
      <vt:lpstr>Пример семейной системы</vt:lpstr>
      <vt:lpstr>Энтропия   Негэнтропия в системе</vt:lpstr>
      <vt:lpstr>Разрушение системы</vt:lpstr>
      <vt:lpstr>Что такое коалиции?</vt:lpstr>
      <vt:lpstr>Презентация PowerPoint</vt:lpstr>
      <vt:lpstr>Презентация PowerPoint</vt:lpstr>
      <vt:lpstr>Пример семейной системы</vt:lpstr>
      <vt:lpstr>Что может помочь сохранению семейной системы</vt:lpstr>
      <vt:lpstr>Рычаг в системе</vt:lpstr>
      <vt:lpstr>Презентация PowerPoint</vt:lpstr>
      <vt:lpstr>Что делать? (Варианты работы по уменьшению Энтропии и усилению связей между членами семьи)   </vt:lpstr>
      <vt:lpstr>Немного о ПРАВИЛАХ семьи </vt:lpstr>
      <vt:lpstr>Презентация PowerPoint</vt:lpstr>
      <vt:lpstr>Выстраиваем близкие отношения на 4 уровнях</vt:lpstr>
      <vt:lpstr>Первый уровень. Уровень обмена шаблонами</vt:lpstr>
      <vt:lpstr>Задание. Уровень обмена шаблонами</vt:lpstr>
      <vt:lpstr>Второй уровень. Уровень обмена информацией </vt:lpstr>
      <vt:lpstr>Третий уровень. Обмен мнениями</vt:lpstr>
      <vt:lpstr>Четвертый уровень. Обмен чувствами и эмоциями</vt:lpstr>
      <vt:lpstr>Презентация PowerPoint</vt:lpstr>
      <vt:lpstr>Презентация PowerPoint</vt:lpstr>
      <vt:lpstr>Основные правила восстановления отношений</vt:lpstr>
      <vt:lpstr>Презентация PowerPoint</vt:lpstr>
      <vt:lpstr>Презентация PowerPoint</vt:lpstr>
      <vt:lpstr>Какие способности и душевные качества нужны,   чтобы вступать и поддерживать хорошие    любовные отношения </vt:lpstr>
      <vt:lpstr>Презентация PowerPoint</vt:lpstr>
      <vt:lpstr>«Мы все склонны к созависимым отношениям в той или иной степени…»</vt:lpstr>
      <vt:lpstr>Признаем наличие проблемы</vt:lpstr>
      <vt:lpstr>Презентация PowerPoint</vt:lpstr>
      <vt:lpstr>Треугольник Карпмана </vt:lpstr>
      <vt:lpstr>Жертва  </vt:lpstr>
      <vt:lpstr>Гонитель (контролер, диктатор, агрессор) </vt:lpstr>
      <vt:lpstr>Спасатель </vt:lpstr>
      <vt:lpstr>Как это работает </vt:lpstr>
      <vt:lpstr>Презентация PowerPoint</vt:lpstr>
      <vt:lpstr>Презентация PowerPoint</vt:lpstr>
      <vt:lpstr>Здоровые отношения</vt:lpstr>
      <vt:lpstr>Любовь к себе – шаг № 1</vt:lpstr>
      <vt:lpstr>Принятие себя – основа любви к себе</vt:lpstr>
      <vt:lpstr>Контакт с чувствами – шаг № 2</vt:lpstr>
      <vt:lpstr>Страх – основа зависимости</vt:lpstr>
      <vt:lpstr>Чувство Вины заменяем Ответственностью</vt:lpstr>
      <vt:lpstr>Работа с границами – шаг № 3</vt:lpstr>
      <vt:lpstr>Я – Автор своей Жизни – шаг № 4 (С. Кови 7 навыков высокоэффективных людей 1 глава)</vt:lpstr>
      <vt:lpstr>Кто виноват и что делать? </vt:lpstr>
      <vt:lpstr>Быть хорошим Родителем самому себе!</vt:lpstr>
      <vt:lpstr>Я родом из детства (упражнение)</vt:lpstr>
      <vt:lpstr>Презентация PowerPoint</vt:lpstr>
      <vt:lpstr>Работа с самооценкой – шаг № 5 </vt:lpstr>
      <vt:lpstr>Презентация PowerPoint</vt:lpstr>
      <vt:lpstr>Презентация PowerPoint</vt:lpstr>
      <vt:lpstr>Презентация PowerPoint</vt:lpstr>
      <vt:lpstr>Баланс брать – давать!!!</vt:lpstr>
      <vt:lpstr>Баланс брать – давать!!!</vt:lpstr>
      <vt:lpstr>А можно ли посчитать?</vt:lpstr>
      <vt:lpstr>Любовь или зависимость?</vt:lpstr>
      <vt:lpstr>Презентация PowerPoint</vt:lpstr>
      <vt:lpstr>Что для Вас ФЛИРТ?</vt:lpstr>
      <vt:lpstr>Флирт в отношениях? </vt:lpstr>
      <vt:lpstr>Презентация PowerPoint</vt:lpstr>
      <vt:lpstr>Некоторые принципы флирта</vt:lpstr>
      <vt:lpstr>О чем мы забываем</vt:lpstr>
      <vt:lpstr>Флиртующая коммуникация</vt:lpstr>
      <vt:lpstr>Делайте друг другу сюрпризы без всякого повода  </vt:lpstr>
      <vt:lpstr>Играйте и кокетничайте с любимым</vt:lpstr>
      <vt:lpstr>Решение конфликтов через флирт</vt:lpstr>
      <vt:lpstr>Презентация PowerPoint</vt:lpstr>
      <vt:lpstr>Интересное!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Nataliya Ponomareva</dc:creator>
  <cp:lastModifiedBy>user</cp:lastModifiedBy>
  <cp:revision>89</cp:revision>
  <dcterms:created xsi:type="dcterms:W3CDTF">2020-04-28T07:59:22Z</dcterms:created>
  <dcterms:modified xsi:type="dcterms:W3CDTF">2025-02-01T21:07:17Z</dcterms:modified>
</cp:coreProperties>
</file>