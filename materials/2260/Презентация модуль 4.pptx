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14" r:id="rId1"/>
    <p:sldMasterId id="2147484356" r:id="rId2"/>
  </p:sldMasterIdLst>
  <p:notesMasterIdLst>
    <p:notesMasterId r:id="rId141"/>
  </p:notesMasterIdLst>
  <p:handoutMasterIdLst>
    <p:handoutMasterId r:id="rId142"/>
  </p:handoutMasterIdLst>
  <p:sldIdLst>
    <p:sldId id="256" r:id="rId3"/>
    <p:sldId id="261" r:id="rId4"/>
    <p:sldId id="257" r:id="rId5"/>
    <p:sldId id="258" r:id="rId6"/>
    <p:sldId id="259" r:id="rId7"/>
    <p:sldId id="262" r:id="rId8"/>
    <p:sldId id="260" r:id="rId9"/>
    <p:sldId id="263" r:id="rId10"/>
    <p:sldId id="264" r:id="rId11"/>
    <p:sldId id="265" r:id="rId12"/>
    <p:sldId id="267" r:id="rId13"/>
    <p:sldId id="268" r:id="rId14"/>
    <p:sldId id="269" r:id="rId15"/>
    <p:sldId id="270" r:id="rId16"/>
    <p:sldId id="283" r:id="rId17"/>
    <p:sldId id="271" r:id="rId18"/>
    <p:sldId id="273" r:id="rId19"/>
    <p:sldId id="274" r:id="rId20"/>
    <p:sldId id="275" r:id="rId21"/>
    <p:sldId id="280" r:id="rId22"/>
    <p:sldId id="281" r:id="rId23"/>
    <p:sldId id="284" r:id="rId24"/>
    <p:sldId id="285" r:id="rId25"/>
    <p:sldId id="286" r:id="rId26"/>
    <p:sldId id="291" r:id="rId27"/>
    <p:sldId id="292" r:id="rId28"/>
    <p:sldId id="287" r:id="rId29"/>
    <p:sldId id="288" r:id="rId30"/>
    <p:sldId id="289" r:id="rId31"/>
    <p:sldId id="290" r:id="rId32"/>
    <p:sldId id="293" r:id="rId33"/>
    <p:sldId id="294" r:id="rId34"/>
    <p:sldId id="295" r:id="rId35"/>
    <p:sldId id="296" r:id="rId36"/>
    <p:sldId id="297" r:id="rId37"/>
    <p:sldId id="298" r:id="rId38"/>
    <p:sldId id="299" r:id="rId39"/>
    <p:sldId id="300" r:id="rId40"/>
    <p:sldId id="301" r:id="rId41"/>
    <p:sldId id="276" r:id="rId42"/>
    <p:sldId id="277" r:id="rId43"/>
    <p:sldId id="278" r:id="rId44"/>
    <p:sldId id="279" r:id="rId45"/>
    <p:sldId id="302" r:id="rId46"/>
    <p:sldId id="303" r:id="rId47"/>
    <p:sldId id="304" r:id="rId48"/>
    <p:sldId id="305" r:id="rId49"/>
    <p:sldId id="306" r:id="rId50"/>
    <p:sldId id="307" r:id="rId51"/>
    <p:sldId id="396" r:id="rId52"/>
    <p:sldId id="326" r:id="rId53"/>
    <p:sldId id="327" r:id="rId54"/>
    <p:sldId id="397" r:id="rId55"/>
    <p:sldId id="328" r:id="rId56"/>
    <p:sldId id="355" r:id="rId57"/>
    <p:sldId id="356" r:id="rId58"/>
    <p:sldId id="398" r:id="rId59"/>
    <p:sldId id="38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37" r:id="rId76"/>
    <p:sldId id="338" r:id="rId77"/>
    <p:sldId id="339" r:id="rId78"/>
    <p:sldId id="375" r:id="rId79"/>
    <p:sldId id="376" r:id="rId80"/>
    <p:sldId id="377" r:id="rId81"/>
    <p:sldId id="378" r:id="rId82"/>
    <p:sldId id="379" r:id="rId83"/>
    <p:sldId id="380" r:id="rId84"/>
    <p:sldId id="390" r:id="rId85"/>
    <p:sldId id="381" r:id="rId86"/>
    <p:sldId id="382" r:id="rId87"/>
    <p:sldId id="383" r:id="rId88"/>
    <p:sldId id="354" r:id="rId89"/>
    <p:sldId id="384" r:id="rId90"/>
    <p:sldId id="385" r:id="rId91"/>
    <p:sldId id="386" r:id="rId92"/>
    <p:sldId id="388" r:id="rId93"/>
    <p:sldId id="340" r:id="rId94"/>
    <p:sldId id="369" r:id="rId95"/>
    <p:sldId id="370" r:id="rId96"/>
    <p:sldId id="371" r:id="rId97"/>
    <p:sldId id="372" r:id="rId98"/>
    <p:sldId id="373" r:id="rId99"/>
    <p:sldId id="389" r:id="rId100"/>
    <p:sldId id="374" r:id="rId101"/>
    <p:sldId id="367" r:id="rId102"/>
    <p:sldId id="391" r:id="rId103"/>
    <p:sldId id="392" r:id="rId104"/>
    <p:sldId id="393" r:id="rId105"/>
    <p:sldId id="394" r:id="rId106"/>
    <p:sldId id="395" r:id="rId107"/>
    <p:sldId id="399" r:id="rId108"/>
    <p:sldId id="400" r:id="rId109"/>
    <p:sldId id="329" r:id="rId110"/>
    <p:sldId id="330" r:id="rId111"/>
    <p:sldId id="401" r:id="rId112"/>
    <p:sldId id="402" r:id="rId113"/>
    <p:sldId id="403" r:id="rId114"/>
    <p:sldId id="404" r:id="rId115"/>
    <p:sldId id="405"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 id="418" r:id="rId129"/>
    <p:sldId id="419" r:id="rId130"/>
    <p:sldId id="420" r:id="rId131"/>
    <p:sldId id="421" r:id="rId132"/>
    <p:sldId id="422" r:id="rId133"/>
    <p:sldId id="423" r:id="rId134"/>
    <p:sldId id="424" r:id="rId135"/>
    <p:sldId id="425" r:id="rId136"/>
    <p:sldId id="426" r:id="rId137"/>
    <p:sldId id="427" r:id="rId138"/>
    <p:sldId id="428" r:id="rId139"/>
    <p:sldId id="429" r:id="rId140"/>
  </p:sldIdLst>
  <p:sldSz cx="12192000" cy="6858000"/>
  <p:notesSz cx="6858000" cy="9144000"/>
  <p:defaultTextStyle>
    <a:defPPr rtl="0">
      <a:defRPr lang="ru-RU"/>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74EE25-2C7C-441B-B94F-C14865FC93A8}" v="4483" dt="2022-04-21T14:29:14.1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42" autoAdjust="0"/>
    <p:restoredTop sz="96623" autoAdjust="0"/>
  </p:normalViewPr>
  <p:slideViewPr>
    <p:cSldViewPr snapToGrid="0">
      <p:cViewPr>
        <p:scale>
          <a:sx n="53" d="100"/>
          <a:sy n="53" d="100"/>
        </p:scale>
        <p:origin x="2904" y="1776"/>
      </p:cViewPr>
      <p:guideLst/>
    </p:cSldViewPr>
  </p:slideViewPr>
  <p:notesTextViewPr>
    <p:cViewPr>
      <p:scale>
        <a:sx n="1" d="1"/>
        <a:sy n="1" d="1"/>
      </p:scale>
      <p:origin x="0" y="0"/>
    </p:cViewPr>
  </p:notesTextViewPr>
  <p:notesViewPr>
    <p:cSldViewPr snapToGrid="0">
      <p:cViewPr varScale="1">
        <p:scale>
          <a:sx n="93" d="100"/>
          <a:sy n="93" d="100"/>
        </p:scale>
        <p:origin x="3708" y="10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notesMaster" Target="notesMasters/notesMaster1.xml"/><Relationship Id="rId14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handoutMaster" Target="handoutMasters/handout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B6FE795F-4C8B-41B8-B1FC-DA2C8C54D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D10486EB-A8A7-44B8-B66E-2BC304ABB4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6E72C7-43AE-4063-8FF7-89B1CFBE603A}" type="datetime1">
              <a:rPr lang="ru-RU" smtClean="0"/>
              <a:t>22.04.2022</a:t>
            </a:fld>
            <a:endParaRPr lang="ru-RU"/>
          </a:p>
        </p:txBody>
      </p:sp>
      <p:sp>
        <p:nvSpPr>
          <p:cNvPr id="4" name="Нижний колонтитул 3">
            <a:extLst>
              <a:ext uri="{FF2B5EF4-FFF2-40B4-BE49-F238E27FC236}">
                <a16:creationId xmlns:a16="http://schemas.microsoft.com/office/drawing/2014/main" id="{97C88724-E17E-417B-8FFA-E811B36E16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8EE36B77-194C-4616-B4E2-D58277D186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F9E41-7236-410B-A8BF-26404AAA8F42}" type="slidenum">
              <a:rPr lang="ru-RU" smtClean="0"/>
              <a:t>‹#›</a:t>
            </a:fld>
            <a:endParaRPr lang="ru-RU"/>
          </a:p>
        </p:txBody>
      </p:sp>
    </p:spTree>
    <p:extLst>
      <p:ext uri="{BB962C8B-B14F-4D97-AF65-F5344CB8AC3E}">
        <p14:creationId xmlns:p14="http://schemas.microsoft.com/office/powerpoint/2010/main" val="8133428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089729-063C-4E5A-A6EB-08E659FC9C39}" type="datetime1">
              <a:rPr lang="ru-RU" smtClean="0"/>
              <a:pPr/>
              <a:t>22.04.2022</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noProof="0"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a:t>Щелкните, чтобы изменить стили текста образца слайда</a:t>
            </a:r>
          </a:p>
          <a:p>
            <a:pPr lvl="1"/>
            <a:r>
              <a:rPr lang="ru-RU" noProof="0"/>
              <a:t>Второй </a:t>
            </a:r>
            <a:r>
              <a:rPr lang="ru-RU" noProof="0" dirty="0"/>
              <a:t>уровень</a:t>
            </a:r>
          </a:p>
          <a:p>
            <a:pPr lvl="2"/>
            <a:r>
              <a:rPr lang="ru-RU" noProof="0" dirty="0"/>
              <a:t>Третий уровень</a:t>
            </a:r>
          </a:p>
          <a:p>
            <a:pPr lvl="3"/>
            <a:r>
              <a:rPr lang="ru-RU" noProof="0" dirty="0"/>
              <a:t>Четвертый уровень</a:t>
            </a:r>
          </a:p>
          <a:p>
            <a:pPr lvl="4"/>
            <a:r>
              <a:rPr lang="ru-RU" noProof="0" dirty="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E874E-7096-4673-9972-7BF10055676C}" type="slidenum">
              <a:rPr lang="ru-RU" noProof="0" smtClean="0"/>
              <a:t>‹#›</a:t>
            </a:fld>
            <a:endParaRPr lang="ru-RU" noProof="0" dirty="0"/>
          </a:p>
        </p:txBody>
      </p:sp>
    </p:spTree>
    <p:extLst>
      <p:ext uri="{BB962C8B-B14F-4D97-AF65-F5344CB8AC3E}">
        <p14:creationId xmlns:p14="http://schemas.microsoft.com/office/powerpoint/2010/main" val="1394575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A29E874E-7096-4673-9972-7BF10055676C}" type="slidenum">
              <a:rPr lang="ru-RU" smtClean="0"/>
              <a:t>1</a:t>
            </a:fld>
            <a:endParaRPr lang="ru-RU"/>
          </a:p>
        </p:txBody>
      </p:sp>
    </p:spTree>
    <p:extLst>
      <p:ext uri="{BB962C8B-B14F-4D97-AF65-F5344CB8AC3E}">
        <p14:creationId xmlns:p14="http://schemas.microsoft.com/office/powerpoint/2010/main" val="3303226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4/22/22</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89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4/22/22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10764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4/22/22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29580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4/22/22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66521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4/22/22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5383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4/22/22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56329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4/22/22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6851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4/22/22</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87091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4/22/22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8299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4/22/22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10903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4/22/22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82839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224089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61189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573238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88958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2440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67778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44228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82075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196805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376498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246620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02193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4/22/22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772275860"/>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07" r:id="rId6"/>
    <p:sldLayoutId id="2147483803" r:id="rId7"/>
    <p:sldLayoutId id="2147483804" r:id="rId8"/>
    <p:sldLayoutId id="2147483805" r:id="rId9"/>
    <p:sldLayoutId id="2147483806" r:id="rId10"/>
    <p:sldLayoutId id="21474838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4/22/22</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267108957"/>
      </p:ext>
    </p:extLst>
  </p:cSld>
  <p:clrMap bg1="lt1" tx1="dk1" bg2="lt2" tx2="dk2" accent1="accent1" accent2="accent2" accent3="accent3" accent4="accent4" accent5="accent5" accent6="accent6" hlink="hlink" folHlink="folHlink"/>
  <p:sldLayoutIdLst>
    <p:sldLayoutId id="2147484368" r:id="rId1"/>
    <p:sldLayoutId id="2147484367" r:id="rId2"/>
    <p:sldLayoutId id="2147484366" r:id="rId3"/>
    <p:sldLayoutId id="2147484365" r:id="rId4"/>
    <p:sldLayoutId id="2147484364" r:id="rId5"/>
    <p:sldLayoutId id="2147484363" r:id="rId6"/>
    <p:sldLayoutId id="2147484362" r:id="rId7"/>
    <p:sldLayoutId id="2147484361" r:id="rId8"/>
    <p:sldLayoutId id="2147484360" r:id="rId9"/>
    <p:sldLayoutId id="2147484359" r:id="rId10"/>
    <p:sldLayoutId id="2147484357" r:id="rId11"/>
    <p:sldLayoutId id="2147484358"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33">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3" descr="Унпаведная дорога с молнией в конце">
            <a:extLst>
              <a:ext uri="{FF2B5EF4-FFF2-40B4-BE49-F238E27FC236}">
                <a16:creationId xmlns:a16="http://schemas.microsoft.com/office/drawing/2014/main" id="{6FF9CA7D-F5C6-66FC-A34A-5DF7142B3647}"/>
              </a:ext>
            </a:extLst>
          </p:cNvPr>
          <p:cNvPicPr>
            <a:picLocks noChangeAspect="1"/>
          </p:cNvPicPr>
          <p:nvPr/>
        </p:nvPicPr>
        <p:blipFill rotWithShape="1">
          <a:blip r:embed="rId3"/>
          <a:srcRect l="7811" r="7816" b="-1"/>
          <a:stretch/>
        </p:blipFill>
        <p:spPr>
          <a:xfrm>
            <a:off x="3523488" y="10"/>
            <a:ext cx="8668512" cy="6857990"/>
          </a:xfrm>
          <a:prstGeom prst="rect">
            <a:avLst/>
          </a:prstGeom>
        </p:spPr>
      </p:pic>
      <p:sp>
        <p:nvSpPr>
          <p:cNvPr id="42" name="Rectangle 35">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p:cNvSpPr>
            <a:spLocks noGrp="1"/>
          </p:cNvSpPr>
          <p:nvPr>
            <p:ph type="ctrTitle"/>
          </p:nvPr>
        </p:nvSpPr>
        <p:spPr>
          <a:xfrm>
            <a:off x="477981" y="1122363"/>
            <a:ext cx="4023360" cy="3204134"/>
          </a:xfrm>
        </p:spPr>
        <p:txBody>
          <a:bodyPr rtlCol="0" anchor="b">
            <a:normAutofit/>
          </a:bodyPr>
          <a:lstStyle/>
          <a:p>
            <a:r>
              <a:rPr lang="ru-RU" sz="4800"/>
              <a:t>Модуль 4</a:t>
            </a:r>
          </a:p>
        </p:txBody>
      </p:sp>
      <p:sp>
        <p:nvSpPr>
          <p:cNvPr id="3" name="Подзаголовок 2"/>
          <p:cNvSpPr>
            <a:spLocks noGrp="1"/>
          </p:cNvSpPr>
          <p:nvPr>
            <p:ph type="subTitle" idx="1"/>
          </p:nvPr>
        </p:nvSpPr>
        <p:spPr>
          <a:xfrm>
            <a:off x="477980" y="4872922"/>
            <a:ext cx="4023359" cy="1208141"/>
          </a:xfrm>
        </p:spPr>
        <p:txBody>
          <a:bodyPr vert="horz" lIns="91440" tIns="45720" rIns="91440" bIns="45720" rtlCol="0">
            <a:normAutofit/>
          </a:bodyPr>
          <a:lstStyle/>
          <a:p>
            <a:r>
              <a:rPr lang="ru-RU" sz="2000">
                <a:cs typeface="Calibri"/>
              </a:rPr>
              <a:t>Роль сексуальности в развитии и жизни человека</a:t>
            </a:r>
          </a:p>
        </p:txBody>
      </p:sp>
      <p:sp>
        <p:nvSpPr>
          <p:cNvPr id="43" name="Rectangle 3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1082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02AC9B-2BE5-4D93-AEB8-6768CC64EFE0}"/>
              </a:ext>
            </a:extLst>
          </p:cNvPr>
          <p:cNvSpPr>
            <a:spLocks noGrp="1"/>
          </p:cNvSpPr>
          <p:nvPr>
            <p:ph type="title"/>
          </p:nvPr>
        </p:nvSpPr>
        <p:spPr/>
        <p:txBody>
          <a:bodyPr/>
          <a:lstStyle/>
          <a:p>
            <a:r>
              <a:rPr lang="ru-RU" dirty="0" err="1"/>
              <a:t>Гибадуллина</a:t>
            </a:r>
            <a:r>
              <a:rPr lang="ru-RU" dirty="0"/>
              <a:t> Алина Альбертовна</a:t>
            </a:r>
          </a:p>
        </p:txBody>
      </p:sp>
      <p:sp>
        <p:nvSpPr>
          <p:cNvPr id="3" name="Объект 2">
            <a:extLst>
              <a:ext uri="{FF2B5EF4-FFF2-40B4-BE49-F238E27FC236}">
                <a16:creationId xmlns:a16="http://schemas.microsoft.com/office/drawing/2014/main" id="{BDD56BD1-63BD-470A-B8C7-34ED838A5574}"/>
              </a:ext>
            </a:extLst>
          </p:cNvPr>
          <p:cNvSpPr>
            <a:spLocks noGrp="1"/>
          </p:cNvSpPr>
          <p:nvPr>
            <p:ph idx="1"/>
          </p:nvPr>
        </p:nvSpPr>
        <p:spPr/>
        <p:txBody>
          <a:bodyPr/>
          <a:lstStyle/>
          <a:p>
            <a:r>
              <a:rPr lang="ru-RU" dirty="0">
                <a:latin typeface="Times New Roman" panose="02020603050405020304" pitchFamily="18" charset="0"/>
                <a:cs typeface="Times New Roman" panose="02020603050405020304" pitchFamily="18" charset="0"/>
              </a:rPr>
              <a:t>Клинический психолог</a:t>
            </a:r>
          </a:p>
          <a:p>
            <a:r>
              <a:rPr lang="ru-RU" dirty="0">
                <a:latin typeface="Times New Roman" panose="02020603050405020304" pitchFamily="18" charset="0"/>
                <a:cs typeface="Times New Roman" panose="02020603050405020304" pitchFamily="18" charset="0"/>
              </a:rPr>
              <a:t>Сексолог</a:t>
            </a:r>
          </a:p>
          <a:p>
            <a:r>
              <a:rPr lang="ru-RU" dirty="0">
                <a:latin typeface="Times New Roman" panose="02020603050405020304" pitchFamily="18" charset="0"/>
                <a:cs typeface="Times New Roman" panose="02020603050405020304" pitchFamily="18" charset="0"/>
              </a:rPr>
              <a:t>Арт-терапевт</a:t>
            </a:r>
          </a:p>
          <a:p>
            <a:r>
              <a:rPr lang="ru-RU" dirty="0">
                <a:latin typeface="Times New Roman" panose="02020603050405020304" pitchFamily="18" charset="0"/>
                <a:cs typeface="Times New Roman" panose="02020603050405020304" pitchFamily="18" charset="0"/>
              </a:rPr>
              <a:t>Гипнотерапевт</a:t>
            </a:r>
          </a:p>
          <a:p>
            <a:r>
              <a:rPr lang="ru-RU" dirty="0">
                <a:latin typeface="Times New Roman" panose="02020603050405020304" pitchFamily="18" charset="0"/>
                <a:cs typeface="Times New Roman" panose="02020603050405020304" pitchFamily="18" charset="0"/>
              </a:rPr>
              <a:t>Автор и ведущая тренингов для пар</a:t>
            </a:r>
          </a:p>
          <a:p>
            <a:r>
              <a:rPr lang="ru-RU" dirty="0">
                <a:latin typeface="Times New Roman" panose="02020603050405020304" pitchFamily="18" charset="0"/>
                <a:cs typeface="Times New Roman" panose="02020603050405020304" pitchFamily="18" charset="0"/>
              </a:rPr>
              <a:t>Член профессиональной психотерапевтической лиги</a:t>
            </a:r>
          </a:p>
        </p:txBody>
      </p:sp>
    </p:spTree>
    <p:extLst>
      <p:ext uri="{BB962C8B-B14F-4D97-AF65-F5344CB8AC3E}">
        <p14:creationId xmlns:p14="http://schemas.microsoft.com/office/powerpoint/2010/main" val="2252133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Объект 2">
            <a:extLst>
              <a:ext uri="{FF2B5EF4-FFF2-40B4-BE49-F238E27FC236}">
                <a16:creationId xmlns:a16="http://schemas.microsoft.com/office/drawing/2014/main" id="{0883AE1D-3840-3E2F-FF1A-E9D782B90D6F}"/>
              </a:ext>
            </a:extLst>
          </p:cNvPr>
          <p:cNvSpPr>
            <a:spLocks noGrp="1"/>
          </p:cNvSpPr>
          <p:nvPr>
            <p:ph idx="1"/>
          </p:nvPr>
        </p:nvSpPr>
        <p:spPr>
          <a:xfrm>
            <a:off x="331797" y="333829"/>
            <a:ext cx="11517956" cy="5843134"/>
          </a:xfrm>
        </p:spPr>
        <p:txBody>
          <a:bodyPr vert="horz" lIns="91440" tIns="45720" rIns="91440" bIns="45720" rtlCol="0" anchor="t">
            <a:normAutofit/>
          </a:bodyPr>
          <a:lstStyle/>
          <a:p>
            <a:pPr marL="0" indent="0">
              <a:buNone/>
            </a:pPr>
            <a:r>
              <a:rPr lang="ru-RU" sz="2000" dirty="0">
                <a:latin typeface="Times New Roman"/>
                <a:ea typeface="+mn-lt"/>
                <a:cs typeface="+mn-lt"/>
              </a:rPr>
              <a:t>    Роль сексуальности в развитии и жизни человека. </a:t>
            </a:r>
          </a:p>
          <a:p>
            <a:pPr marL="0" indent="0">
              <a:buNone/>
            </a:pPr>
            <a:r>
              <a:rPr lang="ru-RU" sz="2000" dirty="0">
                <a:latin typeface="Times New Roman"/>
                <a:ea typeface="+mn-lt"/>
                <a:cs typeface="+mn-lt"/>
              </a:rPr>
              <a:t>    Основные этапы формирования сексуальности на разных возрастных периодах.       </a:t>
            </a:r>
          </a:p>
          <a:p>
            <a:pPr marL="0" indent="0">
              <a:buNone/>
            </a:pPr>
            <a:r>
              <a:rPr lang="ru-RU" sz="2000" dirty="0">
                <a:latin typeface="Times New Roman"/>
                <a:ea typeface="+mn-lt"/>
                <a:cs typeface="+mn-lt"/>
              </a:rPr>
              <a:t>    Гендерная и сексуальная идентичность. </a:t>
            </a:r>
            <a:endParaRPr lang="ru-RU">
              <a:latin typeface="Times New Roman"/>
              <a:cs typeface="Times New Roman"/>
            </a:endParaRPr>
          </a:p>
          <a:p>
            <a:pPr marL="0" indent="0">
              <a:buNone/>
            </a:pPr>
            <a:r>
              <a:rPr lang="ru-RU" sz="2000" dirty="0">
                <a:latin typeface="Times New Roman"/>
                <a:ea typeface="+mn-lt"/>
                <a:cs typeface="+mn-lt"/>
              </a:rPr>
              <a:t>Запросы на сексуальное взаимодействие в паре. </a:t>
            </a:r>
          </a:p>
          <a:p>
            <a:pPr marL="0" indent="0">
              <a:buNone/>
            </a:pPr>
            <a:r>
              <a:rPr lang="ru-RU" sz="2000" dirty="0">
                <a:latin typeface="Times New Roman"/>
                <a:ea typeface="+mn-lt"/>
                <a:cs typeface="+mn-lt"/>
              </a:rPr>
              <a:t>Мотивы сексуального поведения. </a:t>
            </a:r>
            <a:endParaRPr lang="ru-RU" sz="2000">
              <a:latin typeface="Times New Roman"/>
              <a:ea typeface="+mn-lt"/>
              <a:cs typeface="+mn-lt"/>
            </a:endParaRPr>
          </a:p>
          <a:p>
            <a:pPr marL="0" indent="0">
              <a:buNone/>
            </a:pPr>
            <a:r>
              <a:rPr lang="ru-RU" sz="2000" dirty="0">
                <a:latin typeface="Times New Roman"/>
                <a:ea typeface="+mn-lt"/>
                <a:cs typeface="+mn-lt"/>
              </a:rPr>
              <a:t>Проявление мужской и женской сексуальности.</a:t>
            </a:r>
          </a:p>
          <a:p>
            <a:pPr marL="0" indent="0">
              <a:buNone/>
            </a:pPr>
            <a:r>
              <a:rPr lang="ru-RU" sz="2000" dirty="0">
                <a:latin typeface="Times New Roman"/>
                <a:ea typeface="+mn-lt"/>
                <a:cs typeface="+mn-lt"/>
              </a:rPr>
              <a:t> Мужские и женские сексуальные дисфункции. </a:t>
            </a:r>
            <a:endParaRPr lang="ru-RU" sz="2000">
              <a:latin typeface="Times New Roman"/>
              <a:ea typeface="+mn-lt"/>
              <a:cs typeface="+mn-lt"/>
            </a:endParaRPr>
          </a:p>
          <a:p>
            <a:pPr marL="0" indent="0">
              <a:buNone/>
            </a:pPr>
            <a:r>
              <a:rPr lang="ru-RU" sz="2000" dirty="0">
                <a:latin typeface="Times New Roman"/>
                <a:ea typeface="+mn-lt"/>
                <a:cs typeface="+mn-lt"/>
              </a:rPr>
              <a:t>Определение нормы и патологии в сексуальном взаимодействии. </a:t>
            </a:r>
            <a:endParaRPr lang="ru-RU" sz="2000">
              <a:latin typeface="Times New Roman"/>
              <a:ea typeface="+mn-lt"/>
              <a:cs typeface="+mn-lt"/>
            </a:endParaRPr>
          </a:p>
          <a:p>
            <a:pPr marL="0" indent="0">
              <a:buNone/>
            </a:pPr>
            <a:r>
              <a:rPr lang="ru-RU" sz="2000" dirty="0">
                <a:latin typeface="Times New Roman"/>
                <a:ea typeface="+mn-lt"/>
                <a:cs typeface="+mn-lt"/>
              </a:rPr>
              <a:t>Основы секс-терапии. Факторы, негативно влияющие на сексуальность человека. </a:t>
            </a:r>
            <a:endParaRPr lang="ru-RU" sz="2000">
              <a:latin typeface="Times New Roman"/>
              <a:ea typeface="+mn-lt"/>
              <a:cs typeface="+mn-lt"/>
            </a:endParaRPr>
          </a:p>
          <a:p>
            <a:pPr marL="0" indent="0">
              <a:buNone/>
            </a:pPr>
            <a:r>
              <a:rPr lang="ru-RU" sz="2000" dirty="0">
                <a:latin typeface="Times New Roman"/>
                <a:ea typeface="+mn-lt"/>
                <a:cs typeface="+mn-lt"/>
              </a:rPr>
              <a:t>Цикл полового возбуждения. </a:t>
            </a:r>
            <a:endParaRPr lang="ru-RU" sz="2000">
              <a:latin typeface="Times New Roman"/>
              <a:ea typeface="+mn-lt"/>
              <a:cs typeface="+mn-lt"/>
            </a:endParaRPr>
          </a:p>
          <a:p>
            <a:pPr marL="0" indent="0">
              <a:buNone/>
            </a:pPr>
            <a:r>
              <a:rPr lang="ru-RU" sz="2000" dirty="0">
                <a:latin typeface="Times New Roman"/>
                <a:ea typeface="+mn-lt"/>
                <a:cs typeface="+mn-lt"/>
              </a:rPr>
              <a:t>Созависимость и эмоциональная зрелость в паре. Работа с потребностями в сексуальном и любовном взаимодействии. </a:t>
            </a:r>
            <a:endParaRPr lang="ru-RU" sz="2000">
              <a:latin typeface="Times New Roman"/>
              <a:cs typeface="Times New Roman"/>
            </a:endParaRPr>
          </a:p>
          <a:p>
            <a:pPr marL="0" indent="0">
              <a:buNone/>
            </a:pPr>
            <a:r>
              <a:rPr lang="ru-RU" sz="2000" dirty="0">
                <a:latin typeface="Times New Roman"/>
                <a:ea typeface="+mn-lt"/>
                <a:cs typeface="+mn-lt"/>
              </a:rPr>
              <a:t>Консультативные подходы к решению сексуальных проблем в паре.</a:t>
            </a:r>
            <a:endParaRPr lang="ru-RU" sz="2000" dirty="0">
              <a:latin typeface="Times New Roman"/>
            </a:endParaRPr>
          </a:p>
        </p:txBody>
      </p:sp>
    </p:spTree>
    <p:extLst>
      <p:ext uri="{BB962C8B-B14F-4D97-AF65-F5344CB8AC3E}">
        <p14:creationId xmlns:p14="http://schemas.microsoft.com/office/powerpoint/2010/main" val="4107630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Заголовок 1">
            <a:extLst>
              <a:ext uri="{FF2B5EF4-FFF2-40B4-BE49-F238E27FC236}">
                <a16:creationId xmlns:a16="http://schemas.microsoft.com/office/drawing/2014/main" id="{E2E8654C-1C18-36C8-B9FC-93C7D8F2DF64}"/>
              </a:ext>
            </a:extLst>
          </p:cNvPr>
          <p:cNvSpPr>
            <a:spLocks noGrp="1"/>
          </p:cNvSpPr>
          <p:nvPr>
            <p:ph type="title"/>
          </p:nvPr>
        </p:nvSpPr>
        <p:spPr>
          <a:xfrm>
            <a:off x="621792" y="1161288"/>
            <a:ext cx="3602736" cy="4526280"/>
          </a:xfrm>
        </p:spPr>
        <p:txBody>
          <a:bodyPr>
            <a:normAutofit/>
          </a:bodyPr>
          <a:lstStyle/>
          <a:p>
            <a:r>
              <a:rPr lang="ru-RU" dirty="0"/>
              <a:t>Для чего нужен сексолог?</a:t>
            </a:r>
          </a:p>
        </p:txBody>
      </p:sp>
      <p:sp>
        <p:nvSpPr>
          <p:cNvPr id="25" name="Rectangle 2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Подзаголовок 2">
            <a:extLst>
              <a:ext uri="{FF2B5EF4-FFF2-40B4-BE49-F238E27FC236}">
                <a16:creationId xmlns:a16="http://schemas.microsoft.com/office/drawing/2014/main" id="{661BE05E-E492-0957-FA1A-B887C2012F8C}"/>
              </a:ext>
            </a:extLst>
          </p:cNvPr>
          <p:cNvSpPr>
            <a:spLocks noGrp="1"/>
          </p:cNvSpPr>
          <p:nvPr>
            <p:ph idx="1"/>
          </p:nvPr>
        </p:nvSpPr>
        <p:spPr>
          <a:xfrm>
            <a:off x="5434149" y="932688"/>
            <a:ext cx="5916603" cy="4992624"/>
          </a:xfrm>
        </p:spPr>
        <p:txBody>
          <a:bodyPr vert="horz" lIns="91440" tIns="45720" rIns="91440" bIns="45720" rtlCol="0" anchor="ctr">
            <a:normAutofit/>
          </a:bodyPr>
          <a:lstStyle/>
          <a:p>
            <a:r>
              <a:rPr lang="ru-RU" sz="2000" dirty="0">
                <a:latin typeface="Times New Roman"/>
                <a:cs typeface="Times New Roman"/>
              </a:rPr>
              <a:t>Гендерная дисфория</a:t>
            </a:r>
          </a:p>
          <a:p>
            <a:r>
              <a:rPr lang="ru-RU" sz="2000" dirty="0">
                <a:latin typeface="Times New Roman"/>
                <a:cs typeface="Times New Roman"/>
              </a:rPr>
              <a:t>Парафилии</a:t>
            </a:r>
          </a:p>
          <a:p>
            <a:r>
              <a:rPr lang="ru-RU" sz="2000" dirty="0">
                <a:latin typeface="Times New Roman"/>
                <a:cs typeface="Times New Roman"/>
              </a:rPr>
              <a:t>Не хватает нужной информации по сексуальным вопросам</a:t>
            </a:r>
          </a:p>
          <a:p>
            <a:r>
              <a:rPr lang="ru-RU" sz="2000" dirty="0">
                <a:latin typeface="Times New Roman"/>
                <a:cs typeface="Times New Roman"/>
              </a:rPr>
              <a:t>Не получается выстроить гармоничные отношения с партнером</a:t>
            </a:r>
          </a:p>
          <a:p>
            <a:r>
              <a:rPr lang="ru-RU" sz="2000" dirty="0">
                <a:latin typeface="Times New Roman"/>
                <a:cs typeface="Times New Roman"/>
              </a:rPr>
              <a:t>Сексуальные дисфункции психогенного генеза</a:t>
            </a:r>
          </a:p>
          <a:p>
            <a:r>
              <a:rPr lang="ru-RU" sz="2000" dirty="0">
                <a:latin typeface="Times New Roman"/>
                <a:cs typeface="Times New Roman"/>
              </a:rPr>
              <a:t>Отсутствие оргазма, либо оргазм от мастурбации привлекает больше чем с партнером</a:t>
            </a:r>
          </a:p>
          <a:p>
            <a:r>
              <a:rPr lang="ru-RU" sz="2000" dirty="0">
                <a:latin typeface="Times New Roman"/>
                <a:cs typeface="Times New Roman"/>
              </a:rPr>
              <a:t>Болезненные ощущения при па</a:t>
            </a:r>
          </a:p>
          <a:p>
            <a:r>
              <a:rPr lang="ru-RU" sz="2000" dirty="0">
                <a:latin typeface="Times New Roman"/>
                <a:cs typeface="Times New Roman"/>
              </a:rPr>
              <a:t>Сексуальная дисгармония семейных пар</a:t>
            </a:r>
          </a:p>
        </p:txBody>
      </p:sp>
    </p:spTree>
    <p:extLst>
      <p:ext uri="{BB962C8B-B14F-4D97-AF65-F5344CB8AC3E}">
        <p14:creationId xmlns:p14="http://schemas.microsoft.com/office/powerpoint/2010/main" val="2205674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DF2584F-6B56-37D1-1EC6-89DC4869CF01}"/>
              </a:ext>
            </a:extLst>
          </p:cNvPr>
          <p:cNvSpPr>
            <a:spLocks noGrp="1"/>
          </p:cNvSpPr>
          <p:nvPr>
            <p:ph type="title"/>
          </p:nvPr>
        </p:nvSpPr>
        <p:spPr>
          <a:xfrm>
            <a:off x="841248" y="426720"/>
            <a:ext cx="10506456" cy="1919141"/>
          </a:xfrm>
        </p:spPr>
        <p:txBody>
          <a:bodyPr anchor="b">
            <a:normAutofit/>
          </a:bodyPr>
          <a:lstStyle/>
          <a:p>
            <a:r>
              <a:rPr lang="ru-RU" sz="6000"/>
              <a:t>Что такое сексология?</a:t>
            </a:r>
          </a:p>
        </p:txBody>
      </p:sp>
      <p:sp>
        <p:nvSpPr>
          <p:cNvPr id="10" name="Rectangle 9">
            <a:extLst>
              <a:ext uri="{FF2B5EF4-FFF2-40B4-BE49-F238E27FC236}">
                <a16:creationId xmlns:a16="http://schemas.microsoft.com/office/drawing/2014/main" id="{7A0B5DEA-ADF6-4BA5-9307-147F0A468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8680" y="2898648"/>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83982"/>
            <a:ext cx="1873457"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Объект 2">
            <a:extLst>
              <a:ext uri="{FF2B5EF4-FFF2-40B4-BE49-F238E27FC236}">
                <a16:creationId xmlns:a16="http://schemas.microsoft.com/office/drawing/2014/main" id="{CFF7B0E2-5B79-E081-5136-856593E6075D}"/>
              </a:ext>
            </a:extLst>
          </p:cNvPr>
          <p:cNvSpPr>
            <a:spLocks noGrp="1"/>
          </p:cNvSpPr>
          <p:nvPr>
            <p:ph idx="1"/>
          </p:nvPr>
        </p:nvSpPr>
        <p:spPr>
          <a:xfrm>
            <a:off x="841248" y="3337269"/>
            <a:ext cx="10509504" cy="2905686"/>
          </a:xfrm>
        </p:spPr>
        <p:txBody>
          <a:bodyPr vert="horz" lIns="91440" tIns="45720" rIns="91440" bIns="45720" rtlCol="0" anchor="t">
            <a:normAutofit/>
          </a:bodyPr>
          <a:lstStyle/>
          <a:p>
            <a:r>
              <a:rPr lang="ru-RU" sz="2000" dirty="0">
                <a:latin typeface="Times New Roman"/>
                <a:cs typeface="Times New Roman"/>
              </a:rPr>
              <a:t>Это наука о сексуальности человека</a:t>
            </a:r>
          </a:p>
          <a:p>
            <a:r>
              <a:rPr lang="ru-RU" sz="2000" dirty="0">
                <a:latin typeface="Times New Roman"/>
                <a:cs typeface="Times New Roman"/>
              </a:rPr>
              <a:t>Это междисциплинарная область знаний</a:t>
            </a:r>
          </a:p>
        </p:txBody>
      </p:sp>
    </p:spTree>
    <p:extLst>
      <p:ext uri="{BB962C8B-B14F-4D97-AF65-F5344CB8AC3E}">
        <p14:creationId xmlns:p14="http://schemas.microsoft.com/office/powerpoint/2010/main" val="335840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AAF6D5BF-E245-43DB-91A8-F35664736C2A}"/>
              </a:ext>
            </a:extLst>
          </p:cNvPr>
          <p:cNvSpPr>
            <a:spLocks noGrp="1"/>
          </p:cNvSpPr>
          <p:nvPr>
            <p:ph type="body" idx="1"/>
          </p:nvPr>
        </p:nvSpPr>
        <p:spPr>
          <a:xfrm>
            <a:off x="831850" y="831850"/>
            <a:ext cx="10515600" cy="4947729"/>
          </a:xfrm>
        </p:spPr>
        <p:txBody>
          <a:bodyPr vert="horz" lIns="91440" tIns="45720" rIns="91440" bIns="45720" rtlCol="0" anchor="t">
            <a:normAutofit/>
          </a:bodyPr>
          <a:lstStyle/>
          <a:p>
            <a:r>
              <a:rPr lang="ru-RU" sz="2600" cap="none" dirty="0">
                <a:latin typeface="Times New Roman" panose="02020603050405020304" pitchFamily="18" charset="0"/>
                <a:cs typeface="Times New Roman" panose="02020603050405020304" pitchFamily="18" charset="0"/>
              </a:rPr>
              <a:t>Концепция психологии как самостоятельной науки, с собственными правами была впервые предложена в 1907 году берлинским врачом дерматологом И. </a:t>
            </a:r>
            <a:r>
              <a:rPr lang="ru-RU" sz="2600" cap="none" dirty="0" err="1">
                <a:latin typeface="Times New Roman" panose="02020603050405020304" pitchFamily="18" charset="0"/>
                <a:cs typeface="Times New Roman" panose="02020603050405020304" pitchFamily="18" charset="0"/>
              </a:rPr>
              <a:t>Блохом</a:t>
            </a:r>
            <a:endParaRPr lang="ru-RU" sz="2600" cap="none" dirty="0">
              <a:latin typeface="Times New Roman" panose="02020603050405020304" pitchFamily="18" charset="0"/>
              <a:cs typeface="Times New Roman" panose="02020603050405020304" pitchFamily="18" charset="0"/>
            </a:endParaRPr>
          </a:p>
          <a:p>
            <a:endParaRPr lang="ru-RU" sz="2600" cap="none" dirty="0">
              <a:latin typeface="Times New Roman" panose="02020603050405020304" pitchFamily="18" charset="0"/>
              <a:cs typeface="Times New Roman" panose="02020603050405020304" pitchFamily="18" charset="0"/>
            </a:endParaRPr>
          </a:p>
          <a:p>
            <a:r>
              <a:rPr lang="ru-RU" sz="2600" cap="none" dirty="0">
                <a:latin typeface="Times New Roman"/>
                <a:cs typeface="Times New Roman"/>
              </a:rPr>
              <a:t>В 1907 г. В книге "Сексуальная жизнь нашего времени в ее отношениях к современной культуре" Блох провозгласил создание новой "науки о поле" (</a:t>
            </a:r>
            <a:r>
              <a:rPr lang="ru-RU" sz="2600" cap="none" dirty="0" err="1">
                <a:latin typeface="Times New Roman"/>
                <a:cs typeface="Times New Roman"/>
              </a:rPr>
              <a:t>sexualwissenschaft</a:t>
            </a:r>
            <a:r>
              <a:rPr lang="ru-RU" sz="2600" cap="none" dirty="0">
                <a:latin typeface="Times New Roman"/>
                <a:cs typeface="Times New Roman"/>
              </a:rPr>
              <a:t>), подчеркнув, что она должна синтезировать данные всех наук о человеке, включая общую биологию, антропологию, этнологию, философию, психологию, медицину и историю литературы и культуры.</a:t>
            </a:r>
          </a:p>
          <a:p>
            <a:endParaRPr lang="ru-RU" cap="none" dirty="0"/>
          </a:p>
          <a:p>
            <a:endParaRPr lang="ru-RU" cap="none" dirty="0"/>
          </a:p>
        </p:txBody>
      </p:sp>
    </p:spTree>
    <p:extLst>
      <p:ext uri="{BB962C8B-B14F-4D97-AF65-F5344CB8AC3E}">
        <p14:creationId xmlns:p14="http://schemas.microsoft.com/office/powerpoint/2010/main" val="2954869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75A5F8-5D7E-8161-D7FE-DFC3E562282F}"/>
              </a:ext>
            </a:extLst>
          </p:cNvPr>
          <p:cNvSpPr>
            <a:spLocks noGrp="1"/>
          </p:cNvSpPr>
          <p:nvPr>
            <p:ph type="title"/>
          </p:nvPr>
        </p:nvSpPr>
        <p:spPr/>
        <p:txBody>
          <a:bodyPr/>
          <a:lstStyle/>
          <a:p>
            <a:r>
              <a:rPr lang="ru-RU" dirty="0"/>
              <a:t>Сексология</a:t>
            </a:r>
          </a:p>
        </p:txBody>
      </p:sp>
      <p:sp>
        <p:nvSpPr>
          <p:cNvPr id="3" name="Объект 2">
            <a:extLst>
              <a:ext uri="{FF2B5EF4-FFF2-40B4-BE49-F238E27FC236}">
                <a16:creationId xmlns:a16="http://schemas.microsoft.com/office/drawing/2014/main" id="{7B9C9AA8-3EF9-5AD3-9935-16CE11F0E535}"/>
              </a:ext>
            </a:extLst>
          </p:cNvPr>
          <p:cNvSpPr>
            <a:spLocks noGrp="1"/>
          </p:cNvSpPr>
          <p:nvPr>
            <p:ph idx="1"/>
          </p:nvPr>
        </p:nvSpPr>
        <p:spPr/>
        <p:txBody>
          <a:bodyPr vert="horz" lIns="91440" tIns="45720" rIns="91440" bIns="45720" rtlCol="0" anchor="t">
            <a:normAutofit/>
          </a:bodyPr>
          <a:lstStyle/>
          <a:p>
            <a:pPr marL="0" indent="0">
              <a:buNone/>
            </a:pPr>
            <a:r>
              <a:rPr lang="ru-RU" dirty="0">
                <a:latin typeface="Times New Roman"/>
                <a:cs typeface="Times New Roman"/>
              </a:rPr>
              <a:t>Изучает развитие сексуальности и развитие сексуального контакта, включая технику половых сношений и расстройств половой сферы.</a:t>
            </a:r>
          </a:p>
          <a:p>
            <a:pPr marL="0" indent="0">
              <a:buNone/>
            </a:pPr>
            <a:endParaRPr lang="ru-RU" dirty="0">
              <a:latin typeface="Times New Roman"/>
              <a:cs typeface="Times New Roman"/>
            </a:endParaRPr>
          </a:p>
          <a:p>
            <a:pPr marL="0" indent="0">
              <a:buNone/>
            </a:pPr>
            <a:r>
              <a:rPr lang="ru-RU" dirty="0">
                <a:latin typeface="Times New Roman"/>
                <a:cs typeface="Times New Roman"/>
              </a:rPr>
              <a:t>Сексология - наука о человеческой сексуальности, проявлениях пола и половой жизни, а так же связанных с ними явлений.</a:t>
            </a:r>
          </a:p>
        </p:txBody>
      </p:sp>
    </p:spTree>
    <p:extLst>
      <p:ext uri="{BB962C8B-B14F-4D97-AF65-F5344CB8AC3E}">
        <p14:creationId xmlns:p14="http://schemas.microsoft.com/office/powerpoint/2010/main" val="497414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Объект 2">
            <a:extLst>
              <a:ext uri="{FF2B5EF4-FFF2-40B4-BE49-F238E27FC236}">
                <a16:creationId xmlns:a16="http://schemas.microsoft.com/office/drawing/2014/main" id="{32E37C6B-8473-ED0F-5422-31984442777D}"/>
              </a:ext>
            </a:extLst>
          </p:cNvPr>
          <p:cNvSpPr>
            <a:spLocks noGrp="1"/>
          </p:cNvSpPr>
          <p:nvPr>
            <p:ph idx="1"/>
          </p:nvPr>
        </p:nvSpPr>
        <p:spPr>
          <a:xfrm>
            <a:off x="344715" y="279111"/>
            <a:ext cx="11517085" cy="6314003"/>
          </a:xfrm>
        </p:spPr>
        <p:txBody>
          <a:bodyPr vert="horz" lIns="91440" tIns="45720" rIns="91440" bIns="45720" rtlCol="0" anchor="t">
            <a:noAutofit/>
          </a:bodyPr>
          <a:lstStyle/>
          <a:p>
            <a:pPr marL="0" indent="0">
              <a:lnSpc>
                <a:spcPct val="100000"/>
              </a:lnSpc>
              <a:buNone/>
            </a:pPr>
            <a:r>
              <a:rPr lang="ru-RU" sz="2400" dirty="0">
                <a:latin typeface="Times New Roman"/>
                <a:ea typeface="+mn-lt"/>
                <a:cs typeface="+mn-lt"/>
              </a:rPr>
              <a:t>Следует отметить, что сексология — </a:t>
            </a:r>
            <a:r>
              <a:rPr lang="ru-RU" sz="2400" i="1" dirty="0">
                <a:latin typeface="Times New Roman"/>
                <a:ea typeface="+mn-lt"/>
                <a:cs typeface="+mn-lt"/>
              </a:rPr>
              <a:t>описывающая</a:t>
            </a:r>
            <a:r>
              <a:rPr lang="ru-RU" sz="2400" dirty="0">
                <a:latin typeface="Times New Roman"/>
                <a:ea typeface="+mn-lt"/>
                <a:cs typeface="+mn-lt"/>
              </a:rPr>
              <a:t>, а не </a:t>
            </a:r>
            <a:r>
              <a:rPr lang="ru-RU" sz="2400" i="1" dirty="0">
                <a:latin typeface="Times New Roman"/>
                <a:ea typeface="+mn-lt"/>
                <a:cs typeface="+mn-lt"/>
              </a:rPr>
              <a:t>предписывающая </a:t>
            </a:r>
            <a:r>
              <a:rPr lang="ru-RU" sz="2400" dirty="0">
                <a:latin typeface="Times New Roman"/>
                <a:ea typeface="+mn-lt"/>
                <a:cs typeface="+mn-lt"/>
              </a:rPr>
              <a:t>дисциплина. Она пытается документировать определённые аспекты реальности, а не предписывать, какое поведение будет уместным, этичным или нравственным.</a:t>
            </a:r>
          </a:p>
          <a:p>
            <a:pPr marL="0" indent="0">
              <a:lnSpc>
                <a:spcPct val="100000"/>
              </a:lnSpc>
              <a:buNone/>
            </a:pPr>
            <a:endParaRPr lang="ru-RU" sz="2400" dirty="0">
              <a:latin typeface="Times New Roman"/>
              <a:cs typeface="Times New Roman"/>
            </a:endParaRPr>
          </a:p>
          <a:p>
            <a:pPr marL="0" indent="0">
              <a:lnSpc>
                <a:spcPct val="100000"/>
              </a:lnSpc>
              <a:buNone/>
            </a:pPr>
            <a:r>
              <a:rPr lang="ru-RU" sz="2400" dirty="0">
                <a:latin typeface="Times New Roman"/>
                <a:cs typeface="Times New Roman"/>
              </a:rPr>
              <a:t>Наиболее часто в сексологии применяются такие методы исследований как: анонимные опросы, анкетирование, интервьюирование, а так же эксперимент проводимый с использованием животных или добровольцев.</a:t>
            </a:r>
          </a:p>
          <a:p>
            <a:pPr marL="0" indent="0">
              <a:lnSpc>
                <a:spcPct val="100000"/>
              </a:lnSpc>
              <a:buNone/>
            </a:pPr>
            <a:r>
              <a:rPr lang="ru-RU" sz="2400" dirty="0">
                <a:latin typeface="Times New Roman"/>
                <a:cs typeface="Times New Roman"/>
              </a:rPr>
              <a:t>Предметом исследования выступает поведение, а объектом науки –человек.</a:t>
            </a:r>
            <a:endParaRPr lang="en-US" sz="2400">
              <a:ea typeface="+mn-lt"/>
              <a:cs typeface="+mn-lt"/>
            </a:endParaRPr>
          </a:p>
          <a:p>
            <a:pPr marL="0" indent="0">
              <a:lnSpc>
                <a:spcPct val="100000"/>
              </a:lnSpc>
              <a:buNone/>
            </a:pPr>
            <a:r>
              <a:rPr lang="ru-RU" sz="2400" dirty="0">
                <a:latin typeface="Times New Roman"/>
                <a:cs typeface="Times New Roman"/>
              </a:rPr>
              <a:t>Клинические методы исследования (обследование пациентов в процессе их лечения) включает в себя как наблюдение в процессе лечения, так и анализ произведений литературы</a:t>
            </a:r>
          </a:p>
          <a:p>
            <a:pPr marL="0" indent="0">
              <a:lnSpc>
                <a:spcPct val="100000"/>
              </a:lnSpc>
              <a:buNone/>
            </a:pPr>
            <a:endParaRPr lang="ru-RU" sz="2400" dirty="0">
              <a:latin typeface="Times New Roman"/>
              <a:cs typeface="Times New Roman"/>
            </a:endParaRPr>
          </a:p>
          <a:p>
            <a:pPr marL="0" indent="0">
              <a:lnSpc>
                <a:spcPct val="100000"/>
              </a:lnSpc>
              <a:buNone/>
            </a:pPr>
            <a:r>
              <a:rPr lang="ru-RU" sz="2400" dirty="0">
                <a:latin typeface="Times New Roman"/>
                <a:cs typeface="Times New Roman"/>
              </a:rPr>
              <a:t>Мы психологи занимаемся психологией сексуальности</a:t>
            </a:r>
          </a:p>
        </p:txBody>
      </p:sp>
    </p:spTree>
    <p:extLst>
      <p:ext uri="{BB962C8B-B14F-4D97-AF65-F5344CB8AC3E}">
        <p14:creationId xmlns:p14="http://schemas.microsoft.com/office/powerpoint/2010/main" val="3496646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5069C75-5221-4A07-4DAF-C13486402561}"/>
              </a:ext>
            </a:extLst>
          </p:cNvPr>
          <p:cNvSpPr>
            <a:spLocks noGrp="1"/>
          </p:cNvSpPr>
          <p:nvPr>
            <p:ph idx="1"/>
          </p:nvPr>
        </p:nvSpPr>
        <p:spPr>
          <a:xfrm>
            <a:off x="429082" y="253808"/>
            <a:ext cx="11417532" cy="5918392"/>
          </a:xfrm>
        </p:spPr>
        <p:txBody>
          <a:bodyPr vert="horz" lIns="91440" tIns="45720" rIns="91440" bIns="45720" rtlCol="0" anchor="t">
            <a:normAutofit fontScale="85000" lnSpcReduction="10000"/>
          </a:bodyPr>
          <a:lstStyle/>
          <a:p>
            <a:r>
              <a:rPr lang="ru-RU" dirty="0">
                <a:latin typeface="Times New Roman"/>
                <a:cs typeface="Times New Roman"/>
              </a:rPr>
              <a:t>Важно отметить, что наука постоянно развивается, в том числе и сексология, поэтому те положения которые ранее не принимались сейчас рассматриваются, как норма.</a:t>
            </a:r>
          </a:p>
          <a:p>
            <a:r>
              <a:rPr lang="ru-RU" dirty="0">
                <a:latin typeface="Times New Roman"/>
                <a:cs typeface="Times New Roman"/>
              </a:rPr>
              <a:t>Это связано, как с накоплением новых знаний, так и с трансформацией отношения к некоторым устоявшимся положениям, что привело к существенным сдвигам в мышлении. Вместе с тем эти трансформации не всегда достаточно обоснованы, а иногда и вовсе не обоснованы.</a:t>
            </a:r>
          </a:p>
          <a:p>
            <a:r>
              <a:rPr lang="ru-RU" dirty="0">
                <a:latin typeface="Times New Roman"/>
                <a:cs typeface="Times New Roman"/>
              </a:rPr>
              <a:t>Представление о мастурбации и гомосексуализме до 70 годов были еще совсем другие.</a:t>
            </a:r>
          </a:p>
          <a:p>
            <a:r>
              <a:rPr lang="ru-RU" dirty="0">
                <a:latin typeface="Times New Roman"/>
                <a:cs typeface="Times New Roman"/>
              </a:rPr>
              <a:t>Мастурбацию  рассматривали как не здоровое поведение, а от гомосексуализма лечили. Сейчас же гомосексуализм это разновидность сексуальной нормы, а мастурбация - особый вид взаимодействия с собой.</a:t>
            </a:r>
          </a:p>
          <a:p>
            <a:endParaRPr lang="ru-RU" dirty="0">
              <a:latin typeface="Times New Roman"/>
              <a:cs typeface="Times New Roman"/>
            </a:endParaRPr>
          </a:p>
          <a:p>
            <a:pPr marL="0" indent="0">
              <a:buNone/>
            </a:pPr>
            <a:r>
              <a:rPr lang="ru-RU" dirty="0">
                <a:latin typeface="Times New Roman"/>
                <a:cs typeface="Times New Roman"/>
              </a:rPr>
              <a:t>Очень важно развивать объемное видение проблемы с точки зрения системности.</a:t>
            </a:r>
          </a:p>
        </p:txBody>
      </p:sp>
    </p:spTree>
    <p:extLst>
      <p:ext uri="{BB962C8B-B14F-4D97-AF65-F5344CB8AC3E}">
        <p14:creationId xmlns:p14="http://schemas.microsoft.com/office/powerpoint/2010/main" val="910258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7AE34D-23C9-C4BB-145F-9F3A64F54A48}"/>
              </a:ext>
            </a:extLst>
          </p:cNvPr>
          <p:cNvSpPr>
            <a:spLocks noGrp="1"/>
          </p:cNvSpPr>
          <p:nvPr>
            <p:ph type="title"/>
          </p:nvPr>
        </p:nvSpPr>
        <p:spPr/>
        <p:txBody>
          <a:bodyPr>
            <a:normAutofit/>
          </a:bodyPr>
          <a:lstStyle/>
          <a:p>
            <a:r>
              <a:rPr lang="ru-RU" sz="2400" b="1" dirty="0">
                <a:latin typeface="Times New Roman"/>
                <a:ea typeface="+mj-lt"/>
                <a:cs typeface="+mj-lt"/>
              </a:rPr>
              <a:t>Выделяется несколько относительно самостоятельных направлений исследований в рамках сексологии:</a:t>
            </a:r>
            <a:endParaRPr lang="ru-RU" sz="2400" dirty="0">
              <a:latin typeface="Times New Roman"/>
            </a:endParaRPr>
          </a:p>
        </p:txBody>
      </p:sp>
      <p:sp>
        <p:nvSpPr>
          <p:cNvPr id="3" name="Объект 2">
            <a:extLst>
              <a:ext uri="{FF2B5EF4-FFF2-40B4-BE49-F238E27FC236}">
                <a16:creationId xmlns:a16="http://schemas.microsoft.com/office/drawing/2014/main" id="{C33B61BF-3D71-8CFF-3B9F-7E213EF4B96C}"/>
              </a:ext>
            </a:extLst>
          </p:cNvPr>
          <p:cNvSpPr>
            <a:spLocks noGrp="1"/>
          </p:cNvSpPr>
          <p:nvPr>
            <p:ph idx="1"/>
          </p:nvPr>
        </p:nvSpPr>
        <p:spPr>
          <a:xfrm>
            <a:off x="445932" y="1981570"/>
            <a:ext cx="11553582" cy="4640902"/>
          </a:xfrm>
        </p:spPr>
        <p:txBody>
          <a:bodyPr vert="horz" lIns="91440" tIns="45720" rIns="91440" bIns="45720" rtlCol="0" anchor="t">
            <a:normAutofit fontScale="70000" lnSpcReduction="20000"/>
          </a:bodyPr>
          <a:lstStyle/>
          <a:p>
            <a:pPr marL="0" indent="0">
              <a:lnSpc>
                <a:spcPct val="100000"/>
              </a:lnSpc>
              <a:buNone/>
            </a:pPr>
            <a:endParaRPr lang="ru-RU" b="1" dirty="0">
              <a:latin typeface="Times New Roman"/>
              <a:cs typeface="Times New Roman"/>
            </a:endParaRPr>
          </a:p>
          <a:p>
            <a:pPr>
              <a:lnSpc>
                <a:spcPct val="100000"/>
              </a:lnSpc>
            </a:pPr>
            <a:r>
              <a:rPr lang="ru-RU" b="1" dirty="0">
                <a:latin typeface="Times New Roman"/>
                <a:cs typeface="Times New Roman"/>
              </a:rPr>
              <a:t>Нормальная (общая) сексология, </a:t>
            </a:r>
            <a:r>
              <a:rPr lang="ru-RU" dirty="0">
                <a:latin typeface="Times New Roman"/>
                <a:cs typeface="Times New Roman"/>
              </a:rPr>
              <a:t>изучающая биологические, анатомические, физиологические, психологические и социальные аспекты сексуального поведения человека, не являющегося отклонением от нормы с медицинской точки зрения.</a:t>
            </a:r>
            <a:endParaRPr lang="en-US">
              <a:ea typeface="+mn-lt"/>
              <a:cs typeface="+mn-lt"/>
            </a:endParaRPr>
          </a:p>
          <a:p>
            <a:pPr>
              <a:lnSpc>
                <a:spcPct val="100000"/>
              </a:lnSpc>
            </a:pPr>
            <a:r>
              <a:rPr lang="ru-RU" b="1" dirty="0">
                <a:latin typeface="Times New Roman"/>
                <a:cs typeface="Times New Roman"/>
              </a:rPr>
              <a:t>Клиническая (медицинская) сексология, </a:t>
            </a:r>
            <a:r>
              <a:rPr lang="ru-RU" dirty="0">
                <a:latin typeface="Times New Roman"/>
                <a:cs typeface="Times New Roman"/>
              </a:rPr>
              <a:t>занимающаяся профилактикой, диагностикой и лечением расстройств здоровья, связанных с сексуальным поведением.</a:t>
            </a:r>
            <a:endParaRPr lang="en-US" dirty="0">
              <a:ea typeface="+mn-lt"/>
              <a:cs typeface="+mn-lt"/>
            </a:endParaRPr>
          </a:p>
          <a:p>
            <a:pPr>
              <a:lnSpc>
                <a:spcPct val="100000"/>
              </a:lnSpc>
            </a:pPr>
            <a:r>
              <a:rPr lang="ru-RU" b="1" dirty="0" err="1">
                <a:latin typeface="Times New Roman"/>
                <a:cs typeface="Times New Roman"/>
              </a:rPr>
              <a:t>Этнокультуральная</a:t>
            </a:r>
            <a:r>
              <a:rPr lang="ru-RU" b="1" dirty="0">
                <a:latin typeface="Times New Roman"/>
                <a:cs typeface="Times New Roman"/>
              </a:rPr>
              <a:t> сексология, </a:t>
            </a:r>
            <a:r>
              <a:rPr lang="ru-RU" dirty="0">
                <a:latin typeface="Times New Roman"/>
                <a:cs typeface="Times New Roman"/>
              </a:rPr>
              <a:t>исследующая исторические и культурные различия в образе и стереотипах сексуального поведения, в других вопросах, связанных с различиями между полами, имеющиеся у разных народов в разные периоды времени.</a:t>
            </a:r>
            <a:endParaRPr lang="en-US" dirty="0">
              <a:ea typeface="+mn-lt"/>
              <a:cs typeface="+mn-lt"/>
            </a:endParaRPr>
          </a:p>
          <a:p>
            <a:pPr>
              <a:lnSpc>
                <a:spcPct val="100000"/>
              </a:lnSpc>
            </a:pPr>
            <a:r>
              <a:rPr lang="ru-RU" b="1" dirty="0">
                <a:latin typeface="Times New Roman"/>
                <a:cs typeface="Times New Roman"/>
              </a:rPr>
              <a:t>Судебная и криминальная сексология, </a:t>
            </a:r>
            <a:r>
              <a:rPr lang="ru-RU" dirty="0">
                <a:latin typeface="Times New Roman"/>
                <a:cs typeface="Times New Roman"/>
              </a:rPr>
              <a:t>обобщающие те аспекты знаний о половом поведении, которые могут оказаться полезными при расследовании и профилактике половых преступлений и преступлений против общественной нравственности.</a:t>
            </a:r>
            <a:endParaRPr lang="en-US" dirty="0">
              <a:ea typeface="+mn-lt"/>
              <a:cs typeface="+mn-lt"/>
            </a:endParaRPr>
          </a:p>
          <a:p>
            <a:pPr>
              <a:lnSpc>
                <a:spcPct val="100000"/>
              </a:lnSpc>
            </a:pPr>
            <a:r>
              <a:rPr lang="ru-RU" b="1" dirty="0" err="1">
                <a:latin typeface="Times New Roman"/>
                <a:cs typeface="Times New Roman"/>
              </a:rPr>
              <a:t>Фамилистика</a:t>
            </a:r>
            <a:r>
              <a:rPr lang="ru-RU" b="1" dirty="0">
                <a:latin typeface="Times New Roman"/>
                <a:cs typeface="Times New Roman"/>
              </a:rPr>
              <a:t>, </a:t>
            </a:r>
            <a:r>
              <a:rPr lang="ru-RU" dirty="0">
                <a:latin typeface="Times New Roman"/>
                <a:cs typeface="Times New Roman"/>
              </a:rPr>
              <a:t>изучающая половые взаимоотношения в рамках семьи, особенности выполнения родительских ролей в зависимости от пола и т. д.</a:t>
            </a:r>
            <a:endParaRPr lang="en-US" dirty="0">
              <a:ea typeface="+mn-lt"/>
              <a:cs typeface="+mn-lt"/>
            </a:endParaRPr>
          </a:p>
          <a:p>
            <a:endParaRPr lang="ru-RU" dirty="0"/>
          </a:p>
        </p:txBody>
      </p:sp>
    </p:spTree>
    <p:extLst>
      <p:ext uri="{BB962C8B-B14F-4D97-AF65-F5344CB8AC3E}">
        <p14:creationId xmlns:p14="http://schemas.microsoft.com/office/powerpoint/2010/main" val="1831482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288F93-918E-6305-245E-9D1E950955DF}"/>
              </a:ext>
            </a:extLst>
          </p:cNvPr>
          <p:cNvSpPr>
            <a:spLocks noGrp="1"/>
          </p:cNvSpPr>
          <p:nvPr>
            <p:ph type="title"/>
          </p:nvPr>
        </p:nvSpPr>
        <p:spPr/>
        <p:txBody>
          <a:bodyPr>
            <a:normAutofit/>
          </a:bodyPr>
          <a:lstStyle/>
          <a:p>
            <a:r>
              <a:rPr lang="ru-RU" sz="2800" dirty="0">
                <a:latin typeface="Times New Roman"/>
                <a:cs typeface="Times New Roman"/>
              </a:rPr>
              <a:t>Понять сексуальное поведение людей можно только в том случае, если вы готовы отрешиться от своих стереотипов и представлений.</a:t>
            </a:r>
            <a:br>
              <a:rPr lang="ru-RU" sz="2800" dirty="0">
                <a:latin typeface="Times New Roman"/>
              </a:rPr>
            </a:br>
            <a:r>
              <a:rPr lang="ru-RU" sz="2800" dirty="0">
                <a:latin typeface="Times New Roman"/>
                <a:cs typeface="Times New Roman"/>
              </a:rPr>
              <a:t>Для объективного взгляда важно выйти за рамки собственных стереотипов, которые для начала нужно осознать.</a:t>
            </a:r>
          </a:p>
        </p:txBody>
      </p:sp>
    </p:spTree>
    <p:extLst>
      <p:ext uri="{BB962C8B-B14F-4D97-AF65-F5344CB8AC3E}">
        <p14:creationId xmlns:p14="http://schemas.microsoft.com/office/powerpoint/2010/main" val="1511630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35E985-63A3-4EBC-91B9-9A03C93706EA}"/>
              </a:ext>
            </a:extLst>
          </p:cNvPr>
          <p:cNvSpPr>
            <a:spLocks noGrp="1"/>
          </p:cNvSpPr>
          <p:nvPr>
            <p:ph type="title"/>
          </p:nvPr>
        </p:nvSpPr>
        <p:spPr>
          <a:xfrm>
            <a:off x="631065" y="953038"/>
            <a:ext cx="10985679" cy="1202334"/>
          </a:xfrm>
        </p:spPr>
        <p:txBody>
          <a:bodyPr>
            <a:normAutofit/>
          </a:bodyPr>
          <a:lstStyle/>
          <a:p>
            <a:r>
              <a:rPr lang="ru-RU" sz="2800" b="1" dirty="0">
                <a:latin typeface="Times New Roman" panose="02020603050405020304" pitchFamily="18" charset="0"/>
                <a:cs typeface="Times New Roman" panose="02020603050405020304" pitchFamily="18" charset="0"/>
              </a:rPr>
              <a:t>Специфика сексологического знания</a:t>
            </a:r>
            <a:endParaRPr lang="ru-RU" sz="2400" dirty="0">
              <a:latin typeface="Times New Roman" panose="02020603050405020304" pitchFamily="18"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40804B68-8DDB-40AF-9C74-1E5D3EE3F6E5}"/>
              </a:ext>
            </a:extLst>
          </p:cNvPr>
          <p:cNvSpPr/>
          <p:nvPr/>
        </p:nvSpPr>
        <p:spPr>
          <a:xfrm>
            <a:off x="3200400" y="1955371"/>
            <a:ext cx="6096000" cy="923330"/>
          </a:xfrm>
          <a:prstGeom prst="rect">
            <a:avLst/>
          </a:prstGeom>
        </p:spPr>
        <p:txBody>
          <a:bodyPr>
            <a:spAutoFit/>
          </a:bodyPr>
          <a:lstStyle/>
          <a:p>
            <a:br>
              <a:rPr lang="ru-RU" dirty="0">
                <a:latin typeface="Times New Roman" panose="02020603050405020304" pitchFamily="18" charset="0"/>
                <a:cs typeface="Times New Roman" panose="02020603050405020304" pitchFamily="18" charset="0"/>
              </a:rPr>
            </a:br>
            <a:r>
              <a:rPr lang="ru-RU" dirty="0">
                <a:latin typeface="Times New Roman" panose="02020603050405020304" pitchFamily="18" charset="0"/>
                <a:cs typeface="Times New Roman" panose="02020603050405020304" pitchFamily="18" charset="0"/>
              </a:rPr>
              <a:t>- важно ориентироваться во многих направлениях</a:t>
            </a:r>
            <a:br>
              <a:rPr lang="ru-RU" dirty="0">
                <a:latin typeface="Times New Roman" panose="02020603050405020304" pitchFamily="18" charset="0"/>
                <a:cs typeface="Times New Roman" panose="02020603050405020304" pitchFamily="18" charset="0"/>
              </a:rPr>
            </a:br>
            <a:endParaRPr lang="ru-RU" dirty="0"/>
          </a:p>
        </p:txBody>
      </p:sp>
      <p:sp>
        <p:nvSpPr>
          <p:cNvPr id="4" name="Прямоугольник 3">
            <a:extLst>
              <a:ext uri="{FF2B5EF4-FFF2-40B4-BE49-F238E27FC236}">
                <a16:creationId xmlns:a16="http://schemas.microsoft.com/office/drawing/2014/main" id="{E25DC4C9-35ED-45F7-A81A-F9F078B22A0A}"/>
              </a:ext>
            </a:extLst>
          </p:cNvPr>
          <p:cNvSpPr/>
          <p:nvPr/>
        </p:nvSpPr>
        <p:spPr>
          <a:xfrm>
            <a:off x="3200730" y="2880764"/>
            <a:ext cx="6096000" cy="923330"/>
          </a:xfrm>
          <a:prstGeom prst="rect">
            <a:avLst/>
          </a:prstGeom>
        </p:spPr>
        <p:txBody>
          <a:bodyPr>
            <a:spAutoFit/>
          </a:bodyPr>
          <a:lstStyle/>
          <a:p>
            <a:r>
              <a:rPr lang="ru-RU" dirty="0">
                <a:latin typeface="Times New Roman" panose="02020603050405020304" pitchFamily="18" charset="0"/>
                <a:cs typeface="Times New Roman" panose="02020603050405020304" pitchFamily="18" charset="0"/>
              </a:rPr>
              <a:t>-каждая психологическая школа делает свой особый акцент (</a:t>
            </a:r>
            <a:r>
              <a:rPr lang="ru-RU" dirty="0" err="1">
                <a:latin typeface="Times New Roman" panose="02020603050405020304" pitchFamily="18" charset="0"/>
                <a:cs typeface="Times New Roman" panose="02020603050405020304" pitchFamily="18" charset="0"/>
              </a:rPr>
              <a:t>когнитивизм</a:t>
            </a:r>
            <a:r>
              <a:rPr lang="ru-RU" dirty="0">
                <a:latin typeface="Times New Roman" panose="02020603050405020304" pitchFamily="18" charset="0"/>
                <a:cs typeface="Times New Roman" panose="02020603050405020304" pitchFamily="18" charset="0"/>
              </a:rPr>
              <a:t> – процессы познания и их роль в секс мотивации, психоанализ – бессознательное)</a:t>
            </a:r>
            <a:endParaRPr lang="ru-RU" dirty="0"/>
          </a:p>
        </p:txBody>
      </p:sp>
      <p:sp>
        <p:nvSpPr>
          <p:cNvPr id="5" name="Прямоугольник 4">
            <a:extLst>
              <a:ext uri="{FF2B5EF4-FFF2-40B4-BE49-F238E27FC236}">
                <a16:creationId xmlns:a16="http://schemas.microsoft.com/office/drawing/2014/main" id="{D8EE627E-12A6-47C7-8CA2-403024FA6724}"/>
              </a:ext>
            </a:extLst>
          </p:cNvPr>
          <p:cNvSpPr/>
          <p:nvPr/>
        </p:nvSpPr>
        <p:spPr>
          <a:xfrm>
            <a:off x="3200730" y="4097799"/>
            <a:ext cx="6096000" cy="923330"/>
          </a:xfrm>
          <a:prstGeom prst="rect">
            <a:avLst/>
          </a:prstGeom>
        </p:spPr>
        <p:txBody>
          <a:bodyPr>
            <a:spAutoFit/>
          </a:bodyPr>
          <a:lstStyle/>
          <a:p>
            <a:r>
              <a:rPr lang="ru-RU" dirty="0">
                <a:latin typeface="Times New Roman" panose="02020603050405020304" pitchFamily="18" charset="0"/>
                <a:cs typeface="Times New Roman" panose="02020603050405020304" pitchFamily="18" charset="0"/>
              </a:rPr>
              <a:t>- Кон говорил, что так как, психология сексуальности это междисциплинарная область знаний, то у нее не может быть единой методологии.</a:t>
            </a:r>
            <a:endParaRPr lang="ru-RU" dirty="0"/>
          </a:p>
        </p:txBody>
      </p:sp>
      <p:sp>
        <p:nvSpPr>
          <p:cNvPr id="6" name="TextBox 5">
            <a:extLst>
              <a:ext uri="{FF2B5EF4-FFF2-40B4-BE49-F238E27FC236}">
                <a16:creationId xmlns:a16="http://schemas.microsoft.com/office/drawing/2014/main" id="{40759271-D84E-C6F8-70CF-39DD1B9CDC97}"/>
              </a:ext>
            </a:extLst>
          </p:cNvPr>
          <p:cNvSpPr txBox="1"/>
          <p:nvPr/>
        </p:nvSpPr>
        <p:spPr>
          <a:xfrm>
            <a:off x="3258127" y="5220855"/>
            <a:ext cx="57103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dirty="0">
                <a:latin typeface="Times New Roman"/>
                <a:cs typeface="Times New Roman"/>
              </a:rPr>
              <a:t>- Важно не бояться и модифицировать техники</a:t>
            </a:r>
          </a:p>
        </p:txBody>
      </p:sp>
    </p:spTree>
    <p:extLst>
      <p:ext uri="{BB962C8B-B14F-4D97-AF65-F5344CB8AC3E}">
        <p14:creationId xmlns:p14="http://schemas.microsoft.com/office/powerpoint/2010/main" val="95912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1FF598-A43C-7F5F-D163-558633670359}"/>
              </a:ext>
            </a:extLst>
          </p:cNvPr>
          <p:cNvSpPr>
            <a:spLocks noGrp="1"/>
          </p:cNvSpPr>
          <p:nvPr>
            <p:ph type="title"/>
          </p:nvPr>
        </p:nvSpPr>
        <p:spPr>
          <a:xfrm>
            <a:off x="838200" y="365125"/>
            <a:ext cx="10515600" cy="454706"/>
          </a:xfrm>
        </p:spPr>
        <p:txBody>
          <a:bodyPr>
            <a:normAutofit fontScale="90000"/>
          </a:bodyPr>
          <a:lstStyle/>
          <a:p>
            <a:r>
              <a:rPr lang="ru-RU" dirty="0">
                <a:latin typeface="Times New Roman"/>
                <a:cs typeface="Times New Roman"/>
              </a:rPr>
              <a:t>Секс терапия ( Хелен Каплан)</a:t>
            </a:r>
          </a:p>
        </p:txBody>
      </p:sp>
      <p:sp>
        <p:nvSpPr>
          <p:cNvPr id="3" name="Объект 2">
            <a:extLst>
              <a:ext uri="{FF2B5EF4-FFF2-40B4-BE49-F238E27FC236}">
                <a16:creationId xmlns:a16="http://schemas.microsoft.com/office/drawing/2014/main" id="{B06AA497-0D8A-49AE-5BA9-1473F34310E7}"/>
              </a:ext>
            </a:extLst>
          </p:cNvPr>
          <p:cNvSpPr>
            <a:spLocks noGrp="1"/>
          </p:cNvSpPr>
          <p:nvPr>
            <p:ph idx="1"/>
          </p:nvPr>
        </p:nvSpPr>
        <p:spPr>
          <a:xfrm>
            <a:off x="272143" y="1053738"/>
            <a:ext cx="11502571" cy="5568404"/>
          </a:xfrm>
        </p:spPr>
        <p:txBody>
          <a:bodyPr vert="horz" lIns="91440" tIns="45720" rIns="91440" bIns="45720" rtlCol="0" anchor="t">
            <a:normAutofit/>
          </a:bodyPr>
          <a:lstStyle/>
          <a:p>
            <a:pPr marL="0" indent="0">
              <a:lnSpc>
                <a:spcPct val="110000"/>
              </a:lnSpc>
              <a:buNone/>
            </a:pPr>
            <a:r>
              <a:rPr lang="ru-RU" sz="1800" dirty="0">
                <a:latin typeface="Times New Roman"/>
                <a:cs typeface="Times New Roman"/>
              </a:rPr>
              <a:t>Единственная методология сексологии</a:t>
            </a:r>
            <a:endParaRPr lang="ru-RU" sz="1800" dirty="0">
              <a:ea typeface="+mn-lt"/>
              <a:cs typeface="+mn-lt"/>
            </a:endParaRPr>
          </a:p>
          <a:p>
            <a:pPr marL="0" indent="0">
              <a:lnSpc>
                <a:spcPct val="110000"/>
              </a:lnSpc>
              <a:buNone/>
            </a:pPr>
            <a:endParaRPr lang="ru-RU" sz="1800" dirty="0">
              <a:ea typeface="+mn-lt"/>
              <a:cs typeface="+mn-lt"/>
            </a:endParaRPr>
          </a:p>
          <a:p>
            <a:pPr marL="0" indent="0">
              <a:lnSpc>
                <a:spcPct val="110000"/>
              </a:lnSpc>
              <a:buNone/>
            </a:pPr>
            <a:r>
              <a:rPr lang="ru-RU" sz="1800" dirty="0">
                <a:latin typeface="Times New Roman"/>
                <a:cs typeface="Times New Roman"/>
              </a:rPr>
              <a:t>Включает в себя коррекцию 2 основных компонентов:</a:t>
            </a:r>
            <a:endParaRPr lang="en-US" sz="1800" dirty="0">
              <a:ea typeface="+mn-lt"/>
              <a:cs typeface="+mn-lt"/>
            </a:endParaRPr>
          </a:p>
          <a:p>
            <a:pPr marL="0" indent="0">
              <a:lnSpc>
                <a:spcPct val="110000"/>
              </a:lnSpc>
              <a:buNone/>
            </a:pPr>
            <a:r>
              <a:rPr lang="ru-RU" sz="1800" dirty="0">
                <a:latin typeface="Times New Roman"/>
                <a:cs typeface="Times New Roman"/>
              </a:rPr>
              <a:t>-Изменение стереотипа поведения в сексуальном контакте,</a:t>
            </a:r>
            <a:endParaRPr lang="en-US" sz="1800" dirty="0">
              <a:ea typeface="+mn-lt"/>
              <a:cs typeface="+mn-lt"/>
            </a:endParaRPr>
          </a:p>
          <a:p>
            <a:pPr marL="0" indent="0">
              <a:lnSpc>
                <a:spcPct val="110000"/>
              </a:lnSpc>
              <a:buNone/>
            </a:pPr>
            <a:r>
              <a:rPr lang="ru-RU" sz="1800" dirty="0">
                <a:latin typeface="Times New Roman"/>
                <a:cs typeface="Times New Roman"/>
              </a:rPr>
              <a:t>-Восстановление нарушенных физиологических реакций.</a:t>
            </a:r>
            <a:endParaRPr lang="en-US" sz="1800" dirty="0">
              <a:ea typeface="+mn-lt"/>
              <a:cs typeface="+mn-lt"/>
            </a:endParaRPr>
          </a:p>
          <a:p>
            <a:pPr marL="0" indent="0">
              <a:lnSpc>
                <a:spcPct val="110000"/>
              </a:lnSpc>
              <a:buNone/>
            </a:pPr>
            <a:endParaRPr lang="ru-RU" sz="1800" dirty="0">
              <a:ea typeface="+mn-lt"/>
              <a:cs typeface="+mn-lt"/>
            </a:endParaRPr>
          </a:p>
          <a:p>
            <a:pPr marL="0" indent="0">
              <a:lnSpc>
                <a:spcPct val="110000"/>
              </a:lnSpc>
              <a:buNone/>
            </a:pPr>
            <a:r>
              <a:rPr lang="ru-RU" sz="1800" dirty="0">
                <a:latin typeface="Times New Roman"/>
                <a:cs typeface="Times New Roman"/>
              </a:rPr>
              <a:t>Что осуществляется во время секс-терапии:</a:t>
            </a:r>
            <a:endParaRPr lang="en-US" sz="1800" dirty="0">
              <a:ea typeface="+mn-lt"/>
              <a:cs typeface="+mn-lt"/>
            </a:endParaRPr>
          </a:p>
          <a:p>
            <a:pPr marL="0" indent="0">
              <a:lnSpc>
                <a:spcPct val="110000"/>
              </a:lnSpc>
              <a:buNone/>
            </a:pPr>
            <a:r>
              <a:rPr lang="ru-RU" sz="1800" dirty="0">
                <a:latin typeface="Times New Roman"/>
                <a:cs typeface="Times New Roman"/>
              </a:rPr>
              <a:t>1. Модификация индивидуальных вариантов сексуального поведения,</a:t>
            </a:r>
            <a:endParaRPr lang="en-US" sz="1800" dirty="0">
              <a:ea typeface="+mn-lt"/>
              <a:cs typeface="+mn-lt"/>
            </a:endParaRPr>
          </a:p>
          <a:p>
            <a:pPr marL="0" indent="0">
              <a:lnSpc>
                <a:spcPct val="110000"/>
              </a:lnSpc>
              <a:buNone/>
            </a:pPr>
            <a:r>
              <a:rPr lang="ru-RU" sz="1800" dirty="0">
                <a:latin typeface="Times New Roman"/>
                <a:cs typeface="Times New Roman"/>
              </a:rPr>
              <a:t>2.Развитие близости и взаимодействия между партнерами,</a:t>
            </a:r>
            <a:endParaRPr lang="en-US" sz="1800" dirty="0">
              <a:ea typeface="+mn-lt"/>
              <a:cs typeface="+mn-lt"/>
            </a:endParaRPr>
          </a:p>
          <a:p>
            <a:pPr marL="0" indent="0">
              <a:lnSpc>
                <a:spcPct val="110000"/>
              </a:lnSpc>
              <a:buNone/>
            </a:pPr>
            <a:r>
              <a:rPr lang="ru-RU" sz="1800" dirty="0">
                <a:latin typeface="Times New Roman"/>
                <a:cs typeface="Times New Roman"/>
              </a:rPr>
              <a:t>3. Установление соответствий между индивидуальными системами секс ценностей</a:t>
            </a:r>
            <a:endParaRPr lang="en-US" sz="1800" dirty="0">
              <a:ea typeface="+mn-lt"/>
              <a:cs typeface="+mn-lt"/>
            </a:endParaRPr>
          </a:p>
          <a:p>
            <a:pPr marL="0" indent="0">
              <a:lnSpc>
                <a:spcPct val="110000"/>
              </a:lnSpc>
              <a:buNone/>
            </a:pPr>
            <a:r>
              <a:rPr lang="ru-RU" sz="1800" dirty="0">
                <a:latin typeface="Times New Roman"/>
                <a:cs typeface="Times New Roman"/>
              </a:rPr>
              <a:t>4. Подлинная адаптация друг к другу</a:t>
            </a:r>
            <a:endParaRPr lang="en-US" sz="1800" dirty="0">
              <a:ea typeface="+mn-lt"/>
              <a:cs typeface="+mn-lt"/>
            </a:endParaRPr>
          </a:p>
          <a:p>
            <a:pPr marL="0" indent="0">
              <a:lnSpc>
                <a:spcPct val="110000"/>
              </a:lnSpc>
              <a:buNone/>
            </a:pPr>
            <a:endParaRPr lang="ru-RU" sz="1800" dirty="0">
              <a:ea typeface="+mn-lt"/>
              <a:cs typeface="+mn-lt"/>
            </a:endParaRPr>
          </a:p>
          <a:p>
            <a:pPr marL="0" indent="0">
              <a:lnSpc>
                <a:spcPct val="110000"/>
              </a:lnSpc>
              <a:buNone/>
            </a:pPr>
            <a:r>
              <a:rPr lang="ru-RU" sz="1800" dirty="0">
                <a:latin typeface="Times New Roman"/>
                <a:cs typeface="Times New Roman"/>
              </a:rPr>
              <a:t>Главная цель - восстановление гедонистического компонента отношений</a:t>
            </a:r>
            <a:endParaRPr lang="ru-RU" dirty="0"/>
          </a:p>
        </p:txBody>
      </p:sp>
    </p:spTree>
    <p:extLst>
      <p:ext uri="{BB962C8B-B14F-4D97-AF65-F5344CB8AC3E}">
        <p14:creationId xmlns:p14="http://schemas.microsoft.com/office/powerpoint/2010/main" val="1639367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Rectangle 3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0" name="Freeform: Shape 3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Freeform: Shape 41">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Заголовок 1">
            <a:extLst>
              <a:ext uri="{FF2B5EF4-FFF2-40B4-BE49-F238E27FC236}">
                <a16:creationId xmlns:a16="http://schemas.microsoft.com/office/drawing/2014/main" id="{60B43411-DF86-85F2-3559-EAAD10537095}"/>
              </a:ext>
            </a:extLst>
          </p:cNvPr>
          <p:cNvSpPr>
            <a:spLocks noGrp="1"/>
          </p:cNvSpPr>
          <p:nvPr>
            <p:ph type="title"/>
          </p:nvPr>
        </p:nvSpPr>
        <p:spPr>
          <a:xfrm>
            <a:off x="1524003" y="1999615"/>
            <a:ext cx="9144000" cy="2764028"/>
          </a:xfrm>
        </p:spPr>
        <p:txBody>
          <a:bodyPr vert="horz" lIns="91440" tIns="45720" rIns="91440" bIns="45720" rtlCol="0" anchor="ctr">
            <a:normAutofit fontScale="90000"/>
          </a:bodyPr>
          <a:lstStyle/>
          <a:p>
            <a:pPr algn="ctr"/>
            <a:r>
              <a:rPr lang="en-US" sz="2900" dirty="0" err="1"/>
              <a:t>Главным</a:t>
            </a:r>
            <a:r>
              <a:rPr lang="en-US" sz="2900" dirty="0"/>
              <a:t> </a:t>
            </a:r>
            <a:r>
              <a:rPr lang="en-US" sz="2900" dirty="0" err="1"/>
              <a:t>ориентиром</a:t>
            </a:r>
            <a:r>
              <a:rPr lang="en-US" sz="2900" dirty="0"/>
              <a:t> в </a:t>
            </a:r>
            <a:r>
              <a:rPr lang="en-US" sz="2900" dirty="0" err="1"/>
              <a:t>секс-терапии</a:t>
            </a:r>
            <a:r>
              <a:rPr lang="en-US" sz="2900" dirty="0"/>
              <a:t> </a:t>
            </a:r>
            <a:r>
              <a:rPr lang="en-US" sz="2900" dirty="0" err="1"/>
              <a:t>является</a:t>
            </a:r>
            <a:r>
              <a:rPr lang="en-US" sz="2900" dirty="0"/>
              <a:t> </a:t>
            </a:r>
            <a:r>
              <a:rPr lang="en-US" sz="2900" dirty="0" err="1"/>
              <a:t>не</a:t>
            </a:r>
            <a:r>
              <a:rPr lang="en-US" sz="2900" dirty="0"/>
              <a:t> </a:t>
            </a:r>
            <a:r>
              <a:rPr lang="en-US" sz="2900" dirty="0" err="1"/>
              <a:t>техническое</a:t>
            </a:r>
            <a:r>
              <a:rPr lang="en-US" sz="2900" dirty="0"/>
              <a:t> </a:t>
            </a:r>
            <a:r>
              <a:rPr lang="en-US" sz="2900" dirty="0" err="1"/>
              <a:t>овладение</a:t>
            </a:r>
            <a:r>
              <a:rPr lang="en-US" sz="2900" dirty="0"/>
              <a:t> </a:t>
            </a:r>
            <a:r>
              <a:rPr lang="en-US" sz="2900" dirty="0" err="1"/>
              <a:t>неким</a:t>
            </a:r>
            <a:r>
              <a:rPr lang="en-US" sz="2900" dirty="0"/>
              <a:t> </a:t>
            </a:r>
            <a:r>
              <a:rPr lang="en-US" sz="2900" dirty="0" err="1"/>
              <a:t>поведением</a:t>
            </a:r>
            <a:r>
              <a:rPr lang="en-US" sz="2900" dirty="0"/>
              <a:t>, а </a:t>
            </a:r>
            <a:r>
              <a:rPr lang="en-US" sz="2900" dirty="0" err="1"/>
              <a:t>научение</a:t>
            </a:r>
            <a:r>
              <a:rPr lang="en-US" sz="2900" dirty="0"/>
              <a:t> </a:t>
            </a:r>
            <a:r>
              <a:rPr lang="en-US" sz="2900" dirty="0" err="1"/>
              <a:t>вчувствоваться</a:t>
            </a:r>
            <a:r>
              <a:rPr lang="en-US" sz="2900" dirty="0"/>
              <a:t> в </a:t>
            </a:r>
            <a:r>
              <a:rPr lang="en-US" sz="2900" dirty="0" err="1"/>
              <a:t>то</a:t>
            </a:r>
            <a:r>
              <a:rPr lang="en-US" sz="2900" dirty="0"/>
              <a:t>, </a:t>
            </a:r>
            <a:r>
              <a:rPr lang="en-US" sz="2900" dirty="0" err="1"/>
              <a:t>что</a:t>
            </a:r>
            <a:r>
              <a:rPr lang="en-US" sz="2900" dirty="0"/>
              <a:t> </a:t>
            </a:r>
            <a:r>
              <a:rPr lang="en-US" sz="2900" dirty="0" err="1"/>
              <a:t>делаю</a:t>
            </a:r>
            <a:r>
              <a:rPr lang="en-US" sz="2900" dirty="0"/>
              <a:t> я и </a:t>
            </a:r>
            <a:r>
              <a:rPr lang="en-US" sz="2900" dirty="0" err="1"/>
              <a:t>что</a:t>
            </a:r>
            <a:r>
              <a:rPr lang="en-US" sz="2900" dirty="0"/>
              <a:t> </a:t>
            </a:r>
            <a:r>
              <a:rPr lang="en-US" sz="2900" dirty="0" err="1"/>
              <a:t>делают</a:t>
            </a:r>
            <a:r>
              <a:rPr lang="en-US" sz="2900" dirty="0"/>
              <a:t> </a:t>
            </a:r>
            <a:r>
              <a:rPr lang="en-US" sz="2900" dirty="0" err="1"/>
              <a:t>со</a:t>
            </a:r>
            <a:r>
              <a:rPr lang="en-US" sz="2900" dirty="0"/>
              <a:t> </a:t>
            </a:r>
            <a:r>
              <a:rPr lang="en-US" sz="2900" dirty="0" err="1"/>
              <a:t>мной</a:t>
            </a:r>
            <a:r>
              <a:rPr lang="en-US" sz="2900" dirty="0"/>
              <a:t>.</a:t>
            </a:r>
            <a:br>
              <a:rPr lang="en-US" dirty="0"/>
            </a:br>
            <a:br>
              <a:rPr lang="en-US" dirty="0"/>
            </a:br>
            <a:br>
              <a:rPr lang="en-US" sz="2900" dirty="0"/>
            </a:br>
            <a:r>
              <a:rPr lang="en-US" sz="2900" dirty="0"/>
              <a:t>В </a:t>
            </a:r>
            <a:r>
              <a:rPr lang="en-US" sz="2900" dirty="0" err="1"/>
              <a:t>сексе</a:t>
            </a:r>
            <a:r>
              <a:rPr lang="en-US" sz="2900" dirty="0"/>
              <a:t> </a:t>
            </a:r>
            <a:r>
              <a:rPr lang="en-US" sz="2900" dirty="0" err="1"/>
              <a:t>важно</a:t>
            </a:r>
            <a:r>
              <a:rPr lang="en-US" sz="2900" dirty="0"/>
              <a:t> </a:t>
            </a:r>
            <a:r>
              <a:rPr lang="en-US" sz="2900" dirty="0" err="1"/>
              <a:t>убирать</a:t>
            </a:r>
            <a:r>
              <a:rPr lang="en-US" sz="2900" dirty="0"/>
              <a:t> </a:t>
            </a:r>
            <a:r>
              <a:rPr lang="en-US" sz="2900" dirty="0" err="1"/>
              <a:t>цель</a:t>
            </a:r>
            <a:r>
              <a:rPr lang="en-US" sz="2900" dirty="0"/>
              <a:t> и </a:t>
            </a:r>
            <a:r>
              <a:rPr lang="en-US" sz="2900" dirty="0" err="1"/>
              <a:t>тогда</a:t>
            </a:r>
            <a:r>
              <a:rPr lang="en-US" sz="2900" dirty="0"/>
              <a:t> </a:t>
            </a:r>
            <a:r>
              <a:rPr lang="en-US" sz="2900" dirty="0" err="1"/>
              <a:t>все</a:t>
            </a:r>
            <a:r>
              <a:rPr lang="en-US" sz="2900" dirty="0"/>
              <a:t> </a:t>
            </a:r>
            <a:r>
              <a:rPr lang="en-US" sz="2900" dirty="0" err="1"/>
              <a:t>случается</a:t>
            </a:r>
            <a:r>
              <a:rPr lang="en-US" sz="2900" dirty="0"/>
              <a:t> </a:t>
            </a:r>
            <a:r>
              <a:rPr lang="en-US" sz="2900" dirty="0" err="1"/>
              <a:t>естественно</a:t>
            </a:r>
            <a:endParaRPr lang="en-US" sz="2900" dirty="0"/>
          </a:p>
        </p:txBody>
      </p:sp>
      <p:sp>
        <p:nvSpPr>
          <p:cNvPr id="44" name="Rectangle 4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20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BC768-FE61-41C8-B9F6-82519BBE15AB}"/>
              </a:ext>
            </a:extLst>
          </p:cNvPr>
          <p:cNvSpPr>
            <a:spLocks noGrp="1"/>
          </p:cNvSpPr>
          <p:nvPr>
            <p:ph type="title"/>
          </p:nvPr>
        </p:nvSpPr>
        <p:spPr>
          <a:xfrm>
            <a:off x="838200" y="365125"/>
            <a:ext cx="10515600" cy="1025525"/>
          </a:xfrm>
        </p:spPr>
        <p:txBody>
          <a:bodyPr/>
          <a:lstStyle/>
          <a:p>
            <a:r>
              <a:rPr lang="ru-RU" dirty="0">
                <a:solidFill>
                  <a:schemeClr val="accent2">
                    <a:lumMod val="75000"/>
                  </a:schemeClr>
                </a:solidFill>
              </a:rPr>
              <a:t>С какими запросами мы работаем?</a:t>
            </a:r>
          </a:p>
        </p:txBody>
      </p:sp>
      <p:sp>
        <p:nvSpPr>
          <p:cNvPr id="3" name="Объект 2">
            <a:extLst>
              <a:ext uri="{FF2B5EF4-FFF2-40B4-BE49-F238E27FC236}">
                <a16:creationId xmlns:a16="http://schemas.microsoft.com/office/drawing/2014/main" id="{4C6AA3E1-671A-4FF0-BD48-2A1B30B054A3}"/>
              </a:ext>
            </a:extLst>
          </p:cNvPr>
          <p:cNvSpPr>
            <a:spLocks noGrp="1"/>
          </p:cNvSpPr>
          <p:nvPr>
            <p:ph idx="1"/>
          </p:nvPr>
        </p:nvSpPr>
        <p:spPr>
          <a:xfrm>
            <a:off x="838200" y="1236373"/>
            <a:ext cx="10515600" cy="5357610"/>
          </a:xfrm>
        </p:spPr>
        <p:txBody>
          <a:bodyPr>
            <a:normAutofit fontScale="92500" lnSpcReduction="10000"/>
          </a:bodyPr>
          <a:lstStyle/>
          <a:p>
            <a:r>
              <a:rPr lang="ru-RU" dirty="0">
                <a:latin typeface="Times New Roman" panose="02020603050405020304" pitchFamily="18" charset="0"/>
                <a:cs typeface="Times New Roman" panose="02020603050405020304" pitchFamily="18" charset="0"/>
              </a:rPr>
              <a:t>Сексуальная скука</a:t>
            </a:r>
          </a:p>
          <a:p>
            <a:r>
              <a:rPr lang="ru-RU" dirty="0">
                <a:latin typeface="Times New Roman" panose="02020603050405020304" pitchFamily="18" charset="0"/>
                <a:cs typeface="Times New Roman" panose="02020603050405020304" pitchFamily="18" charset="0"/>
              </a:rPr>
              <a:t>Сексуальная немота</a:t>
            </a:r>
          </a:p>
          <a:p>
            <a:r>
              <a:rPr lang="ru-RU" dirty="0">
                <a:latin typeface="Times New Roman" panose="02020603050405020304" pitchFamily="18" charset="0"/>
                <a:cs typeface="Times New Roman" panose="02020603050405020304" pitchFamily="18" charset="0"/>
              </a:rPr>
              <a:t>Отсутствие влечения к партнеру</a:t>
            </a:r>
          </a:p>
          <a:p>
            <a:r>
              <a:rPr lang="ru-RU" dirty="0">
                <a:latin typeface="Times New Roman" panose="02020603050405020304" pitchFamily="18" charset="0"/>
                <a:cs typeface="Times New Roman" panose="02020603050405020304" pitchFamily="18" charset="0"/>
              </a:rPr>
              <a:t>ЛГБТКИА</a:t>
            </a:r>
          </a:p>
          <a:p>
            <a:r>
              <a:rPr lang="ru-RU" dirty="0">
                <a:latin typeface="Times New Roman" panose="02020603050405020304" pitchFamily="18" charset="0"/>
                <a:cs typeface="Times New Roman" panose="02020603050405020304" pitchFamily="18" charset="0"/>
              </a:rPr>
              <a:t>Определение нормы</a:t>
            </a:r>
          </a:p>
          <a:p>
            <a:r>
              <a:rPr lang="ru-RU" dirty="0">
                <a:latin typeface="Times New Roman" panose="02020603050405020304" pitchFamily="18" charset="0"/>
                <a:cs typeface="Times New Roman" panose="02020603050405020304" pitchFamily="18" charset="0"/>
              </a:rPr>
              <a:t>Семейные кризисы</a:t>
            </a:r>
          </a:p>
          <a:p>
            <a:r>
              <a:rPr lang="ru-RU" dirty="0">
                <a:latin typeface="Times New Roman" panose="02020603050405020304" pitchFamily="18" charset="0"/>
                <a:cs typeface="Times New Roman" panose="02020603050405020304" pitchFamily="18" charset="0"/>
              </a:rPr>
              <a:t>Измены, ревность, разводы</a:t>
            </a:r>
          </a:p>
          <a:p>
            <a:r>
              <a:rPr lang="ru-RU" dirty="0">
                <a:latin typeface="Times New Roman" panose="02020603050405020304" pitchFamily="18" charset="0"/>
                <a:cs typeface="Times New Roman" panose="02020603050405020304" pitchFamily="18" charset="0"/>
              </a:rPr>
              <a:t>Секс до и после родов</a:t>
            </a:r>
          </a:p>
          <a:p>
            <a:r>
              <a:rPr lang="ru-RU" dirty="0">
                <a:latin typeface="Times New Roman" panose="02020603050405020304" pitchFamily="18" charset="0"/>
                <a:cs typeface="Times New Roman" panose="02020603050405020304" pitchFamily="18" charset="0"/>
              </a:rPr>
              <a:t>Парафилии </a:t>
            </a:r>
          </a:p>
          <a:p>
            <a:r>
              <a:rPr lang="ru-RU" dirty="0" err="1">
                <a:latin typeface="Times New Roman" panose="02020603050405020304" pitchFamily="18" charset="0"/>
                <a:cs typeface="Times New Roman" panose="02020603050405020304" pitchFamily="18" charset="0"/>
              </a:rPr>
              <a:t>Психосексуальное</a:t>
            </a:r>
            <a:r>
              <a:rPr lang="ru-RU" dirty="0">
                <a:latin typeface="Times New Roman" panose="02020603050405020304" pitchFamily="18" charset="0"/>
                <a:cs typeface="Times New Roman" panose="02020603050405020304" pitchFamily="18" charset="0"/>
              </a:rPr>
              <a:t> воспитание детей</a:t>
            </a:r>
          </a:p>
          <a:p>
            <a:r>
              <a:rPr lang="ru-RU" dirty="0">
                <a:latin typeface="Times New Roman" panose="02020603050405020304" pitchFamily="18" charset="0"/>
                <a:cs typeface="Times New Roman" panose="02020603050405020304" pitchFamily="18" charset="0"/>
              </a:rPr>
              <a:t>Сексуальные дисфункции</a:t>
            </a:r>
          </a:p>
        </p:txBody>
      </p:sp>
    </p:spTree>
    <p:extLst>
      <p:ext uri="{BB962C8B-B14F-4D97-AF65-F5344CB8AC3E}">
        <p14:creationId xmlns:p14="http://schemas.microsoft.com/office/powerpoint/2010/main" val="1841266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BC768-FE61-41C8-B9F6-82519BBE15AB}"/>
              </a:ext>
            </a:extLst>
          </p:cNvPr>
          <p:cNvSpPr>
            <a:spLocks noGrp="1"/>
          </p:cNvSpPr>
          <p:nvPr>
            <p:ph type="title"/>
          </p:nvPr>
        </p:nvSpPr>
        <p:spPr>
          <a:xfrm>
            <a:off x="838200" y="365125"/>
            <a:ext cx="10515600" cy="1025525"/>
          </a:xfrm>
        </p:spPr>
        <p:txBody>
          <a:bodyPr/>
          <a:lstStyle/>
          <a:p>
            <a:r>
              <a:rPr lang="ru-RU" dirty="0">
                <a:solidFill>
                  <a:schemeClr val="accent2">
                    <a:lumMod val="75000"/>
                  </a:schemeClr>
                </a:solidFill>
              </a:rPr>
              <a:t>Терминология</a:t>
            </a:r>
          </a:p>
        </p:txBody>
      </p:sp>
      <p:sp>
        <p:nvSpPr>
          <p:cNvPr id="3" name="Объект 2">
            <a:extLst>
              <a:ext uri="{FF2B5EF4-FFF2-40B4-BE49-F238E27FC236}">
                <a16:creationId xmlns:a16="http://schemas.microsoft.com/office/drawing/2014/main" id="{4C6AA3E1-671A-4FF0-BD48-2A1B30B054A3}"/>
              </a:ext>
            </a:extLst>
          </p:cNvPr>
          <p:cNvSpPr>
            <a:spLocks noGrp="1"/>
          </p:cNvSpPr>
          <p:nvPr>
            <p:ph idx="1"/>
          </p:nvPr>
        </p:nvSpPr>
        <p:spPr>
          <a:xfrm>
            <a:off x="838200" y="1236373"/>
            <a:ext cx="10515600" cy="5357610"/>
          </a:xfrm>
        </p:spPr>
        <p:txBody>
          <a:bodyPr>
            <a:normAutofit/>
          </a:bodyPr>
          <a:lstStyle/>
          <a:p>
            <a:r>
              <a:rPr lang="ru-RU" b="1" dirty="0">
                <a:latin typeface="Times New Roman" panose="02020603050405020304" pitchFamily="18" charset="0"/>
                <a:cs typeface="Times New Roman" panose="02020603050405020304" pitchFamily="18" charset="0"/>
              </a:rPr>
              <a:t>СЕКСУАЛЬНОСТЬ -</a:t>
            </a:r>
            <a:r>
              <a:rPr lang="ru-RU" dirty="0">
                <a:latin typeface="Times New Roman" panose="02020603050405020304" pitchFamily="18" charset="0"/>
                <a:cs typeface="Times New Roman" panose="02020603050405020304" pitchFamily="18" charset="0"/>
              </a:rPr>
              <a:t> является центральным аспектом бытия человека на протяжении всей его жизни и включает в себя пол, гендерные идентичности и роли, сексуальную ориентацию, половой инстинкт, удовольствие, близость и репродукцию.</a:t>
            </a:r>
          </a:p>
          <a:p>
            <a:pPr marL="0" indent="0">
              <a:buNone/>
            </a:pPr>
            <a:r>
              <a:rPr lang="ru-RU" dirty="0">
                <a:latin typeface="Times New Roman" panose="02020603050405020304" pitchFamily="18" charset="0"/>
                <a:cs typeface="Times New Roman" panose="02020603050405020304" pitchFamily="18" charset="0"/>
              </a:rPr>
              <a:t>Сексуальность проявляется и выражается в мыслях, фантазиях, желаниях, убеждениях, установках, ценностях, поступках, поведении, половых ролях и отношениях. Несмотря на то, что сексуальность может включать в себя все эти аспекты, не все они одновременно ощущаются и проявляются. На сексуальность влияет совокупность биологических, психологических, социальных, экономических, политических, этических, правовых, исторических, религиозных и духовных факторов.</a:t>
            </a:r>
          </a:p>
          <a:p>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3921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6B4F85-50D2-84AF-5B17-2E2CF941EF30}"/>
              </a:ext>
            </a:extLst>
          </p:cNvPr>
          <p:cNvSpPr>
            <a:spLocks noGrp="1"/>
          </p:cNvSpPr>
          <p:nvPr>
            <p:ph type="title"/>
          </p:nvPr>
        </p:nvSpPr>
        <p:spPr>
          <a:xfrm>
            <a:off x="838200" y="365125"/>
            <a:ext cx="10515600" cy="515938"/>
          </a:xfrm>
        </p:spPr>
        <p:txBody>
          <a:bodyPr>
            <a:normAutofit/>
          </a:bodyPr>
          <a:lstStyle/>
          <a:p>
            <a:r>
              <a:rPr lang="ru-RU" sz="2400" b="1" dirty="0">
                <a:latin typeface="Times New Roman"/>
                <a:cs typeface="Times New Roman"/>
              </a:rPr>
              <a:t>Современные тенденции в человеческой сексуальности:</a:t>
            </a:r>
          </a:p>
        </p:txBody>
      </p:sp>
      <p:sp>
        <p:nvSpPr>
          <p:cNvPr id="3" name="Объект 2">
            <a:extLst>
              <a:ext uri="{FF2B5EF4-FFF2-40B4-BE49-F238E27FC236}">
                <a16:creationId xmlns:a16="http://schemas.microsoft.com/office/drawing/2014/main" id="{9E585ABB-FE0A-E608-D03A-9D889D2CD253}"/>
              </a:ext>
            </a:extLst>
          </p:cNvPr>
          <p:cNvSpPr>
            <a:spLocks noGrp="1"/>
          </p:cNvSpPr>
          <p:nvPr>
            <p:ph idx="1"/>
          </p:nvPr>
        </p:nvSpPr>
        <p:spPr>
          <a:xfrm>
            <a:off x="838200" y="995680"/>
            <a:ext cx="10515600" cy="5565457"/>
          </a:xfrm>
        </p:spPr>
        <p:txBody>
          <a:bodyPr vert="horz" lIns="91440" tIns="45720" rIns="91440" bIns="45720" rtlCol="0" anchor="t">
            <a:normAutofit fontScale="85000" lnSpcReduction="20000"/>
          </a:bodyPr>
          <a:lstStyle/>
          <a:p>
            <a:pPr marL="0" indent="0">
              <a:buNone/>
            </a:pPr>
            <a:r>
              <a:rPr lang="ru-RU" dirty="0">
                <a:latin typeface="Times New Roman"/>
                <a:cs typeface="Times New Roman"/>
              </a:rPr>
              <a:t>1. </a:t>
            </a:r>
            <a:r>
              <a:rPr lang="ru-RU" i="1" dirty="0">
                <a:latin typeface="Times New Roman"/>
                <a:cs typeface="Times New Roman"/>
              </a:rPr>
              <a:t>Отделение сексуального поведения от репродуктивного</a:t>
            </a:r>
            <a:r>
              <a:rPr lang="ru-RU" dirty="0">
                <a:latin typeface="Times New Roman"/>
                <a:cs typeface="Times New Roman"/>
              </a:rPr>
              <a:t> ( контрацепция, эко)</a:t>
            </a:r>
          </a:p>
          <a:p>
            <a:pPr marL="0" indent="0">
              <a:buNone/>
            </a:pPr>
            <a:r>
              <a:rPr lang="ru-RU" i="1" dirty="0">
                <a:latin typeface="Times New Roman"/>
                <a:ea typeface="+mn-lt"/>
                <a:cs typeface="+mn-lt"/>
              </a:rPr>
              <a:t>2. Наблюдается ломка традиционных гендерных стереотипов.</a:t>
            </a:r>
            <a:endParaRPr lang="ru-RU" dirty="0">
              <a:latin typeface="Times New Roman"/>
              <a:ea typeface="+mn-lt"/>
              <a:cs typeface="Times New Roman"/>
            </a:endParaRPr>
          </a:p>
          <a:p>
            <a:pPr marL="0" indent="0">
              <a:buNone/>
            </a:pPr>
            <a:r>
              <a:rPr lang="ru-RU" i="1" dirty="0">
                <a:latin typeface="Times New Roman"/>
                <a:ea typeface="+mn-lt"/>
                <a:cs typeface="+mn-lt"/>
              </a:rPr>
              <a:t>3. Культурные стереотипы маскулинности и фемининности становятся менее жесткими и поляризованными.</a:t>
            </a:r>
            <a:r>
              <a:rPr lang="ru-RU" dirty="0">
                <a:latin typeface="Times New Roman"/>
                <a:ea typeface="+mn-lt"/>
                <a:cs typeface="+mn-lt"/>
              </a:rPr>
              <a:t> Меняются стереотипы маску­линности - интеллект мужчины все чаще ставится выше его физической силы, стереотипы феминности так же меняются, все сильнее уходят в прошлое "идеалы" женственности.</a:t>
            </a:r>
            <a:endParaRPr lang="ru-RU" dirty="0">
              <a:latin typeface="Times New Roman"/>
              <a:ea typeface="+mn-lt"/>
              <a:cs typeface="Times New Roman"/>
            </a:endParaRPr>
          </a:p>
          <a:p>
            <a:pPr marL="0" indent="0">
              <a:buNone/>
            </a:pPr>
            <a:r>
              <a:rPr lang="ru-RU" i="1" dirty="0">
                <a:latin typeface="Times New Roman"/>
                <a:ea typeface="+mn-lt"/>
                <a:cs typeface="+mn-lt"/>
              </a:rPr>
              <a:t>4. Происходят изменения в институте брака и семьи.</a:t>
            </a:r>
            <a:r>
              <a:rPr lang="ru-RU" dirty="0">
                <a:latin typeface="Times New Roman"/>
                <a:ea typeface="+mn-lt"/>
                <a:cs typeface="+mn-lt"/>
              </a:rPr>
              <a:t> ( добрачные связи, отсутствие брака, открытые браки)</a:t>
            </a:r>
            <a:endParaRPr lang="ru-RU" dirty="0">
              <a:latin typeface="Times New Roman"/>
              <a:cs typeface="Times New Roman"/>
            </a:endParaRPr>
          </a:p>
          <a:p>
            <a:pPr marL="0" indent="0">
              <a:buNone/>
            </a:pPr>
            <a:r>
              <a:rPr lang="ru-RU" i="1" dirty="0">
                <a:latin typeface="Times New Roman"/>
                <a:ea typeface="+mn-lt"/>
                <a:cs typeface="+mn-lt"/>
              </a:rPr>
              <a:t>5. Происходит либерализация морали и крах традици­онных антисексуальных установок в культуре. </a:t>
            </a:r>
            <a:r>
              <a:rPr lang="ru-RU" dirty="0">
                <a:latin typeface="Times New Roman"/>
                <a:ea typeface="+mn-lt"/>
                <a:cs typeface="+mn-lt"/>
              </a:rPr>
              <a:t>В сексу­альности перестают видеть нечто запретное, постыдное и низменное.</a:t>
            </a:r>
            <a:endParaRPr lang="ru-RU">
              <a:latin typeface="Times New Roman"/>
              <a:cs typeface="Times New Roman"/>
            </a:endParaRPr>
          </a:p>
          <a:p>
            <a:pPr marL="0" indent="0">
              <a:buNone/>
            </a:pPr>
            <a:r>
              <a:rPr lang="ru-RU" i="1" dirty="0">
                <a:latin typeface="Times New Roman"/>
                <a:ea typeface="+mn-lt"/>
                <a:cs typeface="+mn-lt"/>
              </a:rPr>
              <a:t>6. Отмечаются изменения в системе социализации де­тей и молодежи. </a:t>
            </a:r>
            <a:r>
              <a:rPr lang="ru-RU" dirty="0">
                <a:latin typeface="Times New Roman"/>
                <a:ea typeface="+mn-lt"/>
                <a:cs typeface="+mn-lt"/>
              </a:rPr>
              <a:t>Со­вместная деятельность мальчиков и девочек способствует выравниванию традиционных гендерных особенностей.</a:t>
            </a:r>
            <a:endParaRPr lang="ru-RU" dirty="0">
              <a:latin typeface="Times New Roman"/>
              <a:ea typeface="+mn-lt"/>
              <a:cs typeface="Times New Roman"/>
            </a:endParaRPr>
          </a:p>
          <a:p>
            <a:pPr marL="0" indent="0">
              <a:buNone/>
            </a:pPr>
            <a:endParaRPr lang="ru-RU" dirty="0">
              <a:latin typeface="Times New Roman"/>
            </a:endParaRPr>
          </a:p>
          <a:p>
            <a:pPr marL="0" indent="0">
              <a:buNone/>
            </a:pPr>
            <a:endParaRPr lang="ru-RU" dirty="0">
              <a:latin typeface="Times New Roman"/>
              <a:cs typeface="Times New Roman"/>
            </a:endParaRPr>
          </a:p>
        </p:txBody>
      </p:sp>
    </p:spTree>
    <p:extLst>
      <p:ext uri="{BB962C8B-B14F-4D97-AF65-F5344CB8AC3E}">
        <p14:creationId xmlns:p14="http://schemas.microsoft.com/office/powerpoint/2010/main" val="2263695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6B4F85-50D2-84AF-5B17-2E2CF941EF30}"/>
              </a:ext>
            </a:extLst>
          </p:cNvPr>
          <p:cNvSpPr>
            <a:spLocks noGrp="1"/>
          </p:cNvSpPr>
          <p:nvPr>
            <p:ph type="title"/>
          </p:nvPr>
        </p:nvSpPr>
        <p:spPr>
          <a:xfrm>
            <a:off x="838200" y="365125"/>
            <a:ext cx="10515600" cy="515938"/>
          </a:xfrm>
        </p:spPr>
        <p:txBody>
          <a:bodyPr>
            <a:normAutofit/>
          </a:bodyPr>
          <a:lstStyle/>
          <a:p>
            <a:r>
              <a:rPr lang="ru-RU" sz="2400" b="1" dirty="0">
                <a:latin typeface="Times New Roman"/>
                <a:cs typeface="Times New Roman"/>
              </a:rPr>
              <a:t>Современные тенденции в человеческой сексуальности:</a:t>
            </a:r>
          </a:p>
        </p:txBody>
      </p:sp>
      <p:sp>
        <p:nvSpPr>
          <p:cNvPr id="3" name="Объект 2">
            <a:extLst>
              <a:ext uri="{FF2B5EF4-FFF2-40B4-BE49-F238E27FC236}">
                <a16:creationId xmlns:a16="http://schemas.microsoft.com/office/drawing/2014/main" id="{9E585ABB-FE0A-E608-D03A-9D889D2CD253}"/>
              </a:ext>
            </a:extLst>
          </p:cNvPr>
          <p:cNvSpPr>
            <a:spLocks noGrp="1"/>
          </p:cNvSpPr>
          <p:nvPr>
            <p:ph idx="1"/>
          </p:nvPr>
        </p:nvSpPr>
        <p:spPr>
          <a:xfrm>
            <a:off x="838200" y="995680"/>
            <a:ext cx="10515600" cy="5176520"/>
          </a:xfrm>
        </p:spPr>
        <p:txBody>
          <a:bodyPr vert="horz" lIns="91440" tIns="45720" rIns="91440" bIns="45720" rtlCol="0" anchor="t">
            <a:normAutofit/>
          </a:bodyPr>
          <a:lstStyle/>
          <a:p>
            <a:pPr marL="0" indent="0">
              <a:buNone/>
            </a:pPr>
            <a:r>
              <a:rPr lang="ru-RU" sz="2400" i="1" dirty="0">
                <a:latin typeface="Times New Roman"/>
                <a:cs typeface="Times New Roman"/>
              </a:rPr>
              <a:t>7. Признание сексуальной удовлетворенности одним из главных факторов хорошего брака</a:t>
            </a:r>
            <a:endParaRPr lang="ru-RU" sz="2400" i="1"/>
          </a:p>
          <a:p>
            <a:pPr marL="0" indent="0">
              <a:buNone/>
            </a:pPr>
            <a:r>
              <a:rPr lang="ru-RU" sz="2400" i="1" dirty="0">
                <a:latin typeface="Times New Roman"/>
                <a:cs typeface="Times New Roman"/>
              </a:rPr>
              <a:t>8. Рост терпимости к девиантным формам сексуальности</a:t>
            </a:r>
            <a:endParaRPr lang="en-US" sz="2400" i="1">
              <a:ea typeface="+mn-lt"/>
              <a:cs typeface="+mn-lt"/>
            </a:endParaRPr>
          </a:p>
          <a:p>
            <a:pPr marL="0" indent="0">
              <a:buNone/>
            </a:pPr>
            <a:r>
              <a:rPr lang="ru-RU" sz="2400" i="1" dirty="0">
                <a:latin typeface="Times New Roman"/>
                <a:cs typeface="Times New Roman"/>
              </a:rPr>
              <a:t>9. Увеличение разрыва между поколениями в сексуальных установках</a:t>
            </a:r>
            <a:r>
              <a:rPr lang="ru-RU" sz="2400" dirty="0">
                <a:latin typeface="Times New Roman"/>
                <a:cs typeface="Times New Roman"/>
              </a:rPr>
              <a:t> ( то что для родителей считалось неприемлемым, дети считают нормальным)</a:t>
            </a:r>
          </a:p>
          <a:p>
            <a:pPr marL="0" indent="0">
              <a:buNone/>
            </a:pPr>
            <a:r>
              <a:rPr lang="ru-RU" sz="2400" i="1" dirty="0">
                <a:latin typeface="Times New Roman"/>
                <a:cs typeface="Times New Roman"/>
              </a:rPr>
              <a:t>10. Признание за женщинами права на сексуальное удовольствие</a:t>
            </a:r>
          </a:p>
          <a:p>
            <a:pPr marL="0" indent="0">
              <a:buNone/>
            </a:pPr>
            <a:r>
              <a:rPr lang="ru-RU" sz="2400" i="1" dirty="0">
                <a:latin typeface="Times New Roman"/>
                <a:cs typeface="Times New Roman"/>
              </a:rPr>
              <a:t>11. Снижение "функциональности семьи"</a:t>
            </a:r>
          </a:p>
          <a:p>
            <a:pPr marL="0" indent="0">
              <a:buNone/>
            </a:pPr>
            <a:endParaRPr lang="ru-RU" dirty="0">
              <a:latin typeface="Times New Roman"/>
              <a:cs typeface="Times New Roman"/>
            </a:endParaRPr>
          </a:p>
        </p:txBody>
      </p:sp>
    </p:spTree>
    <p:extLst>
      <p:ext uri="{BB962C8B-B14F-4D97-AF65-F5344CB8AC3E}">
        <p14:creationId xmlns:p14="http://schemas.microsoft.com/office/powerpoint/2010/main" val="223803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7813AC-5206-617B-43FC-DB3401457CD7}"/>
              </a:ext>
            </a:extLst>
          </p:cNvPr>
          <p:cNvSpPr>
            <a:spLocks noGrp="1"/>
          </p:cNvSpPr>
          <p:nvPr>
            <p:ph type="title"/>
          </p:nvPr>
        </p:nvSpPr>
        <p:spPr/>
        <p:txBody>
          <a:bodyPr/>
          <a:lstStyle/>
          <a:p>
            <a:r>
              <a:rPr lang="ru-RU" dirty="0"/>
              <a:t>Практика</a:t>
            </a:r>
          </a:p>
        </p:txBody>
      </p:sp>
      <p:sp>
        <p:nvSpPr>
          <p:cNvPr id="3" name="Объект 2">
            <a:extLst>
              <a:ext uri="{FF2B5EF4-FFF2-40B4-BE49-F238E27FC236}">
                <a16:creationId xmlns:a16="http://schemas.microsoft.com/office/drawing/2014/main" id="{0E8BA9F5-1B91-4708-FCBD-1225F57E4E6E}"/>
              </a:ext>
            </a:extLst>
          </p:cNvPr>
          <p:cNvSpPr>
            <a:spLocks noGrp="1"/>
          </p:cNvSpPr>
          <p:nvPr>
            <p:ph idx="1"/>
          </p:nvPr>
        </p:nvSpPr>
        <p:spPr>
          <a:xfrm>
            <a:off x="480568" y="2120115"/>
            <a:ext cx="11322673" cy="4340721"/>
          </a:xfrm>
        </p:spPr>
        <p:txBody>
          <a:bodyPr vert="horz" lIns="91440" tIns="45720" rIns="91440" bIns="45720" rtlCol="0" anchor="t">
            <a:normAutofit fontScale="85000" lnSpcReduction="20000"/>
          </a:bodyPr>
          <a:lstStyle/>
          <a:p>
            <a:pPr marL="0" indent="0">
              <a:buNone/>
            </a:pPr>
            <a:r>
              <a:rPr lang="ru-RU" dirty="0">
                <a:latin typeface="Times New Roman"/>
                <a:cs typeface="Times New Roman"/>
              </a:rPr>
              <a:t>Каждый записывает свои "сексуальные ценности", то есть свою собственную концепцию сексуальности, свои сексуальные нормы, фантазии, что он принимает и что не принимает. Потом идет анализ откуда взялась та или иная установка - из семьи, из религии, воспитания и т.д.</a:t>
            </a:r>
          </a:p>
          <a:p>
            <a:endParaRPr lang="ru-RU" dirty="0">
              <a:latin typeface="Times New Roman"/>
              <a:cs typeface="Times New Roman"/>
            </a:endParaRPr>
          </a:p>
          <a:p>
            <a:pPr marL="0" indent="0">
              <a:buNone/>
            </a:pPr>
            <a:r>
              <a:rPr lang="ru-RU" dirty="0">
                <a:latin typeface="Times New Roman"/>
                <a:cs typeface="Times New Roman"/>
              </a:rPr>
              <a:t>Далее стоит прочитать свои записи друг другу и обсудить их, принимая во внимание все различия.</a:t>
            </a:r>
          </a:p>
          <a:p>
            <a:pPr marL="0" indent="0">
              <a:buNone/>
            </a:pPr>
            <a:endParaRPr lang="ru-RU" dirty="0">
              <a:latin typeface="Times New Roman"/>
              <a:cs typeface="Times New Roman"/>
            </a:endParaRPr>
          </a:p>
          <a:p>
            <a:pPr marL="0" indent="0">
              <a:buNone/>
            </a:pPr>
            <a:r>
              <a:rPr lang="ru-RU" dirty="0">
                <a:latin typeface="Times New Roman"/>
                <a:cs typeface="Times New Roman"/>
              </a:rPr>
              <a:t>Эта работа позволяет увидеть, насколько у людей отличаются взгляды на такие важные темы, о которых говорят чаще других, как чистота и грязь, удовольствие и стыд, какие присутствуют культурные различия и т.д.</a:t>
            </a:r>
          </a:p>
        </p:txBody>
      </p:sp>
    </p:spTree>
    <p:extLst>
      <p:ext uri="{BB962C8B-B14F-4D97-AF65-F5344CB8AC3E}">
        <p14:creationId xmlns:p14="http://schemas.microsoft.com/office/powerpoint/2010/main" val="2303499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59D9C2-0E63-4DFA-B051-EA2F2CD86ADC}"/>
              </a:ext>
            </a:extLst>
          </p:cNvPr>
          <p:cNvSpPr>
            <a:spLocks noGrp="1"/>
          </p:cNvSpPr>
          <p:nvPr>
            <p:ph type="title"/>
          </p:nvPr>
        </p:nvSpPr>
        <p:spPr>
          <a:xfrm>
            <a:off x="1566456" y="334335"/>
            <a:ext cx="8195729" cy="1043703"/>
          </a:xfrm>
        </p:spPr>
        <p:txBody>
          <a:bodyPr>
            <a:normAutofit/>
          </a:bodyPr>
          <a:lstStyle/>
          <a:p>
            <a:r>
              <a:rPr lang="ru-RU" i="0" dirty="0">
                <a:latin typeface="Times New Roman"/>
                <a:cs typeface="Times New Roman"/>
              </a:rPr>
              <a:t>Сексуальность как совокупность физиологии и психологии</a:t>
            </a:r>
            <a:endParaRPr lang="ru-RU" dirty="0"/>
          </a:p>
        </p:txBody>
      </p:sp>
      <p:sp>
        <p:nvSpPr>
          <p:cNvPr id="4" name="Текст 3">
            <a:extLst>
              <a:ext uri="{FF2B5EF4-FFF2-40B4-BE49-F238E27FC236}">
                <a16:creationId xmlns:a16="http://schemas.microsoft.com/office/drawing/2014/main" id="{041E542B-EDDD-4E6B-A1D3-F0E8C4A00212}"/>
              </a:ext>
            </a:extLst>
          </p:cNvPr>
          <p:cNvSpPr>
            <a:spLocks noGrp="1"/>
          </p:cNvSpPr>
          <p:nvPr>
            <p:ph type="body" sz="half" idx="2"/>
          </p:nvPr>
        </p:nvSpPr>
        <p:spPr>
          <a:xfrm>
            <a:off x="656823" y="1893194"/>
            <a:ext cx="10663707" cy="4417454"/>
          </a:xfrm>
        </p:spPr>
        <p:txBody>
          <a:bodyPr vert="horz" lIns="91440" tIns="45720" rIns="91440" bIns="45720" rtlCol="0" anchor="t">
            <a:noAutofit/>
          </a:bodyPr>
          <a:lstStyle/>
          <a:p>
            <a:pPr algn="just"/>
            <a:endParaRPr lang="ru-RU" sz="2800" cap="none" dirty="0">
              <a:latin typeface="Times New Roman" panose="02020603050405020304" pitchFamily="18" charset="0"/>
              <a:cs typeface="Times New Roman" panose="02020603050405020304" pitchFamily="18" charset="0"/>
            </a:endParaRPr>
          </a:p>
          <a:p>
            <a:pPr algn="just"/>
            <a:endParaRPr lang="ru-RU" cap="none"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63A0B0A-ACBD-426B-85DC-A64599F5BF98}"/>
              </a:ext>
            </a:extLst>
          </p:cNvPr>
          <p:cNvSpPr txBox="1"/>
          <p:nvPr/>
        </p:nvSpPr>
        <p:spPr>
          <a:xfrm>
            <a:off x="656493" y="1664677"/>
            <a:ext cx="1124242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ru-RU" sz="2400" dirty="0">
                <a:latin typeface="Times New Roman"/>
                <a:cs typeface="Times New Roman"/>
              </a:rPr>
              <a:t>Традицию ее исследования в таком контексте задал Зигмунд Фрейд</a:t>
            </a:r>
          </a:p>
          <a:p>
            <a:endParaRPr lang="ru-RU" sz="2400" dirty="0">
              <a:latin typeface="Times New Roman"/>
              <a:cs typeface="Times New Roman"/>
            </a:endParaRPr>
          </a:p>
          <a:p>
            <a:r>
              <a:rPr lang="ru-RU" sz="2400" dirty="0">
                <a:latin typeface="Times New Roman"/>
                <a:cs typeface="Times New Roman"/>
              </a:rPr>
              <a:t>Сексуальность рассматривалась как феномен витальности</a:t>
            </a:r>
          </a:p>
          <a:p>
            <a:endParaRPr lang="ru-RU" sz="2400" dirty="0">
              <a:latin typeface="Times New Roman"/>
              <a:cs typeface="Times New Roman"/>
            </a:endParaRPr>
          </a:p>
          <a:p>
            <a:r>
              <a:rPr lang="ru-RU" sz="2400" dirty="0">
                <a:latin typeface="Times New Roman"/>
                <a:cs typeface="Times New Roman"/>
              </a:rPr>
              <a:t>Фрейд считал что именно благодаря сексуальности человек осуществляет связь с другими людьми.</a:t>
            </a:r>
          </a:p>
          <a:p>
            <a:endParaRPr lang="ru-RU" sz="2400" dirty="0">
              <a:latin typeface="Times New Roman"/>
              <a:cs typeface="Times New Roman"/>
            </a:endParaRPr>
          </a:p>
          <a:p>
            <a:r>
              <a:rPr lang="ru-RU" sz="2400" dirty="0">
                <a:latin typeface="Times New Roman"/>
                <a:cs typeface="Times New Roman"/>
              </a:rPr>
              <a:t>Сексуальность рассматривалась как основа бытия. Она была объектом изучения.</a:t>
            </a:r>
          </a:p>
          <a:p>
            <a:endParaRPr lang="ru-RU" sz="2400" dirty="0">
              <a:latin typeface="Times New Roman"/>
              <a:cs typeface="Times New Roman"/>
            </a:endParaRPr>
          </a:p>
          <a:p>
            <a:r>
              <a:rPr lang="ru-RU" sz="2400" dirty="0">
                <a:latin typeface="Times New Roman"/>
                <a:cs typeface="Times New Roman"/>
              </a:rPr>
              <a:t>Именно либидо помогает ощутить свое присутствие в мире</a:t>
            </a:r>
          </a:p>
          <a:p>
            <a:endParaRPr lang="ru-RU" sz="2400" dirty="0">
              <a:latin typeface="Times New Roman"/>
              <a:cs typeface="Times New Roman"/>
            </a:endParaRPr>
          </a:p>
          <a:p>
            <a:r>
              <a:rPr lang="ru-RU" sz="2400" dirty="0">
                <a:latin typeface="Times New Roman"/>
                <a:cs typeface="Times New Roman"/>
              </a:rPr>
              <a:t>Интенция сравнения, в которой человек обнаруживает сам себя</a:t>
            </a:r>
          </a:p>
        </p:txBody>
      </p:sp>
    </p:spTree>
    <p:extLst>
      <p:ext uri="{BB962C8B-B14F-4D97-AF65-F5344CB8AC3E}">
        <p14:creationId xmlns:p14="http://schemas.microsoft.com/office/powerpoint/2010/main" val="2732356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3F0CD4-E4C3-76F3-723C-A9DC7422242B}"/>
              </a:ext>
            </a:extLst>
          </p:cNvPr>
          <p:cNvSpPr>
            <a:spLocks noGrp="1"/>
          </p:cNvSpPr>
          <p:nvPr>
            <p:ph type="title"/>
          </p:nvPr>
        </p:nvSpPr>
        <p:spPr/>
        <p:txBody>
          <a:bodyPr/>
          <a:lstStyle/>
          <a:p>
            <a:r>
              <a:rPr lang="ru-RU" dirty="0"/>
              <a:t>Термин "пол" имеет несколько значений</a:t>
            </a:r>
          </a:p>
        </p:txBody>
      </p:sp>
      <p:sp>
        <p:nvSpPr>
          <p:cNvPr id="3" name="Объект 2">
            <a:extLst>
              <a:ext uri="{FF2B5EF4-FFF2-40B4-BE49-F238E27FC236}">
                <a16:creationId xmlns:a16="http://schemas.microsoft.com/office/drawing/2014/main" id="{0A52532A-6CE6-0794-995C-8106CA3D7944}"/>
              </a:ext>
            </a:extLst>
          </p:cNvPr>
          <p:cNvSpPr>
            <a:spLocks noGrp="1"/>
          </p:cNvSpPr>
          <p:nvPr>
            <p:ph idx="1"/>
          </p:nvPr>
        </p:nvSpPr>
        <p:spPr>
          <a:xfrm>
            <a:off x="373743" y="1351280"/>
            <a:ext cx="11560628" cy="5365205"/>
          </a:xfrm>
        </p:spPr>
        <p:txBody>
          <a:bodyPr vert="horz" lIns="91440" tIns="45720" rIns="91440" bIns="45720" rtlCol="0" anchor="t">
            <a:normAutofit/>
          </a:bodyPr>
          <a:lstStyle/>
          <a:p>
            <a:pPr marL="0" indent="0">
              <a:buNone/>
            </a:pPr>
            <a:r>
              <a:rPr lang="ru-RU" sz="2000" dirty="0">
                <a:latin typeface="Times New Roman"/>
                <a:cs typeface="Times New Roman"/>
              </a:rPr>
              <a:t>Каждое из которых отражает основные этапы процесса половой дифференциации. Например, сочетание хромосом в момент оплодотворения определяет </a:t>
            </a:r>
            <a:r>
              <a:rPr lang="ru-RU" sz="2000" b="1" dirty="0">
                <a:latin typeface="Times New Roman"/>
                <a:cs typeface="Times New Roman"/>
              </a:rPr>
              <a:t>генетический (хромосомный) пол</a:t>
            </a:r>
            <a:r>
              <a:rPr lang="ru-RU" sz="2000" dirty="0">
                <a:latin typeface="Times New Roman"/>
                <a:cs typeface="Times New Roman"/>
              </a:rPr>
              <a:t>. Примерно на 7 неделе формирования зародыша формируются половые железы, а соответственно начинает формироваться его </a:t>
            </a:r>
            <a:r>
              <a:rPr lang="ru-RU" sz="2000" b="1" dirty="0">
                <a:latin typeface="Times New Roman"/>
                <a:cs typeface="Times New Roman"/>
              </a:rPr>
              <a:t>гонадный (истинный) пол</a:t>
            </a:r>
            <a:r>
              <a:rPr lang="ru-RU" sz="2000" dirty="0">
                <a:latin typeface="Times New Roman"/>
                <a:cs typeface="Times New Roman"/>
              </a:rPr>
              <a:t>. Гормоны половых желез вызывают в организме половую дифференциацию и обуславливают </a:t>
            </a:r>
            <a:r>
              <a:rPr lang="ru-RU" sz="2000" b="1" dirty="0">
                <a:latin typeface="Times New Roman"/>
                <a:cs typeface="Times New Roman"/>
              </a:rPr>
              <a:t>гормональный пол</a:t>
            </a:r>
            <a:r>
              <a:rPr lang="ru-RU" sz="2000" dirty="0">
                <a:latin typeface="Times New Roman"/>
                <a:cs typeface="Times New Roman"/>
              </a:rPr>
              <a:t>. Под влиянием гормонов  формируется внешний и внутренний </a:t>
            </a:r>
            <a:r>
              <a:rPr lang="ru-RU" sz="2000" b="1" dirty="0">
                <a:latin typeface="Times New Roman"/>
                <a:cs typeface="Times New Roman"/>
              </a:rPr>
              <a:t>морфологический пол (соматический)</a:t>
            </a:r>
            <a:r>
              <a:rPr lang="ru-RU" sz="2000" dirty="0">
                <a:latin typeface="Times New Roman"/>
                <a:cs typeface="Times New Roman"/>
              </a:rPr>
              <a:t>, происходит формирование мозговых структур, влияющих дальнейшее половое созревание и поведение. При рождении ребенка на основании генитальных признаков определяют его </a:t>
            </a:r>
            <a:r>
              <a:rPr lang="ru-RU" sz="2000" b="1" dirty="0">
                <a:latin typeface="Times New Roman"/>
                <a:cs typeface="Times New Roman"/>
              </a:rPr>
              <a:t>гражданский (паспортный) пол.</a:t>
            </a:r>
          </a:p>
          <a:p>
            <a:pPr marL="0" indent="0">
              <a:buNone/>
            </a:pPr>
            <a:endParaRPr lang="ru-RU" sz="2000" b="1" dirty="0">
              <a:latin typeface="Times New Roman"/>
              <a:cs typeface="Times New Roman"/>
            </a:endParaRPr>
          </a:p>
          <a:p>
            <a:pPr marL="0" indent="0">
              <a:buNone/>
            </a:pPr>
            <a:r>
              <a:rPr lang="ru-RU" sz="2000" b="1" dirty="0">
                <a:latin typeface="Times New Roman"/>
                <a:cs typeface="Times New Roman"/>
              </a:rPr>
              <a:t>С учетом многообразия этих механизмов, в психологии пол характеризуют как комплекс телесных, поведенческих и социальных признаков, определяющих индивида как мужчину, женщину. Изучение полового </a:t>
            </a:r>
            <a:r>
              <a:rPr lang="ru-RU" sz="2000" b="1" dirty="0" err="1">
                <a:latin typeface="Times New Roman"/>
                <a:cs typeface="Times New Roman"/>
              </a:rPr>
              <a:t>деморфизма</a:t>
            </a:r>
            <a:r>
              <a:rPr lang="ru-RU" sz="2000" b="1" dirty="0">
                <a:latin typeface="Times New Roman"/>
                <a:cs typeface="Times New Roman"/>
              </a:rPr>
              <a:t> и особенностей его проявления в различных сферах поведения человека имеет самостоятельное значение для гендерной психологии.</a:t>
            </a:r>
          </a:p>
        </p:txBody>
      </p:sp>
    </p:spTree>
    <p:extLst>
      <p:ext uri="{BB962C8B-B14F-4D97-AF65-F5344CB8AC3E}">
        <p14:creationId xmlns:p14="http://schemas.microsoft.com/office/powerpoint/2010/main" val="2108627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7B052D0-0390-4078-9061-84A061FF473F}"/>
              </a:ext>
            </a:extLst>
          </p:cNvPr>
          <p:cNvSpPr/>
          <p:nvPr/>
        </p:nvSpPr>
        <p:spPr>
          <a:xfrm>
            <a:off x="527957" y="173419"/>
            <a:ext cx="11136085" cy="530594"/>
          </a:xfrm>
          <a:prstGeom prst="rect">
            <a:avLst/>
          </a:prstGeom>
        </p:spPr>
        <p:txBody>
          <a:bodyPr wrap="square">
            <a:spAutoFit/>
          </a:bodyPr>
          <a:lstStyle/>
          <a:p>
            <a:pPr algn="just">
              <a:lnSpc>
                <a:spcPct val="107000"/>
              </a:lnSpc>
              <a:spcAft>
                <a:spcPts val="800"/>
              </a:spcAft>
            </a:pPr>
            <a:r>
              <a:rPr lang="ru-RU" sz="2800" b="1" dirty="0">
                <a:latin typeface="Times New Roman" panose="02020603050405020304" pitchFamily="18" charset="0"/>
                <a:ea typeface="Calibri" panose="020F0502020204030204" pitchFamily="34" charset="0"/>
                <a:cs typeface="Times New Roman" panose="02020603050405020304" pitchFamily="18" charset="0"/>
              </a:rPr>
              <a:t>Компоненты человеческой сексуальности:</a:t>
            </a:r>
            <a:endParaRPr lang="ru-RU"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CF9FA24F-32C2-420F-9E51-62B0849B6CD0}"/>
              </a:ext>
            </a:extLst>
          </p:cNvPr>
          <p:cNvSpPr/>
          <p:nvPr/>
        </p:nvSpPr>
        <p:spPr>
          <a:xfrm>
            <a:off x="283027" y="954987"/>
            <a:ext cx="11625944" cy="3742756"/>
          </a:xfrm>
          <a:prstGeom prst="rect">
            <a:avLst/>
          </a:prstGeom>
        </p:spPr>
        <p:txBody>
          <a:bodyPr wrap="square" lIns="91440" tIns="45720" rIns="91440" bIns="45720" anchor="t">
            <a:spAutoFit/>
          </a:bodyPr>
          <a:lstStyle/>
          <a:p>
            <a:pPr algn="just">
              <a:lnSpc>
                <a:spcPct val="107000"/>
              </a:lnSpc>
              <a:spcAft>
                <a:spcPts val="800"/>
              </a:spcAft>
            </a:pPr>
            <a:r>
              <a:rPr lang="ru-RU" b="1" dirty="0">
                <a:latin typeface="Times New Roman" panose="02020603050405020304" pitchFamily="18" charset="0"/>
                <a:ea typeface="Calibri" panose="020F0502020204030204" pitchFamily="34" charset="0"/>
                <a:cs typeface="Times New Roman" panose="02020603050405020304" pitchFamily="18" charset="0"/>
              </a:rPr>
              <a:t>БИОЛОГИЧЕСКИЙ ПОЛ </a:t>
            </a:r>
            <a:r>
              <a:rPr lang="ru-RU" dirty="0">
                <a:latin typeface="Times New Roman" panose="02020603050405020304" pitchFamily="18" charset="0"/>
                <a:ea typeface="Calibri" panose="020F0502020204030204" pitchFamily="34" charset="0"/>
                <a:cs typeface="Times New Roman" panose="02020603050405020304" pitchFamily="18" charset="0"/>
              </a:rPr>
              <a:t>- набор биологических характеристик, на основании которых человека приписывают к мужскому/ женскому полу или определяют как интерсексуального человека.</a:t>
            </a:r>
          </a:p>
          <a:p>
            <a:pPr algn="just">
              <a:lnSpc>
                <a:spcPct val="107000"/>
              </a:lnSpc>
              <a:spcAft>
                <a:spcPts val="800"/>
              </a:spcAft>
            </a:pPr>
            <a:endParaRPr lang="ru-RU"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u-RU" b="1" dirty="0">
                <a:latin typeface="Times New Roman" panose="02020603050405020304" pitchFamily="18" charset="0"/>
                <a:cs typeface="Times New Roman" panose="02020603050405020304" pitchFamily="18" charset="0"/>
              </a:rPr>
              <a:t>ГЕНДЕРНАЯ ИДЕНТИЧНОСТЬ </a:t>
            </a:r>
            <a:r>
              <a:rPr lang="ru-RU" dirty="0">
                <a:latin typeface="Times New Roman" panose="02020603050405020304" pitchFamily="18" charset="0"/>
                <a:cs typeface="Times New Roman" panose="02020603050405020304" pitchFamily="18" charset="0"/>
              </a:rPr>
              <a:t>- внутреннее самоощущение человека как представителя того или иного гендера, то есть как мужчины, женщины или представителя другой категории, связанное с социальными и культурными стереотипами о поведении и качествах представителей того или иного биологического пола.</a:t>
            </a:r>
          </a:p>
          <a:p>
            <a:pPr algn="just">
              <a:lnSpc>
                <a:spcPct val="107000"/>
              </a:lnSpc>
              <a:spcAft>
                <a:spcPts val="800"/>
              </a:spcAft>
            </a:pPr>
            <a:br>
              <a:rPr lang="ru-RU" dirty="0">
                <a:latin typeface="Times New Roman" panose="02020603050405020304" pitchFamily="18" charset="0"/>
                <a:cs typeface="Times New Roman" panose="02020603050405020304" pitchFamily="18" charset="0"/>
              </a:rPr>
            </a:br>
            <a:r>
              <a:rPr lang="ru-RU" b="1" dirty="0">
                <a:latin typeface="Times New Roman" panose="02020603050405020304" pitchFamily="18" charset="0"/>
                <a:cs typeface="Times New Roman" panose="02020603050405020304" pitchFamily="18" charset="0"/>
              </a:rPr>
              <a:t>ГЕНДЕРНАЯ СОЦИАЛЬНАЯ РОЛЬ </a:t>
            </a:r>
            <a:r>
              <a:rPr lang="ru-RU" dirty="0">
                <a:latin typeface="Times New Roman" panose="02020603050405020304" pitchFamily="18" charset="0"/>
                <a:cs typeface="Times New Roman" panose="02020603050405020304" pitchFamily="18" charset="0"/>
              </a:rPr>
              <a:t>— поведение в обществе, соответствующее культурным нормам данного общества, предписывающим то или иное «типично мужское» или «типично женское» поведение;</a:t>
            </a:r>
          </a:p>
          <a:p>
            <a:pPr algn="just">
              <a:lnSpc>
                <a:spcPct val="107000"/>
              </a:lnSpc>
              <a:spcAft>
                <a:spcPts val="800"/>
              </a:spcAft>
            </a:pPr>
            <a:br>
              <a:rPr lang="ru-RU" dirty="0">
                <a:latin typeface="Times New Roman" panose="02020603050405020304" pitchFamily="18" charset="0"/>
                <a:cs typeface="Times New Roman" panose="02020603050405020304" pitchFamily="18" charset="0"/>
              </a:rPr>
            </a:br>
            <a:endParaRPr lang="ru-RU">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7843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7B052D0-0390-4078-9061-84A061FF473F}"/>
              </a:ext>
            </a:extLst>
          </p:cNvPr>
          <p:cNvSpPr/>
          <p:nvPr/>
        </p:nvSpPr>
        <p:spPr>
          <a:xfrm>
            <a:off x="522514" y="842890"/>
            <a:ext cx="11136085" cy="530594"/>
          </a:xfrm>
          <a:prstGeom prst="rect">
            <a:avLst/>
          </a:prstGeom>
        </p:spPr>
        <p:txBody>
          <a:bodyPr wrap="square" lIns="91440" tIns="45720" rIns="91440" bIns="45720" anchor="t">
            <a:spAutoFit/>
          </a:bodyPr>
          <a:lstStyle/>
          <a:p>
            <a:pPr algn="just">
              <a:lnSpc>
                <a:spcPct val="107000"/>
              </a:lnSpc>
              <a:spcAft>
                <a:spcPts val="800"/>
              </a:spcAft>
            </a:pPr>
            <a:r>
              <a:rPr lang="ru-RU" sz="2800" b="1" dirty="0">
                <a:latin typeface="Times New Roman"/>
                <a:ea typeface="Calibri" panose="020F0502020204030204" pitchFamily="34" charset="0"/>
                <a:cs typeface="Times New Roman"/>
              </a:rPr>
              <a:t>Ранее </a:t>
            </a:r>
            <a:r>
              <a:rPr lang="ru-RU" sz="2800" b="1" dirty="0" err="1">
                <a:latin typeface="Times New Roman"/>
                <a:ea typeface="Calibri" panose="020F0502020204030204" pitchFamily="34" charset="0"/>
                <a:cs typeface="Times New Roman"/>
              </a:rPr>
              <a:t>выделяляли</a:t>
            </a:r>
            <a:r>
              <a:rPr lang="ru-RU" sz="2800" b="1" dirty="0">
                <a:latin typeface="Times New Roman"/>
                <a:ea typeface="Calibri" panose="020F0502020204030204" pitchFamily="34" charset="0"/>
                <a:cs typeface="Times New Roman"/>
              </a:rPr>
              <a:t> 2 типа гендерной идентичности:</a:t>
            </a:r>
            <a:endParaRPr lang="ru-RU" sz="2800" dirty="0">
              <a:effectLst/>
              <a:latin typeface="Times New Roman"/>
              <a:ea typeface="Calibri" panose="020F0502020204030204" pitchFamily="34" charset="0"/>
              <a:cs typeface="Times New Roman"/>
            </a:endParaRPr>
          </a:p>
        </p:txBody>
      </p:sp>
      <p:sp>
        <p:nvSpPr>
          <p:cNvPr id="3" name="Прямоугольник 2">
            <a:extLst>
              <a:ext uri="{FF2B5EF4-FFF2-40B4-BE49-F238E27FC236}">
                <a16:creationId xmlns:a16="http://schemas.microsoft.com/office/drawing/2014/main" id="{CF9FA24F-32C2-420F-9E51-62B0849B6CD0}"/>
              </a:ext>
            </a:extLst>
          </p:cNvPr>
          <p:cNvSpPr/>
          <p:nvPr/>
        </p:nvSpPr>
        <p:spPr>
          <a:xfrm>
            <a:off x="283028" y="1784267"/>
            <a:ext cx="11625944" cy="983283"/>
          </a:xfrm>
          <a:prstGeom prst="rect">
            <a:avLst/>
          </a:prstGeom>
        </p:spPr>
        <p:txBody>
          <a:bodyPr wrap="square">
            <a:spAutoFit/>
          </a:bodyPr>
          <a:lstStyle/>
          <a:p>
            <a:pPr>
              <a:lnSpc>
                <a:spcPct val="107000"/>
              </a:lnSpc>
              <a:spcAft>
                <a:spcPts val="800"/>
              </a:spcAft>
            </a:pPr>
            <a:r>
              <a:rPr lang="ru-RU" sz="2800" b="1" dirty="0">
                <a:latin typeface="Times New Roman" panose="02020603050405020304" pitchFamily="18" charset="0"/>
                <a:cs typeface="Times New Roman" panose="02020603050405020304" pitchFamily="18" charset="0"/>
              </a:rPr>
              <a:t>ЦИСГЕНДЕР - </a:t>
            </a:r>
            <a:r>
              <a:rPr lang="ru-RU" sz="2800" dirty="0">
                <a:latin typeface="Times New Roman" panose="02020603050405020304" pitchFamily="18" charset="0"/>
                <a:cs typeface="Times New Roman" panose="02020603050405020304" pitchFamily="18" charset="0"/>
              </a:rPr>
              <a:t>термин, обозначающий людей, чья гендерная идентичность совпадает с биологическим полом</a:t>
            </a:r>
          </a:p>
        </p:txBody>
      </p:sp>
      <p:sp>
        <p:nvSpPr>
          <p:cNvPr id="4" name="Прямоугольник 3">
            <a:extLst>
              <a:ext uri="{FF2B5EF4-FFF2-40B4-BE49-F238E27FC236}">
                <a16:creationId xmlns:a16="http://schemas.microsoft.com/office/drawing/2014/main" id="{16A26C41-A954-455B-9F9E-F33311F447F5}"/>
              </a:ext>
            </a:extLst>
          </p:cNvPr>
          <p:cNvSpPr/>
          <p:nvPr/>
        </p:nvSpPr>
        <p:spPr>
          <a:xfrm>
            <a:off x="283028" y="3178333"/>
            <a:ext cx="11506201" cy="1393395"/>
          </a:xfrm>
          <a:prstGeom prst="rect">
            <a:avLst/>
          </a:prstGeom>
        </p:spPr>
        <p:txBody>
          <a:bodyPr wrap="square">
            <a:spAutoFit/>
          </a:bodyPr>
          <a:lstStyle/>
          <a:p>
            <a:pPr algn="just">
              <a:lnSpc>
                <a:spcPct val="107000"/>
              </a:lnSpc>
              <a:spcAft>
                <a:spcPts val="800"/>
              </a:spcAft>
            </a:pPr>
            <a:r>
              <a:rPr lang="ru-RU" sz="2800" b="1" dirty="0">
                <a:latin typeface="Times New Roman" panose="02020603050405020304" pitchFamily="18" charset="0"/>
                <a:cs typeface="Times New Roman" panose="02020603050405020304" pitchFamily="18" charset="0"/>
              </a:rPr>
              <a:t>ТРАНСГЕНДЕР - </a:t>
            </a:r>
            <a:r>
              <a:rPr lang="ru-RU" sz="2800" dirty="0">
                <a:latin typeface="Times New Roman" panose="02020603050405020304" pitchFamily="18" charset="0"/>
                <a:cs typeface="Times New Roman" panose="02020603050405020304" pitchFamily="18" charset="0"/>
              </a:rPr>
              <a:t>несовпадение гендерной идентичности или гендерного выражения человека с зарегистрированным при рождении полом.</a:t>
            </a:r>
          </a:p>
          <a:p>
            <a:pPr algn="just">
              <a:lnSpc>
                <a:spcPct val="107000"/>
              </a:lnSpc>
              <a:spcAft>
                <a:spcPts val="800"/>
              </a:spcAft>
            </a:pP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615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7B052D0-0390-4078-9061-84A061FF473F}"/>
              </a:ext>
            </a:extLst>
          </p:cNvPr>
          <p:cNvSpPr/>
          <p:nvPr/>
        </p:nvSpPr>
        <p:spPr>
          <a:xfrm>
            <a:off x="827314" y="373967"/>
            <a:ext cx="11136085" cy="530594"/>
          </a:xfrm>
          <a:prstGeom prst="rect">
            <a:avLst/>
          </a:prstGeom>
        </p:spPr>
        <p:txBody>
          <a:bodyPr wrap="square">
            <a:spAutoFit/>
          </a:bodyPr>
          <a:lstStyle/>
          <a:p>
            <a:pPr algn="just">
              <a:lnSpc>
                <a:spcPct val="107000"/>
              </a:lnSpc>
              <a:spcAft>
                <a:spcPts val="800"/>
              </a:spcAft>
            </a:pPr>
            <a:r>
              <a:rPr lang="ru-RU" sz="2800" b="1" dirty="0">
                <a:latin typeface="Times New Roman" panose="02020603050405020304" pitchFamily="18" charset="0"/>
                <a:ea typeface="Calibri" panose="020F0502020204030204" pitchFamily="34" charset="0"/>
                <a:cs typeface="Times New Roman" panose="02020603050405020304" pitchFamily="18" charset="0"/>
              </a:rPr>
              <a:t>Сейчас есть 300 различных видов гендерных идентичностей:</a:t>
            </a:r>
            <a:endParaRPr lang="ru-RU" sz="2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a:extLst>
              <a:ext uri="{FF2B5EF4-FFF2-40B4-BE49-F238E27FC236}">
                <a16:creationId xmlns:a16="http://schemas.microsoft.com/office/drawing/2014/main" id="{CF9FA24F-32C2-420F-9E51-62B0849B6CD0}"/>
              </a:ext>
            </a:extLst>
          </p:cNvPr>
          <p:cNvSpPr/>
          <p:nvPr/>
        </p:nvSpPr>
        <p:spPr>
          <a:xfrm>
            <a:off x="318197" y="998821"/>
            <a:ext cx="11625944" cy="5769849"/>
          </a:xfrm>
          <a:prstGeom prst="rect">
            <a:avLst/>
          </a:prstGeom>
        </p:spPr>
        <p:txBody>
          <a:bodyPr wrap="square" lIns="91440" tIns="45720" rIns="91440" bIns="45720" anchor="t">
            <a:spAutoFit/>
          </a:bodyPr>
          <a:lstStyle/>
          <a:p>
            <a:pPr>
              <a:lnSpc>
                <a:spcPct val="107000"/>
              </a:lnSpc>
              <a:spcAft>
                <a:spcPts val="800"/>
              </a:spcAft>
            </a:pPr>
            <a:r>
              <a:rPr lang="ru-RU" sz="2000" b="1" dirty="0" err="1">
                <a:latin typeface="Times New Roman"/>
                <a:cs typeface="Times New Roman"/>
              </a:rPr>
              <a:t>Агендер</a:t>
            </a:r>
            <a:r>
              <a:rPr lang="ru-RU" sz="2000" b="1" dirty="0">
                <a:latin typeface="Times New Roman"/>
                <a:cs typeface="Times New Roman"/>
              </a:rPr>
              <a:t> -</a:t>
            </a:r>
            <a:r>
              <a:rPr lang="ru-RU" sz="2000" dirty="0">
                <a:latin typeface="Times New Roman"/>
                <a:cs typeface="Times New Roman"/>
              </a:rPr>
              <a:t> </a:t>
            </a:r>
            <a:r>
              <a:rPr lang="ru-RU" sz="2000" dirty="0">
                <a:ea typeface="+mn-lt"/>
                <a:cs typeface="+mn-lt"/>
              </a:rPr>
              <a:t> люди, отказывающиеся идентифицировать себя с каким-либо гендером; считающие, что у них нет гендера. При этом </a:t>
            </a:r>
            <a:r>
              <a:rPr lang="ru-RU" sz="2000" dirty="0" err="1">
                <a:ea typeface="+mn-lt"/>
                <a:cs typeface="+mn-lt"/>
              </a:rPr>
              <a:t>агендерность</a:t>
            </a:r>
            <a:r>
              <a:rPr lang="ru-RU" sz="2000" dirty="0">
                <a:ea typeface="+mn-lt"/>
                <a:cs typeface="+mn-lt"/>
              </a:rPr>
              <a:t> не обязательно означает неприятие своего биологического пола. </a:t>
            </a:r>
            <a:r>
              <a:rPr lang="ru-RU" sz="2000" dirty="0" err="1">
                <a:ea typeface="+mn-lt"/>
                <a:cs typeface="+mn-lt"/>
              </a:rPr>
              <a:t>Агендеры</a:t>
            </a:r>
            <a:r>
              <a:rPr lang="ru-RU" sz="2000" dirty="0">
                <a:ea typeface="+mn-lt"/>
                <a:cs typeface="+mn-lt"/>
              </a:rPr>
              <a:t> могут говорить о себе в разном роде, поэтому, прежде чем обратиться к </a:t>
            </a:r>
            <a:r>
              <a:rPr lang="ru-RU" sz="2000" dirty="0" err="1">
                <a:ea typeface="+mn-lt"/>
                <a:cs typeface="+mn-lt"/>
              </a:rPr>
              <a:t>агендерному</a:t>
            </a:r>
            <a:r>
              <a:rPr lang="ru-RU" sz="2000" dirty="0">
                <a:ea typeface="+mn-lt"/>
                <a:cs typeface="+mn-lt"/>
              </a:rPr>
              <a:t> человеку, лучше уточнить, какое именно обращение он предпочитает.</a:t>
            </a:r>
            <a:endParaRPr lang="ru-RU" sz="2000">
              <a:latin typeface="Times New Roman" panose="02020603050405020304" pitchFamily="18" charset="0"/>
              <a:cs typeface="Times New Roman" panose="02020603050405020304" pitchFamily="18" charset="0"/>
            </a:endParaRPr>
          </a:p>
          <a:p>
            <a:pPr>
              <a:lnSpc>
                <a:spcPct val="107000"/>
              </a:lnSpc>
              <a:spcAft>
                <a:spcPts val="800"/>
              </a:spcAft>
            </a:pPr>
            <a:r>
              <a:rPr lang="ru-RU" sz="2000" b="1" dirty="0" err="1">
                <a:latin typeface="Times New Roman"/>
                <a:cs typeface="Times New Roman"/>
              </a:rPr>
              <a:t>Бигендер</a:t>
            </a:r>
            <a:r>
              <a:rPr lang="ru-RU" sz="2000" b="1" dirty="0">
                <a:latin typeface="Times New Roman"/>
                <a:cs typeface="Times New Roman"/>
              </a:rPr>
              <a:t>. </a:t>
            </a:r>
            <a:r>
              <a:rPr lang="ru-RU" sz="2000" dirty="0" err="1">
                <a:ea typeface="+mn-lt"/>
                <a:cs typeface="+mn-lt"/>
              </a:rPr>
              <a:t>Бигендерами</a:t>
            </a:r>
            <a:r>
              <a:rPr lang="ru-RU" sz="2000" dirty="0">
                <a:ea typeface="+mn-lt"/>
                <a:cs typeface="+mn-lt"/>
              </a:rPr>
              <a:t> называют людей, которые совмещают в себе черты, ассоциируемые и с «мужским», и с «женским», то есть чьи самоощущение и самоидентификация подвижны. Они ведут себя в соответствии то с традиционно мужской, то с традиционно женской социальной ролями — или одновременно с обеими.</a:t>
            </a:r>
            <a:endParaRPr lang="ru-RU" sz="2000" b="1" dirty="0">
              <a:ea typeface="+mn-lt"/>
              <a:cs typeface="+mn-lt"/>
            </a:endParaRPr>
          </a:p>
          <a:p>
            <a:pPr>
              <a:lnSpc>
                <a:spcPct val="107000"/>
              </a:lnSpc>
              <a:spcAft>
                <a:spcPts val="800"/>
              </a:spcAft>
            </a:pPr>
            <a:r>
              <a:rPr lang="ru-RU" sz="2000" b="1" dirty="0">
                <a:latin typeface="Times New Roman"/>
                <a:cs typeface="Times New Roman"/>
              </a:rPr>
              <a:t>Андрогин. </a:t>
            </a:r>
            <a:r>
              <a:rPr lang="ru-RU" sz="2000" dirty="0">
                <a:latin typeface="Century Gothic"/>
                <a:cs typeface="Times New Roman"/>
              </a:rPr>
              <a:t>С гендерной точки зрения это человек, который презентует и/или идентифицирует себя как личность, которую не отличают ни выраженные женские, ни выраженные мужские черты. Часто андрогинами называют людей, обладающих внешностью, при визуальной оценке которой сложно или невозможно определить их половую принадлежность</a:t>
            </a:r>
          </a:p>
          <a:p>
            <a:pPr>
              <a:lnSpc>
                <a:spcPct val="107000"/>
              </a:lnSpc>
              <a:spcAft>
                <a:spcPts val="800"/>
              </a:spcAft>
            </a:pPr>
            <a:endParaRPr lang="ru-RU" sz="2800" b="1" dirty="0">
              <a:latin typeface="Times New Roman"/>
              <a:cs typeface="Times New Roman" panose="02020603050405020304" pitchFamily="18" charset="0"/>
            </a:endParaRPr>
          </a:p>
        </p:txBody>
      </p:sp>
    </p:spTree>
    <p:extLst>
      <p:ext uri="{BB962C8B-B14F-4D97-AF65-F5344CB8AC3E}">
        <p14:creationId xmlns:p14="http://schemas.microsoft.com/office/powerpoint/2010/main" val="19810715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C75338E-E9A3-9FA0-2ECD-C79B0D85EDF5}"/>
              </a:ext>
            </a:extLst>
          </p:cNvPr>
          <p:cNvSpPr>
            <a:spLocks noGrp="1"/>
          </p:cNvSpPr>
          <p:nvPr>
            <p:ph idx="1"/>
          </p:nvPr>
        </p:nvSpPr>
        <p:spPr>
          <a:xfrm>
            <a:off x="838200" y="313509"/>
            <a:ext cx="10515600" cy="5858691"/>
          </a:xfrm>
        </p:spPr>
        <p:txBody>
          <a:bodyPr vert="horz" lIns="91440" tIns="45720" rIns="91440" bIns="45720" rtlCol="0" anchor="t">
            <a:normAutofit/>
          </a:bodyPr>
          <a:lstStyle/>
          <a:p>
            <a:pPr marL="0" indent="0">
              <a:buNone/>
            </a:pPr>
            <a:endParaRPr lang="ru-RU" dirty="0">
              <a:latin typeface="Times New Roman"/>
              <a:cs typeface="Times New Roman"/>
            </a:endParaRPr>
          </a:p>
          <a:p>
            <a:pPr marL="0" indent="0">
              <a:buNone/>
            </a:pPr>
            <a:r>
              <a:rPr lang="ru-RU" i="1" dirty="0">
                <a:latin typeface="Times New Roman"/>
                <a:cs typeface="Times New Roman"/>
              </a:rPr>
              <a:t>Транссексуал</a:t>
            </a:r>
            <a:r>
              <a:rPr lang="ru-RU" dirty="0">
                <a:latin typeface="Times New Roman"/>
                <a:cs typeface="Times New Roman"/>
              </a:rPr>
              <a:t> - человек который считает необходимым произвести какие - либо изменения в отношении пола.</a:t>
            </a:r>
            <a:endParaRPr lang="ru-RU"/>
          </a:p>
          <a:p>
            <a:pPr marL="0" indent="0">
              <a:buNone/>
            </a:pPr>
            <a:endParaRPr lang="ru-RU" dirty="0">
              <a:latin typeface="Times New Roman"/>
              <a:cs typeface="Times New Roman"/>
            </a:endParaRPr>
          </a:p>
          <a:p>
            <a:pPr marL="0" indent="0">
              <a:buNone/>
            </a:pPr>
            <a:r>
              <a:rPr lang="ru-RU" dirty="0">
                <a:latin typeface="Times New Roman"/>
                <a:cs typeface="Times New Roman"/>
              </a:rPr>
              <a:t>Термином </a:t>
            </a:r>
            <a:r>
              <a:rPr lang="ru-RU" i="1" dirty="0">
                <a:latin typeface="Times New Roman"/>
                <a:cs typeface="Times New Roman"/>
              </a:rPr>
              <a:t>транссексуал в дооперационном периоде</a:t>
            </a:r>
            <a:r>
              <a:rPr lang="ru-RU" dirty="0">
                <a:latin typeface="Times New Roman"/>
                <a:cs typeface="Times New Roman"/>
              </a:rPr>
              <a:t> обозначают человека, который идентифицирует себя как </a:t>
            </a:r>
            <a:r>
              <a:rPr lang="ru-RU" dirty="0" err="1">
                <a:latin typeface="Times New Roman"/>
                <a:cs typeface="Times New Roman"/>
              </a:rPr>
              <a:t>трансексуала</a:t>
            </a:r>
            <a:r>
              <a:rPr lang="ru-RU" dirty="0">
                <a:latin typeface="Times New Roman"/>
                <a:cs typeface="Times New Roman"/>
              </a:rPr>
              <a:t>, но который еще не совершил операцию по коррекции пола.</a:t>
            </a:r>
          </a:p>
          <a:p>
            <a:pPr marL="0" indent="0">
              <a:buNone/>
            </a:pPr>
            <a:endParaRPr lang="ru-RU" dirty="0">
              <a:latin typeface="Times New Roman"/>
              <a:cs typeface="Times New Roman"/>
            </a:endParaRPr>
          </a:p>
          <a:p>
            <a:pPr marL="0" indent="0">
              <a:buNone/>
            </a:pPr>
            <a:r>
              <a:rPr lang="ru-RU" dirty="0">
                <a:latin typeface="Times New Roman"/>
                <a:cs typeface="Times New Roman"/>
              </a:rPr>
              <a:t>Термин трансгендер более всеобъемлющий и включает в себя термин транссексуал.</a:t>
            </a:r>
          </a:p>
        </p:txBody>
      </p:sp>
    </p:spTree>
    <p:extLst>
      <p:ext uri="{BB962C8B-B14F-4D97-AF65-F5344CB8AC3E}">
        <p14:creationId xmlns:p14="http://schemas.microsoft.com/office/powerpoint/2010/main" val="1308676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28E827-2992-E405-1929-148F2161D8DF}"/>
              </a:ext>
            </a:extLst>
          </p:cNvPr>
          <p:cNvSpPr>
            <a:spLocks noGrp="1"/>
          </p:cNvSpPr>
          <p:nvPr>
            <p:ph type="title"/>
          </p:nvPr>
        </p:nvSpPr>
        <p:spPr/>
        <p:txBody>
          <a:bodyPr/>
          <a:lstStyle/>
          <a:p>
            <a:r>
              <a:rPr lang="ru-RU" b="1" i="0" dirty="0">
                <a:ea typeface="+mj-lt"/>
                <a:cs typeface="+mj-lt"/>
              </a:rPr>
              <a:t>Гендерная дисфория:</a:t>
            </a:r>
            <a:endParaRPr lang="ru-RU" dirty="0"/>
          </a:p>
        </p:txBody>
      </p:sp>
      <p:sp>
        <p:nvSpPr>
          <p:cNvPr id="3" name="Объект 2">
            <a:extLst>
              <a:ext uri="{FF2B5EF4-FFF2-40B4-BE49-F238E27FC236}">
                <a16:creationId xmlns:a16="http://schemas.microsoft.com/office/drawing/2014/main" id="{9B008ABA-045E-D470-3972-D46D4278A5F8}"/>
              </a:ext>
            </a:extLst>
          </p:cNvPr>
          <p:cNvSpPr>
            <a:spLocks noGrp="1"/>
          </p:cNvSpPr>
          <p:nvPr>
            <p:ph idx="1"/>
          </p:nvPr>
        </p:nvSpPr>
        <p:spPr>
          <a:xfrm>
            <a:off x="838200" y="1402080"/>
            <a:ext cx="10515600" cy="4770120"/>
          </a:xfrm>
        </p:spPr>
        <p:txBody>
          <a:bodyPr vert="horz" lIns="91440" tIns="45720" rIns="91440" bIns="45720" rtlCol="0" anchor="t">
            <a:normAutofit/>
          </a:bodyPr>
          <a:lstStyle/>
          <a:p>
            <a:pPr marL="0" indent="0">
              <a:buNone/>
            </a:pPr>
            <a:r>
              <a:rPr lang="ru-RU" sz="2400" dirty="0">
                <a:latin typeface="Times New Roman"/>
                <a:ea typeface="+mn-lt"/>
                <a:cs typeface="+mn-lt"/>
              </a:rPr>
              <a:t>негативные психологические ощущения различной интенсивности и характера, вызываемые несоответствием между гендерной идентичностью или самоощущением человека с одной стороны, и приписанным при рождении полом, физическими половыми признаками/функциями, восприятием человека окружающими или навязываемым человеку гендерным сценарием, с другой стороны.</a:t>
            </a:r>
            <a:endParaRPr lang="ru-RU" sz="2400">
              <a:latin typeface="Times New Roman"/>
              <a:cs typeface="Times New Roman"/>
            </a:endParaRPr>
          </a:p>
          <a:p>
            <a:endParaRPr lang="ru-RU" dirty="0"/>
          </a:p>
          <a:p>
            <a:pPr marL="0" indent="0">
              <a:buNone/>
            </a:pPr>
            <a:r>
              <a:rPr lang="ru-RU" sz="2400" dirty="0">
                <a:latin typeface="Times New Roman"/>
                <a:cs typeface="Times New Roman"/>
              </a:rPr>
              <a:t>Может присутствовать или отсутствовать, возникнуть или пропасть, может иметь разную степень выраженности, менять интенсивность и т.д.</a:t>
            </a:r>
          </a:p>
          <a:p>
            <a:endParaRPr lang="ru-RU" dirty="0"/>
          </a:p>
          <a:p>
            <a:endParaRPr lang="ru-RU" dirty="0"/>
          </a:p>
        </p:txBody>
      </p:sp>
    </p:spTree>
    <p:extLst>
      <p:ext uri="{BB962C8B-B14F-4D97-AF65-F5344CB8AC3E}">
        <p14:creationId xmlns:p14="http://schemas.microsoft.com/office/powerpoint/2010/main" val="2855568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7B052D0-0390-4078-9061-84A061FF473F}"/>
              </a:ext>
            </a:extLst>
          </p:cNvPr>
          <p:cNvSpPr/>
          <p:nvPr/>
        </p:nvSpPr>
        <p:spPr>
          <a:xfrm>
            <a:off x="827314" y="373967"/>
            <a:ext cx="11136085" cy="530594"/>
          </a:xfrm>
          <a:prstGeom prst="rect">
            <a:avLst/>
          </a:prstGeom>
        </p:spPr>
        <p:txBody>
          <a:bodyPr wrap="square" lIns="91440" tIns="45720" rIns="91440" bIns="45720" anchor="t">
            <a:spAutoFit/>
          </a:bodyPr>
          <a:lstStyle/>
          <a:p>
            <a:pPr algn="just">
              <a:lnSpc>
                <a:spcPct val="107000"/>
              </a:lnSpc>
              <a:spcAft>
                <a:spcPts val="800"/>
              </a:spcAft>
            </a:pPr>
            <a:r>
              <a:rPr lang="ru-RU" sz="2800" b="1" dirty="0">
                <a:latin typeface="Times New Roman"/>
                <a:ea typeface="Calibri" panose="020F0502020204030204" pitchFamily="34" charset="0"/>
                <a:cs typeface="Times New Roman"/>
              </a:rPr>
              <a:t>Формирование гендерной идентичности:</a:t>
            </a:r>
            <a:endParaRPr lang="ru-RU" sz="2800" dirty="0">
              <a:effectLst/>
              <a:latin typeface="Times New Roman"/>
              <a:ea typeface="Calibri" panose="020F0502020204030204" pitchFamily="34" charset="0"/>
              <a:cs typeface="Times New Roman"/>
            </a:endParaRPr>
          </a:p>
        </p:txBody>
      </p:sp>
      <p:sp>
        <p:nvSpPr>
          <p:cNvPr id="3" name="Прямоугольник 2">
            <a:extLst>
              <a:ext uri="{FF2B5EF4-FFF2-40B4-BE49-F238E27FC236}">
                <a16:creationId xmlns:a16="http://schemas.microsoft.com/office/drawing/2014/main" id="{CF9FA24F-32C2-420F-9E51-62B0849B6CD0}"/>
              </a:ext>
            </a:extLst>
          </p:cNvPr>
          <p:cNvSpPr/>
          <p:nvPr/>
        </p:nvSpPr>
        <p:spPr>
          <a:xfrm>
            <a:off x="318197" y="951928"/>
            <a:ext cx="11625944" cy="4755148"/>
          </a:xfrm>
          <a:prstGeom prst="rect">
            <a:avLst/>
          </a:prstGeom>
        </p:spPr>
        <p:txBody>
          <a:bodyPr wrap="square" lIns="91440" tIns="45720" rIns="91440" bIns="45720" anchor="t">
            <a:spAutoFit/>
          </a:bodyPr>
          <a:lstStyle/>
          <a:p>
            <a:pPr>
              <a:lnSpc>
                <a:spcPct val="107000"/>
              </a:lnSpc>
              <a:spcAft>
                <a:spcPts val="800"/>
              </a:spcAft>
            </a:pPr>
            <a:r>
              <a:rPr lang="ru-RU" sz="2600" dirty="0">
                <a:latin typeface="Times New Roman"/>
                <a:cs typeface="Times New Roman"/>
              </a:rPr>
              <a:t>Гендерная идентичность (то есть от гендер которым человек себя ощущает, формируется в 2 этапа:</a:t>
            </a:r>
          </a:p>
          <a:p>
            <a:pPr>
              <a:lnSpc>
                <a:spcPct val="107000"/>
              </a:lnSpc>
              <a:spcAft>
                <a:spcPts val="800"/>
              </a:spcAft>
            </a:pPr>
            <a:endParaRPr lang="ru-RU" sz="2600" dirty="0">
              <a:latin typeface="Times New Roman"/>
              <a:cs typeface="Times New Roman"/>
            </a:endParaRPr>
          </a:p>
          <a:p>
            <a:pPr>
              <a:lnSpc>
                <a:spcPct val="107000"/>
              </a:lnSpc>
              <a:spcAft>
                <a:spcPts val="800"/>
              </a:spcAft>
            </a:pPr>
            <a:r>
              <a:rPr lang="ru-RU" sz="2600" dirty="0">
                <a:latin typeface="Times New Roman"/>
                <a:cs typeface="Times New Roman"/>
              </a:rPr>
              <a:t>1.развитие начинается в возрасте 2 лет и заканчивается к 4 годам. В 4 года дети хорошо осознают свою половую принадлежность и начи6ают связывать ее с физическими характеристиками, В этом возрасте они окончательно понимают то их пол является фиксированной характеристикой</a:t>
            </a:r>
          </a:p>
          <a:p>
            <a:pPr>
              <a:lnSpc>
                <a:spcPct val="107000"/>
              </a:lnSpc>
              <a:spcAft>
                <a:spcPts val="800"/>
              </a:spcAft>
            </a:pPr>
            <a:endParaRPr lang="ru-RU" sz="2600" dirty="0">
              <a:latin typeface="Times New Roman"/>
              <a:cs typeface="Times New Roman"/>
            </a:endParaRPr>
          </a:p>
          <a:p>
            <a:pPr>
              <a:lnSpc>
                <a:spcPct val="107000"/>
              </a:lnSpc>
              <a:spcAft>
                <a:spcPts val="800"/>
              </a:spcAft>
            </a:pPr>
            <a:r>
              <a:rPr lang="ru-RU" sz="2600" dirty="0">
                <a:latin typeface="Times New Roman"/>
                <a:cs typeface="Times New Roman"/>
              </a:rPr>
              <a:t>2. второй этап приходится на время достижения половой зрелости, пубертатный период</a:t>
            </a:r>
          </a:p>
        </p:txBody>
      </p:sp>
    </p:spTree>
    <p:extLst>
      <p:ext uri="{BB962C8B-B14F-4D97-AF65-F5344CB8AC3E}">
        <p14:creationId xmlns:p14="http://schemas.microsoft.com/office/powerpoint/2010/main" val="1747887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C58F6ED-A4B1-408F-AAAB-F2354C529FFE}"/>
              </a:ext>
            </a:extLst>
          </p:cNvPr>
          <p:cNvSpPr/>
          <p:nvPr/>
        </p:nvSpPr>
        <p:spPr>
          <a:xfrm>
            <a:off x="949879" y="1007319"/>
            <a:ext cx="10480121" cy="3970318"/>
          </a:xfrm>
          <a:prstGeom prst="rect">
            <a:avLst/>
          </a:prstGeom>
        </p:spPr>
        <p:txBody>
          <a:bodyPr wrap="square">
            <a:spAutoFit/>
          </a:bodyPr>
          <a:lstStyle/>
          <a:p>
            <a:r>
              <a:rPr lang="ru-RU" sz="2800" b="1" dirty="0">
                <a:latin typeface="Times New Roman" panose="02020603050405020304" pitchFamily="18" charset="0"/>
                <a:cs typeface="Times New Roman" panose="02020603050405020304" pitchFamily="18" charset="0"/>
              </a:rPr>
              <a:t>Долгое время считалось что гендерная идентичность, это то что формируется с течением времени </a:t>
            </a:r>
          </a:p>
          <a:p>
            <a:r>
              <a:rPr lang="ru-RU" sz="2800" b="1" dirty="0">
                <a:latin typeface="Times New Roman" panose="02020603050405020304" pitchFamily="18" charset="0"/>
                <a:cs typeface="Times New Roman" panose="02020603050405020304" pitchFamily="18" charset="0"/>
              </a:rPr>
              <a:t>и ее стоит считать продуктом воспитания. А ребенок по природе гендерно нейтрален.</a:t>
            </a:r>
          </a:p>
          <a:p>
            <a:endParaRPr lang="ru-RU" sz="2800" b="1" dirty="0">
              <a:latin typeface="Times New Roman" panose="02020603050405020304" pitchFamily="18" charset="0"/>
              <a:cs typeface="Times New Roman" panose="02020603050405020304" pitchFamily="18" charset="0"/>
            </a:endParaRPr>
          </a:p>
          <a:p>
            <a:r>
              <a:rPr lang="ru-RU" sz="2800" b="1" dirty="0">
                <a:latin typeface="Times New Roman" panose="02020603050405020304" pitchFamily="18" charset="0"/>
                <a:cs typeface="Times New Roman" panose="02020603050405020304" pitchFamily="18" charset="0"/>
              </a:rPr>
              <a:t>Но эти размышления разбились о эксперимент Джона Уильяма Мани  (1921-2006), американского психолога и сексолога, который поставил эксперимент над мальчиком по имени Брюс Реймер</a:t>
            </a:r>
            <a:endParaRPr lang="ru-RU" sz="2800" dirty="0"/>
          </a:p>
        </p:txBody>
      </p:sp>
    </p:spTree>
    <p:extLst>
      <p:ext uri="{BB962C8B-B14F-4D97-AF65-F5344CB8AC3E}">
        <p14:creationId xmlns:p14="http://schemas.microsoft.com/office/powerpoint/2010/main" val="1671821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2C58F6ED-A4B1-408F-AAAB-F2354C529FFE}"/>
              </a:ext>
            </a:extLst>
          </p:cNvPr>
          <p:cNvSpPr/>
          <p:nvPr/>
        </p:nvSpPr>
        <p:spPr>
          <a:xfrm>
            <a:off x="159124" y="446602"/>
            <a:ext cx="11874724" cy="6232475"/>
          </a:xfrm>
          <a:prstGeom prst="rect">
            <a:avLst/>
          </a:prstGeom>
        </p:spPr>
        <p:txBody>
          <a:bodyPr wrap="square" lIns="91440" tIns="45720" rIns="91440" bIns="45720" anchor="t">
            <a:spAutoFit/>
          </a:bodyPr>
          <a:lstStyle/>
          <a:p>
            <a:r>
              <a:rPr lang="ru-RU" sz="2100" b="1" dirty="0">
                <a:latin typeface="Times New Roman"/>
                <a:cs typeface="Times New Roman"/>
              </a:rPr>
              <a:t>Эксперимент Джона Уильяма Мани</a:t>
            </a:r>
          </a:p>
          <a:p>
            <a:endParaRPr lang="ru-RU" sz="2100" b="1" dirty="0">
              <a:latin typeface="Times New Roman"/>
              <a:cs typeface="Times New Roman"/>
            </a:endParaRPr>
          </a:p>
          <a:p>
            <a:r>
              <a:rPr lang="ru-RU" sz="2100" dirty="0">
                <a:latin typeface="Times New Roman"/>
                <a:ea typeface="+mn-lt"/>
                <a:cs typeface="+mn-lt"/>
              </a:rPr>
              <a:t>Однажды к психологу Джону Мани из американского Балтимора обратились родители маленького мальчика Брюса Реймера с очень деликатной проблемой. Ребенку сделали неудачное обрезание, повредив половой орган. Мать с отцом тревожились о том, не будет ли у ребенка психологической травмы. Но для Мани несчастный ребенок стал идеальным объектом для совершенно безумного эксперимента. Благодаря наличию у травмированного мальчика брата-близнеца можно было проверить, что важнее для гендерного самоопределения — гены или воспитание.</a:t>
            </a:r>
            <a:endParaRPr lang="ru-RU" sz="2100">
              <a:latin typeface="Times New Roman"/>
              <a:cs typeface="Times New Roman"/>
            </a:endParaRPr>
          </a:p>
          <a:p>
            <a:r>
              <a:rPr lang="ru-RU" sz="2100" dirty="0">
                <a:latin typeface="Times New Roman"/>
                <a:ea typeface="+mn-lt"/>
                <a:cs typeface="+mn-lt"/>
              </a:rPr>
              <a:t>Мани убедил родителей превратить Брюса в Бренду — сделать из мальчика девочку. Ребенку удалили </a:t>
            </a:r>
            <a:r>
              <a:rPr lang="ru-RU" sz="2100" dirty="0" err="1">
                <a:latin typeface="Times New Roman"/>
                <a:ea typeface="+mn-lt"/>
                <a:cs typeface="+mn-lt"/>
              </a:rPr>
              <a:t>тестикулы</a:t>
            </a:r>
            <a:r>
              <a:rPr lang="ru-RU" sz="2100" dirty="0">
                <a:latin typeface="Times New Roman"/>
                <a:ea typeface="+mn-lt"/>
                <a:cs typeface="+mn-lt"/>
              </a:rPr>
              <a:t>, а затем начали давать эстрогены, чтобы выросла женская грудь. Доктор писал отчеты об успехах, заявляя что «ребенок ведет себя как активная маленькая девочка». При этом родители Брюса-Бренды испытывали сильнейший стресс: отец превратился в алкоголика, а брат впал в депрессию.</a:t>
            </a:r>
            <a:endParaRPr lang="ru-RU" sz="2100">
              <a:latin typeface="Times New Roman"/>
              <a:cs typeface="Times New Roman"/>
            </a:endParaRPr>
          </a:p>
          <a:p>
            <a:r>
              <a:rPr lang="ru-RU" sz="2100" dirty="0">
                <a:latin typeface="Times New Roman"/>
                <a:ea typeface="+mn-lt"/>
                <a:cs typeface="+mn-lt"/>
              </a:rPr>
              <a:t>По достижении совершеннолетия парень все же нашел в себе силы вырваться от деструктивного врача и пытаться жить как мужчина. Он взял себе имя Дэйвид, женился и усыновил детей. Но тяжелая жизненная история дала о себе знать: после смерти брата Дэйвид впал в депрессию, потерял работу, расстался с женой и окончил жизнь самоубийством.</a:t>
            </a:r>
            <a:endParaRPr lang="ru-RU" sz="2100">
              <a:latin typeface="Times New Roman"/>
              <a:cs typeface="Times New Roman"/>
            </a:endParaRPr>
          </a:p>
          <a:p>
            <a:r>
              <a:rPr lang="ru-RU" sz="2100" dirty="0">
                <a:latin typeface="Times New Roman"/>
                <a:ea typeface="+mn-lt"/>
                <a:cs typeface="+mn-lt"/>
              </a:rPr>
              <a:t>Мать Брюса в последствии напрямую объявила эксперименты Мани причиной психологических расстройств и суицида своего сына.</a:t>
            </a:r>
            <a:endParaRPr lang="ru-RU" sz="2100" dirty="0">
              <a:latin typeface="Times New Roman"/>
            </a:endParaRPr>
          </a:p>
        </p:txBody>
      </p:sp>
    </p:spTree>
    <p:extLst>
      <p:ext uri="{BB962C8B-B14F-4D97-AF65-F5344CB8AC3E}">
        <p14:creationId xmlns:p14="http://schemas.microsoft.com/office/powerpoint/2010/main" val="213244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Рисунок 3" descr="Изображение выглядит как человек, фотография, стоит, в позе&#10;&#10;Автоматически созданное описание">
            <a:extLst>
              <a:ext uri="{FF2B5EF4-FFF2-40B4-BE49-F238E27FC236}">
                <a16:creationId xmlns:a16="http://schemas.microsoft.com/office/drawing/2014/main" id="{C7290042-47C2-48F0-B3AF-F1502595E612}"/>
              </a:ext>
            </a:extLst>
          </p:cNvPr>
          <p:cNvPicPr>
            <a:picLocks noChangeAspect="1"/>
          </p:cNvPicPr>
          <p:nvPr/>
        </p:nvPicPr>
        <p:blipFill rotWithShape="1">
          <a:blip r:embed="rId2"/>
          <a:srcRect b="8907"/>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alpha val="30000"/>
                </a:schemeClr>
              </a:gs>
              <a:gs pos="33000">
                <a:schemeClr val="bg1">
                  <a:alpha val="20000"/>
                </a:schemeClr>
              </a:gs>
              <a:gs pos="0">
                <a:schemeClr val="bg1">
                  <a:alpha val="0"/>
                </a:schemeClr>
              </a:gs>
              <a:gs pos="100000">
                <a:schemeClr val="bg1">
                  <a:alpha val="3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Прямоугольник 1">
            <a:extLst>
              <a:ext uri="{FF2B5EF4-FFF2-40B4-BE49-F238E27FC236}">
                <a16:creationId xmlns:a16="http://schemas.microsoft.com/office/drawing/2014/main" id="{2C58F6ED-A4B1-408F-AAAB-F2354C529FFE}"/>
              </a:ext>
            </a:extLst>
          </p:cNvPr>
          <p:cNvSpPr/>
          <p:nvPr/>
        </p:nvSpPr>
        <p:spPr>
          <a:xfrm>
            <a:off x="3950457" y="60765"/>
            <a:ext cx="4865189" cy="79199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i="1" dirty="0" err="1">
                <a:latin typeface="+mj-lt"/>
                <a:ea typeface="+mj-ea"/>
                <a:cs typeface="+mj-cs"/>
              </a:rPr>
              <a:t>Эксперимент</a:t>
            </a:r>
            <a:r>
              <a:rPr lang="en-US" sz="3200" b="1" i="1" dirty="0">
                <a:latin typeface="+mj-lt"/>
                <a:ea typeface="+mj-ea"/>
                <a:cs typeface="+mj-cs"/>
              </a:rPr>
              <a:t>  </a:t>
            </a:r>
            <a:r>
              <a:rPr lang="en-US" sz="3200" b="1" i="1" dirty="0" err="1">
                <a:latin typeface="+mj-lt"/>
                <a:ea typeface="+mj-ea"/>
                <a:cs typeface="+mj-cs"/>
              </a:rPr>
              <a:t>Мани</a:t>
            </a:r>
          </a:p>
        </p:txBody>
      </p:sp>
    </p:spTree>
    <p:extLst>
      <p:ext uri="{BB962C8B-B14F-4D97-AF65-F5344CB8AC3E}">
        <p14:creationId xmlns:p14="http://schemas.microsoft.com/office/powerpoint/2010/main" val="3259975487"/>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CF9FA24F-32C2-420F-9E51-62B0849B6CD0}"/>
              </a:ext>
            </a:extLst>
          </p:cNvPr>
          <p:cNvSpPr/>
          <p:nvPr/>
        </p:nvSpPr>
        <p:spPr>
          <a:xfrm>
            <a:off x="283028" y="471572"/>
            <a:ext cx="11625944" cy="6386428"/>
          </a:xfrm>
          <a:prstGeom prst="rect">
            <a:avLst/>
          </a:prstGeom>
        </p:spPr>
        <p:txBody>
          <a:bodyPr wrap="square">
            <a:spAutoFit/>
          </a:bodyPr>
          <a:lstStyle/>
          <a:p>
            <a:pPr algn="just">
              <a:lnSpc>
                <a:spcPct val="107000"/>
              </a:lnSpc>
              <a:spcAft>
                <a:spcPts val="800"/>
              </a:spcAft>
            </a:pPr>
            <a:r>
              <a:rPr lang="ru-RU" sz="2000" b="1" dirty="0">
                <a:latin typeface="Times New Roman" panose="02020603050405020304" pitchFamily="18" charset="0"/>
                <a:ea typeface="Calibri" panose="020F0502020204030204" pitchFamily="34" charset="0"/>
                <a:cs typeface="Times New Roman" panose="02020603050405020304" pitchFamily="18" charset="0"/>
              </a:rPr>
              <a:t>ИНТЕРСЕКС </a:t>
            </a:r>
            <a:r>
              <a:rPr lang="ru-RU" dirty="0">
                <a:latin typeface="Times New Roman" panose="02020603050405020304" pitchFamily="18" charset="0"/>
                <a:cs typeface="Times New Roman" panose="02020603050405020304" pitchFamily="18" charset="0"/>
              </a:rPr>
              <a:t>люди рождённые с половыми характеристиками (включая гениталии, половые железы и набор хромосом), которые не вписываются в стереотипы бинарной системы восприятия мужского и женского тела.</a:t>
            </a:r>
            <a:endParaRPr lang="ru-RU"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ru-RU"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u-RU" sz="2000" b="1" dirty="0">
                <a:latin typeface="Times New Roman" panose="02020603050405020304" pitchFamily="18" charset="0"/>
                <a:ea typeface="Calibri" panose="020F0502020204030204" pitchFamily="34" charset="0"/>
                <a:cs typeface="Times New Roman" panose="02020603050405020304" pitchFamily="18" charset="0"/>
              </a:rPr>
              <a:t>ГЕНДЕР </a:t>
            </a:r>
            <a:r>
              <a:rPr lang="ru-RU" dirty="0">
                <a:latin typeface="Times New Roman" panose="02020603050405020304" pitchFamily="18" charset="0"/>
                <a:cs typeface="Times New Roman" panose="02020603050405020304" pitchFamily="18" charset="0"/>
              </a:rPr>
              <a:t>спектр характеристик, относящихся к маскулинности и </a:t>
            </a:r>
            <a:r>
              <a:rPr lang="ru-RU" dirty="0" err="1">
                <a:latin typeface="Times New Roman" panose="02020603050405020304" pitchFamily="18" charset="0"/>
                <a:cs typeface="Times New Roman" panose="02020603050405020304" pitchFamily="18" charset="0"/>
              </a:rPr>
              <a:t>фемининности</a:t>
            </a:r>
            <a:r>
              <a:rPr lang="ru-RU" dirty="0">
                <a:latin typeface="Times New Roman" panose="02020603050405020304" pitchFamily="18" charset="0"/>
                <a:cs typeface="Times New Roman" panose="02020603050405020304" pitchFamily="18" charset="0"/>
              </a:rPr>
              <a:t>. В зависимости от контекста, под такими характеристиками могут подразумеваться социальные структуры (в частности, гендерные и другие социальные роли) или гендерная идентичность</a:t>
            </a:r>
            <a:r>
              <a:rPr lang="ru-RU" b="1" dirty="0">
                <a:latin typeface="Times New Roman" panose="02020603050405020304" pitchFamily="18" charset="0"/>
                <a:cs typeface="Times New Roman" panose="02020603050405020304" pitchFamily="18" charset="0"/>
              </a:rPr>
              <a:t>.</a:t>
            </a:r>
          </a:p>
          <a:p>
            <a:pPr algn="just">
              <a:lnSpc>
                <a:spcPct val="107000"/>
              </a:lnSpc>
              <a:spcAft>
                <a:spcPts val="800"/>
              </a:spcAft>
            </a:pPr>
            <a:endParaRPr lang="ru-RU"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u-RU" sz="2000" b="1" dirty="0">
                <a:effectLst/>
                <a:latin typeface="Times New Roman" panose="02020603050405020304" pitchFamily="18" charset="0"/>
                <a:ea typeface="Calibri" panose="020F0502020204030204" pitchFamily="34" charset="0"/>
                <a:cs typeface="Times New Roman" panose="02020603050405020304" pitchFamily="18" charset="0"/>
              </a:rPr>
              <a:t>ГЕНДЕРНОЕ ВЫРАЖЕНИЕ </a:t>
            </a:r>
            <a:r>
              <a:rPr lang="ru-RU" dirty="0">
                <a:latin typeface="Times New Roman" panose="02020603050405020304" pitchFamily="18" charset="0"/>
                <a:cs typeface="Times New Roman" panose="02020603050405020304" pitchFamily="18" charset="0"/>
              </a:rPr>
              <a:t>внешнее проявление </a:t>
            </a:r>
            <a:r>
              <a:rPr lang="ru-RU" dirty="0" err="1">
                <a:latin typeface="Times New Roman" panose="02020603050405020304" pitchFamily="18" charset="0"/>
                <a:cs typeface="Times New Roman" panose="02020603050405020304" pitchFamily="18" charset="0"/>
              </a:rPr>
              <a:t>идемонстрация</a:t>
            </a:r>
            <a:r>
              <a:rPr lang="ru-RU" dirty="0">
                <a:latin typeface="Times New Roman" panose="02020603050405020304" pitchFamily="18" charset="0"/>
                <a:cs typeface="Times New Roman" panose="02020603050405020304" pitchFamily="18" charset="0"/>
              </a:rPr>
              <a:t> своей гендерной идентичности как соответствующей «женской» или «мужской» роли с помощью поведения, одежды, прически, голоса, а также соответствия культурно обусловленным характеристикам женских и мужских черт.</a:t>
            </a:r>
            <a:endParaRPr lang="ru-RU"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ru-RU"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ru-RU" sz="2000" b="1" dirty="0">
                <a:effectLst/>
                <a:latin typeface="Times New Roman" panose="02020603050405020304" pitchFamily="18" charset="0"/>
                <a:ea typeface="Calibri" panose="020F0502020204030204" pitchFamily="34" charset="0"/>
                <a:cs typeface="Times New Roman" panose="02020603050405020304" pitchFamily="18" charset="0"/>
              </a:rPr>
              <a:t>ГЕТЕРОНОРМАТИВНОСТЬ</a:t>
            </a:r>
            <a:r>
              <a:rPr lang="ru-RU" dirty="0">
                <a:latin typeface="Times New Roman" panose="02020603050405020304" pitchFamily="18" charset="0"/>
                <a:cs typeface="Times New Roman" panose="02020603050405020304" pitchFamily="18" charset="0"/>
              </a:rPr>
              <a:t> модель общественного устройства, при котором брачные отношения возможны исключительно в формате «мужчина — женщина», при этом прочие гражданские взаимоотношения также учитывают гендерную нормативность субъектов, и все гендерно-ненормативные лица в той или иной степени поражаются в гражданских правах; предписываемый обществом и государством обязательный гетеросексуальный образ жизни для всех людей. Лучше понять что дает </a:t>
            </a:r>
            <a:r>
              <a:rPr lang="ru-RU" dirty="0" err="1">
                <a:latin typeface="Times New Roman" panose="02020603050405020304" pitchFamily="18" charset="0"/>
                <a:cs typeface="Times New Roman" panose="02020603050405020304" pitchFamily="18" charset="0"/>
              </a:rPr>
              <a:t>гетеронормативность</a:t>
            </a:r>
            <a:r>
              <a:rPr lang="ru-RU" dirty="0">
                <a:latin typeface="Times New Roman" panose="02020603050405020304" pitchFamily="18" charset="0"/>
                <a:cs typeface="Times New Roman" panose="02020603050405020304" pitchFamily="18" charset="0"/>
              </a:rPr>
              <a:t> можно ознакомившись с текстом «Я пользуюсь привилегиями гетеросексуалов, если…»</a:t>
            </a:r>
            <a:endParaRPr lang="ru-RU"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endParaRPr lang="ru-RU"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1739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a:extLst>
              <a:ext uri="{FF2B5EF4-FFF2-40B4-BE49-F238E27FC236}">
                <a16:creationId xmlns:a16="http://schemas.microsoft.com/office/drawing/2014/main" id="{065EB1FC-E3DA-46E0-A7B4-0713636E742B}"/>
              </a:ext>
            </a:extLst>
          </p:cNvPr>
          <p:cNvSpPr>
            <a:spLocks noGrp="1"/>
          </p:cNvSpPr>
          <p:nvPr>
            <p:ph type="body" idx="1"/>
          </p:nvPr>
        </p:nvSpPr>
        <p:spPr>
          <a:xfrm>
            <a:off x="831850" y="947058"/>
            <a:ext cx="10826750" cy="4832522"/>
          </a:xfrm>
        </p:spPr>
        <p:txBody>
          <a:bodyPr>
            <a:normAutofit lnSpcReduction="10000"/>
          </a:bodyPr>
          <a:lstStyle/>
          <a:p>
            <a:r>
              <a:rPr lang="ru-RU" b="1" dirty="0">
                <a:latin typeface="Times New Roman" panose="02020603050405020304" pitchFamily="18" charset="0"/>
                <a:cs typeface="Times New Roman" panose="02020603050405020304" pitchFamily="18" charset="0"/>
              </a:rPr>
              <a:t>Гендерные стереотипы:</a:t>
            </a:r>
          </a:p>
          <a:p>
            <a:r>
              <a:rPr lang="ru-RU" cap="none" dirty="0">
                <a:latin typeface="Times New Roman" panose="02020603050405020304" pitchFamily="18" charset="0"/>
                <a:cs typeface="Times New Roman" panose="02020603050405020304" pitchFamily="18" charset="0"/>
              </a:rPr>
              <a:t>В каждой культуре есть гендерные стереотипы, например как должен выглядеть мужчина и как выглядит женщина. Есть гендерное распределение труда, гендерные различия в отношении к власти и другим </a:t>
            </a:r>
            <a:r>
              <a:rPr lang="ru-RU" cap="none" dirty="0" err="1">
                <a:latin typeface="Times New Roman" panose="02020603050405020304" pitchFamily="18" charset="0"/>
                <a:cs typeface="Times New Roman" panose="02020603050405020304" pitchFamily="18" charset="0"/>
              </a:rPr>
              <a:t>соц</a:t>
            </a:r>
            <a:r>
              <a:rPr lang="ru-RU" cap="none" dirty="0">
                <a:latin typeface="Times New Roman" panose="02020603050405020304" pitchFamily="18" charset="0"/>
                <a:cs typeface="Times New Roman" panose="02020603050405020304" pitchFamily="18" charset="0"/>
              </a:rPr>
              <a:t> институтам.</a:t>
            </a:r>
          </a:p>
          <a:p>
            <a:r>
              <a:rPr lang="ru-RU" cap="none" dirty="0">
                <a:latin typeface="Times New Roman" panose="02020603050405020304" pitchFamily="18" charset="0"/>
                <a:cs typeface="Times New Roman" panose="02020603050405020304" pitchFamily="18" charset="0"/>
              </a:rPr>
              <a:t>Какой у вас образ настоящего мужчины и женщины?</a:t>
            </a:r>
          </a:p>
          <a:p>
            <a:endParaRPr lang="ru-RU" cap="none" dirty="0">
              <a:latin typeface="Times New Roman" panose="02020603050405020304" pitchFamily="18" charset="0"/>
              <a:cs typeface="Times New Roman" panose="02020603050405020304" pitchFamily="18" charset="0"/>
            </a:endParaRPr>
          </a:p>
          <a:p>
            <a:r>
              <a:rPr lang="ru-RU" cap="none" dirty="0">
                <a:latin typeface="Times New Roman" panose="02020603050405020304" pitchFamily="18" charset="0"/>
                <a:cs typeface="Times New Roman" panose="02020603050405020304" pitchFamily="18" charset="0"/>
              </a:rPr>
              <a:t>Некоторые исследователи выделяют маскулинные и </a:t>
            </a:r>
            <a:r>
              <a:rPr lang="ru-RU" cap="none" dirty="0" err="1">
                <a:latin typeface="Times New Roman" panose="02020603050405020304" pitchFamily="18" charset="0"/>
                <a:cs typeface="Times New Roman" panose="02020603050405020304" pitchFamily="18" charset="0"/>
              </a:rPr>
              <a:t>феминные</a:t>
            </a:r>
            <a:r>
              <a:rPr lang="ru-RU" cap="none" dirty="0">
                <a:latin typeface="Times New Roman" panose="02020603050405020304" pitchFamily="18" charset="0"/>
                <a:cs typeface="Times New Roman" panose="02020603050405020304" pitchFamily="18" charset="0"/>
              </a:rPr>
              <a:t> общества.</a:t>
            </a:r>
          </a:p>
          <a:p>
            <a:r>
              <a:rPr lang="ru-RU" cap="none" dirty="0">
                <a:latin typeface="Times New Roman" panose="02020603050405020304" pitchFamily="18" charset="0"/>
                <a:cs typeface="Times New Roman" panose="02020603050405020304" pitchFamily="18" charset="0"/>
              </a:rPr>
              <a:t>Гендерные стереотипы сохраняются даже тогда, когда поведение мужчин и женщин стало иным.</a:t>
            </a:r>
          </a:p>
          <a:p>
            <a:endParaRPr lang="ru-RU" cap="none" dirty="0">
              <a:latin typeface="Times New Roman" panose="02020603050405020304" pitchFamily="18" charset="0"/>
              <a:cs typeface="Times New Roman" panose="02020603050405020304" pitchFamily="18" charset="0"/>
            </a:endParaRPr>
          </a:p>
          <a:p>
            <a:r>
              <a:rPr lang="ru-RU" cap="none" dirty="0">
                <a:latin typeface="Times New Roman" panose="02020603050405020304" pitchFamily="18" charset="0"/>
                <a:cs typeface="Times New Roman" panose="02020603050405020304" pitchFamily="18" charset="0"/>
              </a:rPr>
              <a:t>Практика «развитие общества и сексуальность»</a:t>
            </a:r>
          </a:p>
        </p:txBody>
      </p:sp>
    </p:spTree>
    <p:extLst>
      <p:ext uri="{BB962C8B-B14F-4D97-AF65-F5344CB8AC3E}">
        <p14:creationId xmlns:p14="http://schemas.microsoft.com/office/powerpoint/2010/main" val="778711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C9A4E2-F2E1-12B8-67B6-1E9E73867601}"/>
              </a:ext>
            </a:extLst>
          </p:cNvPr>
          <p:cNvSpPr>
            <a:spLocks noGrp="1"/>
          </p:cNvSpPr>
          <p:nvPr>
            <p:ph type="title"/>
          </p:nvPr>
        </p:nvSpPr>
        <p:spPr>
          <a:xfrm>
            <a:off x="838200" y="365125"/>
            <a:ext cx="10515600" cy="461963"/>
          </a:xfrm>
        </p:spPr>
        <p:txBody>
          <a:bodyPr>
            <a:normAutofit/>
          </a:bodyPr>
          <a:lstStyle/>
          <a:p>
            <a:r>
              <a:rPr lang="ru-RU" sz="2400" b="1" i="0" dirty="0">
                <a:latin typeface="Times New Roman"/>
                <a:cs typeface="Times New Roman"/>
              </a:rPr>
              <a:t>Гендерные различия в характеристиках социального интеллекта</a:t>
            </a:r>
          </a:p>
        </p:txBody>
      </p:sp>
      <p:sp>
        <p:nvSpPr>
          <p:cNvPr id="3" name="Объект 2">
            <a:extLst>
              <a:ext uri="{FF2B5EF4-FFF2-40B4-BE49-F238E27FC236}">
                <a16:creationId xmlns:a16="http://schemas.microsoft.com/office/drawing/2014/main" id="{305B3241-4B4B-94CA-288A-561F25ABB425}"/>
              </a:ext>
            </a:extLst>
          </p:cNvPr>
          <p:cNvSpPr>
            <a:spLocks noGrp="1"/>
          </p:cNvSpPr>
          <p:nvPr>
            <p:ph idx="1"/>
          </p:nvPr>
        </p:nvSpPr>
        <p:spPr>
          <a:xfrm>
            <a:off x="192315" y="792481"/>
            <a:ext cx="11923485" cy="5989319"/>
          </a:xfrm>
        </p:spPr>
        <p:txBody>
          <a:bodyPr vert="horz" lIns="91440" tIns="45720" rIns="91440" bIns="45720" rtlCol="0" anchor="t">
            <a:noAutofit/>
          </a:bodyPr>
          <a:lstStyle/>
          <a:p>
            <a:pPr marL="0" indent="0">
              <a:buNone/>
            </a:pPr>
            <a:r>
              <a:rPr lang="ru-RU" sz="1800" dirty="0">
                <a:latin typeface="Times New Roman"/>
                <a:ea typeface="+mn-lt"/>
                <a:cs typeface="+mn-lt"/>
              </a:rPr>
              <a:t>Социальный интеллект представляет собой четкую и согласован­ную группу ментальных способностей, связанных с обработкой социальной информации и является самостоятельным психологи­ческим феноменом, а не проявлением общего интеллекта в соци­альных ситуациях.</a:t>
            </a:r>
            <a:endParaRPr lang="ru-RU" sz="1800">
              <a:latin typeface="Times New Roman"/>
              <a:cs typeface="Times New Roman"/>
            </a:endParaRPr>
          </a:p>
          <a:p>
            <a:pPr marL="0" indent="0">
              <a:buNone/>
            </a:pPr>
            <a:endParaRPr lang="ru-RU" sz="1800" dirty="0">
              <a:latin typeface="Times New Roman"/>
              <a:ea typeface="+mn-lt"/>
              <a:cs typeface="+mn-lt"/>
            </a:endParaRPr>
          </a:p>
          <a:p>
            <a:pPr marL="0" indent="0">
              <a:buNone/>
            </a:pPr>
            <a:r>
              <a:rPr lang="ru-RU" sz="1800" dirty="0">
                <a:latin typeface="Times New Roman"/>
                <a:ea typeface="+mn-lt"/>
                <a:cs typeface="+mn-lt"/>
              </a:rPr>
              <a:t>В отечественной психологии проблема социального интеллекта раз­рабатывалась В. Н. Куницыной. В ее концепции социальный интел­лект — </a:t>
            </a:r>
            <a:r>
              <a:rPr lang="ru-RU" sz="1800" b="1" dirty="0">
                <a:latin typeface="Times New Roman"/>
                <a:ea typeface="+mn-lt"/>
                <a:cs typeface="+mn-lt"/>
              </a:rPr>
              <a:t>многомерная, сложная структура</a:t>
            </a:r>
            <a:r>
              <a:rPr lang="ru-RU" sz="1800" dirty="0">
                <a:latin typeface="Times New Roman"/>
                <a:ea typeface="+mn-lt"/>
                <a:cs typeface="+mn-lt"/>
              </a:rPr>
              <a:t>, имеющая следующие аспекты.</a:t>
            </a:r>
            <a:endParaRPr lang="ru-RU" sz="1800">
              <a:latin typeface="Times New Roman"/>
              <a:cs typeface="Times New Roman"/>
            </a:endParaRPr>
          </a:p>
          <a:p>
            <a:pPr marL="0" indent="0">
              <a:buNone/>
            </a:pPr>
            <a:r>
              <a:rPr lang="ru-RU" sz="1800" i="1" dirty="0">
                <a:latin typeface="Times New Roman"/>
                <a:ea typeface="+mn-lt"/>
                <a:cs typeface="+mn-lt"/>
              </a:rPr>
              <a:t>1. Коммуникативно-личностный потенциал — комплекс свойств, об­легчающих или затрудняющих общение, на основе которого форми­руются такие интегральные коммуникативные свойства, как психо­логическая контактность и коммуникативная совместимость; это — основной стержень социального интеллекта.</a:t>
            </a:r>
            <a:endParaRPr lang="ru-RU" sz="1800" i="1">
              <a:latin typeface="Times New Roman"/>
              <a:cs typeface="Times New Roman"/>
            </a:endParaRPr>
          </a:p>
          <a:p>
            <a:pPr marL="0" indent="0">
              <a:buNone/>
            </a:pPr>
            <a:r>
              <a:rPr lang="ru-RU" sz="1800" i="1" dirty="0">
                <a:latin typeface="Times New Roman"/>
                <a:ea typeface="+mn-lt"/>
                <a:cs typeface="+mn-lt"/>
              </a:rPr>
              <a:t>2. Характеристики самосознания — чувство самоуважения, свобо­да от комплексов, предрассудков, подавленных импульсов, от­крытость новым идеям.</a:t>
            </a:r>
            <a:endParaRPr lang="ru-RU" sz="1800" i="1">
              <a:latin typeface="Times New Roman"/>
              <a:cs typeface="Times New Roman"/>
            </a:endParaRPr>
          </a:p>
          <a:p>
            <a:pPr marL="0" indent="0">
              <a:buNone/>
            </a:pPr>
            <a:r>
              <a:rPr lang="ru-RU" sz="1800" i="1" dirty="0">
                <a:latin typeface="Times New Roman"/>
                <a:ea typeface="+mn-lt"/>
                <a:cs typeface="+mn-lt"/>
              </a:rPr>
              <a:t>3. Социальная перцепция, социальное мышление, социальное вооб­ражение, социальное представление, способность к пониманию и моделированию социальных явлений, пониманию людей и движу­щих ими мотивов.</a:t>
            </a:r>
            <a:endParaRPr lang="ru-RU" sz="1800" i="1">
              <a:latin typeface="Times New Roman"/>
              <a:cs typeface="Times New Roman"/>
            </a:endParaRPr>
          </a:p>
          <a:p>
            <a:pPr marL="0" indent="0">
              <a:buNone/>
            </a:pPr>
            <a:r>
              <a:rPr lang="ru-RU" sz="1800" i="1" dirty="0">
                <a:latin typeface="Times New Roman"/>
                <a:ea typeface="+mn-lt"/>
                <a:cs typeface="+mn-lt"/>
              </a:rPr>
              <a:t>4. Энергетические характеристики: психическая и физическая вы­носливость, активность, слабая истощаемость.</a:t>
            </a:r>
            <a:endParaRPr lang="ru-RU" sz="1800" i="1">
              <a:latin typeface="Times New Roman"/>
              <a:cs typeface="Times New Roman"/>
            </a:endParaRPr>
          </a:p>
          <a:p>
            <a:pPr marL="0" indent="0">
              <a:buNone/>
            </a:pPr>
            <a:endParaRPr lang="ru-RU" sz="1800" i="1" dirty="0">
              <a:latin typeface="Times New Roman"/>
              <a:ea typeface="+mn-lt"/>
              <a:cs typeface="+mn-lt"/>
            </a:endParaRPr>
          </a:p>
          <a:p>
            <a:pPr marL="0" indent="0">
              <a:buNone/>
            </a:pPr>
            <a:r>
              <a:rPr lang="ru-RU" sz="1800" dirty="0">
                <a:latin typeface="Times New Roman"/>
                <a:ea typeface="+mn-lt"/>
                <a:cs typeface="+mn-lt"/>
              </a:rPr>
              <a:t>Основные функции социального интеллекта состоят в обеспечении адекватности, </a:t>
            </a:r>
            <a:r>
              <a:rPr lang="ru-RU" sz="1800" dirty="0" err="1">
                <a:latin typeface="Times New Roman"/>
                <a:ea typeface="+mn-lt"/>
                <a:cs typeface="+mn-lt"/>
              </a:rPr>
              <a:t>адаптированно</a:t>
            </a:r>
            <a:r>
              <a:rPr lang="ru-RU" sz="1800" dirty="0">
                <a:latin typeface="Times New Roman"/>
                <a:ea typeface="+mn-lt"/>
                <a:cs typeface="+mn-lt"/>
              </a:rPr>
              <a:t> в меняющихся условиях, формиро­вании программ успешного взаимодействия, планировании и прогно­зировании развития межличностных событий, саморазвитии, само­познании и самообучении.</a:t>
            </a:r>
            <a:endParaRPr lang="ru-RU" sz="1800">
              <a:latin typeface="Times New Roman"/>
              <a:cs typeface="Times New Roman"/>
            </a:endParaRPr>
          </a:p>
        </p:txBody>
      </p:sp>
    </p:spTree>
    <p:extLst>
      <p:ext uri="{BB962C8B-B14F-4D97-AF65-F5344CB8AC3E}">
        <p14:creationId xmlns:p14="http://schemas.microsoft.com/office/powerpoint/2010/main" val="1211904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BAF7817-93B7-8CFF-FB1E-2DF290CDCC54}"/>
              </a:ext>
            </a:extLst>
          </p:cNvPr>
          <p:cNvSpPr>
            <a:spLocks noGrp="1"/>
          </p:cNvSpPr>
          <p:nvPr>
            <p:ph idx="1"/>
          </p:nvPr>
        </p:nvSpPr>
        <p:spPr>
          <a:xfrm>
            <a:off x="838200" y="313509"/>
            <a:ext cx="10515600" cy="6272348"/>
          </a:xfrm>
        </p:spPr>
        <p:txBody>
          <a:bodyPr vert="horz" lIns="91440" tIns="45720" rIns="91440" bIns="45720" rtlCol="0" anchor="t">
            <a:normAutofit/>
          </a:bodyPr>
          <a:lstStyle/>
          <a:p>
            <a:pPr marL="0" indent="0">
              <a:buNone/>
            </a:pPr>
            <a:endParaRPr lang="ru-RU" sz="2000" dirty="0">
              <a:latin typeface="Times New Roman"/>
              <a:ea typeface="+mn-lt"/>
              <a:cs typeface="+mn-lt"/>
            </a:endParaRPr>
          </a:p>
          <a:p>
            <a:pPr marL="0" indent="0">
              <a:buNone/>
            </a:pPr>
            <a:r>
              <a:rPr lang="ru-RU" sz="2000" dirty="0">
                <a:latin typeface="Times New Roman"/>
                <a:ea typeface="+mn-lt"/>
                <a:cs typeface="+mn-lt"/>
              </a:rPr>
              <a:t>Отличительной характе­ристикой и признаком высокого уровня развития социального интел­лекта является развитая социальная компетентность.</a:t>
            </a:r>
            <a:endParaRPr lang="ru-RU" sz="2000">
              <a:latin typeface="Times New Roman"/>
              <a:cs typeface="Times New Roman"/>
            </a:endParaRPr>
          </a:p>
          <a:p>
            <a:pPr marL="0" indent="0">
              <a:buNone/>
            </a:pPr>
            <a:r>
              <a:rPr lang="ru-RU" sz="2000" dirty="0">
                <a:latin typeface="Times New Roman"/>
                <a:ea typeface="+mn-lt"/>
                <a:cs typeface="+mn-lt"/>
              </a:rPr>
              <a:t>В. Н. </a:t>
            </a:r>
            <a:r>
              <a:rPr lang="ru-RU" sz="2000" dirty="0" err="1">
                <a:latin typeface="Times New Roman"/>
                <a:ea typeface="+mn-lt"/>
                <a:cs typeface="+mn-lt"/>
              </a:rPr>
              <a:t>Куницина</a:t>
            </a:r>
            <a:r>
              <a:rPr lang="ru-RU" sz="2000" dirty="0">
                <a:latin typeface="Times New Roman"/>
                <a:ea typeface="+mn-lt"/>
                <a:cs typeface="+mn-lt"/>
              </a:rPr>
              <a:t> определяет социальную компетентность как си­стему знаний о социальной действительности и о себе, систему слож­ных социальных умений и навыков взаимодействия, сценариев по­ведения в типичных социальных ситуациях, позволяющих быстро и мгновенно адаптироваться, принимать решения со знанием дела, учитывая сложившуюся конъюнктуру; действуя по принципу «здесь, сейчас и наилучшим образом», извлекать максимум из сложивших­ся обстоятельств. </a:t>
            </a:r>
            <a:r>
              <a:rPr lang="ru-RU" sz="2000" dirty="0">
                <a:latin typeface="Times New Roman"/>
                <a:ea typeface="+mn-lt"/>
                <a:cs typeface="Times New Roman"/>
              </a:rPr>
              <a:t>(</a:t>
            </a:r>
            <a:r>
              <a:rPr lang="ru-RU" sz="2000" dirty="0">
                <a:latin typeface="Times New Roman"/>
                <a:cs typeface="Times New Roman"/>
              </a:rPr>
              <a:t> взрослое эго - состояние)</a:t>
            </a:r>
          </a:p>
          <a:p>
            <a:pPr marL="0" indent="0">
              <a:buNone/>
            </a:pPr>
            <a:endParaRPr lang="ru-RU" sz="2000" dirty="0">
              <a:latin typeface="Times New Roman"/>
              <a:cs typeface="Times New Roman"/>
            </a:endParaRPr>
          </a:p>
          <a:p>
            <a:pPr>
              <a:buNone/>
            </a:pPr>
            <a:r>
              <a:rPr lang="ru-RU" sz="2000" dirty="0">
                <a:latin typeface="Times New Roman"/>
                <a:ea typeface="+mn-lt"/>
                <a:cs typeface="+mn-lt"/>
              </a:rPr>
              <a:t>    Структура социальной компетентности включает в себя комму­никативную и вербальную компетентность, социально-психологиче­скую компетентность и межличностную ориентацию, эго-компетентность, общую социальную ориентацию и осведомленность.</a:t>
            </a:r>
            <a:endParaRPr lang="ru-RU" sz="2000">
              <a:latin typeface="Times New Roman"/>
              <a:cs typeface="Times New Roman"/>
            </a:endParaRPr>
          </a:p>
          <a:p>
            <a:pPr marL="0" indent="0">
              <a:buNone/>
            </a:pPr>
            <a:br>
              <a:rPr lang="en-US" sz="2000" dirty="0">
                <a:latin typeface="Times New Roman"/>
              </a:rPr>
            </a:br>
            <a:r>
              <a:rPr lang="en-US" sz="2000" dirty="0" err="1">
                <a:latin typeface="Times New Roman"/>
                <a:ea typeface="+mn-lt"/>
                <a:cs typeface="+mn-lt"/>
              </a:rPr>
              <a:t>Высокий</a:t>
            </a:r>
            <a:r>
              <a:rPr lang="en-US" sz="2000" dirty="0">
                <a:latin typeface="Times New Roman"/>
                <a:ea typeface="+mn-lt"/>
                <a:cs typeface="+mn-lt"/>
              </a:rPr>
              <a:t> </a:t>
            </a:r>
            <a:r>
              <a:rPr lang="en-US" sz="2000" dirty="0" err="1">
                <a:latin typeface="Times New Roman"/>
                <a:ea typeface="+mn-lt"/>
                <a:cs typeface="+mn-lt"/>
              </a:rPr>
              <a:t>уровень</a:t>
            </a:r>
            <a:r>
              <a:rPr lang="en-US" sz="2000" dirty="0">
                <a:latin typeface="Times New Roman"/>
                <a:ea typeface="+mn-lt"/>
                <a:cs typeface="+mn-lt"/>
              </a:rPr>
              <a:t> </a:t>
            </a:r>
            <a:r>
              <a:rPr lang="en-US" sz="2000" dirty="0" err="1">
                <a:latin typeface="Times New Roman"/>
                <a:ea typeface="+mn-lt"/>
                <a:cs typeface="+mn-lt"/>
              </a:rPr>
              <a:t>развития</a:t>
            </a:r>
            <a:r>
              <a:rPr lang="en-US" sz="2000" dirty="0">
                <a:latin typeface="Times New Roman"/>
                <a:ea typeface="+mn-lt"/>
                <a:cs typeface="+mn-lt"/>
              </a:rPr>
              <a:t> </a:t>
            </a:r>
            <a:r>
              <a:rPr lang="en-US" sz="2000" dirty="0" err="1">
                <a:latin typeface="Times New Roman"/>
                <a:ea typeface="+mn-lt"/>
                <a:cs typeface="+mn-lt"/>
              </a:rPr>
              <a:t>социального</a:t>
            </a:r>
            <a:r>
              <a:rPr lang="en-US" sz="2000" dirty="0">
                <a:latin typeface="Times New Roman"/>
                <a:ea typeface="+mn-lt"/>
                <a:cs typeface="+mn-lt"/>
              </a:rPr>
              <a:t> </a:t>
            </a:r>
            <a:r>
              <a:rPr lang="en-US" sz="2000" dirty="0" err="1">
                <a:latin typeface="Times New Roman"/>
                <a:ea typeface="+mn-lt"/>
                <a:cs typeface="+mn-lt"/>
              </a:rPr>
              <a:t>интеллекта</a:t>
            </a:r>
            <a:r>
              <a:rPr lang="en-US" sz="2000" dirty="0">
                <a:latin typeface="Times New Roman"/>
                <a:ea typeface="+mn-lt"/>
                <a:cs typeface="+mn-lt"/>
              </a:rPr>
              <a:t> и </a:t>
            </a:r>
            <a:r>
              <a:rPr lang="en-US" sz="2000" dirty="0" err="1">
                <a:latin typeface="Times New Roman"/>
                <a:ea typeface="+mn-lt"/>
                <a:cs typeface="+mn-lt"/>
              </a:rPr>
              <a:t>социальной</a:t>
            </a:r>
            <a:r>
              <a:rPr lang="en-US" sz="2000" dirty="0">
                <a:latin typeface="Times New Roman"/>
                <a:ea typeface="+mn-lt"/>
                <a:cs typeface="+mn-lt"/>
              </a:rPr>
              <a:t> </a:t>
            </a:r>
            <a:r>
              <a:rPr lang="en-US" sz="2000" dirty="0" err="1">
                <a:latin typeface="Times New Roman"/>
                <a:ea typeface="+mn-lt"/>
                <a:cs typeface="+mn-lt"/>
              </a:rPr>
              <a:t>компетентности</a:t>
            </a:r>
            <a:r>
              <a:rPr lang="en-US" sz="2000" dirty="0">
                <a:latin typeface="Times New Roman"/>
                <a:ea typeface="+mn-lt"/>
                <a:cs typeface="+mn-lt"/>
              </a:rPr>
              <a:t> у </a:t>
            </a:r>
            <a:r>
              <a:rPr lang="en-US" sz="2000" dirty="0" err="1">
                <a:latin typeface="Times New Roman"/>
                <a:ea typeface="+mn-lt"/>
                <a:cs typeface="+mn-lt"/>
              </a:rPr>
              <a:t>зрелой</a:t>
            </a:r>
            <a:r>
              <a:rPr lang="en-US" sz="2000" dirty="0">
                <a:latin typeface="Times New Roman"/>
                <a:ea typeface="+mn-lt"/>
                <a:cs typeface="+mn-lt"/>
              </a:rPr>
              <a:t> </a:t>
            </a:r>
            <a:r>
              <a:rPr lang="en-US" sz="2000" dirty="0" err="1">
                <a:latin typeface="Times New Roman"/>
                <a:ea typeface="+mn-lt"/>
                <a:cs typeface="+mn-lt"/>
              </a:rPr>
              <a:t>личности</a:t>
            </a:r>
            <a:r>
              <a:rPr lang="en-US" sz="2000" dirty="0">
                <a:latin typeface="Times New Roman"/>
                <a:ea typeface="+mn-lt"/>
                <a:cs typeface="+mn-lt"/>
              </a:rPr>
              <a:t> </a:t>
            </a:r>
            <a:r>
              <a:rPr lang="en-US" sz="2000" dirty="0" err="1">
                <a:latin typeface="Times New Roman"/>
                <a:ea typeface="+mn-lt"/>
                <a:cs typeface="+mn-lt"/>
              </a:rPr>
              <a:t>проявляется</a:t>
            </a:r>
            <a:r>
              <a:rPr lang="en-US" sz="2000" dirty="0">
                <a:latin typeface="Times New Roman"/>
                <a:ea typeface="+mn-lt"/>
                <a:cs typeface="+mn-lt"/>
              </a:rPr>
              <a:t> в </a:t>
            </a:r>
            <a:r>
              <a:rPr lang="en-US" sz="2000" dirty="0" err="1">
                <a:latin typeface="Times New Roman"/>
                <a:ea typeface="+mn-lt"/>
                <a:cs typeface="+mn-lt"/>
              </a:rPr>
              <a:t>таких</a:t>
            </a:r>
            <a:r>
              <a:rPr lang="en-US" sz="2000" dirty="0">
                <a:latin typeface="Times New Roman"/>
                <a:ea typeface="+mn-lt"/>
                <a:cs typeface="+mn-lt"/>
              </a:rPr>
              <a:t> </a:t>
            </a:r>
            <a:r>
              <a:rPr lang="en-US" sz="2000" dirty="0" err="1">
                <a:latin typeface="Times New Roman"/>
                <a:ea typeface="+mn-lt"/>
                <a:cs typeface="+mn-lt"/>
              </a:rPr>
              <a:t>свойствах</a:t>
            </a:r>
            <a:r>
              <a:rPr lang="en-US" sz="2000" dirty="0">
                <a:latin typeface="Times New Roman"/>
                <a:ea typeface="+mn-lt"/>
                <a:cs typeface="+mn-lt"/>
              </a:rPr>
              <a:t>, </a:t>
            </a:r>
            <a:r>
              <a:rPr lang="en-US" sz="2000" dirty="0" err="1">
                <a:latin typeface="Times New Roman"/>
                <a:ea typeface="+mn-lt"/>
                <a:cs typeface="+mn-lt"/>
              </a:rPr>
              <a:t>как</a:t>
            </a:r>
            <a:r>
              <a:rPr lang="en-US" sz="2000" dirty="0">
                <a:latin typeface="Times New Roman"/>
                <a:ea typeface="+mn-lt"/>
                <a:cs typeface="+mn-lt"/>
              </a:rPr>
              <a:t> </a:t>
            </a:r>
            <a:r>
              <a:rPr lang="en-US" sz="2000" dirty="0" err="1">
                <a:latin typeface="Times New Roman"/>
                <a:ea typeface="+mn-lt"/>
                <a:cs typeface="+mn-lt"/>
              </a:rPr>
              <a:t>адекватность</a:t>
            </a:r>
            <a:r>
              <a:rPr lang="en-US" sz="2000" dirty="0">
                <a:latin typeface="Times New Roman"/>
                <a:ea typeface="+mn-lt"/>
                <a:cs typeface="+mn-lt"/>
              </a:rPr>
              <a:t>, </a:t>
            </a:r>
            <a:r>
              <a:rPr lang="en-US" sz="2000" dirty="0" err="1">
                <a:latin typeface="Times New Roman"/>
                <a:ea typeface="+mn-lt"/>
                <a:cs typeface="+mn-lt"/>
              </a:rPr>
              <a:t>автономность</a:t>
            </a:r>
            <a:r>
              <a:rPr lang="en-US" sz="2000" dirty="0">
                <a:latin typeface="Times New Roman"/>
                <a:ea typeface="+mn-lt"/>
                <a:cs typeface="+mn-lt"/>
              </a:rPr>
              <a:t> и </a:t>
            </a:r>
            <a:r>
              <a:rPr lang="en-US" sz="2000" dirty="0" err="1">
                <a:latin typeface="Times New Roman"/>
                <a:ea typeface="+mn-lt"/>
                <a:cs typeface="+mn-lt"/>
              </a:rPr>
              <a:t>аутентичность</a:t>
            </a:r>
            <a:r>
              <a:rPr lang="en-US" sz="2000" dirty="0">
                <a:latin typeface="Times New Roman"/>
                <a:ea typeface="+mn-lt"/>
                <a:cs typeface="+mn-lt"/>
              </a:rPr>
              <a:t>.</a:t>
            </a:r>
            <a:endParaRPr lang="en-US" sz="2000" dirty="0">
              <a:latin typeface="Times New Roman"/>
            </a:endParaRPr>
          </a:p>
        </p:txBody>
      </p:sp>
    </p:spTree>
    <p:extLst>
      <p:ext uri="{BB962C8B-B14F-4D97-AF65-F5344CB8AC3E}">
        <p14:creationId xmlns:p14="http://schemas.microsoft.com/office/powerpoint/2010/main" val="1629594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8FBF6AF-C41C-35FB-D6DB-EE1304AEA3FA}"/>
              </a:ext>
            </a:extLst>
          </p:cNvPr>
          <p:cNvSpPr>
            <a:spLocks noGrp="1"/>
          </p:cNvSpPr>
          <p:nvPr>
            <p:ph idx="1"/>
          </p:nvPr>
        </p:nvSpPr>
        <p:spPr>
          <a:xfrm>
            <a:off x="838200" y="349795"/>
            <a:ext cx="10515600" cy="5822405"/>
          </a:xfrm>
        </p:spPr>
        <p:txBody>
          <a:bodyPr vert="horz" lIns="91440" tIns="45720" rIns="91440" bIns="45720" rtlCol="0" anchor="t">
            <a:normAutofit lnSpcReduction="10000"/>
          </a:bodyPr>
          <a:lstStyle/>
          <a:p>
            <a:pPr marL="0" indent="0">
              <a:buNone/>
            </a:pPr>
            <a:r>
              <a:rPr lang="ru-RU" sz="2000" dirty="0">
                <a:latin typeface="Times New Roman"/>
                <a:ea typeface="+mn-lt"/>
                <a:cs typeface="+mn-lt"/>
              </a:rPr>
              <a:t>Воспитание в </a:t>
            </a:r>
            <a:r>
              <a:rPr lang="ru-RU" sz="2000" i="1" dirty="0">
                <a:latin typeface="Times New Roman"/>
                <a:ea typeface="+mn-lt"/>
                <a:cs typeface="+mn-lt"/>
              </a:rPr>
              <a:t>рамках традиционных представлений</a:t>
            </a:r>
            <a:r>
              <a:rPr lang="ru-RU" sz="2000" dirty="0">
                <a:latin typeface="Times New Roman"/>
                <a:ea typeface="+mn-lt"/>
                <a:cs typeface="+mn-lt"/>
              </a:rPr>
              <a:t> способ­ствует развитию у девочек большей эмпатии и способности более глубоко понимать чувства других людей, а у мальчиков — способ­ности скрывать и подавлять свои чувства. К благоприятным фак­торам развития эмоциональной сферы девочек можно отнести ча­сто более тесную, чем у мальчиков, эмоциональную связь с мате­рью, а также «женские» игрушки (куклы) и игры (в дочки-матери, в доктора).</a:t>
            </a:r>
          </a:p>
          <a:p>
            <a:pPr>
              <a:buNone/>
            </a:pPr>
            <a:r>
              <a:rPr lang="ru-RU" sz="2000" dirty="0">
                <a:latin typeface="Times New Roman"/>
                <a:ea typeface="+mn-lt"/>
                <a:cs typeface="+mn-lt"/>
              </a:rPr>
              <a:t>Мальчиков, наоборот, стимулируют сдерживать, вытеснять чув­ства: «Не плачь! Ты должен стать мужчиной!». В поведении мальчи­ков в основном поощряется соревновательность, а не диалог или компромисс, в результате чего как основные стратегии усваиваются соперничество, манипуляция, авторитарность. </a:t>
            </a:r>
            <a:endParaRPr lang="ru-RU" dirty="0">
              <a:latin typeface="Times New Roman"/>
              <a:ea typeface="+mn-lt"/>
              <a:cs typeface="Times New Roman"/>
            </a:endParaRPr>
          </a:p>
          <a:p>
            <a:pPr>
              <a:buNone/>
            </a:pPr>
            <a:r>
              <a:rPr lang="ru-RU" sz="2000" dirty="0">
                <a:latin typeface="Times New Roman"/>
                <a:ea typeface="+mn-lt"/>
                <a:cs typeface="+mn-lt"/>
              </a:rPr>
              <a:t>Такие стили взаимо­действия характеризуются недоверием к мнению другого, что не спо­собствует развитию эмпатии у мальчиков.</a:t>
            </a:r>
            <a:endParaRPr lang="ru-RU">
              <a:latin typeface="Times New Roman"/>
              <a:cs typeface="Times New Roman"/>
            </a:endParaRPr>
          </a:p>
          <a:p>
            <a:pPr>
              <a:buNone/>
            </a:pPr>
            <a:r>
              <a:rPr lang="ru-RU" sz="2000" dirty="0">
                <a:latin typeface="Times New Roman"/>
                <a:ea typeface="+mn-lt"/>
                <a:cs typeface="+mn-lt"/>
              </a:rPr>
              <a:t>В процессе социализации у девочек поощряют стремление к общению, к развитию взаимоотношений и привязанности, а у маль­чиков — способность предвидеть и контролировать окружение. </a:t>
            </a:r>
            <a:endParaRPr lang="ru-RU" dirty="0">
              <a:latin typeface="Times New Roman"/>
              <a:ea typeface="+mn-lt"/>
              <a:cs typeface="Times New Roman"/>
            </a:endParaRPr>
          </a:p>
          <a:p>
            <a:pPr>
              <a:buNone/>
            </a:pPr>
            <a:r>
              <a:rPr lang="ru-RU" sz="2000" dirty="0">
                <a:latin typeface="Times New Roman"/>
                <a:ea typeface="+mn-lt"/>
                <a:cs typeface="+mn-lt"/>
              </a:rPr>
              <a:t>В результате для женщин взаимодействие и взаимозависимость с окружением более значимы, чем для мужчин. Женский стиль можно охарактеризовать как партнерский стиль взаимодействия.</a:t>
            </a:r>
            <a:endParaRPr lang="ru-RU">
              <a:latin typeface="Times New Roman"/>
              <a:cs typeface="Times New Roman"/>
            </a:endParaRPr>
          </a:p>
          <a:p>
            <a:pPr marL="0" indent="0">
              <a:buNone/>
            </a:pPr>
            <a:endParaRPr lang="ru-RU" sz="2000" dirty="0">
              <a:latin typeface="Times New Roman"/>
              <a:cs typeface="Times New Roman"/>
            </a:endParaRPr>
          </a:p>
        </p:txBody>
      </p:sp>
    </p:spTree>
    <p:extLst>
      <p:ext uri="{BB962C8B-B14F-4D97-AF65-F5344CB8AC3E}">
        <p14:creationId xmlns:p14="http://schemas.microsoft.com/office/powerpoint/2010/main" val="3148357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CBF96EAC-4977-0E3C-5597-D7E2EAF37720}"/>
              </a:ext>
            </a:extLst>
          </p:cNvPr>
          <p:cNvSpPr>
            <a:spLocks noGrp="1"/>
          </p:cNvSpPr>
          <p:nvPr>
            <p:ph idx="1"/>
          </p:nvPr>
        </p:nvSpPr>
        <p:spPr>
          <a:xfrm>
            <a:off x="838200" y="465909"/>
            <a:ext cx="10515600" cy="5706291"/>
          </a:xfrm>
        </p:spPr>
        <p:txBody>
          <a:bodyPr vert="horz" lIns="91440" tIns="45720" rIns="91440" bIns="45720" rtlCol="0" anchor="t">
            <a:normAutofit/>
          </a:bodyPr>
          <a:lstStyle/>
          <a:p>
            <a:r>
              <a:rPr lang="ru-RU" sz="2000" dirty="0">
                <a:latin typeface="Times New Roman"/>
                <a:ea typeface="+mn-lt"/>
                <a:cs typeface="+mn-lt"/>
              </a:rPr>
              <a:t>Стиль общения мужчин чаще связан с активностью, предметной направленностью, соревновательностью и конфликтностью. Для мужчин важнее содержание совместной деятельности, чем симпа­тия к партнерам. Мужское общение отличается эмоциональной сдержанностью.</a:t>
            </a:r>
            <a:endParaRPr lang="ru-RU" sz="2000">
              <a:latin typeface="Times New Roman"/>
              <a:cs typeface="Times New Roman"/>
            </a:endParaRPr>
          </a:p>
          <a:p>
            <a:r>
              <a:rPr lang="ru-RU" sz="2000" dirty="0">
                <a:latin typeface="Times New Roman"/>
                <a:ea typeface="+mn-lt"/>
                <a:cs typeface="+mn-lt"/>
              </a:rPr>
              <a:t>Кроме этого, в обществе существуют различные для мужчин и женщин нормы и ожидания относительно проявления собствен­ных чувств. </a:t>
            </a:r>
            <a:r>
              <a:rPr lang="ru-RU" sz="2000" dirty="0" err="1">
                <a:latin typeface="Times New Roman"/>
                <a:ea typeface="+mn-lt"/>
                <a:cs typeface="+mn-lt"/>
              </a:rPr>
              <a:t>Эмпатийная</a:t>
            </a:r>
            <a:r>
              <a:rPr lang="ru-RU" sz="2000" dirty="0">
                <a:latin typeface="Times New Roman"/>
                <a:ea typeface="+mn-lt"/>
                <a:cs typeface="+mn-lt"/>
              </a:rPr>
              <a:t> отзывчивость и эмоциональная экспрессия не соответствуют традиционной мужской роли.</a:t>
            </a:r>
            <a:endParaRPr lang="ru-RU" sz="2000">
              <a:latin typeface="Times New Roman"/>
              <a:cs typeface="Times New Roman"/>
            </a:endParaRPr>
          </a:p>
          <a:p>
            <a:r>
              <a:rPr lang="ru-RU" sz="2000" dirty="0">
                <a:latin typeface="Times New Roman"/>
                <a:ea typeface="+mn-lt"/>
                <a:cs typeface="+mn-lt"/>
              </a:rPr>
              <a:t>Реализация мужской роли связана с большими требованиями. В соответствии с традиционными стереотипами мужчины должны за­нимать активную социальную позицию, демонстрировать личное вли­яние и</a:t>
            </a:r>
            <a:r>
              <a:rPr lang="ru-RU" sz="2000" b="1" dirty="0">
                <a:latin typeface="Times New Roman"/>
                <a:ea typeface="+mn-lt"/>
                <a:cs typeface="+mn-lt"/>
              </a:rPr>
              <a:t> </a:t>
            </a:r>
            <a:r>
              <a:rPr lang="ru-RU" sz="2000" dirty="0">
                <a:latin typeface="Times New Roman"/>
                <a:ea typeface="+mn-lt"/>
                <a:cs typeface="+mn-lt"/>
              </a:rPr>
              <a:t>стремиться к достижениям. В итоге мужчины испытывают дав­ление большой ответственности за свой социальный статус, что про­воцирует при неудаче развитие тревожности, снижение самоуважения и удовлетворенности жизнью.</a:t>
            </a:r>
          </a:p>
          <a:p>
            <a:r>
              <a:rPr lang="ru-RU" sz="2000" dirty="0">
                <a:latin typeface="Times New Roman"/>
                <a:ea typeface="+mn-lt"/>
                <a:cs typeface="+mn-lt"/>
              </a:rPr>
              <a:t>Традиционная женская роль позволяет женщине, не обладающей развитой социальной компетентностью, ограничиться самореализаци­ей в кругу семьи и близких. Как показывают исследования, у женщин с низким уровнем личного влияния тем не менее наблюдаются высо­кие показатели самоуважения, удовлетворенности жизнью и отноше­ниями с близкими.</a:t>
            </a:r>
            <a:endParaRPr lang="ru-RU" sz="2000" dirty="0">
              <a:latin typeface="Times New Roman"/>
            </a:endParaRPr>
          </a:p>
        </p:txBody>
      </p:sp>
    </p:spTree>
    <p:extLst>
      <p:ext uri="{BB962C8B-B14F-4D97-AF65-F5344CB8AC3E}">
        <p14:creationId xmlns:p14="http://schemas.microsoft.com/office/powerpoint/2010/main" val="727349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0DD2E72-C532-A7CB-1EF3-6B15D91E6F20}"/>
              </a:ext>
            </a:extLst>
          </p:cNvPr>
          <p:cNvSpPr>
            <a:spLocks noGrp="1"/>
          </p:cNvSpPr>
          <p:nvPr>
            <p:ph idx="1"/>
          </p:nvPr>
        </p:nvSpPr>
        <p:spPr>
          <a:xfrm>
            <a:off x="838200" y="313509"/>
            <a:ext cx="10515600" cy="5858691"/>
          </a:xfrm>
        </p:spPr>
        <p:txBody>
          <a:bodyPr vert="horz" lIns="91440" tIns="45720" rIns="91440" bIns="45720" rtlCol="0" anchor="t">
            <a:normAutofit/>
          </a:bodyPr>
          <a:lstStyle/>
          <a:p>
            <a:r>
              <a:rPr lang="ru-RU" sz="2400" dirty="0">
                <a:latin typeface="Times New Roman"/>
                <a:ea typeface="+mn-lt"/>
                <a:cs typeface="+mn-lt"/>
              </a:rPr>
              <a:t>Воспитание мальчиков в соответствии с традиционной гендерной ролью влечет за собой негативные последствия, которые препятству­ют формированию социальной компетентности: ограниченную эмо­циональную жизнь, сложность в установлении близких отношений с другими людьми, страх потерять контроль над собой, перенапряже­ние на работе, и как результат — высокий уровень агрессии, алкого­лизации, наркомании, самоубийств и т. д.</a:t>
            </a:r>
            <a:endParaRPr lang="ru-RU" sz="2400">
              <a:latin typeface="Times New Roman"/>
              <a:cs typeface="Times New Roman"/>
            </a:endParaRPr>
          </a:p>
          <a:p>
            <a:r>
              <a:rPr lang="ru-RU" sz="2400" dirty="0">
                <a:latin typeface="Times New Roman"/>
                <a:ea typeface="+mn-lt"/>
                <a:cs typeface="+mn-lt"/>
              </a:rPr>
              <a:t>Негативными последствиями воспитания девочек в соответствии с традиционной гендерной ролью являются: воспитание уступчиво­сти, пассивности, зависимости, ориентации на поощрение, формиро­вание страха успеха, направленность на сохранение отношений даже в случае «провала дела», экзистенциальный кризис в период психо­логического отделения повзрослевших детей. Эти характеристики не могут определять зрелую личность.</a:t>
            </a:r>
            <a:endParaRPr lang="ru-RU" sz="2400" dirty="0">
              <a:latin typeface="Times New Roman"/>
            </a:endParaRPr>
          </a:p>
          <a:p>
            <a:endParaRPr lang="ru-RU" dirty="0"/>
          </a:p>
        </p:txBody>
      </p:sp>
    </p:spTree>
    <p:extLst>
      <p:ext uri="{BB962C8B-B14F-4D97-AF65-F5344CB8AC3E}">
        <p14:creationId xmlns:p14="http://schemas.microsoft.com/office/powerpoint/2010/main" val="2249894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9A778FEC-BB9A-4CE3-8A6A-BFEB3C2D0946}"/>
              </a:ext>
            </a:extLst>
          </p:cNvPr>
          <p:cNvSpPr>
            <a:spLocks noGrp="1"/>
          </p:cNvSpPr>
          <p:nvPr>
            <p:ph type="subTitle" idx="1"/>
          </p:nvPr>
        </p:nvSpPr>
        <p:spPr>
          <a:xfrm>
            <a:off x="375557" y="653143"/>
            <a:ext cx="11397343" cy="5715000"/>
          </a:xfrm>
        </p:spPr>
        <p:txBody>
          <a:bodyPr>
            <a:normAutofit/>
          </a:bodyPr>
          <a:lstStyle/>
          <a:p>
            <a:r>
              <a:rPr lang="ru-RU" b="1" cap="none" dirty="0">
                <a:latin typeface="Times New Roman" panose="02020603050405020304" pitchFamily="18" charset="0"/>
                <a:cs typeface="Times New Roman" panose="02020603050405020304" pitchFamily="18" charset="0"/>
              </a:rPr>
              <a:t>МОНОГАМИЯ - </a:t>
            </a:r>
            <a:r>
              <a:rPr lang="ru-RU" cap="none" dirty="0">
                <a:latin typeface="Times New Roman" panose="02020603050405020304" pitchFamily="18" charset="0"/>
                <a:cs typeface="Times New Roman" panose="02020603050405020304" pitchFamily="18" charset="0"/>
              </a:rPr>
              <a:t>сексуальная связь с одним партнером.</a:t>
            </a:r>
          </a:p>
          <a:p>
            <a:r>
              <a:rPr lang="ru-RU" b="1" cap="none" dirty="0">
                <a:latin typeface="Times New Roman" panose="02020603050405020304" pitchFamily="18" charset="0"/>
                <a:cs typeface="Times New Roman" panose="02020603050405020304" pitchFamily="18" charset="0"/>
              </a:rPr>
              <a:t>МОНОГАМНЫЙ ЦЕНТРИЗМ </a:t>
            </a:r>
            <a:r>
              <a:rPr lang="ru-RU" cap="none" dirty="0">
                <a:latin typeface="Times New Roman" panose="02020603050405020304" pitchFamily="18" charset="0"/>
                <a:cs typeface="Times New Roman" panose="02020603050405020304" pitchFamily="18" charset="0"/>
              </a:rPr>
              <a:t>- идеология, провозглашающая, что естественной, «нормальной», «высокоморальной» формой взаимоотношений является моногамия. Это убеждение так часто воспринимается как само собой разумеющееся, что обычно его никто не замечает и не ставит под сомнение. С точки зрения моногамного центризма жизнь тех людей, кто не вступил в стабильные, длительные (лучше «на всю жизнь»), освященные браком парные отношения, не удалась, исключение составляют священники и монахи.</a:t>
            </a:r>
          </a:p>
          <a:p>
            <a:r>
              <a:rPr lang="ru-RU" b="1" cap="none" dirty="0">
                <a:latin typeface="Times New Roman" panose="02020603050405020304" pitchFamily="18" charset="0"/>
                <a:cs typeface="Times New Roman" panose="02020603050405020304" pitchFamily="18" charset="0"/>
              </a:rPr>
              <a:t>ПОЛИАМОРИЯ </a:t>
            </a:r>
            <a:r>
              <a:rPr lang="ru-RU" cap="none" dirty="0">
                <a:latin typeface="Times New Roman" panose="02020603050405020304" pitchFamily="18" charset="0"/>
                <a:cs typeface="Times New Roman" panose="02020603050405020304" pitchFamily="18" charset="0"/>
              </a:rPr>
              <a:t>- система этических взглядов на любовь, допускающая возможность существования множественных любовных отношений у одного человека с несколькими людьми (а также между несколькими людьми) одновременно, с согласия и одобрения всех участников этих отношений. </a:t>
            </a:r>
            <a:r>
              <a:rPr lang="ru-RU" cap="none" dirty="0" err="1">
                <a:latin typeface="Times New Roman" panose="02020603050405020304" pitchFamily="18" charset="0"/>
                <a:cs typeface="Times New Roman" panose="02020603050405020304" pitchFamily="18" charset="0"/>
              </a:rPr>
              <a:t>Полиамория</a:t>
            </a:r>
            <a:r>
              <a:rPr lang="ru-RU" cap="none" dirty="0">
                <a:latin typeface="Times New Roman" panose="02020603050405020304" pitchFamily="18" charset="0"/>
                <a:cs typeface="Times New Roman" panose="02020603050405020304" pitchFamily="18" charset="0"/>
              </a:rPr>
              <a:t> не является полигамией (многоженство) или полиандрией (многомужество).</a:t>
            </a:r>
          </a:p>
          <a:p>
            <a:r>
              <a:rPr lang="ru-RU" b="1" cap="none" dirty="0">
                <a:latin typeface="Times New Roman" panose="02020603050405020304" pitchFamily="18" charset="0"/>
                <a:cs typeface="Times New Roman" panose="02020603050405020304" pitchFamily="18" charset="0"/>
              </a:rPr>
              <a:t>ПОЛИВЕРНОСТЬ – </a:t>
            </a:r>
            <a:r>
              <a:rPr lang="ru-RU" cap="none" dirty="0">
                <a:latin typeface="Times New Roman" panose="02020603050405020304" pitchFamily="18" charset="0"/>
                <a:cs typeface="Times New Roman" panose="02020603050405020304" pitchFamily="18" charset="0"/>
              </a:rPr>
              <a:t>закрытая </a:t>
            </a:r>
            <a:r>
              <a:rPr lang="ru-RU" cap="none" dirty="0" err="1">
                <a:latin typeface="Times New Roman" panose="02020603050405020304" pitchFamily="18" charset="0"/>
                <a:cs typeface="Times New Roman" panose="02020603050405020304" pitchFamily="18" charset="0"/>
              </a:rPr>
              <a:t>полиамория</a:t>
            </a:r>
            <a:r>
              <a:rPr lang="ru-RU" cap="none" dirty="0">
                <a:latin typeface="Times New Roman" panose="02020603050405020304" pitchFamily="18" charset="0"/>
                <a:cs typeface="Times New Roman" panose="02020603050405020304" pitchFamily="18" charset="0"/>
              </a:rPr>
              <a:t>.</a:t>
            </a:r>
          </a:p>
          <a:p>
            <a:endParaRPr lang="ru-RU" dirty="0"/>
          </a:p>
        </p:txBody>
      </p:sp>
    </p:spTree>
    <p:extLst>
      <p:ext uri="{BB962C8B-B14F-4D97-AF65-F5344CB8AC3E}">
        <p14:creationId xmlns:p14="http://schemas.microsoft.com/office/powerpoint/2010/main" val="2435122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9A778FEC-BB9A-4CE3-8A6A-BFEB3C2D0946}"/>
              </a:ext>
            </a:extLst>
          </p:cNvPr>
          <p:cNvSpPr>
            <a:spLocks noGrp="1"/>
          </p:cNvSpPr>
          <p:nvPr>
            <p:ph type="subTitle" idx="1"/>
          </p:nvPr>
        </p:nvSpPr>
        <p:spPr>
          <a:xfrm>
            <a:off x="375557" y="653143"/>
            <a:ext cx="11397343" cy="5715000"/>
          </a:xfrm>
        </p:spPr>
        <p:txBody>
          <a:bodyPr vert="horz" lIns="91440" tIns="45720" rIns="91440" bIns="45720" rtlCol="0" anchor="t">
            <a:normAutofit/>
          </a:bodyPr>
          <a:lstStyle/>
          <a:p>
            <a:r>
              <a:rPr lang="ru-RU" b="1" cap="none" dirty="0">
                <a:latin typeface="Times New Roman" panose="02020603050405020304" pitchFamily="18" charset="0"/>
                <a:cs typeface="Times New Roman" panose="02020603050405020304" pitchFamily="18" charset="0"/>
              </a:rPr>
              <a:t>СЕКС-НЕГАТИВИЗМ - </a:t>
            </a:r>
            <a:r>
              <a:rPr lang="ru-RU" cap="none" dirty="0">
                <a:latin typeface="Times New Roman" panose="02020603050405020304" pitchFamily="18" charset="0"/>
                <a:cs typeface="Times New Roman" panose="02020603050405020304" pitchFamily="18" charset="0"/>
              </a:rPr>
              <a:t>негативное отношение к любым проявлениям сексуальности, кроме сексуальности в гетеросексуальном браке (желательно с целью репродукции). Сексуальность воспринимается как разрушительная сила, которую необходимо подчинять и укрощать. Секс-негативизм является неотъемлемой частью социального консерватизма, который выступает за жесткий контроль сексуальной сферы со стороны государства.</a:t>
            </a:r>
          </a:p>
          <a:p>
            <a:r>
              <a:rPr lang="ru-RU" b="1" cap="none" dirty="0">
                <a:latin typeface="Times New Roman" panose="02020603050405020304" pitchFamily="18" charset="0"/>
                <a:cs typeface="Times New Roman" panose="02020603050405020304" pitchFamily="18" charset="0"/>
              </a:rPr>
              <a:t>СЕКС-ПОЗИТИВИЗМ - </a:t>
            </a:r>
            <a:r>
              <a:rPr lang="ru-RU" cap="none" dirty="0">
                <a:latin typeface="Times New Roman" panose="02020603050405020304" pitchFamily="18" charset="0"/>
                <a:cs typeface="Times New Roman" panose="02020603050405020304" pitchFamily="18" charset="0"/>
              </a:rPr>
              <a:t>отношение к любым формам добровольных сексуальных отношений как здоровым, приятным и приемлемым, благотворно влияющим на людей. Секс-позитивизм основывается на признании сексуальной свободы и принятии выражения сексуальной индивидуальности людей.</a:t>
            </a:r>
          </a:p>
          <a:p>
            <a:endParaRPr lang="ru-RU" dirty="0"/>
          </a:p>
          <a:p>
            <a:r>
              <a:rPr lang="ru-RU" b="1" dirty="0">
                <a:latin typeface="Times New Roman" panose="02020603050405020304" pitchFamily="18" charset="0"/>
                <a:cs typeface="Times New Roman" panose="02020603050405020304" pitchFamily="18" charset="0"/>
              </a:rPr>
              <a:t>Решетка сексуальной ориентации Клейна</a:t>
            </a:r>
          </a:p>
          <a:p>
            <a:r>
              <a:rPr lang="ru-RU" cap="none" dirty="0">
                <a:latin typeface="Times New Roman"/>
                <a:cs typeface="Times New Roman"/>
              </a:rPr>
              <a:t>Методичка </a:t>
            </a:r>
          </a:p>
        </p:txBody>
      </p:sp>
    </p:spTree>
    <p:extLst>
      <p:ext uri="{BB962C8B-B14F-4D97-AF65-F5344CB8AC3E}">
        <p14:creationId xmlns:p14="http://schemas.microsoft.com/office/powerpoint/2010/main" val="3100621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68B474-882F-426C-A703-EBBBB5DD6A38}"/>
              </a:ext>
            </a:extLst>
          </p:cNvPr>
          <p:cNvSpPr>
            <a:spLocks noGrp="1"/>
          </p:cNvSpPr>
          <p:nvPr>
            <p:ph type="title"/>
          </p:nvPr>
        </p:nvSpPr>
        <p:spPr/>
        <p:txBody>
          <a:bodyPr/>
          <a:lstStyle/>
          <a:p>
            <a:r>
              <a:rPr lang="ru-RU" dirty="0"/>
              <a:t>Практика Мак</a:t>
            </a:r>
          </a:p>
        </p:txBody>
      </p:sp>
      <p:sp>
        <p:nvSpPr>
          <p:cNvPr id="7" name="Объект 6">
            <a:extLst>
              <a:ext uri="{FF2B5EF4-FFF2-40B4-BE49-F238E27FC236}">
                <a16:creationId xmlns:a16="http://schemas.microsoft.com/office/drawing/2014/main" id="{73B0BF76-AC14-42E0-8957-2E9813284AC1}"/>
              </a:ext>
            </a:extLst>
          </p:cNvPr>
          <p:cNvSpPr>
            <a:spLocks noGrp="1"/>
          </p:cNvSpPr>
          <p:nvPr>
            <p:ph idx="1"/>
          </p:nvPr>
        </p:nvSpPr>
        <p:spPr/>
        <p:txBody>
          <a:bodyPr/>
          <a:lstStyle/>
          <a:p>
            <a:r>
              <a:rPr lang="ru-RU" dirty="0"/>
              <a:t>я реальное и я идеальное</a:t>
            </a:r>
          </a:p>
        </p:txBody>
      </p:sp>
      <p:sp>
        <p:nvSpPr>
          <p:cNvPr id="8" name="Прямоугольник 7">
            <a:extLst>
              <a:ext uri="{FF2B5EF4-FFF2-40B4-BE49-F238E27FC236}">
                <a16:creationId xmlns:a16="http://schemas.microsoft.com/office/drawing/2014/main" id="{4D5BDF68-F497-4CCE-9BEB-B673E7CB3A44}"/>
              </a:ext>
            </a:extLst>
          </p:cNvPr>
          <p:cNvSpPr/>
          <p:nvPr/>
        </p:nvSpPr>
        <p:spPr>
          <a:xfrm>
            <a:off x="979714" y="3298371"/>
            <a:ext cx="2547257" cy="1992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Я реальное</a:t>
            </a:r>
          </a:p>
        </p:txBody>
      </p:sp>
      <p:sp>
        <p:nvSpPr>
          <p:cNvPr id="10" name="Прямоугольник 9">
            <a:extLst>
              <a:ext uri="{FF2B5EF4-FFF2-40B4-BE49-F238E27FC236}">
                <a16:creationId xmlns:a16="http://schemas.microsoft.com/office/drawing/2014/main" id="{C27D66A9-FCAF-49EF-924F-8CC436FCE141}"/>
              </a:ext>
            </a:extLst>
          </p:cNvPr>
          <p:cNvSpPr/>
          <p:nvPr/>
        </p:nvSpPr>
        <p:spPr>
          <a:xfrm>
            <a:off x="8218714" y="3298371"/>
            <a:ext cx="2547257" cy="1992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Я идеальное</a:t>
            </a:r>
          </a:p>
        </p:txBody>
      </p:sp>
      <p:cxnSp>
        <p:nvCxnSpPr>
          <p:cNvPr id="12" name="Прямая со стрелкой 11">
            <a:extLst>
              <a:ext uri="{FF2B5EF4-FFF2-40B4-BE49-F238E27FC236}">
                <a16:creationId xmlns:a16="http://schemas.microsoft.com/office/drawing/2014/main" id="{7B49A3F8-AE3D-46FF-ABB8-18E7B7828152}"/>
              </a:ext>
            </a:extLst>
          </p:cNvPr>
          <p:cNvCxnSpPr/>
          <p:nvPr/>
        </p:nvCxnSpPr>
        <p:spPr>
          <a:xfrm>
            <a:off x="4425043" y="4091940"/>
            <a:ext cx="290648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8682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E4CD457-E37B-4177-94C9-92C24E732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Рисунок 2" descr="Изображение выглядит как текст, сцена, галерея, комната&#10;&#10;Автоматически созданное описание">
            <a:extLst>
              <a:ext uri="{FF2B5EF4-FFF2-40B4-BE49-F238E27FC236}">
                <a16:creationId xmlns:a16="http://schemas.microsoft.com/office/drawing/2014/main" id="{6C1CC2C7-994A-066D-63B0-C6FBDBB9860D}"/>
              </a:ext>
            </a:extLst>
          </p:cNvPr>
          <p:cNvPicPr>
            <a:picLocks noChangeAspect="1"/>
          </p:cNvPicPr>
          <p:nvPr/>
        </p:nvPicPr>
        <p:blipFill rotWithShape="1">
          <a:blip r:embed="rId2"/>
          <a:srcRect l="444"/>
          <a:stretch/>
        </p:blipFill>
        <p:spPr>
          <a:xfrm>
            <a:off x="-1132094" y="-355590"/>
            <a:ext cx="13672437" cy="7692561"/>
          </a:xfrm>
          <a:prstGeom prst="rect">
            <a:avLst/>
          </a:prstGeom>
        </p:spPr>
      </p:pic>
    </p:spTree>
    <p:extLst>
      <p:ext uri="{BB962C8B-B14F-4D97-AF65-F5344CB8AC3E}">
        <p14:creationId xmlns:p14="http://schemas.microsoft.com/office/powerpoint/2010/main" val="3026135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3" descr="Изображение выглядит как комната, другой, розовый, еда&#10;&#10;Автоматически созданное описание">
            <a:extLst>
              <a:ext uri="{FF2B5EF4-FFF2-40B4-BE49-F238E27FC236}">
                <a16:creationId xmlns:a16="http://schemas.microsoft.com/office/drawing/2014/main" id="{83D26804-C3F6-46B5-A408-7A4CA43BA523}"/>
              </a:ext>
            </a:extLst>
          </p:cNvPr>
          <p:cNvPicPr>
            <a:picLocks noGrp="1" noChangeAspect="1"/>
          </p:cNvPicPr>
          <p:nvPr>
            <p:ph idx="1"/>
          </p:nvPr>
        </p:nvPicPr>
        <p:blipFill rotWithShape="1">
          <a:blip r:embed="rId2"/>
          <a:srcRect l="10941" t="45" r="-110" b="-614"/>
          <a:stretch/>
        </p:blipFill>
        <p:spPr>
          <a:xfrm rot="16200000">
            <a:off x="2338362" y="-1877965"/>
            <a:ext cx="7273194" cy="11035728"/>
          </a:xfrm>
        </p:spPr>
      </p:pic>
    </p:spTree>
    <p:extLst>
      <p:ext uri="{BB962C8B-B14F-4D97-AF65-F5344CB8AC3E}">
        <p14:creationId xmlns:p14="http://schemas.microsoft.com/office/powerpoint/2010/main" val="1088745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10" descr="Изображение выглядит как галерея, сцена, комната, фотография&#10;&#10;Автоматически созданное описание">
            <a:extLst>
              <a:ext uri="{FF2B5EF4-FFF2-40B4-BE49-F238E27FC236}">
                <a16:creationId xmlns:a16="http://schemas.microsoft.com/office/drawing/2014/main" id="{58BA132B-2F52-4D70-A9E1-CFFDF08B6601}"/>
              </a:ext>
            </a:extLst>
          </p:cNvPr>
          <p:cNvPicPr>
            <a:picLocks noGrp="1" noChangeAspect="1"/>
          </p:cNvPicPr>
          <p:nvPr>
            <p:ph idx="1"/>
          </p:nvPr>
        </p:nvPicPr>
        <p:blipFill rotWithShape="1">
          <a:blip r:embed="rId2"/>
          <a:srcRect l="14226" r="8219" b="395"/>
          <a:stretch/>
        </p:blipFill>
        <p:spPr>
          <a:xfrm rot="16200000">
            <a:off x="2622980" y="-3036463"/>
            <a:ext cx="7319564" cy="12554395"/>
          </a:xfrm>
        </p:spPr>
      </p:pic>
    </p:spTree>
    <p:extLst>
      <p:ext uri="{BB962C8B-B14F-4D97-AF65-F5344CB8AC3E}">
        <p14:creationId xmlns:p14="http://schemas.microsoft.com/office/powerpoint/2010/main" val="1980742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9A778FEC-BB9A-4CE3-8A6A-BFEB3C2D0946}"/>
              </a:ext>
            </a:extLst>
          </p:cNvPr>
          <p:cNvSpPr>
            <a:spLocks noGrp="1"/>
          </p:cNvSpPr>
          <p:nvPr>
            <p:ph type="subTitle" idx="1"/>
          </p:nvPr>
        </p:nvSpPr>
        <p:spPr>
          <a:xfrm>
            <a:off x="375557" y="653142"/>
            <a:ext cx="11397343" cy="5976257"/>
          </a:xfrm>
        </p:spPr>
        <p:txBody>
          <a:bodyPr>
            <a:normAutofit lnSpcReduction="10000"/>
          </a:bodyPr>
          <a:lstStyle/>
          <a:p>
            <a:r>
              <a:rPr lang="ru-RU" b="1" dirty="0">
                <a:latin typeface="Times New Roman" panose="02020603050405020304" pitchFamily="18" charset="0"/>
                <a:cs typeface="Times New Roman" panose="02020603050405020304" pitchFamily="18" charset="0"/>
              </a:rPr>
              <a:t>СЕКСУАЛЬНОЕ ВЛЕЧЕНИЕ </a:t>
            </a:r>
            <a:r>
              <a:rPr lang="ru-RU" b="1" cap="none" dirty="0">
                <a:latin typeface="Times New Roman" panose="02020603050405020304" pitchFamily="18" charset="0"/>
                <a:cs typeface="Times New Roman" panose="02020603050405020304" pitchFamily="18" charset="0"/>
              </a:rPr>
              <a:t>— </a:t>
            </a:r>
            <a:r>
              <a:rPr lang="ru-RU" cap="none" dirty="0">
                <a:latin typeface="Times New Roman" panose="02020603050405020304" pitchFamily="18" charset="0"/>
                <a:cs typeface="Times New Roman" panose="02020603050405020304" pitchFamily="18" charset="0"/>
              </a:rPr>
              <a:t>Влечение, вызванное сексуальным желанием или интересом. </a:t>
            </a:r>
          </a:p>
          <a:p>
            <a:endParaRPr lang="ru-RU" cap="none"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СЕКСУАЛЬНОЕ ЗДОРОВЬЕ </a:t>
            </a:r>
            <a:r>
              <a:rPr lang="ru-RU" dirty="0">
                <a:latin typeface="Times New Roman" panose="02020603050405020304" pitchFamily="18" charset="0"/>
                <a:cs typeface="Times New Roman" panose="02020603050405020304" pitchFamily="18" charset="0"/>
              </a:rPr>
              <a:t>— </a:t>
            </a:r>
            <a:r>
              <a:rPr lang="ru-RU" cap="none" dirty="0">
                <a:latin typeface="Times New Roman" panose="02020603050405020304" pitchFamily="18" charset="0"/>
                <a:cs typeface="Times New Roman" panose="02020603050405020304" pitchFamily="18" charset="0"/>
              </a:rPr>
              <a:t>Состояние физического, эмоционального, умственного и социального благополучия, связанного с сексуальностью; это не просто отсутствие заболеваний, физических отклонений или недомогания. Сексуальное здоровье требует позитивного и уважительного отношения к сексуальности и половым отношениям, а также наличие возможности безопасно вести половую жизнь, приносящую удовлетворение, свободную от принуждения, дискриминации и насилия. Достижение и поддержание сексуального здоровья неразрывно связано с уважением, защитой и соблюдением присущих людям сексуальных прав. </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СЕКСУАЛЬНОЕ ПОВЕДЕНИЕ</a:t>
            </a:r>
            <a:r>
              <a:rPr lang="ru-RU" dirty="0">
                <a:latin typeface="Times New Roman" panose="02020603050405020304" pitchFamily="18" charset="0"/>
                <a:cs typeface="Times New Roman" panose="02020603050405020304" pitchFamily="18" charset="0"/>
              </a:rPr>
              <a:t> — </a:t>
            </a:r>
            <a:r>
              <a:rPr lang="ru-RU" cap="none" dirty="0">
                <a:latin typeface="Times New Roman" panose="02020603050405020304" pitchFamily="18" charset="0"/>
                <a:cs typeface="Times New Roman" panose="02020603050405020304" pitchFamily="18" charset="0"/>
              </a:rPr>
              <a:t>Способ, с помощью которого люди выражают свою сексуальность.</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5351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9A778FEC-BB9A-4CE3-8A6A-BFEB3C2D0946}"/>
              </a:ext>
            </a:extLst>
          </p:cNvPr>
          <p:cNvSpPr>
            <a:spLocks noGrp="1"/>
          </p:cNvSpPr>
          <p:nvPr>
            <p:ph type="subTitle" idx="1"/>
          </p:nvPr>
        </p:nvSpPr>
        <p:spPr>
          <a:xfrm>
            <a:off x="375557" y="373488"/>
            <a:ext cx="11397343" cy="6255912"/>
          </a:xfrm>
        </p:spPr>
        <p:txBody>
          <a:bodyPr>
            <a:normAutofit fontScale="92500" lnSpcReduction="20000"/>
          </a:bodyPr>
          <a:lstStyle/>
          <a:p>
            <a:r>
              <a:rPr lang="ru-RU" b="1" dirty="0">
                <a:latin typeface="Times New Roman" panose="02020603050405020304" pitchFamily="18" charset="0"/>
                <a:cs typeface="Times New Roman" panose="02020603050405020304" pitchFamily="18" charset="0"/>
              </a:rPr>
              <a:t>СЕКСУАЛЬНОЕ ЗДОРОВЬЕ.</a:t>
            </a:r>
          </a:p>
          <a:p>
            <a:r>
              <a:rPr lang="ru-RU" cap="none" dirty="0">
                <a:latin typeface="Times New Roman" panose="02020603050405020304" pitchFamily="18" charset="0"/>
                <a:cs typeface="Times New Roman" panose="02020603050405020304" pitchFamily="18" charset="0"/>
              </a:rPr>
              <a:t>Совещание экспертов ВОЗ пришло к выводу, что понятие сексуального здоровья включает в себя три основных элемента:</a:t>
            </a:r>
          </a:p>
          <a:p>
            <a:br>
              <a:rPr lang="ru-RU" cap="none" dirty="0">
                <a:latin typeface="Times New Roman" panose="02020603050405020304" pitchFamily="18" charset="0"/>
                <a:cs typeface="Times New Roman" panose="02020603050405020304" pitchFamily="18" charset="0"/>
              </a:rPr>
            </a:br>
            <a:r>
              <a:rPr lang="ru-RU" cap="none" dirty="0">
                <a:latin typeface="Times New Roman" panose="02020603050405020304" pitchFamily="18" charset="0"/>
                <a:cs typeface="Times New Roman" panose="02020603050405020304" pitchFamily="18" charset="0"/>
              </a:rPr>
              <a:t>1. Способность к наслаждению и контролю сексуального и детородного поведения в соответствии с нормами социальной и личной этики.</a:t>
            </a:r>
          </a:p>
          <a:p>
            <a:br>
              <a:rPr lang="ru-RU" cap="none" dirty="0">
                <a:latin typeface="Times New Roman" panose="02020603050405020304" pitchFamily="18" charset="0"/>
                <a:cs typeface="Times New Roman" panose="02020603050405020304" pitchFamily="18" charset="0"/>
              </a:rPr>
            </a:br>
            <a:r>
              <a:rPr lang="ru-RU" cap="none" dirty="0">
                <a:latin typeface="Times New Roman" panose="02020603050405020304" pitchFamily="18" charset="0"/>
                <a:cs typeface="Times New Roman" panose="02020603050405020304" pitchFamily="18" charset="0"/>
              </a:rPr>
              <a:t>2. Свободу от страха, чувства стыда и вины, ложных представлений и других психологических факторов, подавляющих сексуальную реакцию и нарушающих сексуальные взаимоотношения.</a:t>
            </a:r>
          </a:p>
          <a:p>
            <a:br>
              <a:rPr lang="ru-RU" cap="none" dirty="0">
                <a:latin typeface="Times New Roman" panose="02020603050405020304" pitchFamily="18" charset="0"/>
                <a:cs typeface="Times New Roman" panose="02020603050405020304" pitchFamily="18" charset="0"/>
              </a:rPr>
            </a:br>
            <a:r>
              <a:rPr lang="ru-RU" cap="none" dirty="0">
                <a:latin typeface="Times New Roman" panose="02020603050405020304" pitchFamily="18" charset="0"/>
                <a:cs typeface="Times New Roman" panose="02020603050405020304" pitchFamily="18" charset="0"/>
              </a:rPr>
              <a:t>3. Отсутствие органических расстройств, заболеваний и недостаточностей, мешающих осуществлению сексуальных и детородных функций.</a:t>
            </a:r>
          </a:p>
          <a:p>
            <a:br>
              <a:rPr lang="ru-RU" cap="none" dirty="0">
                <a:latin typeface="Times New Roman" panose="02020603050405020304" pitchFamily="18" charset="0"/>
                <a:cs typeface="Times New Roman" panose="02020603050405020304" pitchFamily="18" charset="0"/>
              </a:rPr>
            </a:br>
            <a:r>
              <a:rPr lang="ru-RU" cap="none" dirty="0">
                <a:latin typeface="Times New Roman" panose="02020603050405020304" pitchFamily="18" charset="0"/>
                <a:cs typeface="Times New Roman" panose="02020603050405020304" pitchFamily="18" charset="0"/>
              </a:rPr>
              <a:t>В принятом ВОЗ понимании сексуального здоровья подчеркивается необходимость самоконтроля в сексуальном поведении, а также такие характеристики здоровой сексуальности как способностью переживать удовольствие, отсутствием страха, стыда и вины, принуждения и разрушительности. Здоровой сексуальности присуща и определенная доля романтичности, открытости и искренности.</a:t>
            </a:r>
            <a:endParaRPr lang="ru-RU" b="1" cap="none"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8598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2BC962-97F2-4EAC-83A9-54D47DFB6A94}"/>
              </a:ext>
            </a:extLst>
          </p:cNvPr>
          <p:cNvSpPr>
            <a:spLocks noGrp="1"/>
          </p:cNvSpPr>
          <p:nvPr>
            <p:ph type="title"/>
          </p:nvPr>
        </p:nvSpPr>
        <p:spPr>
          <a:xfrm>
            <a:off x="838200" y="365126"/>
            <a:ext cx="10515600" cy="859518"/>
          </a:xfrm>
        </p:spPr>
        <p:txBody>
          <a:bodyPr/>
          <a:lstStyle/>
          <a:p>
            <a:r>
              <a:rPr lang="ru-RU" dirty="0">
                <a:solidFill>
                  <a:schemeClr val="accent2">
                    <a:lumMod val="75000"/>
                  </a:schemeClr>
                </a:solidFill>
              </a:rPr>
              <a:t>Норма и сексуальность</a:t>
            </a:r>
          </a:p>
        </p:txBody>
      </p:sp>
      <p:sp>
        <p:nvSpPr>
          <p:cNvPr id="3" name="Объект 2">
            <a:extLst>
              <a:ext uri="{FF2B5EF4-FFF2-40B4-BE49-F238E27FC236}">
                <a16:creationId xmlns:a16="http://schemas.microsoft.com/office/drawing/2014/main" id="{22D5A381-0D19-4B35-B54F-2EA8C96A5B95}"/>
              </a:ext>
            </a:extLst>
          </p:cNvPr>
          <p:cNvSpPr>
            <a:spLocks noGrp="1"/>
          </p:cNvSpPr>
          <p:nvPr>
            <p:ph idx="1"/>
          </p:nvPr>
        </p:nvSpPr>
        <p:spPr>
          <a:xfrm>
            <a:off x="424543" y="1355271"/>
            <a:ext cx="10929257" cy="4816929"/>
          </a:xfrm>
        </p:spPr>
        <p:txBody>
          <a:bodyPr/>
          <a:lstStyle/>
          <a:p>
            <a:pPr marL="0" indent="0">
              <a:buNone/>
            </a:pPr>
            <a:r>
              <a:rPr lang="ru-RU" dirty="0"/>
              <a:t>Многие клиенты фрустрированы навязанным понятием нормы, некой социальной </a:t>
            </a:r>
            <a:r>
              <a:rPr lang="ru-RU" dirty="0" err="1"/>
              <a:t>стереотипизацией</a:t>
            </a:r>
            <a:r>
              <a:rPr lang="ru-RU" dirty="0"/>
              <a:t>.</a:t>
            </a:r>
          </a:p>
          <a:p>
            <a:pPr marL="0" indent="0">
              <a:buNone/>
            </a:pPr>
            <a:endParaRPr lang="ru-RU" dirty="0"/>
          </a:p>
          <a:p>
            <a:pPr marL="0" indent="0">
              <a:buNone/>
            </a:pPr>
            <a:r>
              <a:rPr lang="ru-RU" dirty="0"/>
              <a:t>В сексологии есть 3 понятия нормы:</a:t>
            </a:r>
          </a:p>
          <a:p>
            <a:pPr marL="514350" indent="-514350">
              <a:buAutoNum type="arabicPeriod"/>
            </a:pPr>
            <a:r>
              <a:rPr lang="ru-RU" dirty="0"/>
              <a:t>Индивидуальная норма ( псих. комфорт)</a:t>
            </a:r>
          </a:p>
          <a:p>
            <a:pPr marL="514350" indent="-514350">
              <a:buAutoNum type="arabicPeriod"/>
            </a:pPr>
            <a:r>
              <a:rPr lang="ru-RU" dirty="0"/>
              <a:t>Партнерская норма (то что позволяет паре достигнуть гармонии)</a:t>
            </a:r>
          </a:p>
          <a:p>
            <a:pPr marL="514350" indent="-514350">
              <a:buAutoNum type="arabicPeriod"/>
            </a:pPr>
            <a:r>
              <a:rPr lang="ru-RU" dirty="0"/>
              <a:t>Социальная норма (представление большинства)</a:t>
            </a:r>
          </a:p>
          <a:p>
            <a:pPr marL="0" indent="0">
              <a:buNone/>
            </a:pPr>
            <a:endParaRPr lang="ru-RU" dirty="0"/>
          </a:p>
        </p:txBody>
      </p:sp>
    </p:spTree>
    <p:extLst>
      <p:ext uri="{BB962C8B-B14F-4D97-AF65-F5344CB8AC3E}">
        <p14:creationId xmlns:p14="http://schemas.microsoft.com/office/powerpoint/2010/main" val="3954635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316919-9B6C-BAA9-7900-59B8F0E50116}"/>
              </a:ext>
            </a:extLst>
          </p:cNvPr>
          <p:cNvSpPr>
            <a:spLocks noGrp="1"/>
          </p:cNvSpPr>
          <p:nvPr>
            <p:ph type="title"/>
          </p:nvPr>
        </p:nvSpPr>
        <p:spPr/>
        <p:txBody>
          <a:bodyPr/>
          <a:lstStyle/>
          <a:p>
            <a:r>
              <a:rPr lang="ru-RU" dirty="0"/>
              <a:t>Сексуальные расстройства и отклонения:</a:t>
            </a:r>
          </a:p>
        </p:txBody>
      </p:sp>
      <p:sp>
        <p:nvSpPr>
          <p:cNvPr id="3" name="Объект 2">
            <a:extLst>
              <a:ext uri="{FF2B5EF4-FFF2-40B4-BE49-F238E27FC236}">
                <a16:creationId xmlns:a16="http://schemas.microsoft.com/office/drawing/2014/main" id="{BD48E1B0-00C2-3293-0040-860DB6B42DB1}"/>
              </a:ext>
            </a:extLst>
          </p:cNvPr>
          <p:cNvSpPr>
            <a:spLocks noGrp="1"/>
          </p:cNvSpPr>
          <p:nvPr>
            <p:ph idx="1"/>
          </p:nvPr>
        </p:nvSpPr>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Все сексуальные проблемы можно условно разделить на 2 группы:</a:t>
            </a:r>
          </a:p>
          <a:p>
            <a:pPr marL="0" indent="0">
              <a:buNone/>
            </a:pPr>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Сексуальные дисфункции – расстройства основных проявлений сексуальности ( полового влечения, сексуального возбуждения и оргазма) и сексуальные болевые расстройства ( диспареунии)</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Сексуальные отклонения – расстройства сексуального поведения и предпочтения ( девиации, перверсии и парафилии)</a:t>
            </a:r>
          </a:p>
        </p:txBody>
      </p:sp>
    </p:spTree>
    <p:extLst>
      <p:ext uri="{BB962C8B-B14F-4D97-AF65-F5344CB8AC3E}">
        <p14:creationId xmlns:p14="http://schemas.microsoft.com/office/powerpoint/2010/main" val="4280048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614B67F-8027-78DC-7157-85BE71D18D7A}"/>
              </a:ext>
            </a:extLst>
          </p:cNvPr>
          <p:cNvSpPr>
            <a:spLocks noGrp="1"/>
          </p:cNvSpPr>
          <p:nvPr>
            <p:ph idx="1"/>
          </p:nvPr>
        </p:nvSpPr>
        <p:spPr>
          <a:xfrm>
            <a:off x="406400" y="350196"/>
            <a:ext cx="10947400" cy="6228404"/>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К сексуальным дисфункциям относятся такие широко известные проблемы, как:</a:t>
            </a:r>
          </a:p>
          <a:p>
            <a:pPr marL="0" indent="0">
              <a:buNone/>
            </a:pPr>
            <a:r>
              <a:rPr lang="ru-RU" sz="2400" dirty="0">
                <a:latin typeface="Times New Roman" panose="02020603050405020304" pitchFamily="18" charset="0"/>
                <a:cs typeface="Times New Roman" panose="02020603050405020304" pitchFamily="18" charset="0"/>
              </a:rPr>
              <a:t>Фригидность, </a:t>
            </a:r>
            <a:r>
              <a:rPr lang="ru-RU" sz="2400" dirty="0" err="1">
                <a:latin typeface="Times New Roman" panose="02020603050405020304" pitchFamily="18" charset="0"/>
                <a:cs typeface="Times New Roman" panose="02020603050405020304" pitchFamily="18" charset="0"/>
              </a:rPr>
              <a:t>агедония</a:t>
            </a:r>
            <a:r>
              <a:rPr lang="ru-RU" sz="2400" dirty="0">
                <a:latin typeface="Times New Roman" panose="02020603050405020304" pitchFamily="18" charset="0"/>
                <a:cs typeface="Times New Roman" panose="02020603050405020304" pitchFamily="18" charset="0"/>
              </a:rPr>
              <a:t>, импотенция, аноргазмия, сатириаз, преждевременная эякуляция, вагинизм, нимфомания.</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 Сексуальные отклонения, расстройства сексуального поведения и предпочтений:</a:t>
            </a:r>
          </a:p>
          <a:p>
            <a:pPr marL="0" indent="0">
              <a:buNone/>
            </a:pPr>
            <a:r>
              <a:rPr lang="ru-RU" sz="2400" dirty="0">
                <a:latin typeface="Times New Roman" panose="02020603050405020304" pitchFamily="18" charset="0"/>
                <a:cs typeface="Times New Roman" panose="02020603050405020304" pitchFamily="18" charset="0"/>
              </a:rPr>
              <a:t>Девиации ( или отклонения)</a:t>
            </a:r>
          </a:p>
          <a:p>
            <a:pPr marL="0" indent="0">
              <a:buNone/>
            </a:pPr>
            <a:r>
              <a:rPr lang="ru-RU" sz="2400" dirty="0">
                <a:latin typeface="Times New Roman" panose="02020603050405020304" pitchFamily="18" charset="0"/>
                <a:cs typeface="Times New Roman" panose="02020603050405020304" pitchFamily="18" charset="0"/>
              </a:rPr>
              <a:t>Перверсии ( непосредственно извращения)</a:t>
            </a:r>
          </a:p>
          <a:p>
            <a:pPr marL="0" indent="0">
              <a:buNone/>
            </a:pPr>
            <a:r>
              <a:rPr lang="ru-RU" sz="2400" dirty="0">
                <a:latin typeface="Times New Roman" panose="02020603050405020304" pitchFamily="18" charset="0"/>
                <a:cs typeface="Times New Roman" panose="02020603050405020304" pitchFamily="18" charset="0"/>
              </a:rPr>
              <a:t>Парафилии (или любовь к тому что не принято: зоофилия, эксгибиционизм, некрофилия, геронтофилия)</a:t>
            </a:r>
          </a:p>
          <a:p>
            <a:pPr marL="0" indent="0">
              <a:buNone/>
            </a:pPr>
            <a:r>
              <a:rPr lang="ru-RU" sz="2400" dirty="0">
                <a:latin typeface="Times New Roman" panose="02020603050405020304" pitchFamily="18" charset="0"/>
                <a:cs typeface="Times New Roman" panose="02020603050405020304" pitchFamily="18" charset="0"/>
              </a:rPr>
              <a:t>Девиация контролируема, патология нет. Норма без фиксации, девиация фиксирована</a:t>
            </a:r>
          </a:p>
        </p:txBody>
      </p:sp>
    </p:spTree>
    <p:extLst>
      <p:ext uri="{BB962C8B-B14F-4D97-AF65-F5344CB8AC3E}">
        <p14:creationId xmlns:p14="http://schemas.microsoft.com/office/powerpoint/2010/main" val="1185712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4AC8BF6-F291-10AC-85E2-17B0B0A692E0}"/>
              </a:ext>
            </a:extLst>
          </p:cNvPr>
          <p:cNvSpPr>
            <a:spLocks noGrp="1"/>
          </p:cNvSpPr>
          <p:nvPr>
            <p:ph idx="1"/>
          </p:nvPr>
        </p:nvSpPr>
        <p:spPr>
          <a:xfrm>
            <a:off x="838200" y="533400"/>
            <a:ext cx="10515600" cy="5638800"/>
          </a:xfrm>
        </p:spPr>
        <p:txBody>
          <a:bodyPr>
            <a:normAutofit fontScale="62500" lnSpcReduction="20000"/>
          </a:bodyPr>
          <a:lstStyle/>
          <a:p>
            <a:pPr marL="0" indent="0">
              <a:lnSpc>
                <a:spcPct val="120000"/>
              </a:lnSpc>
              <a:buNone/>
            </a:pPr>
            <a:r>
              <a:rPr lang="ru-RU" dirty="0">
                <a:latin typeface="Times New Roman" panose="02020603050405020304" pitchFamily="18" charset="0"/>
                <a:cs typeface="Times New Roman" panose="02020603050405020304" pitchFamily="18" charset="0"/>
              </a:rPr>
              <a:t>Парафилия предполагает сексуальное возбуждение от атипичных предметов, ситуаций, и/или объектов возбуждения (например, детей, трупов, животных). Однако, некоторые виды сексуальной активности, которые кажутся необычными другим людям или врачу, не являются </a:t>
            </a:r>
            <a:r>
              <a:rPr lang="ru-RU" dirty="0" err="1">
                <a:latin typeface="Times New Roman" panose="02020603050405020304" pitchFamily="18" charset="0"/>
                <a:cs typeface="Times New Roman" panose="02020603050405020304" pitchFamily="18" charset="0"/>
              </a:rPr>
              <a:t>парафилиями</a:t>
            </a:r>
            <a:r>
              <a:rPr lang="ru-RU" dirty="0">
                <a:latin typeface="Times New Roman" panose="02020603050405020304" pitchFamily="18" charset="0"/>
                <a:cs typeface="Times New Roman" panose="02020603050405020304" pitchFamily="18" charset="0"/>
              </a:rPr>
              <a:t> только из-за своей необычности. Люди могут иметь </a:t>
            </a:r>
            <a:r>
              <a:rPr lang="ru-RU" dirty="0" err="1">
                <a:latin typeface="Times New Roman" panose="02020603050405020304" pitchFamily="18" charset="0"/>
                <a:cs typeface="Times New Roman" panose="02020603050405020304" pitchFamily="18" charset="0"/>
              </a:rPr>
              <a:t>парафилические</a:t>
            </a:r>
            <a:r>
              <a:rPr lang="ru-RU" dirty="0">
                <a:latin typeface="Times New Roman" panose="02020603050405020304" pitchFamily="18" charset="0"/>
                <a:cs typeface="Times New Roman" panose="02020603050405020304" pitchFamily="18" charset="0"/>
              </a:rPr>
              <a:t> интересы, но не отвечать критериям </a:t>
            </a:r>
            <a:r>
              <a:rPr lang="ru-RU" dirty="0" err="1">
                <a:latin typeface="Times New Roman" panose="02020603050405020304" pitchFamily="18" charset="0"/>
                <a:cs typeface="Times New Roman" panose="02020603050405020304" pitchFamily="18" charset="0"/>
              </a:rPr>
              <a:t>парафилического</a:t>
            </a:r>
            <a:r>
              <a:rPr lang="ru-RU" dirty="0">
                <a:latin typeface="Times New Roman" panose="02020603050405020304" pitchFamily="18" charset="0"/>
                <a:cs typeface="Times New Roman" panose="02020603050405020304" pitchFamily="18" charset="0"/>
              </a:rPr>
              <a:t> расстройства.</a:t>
            </a:r>
          </a:p>
          <a:p>
            <a:pPr marL="0" indent="0">
              <a:lnSpc>
                <a:spcPct val="120000"/>
              </a:lnSpc>
              <a:buNone/>
            </a:pPr>
            <a:endParaRPr lang="ru-RU" dirty="0">
              <a:latin typeface="Times New Roman" panose="02020603050405020304" pitchFamily="18" charset="0"/>
              <a:cs typeface="Times New Roman" panose="02020603050405020304" pitchFamily="18" charset="0"/>
            </a:endParaRPr>
          </a:p>
          <a:p>
            <a:pPr marL="0" indent="0">
              <a:lnSpc>
                <a:spcPct val="120000"/>
              </a:lnSpc>
              <a:buNone/>
            </a:pPr>
            <a:r>
              <a:rPr lang="ru-RU" dirty="0">
                <a:latin typeface="Times New Roman" panose="02020603050405020304" pitchFamily="18" charset="0"/>
                <a:cs typeface="Times New Roman" panose="02020603050405020304" pitchFamily="18" charset="0"/>
              </a:rPr>
              <a:t>Нетрадиционные сексуальные модели возбуждения в </a:t>
            </a:r>
            <a:r>
              <a:rPr lang="ru-RU" dirty="0" err="1">
                <a:latin typeface="Times New Roman" panose="02020603050405020304" pitchFamily="18" charset="0"/>
                <a:cs typeface="Times New Roman" panose="02020603050405020304" pitchFamily="18" charset="0"/>
              </a:rPr>
              <a:t>парафилиях</a:t>
            </a:r>
            <a:r>
              <a:rPr lang="ru-RU" dirty="0">
                <a:latin typeface="Times New Roman" panose="02020603050405020304" pitchFamily="18" charset="0"/>
                <a:cs typeface="Times New Roman" panose="02020603050405020304" pitchFamily="18" charset="0"/>
              </a:rPr>
              <a:t> считаются патологическими расстройствами только тогда, когда применимы оба следующих критерия:</a:t>
            </a:r>
          </a:p>
          <a:p>
            <a:pPr marL="0" indent="0">
              <a:lnSpc>
                <a:spcPct val="120000"/>
              </a:lnSpc>
              <a:buNone/>
            </a:pPr>
            <a:r>
              <a:rPr lang="ru-RU" dirty="0">
                <a:latin typeface="Times New Roman" panose="02020603050405020304" pitchFamily="18" charset="0"/>
                <a:cs typeface="Times New Roman" panose="02020603050405020304" pitchFamily="18" charset="0"/>
              </a:rPr>
              <a:t>-Они интенсивные и стойкие.</a:t>
            </a:r>
          </a:p>
          <a:p>
            <a:pPr marL="0" indent="0">
              <a:lnSpc>
                <a:spcPct val="120000"/>
              </a:lnSpc>
              <a:buNone/>
            </a:pPr>
            <a:r>
              <a:rPr lang="ru-RU" dirty="0">
                <a:latin typeface="Times New Roman" panose="02020603050405020304" pitchFamily="18" charset="0"/>
                <a:cs typeface="Times New Roman" panose="02020603050405020304" pitchFamily="18" charset="0"/>
              </a:rPr>
              <a:t>-Они вызывают значительный дискомфорт или проблемы в социальной, профессиональной или других важных сферах деятельности, или причиняют/могут причинить вред другим людям (например, детям, взрослым, не дававшим своего согласия)</a:t>
            </a:r>
          </a:p>
          <a:p>
            <a:pPr marL="0" indent="0">
              <a:lnSpc>
                <a:spcPct val="120000"/>
              </a:lnSpc>
              <a:buNone/>
            </a:pPr>
            <a:endParaRPr lang="ru-RU" dirty="0">
              <a:latin typeface="Times New Roman" panose="02020603050405020304" pitchFamily="18" charset="0"/>
              <a:cs typeface="Times New Roman" panose="02020603050405020304" pitchFamily="18" charset="0"/>
            </a:endParaRPr>
          </a:p>
          <a:p>
            <a:pPr marL="0" indent="0">
              <a:lnSpc>
                <a:spcPct val="120000"/>
              </a:lnSpc>
              <a:buNone/>
            </a:pPr>
            <a:r>
              <a:rPr lang="ru-RU" dirty="0">
                <a:latin typeface="Times New Roman" panose="02020603050405020304" pitchFamily="18" charset="0"/>
                <a:cs typeface="Times New Roman" panose="02020603050405020304" pitchFamily="18" charset="0"/>
              </a:rPr>
              <a:t>У людей с </a:t>
            </a:r>
            <a:r>
              <a:rPr lang="ru-RU" dirty="0" err="1">
                <a:latin typeface="Times New Roman" panose="02020603050405020304" pitchFamily="18" charset="0"/>
                <a:cs typeface="Times New Roman" panose="02020603050405020304" pitchFamily="18" charset="0"/>
              </a:rPr>
              <a:t>парафилическими</a:t>
            </a:r>
            <a:r>
              <a:rPr lang="ru-RU" dirty="0">
                <a:latin typeface="Times New Roman" panose="02020603050405020304" pitchFamily="18" charset="0"/>
                <a:cs typeface="Times New Roman" panose="02020603050405020304" pitchFamily="18" charset="0"/>
              </a:rPr>
              <a:t> расстройствами может быть нарушена или полностью отсутствовать способность к эмоциональным и сексуальным отношениям по обоюдному согласию и в условиях взаимной привязанности. Также могут нарушаться и другие аспекты личной и эмоциональной адаптации.</a:t>
            </a:r>
          </a:p>
          <a:p>
            <a:endParaRPr lang="ru-RU" dirty="0"/>
          </a:p>
        </p:txBody>
      </p:sp>
    </p:spTree>
    <p:extLst>
      <p:ext uri="{BB962C8B-B14F-4D97-AF65-F5344CB8AC3E}">
        <p14:creationId xmlns:p14="http://schemas.microsoft.com/office/powerpoint/2010/main" val="1834480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751C50C-2807-4ACD-8809-96DC3FCD1781}"/>
              </a:ext>
            </a:extLst>
          </p:cNvPr>
          <p:cNvSpPr>
            <a:spLocks noGrp="1"/>
          </p:cNvSpPr>
          <p:nvPr>
            <p:ph type="ctrTitle"/>
          </p:nvPr>
        </p:nvSpPr>
        <p:spPr>
          <a:xfrm>
            <a:off x="386862" y="116396"/>
            <a:ext cx="11605846" cy="767623"/>
          </a:xfrm>
        </p:spPr>
        <p:txBody>
          <a:bodyPr anchor="ctr">
            <a:normAutofit/>
          </a:bodyPr>
          <a:lstStyle/>
          <a:p>
            <a:r>
              <a:rPr lang="ru-RU" sz="2800" b="1" dirty="0"/>
              <a:t>Мужские сексуальные дисфункции</a:t>
            </a:r>
          </a:p>
        </p:txBody>
      </p:sp>
      <p:sp>
        <p:nvSpPr>
          <p:cNvPr id="2" name="Прямоугольник 1">
            <a:extLst>
              <a:ext uri="{FF2B5EF4-FFF2-40B4-BE49-F238E27FC236}">
                <a16:creationId xmlns:a16="http://schemas.microsoft.com/office/drawing/2014/main" id="{964C10CB-0523-4D29-97F1-9150917F3AA0}"/>
              </a:ext>
            </a:extLst>
          </p:cNvPr>
          <p:cNvSpPr/>
          <p:nvPr/>
        </p:nvSpPr>
        <p:spPr>
          <a:xfrm>
            <a:off x="383814" y="663742"/>
            <a:ext cx="11345792" cy="6124754"/>
          </a:xfrm>
          <a:prstGeom prst="rect">
            <a:avLst/>
          </a:prstGeom>
        </p:spPr>
        <p:txBody>
          <a:bodyPr wrap="square">
            <a:spAutoFit/>
          </a:bodyPr>
          <a:lstStyle/>
          <a:p>
            <a:r>
              <a:rPr lang="ru-RU" sz="2400" b="1" dirty="0">
                <a:latin typeface="Times New Roman" panose="02020603050405020304" pitchFamily="18" charset="0"/>
                <a:cs typeface="Times New Roman" panose="02020603050405020304" pitchFamily="18" charset="0"/>
              </a:rPr>
              <a:t>Эректильная дисфункция</a:t>
            </a:r>
          </a:p>
          <a:p>
            <a:r>
              <a:rPr lang="ru-RU" sz="2300" dirty="0">
                <a:latin typeface="Times New Roman" panose="02020603050405020304" pitchFamily="18" charset="0"/>
                <a:cs typeface="Times New Roman" panose="02020603050405020304" pitchFamily="18" charset="0"/>
              </a:rPr>
              <a:t>Эректильная дисфункция это патология половой функции у мужчин при которой возникает не способность достижения или поддержания эрекции, достаточной для полового акта. При этом длительность нарушений должна быть не менее 3х месяцев. Данный вид сексуального расстройства является одним из самых распространенных в мире, так как встречается у 52% мужчин в возрасте 40-70 лет.  У 20% мужчин старше 30 лет возникают сложности с эрекцией</a:t>
            </a:r>
          </a:p>
          <a:p>
            <a:endParaRPr lang="ru-RU" sz="2300" dirty="0">
              <a:latin typeface="Times New Roman" panose="02020603050405020304" pitchFamily="18" charset="0"/>
              <a:cs typeface="Times New Roman" panose="02020603050405020304" pitchFamily="18" charset="0"/>
            </a:endParaRPr>
          </a:p>
          <a:p>
            <a:r>
              <a:rPr lang="ru-RU" sz="2300" dirty="0">
                <a:latin typeface="Times New Roman" panose="02020603050405020304" pitchFamily="18" charset="0"/>
                <a:cs typeface="Times New Roman" panose="02020603050405020304" pitchFamily="18" charset="0"/>
              </a:rPr>
              <a:t>Выделяют 3 вида причин эректильной дисфункции:</a:t>
            </a:r>
          </a:p>
          <a:p>
            <a:pPr marL="342900" indent="-342900">
              <a:buAutoNum type="arabicPeriod"/>
            </a:pPr>
            <a:r>
              <a:rPr lang="ru-RU" sz="2300" dirty="0">
                <a:latin typeface="Times New Roman" panose="02020603050405020304" pitchFamily="18" charset="0"/>
                <a:cs typeface="Times New Roman" panose="02020603050405020304" pitchFamily="18" charset="0"/>
              </a:rPr>
              <a:t>Психогенные – когда расстройства связаны с тревогой, нарушениями психики, хроническим умеренный стрессом (40%)</a:t>
            </a:r>
          </a:p>
          <a:p>
            <a:pPr marL="342900" indent="-342900">
              <a:buAutoNum type="arabicPeriod"/>
            </a:pPr>
            <a:r>
              <a:rPr lang="ru-RU" sz="2300" dirty="0">
                <a:latin typeface="Times New Roman" panose="02020603050405020304" pitchFamily="18" charset="0"/>
                <a:cs typeface="Times New Roman" panose="02020603050405020304" pitchFamily="18" charset="0"/>
              </a:rPr>
              <a:t>Органические – когда нарушение половой функции развиваются из за каких-то структурных изменений полового органа, как такового (30%)</a:t>
            </a:r>
          </a:p>
          <a:p>
            <a:pPr marL="285750" indent="-285750">
              <a:buFontTx/>
              <a:buChar char="-"/>
            </a:pPr>
            <a:r>
              <a:rPr lang="ru-RU" sz="2300" dirty="0">
                <a:latin typeface="Times New Roman" panose="02020603050405020304" pitchFamily="18" charset="0"/>
                <a:cs typeface="Times New Roman" panose="02020603050405020304" pitchFamily="18" charset="0"/>
              </a:rPr>
              <a:t>сосудистые причины</a:t>
            </a:r>
          </a:p>
          <a:p>
            <a:pPr marL="285750" indent="-285750">
              <a:buFontTx/>
              <a:buChar char="-"/>
            </a:pPr>
            <a:r>
              <a:rPr lang="ru-RU" sz="2300" dirty="0">
                <a:latin typeface="Times New Roman" panose="02020603050405020304" pitchFamily="18" charset="0"/>
                <a:cs typeface="Times New Roman" panose="02020603050405020304" pitchFamily="18" charset="0"/>
              </a:rPr>
              <a:t>эндокринные заболевания</a:t>
            </a:r>
          </a:p>
          <a:p>
            <a:pPr marL="285750" indent="-285750">
              <a:buFontTx/>
              <a:buChar char="-"/>
            </a:pPr>
            <a:r>
              <a:rPr lang="ru-RU" sz="2300" dirty="0">
                <a:latin typeface="Times New Roman" panose="02020603050405020304" pitchFamily="18" charset="0"/>
                <a:cs typeface="Times New Roman" panose="02020603050405020304" pitchFamily="18" charset="0"/>
              </a:rPr>
              <a:t>неврологические причины</a:t>
            </a:r>
          </a:p>
          <a:p>
            <a:pPr marL="285750" indent="-285750">
              <a:buFontTx/>
              <a:buChar char="-"/>
            </a:pPr>
            <a:r>
              <a:rPr lang="ru-RU" sz="2300" dirty="0">
                <a:latin typeface="Times New Roman" panose="02020603050405020304" pitchFamily="18" charset="0"/>
                <a:cs typeface="Times New Roman" panose="02020603050405020304" pitchFamily="18" charset="0"/>
              </a:rPr>
              <a:t>инфекции</a:t>
            </a:r>
          </a:p>
        </p:txBody>
      </p:sp>
    </p:spTree>
    <p:extLst>
      <p:ext uri="{BB962C8B-B14F-4D97-AF65-F5344CB8AC3E}">
        <p14:creationId xmlns:p14="http://schemas.microsoft.com/office/powerpoint/2010/main" val="27600071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64C10CB-0523-4D29-97F1-9150917F3AA0}"/>
              </a:ext>
            </a:extLst>
          </p:cNvPr>
          <p:cNvSpPr/>
          <p:nvPr/>
        </p:nvSpPr>
        <p:spPr>
          <a:xfrm>
            <a:off x="421580" y="337792"/>
            <a:ext cx="11345792" cy="6001643"/>
          </a:xfrm>
          <a:prstGeom prst="rect">
            <a:avLst/>
          </a:prstGeom>
        </p:spPr>
        <p:txBody>
          <a:bodyPr wrap="square">
            <a:spAutoFit/>
          </a:bodyPr>
          <a:lstStyle/>
          <a:p>
            <a:r>
              <a:rPr lang="ru-RU" sz="2400" b="1" dirty="0">
                <a:latin typeface="Times New Roman" panose="02020603050405020304" pitchFamily="18" charset="0"/>
                <a:cs typeface="Times New Roman" panose="02020603050405020304" pitchFamily="18" charset="0"/>
              </a:rPr>
              <a:t>Эректильная дисфункция</a:t>
            </a:r>
          </a:p>
          <a:p>
            <a:endParaRPr lang="ru-RU" sz="2400" b="1" dirty="0">
              <a:latin typeface="Times New Roman" panose="02020603050405020304" pitchFamily="18" charset="0"/>
              <a:cs typeface="Times New Roman" panose="02020603050405020304" pitchFamily="18" charset="0"/>
            </a:endParaRPr>
          </a:p>
          <a:p>
            <a:r>
              <a:rPr lang="ru-RU" sz="2400" dirty="0">
                <a:latin typeface="Times New Roman" panose="02020603050405020304" pitchFamily="18" charset="0"/>
                <a:cs typeface="Times New Roman" panose="02020603050405020304" pitchFamily="18" charset="0"/>
              </a:rPr>
              <a:t>3. Смешанные причины (25%). Пример, сахарный диабет, патологии при которых нарушается работа надпочечников, андрогенный дефицит</a:t>
            </a:r>
          </a:p>
          <a:p>
            <a:r>
              <a:rPr lang="ru-RU" sz="2400" dirty="0">
                <a:latin typeface="Times New Roman" panose="02020603050405020304" pitchFamily="18" charset="0"/>
                <a:cs typeface="Times New Roman" panose="02020603050405020304" pitchFamily="18" charset="0"/>
              </a:rPr>
              <a:t>4. Невыясненная причина 5%</a:t>
            </a:r>
          </a:p>
          <a:p>
            <a:endParaRPr lang="ru-RU" sz="2400" b="1" dirty="0">
              <a:latin typeface="Times New Roman" panose="02020603050405020304" pitchFamily="18" charset="0"/>
              <a:cs typeface="Times New Roman" panose="02020603050405020304" pitchFamily="18" charset="0"/>
            </a:endParaRPr>
          </a:p>
          <a:p>
            <a:endParaRPr lang="ru-RU" sz="2400" b="1" dirty="0">
              <a:latin typeface="Times New Roman" panose="02020603050405020304" pitchFamily="18" charset="0"/>
              <a:cs typeface="Times New Roman" panose="02020603050405020304" pitchFamily="18" charset="0"/>
            </a:endParaRPr>
          </a:p>
          <a:p>
            <a:r>
              <a:rPr lang="ru-RU" sz="2400" dirty="0">
                <a:latin typeface="Times New Roman" panose="02020603050405020304" pitchFamily="18" charset="0"/>
                <a:cs typeface="Times New Roman" panose="02020603050405020304" pitchFamily="18" charset="0"/>
              </a:rPr>
              <a:t>Эректильная дисфункция часто используется как собирательное название проблем с эрекцией или семяизвержением. Часто под этим понимают:</a:t>
            </a:r>
          </a:p>
          <a:p>
            <a:pPr marL="342900" indent="-342900">
              <a:buFontTx/>
              <a:buChar char="-"/>
            </a:pPr>
            <a:r>
              <a:rPr lang="ru-RU" sz="2400" dirty="0">
                <a:latin typeface="Times New Roman" panose="02020603050405020304" pitchFamily="18" charset="0"/>
                <a:cs typeface="Times New Roman" panose="02020603050405020304" pitchFamily="18" charset="0"/>
              </a:rPr>
              <a:t>Преждевременное семяизвержение</a:t>
            </a:r>
          </a:p>
          <a:p>
            <a:pPr marL="342900" indent="-342900">
              <a:buFontTx/>
              <a:buChar char="-"/>
            </a:pPr>
            <a:r>
              <a:rPr lang="ru-RU" sz="2400" dirty="0">
                <a:latin typeface="Times New Roman" panose="02020603050405020304" pitchFamily="18" charset="0"/>
                <a:cs typeface="Times New Roman" panose="02020603050405020304" pitchFamily="18" charset="0"/>
              </a:rPr>
              <a:t>Слабую эрекцию</a:t>
            </a:r>
          </a:p>
          <a:p>
            <a:pPr marL="342900" indent="-342900">
              <a:buFontTx/>
              <a:buChar char="-"/>
            </a:pPr>
            <a:r>
              <a:rPr lang="ru-RU" sz="2400" dirty="0" err="1">
                <a:latin typeface="Times New Roman" panose="02020603050405020304" pitchFamily="18" charset="0"/>
                <a:cs typeface="Times New Roman" panose="02020603050405020304" pitchFamily="18" charset="0"/>
              </a:rPr>
              <a:t>Анэякуляцию</a:t>
            </a:r>
            <a:r>
              <a:rPr lang="ru-RU" sz="2400" dirty="0">
                <a:latin typeface="Times New Roman" panose="02020603050405020304" pitchFamily="18" charset="0"/>
                <a:cs typeface="Times New Roman" panose="02020603050405020304" pitchFamily="18" charset="0"/>
              </a:rPr>
              <a:t> этот отсутствие семяизвержения в период половой активности, независимо от ее длительности</a:t>
            </a:r>
          </a:p>
          <a:p>
            <a:pPr marL="342900" indent="-342900">
              <a:buFontTx/>
              <a:buChar char="-"/>
            </a:pPr>
            <a:r>
              <a:rPr lang="ru-RU" sz="2400" dirty="0">
                <a:latin typeface="Times New Roman" panose="02020603050405020304" pitchFamily="18" charset="0"/>
                <a:cs typeface="Times New Roman" panose="02020603050405020304" pitchFamily="18" charset="0"/>
              </a:rPr>
              <a:t>Ретроградное семяизвержение означает, что в процессе оргазма сперма не идет в уретру, она идет в мочевой пузырь. Эта проблема требует лечения, в противном случае это грозит бесплодием.</a:t>
            </a:r>
          </a:p>
        </p:txBody>
      </p:sp>
    </p:spTree>
    <p:extLst>
      <p:ext uri="{BB962C8B-B14F-4D97-AF65-F5344CB8AC3E}">
        <p14:creationId xmlns:p14="http://schemas.microsoft.com/office/powerpoint/2010/main" val="21963548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64C10CB-0523-4D29-97F1-9150917F3AA0}"/>
              </a:ext>
            </a:extLst>
          </p:cNvPr>
          <p:cNvSpPr/>
          <p:nvPr/>
        </p:nvSpPr>
        <p:spPr>
          <a:xfrm>
            <a:off x="267033" y="350461"/>
            <a:ext cx="11345792" cy="5016758"/>
          </a:xfrm>
          <a:prstGeom prst="rect">
            <a:avLst/>
          </a:prstGeom>
        </p:spPr>
        <p:txBody>
          <a:bodyPr wrap="square">
            <a:spAutoFit/>
          </a:bodyPr>
          <a:lstStyle/>
          <a:p>
            <a:r>
              <a:rPr lang="ru-RU" sz="3200" b="1" dirty="0">
                <a:latin typeface="Times New Roman" panose="02020603050405020304" pitchFamily="18" charset="0"/>
                <a:cs typeface="Times New Roman" panose="02020603050405020304" pitchFamily="18" charset="0"/>
              </a:rPr>
              <a:t>Мифы о мужской сексуальности, которые часто обуславливают сексуальные дисфункции</a:t>
            </a:r>
          </a:p>
          <a:p>
            <a:endParaRPr lang="ru-RU" sz="3200" b="1" dirty="0">
              <a:latin typeface="Times New Roman" panose="02020603050405020304" pitchFamily="18" charset="0"/>
              <a:cs typeface="Times New Roman" panose="02020603050405020304" pitchFamily="18" charset="0"/>
            </a:endParaRPr>
          </a:p>
          <a:p>
            <a:pPr marL="457200" indent="-457200">
              <a:lnSpc>
                <a:spcPct val="200000"/>
              </a:lnSpc>
              <a:buAutoNum type="arabicPeriod"/>
            </a:pPr>
            <a:r>
              <a:rPr lang="ru-RU" sz="3200" dirty="0">
                <a:latin typeface="Times New Roman" panose="02020603050405020304" pitchFamily="18" charset="0"/>
                <a:cs typeface="Times New Roman" panose="02020603050405020304" pitchFamily="18" charset="0"/>
              </a:rPr>
              <a:t>Мужчина должен всегда быть готов к сексу</a:t>
            </a:r>
          </a:p>
          <a:p>
            <a:pPr marL="457200" indent="-457200">
              <a:buAutoNum type="arabicPeriod"/>
            </a:pPr>
            <a:r>
              <a:rPr lang="ru-RU" sz="3200" dirty="0">
                <a:latin typeface="Times New Roman" panose="02020603050405020304" pitchFamily="18" charset="0"/>
                <a:cs typeface="Times New Roman" panose="02020603050405020304" pitchFamily="18" charset="0"/>
              </a:rPr>
              <a:t>Он должен хотеть секса с любой сексуальной партнершей </a:t>
            </a:r>
          </a:p>
          <a:p>
            <a:pPr marL="457200" indent="-457200">
              <a:buAutoNum type="arabicPeriod"/>
            </a:pPr>
            <a:r>
              <a:rPr lang="ru-RU" sz="3200" dirty="0">
                <a:latin typeface="Times New Roman" panose="02020603050405020304" pitchFamily="18" charset="0"/>
                <a:cs typeface="Times New Roman" panose="02020603050405020304" pitchFamily="18" charset="0"/>
              </a:rPr>
              <a:t>Половой орган должен быть больших размеров</a:t>
            </a:r>
          </a:p>
          <a:p>
            <a:pPr marL="457200" indent="-457200">
              <a:buAutoNum type="arabicPeriod"/>
            </a:pPr>
            <a:r>
              <a:rPr lang="ru-RU" sz="3200" dirty="0">
                <a:latin typeface="Times New Roman" panose="02020603050405020304" pitchFamily="18" charset="0"/>
                <a:cs typeface="Times New Roman" panose="02020603050405020304" pitchFamily="18" charset="0"/>
              </a:rPr>
              <a:t>Мужчины много говорят о сексе, но в терапии они более закрыты. Охотно они говорят только о фантазиях, о проблемах говорить им сложно</a:t>
            </a:r>
          </a:p>
        </p:txBody>
      </p:sp>
    </p:spTree>
    <p:extLst>
      <p:ext uri="{BB962C8B-B14F-4D97-AF65-F5344CB8AC3E}">
        <p14:creationId xmlns:p14="http://schemas.microsoft.com/office/powerpoint/2010/main" val="1507065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751C50C-2807-4ACD-8809-96DC3FCD1781}"/>
              </a:ext>
            </a:extLst>
          </p:cNvPr>
          <p:cNvSpPr>
            <a:spLocks noGrp="1"/>
          </p:cNvSpPr>
          <p:nvPr>
            <p:ph type="ctrTitle"/>
          </p:nvPr>
        </p:nvSpPr>
        <p:spPr>
          <a:xfrm>
            <a:off x="386862" y="298938"/>
            <a:ext cx="11605846" cy="1019908"/>
          </a:xfrm>
        </p:spPr>
        <p:txBody>
          <a:bodyPr anchor="ctr">
            <a:normAutofit/>
          </a:bodyPr>
          <a:lstStyle/>
          <a:p>
            <a:r>
              <a:rPr lang="ru-RU" sz="3200" b="1" dirty="0"/>
              <a:t>Женские сексуальные дисфункции</a:t>
            </a:r>
          </a:p>
        </p:txBody>
      </p:sp>
      <p:sp>
        <p:nvSpPr>
          <p:cNvPr id="8" name="Подзаголовок 7">
            <a:extLst>
              <a:ext uri="{FF2B5EF4-FFF2-40B4-BE49-F238E27FC236}">
                <a16:creationId xmlns:a16="http://schemas.microsoft.com/office/drawing/2014/main" id="{34B8BDAE-AFC7-45F5-9ED9-8D30BF01CB1F}"/>
              </a:ext>
            </a:extLst>
          </p:cNvPr>
          <p:cNvSpPr>
            <a:spLocks noGrp="1"/>
          </p:cNvSpPr>
          <p:nvPr>
            <p:ph type="subTitle" idx="1"/>
          </p:nvPr>
        </p:nvSpPr>
        <p:spPr>
          <a:xfrm>
            <a:off x="263769" y="1094705"/>
            <a:ext cx="11434053" cy="5653826"/>
          </a:xfrm>
        </p:spPr>
        <p:txBody>
          <a:bodyPr anchor="ctr">
            <a:normAutofit/>
          </a:bodyPr>
          <a:lstStyle/>
          <a:p>
            <a:pPr lvl="0">
              <a:spcBef>
                <a:spcPts val="0"/>
              </a:spcBef>
            </a:pPr>
            <a:r>
              <a:rPr lang="ru-RU" b="1" cap="none" dirty="0">
                <a:solidFill>
                  <a:prstClr val="black"/>
                </a:solidFill>
                <a:latin typeface="Times New Roman" panose="02020603050405020304" pitchFamily="18" charset="0"/>
                <a:cs typeface="Times New Roman" panose="02020603050405020304" pitchFamily="18" charset="0"/>
              </a:rPr>
              <a:t>Аноргазмия или </a:t>
            </a:r>
            <a:r>
              <a:rPr lang="ru-RU" b="1" cap="none" dirty="0" err="1">
                <a:solidFill>
                  <a:prstClr val="black"/>
                </a:solidFill>
                <a:latin typeface="Times New Roman" panose="02020603050405020304" pitchFamily="18" charset="0"/>
                <a:cs typeface="Times New Roman" panose="02020603050405020304" pitchFamily="18" charset="0"/>
              </a:rPr>
              <a:t>оргазмические</a:t>
            </a:r>
            <a:r>
              <a:rPr lang="ru-RU" b="1" cap="none" dirty="0">
                <a:solidFill>
                  <a:prstClr val="black"/>
                </a:solidFill>
                <a:latin typeface="Times New Roman" panose="02020603050405020304" pitchFamily="18" charset="0"/>
                <a:cs typeface="Times New Roman" panose="02020603050405020304" pitchFamily="18" charset="0"/>
              </a:rPr>
              <a:t> дисфункции </a:t>
            </a:r>
            <a:r>
              <a:rPr lang="ru-RU" cap="none" dirty="0">
                <a:solidFill>
                  <a:prstClr val="black"/>
                </a:solidFill>
                <a:latin typeface="Times New Roman" panose="02020603050405020304" pitchFamily="18" charset="0"/>
                <a:cs typeface="Times New Roman" panose="02020603050405020304" pitchFamily="18" charset="0"/>
              </a:rPr>
              <a:t>– отсутствие оргазма при достаточной сексуальной стимуляции.</a:t>
            </a:r>
          </a:p>
          <a:p>
            <a:pPr lvl="0">
              <a:spcBef>
                <a:spcPts val="0"/>
              </a:spcBef>
            </a:pPr>
            <a:endParaRPr lang="ru-RU" cap="none" dirty="0">
              <a:solidFill>
                <a:prstClr val="black"/>
              </a:solidFill>
              <a:latin typeface="Times New Roman" panose="02020603050405020304" pitchFamily="18" charset="0"/>
              <a:cs typeface="Times New Roman" panose="02020603050405020304" pitchFamily="18" charset="0"/>
            </a:endParaRPr>
          </a:p>
          <a:p>
            <a:pPr lvl="0">
              <a:spcBef>
                <a:spcPts val="0"/>
              </a:spcBef>
            </a:pPr>
            <a:r>
              <a:rPr lang="ru-RU" cap="none" dirty="0">
                <a:solidFill>
                  <a:prstClr val="black"/>
                </a:solidFill>
                <a:latin typeface="Times New Roman" panose="02020603050405020304" pitchFamily="18" charset="0"/>
                <a:cs typeface="Times New Roman" panose="02020603050405020304" pitchFamily="18" charset="0"/>
              </a:rPr>
              <a:t>Как правило 85% случаев в нашей практике.</a:t>
            </a:r>
          </a:p>
          <a:p>
            <a:pPr lvl="0">
              <a:spcBef>
                <a:spcPts val="0"/>
              </a:spcBef>
            </a:pPr>
            <a:endParaRPr lang="ru-RU" cap="none" dirty="0">
              <a:solidFill>
                <a:prstClr val="black"/>
              </a:solidFill>
              <a:latin typeface="Times New Roman" panose="02020603050405020304" pitchFamily="18" charset="0"/>
              <a:cs typeface="Times New Roman" panose="02020603050405020304" pitchFamily="18" charset="0"/>
            </a:endParaRPr>
          </a:p>
          <a:p>
            <a:pPr lvl="0">
              <a:spcBef>
                <a:spcPts val="0"/>
              </a:spcBef>
            </a:pPr>
            <a:r>
              <a:rPr lang="ru-RU" cap="none" dirty="0">
                <a:solidFill>
                  <a:prstClr val="black"/>
                </a:solidFill>
                <a:latin typeface="Times New Roman" panose="02020603050405020304" pitchFamily="18" charset="0"/>
                <a:cs typeface="Times New Roman" panose="02020603050405020304" pitchFamily="18" charset="0"/>
              </a:rPr>
              <a:t>Проблемы с оргазмом у женщин бывают достаточно часто, это распространенная проблема. Например: женщины говорят, что в сексе испытывают сильные приятные ощущения, но при этом не знают оргазм ли это»</a:t>
            </a:r>
          </a:p>
          <a:p>
            <a:pPr lvl="0">
              <a:spcBef>
                <a:spcPts val="0"/>
              </a:spcBef>
            </a:pPr>
            <a:r>
              <a:rPr lang="ru-RU" cap="none" dirty="0">
                <a:solidFill>
                  <a:prstClr val="black"/>
                </a:solidFill>
                <a:latin typeface="Times New Roman" panose="02020603050405020304" pitchFamily="18" charset="0"/>
                <a:cs typeface="Times New Roman" panose="02020603050405020304" pitchFamily="18" charset="0"/>
              </a:rPr>
              <a:t>По приблизительным данным в соитии </a:t>
            </a:r>
            <a:r>
              <a:rPr lang="ru-RU" cap="none" dirty="0" err="1">
                <a:solidFill>
                  <a:prstClr val="black"/>
                </a:solidFill>
                <a:latin typeface="Times New Roman" panose="02020603050405020304" pitchFamily="18" charset="0"/>
                <a:cs typeface="Times New Roman" panose="02020603050405020304" pitchFamily="18" charset="0"/>
              </a:rPr>
              <a:t>коитальный</a:t>
            </a:r>
            <a:r>
              <a:rPr lang="ru-RU" cap="none" dirty="0">
                <a:solidFill>
                  <a:prstClr val="black"/>
                </a:solidFill>
                <a:latin typeface="Times New Roman" panose="02020603050405020304" pitchFamily="18" charset="0"/>
                <a:cs typeface="Times New Roman" panose="02020603050405020304" pitchFamily="18" charset="0"/>
              </a:rPr>
              <a:t> (вагинальный) оргазм достигает только 20-30 % женщин, еще 30-40% женщин испытывают </a:t>
            </a:r>
            <a:r>
              <a:rPr lang="ru-RU" cap="none" dirty="0" err="1">
                <a:solidFill>
                  <a:prstClr val="black"/>
                </a:solidFill>
                <a:latin typeface="Times New Roman" panose="02020603050405020304" pitchFamily="18" charset="0"/>
                <a:cs typeface="Times New Roman" panose="02020603050405020304" pitchFamily="18" charset="0"/>
              </a:rPr>
              <a:t>клитеральный</a:t>
            </a:r>
            <a:r>
              <a:rPr lang="ru-RU" cap="none" dirty="0">
                <a:solidFill>
                  <a:prstClr val="black"/>
                </a:solidFill>
                <a:latin typeface="Times New Roman" panose="02020603050405020304" pitchFamily="18" charset="0"/>
                <a:cs typeface="Times New Roman" panose="02020603050405020304" pitchFamily="18" charset="0"/>
              </a:rPr>
              <a:t> оргазм от партнера в </a:t>
            </a:r>
            <a:r>
              <a:rPr lang="ru-RU" cap="none" dirty="0" err="1">
                <a:solidFill>
                  <a:prstClr val="black"/>
                </a:solidFill>
                <a:latin typeface="Times New Roman" panose="02020603050405020304" pitchFamily="18" charset="0"/>
                <a:cs typeface="Times New Roman" panose="02020603050405020304" pitchFamily="18" charset="0"/>
              </a:rPr>
              <a:t>петтинге</a:t>
            </a:r>
            <a:r>
              <a:rPr lang="ru-RU" cap="none" dirty="0">
                <a:solidFill>
                  <a:prstClr val="black"/>
                </a:solidFill>
                <a:latin typeface="Times New Roman" panose="02020603050405020304" pitchFamily="18" charset="0"/>
                <a:cs typeface="Times New Roman" panose="02020603050405020304" pitchFamily="18" charset="0"/>
              </a:rPr>
              <a:t> и 30-40% не получает оргазма от партнера. Из них большая часть способны получить оргазм при мастурбации, 5-10% вообще никогда не сталкивались с оргазмом.</a:t>
            </a:r>
          </a:p>
          <a:p>
            <a:pPr lvl="0">
              <a:spcBef>
                <a:spcPts val="0"/>
              </a:spcBef>
            </a:pPr>
            <a:endParaRPr lang="ru-RU" cap="none" dirty="0">
              <a:solidFill>
                <a:prstClr val="black"/>
              </a:solidFill>
              <a:latin typeface="Times New Roman" panose="02020603050405020304" pitchFamily="18" charset="0"/>
              <a:cs typeface="Times New Roman" panose="02020603050405020304" pitchFamily="18" charset="0"/>
            </a:endParaRPr>
          </a:p>
          <a:p>
            <a:pPr lvl="0">
              <a:spcBef>
                <a:spcPts val="0"/>
              </a:spcBef>
            </a:pPr>
            <a:r>
              <a:rPr lang="ru-RU" cap="none" dirty="0">
                <a:solidFill>
                  <a:prstClr val="black"/>
                </a:solidFill>
                <a:latin typeface="Times New Roman" panose="02020603050405020304" pitchFamily="18" charset="0"/>
                <a:cs typeface="Times New Roman" panose="02020603050405020304" pitchFamily="18" charset="0"/>
              </a:rPr>
              <a:t>Аноргазмию делят на первичную и вторичную.</a:t>
            </a:r>
            <a:endParaRPr lang="ru-RU" dirty="0"/>
          </a:p>
        </p:txBody>
      </p:sp>
    </p:spTree>
    <p:extLst>
      <p:ext uri="{BB962C8B-B14F-4D97-AF65-F5344CB8AC3E}">
        <p14:creationId xmlns:p14="http://schemas.microsoft.com/office/powerpoint/2010/main" val="3017661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751C50C-2807-4ACD-8809-96DC3FCD1781}"/>
              </a:ext>
            </a:extLst>
          </p:cNvPr>
          <p:cNvSpPr>
            <a:spLocks noGrp="1"/>
          </p:cNvSpPr>
          <p:nvPr>
            <p:ph type="ctrTitle"/>
          </p:nvPr>
        </p:nvSpPr>
        <p:spPr>
          <a:xfrm>
            <a:off x="386862" y="298938"/>
            <a:ext cx="11605846" cy="1019908"/>
          </a:xfrm>
        </p:spPr>
        <p:txBody>
          <a:bodyPr anchor="ctr">
            <a:normAutofit/>
          </a:bodyPr>
          <a:lstStyle/>
          <a:p>
            <a:r>
              <a:rPr lang="ru-RU" sz="3200" b="1" dirty="0"/>
              <a:t>Женские сексуальные дисфункции</a:t>
            </a:r>
          </a:p>
        </p:txBody>
      </p:sp>
      <p:sp>
        <p:nvSpPr>
          <p:cNvPr id="8" name="Подзаголовок 7">
            <a:extLst>
              <a:ext uri="{FF2B5EF4-FFF2-40B4-BE49-F238E27FC236}">
                <a16:creationId xmlns:a16="http://schemas.microsoft.com/office/drawing/2014/main" id="{34B8BDAE-AFC7-45F5-9ED9-8D30BF01CB1F}"/>
              </a:ext>
            </a:extLst>
          </p:cNvPr>
          <p:cNvSpPr>
            <a:spLocks noGrp="1"/>
          </p:cNvSpPr>
          <p:nvPr>
            <p:ph type="subTitle" idx="1"/>
          </p:nvPr>
        </p:nvSpPr>
        <p:spPr>
          <a:xfrm>
            <a:off x="263769" y="1094705"/>
            <a:ext cx="11434053" cy="5653826"/>
          </a:xfrm>
        </p:spPr>
        <p:txBody>
          <a:bodyPr anchor="ctr">
            <a:normAutofit/>
          </a:bodyPr>
          <a:lstStyle/>
          <a:p>
            <a:pPr lvl="0">
              <a:spcBef>
                <a:spcPts val="0"/>
              </a:spcBef>
            </a:pPr>
            <a:r>
              <a:rPr lang="ru-RU" sz="2800" b="1" cap="none" dirty="0">
                <a:solidFill>
                  <a:prstClr val="black"/>
                </a:solidFill>
                <a:latin typeface="Times New Roman" panose="02020603050405020304" pitchFamily="18" charset="0"/>
                <a:cs typeface="Times New Roman" panose="02020603050405020304" pitchFamily="18" charset="0"/>
              </a:rPr>
              <a:t>Абсолютная аноргазмия. </a:t>
            </a:r>
            <a:r>
              <a:rPr lang="ru-RU" sz="2800" cap="none" dirty="0">
                <a:solidFill>
                  <a:prstClr val="black"/>
                </a:solidFill>
                <a:latin typeface="Times New Roman" panose="02020603050405020304" pitchFamily="18" charset="0"/>
                <a:cs typeface="Times New Roman" panose="02020603050405020304" pitchFamily="18" charset="0"/>
              </a:rPr>
              <a:t>Женщина никогда не переживала оргазм, ее тело не знает что такое </a:t>
            </a:r>
            <a:r>
              <a:rPr lang="ru-RU" sz="2800" cap="none" dirty="0" err="1">
                <a:solidFill>
                  <a:prstClr val="black"/>
                </a:solidFill>
                <a:latin typeface="Times New Roman" panose="02020603050405020304" pitchFamily="18" charset="0"/>
                <a:cs typeface="Times New Roman" panose="02020603050405020304" pitchFamily="18" charset="0"/>
              </a:rPr>
              <a:t>оргазмический</a:t>
            </a:r>
            <a:r>
              <a:rPr lang="ru-RU" sz="2800" cap="none" dirty="0">
                <a:solidFill>
                  <a:prstClr val="black"/>
                </a:solidFill>
                <a:latin typeface="Times New Roman" panose="02020603050405020304" pitchFamily="18" charset="0"/>
                <a:cs typeface="Times New Roman" panose="02020603050405020304" pitchFamily="18" charset="0"/>
              </a:rPr>
              <a:t> опыт, </a:t>
            </a:r>
            <a:r>
              <a:rPr lang="ru-RU" sz="2800" cap="none" dirty="0" err="1">
                <a:solidFill>
                  <a:prstClr val="black"/>
                </a:solidFill>
                <a:latin typeface="Times New Roman" panose="02020603050405020304" pitchFamily="18" charset="0"/>
                <a:cs typeface="Times New Roman" panose="02020603050405020304" pitchFamily="18" charset="0"/>
              </a:rPr>
              <a:t>оргазмический</a:t>
            </a:r>
            <a:r>
              <a:rPr lang="ru-RU" sz="2800" cap="none" dirty="0">
                <a:solidFill>
                  <a:prstClr val="black"/>
                </a:solidFill>
                <a:latin typeface="Times New Roman" panose="02020603050405020304" pitchFamily="18" charset="0"/>
                <a:cs typeface="Times New Roman" panose="02020603050405020304" pitchFamily="18" charset="0"/>
              </a:rPr>
              <a:t> рефлекс у нее не сформирован.</a:t>
            </a:r>
          </a:p>
          <a:p>
            <a:pPr lvl="0">
              <a:spcBef>
                <a:spcPts val="0"/>
              </a:spcBef>
            </a:pPr>
            <a:r>
              <a:rPr lang="ru-RU" sz="2800" b="1" cap="none" dirty="0" err="1">
                <a:solidFill>
                  <a:prstClr val="black"/>
                </a:solidFill>
                <a:latin typeface="Times New Roman" panose="02020603050405020304" pitchFamily="18" charset="0"/>
                <a:cs typeface="Times New Roman" panose="02020603050405020304" pitchFamily="18" charset="0"/>
              </a:rPr>
              <a:t>Коитальная</a:t>
            </a:r>
            <a:r>
              <a:rPr lang="ru-RU" sz="2800" b="1" cap="none" dirty="0">
                <a:solidFill>
                  <a:prstClr val="black"/>
                </a:solidFill>
                <a:latin typeface="Times New Roman" panose="02020603050405020304" pitchFamily="18" charset="0"/>
                <a:cs typeface="Times New Roman" panose="02020603050405020304" pitchFamily="18" charset="0"/>
              </a:rPr>
              <a:t> аноргазмия:</a:t>
            </a:r>
          </a:p>
          <a:p>
            <a:pPr marL="342900" lvl="0" indent="-342900">
              <a:spcBef>
                <a:spcPts val="0"/>
              </a:spcBef>
              <a:buFontTx/>
              <a:buChar char="-"/>
            </a:pPr>
            <a:r>
              <a:rPr lang="ru-RU" sz="2800" cap="none" dirty="0">
                <a:solidFill>
                  <a:prstClr val="black"/>
                </a:solidFill>
                <a:latin typeface="Times New Roman" panose="02020603050405020304" pitchFamily="18" charset="0"/>
                <a:cs typeface="Times New Roman" panose="02020603050405020304" pitchFamily="18" charset="0"/>
              </a:rPr>
              <a:t>Оргазм возможен только, как ночной или дневной спонтанный оргазм, но не достижим произвольно</a:t>
            </a:r>
          </a:p>
          <a:p>
            <a:pPr marL="342900" lvl="0" indent="-342900">
              <a:spcBef>
                <a:spcPts val="0"/>
              </a:spcBef>
              <a:buFontTx/>
              <a:buChar char="-"/>
            </a:pPr>
            <a:r>
              <a:rPr lang="ru-RU" sz="2800" cap="none" dirty="0">
                <a:solidFill>
                  <a:prstClr val="black"/>
                </a:solidFill>
                <a:latin typeface="Times New Roman" panose="02020603050405020304" pitchFamily="18" charset="0"/>
                <a:cs typeface="Times New Roman" panose="02020603050405020304" pitchFamily="18" charset="0"/>
              </a:rPr>
              <a:t>Оргазм возможен только при мастурбации, но достижим при партнере. Возможна речь о </a:t>
            </a:r>
            <a:r>
              <a:rPr lang="ru-RU" sz="2800" cap="none" dirty="0" err="1">
                <a:solidFill>
                  <a:prstClr val="black"/>
                </a:solidFill>
                <a:latin typeface="Times New Roman" panose="02020603050405020304" pitchFamily="18" charset="0"/>
                <a:cs typeface="Times New Roman" panose="02020603050405020304" pitchFamily="18" charset="0"/>
              </a:rPr>
              <a:t>дезадаптивных</a:t>
            </a:r>
            <a:r>
              <a:rPr lang="ru-RU" sz="2800" cap="none" dirty="0">
                <a:solidFill>
                  <a:prstClr val="black"/>
                </a:solidFill>
                <a:latin typeface="Times New Roman" panose="02020603050405020304" pitchFamily="18" charset="0"/>
                <a:cs typeface="Times New Roman" panose="02020603050405020304" pitchFamily="18" charset="0"/>
              </a:rPr>
              <a:t> способах мастурбации</a:t>
            </a:r>
          </a:p>
          <a:p>
            <a:pPr marL="342900" lvl="0" indent="-342900">
              <a:spcBef>
                <a:spcPts val="0"/>
              </a:spcBef>
              <a:buFontTx/>
              <a:buChar char="-"/>
            </a:pPr>
            <a:r>
              <a:rPr lang="ru-RU" sz="2800" cap="none" dirty="0">
                <a:solidFill>
                  <a:prstClr val="black"/>
                </a:solidFill>
                <a:latin typeface="Times New Roman" panose="02020603050405020304" pitchFamily="18" charset="0"/>
                <a:cs typeface="Times New Roman" panose="02020603050405020304" pitchFamily="18" charset="0"/>
              </a:rPr>
              <a:t>Оргазм возможен только при </a:t>
            </a:r>
            <a:r>
              <a:rPr lang="ru-RU" sz="2800" cap="none" dirty="0" err="1">
                <a:solidFill>
                  <a:prstClr val="black"/>
                </a:solidFill>
                <a:latin typeface="Times New Roman" panose="02020603050405020304" pitchFamily="18" charset="0"/>
                <a:cs typeface="Times New Roman" panose="02020603050405020304" pitchFamily="18" charset="0"/>
              </a:rPr>
              <a:t>петтинге</a:t>
            </a:r>
            <a:r>
              <a:rPr lang="ru-RU" sz="2800" cap="none" dirty="0">
                <a:solidFill>
                  <a:prstClr val="black"/>
                </a:solidFill>
                <a:latin typeface="Times New Roman" panose="02020603050405020304" pitchFamily="18" charset="0"/>
                <a:cs typeface="Times New Roman" panose="02020603050405020304" pitchFamily="18" charset="0"/>
              </a:rPr>
              <a:t> (</a:t>
            </a:r>
            <a:r>
              <a:rPr lang="ru-RU" sz="2800" cap="none" dirty="0" err="1">
                <a:solidFill>
                  <a:prstClr val="black"/>
                </a:solidFill>
                <a:latin typeface="Times New Roman" panose="02020603050405020304" pitchFamily="18" charset="0"/>
                <a:cs typeface="Times New Roman" panose="02020603050405020304" pitchFamily="18" charset="0"/>
              </a:rPr>
              <a:t>клитеральная</a:t>
            </a:r>
            <a:r>
              <a:rPr lang="ru-RU" sz="2800" cap="none" dirty="0">
                <a:solidFill>
                  <a:prstClr val="black"/>
                </a:solidFill>
                <a:latin typeface="Times New Roman" panose="02020603050405020304" pitchFamily="18" charset="0"/>
                <a:cs typeface="Times New Roman" panose="02020603050405020304" pitchFamily="18" charset="0"/>
              </a:rPr>
              <a:t> стимуляция партнером), но не возможен в сношении. Это вариант нормы</a:t>
            </a:r>
          </a:p>
          <a:p>
            <a:pPr lvl="0">
              <a:spcBef>
                <a:spcPts val="0"/>
              </a:spcBef>
            </a:pPr>
            <a:r>
              <a:rPr lang="ru-RU" sz="2800" b="1" cap="none" dirty="0" err="1">
                <a:solidFill>
                  <a:prstClr val="black"/>
                </a:solidFill>
                <a:latin typeface="Times New Roman" panose="02020603050405020304" pitchFamily="18" charset="0"/>
                <a:cs typeface="Times New Roman" panose="02020603050405020304" pitchFamily="18" charset="0"/>
              </a:rPr>
              <a:t>Паркоитальные</a:t>
            </a:r>
            <a:r>
              <a:rPr lang="ru-RU" sz="2800" b="1" cap="none" dirty="0">
                <a:solidFill>
                  <a:prstClr val="black"/>
                </a:solidFill>
                <a:latin typeface="Times New Roman" panose="02020603050405020304" pitchFamily="18" charset="0"/>
                <a:cs typeface="Times New Roman" panose="02020603050405020304" pitchFamily="18" charset="0"/>
              </a:rPr>
              <a:t> варианты достижения оргазма. </a:t>
            </a:r>
            <a:r>
              <a:rPr lang="ru-RU" sz="2800" cap="none" dirty="0">
                <a:solidFill>
                  <a:prstClr val="black"/>
                </a:solidFill>
                <a:latin typeface="Times New Roman" panose="02020603050405020304" pitchFamily="18" charset="0"/>
                <a:cs typeface="Times New Roman" panose="02020603050405020304" pitchFamily="18" charset="0"/>
              </a:rPr>
              <a:t>Оргазм достигается во время па, но не за счет </a:t>
            </a:r>
            <a:r>
              <a:rPr lang="ru-RU" sz="2800" cap="none" dirty="0" err="1">
                <a:solidFill>
                  <a:prstClr val="black"/>
                </a:solidFill>
                <a:latin typeface="Times New Roman" panose="02020603050405020304" pitchFamily="18" charset="0"/>
                <a:cs typeface="Times New Roman" panose="02020603050405020304" pitchFamily="18" charset="0"/>
              </a:rPr>
              <a:t>фрикций</a:t>
            </a:r>
            <a:r>
              <a:rPr lang="ru-RU" sz="2800" cap="none" dirty="0">
                <a:solidFill>
                  <a:prstClr val="black"/>
                </a:solidFill>
                <a:latin typeface="Times New Roman" panose="02020603050405020304" pitchFamily="18" charset="0"/>
                <a:cs typeface="Times New Roman" panose="02020603050405020304" pitchFamily="18" charset="0"/>
              </a:rPr>
              <a:t>, а за счет неких дополнительных усилий. Например, </a:t>
            </a:r>
            <a:r>
              <a:rPr lang="ru-RU" sz="2800" cap="none" dirty="0" err="1">
                <a:solidFill>
                  <a:prstClr val="black"/>
                </a:solidFill>
                <a:latin typeface="Times New Roman" panose="02020603050405020304" pitchFamily="18" charset="0"/>
                <a:cs typeface="Times New Roman" panose="02020603050405020304" pitchFamily="18" charset="0"/>
              </a:rPr>
              <a:t>миотонической</a:t>
            </a:r>
            <a:r>
              <a:rPr lang="ru-RU" sz="2800" cap="none" dirty="0">
                <a:solidFill>
                  <a:prstClr val="black"/>
                </a:solidFill>
                <a:latin typeface="Times New Roman" panose="02020603050405020304" pitchFamily="18" charset="0"/>
                <a:cs typeface="Times New Roman" panose="02020603050405020304" pitchFamily="18" charset="0"/>
              </a:rPr>
              <a:t> стимуляции.</a:t>
            </a:r>
          </a:p>
        </p:txBody>
      </p:sp>
    </p:spTree>
    <p:extLst>
      <p:ext uri="{BB962C8B-B14F-4D97-AF65-F5344CB8AC3E}">
        <p14:creationId xmlns:p14="http://schemas.microsoft.com/office/powerpoint/2010/main" val="829804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751C50C-2807-4ACD-8809-96DC3FCD1781}"/>
              </a:ext>
            </a:extLst>
          </p:cNvPr>
          <p:cNvSpPr>
            <a:spLocks noGrp="1"/>
          </p:cNvSpPr>
          <p:nvPr>
            <p:ph type="ctrTitle"/>
          </p:nvPr>
        </p:nvSpPr>
        <p:spPr>
          <a:xfrm>
            <a:off x="386862" y="298938"/>
            <a:ext cx="11605846" cy="1019908"/>
          </a:xfrm>
        </p:spPr>
        <p:txBody>
          <a:bodyPr anchor="ctr">
            <a:normAutofit/>
          </a:bodyPr>
          <a:lstStyle/>
          <a:p>
            <a:r>
              <a:rPr lang="ru-RU" sz="3200" b="1" dirty="0" err="1"/>
              <a:t>Диспареуния</a:t>
            </a:r>
          </a:p>
        </p:txBody>
      </p:sp>
      <p:sp>
        <p:nvSpPr>
          <p:cNvPr id="8" name="Подзаголовок 7">
            <a:extLst>
              <a:ext uri="{FF2B5EF4-FFF2-40B4-BE49-F238E27FC236}">
                <a16:creationId xmlns:a16="http://schemas.microsoft.com/office/drawing/2014/main" id="{34B8BDAE-AFC7-45F5-9ED9-8D30BF01CB1F}"/>
              </a:ext>
            </a:extLst>
          </p:cNvPr>
          <p:cNvSpPr>
            <a:spLocks noGrp="1"/>
          </p:cNvSpPr>
          <p:nvPr>
            <p:ph type="subTitle" idx="1"/>
          </p:nvPr>
        </p:nvSpPr>
        <p:spPr>
          <a:xfrm>
            <a:off x="193431" y="1469843"/>
            <a:ext cx="11434053" cy="5114565"/>
          </a:xfrm>
        </p:spPr>
        <p:txBody>
          <a:bodyPr anchor="ctr">
            <a:normAutofit/>
          </a:bodyPr>
          <a:lstStyle/>
          <a:p>
            <a:pPr>
              <a:spcBef>
                <a:spcPts val="0"/>
              </a:spcBef>
            </a:pPr>
            <a:r>
              <a:rPr lang="ru-RU" sz="2800" cap="none" dirty="0">
                <a:latin typeface="Times New Roman"/>
                <a:cs typeface="Times New Roman"/>
              </a:rPr>
              <a:t>Диспареуния -боли связанные с половым актом или болезненный половой акт. Как стержневой синдром диспареуния в нашей практике составляет примерно 3%, в среднем около 10 женщин в год.</a:t>
            </a:r>
          </a:p>
          <a:p>
            <a:pPr>
              <a:spcBef>
                <a:spcPts val="0"/>
              </a:spcBef>
            </a:pPr>
            <a:endParaRPr lang="ru-RU" sz="2800" cap="none" dirty="0">
              <a:latin typeface="Times New Roman" panose="02020603050405020304" pitchFamily="18" charset="0"/>
              <a:cs typeface="Times New Roman" panose="02020603050405020304" pitchFamily="18" charset="0"/>
            </a:endParaRPr>
          </a:p>
          <a:p>
            <a:pPr>
              <a:spcBef>
                <a:spcPts val="0"/>
              </a:spcBef>
            </a:pPr>
            <a:r>
              <a:rPr lang="ru-RU" sz="2800" cap="none" dirty="0">
                <a:latin typeface="Times New Roman"/>
                <a:cs typeface="Times New Roman"/>
              </a:rPr>
              <a:t>В действительности </a:t>
            </a:r>
            <a:r>
              <a:rPr lang="ru-RU" sz="2800" cap="none" dirty="0" err="1">
                <a:latin typeface="Times New Roman"/>
                <a:cs typeface="Times New Roman"/>
              </a:rPr>
              <a:t>диспареуния</a:t>
            </a:r>
            <a:r>
              <a:rPr lang="ru-RU" sz="2800" cap="none" dirty="0">
                <a:latin typeface="Times New Roman"/>
                <a:cs typeface="Times New Roman"/>
              </a:rPr>
              <a:t> распространена в гораздо большей степени. Но она нередко воспринимается женщинами, как результат гинекологических заболеваний. И хоте </a:t>
            </a:r>
            <a:r>
              <a:rPr lang="ru-RU" sz="2800" cap="none" dirty="0" err="1">
                <a:latin typeface="Times New Roman"/>
                <a:cs typeface="Times New Roman"/>
              </a:rPr>
              <a:t>диспареуния</a:t>
            </a:r>
            <a:r>
              <a:rPr lang="ru-RU" sz="2800" cap="none" dirty="0">
                <a:latin typeface="Times New Roman"/>
                <a:cs typeface="Times New Roman"/>
              </a:rPr>
              <a:t> нередко имеет психогенные механизмы, они все же первично обращаются именно к гинекологам или к тем сексологам, которые специализируются на решении именно этих проблем.</a:t>
            </a:r>
            <a:endParaRPr lang="ru-RU" sz="2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82041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751C50C-2807-4ACD-8809-96DC3FCD1781}"/>
              </a:ext>
            </a:extLst>
          </p:cNvPr>
          <p:cNvSpPr>
            <a:spLocks noGrp="1"/>
          </p:cNvSpPr>
          <p:nvPr>
            <p:ph type="ctrTitle"/>
          </p:nvPr>
        </p:nvSpPr>
        <p:spPr>
          <a:xfrm>
            <a:off x="386862" y="298938"/>
            <a:ext cx="11605846" cy="1019908"/>
          </a:xfrm>
        </p:spPr>
        <p:txBody>
          <a:bodyPr anchor="ctr">
            <a:normAutofit/>
          </a:bodyPr>
          <a:lstStyle/>
          <a:p>
            <a:r>
              <a:rPr lang="ru-RU" sz="3200" b="1" dirty="0"/>
              <a:t>Вагинизм</a:t>
            </a:r>
          </a:p>
        </p:txBody>
      </p:sp>
      <p:sp>
        <p:nvSpPr>
          <p:cNvPr id="8" name="Подзаголовок 7">
            <a:extLst>
              <a:ext uri="{FF2B5EF4-FFF2-40B4-BE49-F238E27FC236}">
                <a16:creationId xmlns:a16="http://schemas.microsoft.com/office/drawing/2014/main" id="{34B8BDAE-AFC7-45F5-9ED9-8D30BF01CB1F}"/>
              </a:ext>
            </a:extLst>
          </p:cNvPr>
          <p:cNvSpPr>
            <a:spLocks noGrp="1"/>
          </p:cNvSpPr>
          <p:nvPr>
            <p:ph type="subTitle" idx="1"/>
          </p:nvPr>
        </p:nvSpPr>
        <p:spPr>
          <a:xfrm>
            <a:off x="193431" y="1469843"/>
            <a:ext cx="11434053" cy="5114565"/>
          </a:xfrm>
        </p:spPr>
        <p:txBody>
          <a:bodyPr anchor="ctr">
            <a:normAutofit/>
          </a:bodyPr>
          <a:lstStyle/>
          <a:p>
            <a:pPr>
              <a:spcBef>
                <a:spcPts val="0"/>
              </a:spcBef>
            </a:pPr>
            <a:r>
              <a:rPr lang="ru-RU" sz="2800" cap="none" dirty="0">
                <a:latin typeface="Times New Roman"/>
                <a:cs typeface="Times New Roman"/>
              </a:rPr>
              <a:t>Невозможность проведения полового акта из за болей, панического страха, сжатия мышц влагалища и сведения бедер.</a:t>
            </a:r>
          </a:p>
          <a:p>
            <a:pPr>
              <a:spcBef>
                <a:spcPts val="0"/>
              </a:spcBef>
            </a:pPr>
            <a:endParaRPr lang="ru-RU" sz="2800" cap="none" dirty="0">
              <a:latin typeface="Times New Roman" panose="02020603050405020304" pitchFamily="18" charset="0"/>
              <a:cs typeface="Times New Roman" panose="02020603050405020304" pitchFamily="18" charset="0"/>
            </a:endParaRPr>
          </a:p>
          <a:p>
            <a:pPr>
              <a:spcBef>
                <a:spcPts val="0"/>
              </a:spcBef>
            </a:pPr>
            <a:r>
              <a:rPr lang="ru-RU" sz="2800" cap="none" dirty="0">
                <a:latin typeface="Times New Roman"/>
                <a:cs typeface="Times New Roman"/>
              </a:rPr>
              <a:t>Причины - психологические.</a:t>
            </a:r>
          </a:p>
          <a:p>
            <a:pPr>
              <a:spcBef>
                <a:spcPts val="0"/>
              </a:spcBef>
            </a:pPr>
            <a:r>
              <a:rPr lang="ru-RU" sz="2800" cap="none" dirty="0">
                <a:latin typeface="Times New Roman"/>
                <a:cs typeface="Times New Roman"/>
              </a:rPr>
              <a:t>Выделяют </a:t>
            </a:r>
            <a:r>
              <a:rPr lang="ru-RU" sz="2800" cap="none" dirty="0" err="1">
                <a:latin typeface="Times New Roman"/>
                <a:cs typeface="Times New Roman"/>
              </a:rPr>
              <a:t>фобические</a:t>
            </a:r>
            <a:r>
              <a:rPr lang="ru-RU" sz="2800" cap="none" dirty="0">
                <a:latin typeface="Times New Roman"/>
                <a:cs typeface="Times New Roman"/>
              </a:rPr>
              <a:t> формы вагинизма.</a:t>
            </a:r>
            <a:endParaRPr lang="ru-RU" sz="2800" cap="none" dirty="0">
              <a:latin typeface="Times New Roman" panose="02020603050405020304" pitchFamily="18" charset="0"/>
              <a:cs typeface="Times New Roman" panose="02020603050405020304" pitchFamily="18" charset="0"/>
            </a:endParaRPr>
          </a:p>
          <a:p>
            <a:pPr>
              <a:spcBef>
                <a:spcPts val="0"/>
              </a:spcBef>
            </a:pPr>
            <a:endParaRPr lang="ru-RU" sz="2800" cap="none" dirty="0">
              <a:latin typeface="Times New Roman" panose="02020603050405020304" pitchFamily="18" charset="0"/>
              <a:cs typeface="Times New Roman" panose="02020603050405020304" pitchFamily="18" charset="0"/>
            </a:endParaRPr>
          </a:p>
          <a:p>
            <a:pPr>
              <a:spcBef>
                <a:spcPts val="0"/>
              </a:spcBef>
            </a:pPr>
            <a:r>
              <a:rPr lang="ru-RU" sz="2800" cap="none" dirty="0">
                <a:latin typeface="Times New Roman"/>
                <a:cs typeface="Times New Roman"/>
              </a:rPr>
              <a:t>Лечение вагинизма - психотерапия и </a:t>
            </a:r>
            <a:r>
              <a:rPr lang="ru-RU" sz="2800" cap="none" dirty="0" err="1">
                <a:latin typeface="Times New Roman"/>
                <a:cs typeface="Times New Roman"/>
              </a:rPr>
              <a:t>сексотерапия</a:t>
            </a:r>
            <a:r>
              <a:rPr lang="ru-RU" sz="2800" cap="none" dirty="0">
                <a:latin typeface="Times New Roman"/>
                <a:cs typeface="Times New Roman"/>
              </a:rPr>
              <a:t>. </a:t>
            </a:r>
            <a:r>
              <a:rPr lang="ru-RU" sz="2800" cap="none" dirty="0" err="1">
                <a:latin typeface="Times New Roman"/>
                <a:cs typeface="Times New Roman"/>
              </a:rPr>
              <a:t>Фобические</a:t>
            </a:r>
            <a:r>
              <a:rPr lang="ru-RU" sz="2800" cap="none" dirty="0">
                <a:latin typeface="Times New Roman"/>
                <a:cs typeface="Times New Roman"/>
              </a:rPr>
              <a:t> формы лечатся практически всегда</a:t>
            </a:r>
            <a:endParaRPr lang="ru-RU" sz="28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705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E62A39C-ECA9-1429-F1F6-24E2D6EA0D48}"/>
              </a:ext>
            </a:extLst>
          </p:cNvPr>
          <p:cNvSpPr>
            <a:spLocks noGrp="1"/>
          </p:cNvSpPr>
          <p:nvPr>
            <p:ph idx="1"/>
          </p:nvPr>
        </p:nvSpPr>
        <p:spPr>
          <a:xfrm>
            <a:off x="143436" y="259976"/>
            <a:ext cx="11600329" cy="6598024"/>
          </a:xfrm>
        </p:spPr>
        <p:txBody>
          <a:bodyPr>
            <a:noAutofit/>
          </a:bodyPr>
          <a:lstStyle/>
          <a:p>
            <a:pPr marL="0" indent="0" defTabSz="457200">
              <a:lnSpc>
                <a:spcPts val="2600"/>
              </a:lnSpc>
              <a:spcBef>
                <a:spcPts val="0"/>
              </a:spcBef>
              <a:buSzTx/>
              <a:buFontTx/>
              <a:buNone/>
              <a:defRPr sz="1300">
                <a:solidFill>
                  <a:srgbClr val="222222"/>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«Среди супружеских пар, обращающихся к сексологам, </a:t>
            </a:r>
            <a:r>
              <a:rPr lang="ru-RU" sz="2400" b="1" dirty="0">
                <a:latin typeface="Times New Roman" panose="02020603050405020304" pitchFamily="18" charset="0"/>
                <a:cs typeface="Times New Roman" panose="02020603050405020304" pitchFamily="18" charset="0"/>
              </a:rPr>
              <a:t>жалобы на отсутствие сексуального влечения встречаются наиболее часто</a:t>
            </a:r>
            <a:r>
              <a:rPr lang="ru-RU" sz="2400" dirty="0">
                <a:latin typeface="Times New Roman" panose="02020603050405020304" pitchFamily="18" charset="0"/>
                <a:cs typeface="Times New Roman" panose="02020603050405020304" pitchFamily="18" charset="0"/>
              </a:rPr>
              <a:t>, причем у женщин это расстройство встречается чаще, чем у мужчин</a:t>
            </a:r>
          </a:p>
          <a:p>
            <a:pPr marL="0" indent="0" defTabSz="457200">
              <a:lnSpc>
                <a:spcPts val="2600"/>
              </a:lnSpc>
              <a:spcBef>
                <a:spcPts val="0"/>
              </a:spcBef>
              <a:buSzTx/>
              <a:buFontTx/>
              <a:buNone/>
              <a:defRPr sz="1300">
                <a:solidFill>
                  <a:srgbClr val="222222"/>
                </a:solidFill>
                <a:latin typeface="Arial"/>
                <a:ea typeface="Arial"/>
                <a:cs typeface="Arial"/>
                <a:sym typeface="Arial"/>
              </a:defRPr>
            </a:pPr>
            <a:endParaRPr lang="ru-RU" sz="2400" dirty="0">
              <a:latin typeface="Times New Roman" panose="02020603050405020304" pitchFamily="18" charset="0"/>
              <a:cs typeface="Times New Roman" panose="02020603050405020304" pitchFamily="18" charset="0"/>
            </a:endParaRPr>
          </a:p>
          <a:p>
            <a:pPr marL="0" indent="0" defTabSz="457200">
              <a:lnSpc>
                <a:spcPts val="2600"/>
              </a:lnSpc>
              <a:spcBef>
                <a:spcPts val="0"/>
              </a:spcBef>
              <a:buSzTx/>
              <a:buFontTx/>
              <a:buNone/>
              <a:defRPr sz="1300">
                <a:solidFill>
                  <a:srgbClr val="222222"/>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Расстройства сексуального влечения американские психиатры </a:t>
            </a:r>
            <a:r>
              <a:rPr lang="ru-RU" sz="2400" dirty="0" err="1">
                <a:latin typeface="Times New Roman" panose="02020603050405020304" pitchFamily="18" charset="0"/>
                <a:cs typeface="Times New Roman" panose="02020603050405020304" pitchFamily="18" charset="0"/>
              </a:rPr>
              <a:t>Г.Каплан</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Б.Сэдок</a:t>
            </a:r>
            <a:r>
              <a:rPr lang="ru-RU" sz="2400" dirty="0">
                <a:latin typeface="Times New Roman" panose="02020603050405020304" pitchFamily="18" charset="0"/>
                <a:cs typeface="Times New Roman" panose="02020603050405020304" pitchFamily="18" charset="0"/>
              </a:rPr>
              <a:t> условно подразделяют на два типа:</a:t>
            </a:r>
          </a:p>
          <a:p>
            <a:pPr marL="0" indent="0" defTabSz="457200">
              <a:lnSpc>
                <a:spcPts val="2600"/>
              </a:lnSpc>
              <a:spcBef>
                <a:spcPts val="0"/>
              </a:spcBef>
              <a:buSzTx/>
              <a:buFontTx/>
              <a:buNone/>
              <a:defRPr sz="1300">
                <a:solidFill>
                  <a:schemeClr val="accent6"/>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а) снижение или отсутствие сексуального влечения, характеризующееся недостатком или отсутствием сексуальных фантазий и желания сексуальной активности,</a:t>
            </a:r>
          </a:p>
          <a:p>
            <a:pPr marL="0" indent="0" defTabSz="457200">
              <a:lnSpc>
                <a:spcPts val="2600"/>
              </a:lnSpc>
              <a:spcBef>
                <a:spcPts val="0"/>
              </a:spcBef>
              <a:buSzTx/>
              <a:buFontTx/>
              <a:buNone/>
              <a:defRPr sz="1300">
                <a:solidFill>
                  <a:schemeClr val="accent2"/>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б) расстройства, связанные с отвращением к половым сношениям, отсутствием полового удовольствия и избеганием сексуальных контактов</a:t>
            </a:r>
          </a:p>
          <a:p>
            <a:pPr marL="0" indent="0" defTabSz="457200">
              <a:lnSpc>
                <a:spcPts val="2600"/>
              </a:lnSpc>
              <a:spcBef>
                <a:spcPts val="0"/>
              </a:spcBef>
              <a:buSzTx/>
              <a:buFontTx/>
              <a:buNone/>
              <a:defRPr sz="1300">
                <a:solidFill>
                  <a:schemeClr val="accent2"/>
                </a:solidFill>
                <a:latin typeface="Arial"/>
                <a:ea typeface="Arial"/>
                <a:cs typeface="Arial"/>
                <a:sym typeface="Arial"/>
              </a:defRPr>
            </a:pPr>
            <a:endParaRPr lang="ru-RU" sz="2400" dirty="0">
              <a:latin typeface="Times New Roman" panose="02020603050405020304" pitchFamily="18" charset="0"/>
              <a:cs typeface="Times New Roman" panose="02020603050405020304" pitchFamily="18" charset="0"/>
            </a:endParaRPr>
          </a:p>
          <a:p>
            <a:pPr marL="0" indent="0" defTabSz="457200">
              <a:lnSpc>
                <a:spcPts val="2600"/>
              </a:lnSpc>
              <a:spcBef>
                <a:spcPts val="0"/>
              </a:spcBef>
              <a:buSzTx/>
              <a:buFontTx/>
              <a:buNone/>
              <a:defRPr sz="1300">
                <a:solidFill>
                  <a:srgbClr val="222222"/>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В первом случае снижение или отсутствие сексуального влечения может быть </a:t>
            </a:r>
            <a:r>
              <a:rPr lang="ru-RU" sz="2400" b="1" dirty="0">
                <a:latin typeface="Times New Roman" panose="02020603050405020304" pitchFamily="18" charset="0"/>
                <a:cs typeface="Times New Roman" panose="02020603050405020304" pitchFamily="18" charset="0"/>
              </a:rPr>
              <a:t>связано с некоторыми психическими заболеваниями</a:t>
            </a:r>
            <a:r>
              <a:rPr lang="ru-RU" sz="2400" dirty="0">
                <a:latin typeface="Times New Roman" panose="02020603050405020304" pitchFamily="18" charset="0"/>
                <a:cs typeface="Times New Roman" panose="02020603050405020304" pitchFamily="18" charset="0"/>
              </a:rPr>
              <a:t>, замедленным или недостаточным половым созреванием, нарушениями в эндокринной системе.</a:t>
            </a:r>
          </a:p>
          <a:p>
            <a:pPr marL="0" indent="0" defTabSz="457200">
              <a:lnSpc>
                <a:spcPts val="2600"/>
              </a:lnSpc>
              <a:spcBef>
                <a:spcPts val="0"/>
              </a:spcBef>
              <a:buSzTx/>
              <a:buFontTx/>
              <a:buNone/>
              <a:defRPr sz="1300">
                <a:solidFill>
                  <a:srgbClr val="222222"/>
                </a:solidFill>
                <a:latin typeface="Arial"/>
                <a:ea typeface="Arial"/>
                <a:cs typeface="Arial"/>
                <a:sym typeface="Arial"/>
              </a:defRPr>
            </a:pPr>
            <a:r>
              <a:rPr lang="ru-RU" sz="2400" dirty="0">
                <a:latin typeface="Times New Roman" panose="02020603050405020304" pitchFamily="18" charset="0"/>
                <a:cs typeface="Times New Roman" panose="02020603050405020304" pitchFamily="18" charset="0"/>
              </a:rPr>
              <a:t>Снижение сексуального влечения и отвращение к половым сношениям бывает у некоторых людей, которых с детства воспитывали в чрезвычайной строгости и прививали им отрицательное отношение к сексу как "греху", чему-то низменному, грязному. </a:t>
            </a:r>
          </a:p>
        </p:txBody>
      </p:sp>
    </p:spTree>
    <p:extLst>
      <p:ext uri="{BB962C8B-B14F-4D97-AF65-F5344CB8AC3E}">
        <p14:creationId xmlns:p14="http://schemas.microsoft.com/office/powerpoint/2010/main" val="10359218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4AC8BF6-F291-10AC-85E2-17B0B0A692E0}"/>
              </a:ext>
            </a:extLst>
          </p:cNvPr>
          <p:cNvSpPr>
            <a:spLocks noGrp="1"/>
          </p:cNvSpPr>
          <p:nvPr>
            <p:ph idx="1"/>
          </p:nvPr>
        </p:nvSpPr>
        <p:spPr>
          <a:xfrm>
            <a:off x="838200" y="533400"/>
            <a:ext cx="10515600" cy="5638800"/>
          </a:xfrm>
        </p:spPr>
        <p:txBody>
          <a:bodyPr>
            <a:normAutofit/>
          </a:bodyPr>
          <a:lstStyle/>
          <a:p>
            <a:pPr marL="0" indent="0" algn="ctr">
              <a:lnSpc>
                <a:spcPct val="120000"/>
              </a:lnSpc>
              <a:buNone/>
            </a:pPr>
            <a:endParaRPr lang="ru-RU" b="1" dirty="0">
              <a:latin typeface="Times New Roman" panose="02020603050405020304" pitchFamily="18" charset="0"/>
              <a:cs typeface="Times New Roman" panose="02020603050405020304" pitchFamily="18" charset="0"/>
            </a:endParaRPr>
          </a:p>
          <a:p>
            <a:pPr marL="0" indent="0" algn="ctr">
              <a:lnSpc>
                <a:spcPct val="120000"/>
              </a:lnSpc>
              <a:buNone/>
            </a:pPr>
            <a:endParaRPr lang="ru-RU" b="1" dirty="0">
              <a:latin typeface="Times New Roman" panose="02020603050405020304" pitchFamily="18" charset="0"/>
              <a:cs typeface="Times New Roman" panose="02020603050405020304" pitchFamily="18" charset="0"/>
            </a:endParaRPr>
          </a:p>
          <a:p>
            <a:pPr marL="0" indent="0" algn="ctr">
              <a:lnSpc>
                <a:spcPct val="120000"/>
              </a:lnSpc>
              <a:buNone/>
            </a:pPr>
            <a:endParaRPr lang="ru-RU" b="1" dirty="0">
              <a:latin typeface="Times New Roman" panose="02020603050405020304" pitchFamily="18" charset="0"/>
              <a:cs typeface="Times New Roman" panose="02020603050405020304" pitchFamily="18" charset="0"/>
            </a:endParaRPr>
          </a:p>
          <a:p>
            <a:pPr marL="0" indent="0" algn="ctr">
              <a:lnSpc>
                <a:spcPct val="120000"/>
              </a:lnSpc>
              <a:buNone/>
            </a:pPr>
            <a:r>
              <a:rPr lang="ru-RU" b="1" dirty="0">
                <a:latin typeface="Times New Roman" panose="02020603050405020304" pitchFamily="18" charset="0"/>
                <a:cs typeface="Times New Roman" panose="02020603050405020304" pitchFamily="18" charset="0"/>
              </a:rPr>
              <a:t>Упражнение «Эрогенные зоны»</a:t>
            </a:r>
          </a:p>
          <a:p>
            <a:endParaRPr lang="ru-RU" dirty="0"/>
          </a:p>
        </p:txBody>
      </p:sp>
    </p:spTree>
    <p:extLst>
      <p:ext uri="{BB962C8B-B14F-4D97-AF65-F5344CB8AC3E}">
        <p14:creationId xmlns:p14="http://schemas.microsoft.com/office/powerpoint/2010/main" val="29509113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4691BB3-8D1A-FB9D-42DE-DF180902116A}"/>
              </a:ext>
            </a:extLst>
          </p:cNvPr>
          <p:cNvSpPr>
            <a:spLocks noGrp="1"/>
          </p:cNvSpPr>
          <p:nvPr>
            <p:ph type="title"/>
          </p:nvPr>
        </p:nvSpPr>
        <p:spPr>
          <a:xfrm>
            <a:off x="838200" y="365125"/>
            <a:ext cx="10515600" cy="805307"/>
          </a:xfrm>
        </p:spPr>
        <p:txBody>
          <a:bodyPr>
            <a:normAutofit fontScale="90000"/>
          </a:bodyPr>
          <a:lstStyle/>
          <a:p>
            <a:r>
              <a:rPr lang="ru-RU" dirty="0"/>
              <a:t>Основные этапы сексуального развития на жизненном пути:</a:t>
            </a:r>
          </a:p>
        </p:txBody>
      </p:sp>
      <p:sp>
        <p:nvSpPr>
          <p:cNvPr id="10" name="Объект 9">
            <a:extLst>
              <a:ext uri="{FF2B5EF4-FFF2-40B4-BE49-F238E27FC236}">
                <a16:creationId xmlns:a16="http://schemas.microsoft.com/office/drawing/2014/main" id="{737EF775-1F55-B158-AA7D-316684E07AC8}"/>
              </a:ext>
            </a:extLst>
          </p:cNvPr>
          <p:cNvSpPr>
            <a:spLocks noGrp="1"/>
          </p:cNvSpPr>
          <p:nvPr>
            <p:ph idx="1"/>
          </p:nvPr>
        </p:nvSpPr>
        <p:spPr>
          <a:xfrm>
            <a:off x="838200" y="1316101"/>
            <a:ext cx="10515600" cy="5359019"/>
          </a:xfrm>
        </p:spPr>
        <p:txBody>
          <a:bodyPr>
            <a:noAutofit/>
          </a:bodyPr>
          <a:lstStyle/>
          <a:p>
            <a:pPr marL="0" indent="0">
              <a:buNone/>
            </a:pPr>
            <a:r>
              <a:rPr lang="ru-RU" sz="2400" b="1" dirty="0">
                <a:latin typeface="Times New Roman" panose="02020603050405020304" pitchFamily="18" charset="0"/>
                <a:cs typeface="Times New Roman" panose="02020603050405020304" pitchFamily="18" charset="0"/>
              </a:rPr>
              <a:t>1) Пренатальный период ( от зачатия до рождения)</a:t>
            </a:r>
          </a:p>
          <a:p>
            <a:pPr marL="0" indent="0">
              <a:buNone/>
            </a:pPr>
            <a:r>
              <a:rPr lang="ru-RU" sz="2400" dirty="0">
                <a:latin typeface="Times New Roman" panose="02020603050405020304" pitchFamily="18" charset="0"/>
                <a:cs typeface="Times New Roman" panose="02020603050405020304" pitchFamily="18" charset="0"/>
              </a:rPr>
              <a:t>-формирование первичных половых признаков</a:t>
            </a:r>
          </a:p>
          <a:p>
            <a:pPr marL="0" indent="0">
              <a:buNone/>
            </a:pPr>
            <a:r>
              <a:rPr lang="ru-RU" sz="2400" dirty="0">
                <a:latin typeface="Times New Roman" panose="02020603050405020304" pitchFamily="18" charset="0"/>
                <a:cs typeface="Times New Roman" panose="02020603050405020304" pitchFamily="18" charset="0"/>
              </a:rPr>
              <a:t>-формирование условно-сексуального поведения</a:t>
            </a:r>
          </a:p>
          <a:p>
            <a:pPr marL="0" indent="0">
              <a:buNone/>
            </a:pPr>
            <a:r>
              <a:rPr lang="ru-RU" sz="2400" b="1" dirty="0">
                <a:latin typeface="Times New Roman" panose="02020603050405020304" pitchFamily="18" charset="0"/>
                <a:cs typeface="Times New Roman" panose="02020603050405020304" pitchFamily="18" charset="0"/>
              </a:rPr>
              <a:t>2) </a:t>
            </a:r>
            <a:r>
              <a:rPr lang="ru-RU" sz="2400" b="1" dirty="0" err="1">
                <a:latin typeface="Times New Roman" panose="02020603050405020304" pitchFamily="18" charset="0"/>
                <a:cs typeface="Times New Roman" panose="02020603050405020304" pitchFamily="18" charset="0"/>
              </a:rPr>
              <a:t>Парапубертатный</a:t>
            </a:r>
            <a:r>
              <a:rPr lang="ru-RU" sz="2400" b="1" dirty="0">
                <a:latin typeface="Times New Roman" panose="02020603050405020304" pitchFamily="18" charset="0"/>
                <a:cs typeface="Times New Roman" panose="02020603050405020304" pitchFamily="18" charset="0"/>
              </a:rPr>
              <a:t> период ( от 0 до 5-7 лет)</a:t>
            </a:r>
          </a:p>
          <a:p>
            <a:pPr marL="0" indent="0">
              <a:buNone/>
            </a:pPr>
            <a:r>
              <a:rPr lang="ru-RU" sz="2400" dirty="0">
                <a:latin typeface="Times New Roman" panose="02020603050405020304" pitchFamily="18" charset="0"/>
                <a:cs typeface="Times New Roman" panose="02020603050405020304" pitchFamily="18" charset="0"/>
              </a:rPr>
              <a:t>-формирование полового самосознания</a:t>
            </a:r>
          </a:p>
          <a:p>
            <a:pPr marL="0" indent="0">
              <a:buNone/>
            </a:pPr>
            <a:r>
              <a:rPr lang="ru-RU" sz="2400" dirty="0">
                <a:latin typeface="Times New Roman" panose="02020603050405020304" pitchFamily="18" charset="0"/>
                <a:cs typeface="Times New Roman" panose="02020603050405020304" pitchFamily="18" charset="0"/>
              </a:rPr>
              <a:t>-формирование половых ролей</a:t>
            </a:r>
          </a:p>
          <a:p>
            <a:pPr marL="0" indent="0">
              <a:buNone/>
            </a:pPr>
            <a:r>
              <a:rPr lang="ru-RU" sz="2400" b="1" dirty="0">
                <a:latin typeface="Times New Roman" panose="02020603050405020304" pitchFamily="18" charset="0"/>
                <a:cs typeface="Times New Roman" panose="02020603050405020304" pitchFamily="18" charset="0"/>
              </a:rPr>
              <a:t>3)</a:t>
            </a:r>
            <a:r>
              <a:rPr lang="ru-RU" sz="2400" b="1" dirty="0" err="1">
                <a:latin typeface="Times New Roman" panose="02020603050405020304" pitchFamily="18" charset="0"/>
                <a:cs typeface="Times New Roman" panose="02020603050405020304" pitchFamily="18" charset="0"/>
              </a:rPr>
              <a:t>Препубертатный</a:t>
            </a:r>
            <a:r>
              <a:rPr lang="ru-RU" sz="2400" b="1" dirty="0">
                <a:latin typeface="Times New Roman" panose="02020603050405020304" pitchFamily="18" charset="0"/>
                <a:cs typeface="Times New Roman" panose="02020603050405020304" pitchFamily="18" charset="0"/>
              </a:rPr>
              <a:t> период ( с 5-7 до 11-13лет)</a:t>
            </a:r>
          </a:p>
          <a:p>
            <a:pPr marL="0" indent="0">
              <a:buNone/>
            </a:pPr>
            <a:r>
              <a:rPr lang="ru-RU" sz="2400" dirty="0">
                <a:latin typeface="Times New Roman" panose="02020603050405020304" pitchFamily="18" charset="0"/>
                <a:cs typeface="Times New Roman" panose="02020603050405020304" pitchFamily="18" charset="0"/>
              </a:rPr>
              <a:t>Формирование направленности полового влечения</a:t>
            </a:r>
          </a:p>
          <a:p>
            <a:pPr marL="0" indent="0">
              <a:buNone/>
            </a:pPr>
            <a:r>
              <a:rPr lang="ru-RU" sz="2400" b="1" dirty="0">
                <a:latin typeface="Times New Roman" panose="02020603050405020304" pitchFamily="18" charset="0"/>
                <a:cs typeface="Times New Roman" panose="02020603050405020304" pitchFamily="18" charset="0"/>
              </a:rPr>
              <a:t>4) Пубертатный период (с 11-13 до 15-18 лет)</a:t>
            </a:r>
          </a:p>
          <a:p>
            <a:pPr marL="0" indent="0">
              <a:buNone/>
            </a:pPr>
            <a:r>
              <a:rPr lang="ru-RU" sz="2400" dirty="0">
                <a:latin typeface="Times New Roman" panose="02020603050405020304" pitchFamily="18" charset="0"/>
                <a:cs typeface="Times New Roman" panose="02020603050405020304" pitchFamily="18" charset="0"/>
              </a:rPr>
              <a:t>-формируется либидо</a:t>
            </a:r>
          </a:p>
          <a:p>
            <a:pPr marL="0" indent="0">
              <a:buNone/>
            </a:pPr>
            <a:r>
              <a:rPr lang="ru-RU" sz="2400" dirty="0">
                <a:latin typeface="Times New Roman" panose="02020603050405020304" pitchFamily="18" charset="0"/>
                <a:cs typeface="Times New Roman" panose="02020603050405020304" pitchFamily="18" charset="0"/>
              </a:rPr>
              <a:t>-формируются вторичные половые признаки</a:t>
            </a:r>
          </a:p>
        </p:txBody>
      </p:sp>
    </p:spTree>
    <p:extLst>
      <p:ext uri="{BB962C8B-B14F-4D97-AF65-F5344CB8AC3E}">
        <p14:creationId xmlns:p14="http://schemas.microsoft.com/office/powerpoint/2010/main" val="20225978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84691BB3-8D1A-FB9D-42DE-DF180902116A}"/>
              </a:ext>
            </a:extLst>
          </p:cNvPr>
          <p:cNvSpPr>
            <a:spLocks noGrp="1"/>
          </p:cNvSpPr>
          <p:nvPr>
            <p:ph type="title"/>
          </p:nvPr>
        </p:nvSpPr>
        <p:spPr>
          <a:xfrm>
            <a:off x="838200" y="365125"/>
            <a:ext cx="10515600" cy="805307"/>
          </a:xfrm>
        </p:spPr>
        <p:txBody>
          <a:bodyPr>
            <a:normAutofit fontScale="90000"/>
          </a:bodyPr>
          <a:lstStyle/>
          <a:p>
            <a:r>
              <a:rPr lang="ru-RU" dirty="0"/>
              <a:t>Основные этапы сексуального развития на жизненном пути:</a:t>
            </a:r>
          </a:p>
        </p:txBody>
      </p:sp>
      <p:sp>
        <p:nvSpPr>
          <p:cNvPr id="10" name="Объект 9">
            <a:extLst>
              <a:ext uri="{FF2B5EF4-FFF2-40B4-BE49-F238E27FC236}">
                <a16:creationId xmlns:a16="http://schemas.microsoft.com/office/drawing/2014/main" id="{737EF775-1F55-B158-AA7D-316684E07AC8}"/>
              </a:ext>
            </a:extLst>
          </p:cNvPr>
          <p:cNvSpPr>
            <a:spLocks noGrp="1"/>
          </p:cNvSpPr>
          <p:nvPr>
            <p:ph idx="1"/>
          </p:nvPr>
        </p:nvSpPr>
        <p:spPr>
          <a:xfrm>
            <a:off x="838200" y="1498981"/>
            <a:ext cx="10515600" cy="5359019"/>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5) Переходный период (с 15-18 лет до 25-30)</a:t>
            </a:r>
          </a:p>
          <a:p>
            <a:pPr marL="0" indent="0">
              <a:buNone/>
            </a:pPr>
            <a:r>
              <a:rPr lang="ru-RU" sz="2400" dirty="0">
                <a:latin typeface="Times New Roman" panose="02020603050405020304" pitchFamily="18" charset="0"/>
                <a:cs typeface="Times New Roman" panose="02020603050405020304" pitchFamily="18" charset="0"/>
              </a:rPr>
              <a:t>- достижение половой зрелости</a:t>
            </a:r>
          </a:p>
          <a:p>
            <a:pPr marL="0" indent="0">
              <a:buNone/>
            </a:pPr>
            <a:r>
              <a:rPr lang="ru-RU" sz="2400" b="1" dirty="0">
                <a:latin typeface="Times New Roman" panose="02020603050405020304" pitchFamily="18" charset="0"/>
                <a:cs typeface="Times New Roman" panose="02020603050405020304" pitchFamily="18" charset="0"/>
              </a:rPr>
              <a:t>6) Период зрелой сексуальности (с 25-30 до 50-55)</a:t>
            </a:r>
          </a:p>
          <a:p>
            <a:pPr marL="0" indent="0">
              <a:buNone/>
            </a:pPr>
            <a:r>
              <a:rPr lang="ru-RU" sz="2400" dirty="0">
                <a:latin typeface="Times New Roman" panose="02020603050405020304" pitchFamily="18" charset="0"/>
                <a:cs typeface="Times New Roman" panose="02020603050405020304" pitchFamily="18" charset="0"/>
              </a:rPr>
              <a:t>-приобретение сексуального опыта и поиск половых партнеров</a:t>
            </a:r>
          </a:p>
          <a:p>
            <a:pPr marL="0" indent="0">
              <a:buNone/>
            </a:pPr>
            <a:r>
              <a:rPr lang="ru-RU" sz="2400" dirty="0">
                <a:latin typeface="Times New Roman" panose="02020603050405020304" pitchFamily="18" charset="0"/>
                <a:cs typeface="Times New Roman" panose="02020603050405020304" pitchFamily="18" charset="0"/>
              </a:rPr>
              <a:t>-реализация сексуальных потребностей и возможностей</a:t>
            </a:r>
          </a:p>
          <a:p>
            <a:pPr marL="0" indent="0">
              <a:buNone/>
            </a:pPr>
            <a:r>
              <a:rPr lang="ru-RU" sz="2400" b="1" dirty="0">
                <a:latin typeface="Times New Roman" panose="02020603050405020304" pitchFamily="18" charset="0"/>
                <a:cs typeface="Times New Roman" panose="02020603050405020304" pitchFamily="18" charset="0"/>
              </a:rPr>
              <a:t>7) Инволюционный период (с 50-55 до 70 и старше)</a:t>
            </a:r>
          </a:p>
          <a:p>
            <a:pPr marL="0" indent="0">
              <a:buNone/>
            </a:pPr>
            <a:r>
              <a:rPr lang="ru-RU" sz="2400" dirty="0">
                <a:latin typeface="Times New Roman" panose="02020603050405020304" pitchFamily="18" charset="0"/>
                <a:cs typeface="Times New Roman" panose="02020603050405020304" pitchFamily="18" charset="0"/>
              </a:rPr>
              <a:t>-поддержание щадяще-стимулирующей половой активности</a:t>
            </a:r>
          </a:p>
          <a:p>
            <a:pPr marL="0" indent="0">
              <a:buNone/>
            </a:pPr>
            <a:r>
              <a:rPr lang="ru-RU" sz="2400" dirty="0">
                <a:latin typeface="Times New Roman" panose="02020603050405020304" pitchFamily="18" charset="0"/>
                <a:cs typeface="Times New Roman" panose="02020603050405020304" pitchFamily="18" charset="0"/>
              </a:rPr>
              <a:t>-угасание сексуальной функции и снижение полового влечения</a:t>
            </a:r>
          </a:p>
          <a:p>
            <a:pPr marL="0" indent="0">
              <a:buNone/>
            </a:pPr>
            <a:r>
              <a:rPr lang="ru-RU" sz="2400" dirty="0">
                <a:latin typeface="Times New Roman" panose="02020603050405020304" pitchFamily="18" charset="0"/>
                <a:cs typeface="Times New Roman" panose="02020603050405020304" pitchFamily="18" charset="0"/>
              </a:rPr>
              <a:t>-постепенное прекращение сексуальной активности</a:t>
            </a:r>
          </a:p>
        </p:txBody>
      </p:sp>
    </p:spTree>
    <p:extLst>
      <p:ext uri="{BB962C8B-B14F-4D97-AF65-F5344CB8AC3E}">
        <p14:creationId xmlns:p14="http://schemas.microsoft.com/office/powerpoint/2010/main" val="22292648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F011EBDA-6E43-7D2C-4E00-D9C7B37E8758}"/>
              </a:ext>
            </a:extLst>
          </p:cNvPr>
          <p:cNvSpPr>
            <a:spLocks noGrp="1"/>
          </p:cNvSpPr>
          <p:nvPr>
            <p:ph idx="1"/>
          </p:nvPr>
        </p:nvSpPr>
        <p:spPr>
          <a:xfrm>
            <a:off x="838200" y="256032"/>
            <a:ext cx="10515600" cy="5916168"/>
          </a:xfrm>
        </p:spPr>
        <p:txBody>
          <a:bodyPr>
            <a:normAutofit fontScale="92500" lnSpcReduction="10000"/>
          </a:bodyPr>
          <a:lstStyle/>
          <a:p>
            <a:pPr marL="0" indent="0">
              <a:buNone/>
            </a:pPr>
            <a:r>
              <a:rPr lang="ru-RU" dirty="0">
                <a:latin typeface="Times New Roman" panose="02020603050405020304" pitchFamily="18" charset="0"/>
                <a:cs typeface="Times New Roman" panose="02020603050405020304" pitchFamily="18" charset="0"/>
              </a:rPr>
              <a:t>Данные периоды возрастной динамики, сформированные Г.С. Васильченко, определенным образом совпадают с социокультурными фазами, </a:t>
            </a:r>
            <a:r>
              <a:rPr lang="ru-RU" dirty="0" err="1">
                <a:latin typeface="Times New Roman" panose="02020603050405020304" pitchFamily="18" charset="0"/>
                <a:cs typeface="Times New Roman" panose="02020603050405020304" pitchFamily="18" charset="0"/>
              </a:rPr>
              <a:t>психосексуальными</a:t>
            </a:r>
            <a:r>
              <a:rPr lang="ru-RU" dirty="0">
                <a:latin typeface="Times New Roman" panose="02020603050405020304" pitchFamily="18" charset="0"/>
                <a:cs typeface="Times New Roman" panose="02020603050405020304" pitchFamily="18" charset="0"/>
              </a:rPr>
              <a:t> этапами и соматическими стадиями.</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b="1" dirty="0">
                <a:latin typeface="Times New Roman" panose="02020603050405020304" pitchFamily="18" charset="0"/>
                <a:cs typeface="Times New Roman" panose="02020603050405020304" pitchFamily="18" charset="0"/>
              </a:rPr>
              <a:t>Параллелизм физического, психического и сексуального развития не должен вводить в заблуждение и создавать иллюзию полной синхронности этих процессов. </a:t>
            </a:r>
          </a:p>
          <a:p>
            <a:pPr marL="0" indent="0">
              <a:buNone/>
            </a:pPr>
            <a:r>
              <a:rPr lang="ru-RU" dirty="0">
                <a:latin typeface="Times New Roman" panose="02020603050405020304" pitchFamily="18" charset="0"/>
                <a:cs typeface="Times New Roman" panose="02020603050405020304" pitchFamily="18" charset="0"/>
              </a:rPr>
              <a:t>Периоды, стадии и фазы могут просто не совпадать по разным параметрам. Так, </a:t>
            </a:r>
            <a:r>
              <a:rPr lang="ru-RU" dirty="0" err="1">
                <a:latin typeface="Times New Roman" panose="02020603050405020304" pitchFamily="18" charset="0"/>
                <a:cs typeface="Times New Roman" panose="02020603050405020304" pitchFamily="18" charset="0"/>
              </a:rPr>
              <a:t>психосексуальное</a:t>
            </a:r>
            <a:r>
              <a:rPr lang="ru-RU" dirty="0">
                <a:latin typeface="Times New Roman" panose="02020603050405020304" pitchFamily="18" charset="0"/>
                <a:cs typeface="Times New Roman" panose="02020603050405020304" pitchFamily="18" charset="0"/>
              </a:rPr>
              <a:t> развитие начинается с появления во внутриутробном периоде первых психических реакций, </a:t>
            </a:r>
            <a:r>
              <a:rPr lang="ru-RU" dirty="0" err="1">
                <a:latin typeface="Times New Roman" panose="02020603050405020304" pitchFamily="18" charset="0"/>
                <a:cs typeface="Times New Roman" panose="02020603050405020304" pitchFamily="18" charset="0"/>
              </a:rPr>
              <a:t>соматосексуальное</a:t>
            </a:r>
            <a:r>
              <a:rPr lang="ru-RU" dirty="0">
                <a:latin typeface="Times New Roman" panose="02020603050405020304" pitchFamily="18" charset="0"/>
                <a:cs typeface="Times New Roman" panose="02020603050405020304" pitchFamily="18" charset="0"/>
              </a:rPr>
              <a:t> – с оплодотворения, а </a:t>
            </a:r>
            <a:r>
              <a:rPr lang="ru-RU" dirty="0" err="1">
                <a:latin typeface="Times New Roman" panose="02020603050405020304" pitchFamily="18" charset="0"/>
                <a:cs typeface="Times New Roman" panose="02020603050405020304" pitchFamily="18" charset="0"/>
              </a:rPr>
              <a:t>социосексуальное</a:t>
            </a:r>
            <a:r>
              <a:rPr lang="ru-RU" dirty="0">
                <a:latin typeface="Times New Roman" panose="02020603050405020304" pitchFamily="18" charset="0"/>
                <a:cs typeface="Times New Roman" panose="02020603050405020304" pitchFamily="18" charset="0"/>
              </a:rPr>
              <a:t> – с момента усвоения правил и норм, регулирующие сексуальные потребности и формы их реализации. Каждому периоду жизни соответствует вполне определенный этап и стадия онтогенеза сексуальности.</a:t>
            </a:r>
          </a:p>
        </p:txBody>
      </p:sp>
    </p:spTree>
    <p:extLst>
      <p:ext uri="{BB962C8B-B14F-4D97-AF65-F5344CB8AC3E}">
        <p14:creationId xmlns:p14="http://schemas.microsoft.com/office/powerpoint/2010/main" val="13886768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A42E46-1596-6A2E-0613-9F96B3F67944}"/>
              </a:ext>
            </a:extLst>
          </p:cNvPr>
          <p:cNvSpPr>
            <a:spLocks noGrp="1"/>
          </p:cNvSpPr>
          <p:nvPr>
            <p:ph type="title"/>
          </p:nvPr>
        </p:nvSpPr>
        <p:spPr/>
        <p:txBody>
          <a:bodyPr>
            <a:normAutofit/>
          </a:bodyPr>
          <a:lstStyle/>
          <a:p>
            <a:r>
              <a:rPr lang="ru-RU" sz="2800" dirty="0"/>
              <a:t>Теория развития личности Эриксона утверждает:</a:t>
            </a:r>
          </a:p>
        </p:txBody>
      </p:sp>
      <p:sp>
        <p:nvSpPr>
          <p:cNvPr id="3" name="Объект 2">
            <a:extLst>
              <a:ext uri="{FF2B5EF4-FFF2-40B4-BE49-F238E27FC236}">
                <a16:creationId xmlns:a16="http://schemas.microsoft.com/office/drawing/2014/main" id="{00DD068A-C6CD-437D-312E-50370606658A}"/>
              </a:ext>
            </a:extLst>
          </p:cNvPr>
          <p:cNvSpPr>
            <a:spLocks noGrp="1"/>
          </p:cNvSpPr>
          <p:nvPr>
            <p:ph idx="1"/>
          </p:nvPr>
        </p:nvSpPr>
        <p:spPr>
          <a:xfrm>
            <a:off x="838200" y="1565031"/>
            <a:ext cx="10515600" cy="4607169"/>
          </a:xfrm>
        </p:spPr>
        <p:txBody>
          <a:bodyPr>
            <a:normAutofit/>
          </a:bodyPr>
          <a:lstStyle/>
          <a:p>
            <a:pPr marL="457200" indent="-457200">
              <a:buAutoNum type="arabicPeriod"/>
            </a:pPr>
            <a:r>
              <a:rPr lang="ru-RU" sz="2000" dirty="0">
                <a:latin typeface="Times New Roman" panose="02020603050405020304" pitchFamily="18" charset="0"/>
                <a:cs typeface="Times New Roman" panose="02020603050405020304" pitchFamily="18" charset="0"/>
              </a:rPr>
              <a:t>Социум для ребенка не антагонистичен.</a:t>
            </a:r>
          </a:p>
          <a:p>
            <a:pPr marL="457200" indent="-457200">
              <a:buAutoNum type="arabicPeriod"/>
            </a:pPr>
            <a:r>
              <a:rPr lang="ru-RU" sz="2000" dirty="0">
                <a:latin typeface="Times New Roman" panose="02020603050405020304" pitchFamily="18" charset="0"/>
                <a:cs typeface="Times New Roman" panose="02020603050405020304" pitchFamily="18" charset="0"/>
              </a:rPr>
              <a:t>Личность развивается от рождения до смерти</a:t>
            </a:r>
          </a:p>
          <a:p>
            <a:pPr marL="457200" indent="-457200">
              <a:buAutoNum type="arabicPeriod"/>
            </a:pPr>
            <a:r>
              <a:rPr lang="ru-RU" sz="2000" dirty="0">
                <a:latin typeface="Times New Roman" panose="02020603050405020304" pitchFamily="18" charset="0"/>
                <a:cs typeface="Times New Roman" panose="02020603050405020304" pitchFamily="18" charset="0"/>
              </a:rPr>
              <a:t>Личность развивается через последовательные этапы жизни</a:t>
            </a:r>
          </a:p>
          <a:p>
            <a:pPr marL="457200" indent="-457200">
              <a:buAutoNum type="arabicPeriod"/>
            </a:pPr>
            <a:r>
              <a:rPr lang="ru-RU" sz="2000" dirty="0">
                <a:latin typeface="Times New Roman" panose="02020603050405020304" pitchFamily="18" charset="0"/>
                <a:cs typeface="Times New Roman" panose="02020603050405020304" pitchFamily="18" charset="0"/>
              </a:rPr>
              <a:t>Этапы жизни, как стадии развития личности, одинаковы для всех</a:t>
            </a:r>
          </a:p>
          <a:p>
            <a:pPr marL="457200" indent="-457200">
              <a:buAutoNum type="arabicPeriod"/>
            </a:pPr>
            <a:r>
              <a:rPr lang="ru-RU" sz="2000" dirty="0">
                <a:latin typeface="Times New Roman" panose="02020603050405020304" pitchFamily="18" charset="0"/>
                <a:cs typeface="Times New Roman" panose="02020603050405020304" pitchFamily="18" charset="0"/>
              </a:rPr>
              <a:t>В развитии человека 8 стадий</a:t>
            </a:r>
          </a:p>
          <a:p>
            <a:pPr marL="457200" indent="-457200">
              <a:buAutoNum type="arabicPeriod"/>
            </a:pPr>
            <a:r>
              <a:rPr lang="ru-RU" sz="2000" dirty="0">
                <a:latin typeface="Times New Roman" panose="02020603050405020304" pitchFamily="18" charset="0"/>
                <a:cs typeface="Times New Roman" panose="02020603050405020304" pitchFamily="18" charset="0"/>
              </a:rPr>
              <a:t>Каждую стадию своего развития человек может пройти как благополучно так и нет</a:t>
            </a:r>
          </a:p>
          <a:p>
            <a:pPr marL="457200" indent="-457200">
              <a:buAutoNum type="arabicPeriod"/>
            </a:pPr>
            <a:r>
              <a:rPr lang="ru-RU" sz="2000" dirty="0">
                <a:latin typeface="Times New Roman" panose="02020603050405020304" pitchFamily="18" charset="0"/>
                <a:cs typeface="Times New Roman" panose="02020603050405020304" pitchFamily="18" charset="0"/>
              </a:rPr>
              <a:t>Переход от стадии к стадии является личностным кризисом</a:t>
            </a:r>
          </a:p>
          <a:p>
            <a:pPr marL="457200" indent="-457200">
              <a:buAutoNum type="arabicPeriod"/>
            </a:pPr>
            <a:r>
              <a:rPr lang="ru-RU" sz="2000" dirty="0">
                <a:latin typeface="Times New Roman" panose="02020603050405020304" pitchFamily="18" charset="0"/>
                <a:cs typeface="Times New Roman" panose="02020603050405020304" pitchFamily="18" charset="0"/>
              </a:rPr>
              <a:t>В кризисе теряется эго-идентичность, задача психолога – ее вернуть</a:t>
            </a:r>
          </a:p>
        </p:txBody>
      </p:sp>
    </p:spTree>
    <p:extLst>
      <p:ext uri="{BB962C8B-B14F-4D97-AF65-F5344CB8AC3E}">
        <p14:creationId xmlns:p14="http://schemas.microsoft.com/office/powerpoint/2010/main" val="29333112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Freeform: Shape 70">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Особенности старения, возрастные изменения, взаимодействие с пожилыми  людьми, психология общения с ними - презентация онлайн">
            <a:extLst>
              <a:ext uri="{FF2B5EF4-FFF2-40B4-BE49-F238E27FC236}">
                <a16:creationId xmlns:a16="http://schemas.microsoft.com/office/drawing/2014/main" id="{0034C185-CA54-8298-AD1B-5C1637DC408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110417" y="96012"/>
            <a:ext cx="8887968" cy="6665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871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64CE9894-5BFF-9F83-EFE6-558C40D474D8}"/>
              </a:ext>
            </a:extLst>
          </p:cNvPr>
          <p:cNvSpPr>
            <a:spLocks noGrp="1"/>
          </p:cNvSpPr>
          <p:nvPr>
            <p:ph idx="1"/>
          </p:nvPr>
        </p:nvSpPr>
        <p:spPr>
          <a:xfrm>
            <a:off x="838200" y="404446"/>
            <a:ext cx="10515600" cy="5767754"/>
          </a:xfrm>
        </p:spPr>
        <p:txBody>
          <a:bodyPr/>
          <a:lstStyle/>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endParaRPr lang="ru-RU" dirty="0"/>
          </a:p>
          <a:p>
            <a:pPr marL="0" indent="0">
              <a:buNone/>
            </a:pPr>
            <a:r>
              <a:rPr lang="ru-RU" dirty="0"/>
              <a:t>С отсутствием гетеронормативности кризисов больше</a:t>
            </a:r>
          </a:p>
        </p:txBody>
      </p:sp>
      <p:pic>
        <p:nvPicPr>
          <p:cNvPr id="9" name="Рисунок 8">
            <a:extLst>
              <a:ext uri="{FF2B5EF4-FFF2-40B4-BE49-F238E27FC236}">
                <a16:creationId xmlns:a16="http://schemas.microsoft.com/office/drawing/2014/main" id="{3E90F4D0-E6A5-ACED-2502-3A392704A9C3}"/>
              </a:ext>
            </a:extLst>
          </p:cNvPr>
          <p:cNvPicPr>
            <a:picLocks noChangeAspect="1"/>
          </p:cNvPicPr>
          <p:nvPr/>
        </p:nvPicPr>
        <p:blipFill rotWithShape="1">
          <a:blip r:embed="rId2"/>
          <a:srcRect l="10257" t="26154" r="34287" b="35641"/>
          <a:stretch/>
        </p:blipFill>
        <p:spPr>
          <a:xfrm>
            <a:off x="712232" y="568096"/>
            <a:ext cx="9135153" cy="4390766"/>
          </a:xfrm>
          <a:prstGeom prst="rect">
            <a:avLst/>
          </a:prstGeom>
        </p:spPr>
      </p:pic>
    </p:spTree>
    <p:extLst>
      <p:ext uri="{BB962C8B-B14F-4D97-AF65-F5344CB8AC3E}">
        <p14:creationId xmlns:p14="http://schemas.microsoft.com/office/powerpoint/2010/main" val="560512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нтогенез с1.pdf" descr="Онтогенез с1.pdf">
            <a:extLst>
              <a:ext uri="{FF2B5EF4-FFF2-40B4-BE49-F238E27FC236}">
                <a16:creationId xmlns:a16="http://schemas.microsoft.com/office/drawing/2014/main" id="{537A9DEF-7A81-C156-8D34-93DE5EC6B119}"/>
              </a:ext>
            </a:extLst>
          </p:cNvPr>
          <p:cNvPicPr>
            <a:picLocks noGrp="1" noChangeAspect="1"/>
          </p:cNvPicPr>
          <p:nvPr>
            <p:ph idx="1"/>
          </p:nvPr>
        </p:nvPicPr>
        <p:blipFill>
          <a:blip r:embed="rId2"/>
          <a:stretch>
            <a:fillRect/>
          </a:stretch>
        </p:blipFill>
        <p:spPr>
          <a:xfrm>
            <a:off x="1246094" y="15141"/>
            <a:ext cx="9699811" cy="6842859"/>
          </a:xfrm>
          <a:prstGeom prst="rect">
            <a:avLst/>
          </a:prstGeom>
          <a:ln w="12700">
            <a:miter lim="400000"/>
          </a:ln>
        </p:spPr>
      </p:pic>
    </p:spTree>
    <p:extLst>
      <p:ext uri="{BB962C8B-B14F-4D97-AF65-F5344CB8AC3E}">
        <p14:creationId xmlns:p14="http://schemas.microsoft.com/office/powerpoint/2010/main" val="34475082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4E26DB7-3004-2ED0-4464-30A26E24ED29}"/>
              </a:ext>
            </a:extLst>
          </p:cNvPr>
          <p:cNvSpPr>
            <a:spLocks noGrp="1"/>
          </p:cNvSpPr>
          <p:nvPr>
            <p:ph idx="1"/>
          </p:nvPr>
        </p:nvSpPr>
        <p:spPr>
          <a:xfrm>
            <a:off x="838200" y="369276"/>
            <a:ext cx="10515600" cy="5802923"/>
          </a:xfrm>
        </p:spPr>
        <p:txBody>
          <a:bodyPr>
            <a:normAutofit/>
          </a:bodyPr>
          <a:lstStyle/>
          <a:p>
            <a:pPr marL="0" indent="0">
              <a:buNone/>
            </a:pPr>
            <a:endParaRPr lang="ru-RU" sz="2600" dirty="0">
              <a:latin typeface="Times New Roman" panose="02020603050405020304" pitchFamily="18" charset="0"/>
              <a:cs typeface="Times New Roman" panose="02020603050405020304" pitchFamily="18" charset="0"/>
            </a:endParaRPr>
          </a:p>
          <a:p>
            <a:pPr marL="0" indent="0">
              <a:buNone/>
            </a:pPr>
            <a:r>
              <a:rPr lang="ru-RU" sz="2600" dirty="0">
                <a:latin typeface="Times New Roman" panose="02020603050405020304" pitchFamily="18" charset="0"/>
                <a:cs typeface="Times New Roman" panose="02020603050405020304" pitchFamily="18" charset="0"/>
              </a:rPr>
              <a:t>Когда тебя берут первые руки, это первая история о том, какой ты.</a:t>
            </a:r>
          </a:p>
          <a:p>
            <a:pPr marL="0" indent="0">
              <a:buNone/>
            </a:pPr>
            <a:r>
              <a:rPr lang="ru-RU" sz="2600" dirty="0">
                <a:latin typeface="Times New Roman" panose="02020603050405020304" pitchFamily="18" charset="0"/>
                <a:cs typeface="Times New Roman" panose="02020603050405020304" pitchFamily="18" charset="0"/>
              </a:rPr>
              <a:t>Ребенок не осознает, он не понимает где начинает и где заканчивается.</a:t>
            </a:r>
          </a:p>
          <a:p>
            <a:pPr marL="0" indent="0">
              <a:buNone/>
            </a:pPr>
            <a:r>
              <a:rPr lang="ru-RU" sz="2600" dirty="0">
                <a:latin typeface="Times New Roman" panose="02020603050405020304" pitchFamily="18" charset="0"/>
                <a:cs typeface="Times New Roman" panose="02020603050405020304" pitchFamily="18" charset="0"/>
              </a:rPr>
              <a:t>Первые руки рассказывают ему о том, какой он</a:t>
            </a:r>
          </a:p>
          <a:p>
            <a:pPr marL="0" indent="0">
              <a:buNone/>
            </a:pPr>
            <a:r>
              <a:rPr lang="ru-RU" sz="2600" dirty="0">
                <a:latin typeface="Times New Roman" panose="02020603050405020304" pitchFamily="18" charset="0"/>
                <a:cs typeface="Times New Roman" panose="02020603050405020304" pitchFamily="18" charset="0"/>
              </a:rPr>
              <a:t>( это закладывает первое отношение к самому себе)</a:t>
            </a:r>
          </a:p>
          <a:p>
            <a:pPr marL="0" indent="0">
              <a:buNone/>
            </a:pPr>
            <a:r>
              <a:rPr lang="ru-RU" sz="2600" dirty="0">
                <a:latin typeface="Times New Roman" panose="02020603050405020304" pitchFamily="18" charset="0"/>
                <a:cs typeface="Times New Roman" panose="02020603050405020304" pitchFamily="18" charset="0"/>
              </a:rPr>
              <a:t>Тут же закладывается первая сексуальность.</a:t>
            </a:r>
          </a:p>
          <a:p>
            <a:pPr marL="0" indent="0">
              <a:buNone/>
            </a:pPr>
            <a:r>
              <a:rPr lang="ru-RU" sz="2600" dirty="0">
                <a:latin typeface="Times New Roman" panose="02020603050405020304" pitchFamily="18" charset="0"/>
                <a:cs typeface="Times New Roman" panose="02020603050405020304" pitchFamily="18" charset="0"/>
              </a:rPr>
              <a:t>Пищевые привычки</a:t>
            </a:r>
          </a:p>
          <a:p>
            <a:pPr marL="0" indent="0">
              <a:buNone/>
            </a:pPr>
            <a:r>
              <a:rPr lang="ru-RU" sz="2600" dirty="0">
                <a:latin typeface="Times New Roman" panose="02020603050405020304" pitchFamily="18" charset="0"/>
                <a:cs typeface="Times New Roman" panose="02020603050405020304" pitchFamily="18" charset="0"/>
              </a:rPr>
              <a:t>Стиль привязанности</a:t>
            </a:r>
          </a:p>
          <a:p>
            <a:pPr marL="0" indent="0">
              <a:buNone/>
            </a:pPr>
            <a:r>
              <a:rPr lang="ru-RU" sz="2600" dirty="0">
                <a:latin typeface="Times New Roman" panose="02020603050405020304" pitchFamily="18" charset="0"/>
                <a:cs typeface="Times New Roman" panose="02020603050405020304" pitchFamily="18" charset="0"/>
              </a:rPr>
              <a:t>Границы и отношение к телесности</a:t>
            </a:r>
          </a:p>
        </p:txBody>
      </p:sp>
    </p:spTree>
    <p:extLst>
      <p:ext uri="{BB962C8B-B14F-4D97-AF65-F5344CB8AC3E}">
        <p14:creationId xmlns:p14="http://schemas.microsoft.com/office/powerpoint/2010/main" val="37930764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23B1748-3A3C-66BC-8FC8-BAA14E2BC359}"/>
              </a:ext>
            </a:extLst>
          </p:cNvPr>
          <p:cNvSpPr>
            <a:spLocks noGrp="1"/>
          </p:cNvSpPr>
          <p:nvPr>
            <p:ph idx="1"/>
          </p:nvPr>
        </p:nvSpPr>
        <p:spPr>
          <a:xfrm>
            <a:off x="838200" y="492369"/>
            <a:ext cx="10515600" cy="5679831"/>
          </a:xfrm>
        </p:spPr>
        <p:txBody>
          <a:bodyPr>
            <a:normAutofit/>
          </a:bodyPr>
          <a:lstStyle/>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a:latin typeface="Times New Roman" panose="02020603050405020304" pitchFamily="18" charset="0"/>
                <a:cs typeface="Times New Roman" panose="02020603050405020304" pitchFamily="18" charset="0"/>
              </a:rPr>
              <a:t>Пренатальный </a:t>
            </a:r>
            <a:r>
              <a:rPr lang="ru-RU" sz="2400" dirty="0">
                <a:latin typeface="Times New Roman" panose="02020603050405020304" pitchFamily="18" charset="0"/>
                <a:cs typeface="Times New Roman" panose="02020603050405020304" pitchFamily="18" charset="0"/>
              </a:rPr>
              <a:t>период является первым шагом в онтогенезе сексуальности, где под воздействием многочисленных факторов складывается морфологический пол, регистрируемый при рождении как акушерский пол.</a:t>
            </a:r>
          </a:p>
          <a:p>
            <a:pPr marL="0" indent="0">
              <a:buNone/>
            </a:pPr>
            <a:r>
              <a:rPr lang="ru-RU" sz="2400" dirty="0">
                <a:latin typeface="Times New Roman" panose="02020603050405020304" pitchFamily="18" charset="0"/>
                <a:cs typeface="Times New Roman" panose="02020603050405020304" pitchFamily="18" charset="0"/>
              </a:rPr>
              <a:t>Иными словами, в дородовом периоде формируются первичные половые признаки, проявляются первые </a:t>
            </a:r>
            <a:r>
              <a:rPr lang="ru-RU" sz="2400" dirty="0" err="1">
                <a:latin typeface="Times New Roman" panose="02020603050405020304" pitchFamily="18" charset="0"/>
                <a:cs typeface="Times New Roman" panose="02020603050405020304" pitchFamily="18" charset="0"/>
              </a:rPr>
              <a:t>соматосексуальные</a:t>
            </a:r>
            <a:r>
              <a:rPr lang="ru-RU" sz="2400" dirty="0">
                <a:latin typeface="Times New Roman" panose="02020603050405020304" pitchFamily="18" charset="0"/>
                <a:cs typeface="Times New Roman" panose="02020603050405020304" pitchFamily="18" charset="0"/>
              </a:rPr>
              <a:t> реакции.</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dirty="0">
                <a:latin typeface="Times New Roman" panose="02020603050405020304" pitchFamily="18" charset="0"/>
                <a:cs typeface="Times New Roman" panose="02020603050405020304" pitchFamily="18" charset="0"/>
              </a:rPr>
              <a:t>Именно в пренатальный период формируется </a:t>
            </a:r>
            <a:r>
              <a:rPr lang="ru-RU" sz="2400" dirty="0" err="1">
                <a:latin typeface="Times New Roman" panose="02020603050405020304" pitchFamily="18" charset="0"/>
                <a:cs typeface="Times New Roman" panose="02020603050405020304" pitchFamily="18" charset="0"/>
              </a:rPr>
              <a:t>соматосексуальная</a:t>
            </a:r>
            <a:r>
              <a:rPr lang="ru-RU" sz="2400" dirty="0">
                <a:latin typeface="Times New Roman" panose="02020603050405020304" pitchFamily="18" charset="0"/>
                <a:cs typeface="Times New Roman" panose="02020603050405020304" pitchFamily="18" charset="0"/>
              </a:rPr>
              <a:t> составляющая и закладываются основы для </a:t>
            </a:r>
            <a:r>
              <a:rPr lang="ru-RU" sz="2400" dirty="0" err="1">
                <a:latin typeface="Times New Roman" panose="02020603050405020304" pitchFamily="18" charset="0"/>
                <a:cs typeface="Times New Roman" panose="02020603050405020304" pitchFamily="18" charset="0"/>
              </a:rPr>
              <a:t>психосексуального</a:t>
            </a:r>
            <a:r>
              <a:rPr lang="ru-RU" sz="2400" dirty="0">
                <a:latin typeface="Times New Roman" panose="02020603050405020304" pitchFamily="18" charset="0"/>
                <a:cs typeface="Times New Roman" panose="02020603050405020304" pitchFamily="18" charset="0"/>
              </a:rPr>
              <a:t> и </a:t>
            </a:r>
            <a:r>
              <a:rPr lang="ru-RU" sz="2400" dirty="0" err="1">
                <a:latin typeface="Times New Roman" panose="02020603050405020304" pitchFamily="18" charset="0"/>
                <a:cs typeface="Times New Roman" panose="02020603050405020304" pitchFamily="18" charset="0"/>
              </a:rPr>
              <a:t>социосексуального</a:t>
            </a:r>
            <a:r>
              <a:rPr lang="ru-RU" sz="2400" dirty="0">
                <a:latin typeface="Times New Roman" panose="02020603050405020304" pitchFamily="18" charset="0"/>
                <a:cs typeface="Times New Roman" panose="02020603050405020304" pitchFamily="18" charset="0"/>
              </a:rPr>
              <a:t> развития в будущем</a:t>
            </a:r>
          </a:p>
        </p:txBody>
      </p:sp>
    </p:spTree>
    <p:extLst>
      <p:ext uri="{BB962C8B-B14F-4D97-AF65-F5344CB8AC3E}">
        <p14:creationId xmlns:p14="http://schemas.microsoft.com/office/powerpoint/2010/main" val="21903118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38CDBF9-12D6-9838-AB1B-C0E2C3BA2338}"/>
              </a:ext>
            </a:extLst>
          </p:cNvPr>
          <p:cNvSpPr>
            <a:spLocks noGrp="1"/>
          </p:cNvSpPr>
          <p:nvPr>
            <p:ph idx="1"/>
          </p:nvPr>
        </p:nvSpPr>
        <p:spPr>
          <a:xfrm>
            <a:off x="838200" y="369651"/>
            <a:ext cx="10515600" cy="5802549"/>
          </a:xfrm>
        </p:spPr>
        <p:txBody>
          <a:bodyPr>
            <a:normAutofit fontScale="85000" lnSpcReduction="20000"/>
          </a:bodyPr>
          <a:lstStyle/>
          <a:p>
            <a:pPr fontAlgn="base"/>
            <a:r>
              <a:rPr lang="ru-RU" dirty="0">
                <a:latin typeface="Times New Roman" panose="02020603050405020304" pitchFamily="18" charset="0"/>
                <a:cs typeface="Times New Roman" panose="02020603050405020304" pitchFamily="18" charset="0"/>
              </a:rPr>
              <a:t>В 2,5 года дети знают о существовании своих половых органов и, оказываясь раздетыми, могут играть ими. Они проявляют интерес к обнажению других людей, интересуются телесными различиями полов.</a:t>
            </a:r>
          </a:p>
          <a:p>
            <a:pPr fontAlgn="base"/>
            <a:r>
              <a:rPr lang="ru-RU" dirty="0">
                <a:latin typeface="Times New Roman" panose="02020603050405020304" pitchFamily="18" charset="0"/>
                <a:cs typeface="Times New Roman" panose="02020603050405020304" pitchFamily="18" charset="0"/>
              </a:rPr>
              <a:t>В 3 года спрашивают о различиях между полами. Появляется желание рассматривать обнаженных взрослых и дотрагиваться до них, особенно касаться материнских грудей. Проявляют интерес к малышам, начинают просить братика или сестричку. Спрашивают, откуда берутся дети, где они сами были раньше, но еще далеко не всегда понимают рассказы о развитии ребенка в животе у матери. Говорят о желании жениться на матери или выйти замуж за отца.</a:t>
            </a:r>
          </a:p>
          <a:p>
            <a:r>
              <a:rPr lang="ru-RU" dirty="0">
                <a:latin typeface="Times New Roman" panose="02020603050405020304" pitchFamily="18" charset="0"/>
                <a:cs typeface="Times New Roman" panose="02020603050405020304" pitchFamily="18" charset="0"/>
              </a:rPr>
              <a:t>В 4 года при серьезных волнениях может появиться позыв на мочеиспускание. Могут подолгу разглядывать, трогать и теребить свой пуп. Могут проявлять тягу показывать свои половые органы и то, как они мочатся, другим детям. «Пробуют на вкус» неприличные слова, как бы играя ими и ожидая бурной реакции взрослых. Требуют, чтобы на них не смотрели, когда они раздеваются, но сами проявляют острый интерес к обнажению других людей, могут подглядывать за ними.</a:t>
            </a:r>
          </a:p>
        </p:txBody>
      </p:sp>
    </p:spTree>
    <p:extLst>
      <p:ext uri="{BB962C8B-B14F-4D97-AF65-F5344CB8AC3E}">
        <p14:creationId xmlns:p14="http://schemas.microsoft.com/office/powerpoint/2010/main" val="3835377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43471F7-D3E4-6E15-8C0E-B740B51BC8E9}"/>
              </a:ext>
            </a:extLst>
          </p:cNvPr>
          <p:cNvSpPr>
            <a:spLocks noGrp="1"/>
          </p:cNvSpPr>
          <p:nvPr>
            <p:ph idx="1"/>
          </p:nvPr>
        </p:nvSpPr>
        <p:spPr>
          <a:xfrm>
            <a:off x="838200" y="252919"/>
            <a:ext cx="10515600" cy="5919281"/>
          </a:xfrm>
        </p:spPr>
        <p:txBody>
          <a:bodyPr>
            <a:normAutofit lnSpcReduction="10000"/>
          </a:bodyPr>
          <a:lstStyle/>
          <a:p>
            <a:pPr fontAlgn="base"/>
            <a:r>
              <a:rPr lang="ru-RU" dirty="0">
                <a:latin typeface="Times New Roman" panose="02020603050405020304" pitchFamily="18" charset="0"/>
                <a:cs typeface="Times New Roman" panose="02020603050405020304" pitchFamily="18" charset="0"/>
              </a:rPr>
              <a:t>В 5 лет выраженный интерес к анатомическим различиям полов у многих детей пропадает. Появляются вопросы о детстве родителей. Хотят иметь брата или сестру, а когда вырастут — своих детей.</a:t>
            </a:r>
          </a:p>
          <a:p>
            <a:pPr fontAlgn="base"/>
            <a:r>
              <a:rPr lang="ru-RU" dirty="0">
                <a:latin typeface="Times New Roman" panose="02020603050405020304" pitchFamily="18" charset="0"/>
                <a:cs typeface="Times New Roman" panose="02020603050405020304" pitchFamily="18" charset="0"/>
              </a:rPr>
              <a:t>В 6 лет мальчики могут спрашивать о своих яичках. И мальчики, и девочки спрашивают: как иметь детей, не больно ли это? Может появиться интерес к роли отца в появлении детей. Принося домой услышанные на улице выражения, даже чувствуя их неприличность или уже зная о ней, все же произносят их, то ли ожидая реакции родителей, то ли рассчитывая на объяснения.</a:t>
            </a:r>
          </a:p>
          <a:p>
            <a:r>
              <a:rPr lang="ru-RU" dirty="0">
                <a:latin typeface="Times New Roman" panose="02020603050405020304" pitchFamily="18" charset="0"/>
                <a:cs typeface="Times New Roman" panose="02020603050405020304" pitchFamily="18" charset="0"/>
              </a:rPr>
              <a:t>Дети часто играют с половыми органами, трогают их, теребят, почесывают и т. п. Это не следует принимать за онанизм, под которым имеется в виду намеренная (хотя и не всегда осознанная) стимуляция половых органов, приносящая удовольствие.</a:t>
            </a:r>
          </a:p>
          <a:p>
            <a:pPr marL="0" indent="0">
              <a:buNone/>
            </a:pPr>
            <a:endParaRPr lang="ru-RU" dirty="0"/>
          </a:p>
        </p:txBody>
      </p:sp>
    </p:spTree>
    <p:extLst>
      <p:ext uri="{BB962C8B-B14F-4D97-AF65-F5344CB8AC3E}">
        <p14:creationId xmlns:p14="http://schemas.microsoft.com/office/powerpoint/2010/main" val="42342046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нтогенез с2.pdf" descr="Онтогенез с2.pdf">
            <a:extLst>
              <a:ext uri="{FF2B5EF4-FFF2-40B4-BE49-F238E27FC236}">
                <a16:creationId xmlns:a16="http://schemas.microsoft.com/office/drawing/2014/main" id="{135D865C-54A4-3DDC-D0A6-367B8FEA6696}"/>
              </a:ext>
            </a:extLst>
          </p:cNvPr>
          <p:cNvPicPr>
            <a:picLocks noGrp="1" noChangeAspect="1"/>
          </p:cNvPicPr>
          <p:nvPr>
            <p:ph idx="1"/>
          </p:nvPr>
        </p:nvPicPr>
        <p:blipFill>
          <a:blip r:embed="rId2"/>
          <a:stretch>
            <a:fillRect/>
          </a:stretch>
        </p:blipFill>
        <p:spPr>
          <a:xfrm>
            <a:off x="1165413" y="192220"/>
            <a:ext cx="9448800" cy="6665780"/>
          </a:xfrm>
          <a:prstGeom prst="rect">
            <a:avLst/>
          </a:prstGeom>
          <a:ln w="12700">
            <a:miter lim="400000"/>
          </a:ln>
        </p:spPr>
      </p:pic>
    </p:spTree>
    <p:extLst>
      <p:ext uri="{BB962C8B-B14F-4D97-AF65-F5344CB8AC3E}">
        <p14:creationId xmlns:p14="http://schemas.microsoft.com/office/powerpoint/2010/main" val="12366180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516E33-24D4-253C-5EAC-CAFC4C186D8A}"/>
              </a:ext>
            </a:extLst>
          </p:cNvPr>
          <p:cNvSpPr>
            <a:spLocks noGrp="1"/>
          </p:cNvSpPr>
          <p:nvPr>
            <p:ph type="title"/>
          </p:nvPr>
        </p:nvSpPr>
        <p:spPr>
          <a:xfrm>
            <a:off x="838200" y="365126"/>
            <a:ext cx="10515600" cy="697556"/>
          </a:xfrm>
        </p:spPr>
        <p:txBody>
          <a:bodyPr>
            <a:normAutofit/>
          </a:bodyPr>
          <a:lstStyle/>
          <a:p>
            <a:r>
              <a:rPr lang="ru-RU" sz="3600" dirty="0"/>
              <a:t>Мотивы сексуального дебюта</a:t>
            </a:r>
          </a:p>
        </p:txBody>
      </p:sp>
      <p:sp>
        <p:nvSpPr>
          <p:cNvPr id="3" name="Объект 2">
            <a:extLst>
              <a:ext uri="{FF2B5EF4-FFF2-40B4-BE49-F238E27FC236}">
                <a16:creationId xmlns:a16="http://schemas.microsoft.com/office/drawing/2014/main" id="{4357D64D-93B1-B72F-90FC-23AD1334DA35}"/>
              </a:ext>
            </a:extLst>
          </p:cNvPr>
          <p:cNvSpPr>
            <a:spLocks noGrp="1"/>
          </p:cNvSpPr>
          <p:nvPr>
            <p:ph idx="1"/>
          </p:nvPr>
        </p:nvSpPr>
        <p:spPr>
          <a:xfrm>
            <a:off x="838200" y="1062682"/>
            <a:ext cx="10515600" cy="5109518"/>
          </a:xfrm>
        </p:spPr>
        <p:txBody>
          <a:bodyPr>
            <a:normAutofit fontScale="92500" lnSpcReduction="20000"/>
          </a:bodyPr>
          <a:lstStyle/>
          <a:p>
            <a:pPr marL="0" indent="0">
              <a:buNone/>
            </a:pPr>
            <a:r>
              <a:rPr lang="ru-RU" sz="2400" dirty="0">
                <a:latin typeface="Times New Roman" panose="02020603050405020304" pitchFamily="18" charset="0"/>
                <a:cs typeface="Times New Roman" panose="02020603050405020304" pitchFamily="18" charset="0"/>
              </a:rPr>
              <a:t>Первый половой акт в подростковом возрасте</a:t>
            </a:r>
          </a:p>
          <a:p>
            <a:r>
              <a:rPr lang="ru-RU" sz="2400" dirty="0">
                <a:latin typeface="Times New Roman" panose="02020603050405020304" pitchFamily="18" charset="0"/>
                <a:cs typeface="Times New Roman" panose="02020603050405020304" pitchFamily="18" charset="0"/>
              </a:rPr>
              <a:t>это посвящение во взрослую жизнь</a:t>
            </a:r>
          </a:p>
          <a:p>
            <a:r>
              <a:rPr lang="ru-RU" sz="2400" dirty="0">
                <a:latin typeface="Times New Roman" panose="02020603050405020304" pitchFamily="18" charset="0"/>
                <a:cs typeface="Times New Roman" panose="02020603050405020304" pitchFamily="18" charset="0"/>
              </a:rPr>
              <a:t>Любовь или доказательство любви</a:t>
            </a:r>
          </a:p>
          <a:p>
            <a:r>
              <a:rPr lang="ru-RU" sz="2400" dirty="0">
                <a:latin typeface="Times New Roman" panose="02020603050405020304" pitchFamily="18" charset="0"/>
                <a:cs typeface="Times New Roman" panose="02020603050405020304" pitchFamily="18" charset="0"/>
              </a:rPr>
              <a:t>Потребность в доверительном общении</a:t>
            </a:r>
          </a:p>
          <a:p>
            <a:r>
              <a:rPr lang="ru-RU" sz="2400" dirty="0">
                <a:latin typeface="Times New Roman" panose="02020603050405020304" pitchFamily="18" charset="0"/>
                <a:cs typeface="Times New Roman" panose="02020603050405020304" pitchFamily="18" charset="0"/>
              </a:rPr>
              <a:t>Любопытство, настояния партнера или сексуальный импульс</a:t>
            </a:r>
          </a:p>
          <a:p>
            <a:r>
              <a:rPr lang="ru-RU" sz="2400" dirty="0">
                <a:latin typeface="Times New Roman" panose="02020603050405020304" pitchFamily="18" charset="0"/>
                <a:cs typeface="Times New Roman" panose="02020603050405020304" pitchFamily="18" charset="0"/>
              </a:rPr>
              <a:t>Пример сверстников, желание быть как все</a:t>
            </a:r>
          </a:p>
          <a:p>
            <a:r>
              <a:rPr lang="ru-RU" sz="2400" dirty="0">
                <a:latin typeface="Times New Roman" panose="02020603050405020304" pitchFamily="18" charset="0"/>
                <a:cs typeface="Times New Roman" panose="02020603050405020304" pitchFamily="18" charset="0"/>
              </a:rPr>
              <a:t>Насилие, совращение</a:t>
            </a:r>
          </a:p>
          <a:p>
            <a:r>
              <a:rPr lang="ru-RU" sz="2400" dirty="0">
                <a:latin typeface="Times New Roman" panose="02020603050405020304" pitchFamily="18" charset="0"/>
                <a:cs typeface="Times New Roman" panose="02020603050405020304" pitchFamily="18" charset="0"/>
              </a:rPr>
              <a:t>Влияние алкоголя</a:t>
            </a:r>
          </a:p>
          <a:p>
            <a:r>
              <a:rPr lang="ru-RU" sz="2400" dirty="0">
                <a:latin typeface="Times New Roman" panose="02020603050405020304" pitchFamily="18" charset="0"/>
                <a:cs typeface="Times New Roman" panose="02020603050405020304" pitchFamily="18" charset="0"/>
              </a:rPr>
              <a:t>Страх лишиться партнера</a:t>
            </a:r>
          </a:p>
          <a:p>
            <a:r>
              <a:rPr lang="ru-RU" sz="2400" dirty="0">
                <a:latin typeface="Times New Roman" panose="02020603050405020304" pitchFamily="18" charset="0"/>
                <a:cs typeface="Times New Roman" panose="02020603050405020304" pitchFamily="18" charset="0"/>
              </a:rPr>
              <a:t>Протест</a:t>
            </a:r>
          </a:p>
          <a:p>
            <a:r>
              <a:rPr lang="ru-RU" sz="2400" dirty="0">
                <a:latin typeface="Times New Roman" panose="02020603050405020304" pitchFamily="18" charset="0"/>
                <a:cs typeface="Times New Roman" panose="02020603050405020304" pitchFamily="18" charset="0"/>
              </a:rPr>
              <a:t>И т.д.</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dirty="0">
                <a:latin typeface="Times New Roman" panose="02020603050405020304" pitchFamily="18" charset="0"/>
                <a:cs typeface="Times New Roman" panose="02020603050405020304" pitchFamily="18" charset="0"/>
              </a:rPr>
              <a:t>Для чего мы затрагиваем тему первого полового акта в консультировании?</a:t>
            </a:r>
          </a:p>
        </p:txBody>
      </p:sp>
    </p:spTree>
    <p:extLst>
      <p:ext uri="{BB962C8B-B14F-4D97-AF65-F5344CB8AC3E}">
        <p14:creationId xmlns:p14="http://schemas.microsoft.com/office/powerpoint/2010/main" val="2317130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8DF431-FC64-D0D6-30A4-159CF44F2480}"/>
              </a:ext>
            </a:extLst>
          </p:cNvPr>
          <p:cNvSpPr>
            <a:spLocks noGrp="1"/>
          </p:cNvSpPr>
          <p:nvPr>
            <p:ph type="title"/>
          </p:nvPr>
        </p:nvSpPr>
        <p:spPr>
          <a:xfrm>
            <a:off x="838200" y="365125"/>
            <a:ext cx="10515600" cy="619613"/>
          </a:xfrm>
        </p:spPr>
        <p:txBody>
          <a:bodyPr>
            <a:normAutofit/>
          </a:bodyPr>
          <a:lstStyle/>
          <a:p>
            <a:r>
              <a:rPr lang="ru-RU" sz="3200" dirty="0">
                <a:latin typeface="Times New Roman" panose="02020603050405020304" pitchFamily="18" charset="0"/>
                <a:cs typeface="Times New Roman" panose="02020603050405020304" pitchFamily="18" charset="0"/>
              </a:rPr>
              <a:t>Упражнение «История сексуальности»</a:t>
            </a:r>
          </a:p>
        </p:txBody>
      </p:sp>
      <p:sp>
        <p:nvSpPr>
          <p:cNvPr id="3" name="Объект 2">
            <a:extLst>
              <a:ext uri="{FF2B5EF4-FFF2-40B4-BE49-F238E27FC236}">
                <a16:creationId xmlns:a16="http://schemas.microsoft.com/office/drawing/2014/main" id="{ACB18BD8-F519-31A5-E527-69CF0780A544}"/>
              </a:ext>
            </a:extLst>
          </p:cNvPr>
          <p:cNvSpPr>
            <a:spLocks noGrp="1"/>
          </p:cNvSpPr>
          <p:nvPr>
            <p:ph idx="1"/>
          </p:nvPr>
        </p:nvSpPr>
        <p:spPr>
          <a:xfrm>
            <a:off x="838200" y="984738"/>
            <a:ext cx="10515600" cy="5187462"/>
          </a:xfrm>
        </p:spPr>
        <p:txBody>
          <a:bodyPr>
            <a:normAutofit lnSpcReduction="10000"/>
          </a:bodyPr>
          <a:lstStyle/>
          <a:p>
            <a:pPr marL="0" indent="0">
              <a:buNone/>
            </a:pPr>
            <a:r>
              <a:rPr lang="ru-RU" sz="2000" dirty="0">
                <a:latin typeface="Times New Roman" panose="02020603050405020304" pitchFamily="18" charset="0"/>
                <a:cs typeface="Times New Roman" panose="02020603050405020304" pitchFamily="18" charset="0"/>
              </a:rPr>
              <a:t>Вспомните и опишите что вы думали о сексе в детстве?</a:t>
            </a:r>
          </a:p>
          <a:p>
            <a:pPr marL="0" indent="0">
              <a:buNone/>
            </a:pPr>
            <a:r>
              <a:rPr lang="ru-RU" sz="2000" dirty="0">
                <a:latin typeface="Times New Roman" panose="02020603050405020304" pitchFamily="18" charset="0"/>
                <a:cs typeface="Times New Roman" panose="02020603050405020304" pitchFamily="18" charset="0"/>
              </a:rPr>
              <a:t>С кем вы говорили о мастурбации? О сексе?</a:t>
            </a:r>
          </a:p>
          <a:p>
            <a:pPr marL="0" indent="0">
              <a:buNone/>
            </a:pPr>
            <a:r>
              <a:rPr lang="ru-RU" sz="2000" dirty="0">
                <a:latin typeface="Times New Roman" panose="02020603050405020304" pitchFamily="18" charset="0"/>
                <a:cs typeface="Times New Roman" panose="02020603050405020304" pitchFamily="18" charset="0"/>
              </a:rPr>
              <a:t>Какое влияние на вашу сексуальную историю оказали раса, культура, способности, </a:t>
            </a:r>
            <a:r>
              <a:rPr lang="ru-RU" sz="2000" dirty="0" err="1">
                <a:latin typeface="Times New Roman" panose="02020603050405020304" pitchFamily="18" charset="0"/>
                <a:cs typeface="Times New Roman" panose="02020603050405020304" pitchFamily="18" charset="0"/>
              </a:rPr>
              <a:t>релиния</a:t>
            </a:r>
            <a:r>
              <a:rPr lang="ru-RU" sz="2000" dirty="0">
                <a:latin typeface="Times New Roman" panose="02020603050405020304" pitchFamily="18" charset="0"/>
                <a:cs typeface="Times New Roman" panose="02020603050405020304" pitchFamily="18" charset="0"/>
              </a:rPr>
              <a:t>, окружение, возраст?</a:t>
            </a:r>
          </a:p>
          <a:p>
            <a:pPr marL="0" indent="0">
              <a:buNone/>
            </a:pPr>
            <a:r>
              <a:rPr lang="ru-RU" sz="2000" dirty="0">
                <a:latin typeface="Times New Roman" panose="02020603050405020304" pitchFamily="18" charset="0"/>
                <a:cs typeface="Times New Roman" panose="02020603050405020304" pitchFamily="18" charset="0"/>
              </a:rPr>
              <a:t>Какую информацию о сексе вы получали из телевизора, фильмов, журналов. Как эта информация повлияла на вас?</a:t>
            </a:r>
          </a:p>
          <a:p>
            <a:pPr marL="0" indent="0">
              <a:buNone/>
            </a:pPr>
            <a:endParaRPr lang="ru-RU" sz="2000" dirty="0">
              <a:latin typeface="Times New Roman" panose="02020603050405020304" pitchFamily="18" charset="0"/>
              <a:cs typeface="Times New Roman" panose="02020603050405020304" pitchFamily="18" charset="0"/>
            </a:endParaRPr>
          </a:p>
          <a:p>
            <a:pPr marL="0" indent="0">
              <a:buNone/>
            </a:pPr>
            <a:r>
              <a:rPr lang="ru-RU" sz="2000" dirty="0">
                <a:latin typeface="Times New Roman" panose="02020603050405020304" pitchFamily="18" charset="0"/>
                <a:cs typeface="Times New Roman" panose="02020603050405020304" pitchFamily="18" charset="0"/>
              </a:rPr>
              <a:t>После того как вы напишете свою историю сексуальности, работаем в парах «клиент- </a:t>
            </a:r>
            <a:r>
              <a:rPr lang="ru-RU" sz="2000" dirty="0" err="1">
                <a:latin typeface="Times New Roman" panose="02020603050405020304" pitchFamily="18" charset="0"/>
                <a:cs typeface="Times New Roman" panose="02020603050405020304" pitchFamily="18" charset="0"/>
              </a:rPr>
              <a:t>психлог</a:t>
            </a:r>
            <a:r>
              <a:rPr lang="ru-RU" sz="2000" dirty="0">
                <a:latin typeface="Times New Roman" panose="02020603050405020304" pitchFamily="18" charset="0"/>
                <a:cs typeface="Times New Roman" panose="02020603050405020304" pitchFamily="18" charset="0"/>
              </a:rPr>
              <a:t>».</a:t>
            </a:r>
          </a:p>
          <a:p>
            <a:pPr>
              <a:buFontTx/>
              <a:buChar char="-"/>
            </a:pPr>
            <a:r>
              <a:rPr lang="ru-RU" sz="2000" dirty="0">
                <a:latin typeface="Times New Roman" panose="02020603050405020304" pitchFamily="18" charset="0"/>
                <a:cs typeface="Times New Roman" panose="02020603050405020304" pitchFamily="18" charset="0"/>
              </a:rPr>
              <a:t>Каково влияние этой истории на любой компонент вашей сексуальности вы чувствуете? ( как положительное так и отрицательное)</a:t>
            </a:r>
          </a:p>
          <a:p>
            <a:pPr>
              <a:buFontTx/>
              <a:buChar char="-"/>
            </a:pPr>
            <a:r>
              <a:rPr lang="ru-RU" sz="2000" dirty="0">
                <a:latin typeface="Times New Roman" panose="02020603050405020304" pitchFamily="18" charset="0"/>
                <a:cs typeface="Times New Roman" panose="02020603050405020304" pitchFamily="18" charset="0"/>
              </a:rPr>
              <a:t>От каких убеждений вы готовы отказаться ( о сексе, о своем теле, о партнере) вы готовы отказаться, а какие оставите?</a:t>
            </a:r>
          </a:p>
          <a:p>
            <a:pPr>
              <a:buFontTx/>
              <a:buChar char="-"/>
            </a:pPr>
            <a:r>
              <a:rPr lang="ru-RU" sz="2000" dirty="0">
                <a:latin typeface="Times New Roman" panose="02020603050405020304" pitchFamily="18" charset="0"/>
                <a:cs typeface="Times New Roman" panose="02020603050405020304" pitchFamily="18" charset="0"/>
              </a:rPr>
              <a:t>Составьте план, как это можно сделать?</a:t>
            </a:r>
          </a:p>
        </p:txBody>
      </p:sp>
    </p:spTree>
    <p:extLst>
      <p:ext uri="{BB962C8B-B14F-4D97-AF65-F5344CB8AC3E}">
        <p14:creationId xmlns:p14="http://schemas.microsoft.com/office/powerpoint/2010/main" val="19059910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518E02-B0A8-01FD-0A0A-30E6224409C3}"/>
              </a:ext>
            </a:extLst>
          </p:cNvPr>
          <p:cNvSpPr>
            <a:spLocks noGrp="1"/>
          </p:cNvSpPr>
          <p:nvPr>
            <p:ph type="title"/>
          </p:nvPr>
        </p:nvSpPr>
        <p:spPr>
          <a:xfrm>
            <a:off x="838200" y="365125"/>
            <a:ext cx="10515600" cy="654783"/>
          </a:xfrm>
        </p:spPr>
        <p:txBody>
          <a:bodyPr>
            <a:normAutofit/>
          </a:bodyPr>
          <a:lstStyle/>
          <a:p>
            <a:r>
              <a:rPr lang="ru-RU" sz="3200" dirty="0"/>
              <a:t>Упражнение «Сексуальная биография»</a:t>
            </a:r>
          </a:p>
        </p:txBody>
      </p:sp>
      <p:sp>
        <p:nvSpPr>
          <p:cNvPr id="3" name="Объект 2">
            <a:extLst>
              <a:ext uri="{FF2B5EF4-FFF2-40B4-BE49-F238E27FC236}">
                <a16:creationId xmlns:a16="http://schemas.microsoft.com/office/drawing/2014/main" id="{BE20ADDE-234E-482D-6C09-5BCFF8AA195E}"/>
              </a:ext>
            </a:extLst>
          </p:cNvPr>
          <p:cNvSpPr>
            <a:spLocks noGrp="1"/>
          </p:cNvSpPr>
          <p:nvPr>
            <p:ph idx="1"/>
          </p:nvPr>
        </p:nvSpPr>
        <p:spPr>
          <a:xfrm>
            <a:off x="123092" y="1019908"/>
            <a:ext cx="12068908" cy="5715000"/>
          </a:xfrm>
        </p:spPr>
        <p:txBody>
          <a:bodyPr>
            <a:noAutofit/>
          </a:bodyPr>
          <a:lstStyle/>
          <a:p>
            <a:pPr marL="0" indent="0">
              <a:buNone/>
            </a:pPr>
            <a:r>
              <a:rPr lang="ru-RU" sz="1600" dirty="0">
                <a:latin typeface="Times New Roman" panose="02020603050405020304" pitchFamily="18" charset="0"/>
                <a:cs typeface="Times New Roman" panose="02020603050405020304" pitchFamily="18" charset="0"/>
              </a:rPr>
              <a:t>Подумайте о своей сексуальной истории. начиная с самого раннего возраста, и запишите историю развития вашей сексуальности, опираясь на следующее:</a:t>
            </a:r>
          </a:p>
          <a:p>
            <a:pPr marL="0" indent="0">
              <a:buNone/>
            </a:pPr>
            <a:endParaRPr lang="ru-RU" sz="1600" dirty="0">
              <a:latin typeface="Times New Roman" panose="02020603050405020304" pitchFamily="18" charset="0"/>
              <a:cs typeface="Times New Roman" panose="02020603050405020304" pitchFamily="18" charset="0"/>
            </a:endParaRPr>
          </a:p>
          <a:p>
            <a:r>
              <a:rPr lang="ru-RU" sz="1600" dirty="0">
                <a:latin typeface="Times New Roman" panose="02020603050405020304" pitchFamily="18" charset="0"/>
                <a:cs typeface="Times New Roman" panose="02020603050405020304" pitchFamily="18" charset="0"/>
              </a:rPr>
              <a:t>Детские воспоминания о вашем теле и прикосновениях к себе, а также о любых реакциях на это со стороны членов семьи.</a:t>
            </a:r>
          </a:p>
          <a:p>
            <a:r>
              <a:rPr lang="ru-RU" sz="1600" dirty="0">
                <a:latin typeface="Times New Roman" panose="02020603050405020304" pitchFamily="18" charset="0"/>
                <a:cs typeface="Times New Roman" panose="02020603050405020304" pitchFamily="18" charset="0"/>
              </a:rPr>
              <a:t>Как вы называли различные части тела в детстве?</a:t>
            </a:r>
          </a:p>
          <a:p>
            <a:r>
              <a:rPr lang="ru-RU" sz="1600" dirty="0">
                <a:latin typeface="Times New Roman" panose="02020603050405020304" pitchFamily="18" charset="0"/>
                <a:cs typeface="Times New Roman" panose="02020603050405020304" pitchFamily="18" charset="0"/>
              </a:rPr>
              <a:t>Сообщали ли вам о праве на телесную независимость?</a:t>
            </a:r>
          </a:p>
          <a:p>
            <a:r>
              <a:rPr lang="ru-RU" sz="1600" dirty="0">
                <a:latin typeface="Times New Roman" panose="02020603050405020304" pitchFamily="18" charset="0"/>
                <a:cs typeface="Times New Roman" panose="02020603050405020304" pitchFamily="18" charset="0"/>
              </a:rPr>
              <a:t>Любые неприятные сексуальные переживания, какими бы «незначительными» они вам ни казались.</a:t>
            </a:r>
          </a:p>
          <a:p>
            <a:r>
              <a:rPr lang="ru-RU" sz="1600" dirty="0">
                <a:latin typeface="Times New Roman" panose="02020603050405020304" pitchFamily="18" charset="0"/>
                <a:cs typeface="Times New Roman" panose="02020603050405020304" pitchFamily="18" charset="0"/>
              </a:rPr>
              <a:t>Как ваша сексуальность начала проявляться в период полового созревания: что вы в связи с этим испытывали: гордость или стыд?</a:t>
            </a:r>
          </a:p>
          <a:p>
            <a:r>
              <a:rPr lang="ru-RU" sz="1600" dirty="0">
                <a:latin typeface="Times New Roman" panose="02020603050405020304" pitchFamily="18" charset="0"/>
                <a:cs typeface="Times New Roman" panose="02020603050405020304" pitchFamily="18" charset="0"/>
              </a:rPr>
              <a:t>Как было принято говорить о сексе, какой подтекст был у этих разговоров?</a:t>
            </a:r>
          </a:p>
          <a:p>
            <a:r>
              <a:rPr lang="ru-RU" sz="1600" dirty="0">
                <a:latin typeface="Times New Roman" panose="02020603050405020304" pitchFamily="18" charset="0"/>
                <a:cs typeface="Times New Roman" panose="02020603050405020304" pitchFamily="18" charset="0"/>
              </a:rPr>
              <a:t>Каким образом значимые для вас взрослые демонстрировали свою сексуальность, и что вы позаимствовали из других примеров.</a:t>
            </a:r>
          </a:p>
          <a:p>
            <a:r>
              <a:rPr lang="ru-RU" sz="1600" dirty="0">
                <a:latin typeface="Times New Roman" panose="02020603050405020304" pitchFamily="18" charset="0"/>
                <a:cs typeface="Times New Roman" panose="02020603050405020304" pitchFamily="18" charset="0"/>
              </a:rPr>
              <a:t>Как вы относились к своему телу с юных лет?</a:t>
            </a:r>
          </a:p>
          <a:p>
            <a:r>
              <a:rPr lang="ru-RU" sz="1600" dirty="0">
                <a:latin typeface="Times New Roman" panose="02020603050405020304" pitchFamily="18" charset="0"/>
                <a:cs typeface="Times New Roman" panose="02020603050405020304" pitchFamily="18" charset="0"/>
              </a:rPr>
              <a:t>Как вы отнеслись к началу менструации (первой поллюции)? </a:t>
            </a:r>
          </a:p>
          <a:p>
            <a:r>
              <a:rPr lang="ru-RU" sz="1600" dirty="0">
                <a:latin typeface="Times New Roman" panose="02020603050405020304" pitchFamily="18" charset="0"/>
                <a:cs typeface="Times New Roman" panose="02020603050405020304" pitchFamily="18" charset="0"/>
              </a:rPr>
              <a:t>Помните ли вы ранние проявления эротических чувств, первые сексуальные переживания? Какую роль в сексе вы научились играть в юном возрасте?</a:t>
            </a:r>
          </a:p>
          <a:p>
            <a:r>
              <a:rPr lang="ru-RU" sz="1600" dirty="0">
                <a:latin typeface="Times New Roman" panose="02020603050405020304" pitchFamily="18" charset="0"/>
                <a:cs typeface="Times New Roman" panose="02020603050405020304" pitchFamily="18" charset="0"/>
              </a:rPr>
              <a:t>О каких правилах секса (что надо делать, чего следует избегать и почему) вы узнали? </a:t>
            </a:r>
          </a:p>
          <a:p>
            <a:r>
              <a:rPr lang="ru-RU" sz="1600" dirty="0">
                <a:latin typeface="Times New Roman" panose="02020603050405020304" pitchFamily="18" charset="0"/>
                <a:cs typeface="Times New Roman" panose="02020603050405020304" pitchFamily="18" charset="0"/>
              </a:rPr>
              <a:t>Чье удовольствие было приоритетом и как вы тогда относились к этому?</a:t>
            </a:r>
          </a:p>
        </p:txBody>
      </p:sp>
    </p:spTree>
    <p:extLst>
      <p:ext uri="{BB962C8B-B14F-4D97-AF65-F5344CB8AC3E}">
        <p14:creationId xmlns:p14="http://schemas.microsoft.com/office/powerpoint/2010/main" val="27098147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BC768-FE61-41C8-B9F6-82519BBE15AB}"/>
              </a:ext>
            </a:extLst>
          </p:cNvPr>
          <p:cNvSpPr>
            <a:spLocks noGrp="1"/>
          </p:cNvSpPr>
          <p:nvPr>
            <p:ph type="title"/>
          </p:nvPr>
        </p:nvSpPr>
        <p:spPr>
          <a:xfrm>
            <a:off x="2667000" y="142386"/>
            <a:ext cx="6576647" cy="709002"/>
          </a:xfrm>
        </p:spPr>
        <p:txBody>
          <a:bodyPr>
            <a:normAutofit/>
          </a:bodyPr>
          <a:lstStyle/>
          <a:p>
            <a:r>
              <a:rPr lang="ru-RU" sz="3200" dirty="0">
                <a:solidFill>
                  <a:schemeClr val="accent2">
                    <a:lumMod val="75000"/>
                  </a:schemeClr>
                </a:solidFill>
              </a:rPr>
              <a:t>Стадии развития либидо</a:t>
            </a:r>
          </a:p>
        </p:txBody>
      </p:sp>
      <p:sp>
        <p:nvSpPr>
          <p:cNvPr id="3" name="Объект 2">
            <a:extLst>
              <a:ext uri="{FF2B5EF4-FFF2-40B4-BE49-F238E27FC236}">
                <a16:creationId xmlns:a16="http://schemas.microsoft.com/office/drawing/2014/main" id="{4C6AA3E1-671A-4FF0-BD48-2A1B30B054A3}"/>
              </a:ext>
            </a:extLst>
          </p:cNvPr>
          <p:cNvSpPr>
            <a:spLocks noGrp="1"/>
          </p:cNvSpPr>
          <p:nvPr>
            <p:ph idx="1"/>
          </p:nvPr>
        </p:nvSpPr>
        <p:spPr>
          <a:xfrm>
            <a:off x="322385" y="861235"/>
            <a:ext cx="11652738" cy="5732748"/>
          </a:xfrm>
        </p:spPr>
        <p:txBody>
          <a:bodyPr vert="horz" lIns="91440" tIns="45720" rIns="91440" bIns="45720" rtlCol="0" anchor="t">
            <a:noAutofit/>
          </a:bodyPr>
          <a:lstStyle/>
          <a:p>
            <a:r>
              <a:rPr lang="ru-RU" sz="1800" b="1" dirty="0">
                <a:latin typeface="Times New Roman"/>
                <a:cs typeface="Times New Roman"/>
              </a:rPr>
              <a:t>Платоническая фаза</a:t>
            </a:r>
            <a:endParaRPr lang="ru-RU" sz="1800">
              <a:latin typeface="Times New Roman"/>
              <a:cs typeface="Times New Roman"/>
            </a:endParaRPr>
          </a:p>
          <a:p>
            <a:pPr marL="0" indent="0">
              <a:buNone/>
            </a:pPr>
            <a:r>
              <a:rPr lang="ru-RU" sz="1800" dirty="0">
                <a:latin typeface="Times New Roman"/>
                <a:ea typeface="+mn-lt"/>
                <a:cs typeface="+mn-lt"/>
              </a:rPr>
              <a:t>Время той самой «первой любви». Когда вы впервые влюбились? В школе? В детском саду? Что вы чувствовали?</a:t>
            </a:r>
            <a:endParaRPr lang="ru-RU" sz="1800">
              <a:latin typeface="Times New Roman"/>
              <a:cs typeface="Times New Roman"/>
            </a:endParaRPr>
          </a:p>
          <a:p>
            <a:pPr marL="0" indent="0">
              <a:buNone/>
            </a:pPr>
            <a:r>
              <a:rPr lang="ru-RU" sz="1800" dirty="0">
                <a:latin typeface="Times New Roman"/>
                <a:ea typeface="+mn-lt"/>
                <a:cs typeface="+mn-lt"/>
              </a:rPr>
              <a:t>Либидо в платонической фазе — это когда при виде объекта любви сердце начинает стучать сильнее, ладони потеют, слова пропадают, а щеки краснеют. Первой любви свойственно чувство одиночества, ощущение, что твои чувства уникальны и никто никогда не любил так, как ты. Объектом платонической любви может быть и ровесник, и взрослый, в том числе незнакомый — например, артист. Платоническая любовь чаще всего не взаимна, что еще сильнее обостряет чувства — и это нормально, так и должно быть.</a:t>
            </a:r>
            <a:endParaRPr lang="ru-RU" sz="1800">
              <a:latin typeface="Times New Roman"/>
              <a:cs typeface="Times New Roman"/>
            </a:endParaRPr>
          </a:p>
          <a:p>
            <a:pPr marL="0" indent="0">
              <a:buNone/>
            </a:pPr>
            <a:r>
              <a:rPr lang="ru-RU" sz="1800" b="1" dirty="0">
                <a:latin typeface="Times New Roman"/>
                <a:ea typeface="+mn-lt"/>
                <a:cs typeface="+mn-lt"/>
              </a:rPr>
              <a:t>Платоническое либидо считается завершенным в том случае, если не было запрета на чувства</a:t>
            </a:r>
            <a:endParaRPr lang="ru-RU" sz="1800" b="1" dirty="0">
              <a:latin typeface="Times New Roman"/>
              <a:cs typeface="Times New Roman"/>
            </a:endParaRPr>
          </a:p>
          <a:p>
            <a:pPr marL="0" indent="0">
              <a:buNone/>
            </a:pPr>
            <a:r>
              <a:rPr lang="ru-RU" sz="1800" dirty="0">
                <a:latin typeface="Times New Roman"/>
                <a:ea typeface="+mn-lt"/>
                <a:cs typeface="+mn-lt"/>
              </a:rPr>
              <a:t>Родители и педагоги, желая поддержать подростка в этот период, совершают большую ошибку, говоря: «да забудь ты о нем/о ней», «нашел из-за чего страдать, не о том думаешь», «да у тебя еще сто таких будет», «нечего за ней бегать, ишь какая гордая». В лучшем случае эти слова ослабят контакт с ребенком, в худшем — не дадут ему полноценно пережить эту базовую фазу </a:t>
            </a:r>
            <a:r>
              <a:rPr lang="ru-RU" sz="1800" dirty="0" err="1">
                <a:latin typeface="Times New Roman"/>
                <a:ea typeface="+mn-lt"/>
                <a:cs typeface="+mn-lt"/>
              </a:rPr>
              <a:t>психосексуального</a:t>
            </a:r>
            <a:r>
              <a:rPr lang="ru-RU" sz="1800" dirty="0">
                <a:latin typeface="Times New Roman"/>
                <a:ea typeface="+mn-lt"/>
                <a:cs typeface="+mn-lt"/>
              </a:rPr>
              <a:t> развития.</a:t>
            </a:r>
            <a:endParaRPr lang="ru-RU" sz="1800">
              <a:latin typeface="Times New Roman"/>
              <a:cs typeface="Times New Roman"/>
            </a:endParaRPr>
          </a:p>
          <a:p>
            <a:pPr marL="0" indent="0">
              <a:buNone/>
            </a:pPr>
            <a:r>
              <a:rPr lang="ru-RU" sz="1800" dirty="0">
                <a:latin typeface="Times New Roman"/>
                <a:ea typeface="+mn-lt"/>
                <a:cs typeface="+mn-lt"/>
              </a:rPr>
              <a:t>Эти первые эмоции и переживания крайне важны для перехода на следующий уровень развития либидо и, как следствие, для становления гармоничных отношений с противоположным полом в будущем. Платоническое либидо считается завершенным, сформированным в том случае, если не было запрета на чувства и у подростка была возможность с головой погрузиться в переживания и предпринимать попытки привлечь внимание объекта обожания — даже если эти попытки не увенчались успехом.</a:t>
            </a:r>
            <a:endParaRPr lang="ru-RU" sz="1800" dirty="0">
              <a:latin typeface="Times New Roman"/>
              <a:cs typeface="Times New Roman"/>
            </a:endParaRPr>
          </a:p>
        </p:txBody>
      </p:sp>
    </p:spTree>
    <p:extLst>
      <p:ext uri="{BB962C8B-B14F-4D97-AF65-F5344CB8AC3E}">
        <p14:creationId xmlns:p14="http://schemas.microsoft.com/office/powerpoint/2010/main" val="6659179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BC768-FE61-41C8-B9F6-82519BBE15AB}"/>
              </a:ext>
            </a:extLst>
          </p:cNvPr>
          <p:cNvSpPr>
            <a:spLocks noGrp="1"/>
          </p:cNvSpPr>
          <p:nvPr>
            <p:ph type="title"/>
          </p:nvPr>
        </p:nvSpPr>
        <p:spPr>
          <a:xfrm>
            <a:off x="2667000" y="142386"/>
            <a:ext cx="6576647" cy="709002"/>
          </a:xfrm>
        </p:spPr>
        <p:txBody>
          <a:bodyPr>
            <a:normAutofit/>
          </a:bodyPr>
          <a:lstStyle/>
          <a:p>
            <a:r>
              <a:rPr lang="ru-RU" sz="3200" dirty="0">
                <a:solidFill>
                  <a:schemeClr val="accent2">
                    <a:lumMod val="75000"/>
                  </a:schemeClr>
                </a:solidFill>
              </a:rPr>
              <a:t>Стадии развития либидо</a:t>
            </a:r>
          </a:p>
        </p:txBody>
      </p:sp>
      <p:sp>
        <p:nvSpPr>
          <p:cNvPr id="3" name="Объект 2">
            <a:extLst>
              <a:ext uri="{FF2B5EF4-FFF2-40B4-BE49-F238E27FC236}">
                <a16:creationId xmlns:a16="http://schemas.microsoft.com/office/drawing/2014/main" id="{4C6AA3E1-671A-4FF0-BD48-2A1B30B054A3}"/>
              </a:ext>
            </a:extLst>
          </p:cNvPr>
          <p:cNvSpPr>
            <a:spLocks noGrp="1"/>
          </p:cNvSpPr>
          <p:nvPr>
            <p:ph idx="1"/>
          </p:nvPr>
        </p:nvSpPr>
        <p:spPr>
          <a:xfrm>
            <a:off x="322385" y="861235"/>
            <a:ext cx="11652738" cy="5732748"/>
          </a:xfrm>
        </p:spPr>
        <p:txBody>
          <a:bodyPr vert="horz" lIns="91440" tIns="45720" rIns="91440" bIns="45720" rtlCol="0" anchor="t">
            <a:noAutofit/>
          </a:bodyPr>
          <a:lstStyle/>
          <a:p>
            <a:r>
              <a:rPr lang="ru-RU" sz="2000" b="1" dirty="0">
                <a:latin typeface="Times New Roman"/>
                <a:cs typeface="Times New Roman"/>
              </a:rPr>
              <a:t>Эротическая фаза</a:t>
            </a:r>
          </a:p>
          <a:p>
            <a:pPr marL="0" indent="0">
              <a:buNone/>
            </a:pPr>
            <a:r>
              <a:rPr lang="ru-RU" sz="2000" dirty="0">
                <a:latin typeface="Times New Roman"/>
                <a:ea typeface="+mn-lt"/>
                <a:cs typeface="+mn-lt"/>
              </a:rPr>
              <a:t>И вот однажды она или он отвечает взаимностью, завязываются отношения. Это еще не полноценные «взрослые» отношения, а этап познаний, открытий и экспериментов. Как правило, эротическая фаза приходится на период полового созревания. Возникает интерес к интимной стороне отношений, появляется стремление к нежности и ласкам. Задача в этот период — как можно лучше узнать себя: как те или иные участки тела реагируют на прикосновения, что доставляет удовольствие, а что может быть неприятно. Также на этом этапе происходит первое, пока очень поверхностное знакомство с телом партнера.</a:t>
            </a:r>
            <a:endParaRPr lang="ru-RU" sz="2000">
              <a:latin typeface="Times New Roman"/>
              <a:cs typeface="Times New Roman"/>
            </a:endParaRPr>
          </a:p>
          <a:p>
            <a:endParaRPr lang="ru-RU" sz="2000" b="1" dirty="0">
              <a:latin typeface="Times New Roman"/>
              <a:cs typeface="Times New Roman"/>
            </a:endParaRPr>
          </a:p>
          <a:p>
            <a:pPr marL="0" indent="0">
              <a:buNone/>
            </a:pPr>
            <a:r>
              <a:rPr lang="ru-RU" sz="2000" dirty="0">
                <a:latin typeface="Times New Roman"/>
                <a:ea typeface="+mn-lt"/>
                <a:cs typeface="+mn-lt"/>
              </a:rPr>
              <a:t>Эротическая фаза особенно важна в становлении женского либидо. У юношей она часто проходит очень быстро, и из-за этого несоответствия девушки могут проживать эту стадию неполноценно. В результате на следующем этапе, когда начинается сексуальная жизнь с партнером, женщина все время ощущает недостаток ласки и внимания.</a:t>
            </a:r>
            <a:endParaRPr lang="ru-RU" sz="2000" b="1" dirty="0">
              <a:latin typeface="Times New Roman"/>
              <a:cs typeface="Times New Roman"/>
            </a:endParaRPr>
          </a:p>
        </p:txBody>
      </p:sp>
    </p:spTree>
    <p:extLst>
      <p:ext uri="{BB962C8B-B14F-4D97-AF65-F5344CB8AC3E}">
        <p14:creationId xmlns:p14="http://schemas.microsoft.com/office/powerpoint/2010/main" val="16386081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0BC768-FE61-41C8-B9F6-82519BBE15AB}"/>
              </a:ext>
            </a:extLst>
          </p:cNvPr>
          <p:cNvSpPr>
            <a:spLocks noGrp="1"/>
          </p:cNvSpPr>
          <p:nvPr>
            <p:ph type="title"/>
          </p:nvPr>
        </p:nvSpPr>
        <p:spPr>
          <a:xfrm>
            <a:off x="2667000" y="142386"/>
            <a:ext cx="6576647" cy="709002"/>
          </a:xfrm>
        </p:spPr>
        <p:txBody>
          <a:bodyPr>
            <a:normAutofit/>
          </a:bodyPr>
          <a:lstStyle/>
          <a:p>
            <a:r>
              <a:rPr lang="ru-RU" sz="3200" dirty="0">
                <a:solidFill>
                  <a:schemeClr val="accent2">
                    <a:lumMod val="75000"/>
                  </a:schemeClr>
                </a:solidFill>
              </a:rPr>
              <a:t>Стадии развития либидо</a:t>
            </a:r>
          </a:p>
        </p:txBody>
      </p:sp>
      <p:sp>
        <p:nvSpPr>
          <p:cNvPr id="3" name="Объект 2">
            <a:extLst>
              <a:ext uri="{FF2B5EF4-FFF2-40B4-BE49-F238E27FC236}">
                <a16:creationId xmlns:a16="http://schemas.microsoft.com/office/drawing/2014/main" id="{4C6AA3E1-671A-4FF0-BD48-2A1B30B054A3}"/>
              </a:ext>
            </a:extLst>
          </p:cNvPr>
          <p:cNvSpPr>
            <a:spLocks noGrp="1"/>
          </p:cNvSpPr>
          <p:nvPr>
            <p:ph idx="1"/>
          </p:nvPr>
        </p:nvSpPr>
        <p:spPr>
          <a:xfrm>
            <a:off x="322385" y="861235"/>
            <a:ext cx="11652738" cy="5732748"/>
          </a:xfrm>
        </p:spPr>
        <p:txBody>
          <a:bodyPr vert="horz" lIns="91440" tIns="45720" rIns="91440" bIns="45720" rtlCol="0" anchor="t">
            <a:noAutofit/>
          </a:bodyPr>
          <a:lstStyle/>
          <a:p>
            <a:r>
              <a:rPr lang="ru-RU" b="1" dirty="0">
                <a:latin typeface="Times New Roman"/>
                <a:cs typeface="Times New Roman"/>
              </a:rPr>
              <a:t>Сексуальная фаза</a:t>
            </a:r>
          </a:p>
          <a:p>
            <a:pPr marL="0" indent="0">
              <a:buNone/>
            </a:pPr>
            <a:r>
              <a:rPr lang="ru-RU" sz="2000" dirty="0">
                <a:latin typeface="Times New Roman"/>
                <a:ea typeface="+mn-lt"/>
                <a:cs typeface="+mn-lt"/>
              </a:rPr>
              <a:t>Задача этого периода — наладить стабильную сексуальную жизнь, когда секс — не способ достижения целей и не инструмент воздействия, не эксперимент и не простой способ физической «разрядки», а самая естественная форма близости в паре.</a:t>
            </a:r>
            <a:endParaRPr lang="ru-RU">
              <a:latin typeface="Times New Roman"/>
              <a:cs typeface="Times New Roman"/>
            </a:endParaRPr>
          </a:p>
          <a:p>
            <a:pPr marL="0" indent="0">
              <a:buNone/>
            </a:pPr>
            <a:r>
              <a:rPr lang="ru-RU" sz="2000" dirty="0">
                <a:latin typeface="Times New Roman"/>
                <a:ea typeface="+mn-lt"/>
                <a:cs typeface="+mn-lt"/>
              </a:rPr>
              <a:t>Большую роль при становлении сексуального либидо играет первый партнер. Многое зависит от того, на какой фазе </a:t>
            </a:r>
            <a:r>
              <a:rPr lang="ru-RU" sz="2000" dirty="0" err="1">
                <a:latin typeface="Times New Roman"/>
                <a:ea typeface="+mn-lt"/>
                <a:cs typeface="+mn-lt"/>
              </a:rPr>
              <a:t>психосексуального</a:t>
            </a:r>
            <a:r>
              <a:rPr lang="ru-RU" sz="2000" dirty="0">
                <a:latin typeface="Times New Roman"/>
                <a:ea typeface="+mn-lt"/>
                <a:cs typeface="+mn-lt"/>
              </a:rPr>
              <a:t> развития он находится, насколько грамотен и деликатен. На этом этапе потребности юношей и девушек, как правило, различаются: молодым мужчинам присуща гиперсексуальность (стремление к частым половым контактам), что обусловлено физиологией.</a:t>
            </a:r>
            <a:endParaRPr lang="ru-RU" dirty="0">
              <a:latin typeface="Times New Roman"/>
              <a:ea typeface="+mn-lt"/>
              <a:cs typeface="+mn-lt"/>
            </a:endParaRPr>
          </a:p>
          <a:p>
            <a:pPr marL="0" indent="0">
              <a:buNone/>
            </a:pPr>
            <a:r>
              <a:rPr lang="ru-RU" sz="2000" dirty="0">
                <a:latin typeface="Times New Roman"/>
                <a:ea typeface="+mn-lt"/>
                <a:cs typeface="+mn-lt"/>
              </a:rPr>
              <a:t>Независимо от пола лишь после периода регулярной сексуальной жизни половое влечение становится зрелым, а сексуальное либидо — сформированным. Именно тогда секс принимает форму близости, становится неотъемлемой частью отношений двоих, важным и приятным процессом единения, где нет места манипуляции и конфликтам. Именно такие отношения станут лучшей основой для счастливой семейной жизни.</a:t>
            </a:r>
            <a:endParaRPr lang="ru-RU" dirty="0">
              <a:latin typeface="Times New Roman"/>
              <a:ea typeface="+mn-lt"/>
              <a:cs typeface="+mn-lt"/>
            </a:endParaRPr>
          </a:p>
          <a:p>
            <a:endParaRPr lang="ru-RU" sz="2000" b="1" dirty="0">
              <a:latin typeface="Times New Roman"/>
              <a:cs typeface="Times New Roman"/>
            </a:endParaRPr>
          </a:p>
        </p:txBody>
      </p:sp>
    </p:spTree>
    <p:extLst>
      <p:ext uri="{BB962C8B-B14F-4D97-AF65-F5344CB8AC3E}">
        <p14:creationId xmlns:p14="http://schemas.microsoft.com/office/powerpoint/2010/main" val="38689660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11E575-3374-78B5-E485-BDDED2ED16AC}"/>
              </a:ext>
            </a:extLst>
          </p:cNvPr>
          <p:cNvSpPr>
            <a:spLocks noGrp="1"/>
          </p:cNvSpPr>
          <p:nvPr>
            <p:ph type="title"/>
          </p:nvPr>
        </p:nvSpPr>
        <p:spPr>
          <a:xfrm>
            <a:off x="838200" y="365126"/>
            <a:ext cx="10515600" cy="584444"/>
          </a:xfrm>
        </p:spPr>
        <p:txBody>
          <a:bodyPr>
            <a:normAutofit/>
          </a:bodyPr>
          <a:lstStyle/>
          <a:p>
            <a:r>
              <a:rPr lang="ru-RU" sz="2800" dirty="0"/>
              <a:t>Подростковая мастурбация</a:t>
            </a:r>
          </a:p>
        </p:txBody>
      </p:sp>
      <p:sp>
        <p:nvSpPr>
          <p:cNvPr id="3" name="Объект 2">
            <a:extLst>
              <a:ext uri="{FF2B5EF4-FFF2-40B4-BE49-F238E27FC236}">
                <a16:creationId xmlns:a16="http://schemas.microsoft.com/office/drawing/2014/main" id="{C2691BE3-412E-7126-68C5-915F4648E8AC}"/>
              </a:ext>
            </a:extLst>
          </p:cNvPr>
          <p:cNvSpPr>
            <a:spLocks noGrp="1"/>
          </p:cNvSpPr>
          <p:nvPr>
            <p:ph idx="1"/>
          </p:nvPr>
        </p:nvSpPr>
        <p:spPr>
          <a:xfrm>
            <a:off x="838200" y="1305413"/>
            <a:ext cx="10515600" cy="4866787"/>
          </a:xfrm>
        </p:spPr>
        <p:txBody>
          <a:bodyPr>
            <a:normAutofit/>
          </a:bodyPr>
          <a:lstStyle/>
          <a:p>
            <a:r>
              <a:rPr lang="ru-RU" sz="2400" dirty="0">
                <a:latin typeface="Times New Roman" panose="02020603050405020304" pitchFamily="18" charset="0"/>
                <a:cs typeface="Times New Roman" panose="02020603050405020304" pitchFamily="18" charset="0"/>
              </a:rPr>
              <a:t>Снимает сексуальное напряжение</a:t>
            </a:r>
          </a:p>
          <a:p>
            <a:r>
              <a:rPr lang="ru-RU" sz="2400" dirty="0">
                <a:latin typeface="Times New Roman" panose="02020603050405020304" pitchFamily="18" charset="0"/>
                <a:cs typeface="Times New Roman" panose="02020603050405020304" pitchFamily="18" charset="0"/>
              </a:rPr>
              <a:t>Повышает уверенность в себе</a:t>
            </a:r>
          </a:p>
          <a:p>
            <a:r>
              <a:rPr lang="ru-RU" sz="2400" dirty="0">
                <a:latin typeface="Times New Roman" panose="02020603050405020304" pitchFamily="18" charset="0"/>
                <a:cs typeface="Times New Roman" panose="02020603050405020304" pitchFamily="18" charset="0"/>
              </a:rPr>
              <a:t>Регулирует сексуальные импульсы</a:t>
            </a:r>
          </a:p>
          <a:p>
            <a:r>
              <a:rPr lang="ru-RU" sz="2400" dirty="0">
                <a:latin typeface="Times New Roman" panose="02020603050405020304" pitchFamily="18" charset="0"/>
                <a:cs typeface="Times New Roman" panose="02020603050405020304" pitchFamily="18" charset="0"/>
              </a:rPr>
              <a:t>Помогает познакомиться с эрогенными зонами</a:t>
            </a:r>
          </a:p>
          <a:p>
            <a:r>
              <a:rPr lang="ru-RU" sz="2400" dirty="0">
                <a:latin typeface="Times New Roman" panose="02020603050405020304" pitchFamily="18" charset="0"/>
                <a:cs typeface="Times New Roman" panose="02020603050405020304" pitchFamily="18" charset="0"/>
              </a:rPr>
              <a:t>Снимает стресс</a:t>
            </a:r>
          </a:p>
          <a:p>
            <a:r>
              <a:rPr lang="ru-RU" sz="2400" dirty="0">
                <a:latin typeface="Times New Roman" panose="02020603050405020304" pitchFamily="18" charset="0"/>
                <a:cs typeface="Times New Roman" panose="02020603050405020304" pitchFamily="18" charset="0"/>
              </a:rPr>
              <a:t>Способствует приобретению сексуального опыта</a:t>
            </a:r>
          </a:p>
          <a:p>
            <a:endParaRPr lang="ru-RU" sz="2400" dirty="0">
              <a:latin typeface="Times New Roman" panose="02020603050405020304" pitchFamily="18" charset="0"/>
              <a:cs typeface="Times New Roman" panose="02020603050405020304" pitchFamily="18" charset="0"/>
            </a:endParaRPr>
          </a:p>
          <a:p>
            <a:pPr marL="0" indent="0">
              <a:buNone/>
            </a:pPr>
            <a:r>
              <a:rPr lang="ru-RU" sz="2400" dirty="0">
                <a:latin typeface="Times New Roman" panose="02020603050405020304" pitchFamily="18" charset="0"/>
                <a:cs typeface="Times New Roman" panose="02020603050405020304" pitchFamily="18" charset="0"/>
              </a:rPr>
              <a:t>Мастурбация – наиболее широко распространенная форма поведения в этом возрасте. Если она отсутствует то какие могут быть последствия во </a:t>
            </a:r>
            <a:r>
              <a:rPr lang="ru-RU" sz="2400" dirty="0" err="1">
                <a:latin typeface="Times New Roman" panose="02020603050405020304" pitchFamily="18" charset="0"/>
                <a:cs typeface="Times New Roman" panose="02020603050405020304" pitchFamily="18" charset="0"/>
              </a:rPr>
              <a:t>возрослой</a:t>
            </a:r>
            <a:r>
              <a:rPr lang="ru-RU" sz="2400" dirty="0">
                <a:latin typeface="Times New Roman" panose="02020603050405020304" pitchFamily="18" charset="0"/>
                <a:cs typeface="Times New Roman" panose="02020603050405020304" pitchFamily="18" charset="0"/>
              </a:rPr>
              <a:t> жизни?</a:t>
            </a:r>
          </a:p>
        </p:txBody>
      </p:sp>
    </p:spTree>
    <p:extLst>
      <p:ext uri="{BB962C8B-B14F-4D97-AF65-F5344CB8AC3E}">
        <p14:creationId xmlns:p14="http://schemas.microsoft.com/office/powerpoint/2010/main" val="13898406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2F062B-2A11-A475-42A1-D05C04696579}"/>
              </a:ext>
            </a:extLst>
          </p:cNvPr>
          <p:cNvSpPr>
            <a:spLocks noGrp="1"/>
          </p:cNvSpPr>
          <p:nvPr>
            <p:ph type="title"/>
          </p:nvPr>
        </p:nvSpPr>
        <p:spPr>
          <a:xfrm>
            <a:off x="838200" y="365125"/>
            <a:ext cx="10515600" cy="707537"/>
          </a:xfrm>
        </p:spPr>
        <p:txBody>
          <a:bodyPr>
            <a:normAutofit/>
          </a:bodyPr>
          <a:lstStyle/>
          <a:p>
            <a:r>
              <a:rPr lang="ru-RU" sz="3200" dirty="0" err="1"/>
              <a:t>Петтинг</a:t>
            </a:r>
            <a:endParaRPr lang="ru-RU" sz="3200" dirty="0"/>
          </a:p>
        </p:txBody>
      </p:sp>
      <p:sp>
        <p:nvSpPr>
          <p:cNvPr id="3" name="Объект 2">
            <a:extLst>
              <a:ext uri="{FF2B5EF4-FFF2-40B4-BE49-F238E27FC236}">
                <a16:creationId xmlns:a16="http://schemas.microsoft.com/office/drawing/2014/main" id="{A3683FEB-3A24-709B-54AD-1E882CA47458}"/>
              </a:ext>
            </a:extLst>
          </p:cNvPr>
          <p:cNvSpPr>
            <a:spLocks noGrp="1"/>
          </p:cNvSpPr>
          <p:nvPr>
            <p:ph idx="1"/>
          </p:nvPr>
        </p:nvSpPr>
        <p:spPr>
          <a:xfrm>
            <a:off x="838200" y="1072662"/>
            <a:ext cx="10515600" cy="5099538"/>
          </a:xfrm>
        </p:spPr>
        <p:txBody>
          <a:bodyPr>
            <a:normAutofit lnSpcReduction="10000"/>
          </a:bodyPr>
          <a:lstStyle/>
          <a:p>
            <a:pPr marL="0" indent="0">
              <a:buNone/>
            </a:pPr>
            <a:r>
              <a:rPr lang="ru-RU" dirty="0">
                <a:latin typeface="Times New Roman" panose="02020603050405020304" pitchFamily="18" charset="0"/>
                <a:cs typeface="Times New Roman" panose="02020603050405020304" pitchFamily="18" charset="0"/>
              </a:rPr>
              <a:t>Это сексуальные ласки с преднамеренным вызыванием оргазма возбуждением </a:t>
            </a:r>
            <a:r>
              <a:rPr lang="ru-RU" dirty="0" err="1">
                <a:latin typeface="Times New Roman" panose="02020603050405020304" pitchFamily="18" charset="0"/>
                <a:cs typeface="Times New Roman" panose="02020603050405020304" pitchFamily="18" charset="0"/>
              </a:rPr>
              <a:t>эрогеных</a:t>
            </a:r>
            <a:r>
              <a:rPr lang="ru-RU" dirty="0">
                <a:latin typeface="Times New Roman" panose="02020603050405020304" pitchFamily="18" charset="0"/>
                <a:cs typeface="Times New Roman" panose="02020603050405020304" pitchFamily="18" charset="0"/>
              </a:rPr>
              <a:t> зон в условиях </a:t>
            </a:r>
            <a:r>
              <a:rPr lang="ru-RU" dirty="0" err="1">
                <a:latin typeface="Times New Roman" panose="02020603050405020304" pitchFamily="18" charset="0"/>
                <a:cs typeface="Times New Roman" panose="02020603050405020304" pitchFamily="18" charset="0"/>
              </a:rPr>
              <a:t>друстороннего</a:t>
            </a:r>
            <a:r>
              <a:rPr lang="ru-RU" dirty="0">
                <a:latin typeface="Times New Roman" panose="02020603050405020304" pitchFamily="18" charset="0"/>
                <a:cs typeface="Times New Roman" panose="02020603050405020304" pitchFamily="18" charset="0"/>
              </a:rPr>
              <a:t> сексуального контакта, исключающего коитус.</a:t>
            </a:r>
          </a:p>
          <a:p>
            <a:pPr marL="0" indent="0">
              <a:buNone/>
            </a:pPr>
            <a:r>
              <a:rPr lang="ru-RU" dirty="0">
                <a:latin typeface="Times New Roman" panose="02020603050405020304" pitchFamily="18" charset="0"/>
                <a:cs typeface="Times New Roman" panose="02020603050405020304" pitchFamily="18" charset="0"/>
              </a:rPr>
              <a:t>Основа любовной игры</a:t>
            </a:r>
          </a:p>
          <a:p>
            <a:pPr marL="0" indent="0">
              <a:buNone/>
            </a:pPr>
            <a:r>
              <a:rPr lang="ru-RU" dirty="0">
                <a:latin typeface="Times New Roman" panose="02020603050405020304" pitchFamily="18" charset="0"/>
                <a:cs typeface="Times New Roman" panose="02020603050405020304" pitchFamily="18" charset="0"/>
              </a:rPr>
              <a:t>Он учит чувствовать и понимать партнера, выражая предпочтения и переживания языком жестов</a:t>
            </a:r>
          </a:p>
          <a:p>
            <a:pPr marL="0" indent="0">
              <a:buNone/>
            </a:pPr>
            <a:r>
              <a:rPr lang="ru-RU" dirty="0">
                <a:latin typeface="Times New Roman" panose="02020603050405020304" pitchFamily="18" charset="0"/>
                <a:cs typeface="Times New Roman" panose="02020603050405020304" pitchFamily="18" charset="0"/>
              </a:rPr>
              <a:t>Дает практические уроки в процессе подготовки к возрастной сексуальности</a:t>
            </a:r>
          </a:p>
          <a:p>
            <a:pPr marL="0" indent="0">
              <a:buNone/>
            </a:pPr>
            <a:r>
              <a:rPr lang="ru-RU" dirty="0">
                <a:latin typeface="Times New Roman" panose="02020603050405020304" pitchFamily="18" charset="0"/>
                <a:cs typeface="Times New Roman" panose="02020603050405020304" pitchFamily="18" charset="0"/>
              </a:rPr>
              <a:t>Помогает расширять границы допустимого</a:t>
            </a:r>
          </a:p>
          <a:p>
            <a:pPr marL="0" indent="0">
              <a:buNone/>
            </a:pPr>
            <a:r>
              <a:rPr lang="ru-RU" dirty="0">
                <a:latin typeface="Times New Roman" panose="02020603050405020304" pitchFamily="18" charset="0"/>
                <a:cs typeface="Times New Roman" panose="02020603050405020304" pitchFamily="18" charset="0"/>
              </a:rPr>
              <a:t>Помогает улавливать желания партнера</a:t>
            </a:r>
          </a:p>
          <a:p>
            <a:pPr marL="0" indent="0">
              <a:buNone/>
            </a:pPr>
            <a:r>
              <a:rPr lang="ru-RU" dirty="0">
                <a:latin typeface="Times New Roman" panose="02020603050405020304" pitchFamily="18" charset="0"/>
                <a:cs typeface="Times New Roman" panose="02020603050405020304" pitchFamily="18" charset="0"/>
              </a:rPr>
              <a:t>Обогащает </a:t>
            </a:r>
            <a:r>
              <a:rPr lang="ru-RU" dirty="0" err="1">
                <a:latin typeface="Times New Roman" panose="02020603050405020304" pitchFamily="18" charset="0"/>
                <a:cs typeface="Times New Roman" panose="02020603050405020304" pitchFamily="18" charset="0"/>
              </a:rPr>
              <a:t>приемлимый</a:t>
            </a:r>
            <a:r>
              <a:rPr lang="ru-RU" dirty="0">
                <a:latin typeface="Times New Roman" panose="02020603050405020304" pitchFamily="18" charset="0"/>
                <a:cs typeface="Times New Roman" panose="02020603050405020304" pitchFamily="18" charset="0"/>
              </a:rPr>
              <a:t> диапазон нежностей</a:t>
            </a:r>
          </a:p>
        </p:txBody>
      </p:sp>
    </p:spTree>
    <p:extLst>
      <p:ext uri="{BB962C8B-B14F-4D97-AF65-F5344CB8AC3E}">
        <p14:creationId xmlns:p14="http://schemas.microsoft.com/office/powerpoint/2010/main" val="42351125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43CC3C-A79E-9BFD-DA6B-3C51055CE61C}"/>
              </a:ext>
            </a:extLst>
          </p:cNvPr>
          <p:cNvSpPr>
            <a:spLocks noGrp="1"/>
          </p:cNvSpPr>
          <p:nvPr>
            <p:ph type="title"/>
          </p:nvPr>
        </p:nvSpPr>
        <p:spPr/>
        <p:txBody>
          <a:bodyPr/>
          <a:lstStyle/>
          <a:p>
            <a:r>
              <a:rPr lang="ru-RU" dirty="0"/>
              <a:t>Виды </a:t>
            </a:r>
            <a:r>
              <a:rPr lang="ru-RU" dirty="0" err="1"/>
              <a:t>петтинга</a:t>
            </a:r>
            <a:r>
              <a:rPr lang="ru-RU" dirty="0"/>
              <a:t>:</a:t>
            </a:r>
          </a:p>
        </p:txBody>
      </p:sp>
      <p:sp>
        <p:nvSpPr>
          <p:cNvPr id="3" name="Объект 2">
            <a:extLst>
              <a:ext uri="{FF2B5EF4-FFF2-40B4-BE49-F238E27FC236}">
                <a16:creationId xmlns:a16="http://schemas.microsoft.com/office/drawing/2014/main" id="{F3D31C6D-0C86-0DC2-13AE-E4F98CB4C307}"/>
              </a:ext>
            </a:extLst>
          </p:cNvPr>
          <p:cNvSpPr>
            <a:spLocks noGrp="1"/>
          </p:cNvSpPr>
          <p:nvPr>
            <p:ph idx="1"/>
          </p:nvPr>
        </p:nvSpPr>
        <p:spPr/>
        <p:txBody>
          <a:bodyPr/>
          <a:lstStyle/>
          <a:p>
            <a:r>
              <a:rPr lang="ru-RU" sz="2400" dirty="0">
                <a:latin typeface="Times New Roman" panose="02020603050405020304" pitchFamily="18" charset="0"/>
                <a:cs typeface="Times New Roman" panose="02020603050405020304" pitchFamily="18" charset="0"/>
              </a:rPr>
              <a:t>Завершенный и не завершенный</a:t>
            </a:r>
          </a:p>
          <a:p>
            <a:r>
              <a:rPr lang="ru-RU" sz="2400" dirty="0">
                <a:latin typeface="Times New Roman" panose="02020603050405020304" pitchFamily="18" charset="0"/>
                <a:cs typeface="Times New Roman" panose="02020603050405020304" pitchFamily="18" charset="0"/>
              </a:rPr>
              <a:t>Гомосексуальный и гетеросексуальный</a:t>
            </a:r>
          </a:p>
          <a:p>
            <a:r>
              <a:rPr lang="ru-RU" sz="2400" dirty="0">
                <a:latin typeface="Times New Roman" panose="02020603050405020304" pitchFamily="18" charset="0"/>
                <a:cs typeface="Times New Roman" panose="02020603050405020304" pitchFamily="18" charset="0"/>
              </a:rPr>
              <a:t>Поверхностный ( ласки в одетом виде)</a:t>
            </a:r>
          </a:p>
          <a:p>
            <a:r>
              <a:rPr lang="ru-RU" sz="2400" dirty="0">
                <a:latin typeface="Times New Roman" panose="02020603050405020304" pitchFamily="18" charset="0"/>
                <a:cs typeface="Times New Roman" panose="02020603050405020304" pitchFamily="18" charset="0"/>
              </a:rPr>
              <a:t>Глубокий</a:t>
            </a:r>
          </a:p>
          <a:p>
            <a:r>
              <a:rPr lang="ru-RU" sz="2400" dirty="0">
                <a:latin typeface="Times New Roman" panose="02020603050405020304" pitchFamily="18" charset="0"/>
                <a:cs typeface="Times New Roman" panose="02020603050405020304" pitchFamily="18" charset="0"/>
              </a:rPr>
              <a:t>Верхний ( ласки выше пояса)</a:t>
            </a:r>
          </a:p>
          <a:p>
            <a:r>
              <a:rPr lang="ru-RU" sz="2400" dirty="0">
                <a:latin typeface="Times New Roman" panose="02020603050405020304" pitchFamily="18" charset="0"/>
                <a:cs typeface="Times New Roman" panose="02020603050405020304" pitchFamily="18" charset="0"/>
              </a:rPr>
              <a:t>Нижний – сексуальные ласки, преднамеренное вызывание оргазма через возбуждение эрогенных зон</a:t>
            </a:r>
          </a:p>
          <a:p>
            <a:endParaRPr lang="ru-RU" dirty="0"/>
          </a:p>
        </p:txBody>
      </p:sp>
    </p:spTree>
    <p:extLst>
      <p:ext uri="{BB962C8B-B14F-4D97-AF65-F5344CB8AC3E}">
        <p14:creationId xmlns:p14="http://schemas.microsoft.com/office/powerpoint/2010/main" val="14486863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92BC38-BEB9-592C-7C8A-D3AA5BFEA04D}"/>
              </a:ext>
            </a:extLst>
          </p:cNvPr>
          <p:cNvSpPr>
            <a:spLocks noGrp="1"/>
          </p:cNvSpPr>
          <p:nvPr>
            <p:ph type="title"/>
          </p:nvPr>
        </p:nvSpPr>
        <p:spPr>
          <a:xfrm>
            <a:off x="838200" y="365126"/>
            <a:ext cx="10515600" cy="515228"/>
          </a:xfrm>
        </p:spPr>
        <p:txBody>
          <a:bodyPr>
            <a:normAutofit fontScale="90000"/>
          </a:bodyPr>
          <a:lstStyle/>
          <a:p>
            <a:r>
              <a:rPr lang="ru-RU" dirty="0"/>
              <a:t>Советы родителям:</a:t>
            </a:r>
          </a:p>
        </p:txBody>
      </p:sp>
      <p:sp>
        <p:nvSpPr>
          <p:cNvPr id="3" name="Объект 2">
            <a:extLst>
              <a:ext uri="{FF2B5EF4-FFF2-40B4-BE49-F238E27FC236}">
                <a16:creationId xmlns:a16="http://schemas.microsoft.com/office/drawing/2014/main" id="{400BB810-82FC-79FB-941B-97FE4A188A4E}"/>
              </a:ext>
            </a:extLst>
          </p:cNvPr>
          <p:cNvSpPr>
            <a:spLocks noGrp="1"/>
          </p:cNvSpPr>
          <p:nvPr>
            <p:ph idx="1"/>
          </p:nvPr>
        </p:nvSpPr>
        <p:spPr>
          <a:xfrm>
            <a:off x="369651" y="1028700"/>
            <a:ext cx="10984149" cy="5829300"/>
          </a:xfrm>
        </p:spPr>
        <p:txBody>
          <a:bodyPr>
            <a:noAutofit/>
          </a:bodyPr>
          <a:lstStyle/>
          <a:p>
            <a:pPr marL="0" indent="0">
              <a:buNone/>
            </a:pPr>
            <a:r>
              <a:rPr lang="ru-RU" sz="2000" dirty="0">
                <a:latin typeface="Times New Roman" panose="02020603050405020304" pitchFamily="18" charset="0"/>
                <a:cs typeface="Times New Roman" panose="02020603050405020304" pitchFamily="18" charset="0"/>
              </a:rPr>
              <a:t>В пубертатный период</a:t>
            </a:r>
          </a:p>
          <a:p>
            <a:r>
              <a:rPr lang="ru-RU" sz="2000" dirty="0">
                <a:latin typeface="Times New Roman" panose="02020603050405020304" pitchFamily="18" charset="0"/>
                <a:cs typeface="Times New Roman" panose="02020603050405020304" pitchFamily="18" charset="0"/>
              </a:rPr>
              <a:t>Разговаривайте с ребенком на темы сексуальных отношений в такой же естественной манере, как при обсуждении любой другой темы.</a:t>
            </a:r>
          </a:p>
          <a:p>
            <a:r>
              <a:rPr lang="ru-RU" sz="2000" dirty="0">
                <a:latin typeface="Times New Roman" panose="02020603050405020304" pitchFamily="18" charset="0"/>
                <a:cs typeface="Times New Roman" panose="02020603050405020304" pitchFamily="18" charset="0"/>
              </a:rPr>
              <a:t>Старайтесь говорить не только конкретно, но и высказывайте свое отношение к «этой» теме.</a:t>
            </a:r>
          </a:p>
          <a:p>
            <a:r>
              <a:rPr lang="ru-RU" sz="2000" dirty="0">
                <a:latin typeface="Times New Roman" panose="02020603050405020304" pitchFamily="18" charset="0"/>
                <a:cs typeface="Times New Roman" panose="02020603050405020304" pitchFamily="18" charset="0"/>
              </a:rPr>
              <a:t>Не стесняйтесь собственных переживаний по половым проблемам, покажите ребенку, что вас тоже волнуют его заботы.</a:t>
            </a:r>
          </a:p>
          <a:p>
            <a:r>
              <a:rPr lang="ru-RU" sz="2000" dirty="0">
                <a:latin typeface="Times New Roman" panose="02020603050405020304" pitchFamily="18" charset="0"/>
                <a:cs typeface="Times New Roman" panose="02020603050405020304" pitchFamily="18" charset="0"/>
              </a:rPr>
              <a:t>Не употребляйте фразу «ты еще маленький, чтобы понять это». Лучше удовлетворите его интерес информацией доступной возрасту вашего ребенка.</a:t>
            </a:r>
          </a:p>
          <a:p>
            <a:r>
              <a:rPr lang="ru-RU" sz="2000" dirty="0">
                <a:latin typeface="Times New Roman" panose="02020603050405020304" pitchFamily="18" charset="0"/>
                <a:cs typeface="Times New Roman" panose="02020603050405020304" pitchFamily="18" charset="0"/>
              </a:rPr>
              <a:t>Если вы не способны объяснить какой-либо вопрос на его уровне, обратитесь к специалистам: учителям, врачам, психологам, которые способны и умеют разговаривать с детьми на «эти» темы.</a:t>
            </a:r>
          </a:p>
          <a:p>
            <a:r>
              <a:rPr lang="ru-RU" sz="2000" dirty="0">
                <a:latin typeface="Times New Roman" panose="02020603050405020304" pitchFamily="18" charset="0"/>
                <a:cs typeface="Times New Roman" panose="02020603050405020304" pitchFamily="18" charset="0"/>
              </a:rPr>
              <a:t>Не стесняйтесь признаться, что не знаете ответа на какой-либо вопрос. Хотя лучше заранее быть к нему готовым, или, в крайнем случае, вместе с ребенком в ходе совместной игры постараться найти ответ на него.</a:t>
            </a:r>
          </a:p>
          <a:p>
            <a:r>
              <a:rPr lang="ru-RU" sz="2000" dirty="0">
                <a:latin typeface="Times New Roman" panose="02020603050405020304" pitchFamily="18" charset="0"/>
                <a:cs typeface="Times New Roman" panose="02020603050405020304" pitchFamily="18" charset="0"/>
              </a:rPr>
              <a:t>Половое воспитание не должно быть запугиванием</a:t>
            </a:r>
          </a:p>
        </p:txBody>
      </p:sp>
    </p:spTree>
    <p:extLst>
      <p:ext uri="{BB962C8B-B14F-4D97-AF65-F5344CB8AC3E}">
        <p14:creationId xmlns:p14="http://schemas.microsoft.com/office/powerpoint/2010/main" val="21209667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BE8400-3622-BE10-53DB-C78AED4F32E1}"/>
              </a:ext>
            </a:extLst>
          </p:cNvPr>
          <p:cNvSpPr>
            <a:spLocks noGrp="1"/>
          </p:cNvSpPr>
          <p:nvPr>
            <p:ph type="title"/>
          </p:nvPr>
        </p:nvSpPr>
        <p:spPr/>
        <p:txBody>
          <a:bodyPr/>
          <a:lstStyle/>
          <a:p>
            <a:r>
              <a:rPr lang="ru-RU" dirty="0"/>
              <a:t>Упражнение «Анализ сексуального воспитания»</a:t>
            </a:r>
          </a:p>
        </p:txBody>
      </p:sp>
      <p:sp>
        <p:nvSpPr>
          <p:cNvPr id="3" name="Объект 2">
            <a:extLst>
              <a:ext uri="{FF2B5EF4-FFF2-40B4-BE49-F238E27FC236}">
                <a16:creationId xmlns:a16="http://schemas.microsoft.com/office/drawing/2014/main" id="{FE4639AB-9E13-2237-FDE1-EF05699B8D5D}"/>
              </a:ext>
            </a:extLst>
          </p:cNvPr>
          <p:cNvSpPr>
            <a:spLocks noGrp="1"/>
          </p:cNvSpPr>
          <p:nvPr>
            <p:ph idx="1"/>
          </p:nvPr>
        </p:nvSpPr>
        <p:spPr>
          <a:xfrm>
            <a:off x="386863" y="1565031"/>
            <a:ext cx="11517922" cy="5064369"/>
          </a:xfrm>
        </p:spPr>
        <p:txBody>
          <a:bodyPr>
            <a:noAutofit/>
          </a:bodyPr>
          <a:lstStyle/>
          <a:p>
            <a:r>
              <a:rPr lang="ru-RU" sz="2200" dirty="0">
                <a:latin typeface="Times New Roman" panose="02020603050405020304" pitchFamily="18" charset="0"/>
                <a:cs typeface="Times New Roman" panose="02020603050405020304" pitchFamily="18" charset="0"/>
              </a:rPr>
              <a:t>- Как родители позаботились о том, чтобы вы были информированы о сексе?</a:t>
            </a:r>
          </a:p>
          <a:p>
            <a:r>
              <a:rPr lang="ru-RU" sz="2200" dirty="0">
                <a:latin typeface="Times New Roman" panose="02020603050405020304" pitchFamily="18" charset="0"/>
                <a:cs typeface="Times New Roman" panose="02020603050405020304" pitchFamily="18" charset="0"/>
              </a:rPr>
              <a:t>-Могли ли вы открыто задавать вопросы на эту тему?</a:t>
            </a:r>
          </a:p>
          <a:p>
            <a:r>
              <a:rPr lang="ru-RU" sz="2200" dirty="0">
                <a:latin typeface="Times New Roman" panose="02020603050405020304" pitchFamily="18" charset="0"/>
                <a:cs typeface="Times New Roman" panose="02020603050405020304" pitchFamily="18" charset="0"/>
              </a:rPr>
              <a:t>- Получали ли вы поддержку на эту тему?</a:t>
            </a:r>
          </a:p>
          <a:p>
            <a:r>
              <a:rPr lang="ru-RU" sz="2200" dirty="0">
                <a:latin typeface="Times New Roman" panose="02020603050405020304" pitchFamily="18" charset="0"/>
                <a:cs typeface="Times New Roman" panose="02020603050405020304" pitchFamily="18" charset="0"/>
              </a:rPr>
              <a:t>- Рассказывали ли про разницу между порно и реальной жизнью?</a:t>
            </a:r>
          </a:p>
          <a:p>
            <a:r>
              <a:rPr lang="ru-RU" sz="2200" dirty="0">
                <a:latin typeface="Times New Roman" panose="02020603050405020304" pitchFamily="18" charset="0"/>
                <a:cs typeface="Times New Roman" panose="02020603050405020304" pitchFamily="18" charset="0"/>
              </a:rPr>
              <a:t>- Как именно в семье обозначались гениталии?</a:t>
            </a:r>
          </a:p>
          <a:p>
            <a:r>
              <a:rPr lang="ru-RU" sz="2200" dirty="0">
                <a:latin typeface="Times New Roman" panose="02020603050405020304" pitchFamily="18" charset="0"/>
                <a:cs typeface="Times New Roman" panose="02020603050405020304" pitchFamily="18" charset="0"/>
              </a:rPr>
              <a:t>-Какое явное или не явное представление вам дали о сексе и сексуальности в вашей семье?</a:t>
            </a:r>
          </a:p>
          <a:p>
            <a:r>
              <a:rPr lang="ru-RU" sz="2200" dirty="0">
                <a:latin typeface="Times New Roman" panose="02020603050405020304" pitchFamily="18" charset="0"/>
                <a:cs typeface="Times New Roman" panose="02020603050405020304" pitchFamily="18" charset="0"/>
              </a:rPr>
              <a:t>-В вашей семье было нейтральное, отрицательное или положительное отношение к сексу? ( если было отрицательное или нейтральное, то даем клиенту собрать положительную информацию о сексе)</a:t>
            </a:r>
          </a:p>
          <a:p>
            <a:pPr marL="0" indent="0">
              <a:buNone/>
            </a:pPr>
            <a:endParaRPr lang="ru-RU" sz="2200" dirty="0">
              <a:latin typeface="Times New Roman" panose="02020603050405020304" pitchFamily="18" charset="0"/>
              <a:cs typeface="Times New Roman" panose="02020603050405020304" pitchFamily="18" charset="0"/>
            </a:endParaRPr>
          </a:p>
          <a:p>
            <a:pPr marL="0" indent="0">
              <a:buNone/>
            </a:pPr>
            <a:r>
              <a:rPr lang="ru-RU" sz="2200" dirty="0">
                <a:latin typeface="Times New Roman" panose="02020603050405020304" pitchFamily="18" charset="0"/>
                <a:cs typeface="Times New Roman" panose="02020603050405020304" pitchFamily="18" charset="0"/>
              </a:rPr>
              <a:t>Задача: найти мишени терапии</a:t>
            </a:r>
          </a:p>
        </p:txBody>
      </p:sp>
    </p:spTree>
    <p:extLst>
      <p:ext uri="{BB962C8B-B14F-4D97-AF65-F5344CB8AC3E}">
        <p14:creationId xmlns:p14="http://schemas.microsoft.com/office/powerpoint/2010/main" val="19993506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C0C2961-785F-D437-4A2E-8FF9EF02F1E6}"/>
              </a:ext>
            </a:extLst>
          </p:cNvPr>
          <p:cNvSpPr>
            <a:spLocks noGrp="1"/>
          </p:cNvSpPr>
          <p:nvPr>
            <p:ph idx="1"/>
          </p:nvPr>
        </p:nvSpPr>
        <p:spPr>
          <a:xfrm>
            <a:off x="838200" y="615462"/>
            <a:ext cx="10515600" cy="5556738"/>
          </a:xfrm>
        </p:spPr>
        <p:txBody>
          <a:bodyPr>
            <a:normAutofit/>
          </a:bodyPr>
          <a:lstStyle/>
          <a:p>
            <a:pPr marL="0" indent="0">
              <a:buNone/>
            </a:pPr>
            <a:r>
              <a:rPr lang="ru-RU" dirty="0" err="1">
                <a:latin typeface="Times New Roman" panose="02020603050405020304" pitchFamily="18" charset="0"/>
                <a:cs typeface="Times New Roman" panose="02020603050405020304" pitchFamily="18" charset="0"/>
              </a:rPr>
              <a:t>Психосексуальное</a:t>
            </a:r>
            <a:r>
              <a:rPr lang="ru-RU" dirty="0">
                <a:latin typeface="Times New Roman" panose="02020603050405020304" pitchFamily="18" charset="0"/>
                <a:cs typeface="Times New Roman" panose="02020603050405020304" pitchFamily="18" charset="0"/>
              </a:rPr>
              <a:t> развитие в детстве и юности наиболее динамично и вариативно, но затем, на этапе зрелой сексуальности, </a:t>
            </a:r>
            <a:r>
              <a:rPr lang="ru-RU" dirty="0" err="1">
                <a:latin typeface="Times New Roman" panose="02020603050405020304" pitchFamily="18" charset="0"/>
                <a:cs typeface="Times New Roman" panose="02020603050405020304" pitchFamily="18" charset="0"/>
              </a:rPr>
              <a:t>психосексуальная</a:t>
            </a:r>
            <a:r>
              <a:rPr lang="ru-RU" dirty="0">
                <a:latin typeface="Times New Roman" panose="02020603050405020304" pitchFamily="18" charset="0"/>
                <a:cs typeface="Times New Roman" panose="02020603050405020304" pitchFamily="18" charset="0"/>
              </a:rPr>
              <a:t> составляющая стабилизируется и выполняет главным образом функцию адаптации в партнерстве и периоде инволюционного спада сексуальности</a:t>
            </a:r>
          </a:p>
        </p:txBody>
      </p:sp>
    </p:spTree>
    <p:extLst>
      <p:ext uri="{BB962C8B-B14F-4D97-AF65-F5344CB8AC3E}">
        <p14:creationId xmlns:p14="http://schemas.microsoft.com/office/powerpoint/2010/main" val="11421095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нтогенез с3.pdf" descr="Онтогенез с3.pdf">
            <a:extLst>
              <a:ext uri="{FF2B5EF4-FFF2-40B4-BE49-F238E27FC236}">
                <a16:creationId xmlns:a16="http://schemas.microsoft.com/office/drawing/2014/main" id="{761A612A-0803-21C7-713A-335827D40839}"/>
              </a:ext>
            </a:extLst>
          </p:cNvPr>
          <p:cNvPicPr>
            <a:picLocks noGrp="1" noChangeAspect="1"/>
          </p:cNvPicPr>
          <p:nvPr>
            <p:ph idx="1"/>
          </p:nvPr>
        </p:nvPicPr>
        <p:blipFill>
          <a:blip r:embed="rId2"/>
          <a:stretch>
            <a:fillRect/>
          </a:stretch>
        </p:blipFill>
        <p:spPr>
          <a:xfrm>
            <a:off x="1107142" y="0"/>
            <a:ext cx="9578788" cy="6757482"/>
          </a:xfrm>
          <a:prstGeom prst="rect">
            <a:avLst/>
          </a:prstGeom>
          <a:ln w="12700">
            <a:miter lim="400000"/>
          </a:ln>
        </p:spPr>
      </p:pic>
    </p:spTree>
    <p:extLst>
      <p:ext uri="{BB962C8B-B14F-4D97-AF65-F5344CB8AC3E}">
        <p14:creationId xmlns:p14="http://schemas.microsoft.com/office/powerpoint/2010/main" val="14243225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84B45A-39CA-7137-2F08-AEAA1A711B4B}"/>
              </a:ext>
            </a:extLst>
          </p:cNvPr>
          <p:cNvSpPr>
            <a:spLocks noGrp="1"/>
          </p:cNvSpPr>
          <p:nvPr>
            <p:ph type="title"/>
          </p:nvPr>
        </p:nvSpPr>
        <p:spPr/>
        <p:txBody>
          <a:bodyPr/>
          <a:lstStyle/>
          <a:p>
            <a:r>
              <a:rPr lang="ru-RU" dirty="0"/>
              <a:t>Период зрелой сексуальности:</a:t>
            </a:r>
          </a:p>
        </p:txBody>
      </p:sp>
      <p:sp>
        <p:nvSpPr>
          <p:cNvPr id="3" name="Объект 2">
            <a:extLst>
              <a:ext uri="{FF2B5EF4-FFF2-40B4-BE49-F238E27FC236}">
                <a16:creationId xmlns:a16="http://schemas.microsoft.com/office/drawing/2014/main" id="{0E4904F2-F6FC-4334-F186-9CFD5E7B9C50}"/>
              </a:ext>
            </a:extLst>
          </p:cNvPr>
          <p:cNvSpPr>
            <a:spLocks noGrp="1"/>
          </p:cNvSpPr>
          <p:nvPr>
            <p:ph idx="1"/>
          </p:nvPr>
        </p:nvSpPr>
        <p:spPr/>
        <p:txBody>
          <a:bodyPr/>
          <a:lstStyle/>
          <a:p>
            <a:pPr marL="0" indent="0">
              <a:buNone/>
            </a:pPr>
            <a:r>
              <a:rPr lang="ru-RU" dirty="0">
                <a:latin typeface="Times New Roman" panose="02020603050405020304" pitchFamily="18" charset="0"/>
                <a:cs typeface="Times New Roman" panose="02020603050405020304" pitchFamily="18" charset="0"/>
              </a:rPr>
              <a:t>Этапы адаптации</a:t>
            </a:r>
          </a:p>
          <a:p>
            <a:pPr marL="514350" indent="-514350">
              <a:buAutoNum type="arabicPeriod"/>
            </a:pPr>
            <a:r>
              <a:rPr lang="ru-RU" dirty="0">
                <a:latin typeface="Times New Roman" panose="02020603050405020304" pitchFamily="18" charset="0"/>
                <a:cs typeface="Times New Roman" panose="02020603050405020304" pitchFamily="18" charset="0"/>
              </a:rPr>
              <a:t>Этап первичной адаптации</a:t>
            </a:r>
          </a:p>
          <a:p>
            <a:pPr marL="514350" indent="-514350">
              <a:buAutoNum type="arabicPeriod"/>
            </a:pPr>
            <a:r>
              <a:rPr lang="ru-RU" dirty="0">
                <a:latin typeface="Times New Roman" panose="02020603050405020304" pitchFamily="18" charset="0"/>
                <a:cs typeface="Times New Roman" panose="02020603050405020304" pitchFamily="18" charset="0"/>
              </a:rPr>
              <a:t>Этап прогрессирующей адаптации</a:t>
            </a:r>
          </a:p>
          <a:p>
            <a:pPr marL="514350" indent="-514350">
              <a:buAutoNum type="arabicPeriod"/>
            </a:pPr>
            <a:r>
              <a:rPr lang="ru-RU" dirty="0">
                <a:latin typeface="Times New Roman" panose="02020603050405020304" pitchFamily="18" charset="0"/>
                <a:cs typeface="Times New Roman" panose="02020603050405020304" pitchFamily="18" charset="0"/>
              </a:rPr>
              <a:t>Этап стабильной адаптации</a:t>
            </a:r>
          </a:p>
        </p:txBody>
      </p:sp>
    </p:spTree>
    <p:extLst>
      <p:ext uri="{BB962C8B-B14F-4D97-AF65-F5344CB8AC3E}">
        <p14:creationId xmlns:p14="http://schemas.microsoft.com/office/powerpoint/2010/main" val="21726017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0E4D2A-0892-7CAF-97C7-2D69F6087780}"/>
              </a:ext>
            </a:extLst>
          </p:cNvPr>
          <p:cNvSpPr>
            <a:spLocks noGrp="1"/>
          </p:cNvSpPr>
          <p:nvPr>
            <p:ph type="title"/>
          </p:nvPr>
        </p:nvSpPr>
        <p:spPr/>
        <p:txBody>
          <a:bodyPr/>
          <a:lstStyle/>
          <a:p>
            <a:r>
              <a:rPr lang="ru-RU" dirty="0"/>
              <a:t>Этап первичной адаптации</a:t>
            </a:r>
          </a:p>
        </p:txBody>
      </p:sp>
      <p:sp>
        <p:nvSpPr>
          <p:cNvPr id="3" name="Объект 2">
            <a:extLst>
              <a:ext uri="{FF2B5EF4-FFF2-40B4-BE49-F238E27FC236}">
                <a16:creationId xmlns:a16="http://schemas.microsoft.com/office/drawing/2014/main" id="{D5D4352A-A4E1-FCC8-9892-FDC20C09055A}"/>
              </a:ext>
            </a:extLst>
          </p:cNvPr>
          <p:cNvSpPr>
            <a:spLocks noGrp="1"/>
          </p:cNvSpPr>
          <p:nvPr>
            <p:ph idx="1"/>
          </p:nvPr>
        </p:nvSpPr>
        <p:spPr/>
        <p:txBody>
          <a:bodyPr/>
          <a:lstStyle/>
          <a:p>
            <a:pPr marL="0" indent="0">
              <a:buNone/>
            </a:pPr>
            <a:r>
              <a:rPr lang="ru-RU" dirty="0">
                <a:latin typeface="Times New Roman" panose="02020603050405020304" pitchFamily="18" charset="0"/>
                <a:cs typeface="Times New Roman" panose="02020603050405020304" pitchFamily="18" charset="0"/>
              </a:rPr>
              <a:t>На этом этапе происходит сексуальный дебют, апробируется достаточность навыков взаимодействия с партнером, изживаются негативные стартовые реакции. Иными словами, происходит начало партнерского секса, без грубого отклонения от традиционной сексуальной программы.</a:t>
            </a:r>
          </a:p>
          <a:p>
            <a:pPr marL="0" indent="0">
              <a:buNone/>
            </a:pPr>
            <a:r>
              <a:rPr lang="ru-RU" dirty="0">
                <a:latin typeface="Times New Roman" panose="02020603050405020304" pitchFamily="18" charset="0"/>
                <a:cs typeface="Times New Roman" panose="02020603050405020304" pitchFamily="18" charset="0"/>
              </a:rPr>
              <a:t>Принято считать, что если люди любят друг друга, то все в сексе должно быть хорошо, но это не так. ( пример разная половая конституция)</a:t>
            </a:r>
          </a:p>
        </p:txBody>
      </p:sp>
    </p:spTree>
    <p:extLst>
      <p:ext uri="{BB962C8B-B14F-4D97-AF65-F5344CB8AC3E}">
        <p14:creationId xmlns:p14="http://schemas.microsoft.com/office/powerpoint/2010/main" val="35034696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15172EB-9A96-7E2C-D970-7AB0860BDAEC}"/>
              </a:ext>
            </a:extLst>
          </p:cNvPr>
          <p:cNvSpPr>
            <a:spLocks noGrp="1"/>
          </p:cNvSpPr>
          <p:nvPr>
            <p:ph idx="1"/>
          </p:nvPr>
        </p:nvSpPr>
        <p:spPr>
          <a:xfrm>
            <a:off x="838200" y="773723"/>
            <a:ext cx="10515600" cy="5398477"/>
          </a:xfrm>
        </p:spPr>
        <p:txBody>
          <a:bodyPr/>
          <a:lstStyle/>
          <a:p>
            <a:pPr marL="0" indent="0">
              <a:buNone/>
            </a:pPr>
            <a:r>
              <a:rPr lang="ru-RU" b="1" dirty="0">
                <a:latin typeface="Times New Roman" panose="02020603050405020304" pitchFamily="18" charset="0"/>
                <a:cs typeface="Times New Roman" panose="02020603050405020304" pitchFamily="18" charset="0"/>
              </a:rPr>
              <a:t>Мужчина</a:t>
            </a:r>
            <a:r>
              <a:rPr lang="ru-RU" dirty="0">
                <a:latin typeface="Times New Roman" panose="02020603050405020304" pitchFamily="18" charset="0"/>
                <a:cs typeface="Times New Roman" panose="02020603050405020304" pitchFamily="18" charset="0"/>
              </a:rPr>
              <a:t> как правило, влюблен, теряет голову от страсти, мечтает о сексе и готов им заниматься без устали, так как находится еще в периоде гиперсексуальности. У него ( в среднем) есть опыт как кратковременных обезличенных, так и долговременных, в разной степени, эмоциональных связей.</a:t>
            </a:r>
          </a:p>
          <a:p>
            <a:pPr marL="0" indent="0">
              <a:buNone/>
            </a:pPr>
            <a:r>
              <a:rPr lang="ru-RU" b="1" dirty="0">
                <a:latin typeface="Times New Roman" panose="02020603050405020304" pitchFamily="18" charset="0"/>
                <a:cs typeface="Times New Roman" panose="02020603050405020304" pitchFamily="18" charset="0"/>
              </a:rPr>
              <a:t>У женщины </a:t>
            </a:r>
            <a:r>
              <a:rPr lang="ru-RU" dirty="0">
                <a:latin typeface="Times New Roman" panose="02020603050405020304" pitchFamily="18" charset="0"/>
                <a:cs typeface="Times New Roman" panose="02020603050405020304" pitchFamily="18" charset="0"/>
              </a:rPr>
              <a:t>этот опыт (в среднем) вдвое скромнее в большей части случаев ее сексуальность еще не пробудилась, она остается на эротической стадии либидо, ей малознаком (или не знаком вообще) оргазм и ее чувства не столь пламенны. Она увлечена но не настолько чтобы потерять голову, замечает интерес других мужчин, на старте ее больше интересуют ласки и нежность, но она готова на эксперименты.</a:t>
            </a:r>
          </a:p>
        </p:txBody>
      </p:sp>
    </p:spTree>
    <p:extLst>
      <p:ext uri="{BB962C8B-B14F-4D97-AF65-F5344CB8AC3E}">
        <p14:creationId xmlns:p14="http://schemas.microsoft.com/office/powerpoint/2010/main" val="3802596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D02E4B-EB66-4C24-9C00-85A3E400FD03}"/>
              </a:ext>
            </a:extLst>
          </p:cNvPr>
          <p:cNvSpPr>
            <a:spLocks noGrp="1"/>
          </p:cNvSpPr>
          <p:nvPr>
            <p:ph type="title"/>
          </p:nvPr>
        </p:nvSpPr>
        <p:spPr>
          <a:xfrm>
            <a:off x="2878016" y="482355"/>
            <a:ext cx="6178062" cy="504948"/>
          </a:xfrm>
        </p:spPr>
        <p:txBody>
          <a:bodyPr>
            <a:noAutofit/>
          </a:bodyPr>
          <a:lstStyle/>
          <a:p>
            <a:r>
              <a:rPr lang="ru-RU" sz="2800" b="1" dirty="0">
                <a:latin typeface="Times New Roman"/>
                <a:cs typeface="Times New Roman"/>
              </a:rPr>
              <a:t>Мотивация сексуального поведения</a:t>
            </a:r>
          </a:p>
        </p:txBody>
      </p:sp>
      <p:sp>
        <p:nvSpPr>
          <p:cNvPr id="3" name="Объект 2">
            <a:extLst>
              <a:ext uri="{FF2B5EF4-FFF2-40B4-BE49-F238E27FC236}">
                <a16:creationId xmlns:a16="http://schemas.microsoft.com/office/drawing/2014/main" id="{95BA9762-C5F5-4899-B001-B3040767D972}"/>
              </a:ext>
            </a:extLst>
          </p:cNvPr>
          <p:cNvSpPr>
            <a:spLocks noGrp="1"/>
          </p:cNvSpPr>
          <p:nvPr>
            <p:ph idx="1"/>
          </p:nvPr>
        </p:nvSpPr>
        <p:spPr>
          <a:xfrm>
            <a:off x="885092" y="1320018"/>
            <a:ext cx="10515600" cy="4734951"/>
          </a:xfrm>
        </p:spPr>
        <p:txBody>
          <a:bodyPr vert="horz" lIns="91440" tIns="45720" rIns="91440" bIns="45720" rtlCol="0" anchor="t">
            <a:normAutofit/>
          </a:bodyPr>
          <a:lstStyle/>
          <a:p>
            <a:r>
              <a:rPr lang="ru-RU" dirty="0">
                <a:latin typeface="Times New Roman"/>
                <a:cs typeface="Times New Roman"/>
              </a:rPr>
              <a:t>Мужская сексуальность меньше связана с репродукцией ( у мужчин мотив удовольствие, представилась возможность, мотивы более безличные, история про статусность, мотивация более эгоцентричная).</a:t>
            </a:r>
          </a:p>
          <a:p>
            <a:r>
              <a:rPr lang="ru-RU" dirty="0">
                <a:latin typeface="Times New Roman"/>
                <a:cs typeface="Times New Roman"/>
              </a:rPr>
              <a:t>Женщины чаще объясняют свою мотивацию любовью, влюбленностью, чувствами ( для женщины социально не приемлемо сказать что она хочет просто секса).</a:t>
            </a:r>
          </a:p>
          <a:p>
            <a:r>
              <a:rPr lang="ru-RU" dirty="0">
                <a:latin typeface="Times New Roman"/>
                <a:cs typeface="Times New Roman"/>
              </a:rPr>
              <a:t>Многие женщины преувеличивают в этот момент, говорят то, что от них хочет услышать общество.</a:t>
            </a:r>
          </a:p>
        </p:txBody>
      </p:sp>
    </p:spTree>
    <p:extLst>
      <p:ext uri="{BB962C8B-B14F-4D97-AF65-F5344CB8AC3E}">
        <p14:creationId xmlns:p14="http://schemas.microsoft.com/office/powerpoint/2010/main" val="15398246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44DAEF-70BA-C0B9-96ED-DDCCFBC8C601}"/>
              </a:ext>
            </a:extLst>
          </p:cNvPr>
          <p:cNvSpPr>
            <a:spLocks noGrp="1"/>
          </p:cNvSpPr>
          <p:nvPr>
            <p:ph type="title"/>
          </p:nvPr>
        </p:nvSpPr>
        <p:spPr>
          <a:xfrm>
            <a:off x="838200" y="365126"/>
            <a:ext cx="10515600" cy="760290"/>
          </a:xfrm>
        </p:spPr>
        <p:txBody>
          <a:bodyPr/>
          <a:lstStyle/>
          <a:p>
            <a:r>
              <a:rPr lang="ru-RU" dirty="0">
                <a:latin typeface="Times New Roman" panose="02020603050405020304" pitchFamily="18" charset="0"/>
                <a:cs typeface="Times New Roman" panose="02020603050405020304" pitchFamily="18" charset="0"/>
              </a:rPr>
              <a:t>Этап прогрессирующей адаптации</a:t>
            </a:r>
          </a:p>
        </p:txBody>
      </p:sp>
      <p:sp>
        <p:nvSpPr>
          <p:cNvPr id="3" name="Объект 2">
            <a:extLst>
              <a:ext uri="{FF2B5EF4-FFF2-40B4-BE49-F238E27FC236}">
                <a16:creationId xmlns:a16="http://schemas.microsoft.com/office/drawing/2014/main" id="{431A3FE2-F229-F14B-41F1-447637E392BB}"/>
              </a:ext>
            </a:extLst>
          </p:cNvPr>
          <p:cNvSpPr>
            <a:spLocks noGrp="1"/>
          </p:cNvSpPr>
          <p:nvPr>
            <p:ph idx="1"/>
          </p:nvPr>
        </p:nvSpPr>
        <p:spPr>
          <a:xfrm>
            <a:off x="838200" y="1301262"/>
            <a:ext cx="10515600" cy="4870938"/>
          </a:xfrm>
        </p:spPr>
        <p:txBody>
          <a:bodyPr/>
          <a:lstStyle/>
          <a:p>
            <a:pPr marL="0" indent="0">
              <a:buNone/>
            </a:pPr>
            <a:r>
              <a:rPr lang="ru-RU" dirty="0">
                <a:latin typeface="Times New Roman" panose="02020603050405020304" pitchFamily="18" charset="0"/>
                <a:cs typeface="Times New Roman" panose="02020603050405020304" pitchFamily="18" charset="0"/>
              </a:rPr>
              <a:t>Второй этап прогрессирующей адаптации происходит после завершения сексуального «тест-драйва».</a:t>
            </a:r>
          </a:p>
          <a:p>
            <a:pPr marL="0" indent="0">
              <a:buNone/>
            </a:pPr>
            <a:r>
              <a:rPr lang="ru-RU" dirty="0">
                <a:latin typeface="Times New Roman" panose="02020603050405020304" pitchFamily="18" charset="0"/>
                <a:cs typeface="Times New Roman" panose="02020603050405020304" pitchFamily="18" charset="0"/>
              </a:rPr>
              <a:t>Женщина все более втягивается в этот процесс, у нее складывается индивидуальная система предпочтений. Каждый раз она возбуждается все больше и больше и начинает проявлять инициативу. Мужчина который уже продемонстрировала все свои умения, сталкивается с задачей сделать так чтобы партнерша испытала оргазм.</a:t>
            </a:r>
          </a:p>
        </p:txBody>
      </p:sp>
    </p:spTree>
    <p:extLst>
      <p:ext uri="{BB962C8B-B14F-4D97-AF65-F5344CB8AC3E}">
        <p14:creationId xmlns:p14="http://schemas.microsoft.com/office/powerpoint/2010/main" val="41107795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0EC864E-8A18-185F-825D-F4734CBEC13E}"/>
              </a:ext>
            </a:extLst>
          </p:cNvPr>
          <p:cNvSpPr>
            <a:spLocks noGrp="1"/>
          </p:cNvSpPr>
          <p:nvPr>
            <p:ph idx="1"/>
          </p:nvPr>
        </p:nvSpPr>
        <p:spPr>
          <a:xfrm>
            <a:off x="838200" y="422031"/>
            <a:ext cx="10515600" cy="5750169"/>
          </a:xfrm>
        </p:spPr>
        <p:txBody>
          <a:bodyPr/>
          <a:lstStyle/>
          <a:p>
            <a:r>
              <a:rPr lang="ru-RU" dirty="0">
                <a:latin typeface="Times New Roman" panose="02020603050405020304" pitchFamily="18" charset="0"/>
                <a:cs typeface="Times New Roman" panose="02020603050405020304" pitchFamily="18" charset="0"/>
              </a:rPr>
              <a:t>Этот период ( в среднем) продолжается около года, но эти границы сильно условны. После появления оргазма его частота постепенно возрастает, у взрослой женщины примерно через год процент </a:t>
            </a:r>
            <a:r>
              <a:rPr lang="ru-RU" dirty="0" err="1">
                <a:latin typeface="Times New Roman" panose="02020603050405020304" pitchFamily="18" charset="0"/>
                <a:cs typeface="Times New Roman" panose="02020603050405020304" pitchFamily="18" charset="0"/>
              </a:rPr>
              <a:t>оргастичности</a:t>
            </a:r>
            <a:r>
              <a:rPr lang="ru-RU" dirty="0">
                <a:latin typeface="Times New Roman" panose="02020603050405020304" pitchFamily="18" charset="0"/>
                <a:cs typeface="Times New Roman" panose="02020603050405020304" pitchFamily="18" charset="0"/>
              </a:rPr>
              <a:t> составляет 50-80%. Главное чтобы путь к оргазму был понятен и не сложен, прогнозируем и не оставлял неприятных ощущений.</a:t>
            </a:r>
          </a:p>
          <a:p>
            <a:r>
              <a:rPr lang="ru-RU" dirty="0">
                <a:latin typeface="Times New Roman" panose="02020603050405020304" pitchFamily="18" charset="0"/>
                <a:cs typeface="Times New Roman" panose="02020603050405020304" pitchFamily="18" charset="0"/>
              </a:rPr>
              <a:t>На этом этапе мы говорим о пробуждении сексуального либидо у женщин и если для мужчины его зрелость это неожиданный переход к УФР, то для женщины это определенная работа. </a:t>
            </a:r>
          </a:p>
        </p:txBody>
      </p:sp>
    </p:spTree>
    <p:extLst>
      <p:ext uri="{BB962C8B-B14F-4D97-AF65-F5344CB8AC3E}">
        <p14:creationId xmlns:p14="http://schemas.microsoft.com/office/powerpoint/2010/main" val="6648908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88E0A27-081A-1C97-4185-BE92F02C8E42}"/>
              </a:ext>
            </a:extLst>
          </p:cNvPr>
          <p:cNvSpPr>
            <a:spLocks noGrp="1"/>
          </p:cNvSpPr>
          <p:nvPr>
            <p:ph idx="1"/>
          </p:nvPr>
        </p:nvSpPr>
        <p:spPr>
          <a:xfrm>
            <a:off x="838200" y="544749"/>
            <a:ext cx="10515600" cy="5627451"/>
          </a:xfrm>
        </p:spPr>
        <p:txBody>
          <a:bodyPr>
            <a:normAutofit fontScale="92500"/>
          </a:bodyPr>
          <a:lstStyle/>
          <a:p>
            <a:r>
              <a:rPr lang="ru-RU" dirty="0">
                <a:latin typeface="Times New Roman" panose="02020603050405020304" pitchFamily="18" charset="0"/>
                <a:cs typeface="Times New Roman" panose="02020603050405020304" pitchFamily="18" charset="0"/>
              </a:rPr>
              <a:t>Женщина в начале сексуальной карьеры не может испытывать оргазм так же часто как мужчина. Но если она достигла пика формы, ее </a:t>
            </a:r>
            <a:r>
              <a:rPr lang="ru-RU" dirty="0" err="1">
                <a:latin typeface="Times New Roman" panose="02020603050405020304" pitchFamily="18" charset="0"/>
                <a:cs typeface="Times New Roman" panose="02020603050405020304" pitchFamily="18" charset="0"/>
              </a:rPr>
              <a:t>оргастичность</a:t>
            </a:r>
            <a:r>
              <a:rPr lang="ru-RU" dirty="0">
                <a:latin typeface="Times New Roman" panose="02020603050405020304" pitchFamily="18" charset="0"/>
                <a:cs typeface="Times New Roman" panose="02020603050405020304" pitchFamily="18" charset="0"/>
              </a:rPr>
              <a:t> колеблется около 50%.</a:t>
            </a:r>
          </a:p>
          <a:p>
            <a:r>
              <a:rPr lang="ru-RU" dirty="0">
                <a:latin typeface="Times New Roman" panose="02020603050405020304" pitchFamily="18" charset="0"/>
                <a:cs typeface="Times New Roman" panose="02020603050405020304" pitchFamily="18" charset="0"/>
              </a:rPr>
              <a:t>После того, как мужчина входит в полосу УФР и частота половых актов у него снижается до 2—3 в неделю, </a:t>
            </a:r>
            <a:r>
              <a:rPr lang="ru-RU" dirty="0" err="1">
                <a:latin typeface="Times New Roman" panose="02020603050405020304" pitchFamily="18" charset="0"/>
                <a:cs typeface="Times New Roman" panose="02020603050405020304" pitchFamily="18" charset="0"/>
              </a:rPr>
              <a:t>оргастичность</a:t>
            </a:r>
            <a:r>
              <a:rPr lang="ru-RU" dirty="0">
                <a:latin typeface="Times New Roman" panose="02020603050405020304" pitchFamily="18" charset="0"/>
                <a:cs typeface="Times New Roman" panose="02020603050405020304" pitchFamily="18" charset="0"/>
              </a:rPr>
              <a:t> женщины возрастает в первую очередь за счет снижения половой активности пары.</a:t>
            </a:r>
          </a:p>
          <a:p>
            <a:r>
              <a:rPr lang="ru-RU" dirty="0">
                <a:latin typeface="Times New Roman" panose="02020603050405020304" pitchFamily="18" charset="0"/>
                <a:cs typeface="Times New Roman" panose="02020603050405020304" pitchFamily="18" charset="0"/>
              </a:rPr>
              <a:t>На этапе зрелой сексуальности в режиме УФР </a:t>
            </a:r>
            <a:r>
              <a:rPr lang="ru-RU" dirty="0" err="1">
                <a:latin typeface="Times New Roman" panose="02020603050405020304" pitchFamily="18" charset="0"/>
                <a:cs typeface="Times New Roman" panose="02020603050405020304" pitchFamily="18" charset="0"/>
              </a:rPr>
              <a:t>оргастичность</a:t>
            </a:r>
            <a:r>
              <a:rPr lang="ru-RU" dirty="0">
                <a:latin typeface="Times New Roman" panose="02020603050405020304" pitchFamily="18" charset="0"/>
                <a:cs typeface="Times New Roman" panose="02020603050405020304" pitchFamily="18" charset="0"/>
              </a:rPr>
              <a:t> женщины колеблется в диапазоне 50—80%, а у темпераментных женщин достигает 100% и даже больше при наличии </a:t>
            </a:r>
            <a:r>
              <a:rPr lang="ru-RU" dirty="0" err="1">
                <a:latin typeface="Times New Roman" panose="02020603050405020304" pitchFamily="18" charset="0"/>
                <a:cs typeface="Times New Roman" panose="02020603050405020304" pitchFamily="18" charset="0"/>
              </a:rPr>
              <a:t>мультиоргастичности</a:t>
            </a:r>
            <a:r>
              <a:rPr lang="ru-RU" dirty="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Если пик сексуальной формы у мужчин приходится на 25-28 лет, то у женщины он приходится на 35-38 лет.</a:t>
            </a:r>
            <a:br>
              <a:rPr lang="ru-RU" dirty="0">
                <a:latin typeface="Times New Roman" panose="02020603050405020304" pitchFamily="18" charset="0"/>
                <a:cs typeface="Times New Roman" panose="02020603050405020304" pitchFamily="18" charset="0"/>
              </a:rPr>
            </a:b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33859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3DC97C-0DD9-C0BA-4A45-43242D8A12AE}"/>
              </a:ext>
            </a:extLst>
          </p:cNvPr>
          <p:cNvSpPr>
            <a:spLocks noGrp="1"/>
          </p:cNvSpPr>
          <p:nvPr>
            <p:ph type="title"/>
          </p:nvPr>
        </p:nvSpPr>
        <p:spPr/>
        <p:txBody>
          <a:bodyPr/>
          <a:lstStyle/>
          <a:p>
            <a:r>
              <a:rPr lang="ru-RU" dirty="0"/>
              <a:t>Мифы влияющие на сексуальность:</a:t>
            </a:r>
          </a:p>
        </p:txBody>
      </p:sp>
      <p:sp>
        <p:nvSpPr>
          <p:cNvPr id="3" name="Объект 2">
            <a:extLst>
              <a:ext uri="{FF2B5EF4-FFF2-40B4-BE49-F238E27FC236}">
                <a16:creationId xmlns:a16="http://schemas.microsoft.com/office/drawing/2014/main" id="{52416743-A791-DCBB-24A5-76F2D0608281}"/>
              </a:ext>
            </a:extLst>
          </p:cNvPr>
          <p:cNvSpPr>
            <a:spLocks noGrp="1"/>
          </p:cNvSpPr>
          <p:nvPr>
            <p:ph idx="1"/>
          </p:nvPr>
        </p:nvSpPr>
        <p:spPr>
          <a:xfrm>
            <a:off x="838200" y="1515979"/>
            <a:ext cx="10515600" cy="4656221"/>
          </a:xfrm>
        </p:spPr>
        <p:txBody>
          <a:bodyPr>
            <a:normAutofit lnSpcReduction="10000"/>
          </a:bodyPr>
          <a:lstStyle/>
          <a:p>
            <a:r>
              <a:rPr lang="ru-RU" dirty="0">
                <a:latin typeface="Times New Roman" panose="02020603050405020304" pitchFamily="18" charset="0"/>
                <a:cs typeface="Times New Roman" panose="02020603050405020304" pitchFamily="18" charset="0"/>
              </a:rPr>
              <a:t>Желать секса и получать от него удовольствие стыдно, особенно для женщин</a:t>
            </a:r>
          </a:p>
          <a:p>
            <a:r>
              <a:rPr lang="ru-RU" dirty="0">
                <a:latin typeface="Times New Roman" panose="02020603050405020304" pitchFamily="18" charset="0"/>
                <a:cs typeface="Times New Roman" panose="02020603050405020304" pitchFamily="18" charset="0"/>
              </a:rPr>
              <a:t>Секс важнее для мужчин, чем для женщин</a:t>
            </a:r>
          </a:p>
          <a:p>
            <a:r>
              <a:rPr lang="ru-RU" dirty="0">
                <a:latin typeface="Times New Roman" panose="02020603050405020304" pitchFamily="18" charset="0"/>
                <a:cs typeface="Times New Roman" panose="02020603050405020304" pitchFamily="18" charset="0"/>
              </a:rPr>
              <a:t>Женщина не может инициировать секс</a:t>
            </a:r>
          </a:p>
          <a:p>
            <a:r>
              <a:rPr lang="ru-RU" dirty="0">
                <a:latin typeface="Times New Roman" panose="02020603050405020304" pitchFamily="18" charset="0"/>
                <a:cs typeface="Times New Roman" panose="02020603050405020304" pitchFamily="18" charset="0"/>
              </a:rPr>
              <a:t>Для женщин сексуальное удовольствие менее важно чем для мужчин</a:t>
            </a:r>
          </a:p>
          <a:p>
            <a:r>
              <a:rPr lang="ru-RU" dirty="0">
                <a:latin typeface="Times New Roman" panose="02020603050405020304" pitchFamily="18" charset="0"/>
                <a:cs typeface="Times New Roman" panose="02020603050405020304" pitchFamily="18" charset="0"/>
              </a:rPr>
              <a:t>Выглядеть хорошо и удовлетворить партнера, для женщины важнее чем получить удовольствие самой</a:t>
            </a:r>
          </a:p>
          <a:p>
            <a:r>
              <a:rPr lang="ru-RU" dirty="0">
                <a:latin typeface="Times New Roman" panose="02020603050405020304" pitchFamily="18" charset="0"/>
                <a:cs typeface="Times New Roman" panose="02020603050405020304" pitchFamily="18" charset="0"/>
              </a:rPr>
              <a:t>Если вы уже начали сексуальные действия остановиться будет невежливо</a:t>
            </a:r>
          </a:p>
        </p:txBody>
      </p:sp>
    </p:spTree>
    <p:extLst>
      <p:ext uri="{BB962C8B-B14F-4D97-AF65-F5344CB8AC3E}">
        <p14:creationId xmlns:p14="http://schemas.microsoft.com/office/powerpoint/2010/main" val="1421833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2">
            <a:extLst>
              <a:ext uri="{FF2B5EF4-FFF2-40B4-BE49-F238E27FC236}">
                <a16:creationId xmlns:a16="http://schemas.microsoft.com/office/drawing/2014/main" id="{2F8A2CF3-6EAB-4A88-86F1-3712A3495905}"/>
              </a:ext>
            </a:extLst>
          </p:cNvPr>
          <p:cNvGraphicFramePr>
            <a:graphicFrameLocks noGrp="1"/>
          </p:cNvGraphicFramePr>
          <p:nvPr/>
        </p:nvGraphicFramePr>
        <p:xfrm>
          <a:off x="1898650" y="1955800"/>
          <a:ext cx="8128000" cy="319489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209501"/>
                    </a:ext>
                  </a:extLst>
                </a:gridCol>
                <a:gridCol w="4064000">
                  <a:extLst>
                    <a:ext uri="{9D8B030D-6E8A-4147-A177-3AD203B41FA5}">
                      <a16:colId xmlns:a16="http://schemas.microsoft.com/office/drawing/2014/main" val="2045139183"/>
                    </a:ext>
                  </a:extLst>
                </a:gridCol>
              </a:tblGrid>
              <a:tr h="1597448">
                <a:tc>
                  <a:txBody>
                    <a:bodyPr/>
                    <a:lstStyle/>
                    <a:p>
                      <a:pPr algn="ctr"/>
                      <a:r>
                        <a:rPr lang="ru-RU" dirty="0"/>
                        <a:t>Я +      он/она +</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dirty="0"/>
                        <a:t>Я +      он/она -</a:t>
                      </a:r>
                    </a:p>
                    <a:p>
                      <a:pPr algn="ctr"/>
                      <a:endParaRPr lang="ru-RU" dirty="0"/>
                    </a:p>
                  </a:txBody>
                  <a:tcPr anchor="ctr"/>
                </a:tc>
                <a:extLst>
                  <a:ext uri="{0D108BD9-81ED-4DB2-BD59-A6C34878D82A}">
                    <a16:rowId xmlns:a16="http://schemas.microsoft.com/office/drawing/2014/main" val="987933259"/>
                  </a:ext>
                </a:extLst>
              </a:tr>
              <a:tr h="15974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dirty="0"/>
                        <a:t>Я -      он/она +</a:t>
                      </a:r>
                    </a:p>
                    <a:p>
                      <a:pPr algn="ctr"/>
                      <a:endParaRPr lang="ru-RU"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dirty="0"/>
                        <a:t>Я -      он/она -</a:t>
                      </a:r>
                    </a:p>
                    <a:p>
                      <a:pPr algn="ctr"/>
                      <a:endParaRPr lang="ru-RU" dirty="0"/>
                    </a:p>
                  </a:txBody>
                  <a:tcPr anchor="ctr"/>
                </a:tc>
                <a:extLst>
                  <a:ext uri="{0D108BD9-81ED-4DB2-BD59-A6C34878D82A}">
                    <a16:rowId xmlns:a16="http://schemas.microsoft.com/office/drawing/2014/main" val="2017989273"/>
                  </a:ext>
                </a:extLst>
              </a:tr>
            </a:tbl>
          </a:graphicData>
        </a:graphic>
      </p:graphicFrame>
      <p:sp>
        <p:nvSpPr>
          <p:cNvPr id="4" name="Прямоугольник 3">
            <a:extLst>
              <a:ext uri="{FF2B5EF4-FFF2-40B4-BE49-F238E27FC236}">
                <a16:creationId xmlns:a16="http://schemas.microsoft.com/office/drawing/2014/main" id="{D0E5C564-C05C-4016-9124-E8A7E8C252DA}"/>
              </a:ext>
            </a:extLst>
          </p:cNvPr>
          <p:cNvSpPr/>
          <p:nvPr/>
        </p:nvSpPr>
        <p:spPr>
          <a:xfrm>
            <a:off x="5113731" y="488434"/>
            <a:ext cx="1697837" cy="369332"/>
          </a:xfrm>
          <a:prstGeom prst="rect">
            <a:avLst/>
          </a:prstGeom>
        </p:spPr>
        <p:txBody>
          <a:bodyPr wrap="none">
            <a:spAutoFit/>
          </a:bodyPr>
          <a:lstStyle/>
          <a:p>
            <a:r>
              <a:rPr lang="ru-RU" dirty="0">
                <a:latin typeface="Times New Roman" panose="02020603050405020304" pitchFamily="18" charset="0"/>
                <a:cs typeface="Times New Roman" panose="02020603050405020304" pitchFamily="18" charset="0"/>
              </a:rPr>
              <a:t>Практика МАК</a:t>
            </a:r>
          </a:p>
        </p:txBody>
      </p:sp>
    </p:spTree>
    <p:extLst>
      <p:ext uri="{BB962C8B-B14F-4D97-AF65-F5344CB8AC3E}">
        <p14:creationId xmlns:p14="http://schemas.microsoft.com/office/powerpoint/2010/main" val="37896472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D0E5C564-C05C-4016-9124-E8A7E8C252DA}"/>
              </a:ext>
            </a:extLst>
          </p:cNvPr>
          <p:cNvSpPr/>
          <p:nvPr/>
        </p:nvSpPr>
        <p:spPr>
          <a:xfrm>
            <a:off x="5113731" y="488434"/>
            <a:ext cx="1697837" cy="369332"/>
          </a:xfrm>
          <a:prstGeom prst="rect">
            <a:avLst/>
          </a:prstGeom>
        </p:spPr>
        <p:txBody>
          <a:bodyPr wrap="none">
            <a:spAutoFit/>
          </a:bodyPr>
          <a:lstStyle/>
          <a:p>
            <a:r>
              <a:rPr lang="ru-RU" dirty="0">
                <a:latin typeface="Times New Roman" panose="02020603050405020304" pitchFamily="18" charset="0"/>
                <a:cs typeface="Times New Roman" panose="02020603050405020304" pitchFamily="18" charset="0"/>
              </a:rPr>
              <a:t>Практика МАК</a:t>
            </a:r>
          </a:p>
        </p:txBody>
      </p:sp>
      <p:pic>
        <p:nvPicPr>
          <p:cNvPr id="3" name="Рисунок 4">
            <a:extLst>
              <a:ext uri="{FF2B5EF4-FFF2-40B4-BE49-F238E27FC236}">
                <a16:creationId xmlns:a16="http://schemas.microsoft.com/office/drawing/2014/main" id="{6095006F-C0B6-4233-8FE9-6BE601F8F565}"/>
              </a:ext>
            </a:extLst>
          </p:cNvPr>
          <p:cNvPicPr>
            <a:picLocks noChangeAspect="1"/>
          </p:cNvPicPr>
          <p:nvPr/>
        </p:nvPicPr>
        <p:blipFill rotWithShape="1">
          <a:blip r:embed="rId2"/>
          <a:srcRect l="1739" t="4121" r="7246" b="4121"/>
          <a:stretch/>
        </p:blipFill>
        <p:spPr>
          <a:xfrm rot="-5400000">
            <a:off x="2994909" y="-907168"/>
            <a:ext cx="6457523" cy="8666303"/>
          </a:xfrm>
          <a:prstGeom prst="rect">
            <a:avLst/>
          </a:prstGeom>
        </p:spPr>
      </p:pic>
    </p:spTree>
    <p:extLst>
      <p:ext uri="{BB962C8B-B14F-4D97-AF65-F5344CB8AC3E}">
        <p14:creationId xmlns:p14="http://schemas.microsoft.com/office/powerpoint/2010/main" val="7043894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D0E5C564-C05C-4016-9124-E8A7E8C252DA}"/>
              </a:ext>
            </a:extLst>
          </p:cNvPr>
          <p:cNvSpPr/>
          <p:nvPr/>
        </p:nvSpPr>
        <p:spPr>
          <a:xfrm>
            <a:off x="5113731" y="488434"/>
            <a:ext cx="1697837" cy="369332"/>
          </a:xfrm>
          <a:prstGeom prst="rect">
            <a:avLst/>
          </a:prstGeom>
        </p:spPr>
        <p:txBody>
          <a:bodyPr wrap="none">
            <a:spAutoFit/>
          </a:bodyPr>
          <a:lstStyle/>
          <a:p>
            <a:r>
              <a:rPr lang="ru-RU" dirty="0">
                <a:latin typeface="Times New Roman" panose="02020603050405020304" pitchFamily="18" charset="0"/>
                <a:cs typeface="Times New Roman" panose="02020603050405020304" pitchFamily="18" charset="0"/>
              </a:rPr>
              <a:t>Практика МАК</a:t>
            </a:r>
          </a:p>
        </p:txBody>
      </p:sp>
      <p:pic>
        <p:nvPicPr>
          <p:cNvPr id="2" name="Рисунок 4" descr="Изображение выглядит как фотография, много, закрытый, комната&#10;&#10;Автоматически созданное описание">
            <a:extLst>
              <a:ext uri="{FF2B5EF4-FFF2-40B4-BE49-F238E27FC236}">
                <a16:creationId xmlns:a16="http://schemas.microsoft.com/office/drawing/2014/main" id="{7616C99D-E7FD-41E4-87BA-A4C52462A5AC}"/>
              </a:ext>
            </a:extLst>
          </p:cNvPr>
          <p:cNvPicPr>
            <a:picLocks noChangeAspect="1"/>
          </p:cNvPicPr>
          <p:nvPr/>
        </p:nvPicPr>
        <p:blipFill>
          <a:blip r:embed="rId2"/>
          <a:stretch>
            <a:fillRect/>
          </a:stretch>
        </p:blipFill>
        <p:spPr>
          <a:xfrm>
            <a:off x="1779588" y="34925"/>
            <a:ext cx="9037637" cy="6780212"/>
          </a:xfrm>
          <a:prstGeom prst="rect">
            <a:avLst/>
          </a:prstGeom>
        </p:spPr>
      </p:pic>
    </p:spTree>
    <p:extLst>
      <p:ext uri="{BB962C8B-B14F-4D97-AF65-F5344CB8AC3E}">
        <p14:creationId xmlns:p14="http://schemas.microsoft.com/office/powerpoint/2010/main" val="2494894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68B474-882F-426C-A703-EBBBB5DD6A38}"/>
              </a:ext>
            </a:extLst>
          </p:cNvPr>
          <p:cNvSpPr>
            <a:spLocks noGrp="1"/>
          </p:cNvSpPr>
          <p:nvPr>
            <p:ph type="title"/>
          </p:nvPr>
        </p:nvSpPr>
        <p:spPr/>
        <p:txBody>
          <a:bodyPr/>
          <a:lstStyle/>
          <a:p>
            <a:endParaRPr lang="ru-RU" dirty="0"/>
          </a:p>
        </p:txBody>
      </p:sp>
      <p:pic>
        <p:nvPicPr>
          <p:cNvPr id="15" name="Рисунок 15" descr="Изображение выглядит как галерея, сцена, комната, фотография&#10;&#10;Автоматически созданное описание">
            <a:extLst>
              <a:ext uri="{FF2B5EF4-FFF2-40B4-BE49-F238E27FC236}">
                <a16:creationId xmlns:a16="http://schemas.microsoft.com/office/drawing/2014/main" id="{3512720B-AF02-48AB-8ADD-04CF7F414259}"/>
              </a:ext>
            </a:extLst>
          </p:cNvPr>
          <p:cNvPicPr>
            <a:picLocks noGrp="1" noChangeAspect="1"/>
          </p:cNvPicPr>
          <p:nvPr>
            <p:ph idx="1"/>
          </p:nvPr>
        </p:nvPicPr>
        <p:blipFill rotWithShape="1">
          <a:blip r:embed="rId2"/>
          <a:srcRect t="10822" r="150" b="14830"/>
          <a:stretch/>
        </p:blipFill>
        <p:spPr>
          <a:xfrm>
            <a:off x="568007" y="257492"/>
            <a:ext cx="11214744" cy="6269542"/>
          </a:xfrm>
        </p:spPr>
      </p:pic>
    </p:spTree>
    <p:extLst>
      <p:ext uri="{BB962C8B-B14F-4D97-AF65-F5344CB8AC3E}">
        <p14:creationId xmlns:p14="http://schemas.microsoft.com/office/powerpoint/2010/main" val="160816344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3" descr="Изображение выглядит как комната, другой, розовый, еда&#10;&#10;Автоматически созданное описание">
            <a:extLst>
              <a:ext uri="{FF2B5EF4-FFF2-40B4-BE49-F238E27FC236}">
                <a16:creationId xmlns:a16="http://schemas.microsoft.com/office/drawing/2014/main" id="{83D26804-C3F6-46B5-A408-7A4CA43BA523}"/>
              </a:ext>
            </a:extLst>
          </p:cNvPr>
          <p:cNvPicPr>
            <a:picLocks noGrp="1" noChangeAspect="1"/>
          </p:cNvPicPr>
          <p:nvPr>
            <p:ph idx="1"/>
          </p:nvPr>
        </p:nvPicPr>
        <p:blipFill rotWithShape="1">
          <a:blip r:embed="rId2"/>
          <a:srcRect l="10941" t="45" r="-110" b="-614"/>
          <a:stretch/>
        </p:blipFill>
        <p:spPr>
          <a:xfrm rot="-5400000">
            <a:off x="3448705" y="-1500594"/>
            <a:ext cx="6467652" cy="9809271"/>
          </a:xfrm>
        </p:spPr>
      </p:pic>
    </p:spTree>
    <p:extLst>
      <p:ext uri="{BB962C8B-B14F-4D97-AF65-F5344CB8AC3E}">
        <p14:creationId xmlns:p14="http://schemas.microsoft.com/office/powerpoint/2010/main" val="13629819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Рисунок 10" descr="Изображение выглядит как галерея, сцена, комната, фотография&#10;&#10;Автоматически созданное описание">
            <a:extLst>
              <a:ext uri="{FF2B5EF4-FFF2-40B4-BE49-F238E27FC236}">
                <a16:creationId xmlns:a16="http://schemas.microsoft.com/office/drawing/2014/main" id="{58BA132B-2F52-4D70-A9E1-CFFDF08B6601}"/>
              </a:ext>
            </a:extLst>
          </p:cNvPr>
          <p:cNvPicPr>
            <a:picLocks noGrp="1" noChangeAspect="1"/>
          </p:cNvPicPr>
          <p:nvPr>
            <p:ph idx="1"/>
          </p:nvPr>
        </p:nvPicPr>
        <p:blipFill rotWithShape="1">
          <a:blip r:embed="rId2"/>
          <a:srcRect l="14226" r="8219" b="395"/>
          <a:stretch/>
        </p:blipFill>
        <p:spPr>
          <a:xfrm rot="-5400000">
            <a:off x="3167778" y="-1476686"/>
            <a:ext cx="5846365" cy="10007139"/>
          </a:xfrm>
        </p:spPr>
      </p:pic>
    </p:spTree>
    <p:extLst>
      <p:ext uri="{BB962C8B-B14F-4D97-AF65-F5344CB8AC3E}">
        <p14:creationId xmlns:p14="http://schemas.microsoft.com/office/powerpoint/2010/main" val="38784820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398A3B3-F771-BA63-324F-D087978445EB}"/>
              </a:ext>
            </a:extLst>
          </p:cNvPr>
          <p:cNvSpPr>
            <a:spLocks noGrp="1"/>
          </p:cNvSpPr>
          <p:nvPr>
            <p:ph idx="1"/>
          </p:nvPr>
        </p:nvSpPr>
        <p:spPr>
          <a:xfrm>
            <a:off x="838200" y="519763"/>
            <a:ext cx="10515600" cy="5688531"/>
          </a:xfrm>
        </p:spPr>
        <p:txBody>
          <a:bodyPr>
            <a:normAutofit lnSpcReduction="10000"/>
          </a:bodyPr>
          <a:lstStyle/>
          <a:p>
            <a:pPr marL="0" indent="0">
              <a:buNone/>
            </a:pPr>
            <a:r>
              <a:rPr lang="ru-RU" b="1" dirty="0">
                <a:latin typeface="Times New Roman" panose="02020603050405020304" pitchFamily="18" charset="0"/>
                <a:cs typeface="Times New Roman" panose="02020603050405020304" pitchFamily="18" charset="0"/>
              </a:rPr>
              <a:t>Почему женщина имитирует оргазм?</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dirty="0">
                <a:latin typeface="Times New Roman" panose="02020603050405020304" pitchFamily="18" charset="0"/>
                <a:cs typeface="Times New Roman" panose="02020603050405020304" pitchFamily="18" charset="0"/>
              </a:rPr>
              <a:t>-хочет быть хорошим сексуальным партнером</a:t>
            </a:r>
          </a:p>
          <a:p>
            <a:pPr marL="0" indent="0">
              <a:buNone/>
            </a:pPr>
            <a:r>
              <a:rPr lang="ru-RU" dirty="0">
                <a:latin typeface="Times New Roman" panose="02020603050405020304" pitchFamily="18" charset="0"/>
                <a:cs typeface="Times New Roman" panose="02020603050405020304" pitchFamily="18" charset="0"/>
              </a:rPr>
              <a:t>-хочет чтобы секс наконец закончился</a:t>
            </a:r>
          </a:p>
          <a:p>
            <a:pPr marL="0" indent="0">
              <a:buNone/>
            </a:pPr>
            <a:r>
              <a:rPr lang="ru-RU" dirty="0">
                <a:latin typeface="Times New Roman" panose="02020603050405020304" pitchFamily="18" charset="0"/>
                <a:cs typeface="Times New Roman" panose="02020603050405020304" pitchFamily="18" charset="0"/>
              </a:rPr>
              <a:t>-старается улучшить секс</a:t>
            </a:r>
          </a:p>
          <a:p>
            <a:pPr marL="0" indent="0">
              <a:buNone/>
            </a:pPr>
            <a:r>
              <a:rPr lang="ru-RU" dirty="0">
                <a:latin typeface="Times New Roman" panose="02020603050405020304" pitchFamily="18" charset="0"/>
                <a:cs typeface="Times New Roman" panose="02020603050405020304" pitchFamily="18" charset="0"/>
              </a:rPr>
              <a:t>-хочет избежать объяснений</a:t>
            </a:r>
          </a:p>
          <a:p>
            <a:pPr marL="0" indent="0">
              <a:buNone/>
            </a:pPr>
            <a:r>
              <a:rPr lang="ru-RU" dirty="0">
                <a:latin typeface="Times New Roman" panose="02020603050405020304" pitchFamily="18" charset="0"/>
                <a:cs typeface="Times New Roman" panose="02020603050405020304" pitchFamily="18" charset="0"/>
              </a:rPr>
              <a:t>-надеется таки образом помешать уходу партнера</a:t>
            </a:r>
          </a:p>
          <a:p>
            <a:pPr>
              <a:buFontTx/>
              <a:buChar char="-"/>
            </a:pPr>
            <a:r>
              <a:rPr lang="ru-RU" dirty="0">
                <a:latin typeface="Times New Roman" panose="02020603050405020304" pitchFamily="18" charset="0"/>
                <a:cs typeface="Times New Roman" panose="02020603050405020304" pitchFamily="18" charset="0"/>
              </a:rPr>
              <a:t>хочет избежать стыда</a:t>
            </a:r>
          </a:p>
          <a:p>
            <a:pPr>
              <a:buFontTx/>
              <a:buChar char="-"/>
            </a:pPr>
            <a:endParaRPr lang="ru-RU" dirty="0">
              <a:latin typeface="Times New Roman" panose="02020603050405020304" pitchFamily="18" charset="0"/>
              <a:cs typeface="Times New Roman" panose="02020603050405020304" pitchFamily="18" charset="0"/>
            </a:endParaRPr>
          </a:p>
          <a:p>
            <a:pPr marL="0" indent="0">
              <a:buNone/>
            </a:pPr>
            <a:r>
              <a:rPr lang="ru-RU" dirty="0">
                <a:latin typeface="Times New Roman" panose="02020603050405020304" pitchFamily="18" charset="0"/>
                <a:cs typeface="Times New Roman" panose="02020603050405020304" pitchFamily="18" charset="0"/>
              </a:rPr>
              <a:t>Это создает иллюзию, что женщины удовлетворены сексом как и мужчины</a:t>
            </a:r>
          </a:p>
        </p:txBody>
      </p:sp>
    </p:spTree>
    <p:extLst>
      <p:ext uri="{BB962C8B-B14F-4D97-AF65-F5344CB8AC3E}">
        <p14:creationId xmlns:p14="http://schemas.microsoft.com/office/powerpoint/2010/main" val="31604648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7D6D66-C0F6-4B90-979C-69AD019E9D55}"/>
              </a:ext>
            </a:extLst>
          </p:cNvPr>
          <p:cNvSpPr>
            <a:spLocks noGrp="1"/>
          </p:cNvSpPr>
          <p:nvPr>
            <p:ph type="title"/>
          </p:nvPr>
        </p:nvSpPr>
        <p:spPr>
          <a:xfrm>
            <a:off x="393700" y="215900"/>
            <a:ext cx="11385550" cy="6496050"/>
          </a:xfrm>
        </p:spPr>
        <p:txBody>
          <a:bodyPr>
            <a:normAutofit/>
          </a:bodyPr>
          <a:lstStyle/>
          <a:p>
            <a:pPr algn="l"/>
            <a:r>
              <a:rPr lang="ru-RU" sz="1800" b="1" i="0" dirty="0">
                <a:latin typeface="Times New Roman" panose="02020603050405020304" pitchFamily="18" charset="0"/>
                <a:cs typeface="Times New Roman" panose="02020603050405020304" pitchFamily="18" charset="0"/>
              </a:rPr>
              <a:t>СЕКСУАЛЬНАЯ НЕМОТА. </a:t>
            </a:r>
            <a:br>
              <a:rPr lang="ru-RU" sz="1800" b="1" i="0" dirty="0">
                <a:latin typeface="Times New Roman" panose="02020603050405020304" pitchFamily="18" charset="0"/>
                <a:cs typeface="Times New Roman" panose="02020603050405020304" pitchFamily="18" charset="0"/>
              </a:rPr>
            </a:br>
            <a:br>
              <a:rPr lang="ru-RU" sz="12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Многие </a:t>
            </a:r>
            <a:r>
              <a:rPr lang="ru-RU" sz="1800" i="0" dirty="0" err="1">
                <a:latin typeface="Times New Roman" panose="02020603050405020304" pitchFamily="18" charset="0"/>
                <a:cs typeface="Times New Roman" panose="02020603050405020304" pitchFamily="18" charset="0"/>
              </a:rPr>
              <a:t>психосексуальные</a:t>
            </a:r>
            <a:r>
              <a:rPr lang="ru-RU" sz="1800" i="0" dirty="0">
                <a:latin typeface="Times New Roman" panose="02020603050405020304" pitchFamily="18" charset="0"/>
                <a:cs typeface="Times New Roman" panose="02020603050405020304" pitchFamily="18" charset="0"/>
              </a:rPr>
              <a:t> проблемы связаны с тем, что люди не умеют или не смеют выражать свои желания в словах. Чтобы проверить клиента и одновременно оценить качество его партнерских отношений, стоит задать ему вопросы. Например, такие:</a:t>
            </a:r>
            <a:br>
              <a:rPr lang="ru-RU" sz="1800" i="0" dirty="0">
                <a:latin typeface="Times New Roman" panose="02020603050405020304" pitchFamily="18" charset="0"/>
                <a:cs typeface="Times New Roman" panose="02020603050405020304" pitchFamily="18" charset="0"/>
              </a:rPr>
            </a:b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сказать своему партнеру, что вам требуется больше времени для себя, чтобы побыть с друзьями, почитать, просто побыть одному?</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сказать ему (ей), что вы хотите проводить больше времени с ней (с ним)?</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дать ей (ему) понять, что вас тревожит </a:t>
            </a:r>
            <a:r>
              <a:rPr lang="ru-RU" sz="1800" i="0" dirty="0" err="1">
                <a:latin typeface="Times New Roman" panose="02020603050405020304" pitchFamily="18" charset="0"/>
                <a:cs typeface="Times New Roman" panose="02020603050405020304" pitchFamily="18" charset="0"/>
              </a:rPr>
              <a:t>чтото</a:t>
            </a:r>
            <a:r>
              <a:rPr lang="ru-RU" sz="1800" i="0" dirty="0">
                <a:latin typeface="Times New Roman" panose="02020603050405020304" pitchFamily="18" charset="0"/>
                <a:cs typeface="Times New Roman" panose="02020603050405020304" pitchFamily="18" charset="0"/>
              </a:rPr>
              <a:t> такое, что он (она) сделал или не сделал?</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дать понять, что вы сейчас не в настроении для секса, даже если партнер этого хочет?</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ясно дать понять, когда вы хотите любовной близости?</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ясно сказать, какие именно сексуальные ласки и игры вы предпочитаете, вообще или в данный момент?</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объяснить партнеру, что мешает вашему возбуждению, желанию или действиям?</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спросить, какие сексуальные действия предпочитает ваш партнер?</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ясно сказать, что хотите остановиться в середине любовной игры?</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завести разговор о том, что бы вы хотели изменить в вашей сексуальной жизни?</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Можете ли вы отстаивать свою точку зрения, если партнер с ней не соглашается?</a:t>
            </a: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В случае разногласий, можете ли вы понять основательность как своей, так и его (ее) позиции и постараться найти обоюдно приемлемое решение?</a:t>
            </a:r>
            <a:br>
              <a:rPr lang="ru-RU" sz="1800" i="0" dirty="0">
                <a:latin typeface="Times New Roman" panose="02020603050405020304" pitchFamily="18" charset="0"/>
                <a:cs typeface="Times New Roman" panose="02020603050405020304" pitchFamily="18" charset="0"/>
              </a:rPr>
            </a:br>
            <a:br>
              <a:rPr lang="ru-RU" sz="1800" i="0" dirty="0">
                <a:latin typeface="Times New Roman" panose="02020603050405020304" pitchFamily="18" charset="0"/>
                <a:cs typeface="Times New Roman" panose="02020603050405020304" pitchFamily="18" charset="0"/>
              </a:rPr>
            </a:br>
            <a:r>
              <a:rPr lang="ru-RU" sz="1800" i="0" dirty="0">
                <a:latin typeface="Times New Roman" panose="02020603050405020304" pitchFamily="18" charset="0"/>
                <a:cs typeface="Times New Roman" panose="02020603050405020304" pitchFamily="18" charset="0"/>
              </a:rPr>
              <a:t>Если на какой-то из этих вопросов получен ответ «нет», – в сексуальности и/или партнерских отношениях пациента (клиента) не все в порядке, они нуждаются в урегулировании или коррекции.</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143109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6" descr="Изображение выглядит как фотография, внутренний, закрытый, много&#10;&#10;Автоматически созданное описание">
            <a:extLst>
              <a:ext uri="{FF2B5EF4-FFF2-40B4-BE49-F238E27FC236}">
                <a16:creationId xmlns:a16="http://schemas.microsoft.com/office/drawing/2014/main" id="{D8DD8BD6-E3A3-4811-BC27-DC6E8A08E4B3}"/>
              </a:ext>
            </a:extLst>
          </p:cNvPr>
          <p:cNvPicPr>
            <a:picLocks noGrp="1" noChangeAspect="1"/>
          </p:cNvPicPr>
          <p:nvPr>
            <p:ph idx="1"/>
          </p:nvPr>
        </p:nvPicPr>
        <p:blipFill>
          <a:blip r:embed="rId2"/>
          <a:stretch>
            <a:fillRect/>
          </a:stretch>
        </p:blipFill>
        <p:spPr>
          <a:xfrm rot="5400000">
            <a:off x="2463294" y="-285042"/>
            <a:ext cx="5571066" cy="7428088"/>
          </a:xfrm>
          <a:prstGeom prst="rect">
            <a:avLst/>
          </a:prstGeom>
        </p:spPr>
      </p:pic>
    </p:spTree>
    <p:extLst>
      <p:ext uri="{BB962C8B-B14F-4D97-AF65-F5344CB8AC3E}">
        <p14:creationId xmlns:p14="http://schemas.microsoft.com/office/powerpoint/2010/main" val="15152086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4DF838D-80B0-B8BA-C4FA-47093AEA5AF7}"/>
              </a:ext>
            </a:extLst>
          </p:cNvPr>
          <p:cNvSpPr>
            <a:spLocks noGrp="1"/>
          </p:cNvSpPr>
          <p:nvPr>
            <p:ph idx="1"/>
          </p:nvPr>
        </p:nvSpPr>
        <p:spPr>
          <a:xfrm>
            <a:off x="233082" y="854110"/>
            <a:ext cx="11120718" cy="5318090"/>
          </a:xfrm>
        </p:spPr>
        <p:txBody>
          <a:bodyPr>
            <a:noAutofit/>
          </a:bodyPr>
          <a:lstStyle/>
          <a:p>
            <a:pPr marL="0" indent="0" defTabSz="621791">
              <a:spcBef>
                <a:spcPts val="400"/>
              </a:spcBef>
              <a:buSzTx/>
              <a:buFontTx/>
              <a:buNone/>
              <a:defRPr sz="1496">
                <a:latin typeface="Times New Roman"/>
                <a:ea typeface="Times New Roman"/>
                <a:cs typeface="Times New Roman"/>
                <a:sym typeface="Times New Roman"/>
              </a:defRPr>
            </a:pPr>
            <a:r>
              <a:rPr lang="ru-RU" sz="2200" b="1" dirty="0"/>
              <a:t>Как изменяется сексуальное желание в паре</a:t>
            </a:r>
          </a:p>
          <a:p>
            <a:pPr marL="0" indent="0" defTabSz="621791">
              <a:spcBef>
                <a:spcPts val="400"/>
              </a:spcBef>
              <a:buSzTx/>
              <a:buFontTx/>
              <a:buNone/>
              <a:defRPr sz="1496">
                <a:latin typeface="Times New Roman"/>
                <a:ea typeface="Times New Roman"/>
                <a:cs typeface="Times New Roman"/>
                <a:sym typeface="Times New Roman"/>
              </a:defRPr>
            </a:pPr>
            <a:r>
              <a:rPr lang="ru-RU" sz="2200" dirty="0"/>
              <a:t>Сначала максимальное количество эксцессов (навязчивые мысли о партнере) за тем любовь- обязательства. </a:t>
            </a:r>
          </a:p>
          <a:p>
            <a:pPr marL="0" indent="0" defTabSz="310895">
              <a:spcBef>
                <a:spcPts val="800"/>
              </a:spcBef>
              <a:buSzTx/>
              <a:buFontTx/>
              <a:buNone/>
              <a:defRPr sz="1496">
                <a:solidFill>
                  <a:srgbClr val="161616"/>
                </a:solidFill>
                <a:latin typeface="Times New Roman"/>
                <a:ea typeface="Times New Roman"/>
                <a:cs typeface="Times New Roman"/>
                <a:sym typeface="Times New Roman"/>
              </a:defRPr>
            </a:pPr>
            <a:r>
              <a:rPr lang="ru-RU" sz="2200" dirty="0"/>
              <a:t>Снижение желания спустя несколько первых месяцев или год является обычным явлением для многих пар, это снижение вовсе не обязательно приводит к </a:t>
            </a:r>
            <a:r>
              <a:rPr lang="ru-RU" sz="2200" dirty="0" err="1"/>
              <a:t>сексуальнои</a:t>
            </a:r>
            <a:r>
              <a:rPr lang="ru-RU" sz="2200" dirty="0"/>
              <a:t>̆ неудовлетворенности или недовольству отношениями.</a:t>
            </a:r>
          </a:p>
          <a:p>
            <a:pPr marL="0" indent="0" defTabSz="310895">
              <a:spcBef>
                <a:spcPts val="800"/>
              </a:spcBef>
              <a:buSzTx/>
              <a:buFontTx/>
              <a:buNone/>
              <a:defRPr sz="1496">
                <a:solidFill>
                  <a:srgbClr val="161616"/>
                </a:solidFill>
                <a:latin typeface="Times New Roman"/>
                <a:ea typeface="Times New Roman"/>
                <a:cs typeface="Times New Roman"/>
                <a:sym typeface="Times New Roman"/>
              </a:defRPr>
            </a:pPr>
            <a:r>
              <a:rPr lang="ru-RU" sz="2200" dirty="0"/>
              <a:t>Хорошая сексуальная жизнь не означает, что вы должны вечно зависать на </a:t>
            </a:r>
            <a:r>
              <a:rPr lang="ru-RU" sz="2200" dirty="0" err="1"/>
              <a:t>однои</a:t>
            </a:r>
            <a:r>
              <a:rPr lang="ru-RU" sz="2200" dirty="0"/>
              <a:t>̆ и той же странице или желать такого же объема секса, как и ваш партнер. </a:t>
            </a:r>
          </a:p>
          <a:p>
            <a:pPr marL="0" indent="0" defTabSz="310895">
              <a:spcBef>
                <a:spcPts val="800"/>
              </a:spcBef>
              <a:buSzTx/>
              <a:buFontTx/>
              <a:buNone/>
              <a:defRPr sz="1496">
                <a:solidFill>
                  <a:srgbClr val="161616"/>
                </a:solidFill>
                <a:latin typeface="Times New Roman"/>
                <a:ea typeface="Times New Roman"/>
                <a:cs typeface="Times New Roman"/>
                <a:sym typeface="Times New Roman"/>
              </a:defRPr>
            </a:pPr>
            <a:r>
              <a:rPr lang="ru-RU" sz="2200" dirty="0"/>
              <a:t>Женщины с сексуальными проблемами, такими как жалобы на слабость желания или трудности с оргазмом, больше озабочены значением этих проблем для своего партнера, чем для себя.</a:t>
            </a:r>
          </a:p>
          <a:p>
            <a:pPr marL="0" indent="0" defTabSz="310895">
              <a:spcBef>
                <a:spcPts val="800"/>
              </a:spcBef>
              <a:buSzTx/>
              <a:buFontTx/>
              <a:buNone/>
              <a:defRPr sz="1496">
                <a:solidFill>
                  <a:srgbClr val="161616"/>
                </a:solidFill>
                <a:latin typeface="Times New Roman"/>
                <a:ea typeface="Times New Roman"/>
                <a:cs typeface="Times New Roman"/>
                <a:sym typeface="Times New Roman"/>
              </a:defRPr>
            </a:pPr>
            <a:r>
              <a:rPr lang="ru-RU" sz="2200" dirty="0"/>
              <a:t>Определить норму желания невозможно. Желание у разных </a:t>
            </a:r>
            <a:r>
              <a:rPr lang="ru-RU" sz="2200" dirty="0" err="1"/>
              <a:t>людеи</a:t>
            </a:r>
            <a:r>
              <a:rPr lang="ru-RU" sz="2200" dirty="0"/>
              <a:t>̆, в разных отношениях</a:t>
            </a:r>
            <a:br>
              <a:rPr lang="ru-RU" sz="2200" dirty="0"/>
            </a:br>
            <a:r>
              <a:rPr lang="ru-RU" sz="2200" dirty="0"/>
              <a:t>и даже у одного человека, но в разные дни, может существенно различаться. </a:t>
            </a:r>
          </a:p>
        </p:txBody>
      </p:sp>
    </p:spTree>
    <p:extLst>
      <p:ext uri="{BB962C8B-B14F-4D97-AF65-F5344CB8AC3E}">
        <p14:creationId xmlns:p14="http://schemas.microsoft.com/office/powerpoint/2010/main" val="174309938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4DF838D-80B0-B8BA-C4FA-47093AEA5AF7}"/>
              </a:ext>
            </a:extLst>
          </p:cNvPr>
          <p:cNvSpPr>
            <a:spLocks noGrp="1"/>
          </p:cNvSpPr>
          <p:nvPr>
            <p:ph idx="1"/>
          </p:nvPr>
        </p:nvSpPr>
        <p:spPr>
          <a:xfrm>
            <a:off x="340659" y="322729"/>
            <a:ext cx="11013141" cy="5849471"/>
          </a:xfrm>
        </p:spPr>
        <p:txBody>
          <a:bodyPr>
            <a:noAutofit/>
          </a:bodyPr>
          <a:lstStyle/>
          <a:p>
            <a:pPr marL="0" indent="0" algn="just" defTabSz="621791">
              <a:spcBef>
                <a:spcPts val="400"/>
              </a:spcBef>
              <a:buSzTx/>
              <a:buFontTx/>
              <a:buNone/>
              <a:defRPr sz="1496">
                <a:latin typeface="Times New Roman"/>
                <a:ea typeface="Times New Roman"/>
                <a:cs typeface="Times New Roman"/>
                <a:sym typeface="Times New Roman"/>
              </a:defRPr>
            </a:pPr>
            <a:r>
              <a:rPr lang="ru-RU" sz="2400" b="1" dirty="0"/>
              <a:t>Этап стабильной адаптации</a:t>
            </a:r>
            <a:r>
              <a:rPr lang="ru-RU" sz="2400" dirty="0"/>
              <a:t>. </a:t>
            </a:r>
          </a:p>
          <a:p>
            <a:pPr marL="0" indent="0">
              <a:lnSpc>
                <a:spcPct val="80000"/>
              </a:lnSpc>
              <a:spcBef>
                <a:spcPts val="400"/>
              </a:spcBef>
              <a:buSzTx/>
              <a:buNone/>
              <a:defRPr sz="1800">
                <a:latin typeface="Times New Roman"/>
                <a:ea typeface="Times New Roman"/>
                <a:cs typeface="Times New Roman"/>
                <a:sym typeface="Times New Roman"/>
              </a:defRPr>
            </a:pPr>
            <a:r>
              <a:rPr lang="ru-RU" sz="2400" dirty="0"/>
              <a:t>Третий этап сексуальной адаптации в браке – этап стабильной адаптации. У супругов постепенно вырабатывается свой индивидуальный стиль сексуальных отношений, отбрасывается все проходное, не задевающее за живое, и все, кажущееся вычурным. </a:t>
            </a:r>
          </a:p>
          <a:p>
            <a:pPr marL="0" indent="0">
              <a:lnSpc>
                <a:spcPct val="80000"/>
              </a:lnSpc>
              <a:spcBef>
                <a:spcPts val="400"/>
              </a:spcBef>
              <a:buSzTx/>
              <a:buNone/>
              <a:defRPr sz="1800">
                <a:latin typeface="Times New Roman"/>
                <a:ea typeface="Times New Roman"/>
                <a:cs typeface="Times New Roman"/>
                <a:sym typeface="Times New Roman"/>
              </a:defRPr>
            </a:pPr>
            <a:r>
              <a:rPr lang="ru-RU" sz="2400" dirty="0"/>
              <a:t>Во время интимной близости происходит концентрированное переживание всего позитивного партнерского опыта и это не требует внешних атрибутов. На этом этапе меньше всего сбоев, неудач. Взаимный отказ от секса по причине недомогания или усталости не вносит в отношения ни малейшего диссонанса. Начинает близость тот, кто быстрее почувствовал уместность момента и движение партнера. На этом этапе половая привязанность взаимна, коррективы обоюдны, разговоры о секс не выглядят пугающими. В отношениях царит атмосфера доверия и признательности. Стабильная адаптация – это возможность реализации в регулярной половой жизни основных сексуальных потребностей и ожиданий, сопровождающаяся системой взаимных положительных оценок и способностью конструктивно решать возникающие проблемы. Этот этап продолжается вплоть до инволюции и постепенно сворачивается по мере возрастного угасания сексуальной активности.</a:t>
            </a:r>
          </a:p>
        </p:txBody>
      </p:sp>
    </p:spTree>
    <p:extLst>
      <p:ext uri="{BB962C8B-B14F-4D97-AF65-F5344CB8AC3E}">
        <p14:creationId xmlns:p14="http://schemas.microsoft.com/office/powerpoint/2010/main" val="6053489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818E89-266C-B7EA-90C8-A7ACDB38083B}"/>
              </a:ext>
            </a:extLst>
          </p:cNvPr>
          <p:cNvSpPr>
            <a:spLocks noGrp="1"/>
          </p:cNvSpPr>
          <p:nvPr>
            <p:ph type="title"/>
          </p:nvPr>
        </p:nvSpPr>
        <p:spPr>
          <a:xfrm>
            <a:off x="838200" y="365126"/>
            <a:ext cx="10515600" cy="692710"/>
          </a:xfrm>
        </p:spPr>
        <p:txBody>
          <a:bodyPr>
            <a:normAutofit fontScale="90000"/>
          </a:bodyPr>
          <a:lstStyle/>
          <a:p>
            <a:r>
              <a:rPr lang="ru-RU" dirty="0">
                <a:latin typeface="Times New Roman" panose="02020603050405020304" pitchFamily="18" charset="0"/>
                <a:cs typeface="Times New Roman" panose="02020603050405020304" pitchFamily="18" charset="0"/>
              </a:rPr>
              <a:t>Инволюционный (51-70 лет) период: увядание</a:t>
            </a:r>
            <a:r>
              <a:rPr lang="ru-RU" sz="4400" dirty="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1806B3FB-1068-7BE3-DE2F-BC71D75D8AB0}"/>
              </a:ext>
            </a:extLst>
          </p:cNvPr>
          <p:cNvSpPr>
            <a:spLocks noGrp="1"/>
          </p:cNvSpPr>
          <p:nvPr>
            <p:ph idx="1"/>
          </p:nvPr>
        </p:nvSpPr>
        <p:spPr>
          <a:xfrm>
            <a:off x="340659" y="1057836"/>
            <a:ext cx="11582400" cy="5593976"/>
          </a:xfrm>
        </p:spPr>
        <p:txBody>
          <a:bodyPr>
            <a:normAutofit fontScale="92500" lnSpcReduction="10000"/>
          </a:bodyPr>
          <a:lstStyle/>
          <a:p>
            <a:pPr>
              <a:buSzTx/>
              <a:buNone/>
              <a:defRPr sz="2600">
                <a:latin typeface="Times New Roman"/>
                <a:ea typeface="Times New Roman"/>
                <a:cs typeface="Times New Roman"/>
                <a:sym typeface="Times New Roman"/>
              </a:defRPr>
            </a:pPr>
            <a:r>
              <a:rPr lang="ru-RU" dirty="0"/>
              <a:t>старческим считается возраст с 75 лет </a:t>
            </a:r>
          </a:p>
          <a:p>
            <a:pPr>
              <a:buSzTx/>
              <a:buNone/>
              <a:defRPr sz="2600">
                <a:latin typeface="Times New Roman"/>
                <a:ea typeface="Times New Roman"/>
                <a:cs typeface="Times New Roman"/>
                <a:sym typeface="Times New Roman"/>
              </a:defRPr>
            </a:pPr>
            <a:r>
              <a:rPr lang="ru-RU" dirty="0"/>
              <a:t>средняя продолжительность жизни </a:t>
            </a:r>
            <a:r>
              <a:rPr lang="ru-RU" sz="2000" dirty="0"/>
              <a:t>на 2017год</a:t>
            </a:r>
            <a:r>
              <a:rPr lang="ru-RU" dirty="0"/>
              <a:t> </a:t>
            </a:r>
          </a:p>
          <a:p>
            <a:pPr marL="318406" indent="-318406">
              <a:defRPr sz="2600">
                <a:latin typeface="Times New Roman"/>
                <a:ea typeface="Times New Roman"/>
                <a:cs typeface="Times New Roman"/>
                <a:sym typeface="Times New Roman"/>
              </a:defRPr>
            </a:pPr>
            <a:r>
              <a:rPr lang="ru-RU" dirty="0"/>
              <a:t> у мужчин – 67 лет </a:t>
            </a:r>
          </a:p>
          <a:p>
            <a:pPr marL="318406" indent="-318406">
              <a:defRPr sz="2600">
                <a:latin typeface="Times New Roman"/>
                <a:ea typeface="Times New Roman"/>
                <a:cs typeface="Times New Roman"/>
                <a:sym typeface="Times New Roman"/>
              </a:defRPr>
            </a:pPr>
            <a:r>
              <a:rPr lang="ru-RU" dirty="0"/>
              <a:t> у женщин – 77 года</a:t>
            </a:r>
          </a:p>
          <a:p>
            <a:pPr marL="318406" indent="-318406">
              <a:defRPr sz="2600">
                <a:latin typeface="Times New Roman"/>
                <a:ea typeface="Times New Roman"/>
                <a:cs typeface="Times New Roman"/>
                <a:sym typeface="Times New Roman"/>
              </a:defRPr>
            </a:pPr>
            <a:endParaRPr lang="ru-RU" dirty="0"/>
          </a:p>
          <a:p>
            <a:pPr marL="0" indent="0">
              <a:buNone/>
              <a:defRPr sz="2600">
                <a:latin typeface="Times New Roman"/>
                <a:ea typeface="Times New Roman"/>
                <a:cs typeface="Times New Roman"/>
                <a:sym typeface="Times New Roman"/>
              </a:defRPr>
            </a:pPr>
            <a:r>
              <a:rPr lang="ru-RU" dirty="0"/>
              <a:t>Критерии:</a:t>
            </a:r>
          </a:p>
          <a:p>
            <a:pPr marL="0" indent="0" defTabSz="850391">
              <a:lnSpc>
                <a:spcPct val="90000"/>
              </a:lnSpc>
              <a:buNone/>
              <a:defRPr sz="2600"/>
            </a:pPr>
            <a:r>
              <a:rPr lang="ru-RU" dirty="0"/>
              <a:t>-</a:t>
            </a:r>
            <a:r>
              <a:rPr lang="ru-RU" dirty="0">
                <a:latin typeface="Times New Roman"/>
                <a:ea typeface="Times New Roman"/>
                <a:cs typeface="Times New Roman"/>
                <a:sym typeface="Times New Roman"/>
              </a:rPr>
              <a:t> Изменение характера либидо, заключающееся в утрате настоятельности, неудержимости и сладострастной мучительности. И переносом акцента на психическую составляющую половых отношений.</a:t>
            </a:r>
          </a:p>
          <a:p>
            <a:pPr marL="0" indent="0" defTabSz="850391">
              <a:lnSpc>
                <a:spcPct val="90000"/>
              </a:lnSpc>
              <a:buNone/>
              <a:defRPr sz="2600">
                <a:latin typeface="Times New Roman"/>
                <a:ea typeface="Times New Roman"/>
                <a:cs typeface="Times New Roman"/>
                <a:sym typeface="Times New Roman"/>
              </a:defRPr>
            </a:pPr>
            <a:r>
              <a:rPr lang="ru-RU" dirty="0"/>
              <a:t>- Снижение уровня активности на отдельных участках системы обеспечения пол. функций и утрата психофизиологической целостности в переживании ситуации интимного сближения. Необходимость затрачивать определенные усилия для пробуждения всех основных проявлений в осуществлении пол. акта.</a:t>
            </a:r>
          </a:p>
          <a:p>
            <a:pPr marL="0" indent="0" defTabSz="850391">
              <a:lnSpc>
                <a:spcPct val="90000"/>
              </a:lnSpc>
              <a:buNone/>
              <a:defRPr sz="2600">
                <a:latin typeface="Times New Roman"/>
                <a:ea typeface="Times New Roman"/>
                <a:cs typeface="Times New Roman"/>
                <a:sym typeface="Times New Roman"/>
              </a:defRPr>
            </a:pPr>
            <a:r>
              <a:rPr lang="ru-RU" dirty="0"/>
              <a:t>- Период вынужденного воздержания, в связи со снижением секс. активности.</a:t>
            </a:r>
          </a:p>
          <a:p>
            <a:pPr marL="0" indent="0">
              <a:buNone/>
              <a:defRPr sz="2600">
                <a:latin typeface="Times New Roman"/>
                <a:ea typeface="Times New Roman"/>
                <a:cs typeface="Times New Roman"/>
                <a:sym typeface="Times New Roman"/>
              </a:defRPr>
            </a:pPr>
            <a:endParaRPr lang="ru-RU" dirty="0"/>
          </a:p>
        </p:txBody>
      </p:sp>
    </p:spTree>
    <p:extLst>
      <p:ext uri="{BB962C8B-B14F-4D97-AF65-F5344CB8AC3E}">
        <p14:creationId xmlns:p14="http://schemas.microsoft.com/office/powerpoint/2010/main" val="13521752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6DC955E-C1C4-6EE9-9AC8-6DBE2D2DA43B}"/>
              </a:ext>
            </a:extLst>
          </p:cNvPr>
          <p:cNvSpPr>
            <a:spLocks noGrp="1"/>
          </p:cNvSpPr>
          <p:nvPr>
            <p:ph idx="1"/>
          </p:nvPr>
        </p:nvSpPr>
        <p:spPr>
          <a:xfrm>
            <a:off x="838200" y="860612"/>
            <a:ext cx="10515600" cy="5311588"/>
          </a:xfrm>
        </p:spPr>
        <p:txBody>
          <a:bodyPr/>
          <a:lstStyle/>
          <a:p>
            <a:pPr marL="273829" indent="-273829" defTabSz="786383">
              <a:lnSpc>
                <a:spcPct val="81000"/>
              </a:lnSpc>
              <a:spcBef>
                <a:spcPts val="500"/>
              </a:spcBef>
              <a:defRPr sz="2200" b="1"/>
            </a:pPr>
            <a:r>
              <a:rPr lang="ru-RU" dirty="0">
                <a:latin typeface="Times New Roman" panose="02020603050405020304" pitchFamily="18" charset="0"/>
                <a:cs typeface="Times New Roman" panose="02020603050405020304" pitchFamily="18" charset="0"/>
              </a:rPr>
              <a:t>Климактерический период (климакс, климактерий) – это физиологический период в жизни человека, характеризующийся различными возрастными изменениями половой сферы. климакс представляет собой период, охватывающий несколько лет до и после менопаузы  </a:t>
            </a:r>
          </a:p>
          <a:p>
            <a:pPr marL="273829" indent="-273829" defTabSz="786383">
              <a:lnSpc>
                <a:spcPct val="81000"/>
              </a:lnSpc>
              <a:spcBef>
                <a:spcPts val="500"/>
              </a:spcBef>
              <a:defRPr sz="2200" b="1"/>
            </a:pPr>
            <a:endParaRPr lang="ru-RU" dirty="0">
              <a:latin typeface="Times New Roman" panose="02020603050405020304" pitchFamily="18" charset="0"/>
              <a:cs typeface="Times New Roman" panose="02020603050405020304" pitchFamily="18" charset="0"/>
            </a:endParaRPr>
          </a:p>
          <a:p>
            <a:pPr marL="273829" indent="-273829" defTabSz="786383">
              <a:lnSpc>
                <a:spcPct val="81000"/>
              </a:lnSpc>
              <a:spcBef>
                <a:spcPts val="500"/>
              </a:spcBef>
              <a:defRPr sz="2200" b="1"/>
            </a:pPr>
            <a:r>
              <a:rPr lang="ru-RU" dirty="0">
                <a:latin typeface="Times New Roman" panose="02020603050405020304" pitchFamily="18" charset="0"/>
                <a:cs typeface="Times New Roman" panose="02020603050405020304" pitchFamily="18" charset="0"/>
              </a:rPr>
              <a:t>Менопауза - прекращение менструаций у женщины, знаменующее окончание детородного периода ее жизни.</a:t>
            </a:r>
          </a:p>
          <a:p>
            <a:pPr marL="273829" indent="-273829" defTabSz="786383">
              <a:lnSpc>
                <a:spcPct val="81000"/>
              </a:lnSpc>
              <a:spcBef>
                <a:spcPts val="500"/>
              </a:spcBef>
              <a:defRPr sz="2200" b="1"/>
            </a:pPr>
            <a:endParaRPr lang="ru-RU" dirty="0">
              <a:latin typeface="Times New Roman" panose="02020603050405020304" pitchFamily="18" charset="0"/>
              <a:cs typeface="Times New Roman" panose="02020603050405020304" pitchFamily="18" charset="0"/>
            </a:endParaRPr>
          </a:p>
          <a:p>
            <a:pPr marL="294893" indent="-294893" defTabSz="786383">
              <a:lnSpc>
                <a:spcPct val="81000"/>
              </a:lnSpc>
              <a:spcBef>
                <a:spcPts val="500"/>
              </a:spcBef>
              <a:buSzTx/>
              <a:buNone/>
              <a:defRPr sz="2200" b="1"/>
            </a:pPr>
            <a:r>
              <a:rPr lang="ru-RU" dirty="0">
                <a:latin typeface="Times New Roman" panose="02020603050405020304" pitchFamily="18" charset="0"/>
                <a:cs typeface="Times New Roman" panose="02020603050405020304" pitchFamily="18" charset="0"/>
              </a:rPr>
              <a:t>Окончание менструального цикла означает реальное снижение тревог при одновременном расширении сексуальных возможностей для регулярного получения удовольствия </a:t>
            </a:r>
          </a:p>
        </p:txBody>
      </p:sp>
    </p:spTree>
    <p:extLst>
      <p:ext uri="{BB962C8B-B14F-4D97-AF65-F5344CB8AC3E}">
        <p14:creationId xmlns:p14="http://schemas.microsoft.com/office/powerpoint/2010/main" val="181658935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D55B61-5CE0-09C2-4841-9EEB6A18D548}"/>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Выводы по 3 периодам</a:t>
            </a:r>
          </a:p>
        </p:txBody>
      </p:sp>
      <p:sp>
        <p:nvSpPr>
          <p:cNvPr id="3" name="Объект 2">
            <a:extLst>
              <a:ext uri="{FF2B5EF4-FFF2-40B4-BE49-F238E27FC236}">
                <a16:creationId xmlns:a16="http://schemas.microsoft.com/office/drawing/2014/main" id="{DBDA4BA4-BC98-7149-12D9-329064529145}"/>
              </a:ext>
            </a:extLst>
          </p:cNvPr>
          <p:cNvSpPr>
            <a:spLocks noGrp="1"/>
          </p:cNvSpPr>
          <p:nvPr>
            <p:ph idx="1"/>
          </p:nvPr>
        </p:nvSpPr>
        <p:spPr/>
        <p:txBody>
          <a:bodyPr>
            <a:noAutofit/>
          </a:bodyPr>
          <a:lstStyle/>
          <a:p>
            <a:pPr marL="314325" indent="-314325">
              <a:lnSpc>
                <a:spcPct val="80000"/>
              </a:lnSpc>
              <a:spcBef>
                <a:spcPts val="500"/>
              </a:spcBef>
              <a:defRPr sz="2200"/>
            </a:pPr>
            <a:r>
              <a:rPr lang="ru-RU" sz="3200" dirty="0">
                <a:latin typeface="Times New Roman" panose="02020603050405020304" pitchFamily="18" charset="0"/>
                <a:cs typeface="Times New Roman" panose="02020603050405020304" pitchFamily="18" charset="0"/>
              </a:rPr>
              <a:t>в период сексуальной </a:t>
            </a:r>
            <a:r>
              <a:rPr lang="ru-RU" sz="3200" i="1" dirty="0">
                <a:latin typeface="Times New Roman" panose="02020603050405020304" pitchFamily="18" charset="0"/>
                <a:cs typeface="Times New Roman" panose="02020603050405020304" pitchFamily="18" charset="0"/>
              </a:rPr>
              <a:t>молодости</a:t>
            </a:r>
            <a:r>
              <a:rPr lang="ru-RU" sz="3200" dirty="0">
                <a:latin typeface="Times New Roman" panose="02020603050405020304" pitchFamily="18" charset="0"/>
                <a:cs typeface="Times New Roman" panose="02020603050405020304" pitchFamily="18" charset="0"/>
              </a:rPr>
              <a:t> осуществляется формирование сексуального сценария, активно приобретается опыт партнерства, а затем следует выбор постоянного партнера;</a:t>
            </a:r>
          </a:p>
          <a:p>
            <a:pPr marL="314325" indent="-314325">
              <a:lnSpc>
                <a:spcPct val="80000"/>
              </a:lnSpc>
              <a:spcBef>
                <a:spcPts val="500"/>
              </a:spcBef>
              <a:defRPr sz="2200"/>
            </a:pPr>
            <a:r>
              <a:rPr lang="ru-RU" sz="3200" dirty="0">
                <a:latin typeface="Times New Roman" panose="02020603050405020304" pitchFamily="18" charset="0"/>
                <a:cs typeface="Times New Roman" panose="02020603050405020304" pitchFamily="18" charset="0"/>
              </a:rPr>
              <a:t>в  периоде </a:t>
            </a:r>
            <a:r>
              <a:rPr lang="ru-RU" sz="3200" i="1" dirty="0">
                <a:latin typeface="Times New Roman" panose="02020603050405020304" pitchFamily="18" charset="0"/>
                <a:cs typeface="Times New Roman" panose="02020603050405020304" pitchFamily="18" charset="0"/>
              </a:rPr>
              <a:t>зрелой сексуальности</a:t>
            </a:r>
            <a:r>
              <a:rPr lang="ru-RU" sz="3200" dirty="0">
                <a:latin typeface="Times New Roman" panose="02020603050405020304" pitchFamily="18" charset="0"/>
                <a:cs typeface="Times New Roman" panose="02020603050405020304" pitchFamily="18" charset="0"/>
              </a:rPr>
              <a:t> достигается реализация возрастных и конституциональных потребностей и формирование зрелого партнерства.</a:t>
            </a:r>
          </a:p>
          <a:p>
            <a:pPr marL="314325" indent="-314325">
              <a:lnSpc>
                <a:spcPct val="80000"/>
              </a:lnSpc>
              <a:spcBef>
                <a:spcPts val="500"/>
              </a:spcBef>
              <a:defRPr sz="2200"/>
            </a:pPr>
            <a:r>
              <a:rPr lang="ru-RU" sz="3200" dirty="0">
                <a:latin typeface="Times New Roman" panose="02020603050405020304" pitchFamily="18" charset="0"/>
                <a:cs typeface="Times New Roman" panose="02020603050405020304" pitchFamily="18" charset="0"/>
              </a:rPr>
              <a:t>в </a:t>
            </a:r>
            <a:r>
              <a:rPr lang="ru-RU" sz="3200" i="1" dirty="0">
                <a:latin typeface="Times New Roman" panose="02020603050405020304" pitchFamily="18" charset="0"/>
                <a:cs typeface="Times New Roman" panose="02020603050405020304" pitchFamily="18" charset="0"/>
              </a:rPr>
              <a:t>инволюционном</a:t>
            </a:r>
            <a:r>
              <a:rPr lang="ru-RU" sz="3200" dirty="0">
                <a:latin typeface="Times New Roman" panose="02020603050405020304" pitchFamily="18" charset="0"/>
                <a:cs typeface="Times New Roman" panose="02020603050405020304" pitchFamily="18" charset="0"/>
              </a:rPr>
              <a:t> периоде – поддерживается щадяще-стимулирующий режим половой активности, свободный как от длительных периодов абстиненции, так и от непосильной половой активности.</a:t>
            </a:r>
          </a:p>
        </p:txBody>
      </p:sp>
    </p:spTree>
    <p:extLst>
      <p:ext uri="{BB962C8B-B14F-4D97-AF65-F5344CB8AC3E}">
        <p14:creationId xmlns:p14="http://schemas.microsoft.com/office/powerpoint/2010/main" val="18365464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87F604-1C4A-45D0-ABAD-BC123DAEA753}"/>
              </a:ext>
            </a:extLst>
          </p:cNvPr>
          <p:cNvSpPr>
            <a:spLocks noGrp="1"/>
          </p:cNvSpPr>
          <p:nvPr>
            <p:ph type="title"/>
          </p:nvPr>
        </p:nvSpPr>
        <p:spPr>
          <a:xfrm>
            <a:off x="838200" y="404723"/>
            <a:ext cx="10515600" cy="562154"/>
          </a:xfrm>
        </p:spPr>
        <p:txBody>
          <a:bodyPr>
            <a:noAutofit/>
          </a:bodyPr>
          <a:lstStyle/>
          <a:p>
            <a:r>
              <a:rPr lang="ru-RU" dirty="0"/>
              <a:t>Секс может быть средством:</a:t>
            </a:r>
          </a:p>
        </p:txBody>
      </p:sp>
      <p:sp>
        <p:nvSpPr>
          <p:cNvPr id="3" name="Объект 2">
            <a:extLst>
              <a:ext uri="{FF2B5EF4-FFF2-40B4-BE49-F238E27FC236}">
                <a16:creationId xmlns:a16="http://schemas.microsoft.com/office/drawing/2014/main" id="{86853778-B246-423C-9BA4-2F9E7CB74E88}"/>
              </a:ext>
            </a:extLst>
          </p:cNvPr>
          <p:cNvSpPr>
            <a:spLocks noGrp="1"/>
          </p:cNvSpPr>
          <p:nvPr>
            <p:ph idx="1"/>
          </p:nvPr>
        </p:nvSpPr>
        <p:spPr>
          <a:xfrm>
            <a:off x="838200" y="966877"/>
            <a:ext cx="10515600" cy="5601348"/>
          </a:xfrm>
        </p:spPr>
        <p:txBody>
          <a:bodyPr>
            <a:normAutofit fontScale="77500" lnSpcReduction="20000"/>
          </a:bodyPr>
          <a:lstStyle/>
          <a:p>
            <a:r>
              <a:rPr lang="ru-RU" sz="3600" dirty="0">
                <a:latin typeface="Times New Roman" panose="02020603050405020304" pitchFamily="18" charset="0"/>
                <a:cs typeface="Times New Roman" panose="02020603050405020304" pitchFamily="18" charset="0"/>
              </a:rPr>
              <a:t>Релаксации</a:t>
            </a:r>
          </a:p>
          <a:p>
            <a:r>
              <a:rPr lang="ru-RU" sz="3600" dirty="0">
                <a:latin typeface="Times New Roman" panose="02020603050405020304" pitchFamily="18" charset="0"/>
                <a:cs typeface="Times New Roman" panose="02020603050405020304" pitchFamily="18" charset="0"/>
              </a:rPr>
              <a:t>Репродукции</a:t>
            </a:r>
          </a:p>
          <a:p>
            <a:r>
              <a:rPr lang="ru-RU" sz="3600" dirty="0">
                <a:latin typeface="Times New Roman" panose="02020603050405020304" pitchFamily="18" charset="0"/>
                <a:cs typeface="Times New Roman" panose="02020603050405020304" pitchFamily="18" charset="0"/>
              </a:rPr>
              <a:t>Рекреации, чувственного наслаждения</a:t>
            </a:r>
          </a:p>
          <a:p>
            <a:r>
              <a:rPr lang="ru-RU" sz="3600" dirty="0">
                <a:latin typeface="Times New Roman" panose="02020603050405020304" pitchFamily="18" charset="0"/>
                <a:cs typeface="Times New Roman" panose="02020603050405020304" pitchFamily="18" charset="0"/>
              </a:rPr>
              <a:t>Познания, когда человек прежде всего объект познания</a:t>
            </a:r>
          </a:p>
          <a:p>
            <a:r>
              <a:rPr lang="ru-RU" sz="3600" dirty="0">
                <a:latin typeface="Times New Roman" panose="02020603050405020304" pitchFamily="18" charset="0"/>
                <a:cs typeface="Times New Roman" panose="02020603050405020304" pitchFamily="18" charset="0"/>
              </a:rPr>
              <a:t>Коммуникации</a:t>
            </a:r>
          </a:p>
          <a:p>
            <a:r>
              <a:rPr lang="ru-RU" sz="3600" dirty="0">
                <a:latin typeface="Times New Roman" panose="02020603050405020304" pitchFamily="18" charset="0"/>
                <a:cs typeface="Times New Roman" panose="02020603050405020304" pitchFamily="18" charset="0"/>
              </a:rPr>
              <a:t>Самоутверждения</a:t>
            </a:r>
          </a:p>
          <a:p>
            <a:r>
              <a:rPr lang="ru-RU" sz="3600" dirty="0">
                <a:latin typeface="Times New Roman" panose="02020603050405020304" pitchFamily="18" charset="0"/>
                <a:cs typeface="Times New Roman" panose="02020603050405020304" pitchFamily="18" charset="0"/>
              </a:rPr>
              <a:t>Достижения нематериальных целей</a:t>
            </a:r>
          </a:p>
          <a:p>
            <a:r>
              <a:rPr lang="ru-RU" sz="3600" dirty="0">
                <a:latin typeface="Times New Roman" panose="02020603050405020304" pitchFamily="18" charset="0"/>
                <a:cs typeface="Times New Roman" panose="02020603050405020304" pitchFamily="18" charset="0"/>
              </a:rPr>
              <a:t>Поддержания ритуала</a:t>
            </a:r>
          </a:p>
          <a:p>
            <a:r>
              <a:rPr lang="ru-RU" sz="3600" dirty="0">
                <a:latin typeface="Times New Roman" panose="02020603050405020304" pitchFamily="18" charset="0"/>
                <a:cs typeface="Times New Roman" panose="02020603050405020304" pitchFamily="18" charset="0"/>
              </a:rPr>
              <a:t>Компенсации.</a:t>
            </a:r>
          </a:p>
          <a:p>
            <a:pPr marL="0" indent="0">
              <a:buNone/>
            </a:pPr>
            <a:endParaRPr lang="ru-RU" sz="3600" dirty="0">
              <a:latin typeface="Times New Roman" panose="02020603050405020304" pitchFamily="18" charset="0"/>
              <a:cs typeface="Times New Roman" panose="02020603050405020304" pitchFamily="18" charset="0"/>
            </a:endParaRPr>
          </a:p>
          <a:p>
            <a:pPr marL="0" indent="0">
              <a:buNone/>
            </a:pPr>
            <a:r>
              <a:rPr lang="ru-RU" dirty="0">
                <a:latin typeface="Times New Roman" panose="02020603050405020304" pitchFamily="18" charset="0"/>
                <a:cs typeface="Times New Roman" panose="02020603050405020304" pitchFamily="18" charset="0"/>
              </a:rPr>
              <a:t>При этом важно помнить секс становится качественным только тогда когда его цель - удовольствие</a:t>
            </a:r>
          </a:p>
        </p:txBody>
      </p:sp>
    </p:spTree>
    <p:extLst>
      <p:ext uri="{BB962C8B-B14F-4D97-AF65-F5344CB8AC3E}">
        <p14:creationId xmlns:p14="http://schemas.microsoft.com/office/powerpoint/2010/main" val="13991573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CE9F69-6A80-4EF3-9FBC-453CB71FCC54}"/>
              </a:ext>
            </a:extLst>
          </p:cNvPr>
          <p:cNvSpPr>
            <a:spLocks noGrp="1"/>
          </p:cNvSpPr>
          <p:nvPr>
            <p:ph type="title"/>
          </p:nvPr>
        </p:nvSpPr>
        <p:spPr/>
        <p:txBody>
          <a:bodyPr/>
          <a:lstStyle/>
          <a:p>
            <a:r>
              <a:rPr lang="ru-RU"/>
              <a:t>Цикл сексуальной реакции</a:t>
            </a:r>
            <a:endParaRPr lang="ru-RU" dirty="0"/>
          </a:p>
        </p:txBody>
      </p:sp>
      <p:pic>
        <p:nvPicPr>
          <p:cNvPr id="4" name="Объект 3">
            <a:extLst>
              <a:ext uri="{FF2B5EF4-FFF2-40B4-BE49-F238E27FC236}">
                <a16:creationId xmlns:a16="http://schemas.microsoft.com/office/drawing/2014/main" id="{71A3A8BF-CC5F-4B90-9CC1-1E2323AE53E2}"/>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7673" y="2011363"/>
            <a:ext cx="8996654" cy="4160837"/>
          </a:xfrm>
          <a:prstGeom prst="rect">
            <a:avLst/>
          </a:prstGeom>
          <a:noFill/>
          <a:ln>
            <a:noFill/>
          </a:ln>
        </p:spPr>
      </p:pic>
    </p:spTree>
    <p:extLst>
      <p:ext uri="{BB962C8B-B14F-4D97-AF65-F5344CB8AC3E}">
        <p14:creationId xmlns:p14="http://schemas.microsoft.com/office/powerpoint/2010/main" val="38732643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6FA9BC7A-E0C3-4D5B-BF50-C66D8793E9D6}"/>
              </a:ext>
            </a:extLst>
          </p:cNvPr>
          <p:cNvSpPr>
            <a:spLocks noGrp="1"/>
          </p:cNvSpPr>
          <p:nvPr>
            <p:ph idx="1"/>
          </p:nvPr>
        </p:nvSpPr>
        <p:spPr>
          <a:xfrm>
            <a:off x="236112" y="502276"/>
            <a:ext cx="11719775" cy="6703454"/>
          </a:xfrm>
        </p:spPr>
        <p:txBody>
          <a:bodyPr>
            <a:noAutofit/>
          </a:bodyPr>
          <a:lstStyle/>
          <a:p>
            <a:r>
              <a:rPr lang="ru-RU" sz="2200" dirty="0">
                <a:latin typeface="Times New Roman" panose="02020603050405020304" pitchFamily="18" charset="0"/>
                <a:cs typeface="Times New Roman" panose="02020603050405020304" pitchFamily="18" charset="0"/>
              </a:rPr>
              <a:t>1. Сексуальный интерес - это первый этап; прежде чем проявить желание, человек, возможно, интересуется сексуальностью в окружающем мире, тем, что о ней пишут и говорят. Но возможно, что и нет. Нам случается встречать тех, у кого нет сексуального интереса, но кто затрагивает эту тему в терапии, так как она становится причиной конфликтов с партнерами. </a:t>
            </a:r>
          </a:p>
          <a:p>
            <a:r>
              <a:rPr lang="ru-RU" sz="2200" dirty="0">
                <a:latin typeface="Times New Roman" panose="02020603050405020304" pitchFamily="18" charset="0"/>
                <a:cs typeface="Times New Roman" panose="02020603050405020304" pitchFamily="18" charset="0"/>
              </a:rPr>
              <a:t>2. Следующий этап - это этап сексуального желания. На нем происходит </a:t>
            </a:r>
            <a:r>
              <a:rPr lang="ru-RU" sz="2200" dirty="0" err="1">
                <a:latin typeface="Times New Roman" panose="02020603050405020304" pitchFamily="18" charset="0"/>
                <a:cs typeface="Times New Roman" panose="02020603050405020304" pitchFamily="18" charset="0"/>
              </a:rPr>
              <a:t>осознавание</a:t>
            </a:r>
            <a:r>
              <a:rPr lang="ru-RU" sz="2200" dirty="0">
                <a:latin typeface="Times New Roman" panose="02020603050405020304" pitchFamily="18" charset="0"/>
                <a:cs typeface="Times New Roman" panose="02020603050405020304" pitchFamily="18" charset="0"/>
              </a:rPr>
              <a:t> своего стремления к другому - знакомому или воображаемому человеку. Желание может быть эндогенным или экзогенным, в зависимости от того, идет ли оно изнутри или вызвано из окружающей среды. В сексуальном желании соединяются влечение (результат действия гормонов или внешних стимулов) и возбуждение от мыслей и фантазий. Человек решает, продолжать ли ему оставаться на этой фазе, затормозить ее или прервать. </a:t>
            </a:r>
          </a:p>
          <a:p>
            <a:r>
              <a:rPr lang="ru-RU" sz="2200" dirty="0">
                <a:latin typeface="Times New Roman" panose="02020603050405020304" pitchFamily="18" charset="0"/>
                <a:cs typeface="Times New Roman" panose="02020603050405020304" pitchFamily="18" charset="0"/>
              </a:rPr>
              <a:t>3. Начиная с третьего этапа - этапа возбуждения, - становятся заметны физиологические проявления, главные из которых - увлажнение влагалища или эрекция. Тело готовится к более интимным контактам. </a:t>
            </a:r>
          </a:p>
          <a:p>
            <a:r>
              <a:rPr lang="ru-RU" sz="2200" dirty="0">
                <a:latin typeface="Times New Roman" panose="02020603050405020304" pitchFamily="18" charset="0"/>
                <a:cs typeface="Times New Roman" panose="02020603050405020304" pitchFamily="18" charset="0"/>
              </a:rPr>
              <a:t>4. Плато соответствует тому этапу, когда возбуждение все время остается сильным, что предшествует оргазму. </a:t>
            </a:r>
            <a:r>
              <a:rPr lang="ru-RU" sz="2200" dirty="0" err="1">
                <a:latin typeface="Times New Roman" panose="02020603050405020304" pitchFamily="18" charset="0"/>
                <a:cs typeface="Times New Roman" panose="02020603050405020304" pitchFamily="18" charset="0"/>
              </a:rPr>
              <a:t>Нейромускульное</a:t>
            </a:r>
            <a:r>
              <a:rPr lang="ru-RU" sz="2200" dirty="0">
                <a:latin typeface="Times New Roman" panose="02020603050405020304" pitchFamily="18" charset="0"/>
                <a:cs typeface="Times New Roman" panose="02020603050405020304" pitchFamily="18" charset="0"/>
              </a:rPr>
              <a:t> напряжение повышено; тело готовится к оргазму. Если он не произойдет, то снижение напряжения может продолжаться очень долго. </a:t>
            </a:r>
          </a:p>
        </p:txBody>
      </p:sp>
    </p:spTree>
    <p:extLst>
      <p:ext uri="{BB962C8B-B14F-4D97-AF65-F5344CB8AC3E}">
        <p14:creationId xmlns:p14="http://schemas.microsoft.com/office/powerpoint/2010/main" val="2988218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6FA9BC7A-E0C3-4D5B-BF50-C66D8793E9D6}"/>
              </a:ext>
            </a:extLst>
          </p:cNvPr>
          <p:cNvSpPr>
            <a:spLocks noGrp="1"/>
          </p:cNvSpPr>
          <p:nvPr>
            <p:ph idx="1"/>
          </p:nvPr>
        </p:nvSpPr>
        <p:spPr>
          <a:xfrm>
            <a:off x="236112" y="502276"/>
            <a:ext cx="11719775" cy="6703454"/>
          </a:xfrm>
        </p:spPr>
        <p:txBody>
          <a:bodyPr>
            <a:noAutofit/>
          </a:bodyPr>
          <a:lstStyle/>
          <a:p>
            <a:r>
              <a:rPr lang="ru-RU" sz="2300" dirty="0">
                <a:latin typeface="Times New Roman" panose="02020603050405020304" pitchFamily="18" charset="0"/>
                <a:cs typeface="Times New Roman" panose="02020603050405020304" pitchFamily="18" charset="0"/>
              </a:rPr>
              <a:t>5. Следующий этап - это оргазм: опыт его переживания включает физическую и психическую составляющие; физически он проявляется в мощном выбросе энергии, который ощущается человеком иногда локально, а иногда - во всем теле. </a:t>
            </a:r>
          </a:p>
          <a:p>
            <a:r>
              <a:rPr lang="ru-RU" sz="2300" dirty="0">
                <a:latin typeface="Times New Roman" panose="02020603050405020304" pitchFamily="18" charset="0"/>
                <a:cs typeface="Times New Roman" panose="02020603050405020304" pitchFamily="18" charset="0"/>
              </a:rPr>
              <a:t>6. Разрешение - это этап физиологического изменения, во время которого органы возвращаются в свои прежние размеры. Это фаза разрядки, которая начинается сразу же после оргазма и может длиться от нескольких минут до нескольких часов. </a:t>
            </a:r>
          </a:p>
          <a:p>
            <a:r>
              <a:rPr lang="ru-RU" sz="2300" dirty="0">
                <a:latin typeface="Times New Roman" panose="02020603050405020304" pitchFamily="18" charset="0"/>
                <a:cs typeface="Times New Roman" panose="02020603050405020304" pitchFamily="18" charset="0"/>
              </a:rPr>
              <a:t>7. После этапа разрешения (или одновременно с ним) наступает рефрактерный период. Его интенсивность различна для разных людей, но он более заметен у мужчин. В это время другой цикл не может начаться, так как стимуляция может восприниматься даже негативно. Этот период длится дольше у пожилых мужчин. У многих женщин эта фаза отсутствует, и они могут довольно быстро начать новый цикл.</a:t>
            </a:r>
          </a:p>
          <a:p>
            <a:r>
              <a:rPr lang="ru-RU" sz="2300" dirty="0">
                <a:latin typeface="Times New Roman" panose="02020603050405020304" pitchFamily="18" charset="0"/>
                <a:cs typeface="Times New Roman" panose="02020603050405020304" pitchFamily="18" charset="0"/>
              </a:rPr>
              <a:t> 8. Психическая переработка - другой важный этап, о котором забывает большинство сексологов. Это то время, когда человек ассимилирует свой опыт, извлекает из него выводы или принимает решения на будущее. Этот этап помещается в конце цикла, но может возникать на всем протяжении процесса. </a:t>
            </a:r>
          </a:p>
        </p:txBody>
      </p:sp>
    </p:spTree>
    <p:extLst>
      <p:ext uri="{BB962C8B-B14F-4D97-AF65-F5344CB8AC3E}">
        <p14:creationId xmlns:p14="http://schemas.microsoft.com/office/powerpoint/2010/main" val="40220840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89AC213-D5E0-DC60-33FB-C120E474D651}"/>
              </a:ext>
            </a:extLst>
          </p:cNvPr>
          <p:cNvSpPr>
            <a:spLocks noGrp="1"/>
          </p:cNvSpPr>
          <p:nvPr>
            <p:ph idx="1"/>
          </p:nvPr>
        </p:nvSpPr>
        <p:spPr>
          <a:xfrm>
            <a:off x="838200" y="233082"/>
            <a:ext cx="10515600" cy="5939118"/>
          </a:xfrm>
        </p:spPr>
        <p:txBody>
          <a:bodyPr>
            <a:normAutofit lnSpcReduction="10000"/>
          </a:bodyPr>
          <a:lstStyle/>
          <a:p>
            <a:pPr marL="0" indent="0" defTabSz="566927">
              <a:spcBef>
                <a:spcPts val="400"/>
              </a:spcBef>
              <a:buNone/>
              <a:defRPr sz="1700"/>
            </a:pPr>
            <a:r>
              <a:rPr lang="ru-RU" sz="2400" b="1" dirty="0">
                <a:latin typeface="Times New Roman" panose="02020603050405020304" pitchFamily="18" charset="0"/>
                <a:cs typeface="Times New Roman" panose="02020603050405020304" pitchFamily="18" charset="0"/>
              </a:rPr>
              <a:t>Психологические причины отсутствия оргазма</a:t>
            </a:r>
          </a:p>
          <a:p>
            <a:pPr marL="0" indent="0" defTabSz="566927">
              <a:spcBef>
                <a:spcPts val="400"/>
              </a:spcBef>
              <a:buNone/>
              <a:defRPr sz="1700"/>
            </a:pPr>
            <a:endParaRPr lang="ru-RU" sz="2400" dirty="0">
              <a:latin typeface="Times New Roman" panose="02020603050405020304" pitchFamily="18" charset="0"/>
              <a:cs typeface="Times New Roman" panose="02020603050405020304" pitchFamily="18" charset="0"/>
            </a:endParaRP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1. Проблемы в отношениях с партнером.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2. Мужчина игнорирует сексуальные потребности женщины и стремиться удовлетворить свои.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3. Несексуальные конфликты.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4. Недостаточная эротическая стимуляция. Недооценка значения прелюдии, предварительных ласк.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5. Недоверие к партнеру.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6. Подавление оргастической реакции из страха быть отвергнутой или привязаться к партнеру и быть от него зависимой.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7. Страх наступления беременности.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8. Страх потери контроля. </a:t>
            </a:r>
          </a:p>
          <a:p>
            <a:pPr marL="0" indent="0" defTabSz="566927">
              <a:spcBef>
                <a:spcPts val="400"/>
              </a:spcBef>
              <a:buNone/>
              <a:defRPr sz="1700"/>
            </a:pPr>
            <a:r>
              <a:rPr lang="ru-RU" sz="2400" dirty="0">
                <a:latin typeface="Times New Roman" panose="02020603050405020304" pitchFamily="18" charset="0"/>
                <a:cs typeface="Times New Roman" panose="02020603050405020304" pitchFamily="18" charset="0"/>
              </a:rPr>
              <a:t>9. Невозможность расслабить и чувство вины за это. </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10. Негативные антисексуальные установки. </a:t>
            </a:r>
          </a:p>
          <a:p>
            <a:pPr marL="0" indent="0" defTabSz="566927">
              <a:spcBef>
                <a:spcPts val="400"/>
              </a:spcBef>
              <a:buNone/>
              <a:defRPr sz="1700"/>
            </a:pPr>
            <a:r>
              <a:rPr lang="ru-RU" sz="2400" b="1" dirty="0">
                <a:latin typeface="Times New Roman" panose="02020603050405020304" pitchFamily="18" charset="0"/>
                <a:cs typeface="Times New Roman" panose="02020603050405020304" pitchFamily="18" charset="0"/>
              </a:rPr>
              <a:t>11. Сексуальные контакты с несексуальными целями.</a:t>
            </a:r>
            <a:r>
              <a:rPr lang="ru-RU" sz="2400" dirty="0">
                <a:latin typeface="Times New Roman" panose="02020603050405020304" pitchFamily="18" charset="0"/>
                <a:cs typeface="Times New Roman" panose="02020603050405020304" pitchFamily="18" charset="0"/>
              </a:rPr>
              <a:t> </a:t>
            </a:r>
          </a:p>
          <a:p>
            <a:endParaRPr lang="ru-RU" dirty="0"/>
          </a:p>
        </p:txBody>
      </p:sp>
    </p:spTree>
    <p:extLst>
      <p:ext uri="{BB962C8B-B14F-4D97-AF65-F5344CB8AC3E}">
        <p14:creationId xmlns:p14="http://schemas.microsoft.com/office/powerpoint/2010/main" val="390324378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89AC213-D5E0-DC60-33FB-C120E474D651}"/>
              </a:ext>
            </a:extLst>
          </p:cNvPr>
          <p:cNvSpPr>
            <a:spLocks noGrp="1"/>
          </p:cNvSpPr>
          <p:nvPr>
            <p:ph idx="1"/>
          </p:nvPr>
        </p:nvSpPr>
        <p:spPr>
          <a:xfrm>
            <a:off x="838200" y="233082"/>
            <a:ext cx="10515600" cy="5939118"/>
          </a:xfrm>
        </p:spPr>
        <p:txBody>
          <a:bodyPr>
            <a:normAutofit/>
          </a:bodyPr>
          <a:lstStyle/>
          <a:p>
            <a:pPr marL="0" indent="0" defTabSz="566927">
              <a:spcBef>
                <a:spcPts val="400"/>
              </a:spcBef>
              <a:buNone/>
              <a:defRPr sz="1700"/>
            </a:pPr>
            <a:r>
              <a:rPr lang="ru-RU" sz="2400" b="1" dirty="0">
                <a:latin typeface="Times New Roman" panose="02020603050405020304" pitchFamily="18" charset="0"/>
                <a:cs typeface="Times New Roman" panose="02020603050405020304" pitchFamily="18" charset="0"/>
              </a:rPr>
              <a:t>Органические причины снижения сексуального влечения</a:t>
            </a:r>
          </a:p>
          <a:p>
            <a:pPr marL="0" indent="0" defTabSz="566927">
              <a:spcBef>
                <a:spcPts val="400"/>
              </a:spcBef>
              <a:buNone/>
              <a:defRPr sz="1700"/>
            </a:pPr>
            <a:endParaRPr lang="ru-RU" sz="2400" dirty="0">
              <a:latin typeface="Times New Roman" panose="02020603050405020304" pitchFamily="18" charset="0"/>
              <a:cs typeface="Times New Roman" panose="02020603050405020304" pitchFamily="18" charset="0"/>
            </a:endParaRPr>
          </a:p>
          <a:p>
            <a:pPr marL="192023" indent="-192023" defTabSz="512062">
              <a:spcBef>
                <a:spcPts val="300"/>
              </a:spcBef>
              <a:defRPr sz="1500"/>
            </a:pPr>
            <a:r>
              <a:rPr lang="ru-RU" sz="2400" dirty="0">
                <a:latin typeface="Times New Roman" panose="02020603050405020304" pitchFamily="18" charset="0"/>
                <a:cs typeface="Times New Roman" panose="02020603050405020304" pitchFamily="18" charset="0"/>
              </a:rPr>
              <a:t>Гормональная (</a:t>
            </a:r>
            <a:r>
              <a:rPr lang="ru-RU" sz="2400" dirty="0" err="1">
                <a:latin typeface="Times New Roman" panose="02020603050405020304" pitchFamily="18" charset="0"/>
                <a:cs typeface="Times New Roman" panose="02020603050405020304" pitchFamily="18" charset="0"/>
              </a:rPr>
              <a:t>эсторогенная</a:t>
            </a:r>
            <a:r>
              <a:rPr lang="ru-RU" sz="2400" dirty="0">
                <a:latin typeface="Times New Roman" panose="02020603050405020304" pitchFamily="18" charset="0"/>
                <a:cs typeface="Times New Roman" panose="02020603050405020304" pitchFamily="18" charset="0"/>
              </a:rPr>
              <a:t>) недостаточность у женщин при грубой дисфункции яичников или их удалении приводит к выпадению эротического компонента полового влечения (позитивной реакции  на эротические стимулы, включая поверхностные ласки) </a:t>
            </a:r>
          </a:p>
          <a:p>
            <a:pPr marL="192023" indent="-192023" defTabSz="512062">
              <a:spcBef>
                <a:spcPts val="300"/>
              </a:spcBef>
              <a:defRPr sz="1500"/>
            </a:pPr>
            <a:r>
              <a:rPr lang="ru-RU" sz="2400" dirty="0">
                <a:latin typeface="Times New Roman" panose="02020603050405020304" pitchFamily="18" charset="0"/>
                <a:cs typeface="Times New Roman" panose="02020603050405020304" pitchFamily="18" charset="0"/>
              </a:rPr>
              <a:t>Патология надпочечников, вызывающая снижения уровня андрогенов, может сопровождаться полным отсутствием интереса к полову акту. </a:t>
            </a:r>
          </a:p>
          <a:p>
            <a:pPr marL="192023" indent="-192023" defTabSz="512062">
              <a:spcBef>
                <a:spcPts val="300"/>
              </a:spcBef>
              <a:defRPr sz="1500"/>
            </a:pPr>
            <a:r>
              <a:rPr lang="ru-RU" sz="2400" dirty="0">
                <a:latin typeface="Times New Roman" panose="02020603050405020304" pitchFamily="18" charset="0"/>
                <a:cs typeface="Times New Roman" panose="02020603050405020304" pitchFamily="18" charset="0"/>
              </a:rPr>
              <a:t>Токсические влияния (алкоголь, наркотики) </a:t>
            </a:r>
          </a:p>
          <a:p>
            <a:pPr marL="192023" indent="-192023" defTabSz="512062">
              <a:spcBef>
                <a:spcPts val="300"/>
              </a:spcBef>
              <a:defRPr sz="1500"/>
            </a:pPr>
            <a:r>
              <a:rPr lang="ru-RU" sz="2400" dirty="0">
                <a:latin typeface="Times New Roman" panose="02020603050405020304" pitchFamily="18" charset="0"/>
                <a:cs typeface="Times New Roman" panose="02020603050405020304" pitchFamily="18" charset="0"/>
              </a:rPr>
              <a:t>Психические расстройства сопровождающиеся депрессивным аффектом. </a:t>
            </a:r>
          </a:p>
        </p:txBody>
      </p:sp>
    </p:spTree>
    <p:extLst>
      <p:ext uri="{BB962C8B-B14F-4D97-AF65-F5344CB8AC3E}">
        <p14:creationId xmlns:p14="http://schemas.microsoft.com/office/powerpoint/2010/main" val="37759852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89AC213-D5E0-DC60-33FB-C120E474D651}"/>
              </a:ext>
            </a:extLst>
          </p:cNvPr>
          <p:cNvSpPr>
            <a:spLocks noGrp="1"/>
          </p:cNvSpPr>
          <p:nvPr>
            <p:ph idx="1"/>
          </p:nvPr>
        </p:nvSpPr>
        <p:spPr>
          <a:xfrm>
            <a:off x="218661" y="233082"/>
            <a:ext cx="11728174" cy="6485770"/>
          </a:xfrm>
        </p:spPr>
        <p:txBody>
          <a:bodyPr>
            <a:normAutofit fontScale="92500" lnSpcReduction="10000"/>
          </a:bodyPr>
          <a:lstStyle/>
          <a:p>
            <a:pPr marL="0" indent="0" defTabSz="566927">
              <a:spcBef>
                <a:spcPts val="400"/>
              </a:spcBef>
              <a:buNone/>
              <a:defRPr sz="1700"/>
            </a:pPr>
            <a:r>
              <a:rPr lang="ru-RU" sz="2400" b="1" dirty="0">
                <a:latin typeface="Times New Roman" panose="02020603050405020304" pitchFamily="18" charset="0"/>
                <a:cs typeface="Times New Roman" panose="02020603050405020304" pitchFamily="18" charset="0"/>
              </a:rPr>
              <a:t>Алгоритм сбора анамнеза при секс дисфункциях</a:t>
            </a:r>
          </a:p>
          <a:p>
            <a:pPr marL="0" indent="0" defTabSz="566927">
              <a:spcBef>
                <a:spcPts val="400"/>
              </a:spcBef>
              <a:buNone/>
              <a:defRPr sz="1700"/>
            </a:pPr>
            <a:endParaRPr lang="ru-RU" sz="2400" b="1" dirty="0">
              <a:latin typeface="Times New Roman" panose="02020603050405020304" pitchFamily="18" charset="0"/>
              <a:cs typeface="Times New Roman" panose="02020603050405020304" pitchFamily="18" charset="0"/>
            </a:endParaRPr>
          </a:p>
          <a:p>
            <a:pPr marL="0" indent="0" defTabSz="576072">
              <a:spcBef>
                <a:spcPts val="400"/>
              </a:spcBef>
              <a:buNone/>
              <a:defRPr sz="2000"/>
            </a:pPr>
            <a:r>
              <a:rPr lang="ru-RU" sz="2400" dirty="0">
                <a:latin typeface="Times New Roman" panose="02020603050405020304" pitchFamily="18" charset="0"/>
                <a:cs typeface="Times New Roman" panose="02020603050405020304" pitchFamily="18" charset="0"/>
              </a:rPr>
              <a:t>Стандартное сексологическое обследование. Расспрос о характере межличностных и сексуальных отношений, выяснения причин возникновения отвращения к половой близости. У женщин требуется сбор акушерско-гинекологического анамнеза для исключения органической природы расстройства, гормонального дисбаланса, воспалительных заболеваний репродуктивной сферы и пр. Мужчинам с жалобами на слабую выраженность переживания оргазма показана консультация уролога. </a:t>
            </a:r>
          </a:p>
          <a:p>
            <a:pPr marL="0" indent="0" defTabSz="576072">
              <a:spcBef>
                <a:spcPts val="400"/>
              </a:spcBef>
              <a:buNone/>
              <a:defRPr sz="2000"/>
            </a:pPr>
            <a:r>
              <a:rPr lang="ru-RU" sz="2400" dirty="0">
                <a:latin typeface="Times New Roman" panose="02020603050405020304" pitchFamily="18" charset="0"/>
                <a:cs typeface="Times New Roman" panose="02020603050405020304" pitchFamily="18" charset="0"/>
              </a:rPr>
              <a:t>Могут быть необходимы консультации эндокринолога и невролога и др. </a:t>
            </a:r>
          </a:p>
          <a:p>
            <a:pPr marL="0" indent="0" defTabSz="576072">
              <a:spcBef>
                <a:spcPts val="400"/>
              </a:spcBef>
              <a:buNone/>
              <a:defRPr sz="2000"/>
            </a:pPr>
            <a:r>
              <a:rPr lang="ru-RU" sz="2400" dirty="0">
                <a:latin typeface="Times New Roman" panose="02020603050405020304" pitchFamily="18" charset="0"/>
                <a:cs typeface="Times New Roman" panose="02020603050405020304" pitchFamily="18" charset="0"/>
              </a:rPr>
              <a:t>Уровни активизации подавленного полового влечения:</a:t>
            </a:r>
          </a:p>
          <a:p>
            <a:pPr marL="504062" lvl="1" indent="-216027" defTabSz="576072">
              <a:spcBef>
                <a:spcPts val="400"/>
              </a:spcBef>
              <a:defRPr sz="2000"/>
            </a:pPr>
            <a:r>
              <a:rPr lang="ru-RU" dirty="0">
                <a:latin typeface="Times New Roman" panose="02020603050405020304" pitchFamily="18" charset="0"/>
                <a:cs typeface="Times New Roman" panose="02020603050405020304" pitchFamily="18" charset="0"/>
              </a:rPr>
              <a:t>Биологический (фармакотерапия и физиотерапия) </a:t>
            </a:r>
          </a:p>
          <a:p>
            <a:pPr marL="504062" lvl="1" indent="-216027" defTabSz="576072">
              <a:spcBef>
                <a:spcPts val="400"/>
              </a:spcBef>
              <a:defRPr sz="2000"/>
            </a:pPr>
            <a:r>
              <a:rPr lang="ru-RU" dirty="0">
                <a:latin typeface="Times New Roman" panose="02020603050405020304" pitchFamily="18" charset="0"/>
                <a:cs typeface="Times New Roman" panose="02020603050405020304" pitchFamily="18" charset="0"/>
              </a:rPr>
              <a:t>Психологический (психотерапия) </a:t>
            </a:r>
          </a:p>
          <a:p>
            <a:pPr marL="504062" lvl="1" indent="-216027" defTabSz="576072">
              <a:spcBef>
                <a:spcPts val="400"/>
              </a:spcBef>
              <a:defRPr sz="2000"/>
            </a:pPr>
            <a:endParaRPr lang="ru-RU" dirty="0">
              <a:latin typeface="Times New Roman" panose="02020603050405020304" pitchFamily="18" charset="0"/>
              <a:cs typeface="Times New Roman" panose="02020603050405020304" pitchFamily="18" charset="0"/>
            </a:endParaRPr>
          </a:p>
          <a:p>
            <a:pPr marL="0" indent="0" defTabSz="221813">
              <a:spcBef>
                <a:spcPts val="1400"/>
              </a:spcBef>
              <a:buSzTx/>
              <a:buNone/>
              <a:defRPr sz="1900"/>
            </a:pPr>
            <a:r>
              <a:rPr lang="ru-RU" sz="2200" b="1" dirty="0">
                <a:latin typeface="Times New Roman" panose="02020603050405020304" pitchFamily="18" charset="0"/>
                <a:cs typeface="Times New Roman" panose="02020603050405020304" pitchFamily="18" charset="0"/>
              </a:rPr>
              <a:t>У клиента могут быть:</a:t>
            </a:r>
          </a:p>
          <a:p>
            <a:pPr marL="0" indent="0" defTabSz="221813">
              <a:spcBef>
                <a:spcPts val="1400"/>
              </a:spcBef>
              <a:buSzTx/>
              <a:buNone/>
              <a:defRPr sz="1900"/>
            </a:pPr>
            <a:r>
              <a:rPr lang="ru-RU" sz="2200" dirty="0">
                <a:latin typeface="Times New Roman" panose="02020603050405020304" pitchFamily="18" charset="0"/>
                <a:cs typeface="Times New Roman" panose="02020603050405020304" pitchFamily="18" charset="0"/>
              </a:rPr>
              <a:t>Собственные проблемы. </a:t>
            </a:r>
          </a:p>
          <a:p>
            <a:pPr marL="0" indent="0" defTabSz="221813">
              <a:spcBef>
                <a:spcPts val="1400"/>
              </a:spcBef>
              <a:buSzTx/>
              <a:buNone/>
              <a:defRPr sz="1900"/>
            </a:pPr>
            <a:r>
              <a:rPr lang="ru-RU" sz="2200" dirty="0">
                <a:latin typeface="Times New Roman" panose="02020603050405020304" pitchFamily="18" charset="0"/>
                <a:cs typeface="Times New Roman" panose="02020603050405020304" pitchFamily="18" charset="0"/>
              </a:rPr>
              <a:t>Проблемы партнерши или партнера. </a:t>
            </a:r>
          </a:p>
          <a:p>
            <a:pPr marL="0" indent="0" defTabSz="221813">
              <a:spcBef>
                <a:spcPts val="1400"/>
              </a:spcBef>
              <a:buSzTx/>
              <a:buNone/>
              <a:defRPr sz="1900"/>
            </a:pPr>
            <a:r>
              <a:rPr lang="ru-RU" sz="2200" dirty="0">
                <a:latin typeface="Times New Roman" panose="02020603050405020304" pitchFamily="18" charset="0"/>
                <a:cs typeface="Times New Roman" panose="02020603050405020304" pitchFamily="18" charset="0"/>
              </a:rPr>
              <a:t>Проблемы взаимоотношений между ними. </a:t>
            </a:r>
          </a:p>
        </p:txBody>
      </p:sp>
    </p:spTree>
    <p:extLst>
      <p:ext uri="{BB962C8B-B14F-4D97-AF65-F5344CB8AC3E}">
        <p14:creationId xmlns:p14="http://schemas.microsoft.com/office/powerpoint/2010/main" val="28379179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A89AC213-D5E0-DC60-33FB-C120E474D651}"/>
              </a:ext>
            </a:extLst>
          </p:cNvPr>
          <p:cNvSpPr>
            <a:spLocks noGrp="1"/>
          </p:cNvSpPr>
          <p:nvPr>
            <p:ph idx="1"/>
          </p:nvPr>
        </p:nvSpPr>
        <p:spPr>
          <a:xfrm>
            <a:off x="218661" y="233082"/>
            <a:ext cx="11728174" cy="6485770"/>
          </a:xfrm>
        </p:spPr>
        <p:txBody>
          <a:bodyPr>
            <a:normAutofit/>
          </a:bodyPr>
          <a:lstStyle/>
          <a:p>
            <a:pPr marL="0" indent="0" defTabSz="566927">
              <a:spcBef>
                <a:spcPts val="400"/>
              </a:spcBef>
              <a:buNone/>
              <a:defRPr sz="1700"/>
            </a:pPr>
            <a:r>
              <a:rPr lang="ru-RU" sz="2400" b="1" dirty="0">
                <a:latin typeface="Times New Roman" panose="02020603050405020304" pitchFamily="18" charset="0"/>
                <a:cs typeface="Times New Roman" panose="02020603050405020304" pitchFamily="18" charset="0"/>
              </a:rPr>
              <a:t>При явных соматических признаках</a:t>
            </a:r>
          </a:p>
          <a:p>
            <a:pPr marL="0" indent="0" defTabSz="566927">
              <a:spcBef>
                <a:spcPts val="400"/>
              </a:spcBef>
              <a:buNone/>
              <a:defRPr sz="1700"/>
            </a:pPr>
            <a:endParaRPr lang="ru-RU" sz="2400" b="1" dirty="0">
              <a:latin typeface="Times New Roman" panose="02020603050405020304" pitchFamily="18" charset="0"/>
              <a:cs typeface="Times New Roman" panose="02020603050405020304" pitchFamily="18" charset="0"/>
            </a:endParaRPr>
          </a:p>
          <a:p>
            <a:pPr marL="300354" indent="-300354" defTabSz="353257">
              <a:spcBef>
                <a:spcPts val="2500"/>
              </a:spcBef>
              <a:defRPr sz="2200"/>
            </a:pPr>
            <a:r>
              <a:rPr lang="ru-RU" sz="2400" dirty="0">
                <a:latin typeface="Times New Roman" panose="02020603050405020304" pitchFamily="18" charset="0"/>
                <a:cs typeface="Times New Roman" panose="02020603050405020304" pitchFamily="18" charset="0"/>
              </a:rPr>
              <a:t>Мы нормализуем общее психологическое состояния. </a:t>
            </a:r>
          </a:p>
          <a:p>
            <a:pPr marL="300354" indent="-300354" defTabSz="353257">
              <a:spcBef>
                <a:spcPts val="2500"/>
              </a:spcBef>
              <a:defRPr sz="2200"/>
            </a:pPr>
            <a:r>
              <a:rPr lang="ru-RU" sz="2400" dirty="0">
                <a:latin typeface="Times New Roman" panose="02020603050405020304" pitchFamily="18" charset="0"/>
                <a:cs typeface="Times New Roman" panose="02020603050405020304" pitchFamily="18" charset="0"/>
              </a:rPr>
              <a:t>При фармакологическом сопровождении работаем над принятием физического состояния клиента. (уточняем как именно влияет лекарство) </a:t>
            </a:r>
          </a:p>
          <a:p>
            <a:pPr marL="300354" indent="-300354" defTabSz="353257">
              <a:spcBef>
                <a:spcPts val="2500"/>
              </a:spcBef>
              <a:defRPr sz="2200"/>
            </a:pPr>
            <a:r>
              <a:rPr lang="ru-RU" sz="2400" dirty="0">
                <a:latin typeface="Times New Roman" panose="02020603050405020304" pitchFamily="18" charset="0"/>
                <a:cs typeface="Times New Roman" panose="02020603050405020304" pitchFamily="18" charset="0"/>
              </a:rPr>
              <a:t>Работаем с  отношением клиента к его болезни </a:t>
            </a:r>
          </a:p>
          <a:p>
            <a:pPr marL="300354" indent="-300354" defTabSz="353257">
              <a:spcBef>
                <a:spcPts val="2500"/>
              </a:spcBef>
              <a:defRPr sz="2200"/>
            </a:pPr>
            <a:r>
              <a:rPr lang="ru-RU" sz="2400" dirty="0">
                <a:latin typeface="Times New Roman" panose="02020603050405020304" pitchFamily="18" charset="0"/>
                <a:cs typeface="Times New Roman" panose="02020603050405020304" pitchFamily="18" charset="0"/>
              </a:rPr>
              <a:t>Работаем с отношением клиента к лечению</a:t>
            </a:r>
          </a:p>
          <a:p>
            <a:pPr marL="300354" indent="-300354" defTabSz="353257">
              <a:spcBef>
                <a:spcPts val="2500"/>
              </a:spcBef>
              <a:defRPr sz="2200"/>
            </a:pPr>
            <a:r>
              <a:rPr lang="ru-RU" sz="2400" dirty="0">
                <a:latin typeface="Times New Roman" panose="02020603050405020304" pitchFamily="18" charset="0"/>
                <a:cs typeface="Times New Roman" panose="02020603050405020304" pitchFamily="18" charset="0"/>
              </a:rPr>
              <a:t>(некоторые психологи-сексологи рекомендуют,   </a:t>
            </a:r>
            <a:r>
              <a:rPr lang="ru-RU" sz="2400" dirty="0" err="1">
                <a:latin typeface="Times New Roman" panose="02020603050405020304" pitchFamily="18" charset="0"/>
                <a:cs typeface="Times New Roman" panose="02020603050405020304" pitchFamily="18" charset="0"/>
              </a:rPr>
              <a:t>психотерапевтически</a:t>
            </a:r>
            <a:r>
              <a:rPr lang="ru-RU" sz="2400" dirty="0">
                <a:latin typeface="Times New Roman" panose="02020603050405020304" pitchFamily="18" charset="0"/>
                <a:cs typeface="Times New Roman" panose="02020603050405020304" pitchFamily="18" charset="0"/>
              </a:rPr>
              <a:t> опосредованное плацебо) </a:t>
            </a:r>
          </a:p>
        </p:txBody>
      </p:sp>
    </p:spTree>
    <p:extLst>
      <p:ext uri="{BB962C8B-B14F-4D97-AF65-F5344CB8AC3E}">
        <p14:creationId xmlns:p14="http://schemas.microsoft.com/office/powerpoint/2010/main" val="34416220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1" name="Rectangle 10">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a:extLst>
              <a:ext uri="{FF2B5EF4-FFF2-40B4-BE49-F238E27FC236}">
                <a16:creationId xmlns:a16="http://schemas.microsoft.com/office/drawing/2014/main" id="{97FCC5DB-C18C-C747-9166-D40D60A227A1}"/>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800"/>
              <a:t>упражнение</a:t>
            </a:r>
          </a:p>
        </p:txBody>
      </p:sp>
      <p:pic>
        <p:nvPicPr>
          <p:cNvPr id="4" name="Снимок экрана 2020-01-16 в 23.43.59.png" descr="Снимок экрана 2020-01-16 в 23.43.59.png">
            <a:extLst>
              <a:ext uri="{FF2B5EF4-FFF2-40B4-BE49-F238E27FC236}">
                <a16:creationId xmlns:a16="http://schemas.microsoft.com/office/drawing/2014/main" id="{EFE4F6DB-BEF0-3B96-4036-B1A809A958DE}"/>
              </a:ext>
            </a:extLst>
          </p:cNvPr>
          <p:cNvPicPr>
            <a:picLocks noGrp="1" noChangeAspect="1"/>
          </p:cNvPicPr>
          <p:nvPr>
            <p:ph idx="1"/>
          </p:nvPr>
        </p:nvPicPr>
        <p:blipFill>
          <a:blip r:embed="rId2"/>
          <a:stretch>
            <a:fillRect/>
          </a:stretch>
        </p:blipFill>
        <p:spPr>
          <a:xfrm>
            <a:off x="1836371" y="974035"/>
            <a:ext cx="9016423" cy="1848366"/>
          </a:xfrm>
          <a:prstGeom prst="rect">
            <a:avLst/>
          </a:prstGeom>
        </p:spPr>
      </p:pic>
    </p:spTree>
    <p:extLst>
      <p:ext uri="{BB962C8B-B14F-4D97-AF65-F5344CB8AC3E}">
        <p14:creationId xmlns:p14="http://schemas.microsoft.com/office/powerpoint/2010/main" val="22808993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9B5A2C-4530-89A5-39C0-C81D2DE3DE00}"/>
              </a:ext>
            </a:extLst>
          </p:cNvPr>
          <p:cNvSpPr>
            <a:spLocks noGrp="1"/>
          </p:cNvSpPr>
          <p:nvPr>
            <p:ph type="title"/>
          </p:nvPr>
        </p:nvSpPr>
        <p:spPr>
          <a:xfrm>
            <a:off x="838200" y="365126"/>
            <a:ext cx="10515600" cy="946840"/>
          </a:xfrm>
        </p:spPr>
        <p:txBody>
          <a:bodyPr/>
          <a:lstStyle/>
          <a:p>
            <a:r>
              <a:rPr lang="ru-RU" dirty="0"/>
              <a:t>Стадия влюбленности</a:t>
            </a:r>
          </a:p>
        </p:txBody>
      </p:sp>
      <p:sp>
        <p:nvSpPr>
          <p:cNvPr id="3" name="Объект 2">
            <a:extLst>
              <a:ext uri="{FF2B5EF4-FFF2-40B4-BE49-F238E27FC236}">
                <a16:creationId xmlns:a16="http://schemas.microsoft.com/office/drawing/2014/main" id="{9B78D3E6-B837-679E-6A74-E0DBC3BB2809}"/>
              </a:ext>
            </a:extLst>
          </p:cNvPr>
          <p:cNvSpPr>
            <a:spLocks noGrp="1"/>
          </p:cNvSpPr>
          <p:nvPr>
            <p:ph idx="1"/>
          </p:nvPr>
        </p:nvSpPr>
        <p:spPr>
          <a:xfrm>
            <a:off x="838200" y="1311965"/>
            <a:ext cx="10515600" cy="4860235"/>
          </a:xfrm>
        </p:spPr>
        <p:txBody>
          <a:bodyPr>
            <a:normAutofit/>
          </a:bodyPr>
          <a:lstStyle/>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Партнеры перенимают интересы друг друга, расширяя собственные границы понимания мира, формируются новые роли.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Уходит стыдливость.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Начинаются сексуальные эксцессы пары (говорят о сексе, планируют секс).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Осваиваются все новые формы интимной жизни.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На человека работает биохимия тел (ощущение безопасности и защищенности) (окситоцин гормон доверия) Все это может длиться до 1,5 года (другие авторы упоминают 7 лет)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Женщина во время влюбленности  вырабатывает еще больше веществ (женских гомонов). </a:t>
            </a:r>
          </a:p>
          <a:p>
            <a:pPr marL="238362" indent="-238362" defTabSz="713230">
              <a:spcBef>
                <a:spcPts val="500"/>
              </a:spcBef>
              <a:buSzPct val="145000"/>
              <a:buFontTx/>
              <a:defRPr sz="1700"/>
            </a:pPr>
            <a:r>
              <a:rPr lang="ru-RU" sz="2400" dirty="0">
                <a:latin typeface="Times New Roman" panose="02020603050405020304" pitchFamily="18" charset="0"/>
                <a:cs typeface="Times New Roman" panose="02020603050405020304" pitchFamily="18" charset="0"/>
              </a:rPr>
              <a:t>Продолжается биологическая подстройка и подстройка бессознательного.</a:t>
            </a:r>
          </a:p>
          <a:p>
            <a:pPr marL="0" indent="0">
              <a:buNone/>
            </a:pPr>
            <a:endParaRPr lang="ru-RU" dirty="0"/>
          </a:p>
        </p:txBody>
      </p:sp>
    </p:spTree>
    <p:extLst>
      <p:ext uri="{BB962C8B-B14F-4D97-AF65-F5344CB8AC3E}">
        <p14:creationId xmlns:p14="http://schemas.microsoft.com/office/powerpoint/2010/main" val="19123605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9B5A2C-4530-89A5-39C0-C81D2DE3DE00}"/>
              </a:ext>
            </a:extLst>
          </p:cNvPr>
          <p:cNvSpPr>
            <a:spLocks noGrp="1"/>
          </p:cNvSpPr>
          <p:nvPr>
            <p:ph type="title"/>
          </p:nvPr>
        </p:nvSpPr>
        <p:spPr/>
        <p:txBody>
          <a:bodyPr/>
          <a:lstStyle/>
          <a:p>
            <a:r>
              <a:rPr lang="ru-RU" dirty="0"/>
              <a:t>Вторичное слияние</a:t>
            </a:r>
          </a:p>
        </p:txBody>
      </p:sp>
      <p:sp>
        <p:nvSpPr>
          <p:cNvPr id="3" name="Объект 2">
            <a:extLst>
              <a:ext uri="{FF2B5EF4-FFF2-40B4-BE49-F238E27FC236}">
                <a16:creationId xmlns:a16="http://schemas.microsoft.com/office/drawing/2014/main" id="{9B78D3E6-B837-679E-6A74-E0DBC3BB2809}"/>
              </a:ext>
            </a:extLst>
          </p:cNvPr>
          <p:cNvSpPr>
            <a:spLocks noGrp="1"/>
          </p:cNvSpPr>
          <p:nvPr>
            <p:ph idx="1"/>
          </p:nvPr>
        </p:nvSpPr>
        <p:spPr/>
        <p:txBody>
          <a:bodyPr>
            <a:normAutofit fontScale="92500" lnSpcReduction="20000"/>
          </a:bodyPr>
          <a:lstStyle/>
          <a:p>
            <a:pPr marL="0" indent="0" defTabSz="713230">
              <a:spcBef>
                <a:spcPts val="500"/>
              </a:spcBef>
              <a:buSzPct val="145000"/>
              <a:buNone/>
              <a:defRPr sz="1700"/>
            </a:pPr>
            <a:r>
              <a:rPr lang="ru-RU" sz="2000" dirty="0">
                <a:latin typeface="Times New Roman" panose="02020603050405020304" pitchFamily="18" charset="0"/>
                <a:cs typeface="Times New Roman" panose="02020603050405020304" pitchFamily="18" charset="0"/>
              </a:rPr>
              <a:t>Первичное слияние с матерью ( партнеры, чувствуют единство, любят все в друг друге ) Идеализируют партнера (мать идеально чувствует потребности малыша). У ребенка возникает первичное всемогущество.  </a:t>
            </a:r>
          </a:p>
          <a:p>
            <a:pPr marL="0" indent="0" defTabSz="713230">
              <a:spcBef>
                <a:spcPts val="500"/>
              </a:spcBef>
              <a:buSzPct val="145000"/>
              <a:buNone/>
              <a:defRPr sz="1700"/>
            </a:pPr>
            <a:endParaRPr lang="ru-RU" sz="2000" dirty="0">
              <a:solidFill>
                <a:srgbClr val="EE220C"/>
              </a:solidFill>
              <a:latin typeface="Times New Roman" panose="02020603050405020304" pitchFamily="18" charset="0"/>
              <a:cs typeface="Times New Roman" panose="02020603050405020304" pitchFamily="18" charset="0"/>
            </a:endParaRPr>
          </a:p>
          <a:p>
            <a:pPr marL="0" indent="0" defTabSz="713230">
              <a:spcBef>
                <a:spcPts val="500"/>
              </a:spcBef>
              <a:buSzPct val="145000"/>
              <a:buNone/>
              <a:defRPr sz="1700"/>
            </a:pPr>
            <a:r>
              <a:rPr lang="ru-RU" sz="2000" dirty="0">
                <a:latin typeface="Times New Roman" panose="02020603050405020304" pitchFamily="18" charset="0"/>
                <a:cs typeface="Times New Roman" panose="02020603050405020304" pitchFamily="18" charset="0"/>
              </a:rPr>
              <a:t>Вторичное слияние возможно тогда, когда было первичное слияние, в противном случае возникают проблемы в построении взаимоотношений. </a:t>
            </a:r>
          </a:p>
          <a:p>
            <a:pPr marL="0" indent="0" defTabSz="713230">
              <a:spcBef>
                <a:spcPts val="500"/>
              </a:spcBef>
              <a:buSzPct val="145000"/>
              <a:buNone/>
              <a:defRPr sz="1700"/>
            </a:pPr>
            <a:endParaRPr lang="ru-RU" sz="2000" dirty="0">
              <a:latin typeface="Times New Roman" panose="02020603050405020304" pitchFamily="18" charset="0"/>
              <a:cs typeface="Times New Roman" panose="02020603050405020304" pitchFamily="18" charset="0"/>
            </a:endParaRPr>
          </a:p>
          <a:p>
            <a:pPr marL="0" indent="0" defTabSz="713230">
              <a:spcBef>
                <a:spcPts val="500"/>
              </a:spcBef>
              <a:buSzPct val="145000"/>
              <a:buNone/>
              <a:defRPr sz="1700"/>
            </a:pPr>
            <a:r>
              <a:rPr lang="ru-RU" sz="2000" dirty="0">
                <a:latin typeface="Times New Roman" panose="02020603050405020304" pitchFamily="18" charset="0"/>
                <a:cs typeface="Times New Roman" panose="02020603050405020304" pitchFamily="18" charset="0"/>
              </a:rPr>
              <a:t>Идеализация это не плохо, а это способность, для того чтобы выстроить доверительные прочные отношения (она позволяет быть романтической любви, что усиливает близость). </a:t>
            </a:r>
          </a:p>
          <a:p>
            <a:pPr marL="0" indent="0" defTabSz="713230">
              <a:spcBef>
                <a:spcPts val="500"/>
              </a:spcBef>
              <a:buSzPct val="145000"/>
              <a:buNone/>
              <a:defRPr sz="1700"/>
            </a:pPr>
            <a:endParaRPr lang="ru-RU" sz="2000" dirty="0">
              <a:latin typeface="Times New Roman" panose="02020603050405020304" pitchFamily="18" charset="0"/>
              <a:cs typeface="Times New Roman" panose="02020603050405020304" pitchFamily="18" charset="0"/>
            </a:endParaRPr>
          </a:p>
          <a:p>
            <a:pPr marL="0" indent="0" defTabSz="713230">
              <a:spcBef>
                <a:spcPts val="500"/>
              </a:spcBef>
              <a:buSzPct val="145000"/>
              <a:buNone/>
              <a:defRPr sz="1700"/>
            </a:pPr>
            <a:r>
              <a:rPr lang="ru-RU" sz="2000" dirty="0">
                <a:latin typeface="Times New Roman" panose="02020603050405020304" pitchFamily="18" charset="0"/>
                <a:cs typeface="Times New Roman" panose="02020603050405020304" pitchFamily="18" charset="0"/>
              </a:rPr>
              <a:t>Партнер считывается по невербальным признакам «читаем мысли друг друга». Это действительно так, часто угадываем желание друг друга. (Потом начинаются условия) </a:t>
            </a:r>
          </a:p>
          <a:p>
            <a:pPr marL="0" indent="0" defTabSz="713230">
              <a:spcBef>
                <a:spcPts val="500"/>
              </a:spcBef>
              <a:buSzPct val="145000"/>
              <a:buNone/>
              <a:defRPr sz="1700"/>
            </a:pPr>
            <a:r>
              <a:rPr lang="ru-RU" sz="2000" dirty="0">
                <a:latin typeface="Times New Roman" panose="02020603050405020304" pitchFamily="18" charset="0"/>
                <a:cs typeface="Times New Roman" panose="02020603050405020304" pitchFamily="18" charset="0"/>
              </a:rPr>
              <a:t>Те у кого отсутствует эта стадия, будут подозрительны с самого начала. Без первичного слияния еще сложнее. (у них будет эмоциональная привязанность, на базисе тревоги и того, что их хотят бросить) или практическая выгода. (нет эмоциональной связи) </a:t>
            </a:r>
          </a:p>
          <a:p>
            <a:pPr marL="0" indent="0">
              <a:buNone/>
            </a:pPr>
            <a:endParaRPr lang="ru-RU" dirty="0"/>
          </a:p>
        </p:txBody>
      </p:sp>
    </p:spTree>
    <p:extLst>
      <p:ext uri="{BB962C8B-B14F-4D97-AF65-F5344CB8AC3E}">
        <p14:creationId xmlns:p14="http://schemas.microsoft.com/office/powerpoint/2010/main" val="218382740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BF1820-D641-0B52-B10C-A7C3EB924D1B}"/>
              </a:ext>
            </a:extLst>
          </p:cNvPr>
          <p:cNvSpPr>
            <a:spLocks noGrp="1"/>
          </p:cNvSpPr>
          <p:nvPr>
            <p:ph type="title"/>
          </p:nvPr>
        </p:nvSpPr>
        <p:spPr/>
        <p:txBody>
          <a:bodyPr/>
          <a:lstStyle/>
          <a:p>
            <a:r>
              <a:rPr lang="ru-RU" dirty="0"/>
              <a:t>Кризисы в семье</a:t>
            </a:r>
          </a:p>
        </p:txBody>
      </p:sp>
      <p:sp>
        <p:nvSpPr>
          <p:cNvPr id="3" name="Объект 2">
            <a:extLst>
              <a:ext uri="{FF2B5EF4-FFF2-40B4-BE49-F238E27FC236}">
                <a16:creationId xmlns:a16="http://schemas.microsoft.com/office/drawing/2014/main" id="{0B109271-025C-B82F-F64E-577E1DA26692}"/>
              </a:ext>
            </a:extLst>
          </p:cNvPr>
          <p:cNvSpPr>
            <a:spLocks noGrp="1"/>
          </p:cNvSpPr>
          <p:nvPr>
            <p:ph idx="1"/>
          </p:nvPr>
        </p:nvSpPr>
        <p:spPr/>
        <p:txBody>
          <a:bodyPr>
            <a:normAutofit/>
          </a:bodyPr>
          <a:lstStyle/>
          <a:p>
            <a:pPr marL="305592" indent="-305592">
              <a:buSzPct val="145000"/>
              <a:buFontTx/>
              <a:defRPr sz="2200"/>
            </a:pPr>
            <a:r>
              <a:rPr lang="ru-RU" sz="2400" dirty="0">
                <a:latin typeface="Times New Roman" panose="02020603050405020304" pitchFamily="18" charset="0"/>
                <a:cs typeface="Times New Roman" panose="02020603050405020304" pitchFamily="18" charset="0"/>
              </a:rPr>
              <a:t>Кризисы бытовые. </a:t>
            </a:r>
          </a:p>
          <a:p>
            <a:pPr marL="305592" indent="-305592">
              <a:buSzPct val="145000"/>
              <a:buFontTx/>
              <a:defRPr sz="2200"/>
            </a:pPr>
            <a:r>
              <a:rPr lang="ru-RU" sz="2400" dirty="0">
                <a:latin typeface="Times New Roman" panose="02020603050405020304" pitchFamily="18" charset="0"/>
                <a:cs typeface="Times New Roman" panose="02020603050405020304" pitchFamily="18" charset="0"/>
              </a:rPr>
              <a:t>Теряется идентификация М/Ж, теряется значимый другой. </a:t>
            </a:r>
          </a:p>
          <a:p>
            <a:pPr marL="305592" indent="-305592">
              <a:buSzPct val="145000"/>
              <a:buFontTx/>
              <a:defRPr sz="2200"/>
            </a:pPr>
            <a:r>
              <a:rPr lang="ru-RU" sz="2400" dirty="0">
                <a:latin typeface="Times New Roman" panose="02020603050405020304" pitchFamily="18" charset="0"/>
                <a:cs typeface="Times New Roman" panose="02020603050405020304" pitchFamily="18" charset="0"/>
              </a:rPr>
              <a:t>Дети. </a:t>
            </a:r>
          </a:p>
          <a:p>
            <a:pPr marL="305592" indent="-305592">
              <a:buSzPct val="145000"/>
              <a:buFontTx/>
              <a:defRPr sz="2200"/>
            </a:pPr>
            <a:r>
              <a:rPr lang="ru-RU" sz="2400" dirty="0">
                <a:latin typeface="Times New Roman" panose="02020603050405020304" pitchFamily="18" charset="0"/>
                <a:cs typeface="Times New Roman" panose="02020603050405020304" pitchFamily="18" charset="0"/>
              </a:rPr>
              <a:t>Различные сопутствующие трудности. </a:t>
            </a:r>
          </a:p>
          <a:p>
            <a:pPr marL="305592" indent="-305592">
              <a:buSzPct val="145000"/>
              <a:buFontTx/>
              <a:defRPr sz="2200"/>
            </a:pPr>
            <a:r>
              <a:rPr lang="ru-RU" sz="2400" dirty="0">
                <a:latin typeface="Times New Roman" panose="02020603050405020304" pitchFamily="18" charset="0"/>
                <a:cs typeface="Times New Roman" panose="02020603050405020304" pitchFamily="18" charset="0"/>
              </a:rPr>
              <a:t>Экзистенциальные кризисы. </a:t>
            </a:r>
          </a:p>
          <a:p>
            <a:pPr marL="305592" indent="-305592">
              <a:buSzPct val="145000"/>
              <a:buFontTx/>
              <a:defRPr sz="2200"/>
            </a:pPr>
            <a:r>
              <a:rPr lang="ru-RU" sz="2400" dirty="0">
                <a:latin typeface="Times New Roman" panose="02020603050405020304" pitchFamily="18" charset="0"/>
                <a:cs typeface="Times New Roman" panose="02020603050405020304" pitchFamily="18" charset="0"/>
              </a:rPr>
              <a:t>Супружеская скука</a:t>
            </a:r>
          </a:p>
        </p:txBody>
      </p:sp>
    </p:spTree>
    <p:extLst>
      <p:ext uri="{BB962C8B-B14F-4D97-AF65-F5344CB8AC3E}">
        <p14:creationId xmlns:p14="http://schemas.microsoft.com/office/powerpoint/2010/main" val="4261635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838200" y="1093304"/>
            <a:ext cx="10515600" cy="5078896"/>
          </a:xfrm>
        </p:spPr>
        <p:txBody>
          <a:bodyPr/>
          <a:lstStyle/>
          <a:p>
            <a:pPr marL="0" indent="0">
              <a:buSzPct val="145000"/>
              <a:buNone/>
              <a:defRPr sz="2200"/>
            </a:pPr>
            <a:r>
              <a:rPr lang="ru-RU" sz="2400" dirty="0">
                <a:latin typeface="Times New Roman" panose="02020603050405020304" pitchFamily="18" charset="0"/>
                <a:cs typeface="Times New Roman" panose="02020603050405020304" pitchFamily="18" charset="0"/>
              </a:rPr>
              <a:t>Первый кризис Сексуальная скука. (как правило, через 3-4 года) (была бессознательная подстройка, потом психика начинает эту энергию экономить, плюс биологическая подстройка уже случилась, усугубить могут конфликты и длительная разлука. ) </a:t>
            </a:r>
          </a:p>
          <a:p>
            <a:pPr marL="0" indent="0">
              <a:buSzPct val="145000"/>
              <a:buNone/>
              <a:defRPr sz="2200"/>
            </a:pPr>
            <a:r>
              <a:rPr lang="ru-RU" sz="2400" dirty="0">
                <a:latin typeface="Times New Roman" panose="02020603050405020304" pitchFamily="18" charset="0"/>
                <a:cs typeface="Times New Roman" panose="02020603050405020304" pitchFamily="18" charset="0"/>
              </a:rPr>
              <a:t>Скука в отношениях (если по любви) уже может наступить только через 7-9 лет. </a:t>
            </a:r>
          </a:p>
          <a:p>
            <a:pPr marL="0" indent="0">
              <a:buSzPct val="145000"/>
              <a:buNone/>
              <a:defRPr sz="2200"/>
            </a:pPr>
            <a:r>
              <a:rPr lang="ru-RU" sz="2400" dirty="0">
                <a:latin typeface="Times New Roman" panose="02020603050405020304" pitchFamily="18" charset="0"/>
                <a:cs typeface="Times New Roman" panose="02020603050405020304" pitchFamily="18" charset="0"/>
              </a:rPr>
              <a:t>Причины скуки в отношениях: партнеры отдаляются друг от друга. Нет дистанции. Нет общих интересов, один не интересен другому. </a:t>
            </a:r>
          </a:p>
          <a:p>
            <a:pPr marL="0" indent="0">
              <a:buNone/>
            </a:pPr>
            <a:endParaRPr lang="ru-RU" dirty="0"/>
          </a:p>
        </p:txBody>
      </p:sp>
    </p:spTree>
    <p:extLst>
      <p:ext uri="{BB962C8B-B14F-4D97-AF65-F5344CB8AC3E}">
        <p14:creationId xmlns:p14="http://schemas.microsoft.com/office/powerpoint/2010/main" val="13463811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838200" y="1033670"/>
            <a:ext cx="10515600" cy="5138530"/>
          </a:xfrm>
        </p:spPr>
        <p:txBody>
          <a:bodyPr/>
          <a:lstStyle/>
          <a:p>
            <a:pPr marL="0" indent="0">
              <a:buSzPct val="145000"/>
              <a:buNone/>
              <a:defRPr sz="2200"/>
            </a:pPr>
            <a:r>
              <a:rPr lang="ru-RU" sz="2400" dirty="0">
                <a:latin typeface="Times New Roman" panose="02020603050405020304" pitchFamily="18" charset="0"/>
                <a:cs typeface="Times New Roman" panose="02020603050405020304" pitchFamily="18" charset="0"/>
              </a:rPr>
              <a:t>Женщины часто компенсируют это детьми и своими иллюзиями. Женщина чувствует себя женщиной уже просто от того, что у нее есть мужчина. </a:t>
            </a:r>
          </a:p>
          <a:p>
            <a:pPr marL="0" indent="0">
              <a:buSzPct val="145000"/>
              <a:buNone/>
              <a:defRPr sz="2200"/>
            </a:pPr>
            <a:r>
              <a:rPr lang="ru-RU" sz="2400" dirty="0">
                <a:latin typeface="Times New Roman" panose="02020603050405020304" pitchFamily="18" charset="0"/>
                <a:cs typeface="Times New Roman" panose="02020603050405020304" pitchFamily="18" charset="0"/>
              </a:rPr>
              <a:t>Мужчины компенсируют любовницами. </a:t>
            </a:r>
          </a:p>
          <a:p>
            <a:pPr marL="0" indent="0">
              <a:buSzPct val="145000"/>
              <a:buNone/>
              <a:defRPr sz="2200"/>
            </a:pPr>
            <a:r>
              <a:rPr lang="ru-RU" sz="2400" dirty="0">
                <a:latin typeface="Times New Roman" panose="02020603050405020304" pitchFamily="18" charset="0"/>
                <a:cs typeface="Times New Roman" panose="02020603050405020304" pitchFamily="18" charset="0"/>
              </a:rPr>
              <a:t>Пара перерастает свои прежние роли и наступает кризис. (важно, чтобы каждый был, собой)</a:t>
            </a:r>
          </a:p>
          <a:p>
            <a:pPr marL="0" indent="0">
              <a:buSzPct val="145000"/>
              <a:buNone/>
              <a:defRPr sz="2200"/>
            </a:pPr>
            <a:r>
              <a:rPr lang="ru-RU" sz="2400" dirty="0">
                <a:latin typeface="Times New Roman" panose="02020603050405020304" pitchFamily="18" charset="0"/>
                <a:cs typeface="Times New Roman" panose="02020603050405020304" pitchFamily="18" charset="0"/>
              </a:rPr>
              <a:t>Оба перестают делать открытия в друг друге.</a:t>
            </a:r>
          </a:p>
          <a:p>
            <a:pPr marL="0" indent="0">
              <a:buSzPct val="145000"/>
              <a:buNone/>
              <a:defRPr sz="2200"/>
            </a:pPr>
            <a:r>
              <a:rPr lang="ru-RU" sz="2400" dirty="0">
                <a:latin typeface="Times New Roman" panose="02020603050405020304" pitchFamily="18" charset="0"/>
                <a:cs typeface="Times New Roman" panose="02020603050405020304" pitchFamily="18" charset="0"/>
              </a:rPr>
              <a:t>Наш партнер — другой человек, и замечая его отличия от нас самих, мы реагируем либо страхом, либо любопытством. </a:t>
            </a:r>
          </a:p>
          <a:p>
            <a:pPr marL="0" indent="0">
              <a:buNone/>
            </a:pPr>
            <a:endParaRPr lang="ru-RU" dirty="0"/>
          </a:p>
        </p:txBody>
      </p:sp>
    </p:spTree>
    <p:extLst>
      <p:ext uri="{BB962C8B-B14F-4D97-AF65-F5344CB8AC3E}">
        <p14:creationId xmlns:p14="http://schemas.microsoft.com/office/powerpoint/2010/main" val="32444481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838200" y="1033670"/>
            <a:ext cx="10515600" cy="5138530"/>
          </a:xfrm>
        </p:spPr>
        <p:txBody>
          <a:bodyPr/>
          <a:lstStyle/>
          <a:p>
            <a:pPr marL="0" indent="0" algn="ctr" defTabSz="410764">
              <a:spcBef>
                <a:spcPts val="0"/>
              </a:spcBef>
              <a:buSzTx/>
              <a:buNone/>
              <a:defRPr sz="2000">
                <a:solidFill>
                  <a:srgbClr val="202020"/>
                </a:solidFill>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algn="ctr" defTabSz="410764">
              <a:spcBef>
                <a:spcPts val="0"/>
              </a:spcBef>
              <a:buSzTx/>
              <a:buNone/>
              <a:defRPr sz="2000">
                <a:solidFill>
                  <a:srgbClr val="202020"/>
                </a:solidFill>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algn="ctr" defTabSz="410764">
              <a:spcBef>
                <a:spcPts val="0"/>
              </a:spcBef>
              <a:buSzTx/>
              <a:buNone/>
              <a:defRPr sz="2000">
                <a:solidFill>
                  <a:srgbClr val="202020"/>
                </a:solidFill>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algn="ctr" defTabSz="410764">
              <a:spcBef>
                <a:spcPts val="0"/>
              </a:spcBef>
              <a:buSzTx/>
              <a:buNone/>
              <a:defRPr sz="2000">
                <a:solidFill>
                  <a:srgbClr val="202020"/>
                </a:solidFill>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К </a:t>
            </a:r>
            <a:r>
              <a:rPr lang="ru-RU" sz="2400" i="1" dirty="0" err="1">
                <a:latin typeface="Times New Roman" panose="02020603050405020304" pitchFamily="18" charset="0"/>
                <a:ea typeface="Times"/>
                <a:cs typeface="Times New Roman" panose="02020603050405020304" pitchFamily="18" charset="0"/>
                <a:sym typeface="Times"/>
              </a:rPr>
              <a:t>дисфункциональным</a:t>
            </a:r>
            <a:r>
              <a:rPr lang="ru-RU" sz="2400" i="1" dirty="0">
                <a:latin typeface="Times New Roman" panose="02020603050405020304" pitchFamily="18" charset="0"/>
                <a:ea typeface="Times"/>
                <a:cs typeface="Times New Roman" panose="02020603050405020304" pitchFamily="18" charset="0"/>
                <a:sym typeface="Times"/>
              </a:rPr>
              <a:t> </a:t>
            </a:r>
            <a:r>
              <a:rPr lang="ru-RU" sz="2400" dirty="0">
                <a:latin typeface="Times New Roman" panose="02020603050405020304" pitchFamily="18" charset="0"/>
                <a:cs typeface="Times New Roman" panose="02020603050405020304" pitchFamily="18" charset="0"/>
              </a:rPr>
              <a:t>относятся те пары, в которых: </a:t>
            </a:r>
          </a:p>
          <a:p>
            <a:pPr marL="0" indent="0" algn="ctr" defTabSz="410764">
              <a:spcBef>
                <a:spcPts val="0"/>
              </a:spcBef>
              <a:buSzTx/>
              <a:buNone/>
              <a:defRPr sz="2000">
                <a:solidFill>
                  <a:srgbClr val="202020"/>
                </a:solidFill>
                <a:latin typeface="Palatino"/>
                <a:ea typeface="Palatino"/>
                <a:cs typeface="Palatino"/>
                <a:sym typeface="Palatino"/>
              </a:defRPr>
            </a:pPr>
            <a:endParaRPr lang="ru-RU" sz="2400" dirty="0">
              <a:latin typeface="Times New Roman" panose="02020603050405020304" pitchFamily="18" charset="0"/>
              <a:ea typeface="Times"/>
              <a:cs typeface="Times New Roman" panose="02020603050405020304" pitchFamily="18" charset="0"/>
              <a:sym typeface="Times"/>
            </a:endParaRPr>
          </a:p>
          <a:p>
            <a:pPr marL="0" indent="0" algn="ctr" defTabSz="410764">
              <a:spcBef>
                <a:spcPts val="0"/>
              </a:spcBef>
              <a:buSzTx/>
              <a:buNone/>
              <a:defRPr sz="2000">
                <a:solidFill>
                  <a:srgbClr val="202020"/>
                </a:solidFill>
                <a:latin typeface="Times"/>
                <a:ea typeface="Times"/>
                <a:cs typeface="Times"/>
                <a:sym typeface="Times"/>
              </a:defRPr>
            </a:pPr>
            <a:r>
              <a:rPr lang="ru-RU" sz="2400" dirty="0">
                <a:latin typeface="Times New Roman" panose="02020603050405020304" pitchFamily="18" charset="0"/>
                <a:cs typeface="Times New Roman" panose="02020603050405020304" pitchFamily="18" charset="0"/>
              </a:rPr>
              <a:t>	-  </a:t>
            </a:r>
            <a:r>
              <a:rPr lang="ru-RU" sz="2400" dirty="0">
                <a:latin typeface="Times New Roman" panose="02020603050405020304" pitchFamily="18" charset="0"/>
                <a:ea typeface="Palatino"/>
                <a:cs typeface="Times New Roman" panose="02020603050405020304" pitchFamily="18" charset="0"/>
                <a:sym typeface="Palatino"/>
              </a:rPr>
              <a:t>не принято обсуждать имеющиеся проблемы; </a:t>
            </a:r>
            <a:br>
              <a:rPr lang="ru-RU" sz="2400" dirty="0">
                <a:latin typeface="Times New Roman" panose="02020603050405020304" pitchFamily="18" charset="0"/>
                <a:ea typeface="Palatino"/>
                <a:cs typeface="Times New Roman" panose="02020603050405020304" pitchFamily="18" charset="0"/>
                <a:sym typeface="Palatino"/>
              </a:rPr>
            </a:br>
            <a:endParaRPr lang="ru-RU" sz="2400" dirty="0">
              <a:latin typeface="Times New Roman" panose="02020603050405020304" pitchFamily="18" charset="0"/>
              <a:cs typeface="Times New Roman" panose="02020603050405020304" pitchFamily="18" charset="0"/>
            </a:endParaRPr>
          </a:p>
          <a:p>
            <a:pPr marL="0" indent="0" algn="ctr" defTabSz="410764">
              <a:spcBef>
                <a:spcPts val="0"/>
              </a:spcBef>
              <a:buSzTx/>
              <a:buNone/>
              <a:defRPr sz="2000">
                <a:solidFill>
                  <a:srgbClr val="202020"/>
                </a:solidFill>
                <a:latin typeface="Times"/>
                <a:ea typeface="Times"/>
                <a:cs typeface="Times"/>
                <a:sym typeface="Times"/>
              </a:defRPr>
            </a:pPr>
            <a:r>
              <a:rPr lang="ru-RU" sz="2400" dirty="0">
                <a:latin typeface="Times New Roman" panose="02020603050405020304" pitchFamily="18" charset="0"/>
                <a:cs typeface="Times New Roman" panose="02020603050405020304" pitchFamily="18" charset="0"/>
              </a:rPr>
              <a:t>	-  </a:t>
            </a:r>
            <a:r>
              <a:rPr lang="ru-RU" sz="2400" dirty="0">
                <a:latin typeface="Times New Roman" panose="02020603050405020304" pitchFamily="18" charset="0"/>
                <a:ea typeface="Palatino"/>
                <a:cs typeface="Times New Roman" panose="02020603050405020304" pitchFamily="18" charset="0"/>
                <a:sym typeface="Palatino"/>
              </a:rPr>
              <a:t>не принято открыто проявлять чувства;</a:t>
            </a:r>
          </a:p>
          <a:p>
            <a:pPr marL="0" indent="0" algn="ctr" defTabSz="410764">
              <a:spcBef>
                <a:spcPts val="0"/>
              </a:spcBef>
              <a:buSzTx/>
              <a:buNone/>
              <a:defRPr sz="2000">
                <a:solidFill>
                  <a:srgbClr val="202020"/>
                </a:solidFill>
                <a:latin typeface="Times"/>
                <a:ea typeface="Times"/>
                <a:cs typeface="Times"/>
                <a:sym typeface="Times"/>
              </a:defRPr>
            </a:pPr>
            <a:endParaRPr lang="ru-RU" sz="2400" dirty="0">
              <a:latin typeface="Times New Roman" panose="02020603050405020304" pitchFamily="18" charset="0"/>
              <a:ea typeface="Palatino"/>
              <a:cs typeface="Times New Roman" panose="02020603050405020304" pitchFamily="18" charset="0"/>
              <a:sym typeface="Palatino"/>
            </a:endParaRPr>
          </a:p>
          <a:p>
            <a:pPr marL="0" indent="0" algn="ctr" defTabSz="410764">
              <a:spcBef>
                <a:spcPts val="0"/>
              </a:spcBef>
              <a:buSzTx/>
              <a:buNone/>
              <a:defRPr sz="2000">
                <a:solidFill>
                  <a:srgbClr val="202020"/>
                </a:solidFill>
                <a:latin typeface="Times"/>
                <a:ea typeface="Times"/>
                <a:cs typeface="Times"/>
                <a:sym typeface="Times"/>
              </a:defRPr>
            </a:pPr>
            <a:r>
              <a:rPr lang="ru-RU" sz="2400" dirty="0">
                <a:latin typeface="Times New Roman" panose="02020603050405020304" pitchFamily="18" charset="0"/>
                <a:ea typeface="Palatino"/>
                <a:cs typeface="Times New Roman" panose="02020603050405020304" pitchFamily="18" charset="0"/>
                <a:sym typeface="Palatino"/>
              </a:rPr>
              <a:t>- преобладают непрямые коммуникации (допустим, мать просит сына передать отцу нечто важное)</a:t>
            </a:r>
          </a:p>
          <a:p>
            <a:pPr marL="0" indent="0">
              <a:buNone/>
            </a:pPr>
            <a:endParaRPr lang="ru-RU" dirty="0"/>
          </a:p>
        </p:txBody>
      </p:sp>
    </p:spTree>
    <p:extLst>
      <p:ext uri="{BB962C8B-B14F-4D97-AF65-F5344CB8AC3E}">
        <p14:creationId xmlns:p14="http://schemas.microsoft.com/office/powerpoint/2010/main" val="31092590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838200" y="238539"/>
            <a:ext cx="10515600" cy="5933661"/>
          </a:xfrm>
        </p:spPr>
        <p:txBody>
          <a:bodyPr>
            <a:normAutofit fontScale="85000" lnSpcReduction="20000"/>
          </a:bodyPr>
          <a:lstStyle/>
          <a:p>
            <a:pPr marL="0" indent="0" algn="ctr" defTabSz="410764">
              <a:spcBef>
                <a:spcPts val="0"/>
              </a:spcBef>
              <a:buSzTx/>
              <a:buNone/>
              <a:defRPr sz="2000">
                <a:solidFill>
                  <a:srgbClr val="202020"/>
                </a:solidFill>
                <a:latin typeface="Palatino"/>
                <a:ea typeface="Palatino"/>
                <a:cs typeface="Palatino"/>
                <a:sym typeface="Palatino"/>
              </a:defRPr>
            </a:pPr>
            <a:endParaRPr lang="ru-RU" sz="3000" dirty="0">
              <a:latin typeface="Times New Roman" panose="02020603050405020304" pitchFamily="18" charset="0"/>
              <a:cs typeface="Times New Roman" panose="02020603050405020304" pitchFamily="18" charset="0"/>
            </a:endParaRPr>
          </a:p>
          <a:p>
            <a:pPr marL="0" indent="0" defTabSz="192524">
              <a:spcBef>
                <a:spcPts val="0"/>
              </a:spcBef>
              <a:buSzTx/>
              <a:buNone/>
              <a:defRPr sz="1300">
                <a:latin typeface="Palatino"/>
                <a:ea typeface="Palatino"/>
                <a:cs typeface="Palatino"/>
                <a:sym typeface="Palatino"/>
              </a:defRPr>
            </a:pPr>
            <a:r>
              <a:rPr lang="ru-RU" sz="3000" dirty="0">
                <a:latin typeface="Times New Roman" panose="02020603050405020304" pitchFamily="18" charset="0"/>
                <a:cs typeface="Times New Roman" panose="02020603050405020304" pitchFamily="18" charset="0"/>
              </a:rPr>
              <a:t>Интимная жизнь семьи и появление детей</a:t>
            </a:r>
          </a:p>
          <a:p>
            <a:pPr marL="0" indent="0" defTabSz="192524">
              <a:spcBef>
                <a:spcPts val="0"/>
              </a:spcBef>
              <a:buSzTx/>
              <a:buNone/>
              <a:defRPr sz="1300">
                <a:latin typeface="Palatino"/>
                <a:ea typeface="Palatino"/>
                <a:cs typeface="Palatino"/>
                <a:sym typeface="Palatino"/>
              </a:defRPr>
            </a:pPr>
            <a:r>
              <a:rPr lang="ru-RU" sz="3000" dirty="0">
                <a:latin typeface="Times New Roman" panose="02020603050405020304" pitchFamily="18" charset="0"/>
                <a:cs typeface="Times New Roman" panose="02020603050405020304" pitchFamily="18" charset="0"/>
              </a:rPr>
              <a:t>До и после родов</a:t>
            </a:r>
          </a:p>
          <a:p>
            <a:pPr marL="0" indent="0" defTabSz="192524">
              <a:spcBef>
                <a:spcPts val="0"/>
              </a:spcBef>
              <a:buSzTx/>
              <a:buNone/>
              <a:defRPr sz="1300">
                <a:latin typeface="Palatino"/>
                <a:ea typeface="Palatino"/>
                <a:cs typeface="Palatino"/>
                <a:sym typeface="Palatino"/>
              </a:defRPr>
            </a:pPr>
            <a:endParaRPr lang="ru-RU" sz="2400" dirty="0"/>
          </a:p>
          <a:p>
            <a:pPr marL="0" indent="0" defTabSz="192524">
              <a:spcBef>
                <a:spcPts val="0"/>
              </a:spcBef>
              <a:buSzTx/>
              <a:buNone/>
              <a:defRPr sz="1300">
                <a:latin typeface="Palatino"/>
                <a:ea typeface="Palatino"/>
                <a:cs typeface="Palatino"/>
                <a:sym typeface="Palatino"/>
              </a:defRPr>
            </a:pPr>
            <a:r>
              <a:rPr lang="ru-RU" sz="2400" dirty="0"/>
              <a:t>Перинатальный период.</a:t>
            </a:r>
          </a:p>
          <a:p>
            <a:pPr marL="0" indent="0" defTabSz="192524">
              <a:spcBef>
                <a:spcPts val="0"/>
              </a:spcBef>
              <a:buNone/>
              <a:defRPr sz="1300">
                <a:latin typeface="Palatino"/>
                <a:ea typeface="Palatino"/>
                <a:cs typeface="Palatino"/>
                <a:sym typeface="Palatino"/>
              </a:defRPr>
            </a:pPr>
            <a:endParaRPr lang="ru-RU" sz="2400" dirty="0"/>
          </a:p>
          <a:p>
            <a:pPr marL="182540" indent="-182540" defTabSz="192524">
              <a:spcBef>
                <a:spcPts val="0"/>
              </a:spcBef>
              <a:buFont typeface="Helvetica Neue"/>
              <a:buChar char="⁃"/>
              <a:defRPr sz="1300">
                <a:latin typeface="Palatino"/>
                <a:ea typeface="Palatino"/>
                <a:cs typeface="Palatino"/>
                <a:sym typeface="Palatino"/>
              </a:defRPr>
            </a:pPr>
            <a:endParaRPr lang="ru-RU" sz="2400" dirty="0"/>
          </a:p>
          <a:p>
            <a:pPr marL="182540" indent="-182540" defTabSz="192524">
              <a:spcBef>
                <a:spcPts val="0"/>
              </a:spcBef>
              <a:buFont typeface="Helvetica Neue"/>
              <a:buChar char="⁃"/>
              <a:defRPr sz="1300">
                <a:latin typeface="Palatino"/>
                <a:ea typeface="Palatino"/>
                <a:cs typeface="Palatino"/>
                <a:sym typeface="Palatino"/>
              </a:defRPr>
            </a:pPr>
            <a:r>
              <a:rPr lang="ru-RU" sz="2400" dirty="0"/>
              <a:t>Желание и осознание</a:t>
            </a:r>
          </a:p>
          <a:p>
            <a:pPr marL="182540" indent="-182540" defTabSz="192524">
              <a:spcBef>
                <a:spcPts val="0"/>
              </a:spcBef>
              <a:buFont typeface="Helvetica Neue"/>
              <a:buChar char="⁃"/>
              <a:defRPr sz="1300">
                <a:latin typeface="Palatino"/>
                <a:ea typeface="Palatino"/>
                <a:cs typeface="Palatino"/>
                <a:sym typeface="Palatino"/>
              </a:defRPr>
            </a:pPr>
            <a:r>
              <a:rPr lang="ru-RU" sz="2400" dirty="0"/>
              <a:t>Подготовка </a:t>
            </a:r>
          </a:p>
          <a:p>
            <a:pPr marL="182540" indent="-182540" defTabSz="192524">
              <a:spcBef>
                <a:spcPts val="0"/>
              </a:spcBef>
              <a:buFont typeface="Helvetica Neue"/>
              <a:buChar char="⁃"/>
              <a:defRPr sz="1300">
                <a:latin typeface="Palatino"/>
                <a:ea typeface="Palatino"/>
                <a:cs typeface="Palatino"/>
                <a:sym typeface="Palatino"/>
              </a:defRPr>
            </a:pPr>
            <a:r>
              <a:rPr lang="ru-RU" sz="2400" dirty="0"/>
              <a:t>Зачатие </a:t>
            </a:r>
          </a:p>
          <a:p>
            <a:pPr marL="182540" indent="-182540" defTabSz="192524">
              <a:spcBef>
                <a:spcPts val="0"/>
              </a:spcBef>
              <a:buFont typeface="Helvetica Neue"/>
              <a:buChar char="⁃"/>
              <a:defRPr sz="1300">
                <a:latin typeface="Palatino"/>
                <a:ea typeface="Palatino"/>
                <a:cs typeface="Palatino"/>
                <a:sym typeface="Palatino"/>
              </a:defRPr>
            </a:pPr>
            <a:r>
              <a:rPr lang="ru-RU" sz="2400" dirty="0"/>
              <a:t>Беременность </a:t>
            </a:r>
          </a:p>
          <a:p>
            <a:pPr marL="182540" indent="-182540" defTabSz="192524">
              <a:spcBef>
                <a:spcPts val="0"/>
              </a:spcBef>
              <a:buFont typeface="Helvetica Neue"/>
              <a:buChar char="⁃"/>
              <a:defRPr sz="1300">
                <a:latin typeface="Palatino"/>
                <a:ea typeface="Palatino"/>
                <a:cs typeface="Palatino"/>
                <a:sym typeface="Palatino"/>
              </a:defRPr>
            </a:pPr>
            <a:r>
              <a:rPr lang="ru-RU" sz="2400" dirty="0"/>
              <a:t>Роды</a:t>
            </a:r>
          </a:p>
          <a:p>
            <a:pPr marL="182540" indent="-182540" defTabSz="192524">
              <a:spcBef>
                <a:spcPts val="0"/>
              </a:spcBef>
              <a:buFont typeface="Helvetica Neue"/>
              <a:buChar char="⁃"/>
              <a:defRPr sz="1300">
                <a:latin typeface="Palatino"/>
                <a:ea typeface="Palatino"/>
                <a:cs typeface="Palatino"/>
                <a:sym typeface="Palatino"/>
              </a:defRPr>
            </a:pPr>
            <a:r>
              <a:rPr lang="ru-RU" sz="2400" dirty="0"/>
              <a:t>Первые 1-3 года </a:t>
            </a:r>
          </a:p>
          <a:p>
            <a:pPr marL="182540" indent="-182540" defTabSz="192524">
              <a:spcBef>
                <a:spcPts val="0"/>
              </a:spcBef>
              <a:buFont typeface="Helvetica Neue"/>
              <a:buChar char="⁃"/>
              <a:defRPr sz="1300">
                <a:latin typeface="Palatino"/>
                <a:ea typeface="Palatino"/>
                <a:cs typeface="Palatino"/>
                <a:sym typeface="Palatino"/>
              </a:defRPr>
            </a:pPr>
            <a:endParaRPr lang="ru-RU" sz="2400" dirty="0"/>
          </a:p>
          <a:p>
            <a:pPr marL="182540" indent="-182540" defTabSz="192524">
              <a:spcBef>
                <a:spcPts val="0"/>
              </a:spcBef>
              <a:buFont typeface="Helvetica Neue"/>
              <a:buChar char="⁃"/>
              <a:defRPr sz="1300">
                <a:latin typeface="Palatino"/>
                <a:ea typeface="Palatino"/>
                <a:cs typeface="Palatino"/>
                <a:sym typeface="Palatino"/>
              </a:defRPr>
            </a:pPr>
            <a:endParaRPr lang="ru-RU" sz="2400" dirty="0"/>
          </a:p>
          <a:p>
            <a:pPr marL="0" indent="0" defTabSz="192524">
              <a:spcBef>
                <a:spcPts val="0"/>
              </a:spcBef>
              <a:buSzTx/>
              <a:buNone/>
              <a:defRPr sz="1300">
                <a:latin typeface="Palatino"/>
                <a:ea typeface="Palatino"/>
                <a:cs typeface="Palatino"/>
                <a:sym typeface="Palatino"/>
              </a:defRPr>
            </a:pPr>
            <a:r>
              <a:rPr lang="ru-RU" sz="2400" dirty="0"/>
              <a:t>период беременности </a:t>
            </a:r>
          </a:p>
          <a:p>
            <a:pPr marL="0" indent="0" defTabSz="192524">
              <a:spcBef>
                <a:spcPts val="0"/>
              </a:spcBef>
              <a:buSzTx/>
              <a:buNone/>
              <a:defRPr sz="1300">
                <a:latin typeface="Palatino"/>
                <a:ea typeface="Palatino"/>
                <a:cs typeface="Palatino"/>
                <a:sym typeface="Palatino"/>
              </a:defRPr>
            </a:pPr>
            <a:endParaRPr lang="ru-RU" sz="2400" dirty="0"/>
          </a:p>
          <a:p>
            <a:pPr marL="182540" indent="-182540" defTabSz="192524">
              <a:spcBef>
                <a:spcPts val="0"/>
              </a:spcBef>
              <a:buFont typeface="Helvetica Neue"/>
              <a:buChar char="⁃"/>
              <a:defRPr sz="1300">
                <a:latin typeface="Palatino"/>
                <a:ea typeface="Palatino"/>
                <a:cs typeface="Palatino"/>
                <a:sym typeface="Palatino"/>
              </a:defRPr>
            </a:pPr>
            <a:r>
              <a:rPr lang="ru-RU" sz="2400" dirty="0"/>
              <a:t>Можно ли и когда </a:t>
            </a:r>
          </a:p>
          <a:p>
            <a:pPr marL="182540" indent="-182540" defTabSz="192524">
              <a:spcBef>
                <a:spcPts val="0"/>
              </a:spcBef>
              <a:buFont typeface="Helvetica Neue"/>
              <a:buChar char="⁃"/>
              <a:defRPr sz="1300">
                <a:latin typeface="Palatino"/>
                <a:ea typeface="Palatino"/>
                <a:cs typeface="Palatino"/>
                <a:sym typeface="Palatino"/>
              </a:defRPr>
            </a:pPr>
            <a:r>
              <a:rPr lang="ru-RU" sz="2400" dirty="0"/>
              <a:t>Хочется ли и нормально ли это </a:t>
            </a:r>
          </a:p>
          <a:p>
            <a:pPr marL="182540" indent="-182540" defTabSz="192524">
              <a:spcBef>
                <a:spcPts val="0"/>
              </a:spcBef>
              <a:buFont typeface="Helvetica Neue"/>
              <a:buChar char="⁃"/>
              <a:defRPr sz="1300">
                <a:latin typeface="Palatino"/>
                <a:ea typeface="Palatino"/>
                <a:cs typeface="Palatino"/>
                <a:sym typeface="Palatino"/>
              </a:defRPr>
            </a:pPr>
            <a:r>
              <a:rPr lang="ru-RU" sz="2400" dirty="0"/>
              <a:t>Что делать, если не хочется </a:t>
            </a:r>
          </a:p>
          <a:p>
            <a:pPr marL="182540" indent="-182540" defTabSz="192524">
              <a:spcBef>
                <a:spcPts val="0"/>
              </a:spcBef>
              <a:buFont typeface="Helvetica Neue"/>
              <a:buChar char="⁃"/>
              <a:defRPr sz="1300">
                <a:latin typeface="Palatino"/>
                <a:ea typeface="Palatino"/>
                <a:cs typeface="Palatino"/>
                <a:sym typeface="Palatino"/>
              </a:defRPr>
            </a:pPr>
            <a:r>
              <a:rPr lang="ru-RU" sz="2400" dirty="0"/>
              <a:t>Как поддержать и развить сексуальность</a:t>
            </a:r>
          </a:p>
          <a:p>
            <a:pPr marL="0" indent="0">
              <a:buNone/>
            </a:pPr>
            <a:endParaRPr lang="ru-RU" dirty="0"/>
          </a:p>
        </p:txBody>
      </p:sp>
    </p:spTree>
    <p:extLst>
      <p:ext uri="{BB962C8B-B14F-4D97-AF65-F5344CB8AC3E}">
        <p14:creationId xmlns:p14="http://schemas.microsoft.com/office/powerpoint/2010/main" val="372012854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457200" y="238539"/>
            <a:ext cx="10896600" cy="6400800"/>
          </a:xfrm>
        </p:spPr>
        <p:txBody>
          <a:bodyPr>
            <a:normAutofit fontScale="40000" lnSpcReduction="20000"/>
          </a:bodyPr>
          <a:lstStyle/>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В течении всей беременности при нормальных показателях, сексом заниматься можно, если нет никак противопоказаний от врача. О противопоказаниях может сказать только врач! </a:t>
            </a: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Противопоказания возникают, при угрозе не вынашивания беременности. </a:t>
            </a: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У мужчины функция во время бренности, охранительная. То есть это тот человека, которому важно доверять. </a:t>
            </a: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Если есть противопоказания, то партнерам важно договориться. (Как они будут воздерживаться) </a:t>
            </a: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При нормальной беременности, хочется заниматься сексом. </a:t>
            </a: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0" indent="0" defTabSz="250031">
              <a:spcBef>
                <a:spcPts val="0"/>
              </a:spcBef>
              <a:buSzTx/>
              <a:buNone/>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5500" dirty="0">
                <a:latin typeface="Times New Roman" panose="02020603050405020304" pitchFamily="18" charset="0"/>
                <a:cs typeface="Times New Roman" panose="02020603050405020304" pitchFamily="18" charset="0"/>
              </a:rPr>
              <a:t>Если не хочется заниматься сексом, то важно выяснить причину. </a:t>
            </a:r>
          </a:p>
          <a:p>
            <a:pPr marL="101317" indent="-101317" defTabSz="250031">
              <a:spcBef>
                <a:spcPts val="0"/>
              </a:spcBef>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endParaRPr lang="ru-RU" sz="5500" dirty="0">
              <a:latin typeface="Times New Roman" panose="02020603050405020304" pitchFamily="18" charset="0"/>
              <a:cs typeface="Times New Roman" panose="02020603050405020304" pitchFamily="18" charset="0"/>
            </a:endParaRPr>
          </a:p>
          <a:p>
            <a:pPr marL="0" indent="0" defTabSz="457200">
              <a:lnSpc>
                <a:spcPts val="3500"/>
              </a:lnSpc>
              <a:spcBef>
                <a:spcPts val="0"/>
              </a:spcBef>
              <a:buSzTx/>
              <a:buFontTx/>
              <a:buNone/>
              <a:defRPr sz="1466">
                <a:latin typeface="+mj-lt"/>
                <a:ea typeface="+mj-ea"/>
                <a:cs typeface="+mj-cs"/>
                <a:sym typeface="Helvetica"/>
              </a:defRPr>
            </a:pPr>
            <a:r>
              <a:rPr lang="ru-RU" sz="5500" dirty="0">
                <a:latin typeface="Times New Roman" panose="02020603050405020304" pitchFamily="18" charset="0"/>
                <a:cs typeface="Times New Roman" panose="02020603050405020304" pitchFamily="18" charset="0"/>
                <a:sym typeface="Helvetica"/>
              </a:rPr>
              <a:t> Беременных и с эндокринном нарушением ведем только в содружестве с врачами) </a:t>
            </a:r>
          </a:p>
          <a:p>
            <a:pPr marL="0" indent="0">
              <a:buNone/>
            </a:pPr>
            <a:endParaRPr lang="ru-RU" dirty="0"/>
          </a:p>
        </p:txBody>
      </p:sp>
    </p:spTree>
    <p:extLst>
      <p:ext uri="{BB962C8B-B14F-4D97-AF65-F5344CB8AC3E}">
        <p14:creationId xmlns:p14="http://schemas.microsoft.com/office/powerpoint/2010/main" val="246158102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457200" y="238539"/>
            <a:ext cx="10896600" cy="6400800"/>
          </a:xfrm>
        </p:spPr>
        <p:txBody>
          <a:bodyPr>
            <a:normAutofit lnSpcReduction="10000"/>
          </a:bodyPr>
          <a:lstStyle/>
          <a:p>
            <a:pPr marL="0" indent="0">
              <a:buNone/>
            </a:pPr>
            <a:r>
              <a:rPr lang="ru-RU" b="1" dirty="0">
                <a:latin typeface="Times New Roman" panose="02020603050405020304" pitchFamily="18" charset="0"/>
                <a:cs typeface="Times New Roman" panose="02020603050405020304" pitchFamily="18" charset="0"/>
              </a:rPr>
              <a:t>После родов</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Рекомендация, секс не планировать.</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Но планировать ситуацию побыть вдвоем. </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Случится или нет, это не так важно. </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Важно сохранять именно, личное время пары. </a:t>
            </a: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Важно: Время, место, помощники. </a:t>
            </a:r>
          </a:p>
          <a:p>
            <a:pPr marL="0" indent="0" defTabSz="250031">
              <a:spcBef>
                <a:spcPts val="0"/>
              </a:spcBef>
              <a:buSzTx/>
              <a:buNone/>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Оцениваем силы, желание, настроение. </a:t>
            </a: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Во время родительства важно и нужно развить сексуальность. </a:t>
            </a:r>
          </a:p>
          <a:p>
            <a:pPr marL="0" indent="0" defTabSz="250031">
              <a:spcBef>
                <a:spcPts val="0"/>
              </a:spcBef>
              <a:buSzTx/>
              <a:buNone/>
              <a:defRPr sz="14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Сохранить </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Восстановить </a:t>
            </a:r>
          </a:p>
          <a:p>
            <a:pPr marL="226289" indent="-226289" defTabSz="250031">
              <a:spcBef>
                <a:spcPts val="0"/>
              </a:spcBef>
              <a:buFont typeface="Helvetica Neue"/>
              <a:buChar char="⁃"/>
              <a:defRPr sz="14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Развить </a:t>
            </a:r>
          </a:p>
        </p:txBody>
      </p:sp>
    </p:spTree>
    <p:extLst>
      <p:ext uri="{BB962C8B-B14F-4D97-AF65-F5344CB8AC3E}">
        <p14:creationId xmlns:p14="http://schemas.microsoft.com/office/powerpoint/2010/main" val="31804531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457200" y="238539"/>
            <a:ext cx="10896600" cy="6400800"/>
          </a:xfrm>
        </p:spPr>
        <p:txBody>
          <a:bodyPr>
            <a:normAutofit/>
          </a:bodyPr>
          <a:lstStyle/>
          <a:p>
            <a:pPr marL="0" indent="0" defTabSz="235028">
              <a:spcBef>
                <a:spcPts val="0"/>
              </a:spcBef>
              <a:buSzTx/>
              <a:buNone/>
              <a:defRPr sz="1100">
                <a:latin typeface="Helvetica Neue"/>
                <a:ea typeface="Helvetica Neue"/>
                <a:cs typeface="Helvetica Neue"/>
                <a:sym typeface="Helvetica Neue"/>
              </a:defRPr>
            </a:pPr>
            <a:r>
              <a:rPr lang="ru-RU" sz="2400" b="1" dirty="0">
                <a:latin typeface="Times New Roman" panose="02020603050405020304" pitchFamily="18" charset="0"/>
                <a:cs typeface="Times New Roman" panose="02020603050405020304" pitchFamily="18" charset="0"/>
              </a:rPr>
              <a:t>После родов если пропало желание у одного из партнеров</a:t>
            </a:r>
            <a:endParaRPr lang="ru-RU" sz="2400" dirty="0">
              <a:latin typeface="Times New Roman" panose="02020603050405020304" pitchFamily="18" charset="0"/>
              <a:cs typeface="Times New Roman" panose="02020603050405020304" pitchFamily="18" charset="0"/>
            </a:endParaRPr>
          </a:p>
          <a:p>
            <a:pPr marL="0" indent="0" defTabSz="235028">
              <a:spcBef>
                <a:spcPts val="0"/>
              </a:spcBef>
              <a:buSzTx/>
              <a:buNone/>
              <a:defRPr sz="1100">
                <a:latin typeface="Helvetica Neue"/>
                <a:ea typeface="Helvetica Neue"/>
                <a:cs typeface="Helvetica Neue"/>
                <a:sym typeface="Helvetica Neue"/>
              </a:defRPr>
            </a:pPr>
            <a:endParaRPr lang="ru-RU" sz="2400" dirty="0">
              <a:latin typeface="Times New Roman" panose="02020603050405020304" pitchFamily="18" charset="0"/>
              <a:cs typeface="Times New Roman" panose="02020603050405020304" pitchFamily="18" charset="0"/>
            </a:endParaRPr>
          </a:p>
          <a:p>
            <a:pPr marL="0" indent="0" defTabSz="235028">
              <a:spcBef>
                <a:spcPts val="0"/>
              </a:spcBef>
              <a:buSzTx/>
              <a:buNone/>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Выясняем причину. </a:t>
            </a:r>
          </a:p>
          <a:p>
            <a:pPr marL="0" indent="0" defTabSz="235028">
              <a:spcBef>
                <a:spcPts val="0"/>
              </a:spcBef>
              <a:buSzTx/>
              <a:buNone/>
              <a:defRPr sz="15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Утомленность </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Апатия </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Нарушения здоровья</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Тревожность </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Депрессия </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Определенные события </a:t>
            </a:r>
          </a:p>
          <a:p>
            <a:pPr marL="222841" indent="-222841" defTabSz="235028">
              <a:spcBef>
                <a:spcPts val="0"/>
              </a:spcBef>
              <a:buFont typeface="Helvetica Neue"/>
              <a:buChar char="⁃"/>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Неосознаваемые процессы</a:t>
            </a:r>
          </a:p>
          <a:p>
            <a:pPr marL="0" indent="0" defTabSz="235028">
              <a:spcBef>
                <a:spcPts val="0"/>
              </a:spcBef>
              <a:buSzTx/>
              <a:buNone/>
              <a:defRPr sz="15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35028">
              <a:spcBef>
                <a:spcPts val="0"/>
              </a:spcBef>
              <a:buSzTx/>
              <a:buNone/>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Выявляем где копятся негативные эмоции. </a:t>
            </a:r>
          </a:p>
          <a:p>
            <a:pPr marL="0" indent="0" defTabSz="235028">
              <a:spcBef>
                <a:spcPts val="0"/>
              </a:spcBef>
              <a:buSzTx/>
              <a:buNone/>
              <a:defRPr sz="15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35028">
              <a:spcBef>
                <a:spcPts val="0"/>
              </a:spcBef>
              <a:buSzTx/>
              <a:buNone/>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Клиент научается взаимодействовать с ними. </a:t>
            </a:r>
          </a:p>
          <a:p>
            <a:pPr marL="0" indent="0" defTabSz="235028">
              <a:spcBef>
                <a:spcPts val="0"/>
              </a:spcBef>
              <a:buSzTx/>
              <a:buNone/>
              <a:defRPr sz="15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35028">
              <a:spcBef>
                <a:spcPts val="0"/>
              </a:spcBef>
              <a:buSzTx/>
              <a:buNone/>
              <a:defRPr sz="15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Далее наполняем хорошими эмоции. </a:t>
            </a:r>
          </a:p>
        </p:txBody>
      </p:sp>
    </p:spTree>
    <p:extLst>
      <p:ext uri="{BB962C8B-B14F-4D97-AF65-F5344CB8AC3E}">
        <p14:creationId xmlns:p14="http://schemas.microsoft.com/office/powerpoint/2010/main" val="121071619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9ECD56BD-082C-2FF5-C9E2-686E09088591}"/>
              </a:ext>
            </a:extLst>
          </p:cNvPr>
          <p:cNvSpPr>
            <a:spLocks noGrp="1"/>
          </p:cNvSpPr>
          <p:nvPr>
            <p:ph idx="1"/>
          </p:nvPr>
        </p:nvSpPr>
        <p:spPr>
          <a:xfrm>
            <a:off x="457200" y="238539"/>
            <a:ext cx="10896600" cy="6400800"/>
          </a:xfrm>
        </p:spPr>
        <p:txBody>
          <a:bodyPr>
            <a:normAutofit/>
          </a:bodyPr>
          <a:lstStyle/>
          <a:p>
            <a:pPr marL="0" indent="0" defTabSz="235028">
              <a:spcBef>
                <a:spcPts val="0"/>
              </a:spcBef>
              <a:buSzTx/>
              <a:buNone/>
              <a:defRPr sz="1100">
                <a:latin typeface="Helvetica Neue"/>
                <a:ea typeface="Helvetica Neue"/>
                <a:cs typeface="Helvetica Neue"/>
                <a:sym typeface="Helvetica Neue"/>
              </a:defRPr>
            </a:pPr>
            <a:r>
              <a:rPr lang="ru-RU" sz="3200" b="1" dirty="0">
                <a:latin typeface="Times New Roman" panose="02020603050405020304" pitchFamily="18" charset="0"/>
                <a:cs typeface="Times New Roman" panose="02020603050405020304" pitchFamily="18" charset="0"/>
              </a:rPr>
              <a:t>Причины отсутствия желания у женщины</a:t>
            </a:r>
          </a:p>
          <a:p>
            <a:pPr marL="0" indent="0" defTabSz="235028">
              <a:spcBef>
                <a:spcPts val="0"/>
              </a:spcBef>
              <a:buSzTx/>
              <a:buNone/>
              <a:defRPr sz="1100">
                <a:latin typeface="Helvetica Neue"/>
                <a:ea typeface="Helvetica Neue"/>
                <a:cs typeface="Helvetica Neue"/>
                <a:sym typeface="Helvetica Neue"/>
              </a:defRPr>
            </a:pPr>
            <a:endParaRPr lang="ru-RU" sz="2400" b="1" dirty="0">
              <a:latin typeface="Times New Roman" panose="02020603050405020304" pitchFamily="18" charset="0"/>
              <a:cs typeface="Times New Roman" panose="02020603050405020304" pitchFamily="18" charset="0"/>
            </a:endParaRP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Гормональные изменения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Тревожность за ребенка </a:t>
            </a:r>
            <a:r>
              <a:rPr lang="ru-RU" i="1" dirty="0">
                <a:latin typeface="Times New Roman" panose="02020603050405020304" pitchFamily="18" charset="0"/>
                <a:cs typeface="Times New Roman" panose="02020603050405020304" pitchFamily="18" charset="0"/>
              </a:rPr>
              <a:t>(за родительскую роль) </a:t>
            </a:r>
            <a:r>
              <a:rPr lang="ru-RU" dirty="0">
                <a:latin typeface="Times New Roman" panose="02020603050405020304" pitchFamily="18" charset="0"/>
                <a:cs typeface="Times New Roman" panose="02020603050405020304" pitchFamily="18" charset="0"/>
              </a:rPr>
              <a:t>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Хроническая усталость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Страх боли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Образ тела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Психологические проблемы </a:t>
            </a:r>
          </a:p>
          <a:p>
            <a:pPr marL="301752" indent="-301752" defTabSz="804672">
              <a:spcBef>
                <a:spcPts val="500"/>
              </a:spcBef>
              <a:defRPr sz="2464"/>
            </a:pPr>
            <a:r>
              <a:rPr lang="ru-RU" dirty="0">
                <a:latin typeface="Times New Roman" panose="02020603050405020304" pitchFamily="18" charset="0"/>
                <a:cs typeface="Times New Roman" panose="02020603050405020304" pitchFamily="18" charset="0"/>
              </a:rPr>
              <a:t>Самоосуждение за за отсутствие влечения </a:t>
            </a:r>
          </a:p>
        </p:txBody>
      </p:sp>
    </p:spTree>
    <p:extLst>
      <p:ext uri="{BB962C8B-B14F-4D97-AF65-F5344CB8AC3E}">
        <p14:creationId xmlns:p14="http://schemas.microsoft.com/office/powerpoint/2010/main" val="28010814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9D167D-B2DC-8555-E8A5-8933EDFFBB27}"/>
              </a:ext>
            </a:extLst>
          </p:cNvPr>
          <p:cNvSpPr>
            <a:spLocks noGrp="1"/>
          </p:cNvSpPr>
          <p:nvPr>
            <p:ph type="title"/>
          </p:nvPr>
        </p:nvSpPr>
        <p:spPr>
          <a:xfrm>
            <a:off x="838200" y="365125"/>
            <a:ext cx="10515600" cy="529397"/>
          </a:xfrm>
        </p:spPr>
        <p:txBody>
          <a:bodyPr>
            <a:normAutofit fontScale="90000"/>
          </a:bodyPr>
          <a:lstStyle/>
          <a:p>
            <a:r>
              <a:rPr lang="ru-RU" dirty="0">
                <a:latin typeface="Times New Roman" panose="02020603050405020304" pitchFamily="18" charset="0"/>
                <a:cs typeface="Times New Roman" panose="02020603050405020304" pitchFamily="18" charset="0"/>
              </a:rPr>
              <a:t>Что делать?</a:t>
            </a:r>
          </a:p>
        </p:txBody>
      </p:sp>
      <p:sp>
        <p:nvSpPr>
          <p:cNvPr id="3" name="Объект 2">
            <a:extLst>
              <a:ext uri="{FF2B5EF4-FFF2-40B4-BE49-F238E27FC236}">
                <a16:creationId xmlns:a16="http://schemas.microsoft.com/office/drawing/2014/main" id="{FAF0F711-E70B-EDC7-DADF-8CE44D3F5602}"/>
              </a:ext>
            </a:extLst>
          </p:cNvPr>
          <p:cNvSpPr>
            <a:spLocks noGrp="1"/>
          </p:cNvSpPr>
          <p:nvPr>
            <p:ph idx="1"/>
          </p:nvPr>
        </p:nvSpPr>
        <p:spPr>
          <a:xfrm>
            <a:off x="238539" y="1232452"/>
            <a:ext cx="11728174" cy="4939748"/>
          </a:xfrm>
        </p:spPr>
        <p:txBody>
          <a:bodyPr>
            <a:noAutofit/>
          </a:bodyPr>
          <a:lstStyle/>
          <a:p>
            <a:pPr marL="0" indent="0" defTabSz="250031">
              <a:spcBef>
                <a:spcPts val="0"/>
              </a:spcBef>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Учим партнера озвучивать новы потребности (с новыми функциями, возникают новые потребности).  </a:t>
            </a:r>
          </a:p>
          <a:p>
            <a:pPr marL="0" indent="0" defTabSz="250031">
              <a:spcBef>
                <a:spcPts val="0"/>
              </a:spcBef>
              <a:buSzTx/>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Помним и рассказываем клиенту: в  состоявшейся паре при отсутствии физических нарушений, очень малая часть сексуальных проблем будет связана с физиологией. Как правило, в супружеском сексе отражаются уже проблемы </a:t>
            </a:r>
            <a:r>
              <a:rPr lang="ru-RU" sz="2400" dirty="0" err="1">
                <a:latin typeface="Times New Roman" panose="02020603050405020304" pitchFamily="18" charset="0"/>
                <a:cs typeface="Times New Roman" panose="02020603050405020304" pitchFamily="18" charset="0"/>
              </a:rPr>
              <a:t>предидущих</a:t>
            </a:r>
            <a:r>
              <a:rPr lang="ru-RU" sz="2400" dirty="0">
                <a:latin typeface="Times New Roman" panose="02020603050405020304" pitchFamily="18" charset="0"/>
                <a:cs typeface="Times New Roman" panose="02020603050405020304" pitchFamily="18" charset="0"/>
              </a:rPr>
              <a:t> двух пластов (социальных отношений и эмоциональных отношений). </a:t>
            </a:r>
          </a:p>
          <a:p>
            <a:pPr marL="0" indent="0" defTabSz="250031">
              <a:spcBef>
                <a:spcPts val="0"/>
              </a:spcBef>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Смотрим в первую очередь на роли. Ищем уровень на котором есть недовольство. </a:t>
            </a:r>
          </a:p>
          <a:p>
            <a:pPr marL="0" indent="0" defTabSz="250031">
              <a:spcBef>
                <a:spcPts val="0"/>
              </a:spcBef>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Выясняем , что у партнеров с ценностью, как протекает общение.  </a:t>
            </a:r>
          </a:p>
          <a:p>
            <a:pPr marL="0" indent="0" defTabSz="250031">
              <a:spcBef>
                <a:spcPts val="0"/>
              </a:spcBef>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Обычно недовольство у женщины возникает из за отсутствия поддержки со стороны мужчины. Поскольку женский секс более эмоционален, то у нее все будет отражаться в сексуальной сфере. </a:t>
            </a:r>
          </a:p>
        </p:txBody>
      </p:sp>
    </p:spTree>
    <p:extLst>
      <p:ext uri="{BB962C8B-B14F-4D97-AF65-F5344CB8AC3E}">
        <p14:creationId xmlns:p14="http://schemas.microsoft.com/office/powerpoint/2010/main" val="35760587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BB4E689-B0C8-A0B6-77CF-36314DA559D3}"/>
              </a:ext>
            </a:extLst>
          </p:cNvPr>
          <p:cNvSpPr>
            <a:spLocks noGrp="1"/>
          </p:cNvSpPr>
          <p:nvPr>
            <p:ph idx="1"/>
          </p:nvPr>
        </p:nvSpPr>
        <p:spPr>
          <a:xfrm>
            <a:off x="838200" y="159026"/>
            <a:ext cx="10515600" cy="6013174"/>
          </a:xfrm>
        </p:spPr>
        <p:txBody>
          <a:bodyPr>
            <a:normAutofit/>
          </a:bodyPr>
          <a:lstStyle/>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Сон, ставим как приоритет. </a:t>
            </a: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«Стремление к идеальному материнству». </a:t>
            </a:r>
          </a:p>
          <a:p>
            <a:pPr marL="541421" lvl="1" indent="-160420" defTabSz="250031">
              <a:spcBef>
                <a:spcPts val="0"/>
              </a:spcBef>
              <a:buSzPct val="60000"/>
              <a:buBlip>
                <a:blip r:embed="rId2"/>
              </a:buBlip>
              <a:defRPr sz="1600">
                <a:latin typeface="Palatino"/>
                <a:ea typeface="Palatino"/>
                <a:cs typeface="Palatino"/>
                <a:sym typeface="Palatino"/>
              </a:defRPr>
            </a:pPr>
            <a:r>
              <a:rPr lang="ru-RU" dirty="0">
                <a:latin typeface="Times New Roman" panose="02020603050405020304" pitchFamily="18" charset="0"/>
                <a:cs typeface="Times New Roman" panose="02020603050405020304" pitchFamily="18" charset="0"/>
              </a:rPr>
              <a:t>Не хотим быть похожими на мам. </a:t>
            </a:r>
          </a:p>
          <a:p>
            <a:pPr marL="541421" lvl="1" indent="-160420" defTabSz="250031">
              <a:spcBef>
                <a:spcPts val="0"/>
              </a:spcBef>
              <a:buSzPct val="60000"/>
              <a:buBlip>
                <a:blip r:embed="rId2"/>
              </a:buBlip>
              <a:defRPr sz="1600">
                <a:latin typeface="Palatino"/>
                <a:ea typeface="Palatino"/>
                <a:cs typeface="Palatino"/>
                <a:sym typeface="Palatino"/>
              </a:defRPr>
            </a:pPr>
            <a:r>
              <a:rPr lang="ru-RU" dirty="0">
                <a:latin typeface="Times New Roman" panose="02020603050405020304" pitchFamily="18" charset="0"/>
                <a:cs typeface="Times New Roman" panose="02020603050405020304" pitchFamily="18" charset="0"/>
              </a:rPr>
              <a:t>Знает про психологические травмы. </a:t>
            </a:r>
          </a:p>
          <a:p>
            <a:pPr marL="541421" lvl="1" indent="-160420" defTabSz="250031">
              <a:spcBef>
                <a:spcPts val="0"/>
              </a:spcBef>
              <a:buSzPct val="60000"/>
              <a:buBlip>
                <a:blip r:embed="rId2"/>
              </a:buBlip>
              <a:defRPr sz="1600">
                <a:latin typeface="Palatino"/>
                <a:ea typeface="Palatino"/>
                <a:cs typeface="Palatino"/>
                <a:sym typeface="Palatino"/>
              </a:defRPr>
            </a:pPr>
            <a:r>
              <a:rPr lang="ru-RU" dirty="0">
                <a:latin typeface="Times New Roman" panose="02020603050405020304" pitchFamily="18" charset="0"/>
                <a:cs typeface="Times New Roman" panose="02020603050405020304" pitchFamily="18" charset="0"/>
              </a:rPr>
              <a:t>Не реалистичные ожидания от самой себя.</a:t>
            </a:r>
          </a:p>
          <a:p>
            <a:pPr marL="541421" lvl="1" indent="-160420" defTabSz="250031">
              <a:spcBef>
                <a:spcPts val="0"/>
              </a:spcBef>
              <a:buSzPct val="60000"/>
              <a:buBlip>
                <a:blip r:embed="rId2"/>
              </a:buBlip>
              <a:defRPr sz="1600">
                <a:latin typeface="Palatino"/>
                <a:ea typeface="Palatino"/>
                <a:cs typeface="Palatino"/>
                <a:sym typeface="Palatino"/>
              </a:defRPr>
            </a:pPr>
            <a:r>
              <a:rPr lang="ru-RU" dirty="0">
                <a:latin typeface="Times New Roman" panose="02020603050405020304" pitchFamily="18" charset="0"/>
                <a:cs typeface="Times New Roman" panose="02020603050405020304" pitchFamily="18" charset="0"/>
              </a:rPr>
              <a:t>Чувство вины за то что не соответствует.</a:t>
            </a:r>
          </a:p>
          <a:p>
            <a:pPr marL="0" lvl="1" indent="228600" defTabSz="250031">
              <a:spcBef>
                <a:spcPts val="0"/>
              </a:spcBef>
              <a:buSzTx/>
              <a:buNone/>
              <a:defRPr sz="1600">
                <a:latin typeface="Palatino"/>
                <a:ea typeface="Palatino"/>
                <a:cs typeface="Palatino"/>
                <a:sym typeface="Palatino"/>
              </a:defRPr>
            </a:pPr>
            <a:r>
              <a:rPr lang="ru-RU" dirty="0">
                <a:latin typeface="Times New Roman" panose="02020603050405020304" pitchFamily="18" charset="0"/>
                <a:cs typeface="Times New Roman" panose="02020603050405020304" pitchFamily="18" charset="0"/>
              </a:rPr>
              <a:t>Что делаем: </a:t>
            </a:r>
          </a:p>
          <a:p>
            <a:pPr marL="0" indent="0" defTabSz="250031">
              <a:spcBef>
                <a:spcPts val="0"/>
              </a:spcBef>
              <a:buSzTx/>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Снижаем требования к самой себе. </a:t>
            </a: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Грустить, что вы не идеальная мама</a:t>
            </a: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Вы травмируете ребенка (любое детство это травма). </a:t>
            </a: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Учим поддерживать саму себя</a:t>
            </a:r>
          </a:p>
          <a:p>
            <a:pPr marL="171450" indent="-171450" defTabSz="250031">
              <a:spcBef>
                <a:spcPts val="0"/>
              </a:spcBef>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Если был выкидыш то работаем с горем. </a:t>
            </a:r>
          </a:p>
          <a:p>
            <a:pPr marL="0" indent="0" defTabSz="250031">
              <a:spcBef>
                <a:spcPts val="0"/>
              </a:spcBef>
              <a:buSzTx/>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Смотрим почему мама не может отключится от ребенка. (Действительно ли это так? Выясняем причины, или у нее </a:t>
            </a:r>
            <a:r>
              <a:rPr lang="ru-RU" sz="2400" dirty="0" err="1">
                <a:latin typeface="Times New Roman" panose="02020603050405020304" pitchFamily="18" charset="0"/>
                <a:cs typeface="Times New Roman" panose="02020603050405020304" pitchFamily="18" charset="0"/>
              </a:rPr>
              <a:t>гиперопека</a:t>
            </a:r>
            <a:r>
              <a:rPr lang="ru-RU" sz="2400" dirty="0">
                <a:latin typeface="Times New Roman" panose="02020603050405020304" pitchFamily="18" charset="0"/>
                <a:cs typeface="Times New Roman" panose="02020603050405020304" pitchFamily="18" charset="0"/>
              </a:rPr>
              <a:t>., невротический симбиоз)  </a:t>
            </a:r>
          </a:p>
        </p:txBody>
      </p:sp>
    </p:spTree>
    <p:extLst>
      <p:ext uri="{BB962C8B-B14F-4D97-AF65-F5344CB8AC3E}">
        <p14:creationId xmlns:p14="http://schemas.microsoft.com/office/powerpoint/2010/main" val="256029924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BA6D8F5-17A4-4024-545D-ECEDDCF90F40}"/>
              </a:ext>
            </a:extLst>
          </p:cNvPr>
          <p:cNvSpPr>
            <a:spLocks noGrp="1"/>
          </p:cNvSpPr>
          <p:nvPr>
            <p:ph type="title"/>
          </p:nvPr>
        </p:nvSpPr>
        <p:spPr/>
        <p:txBody>
          <a:bodyPr/>
          <a:lstStyle/>
          <a:p>
            <a:r>
              <a:rPr lang="ru-RU" dirty="0"/>
              <a:t>Мужчина и роды</a:t>
            </a:r>
          </a:p>
        </p:txBody>
      </p:sp>
      <p:sp>
        <p:nvSpPr>
          <p:cNvPr id="3" name="Объект 2">
            <a:extLst>
              <a:ext uri="{FF2B5EF4-FFF2-40B4-BE49-F238E27FC236}">
                <a16:creationId xmlns:a16="http://schemas.microsoft.com/office/drawing/2014/main" id="{C617BE77-9BC2-A39E-87C7-2E9C3BEBC21F}"/>
              </a:ext>
            </a:extLst>
          </p:cNvPr>
          <p:cNvSpPr>
            <a:spLocks noGrp="1"/>
          </p:cNvSpPr>
          <p:nvPr>
            <p:ph idx="1"/>
          </p:nvPr>
        </p:nvSpPr>
        <p:spPr/>
        <p:txBody>
          <a:bodyPr>
            <a:normAutofit/>
          </a:bodyPr>
          <a:lstStyle/>
          <a:p>
            <a:pPr marL="237066" indent="-237066" defTabSz="250031">
              <a:spcBef>
                <a:spcPts val="0"/>
              </a:spcBef>
              <a:buFont typeface="Helvetica Neue"/>
              <a:buChar char="⁃"/>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Рост ответственности </a:t>
            </a:r>
          </a:p>
          <a:p>
            <a:pPr marL="237066" indent="-237066" defTabSz="250031">
              <a:spcBef>
                <a:spcPts val="0"/>
              </a:spcBef>
              <a:buFont typeface="Helvetica Neue"/>
              <a:buChar char="⁃"/>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Вина, « моя женщина несчастная»</a:t>
            </a:r>
          </a:p>
          <a:p>
            <a:pPr marL="237066" indent="-237066" defTabSz="250031">
              <a:spcBef>
                <a:spcPts val="0"/>
              </a:spcBef>
              <a:buFont typeface="Helvetica Neue"/>
              <a:buChar char="⁃"/>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Принимает недовольство женщины на личный счет </a:t>
            </a:r>
          </a:p>
          <a:p>
            <a:pPr marL="237066" indent="-237066" defTabSz="250031">
              <a:spcBef>
                <a:spcPts val="0"/>
              </a:spcBef>
              <a:buFont typeface="Helvetica Neue"/>
              <a:buChar char="⁃"/>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Чувствует свою не нужность и </a:t>
            </a:r>
            <a:r>
              <a:rPr lang="ru-RU" sz="2400" dirty="0" err="1">
                <a:latin typeface="Times New Roman" panose="02020603050405020304" pitchFamily="18" charset="0"/>
                <a:cs typeface="Times New Roman" panose="02020603050405020304" pitchFamily="18" charset="0"/>
              </a:rPr>
              <a:t>использованность</a:t>
            </a:r>
            <a:r>
              <a:rPr lang="ru-RU" sz="2400" dirty="0">
                <a:latin typeface="Times New Roman" panose="02020603050405020304" pitchFamily="18" charset="0"/>
                <a:cs typeface="Times New Roman" panose="02020603050405020304" pitchFamily="18" charset="0"/>
              </a:rPr>
              <a:t>, не значимость. </a:t>
            </a:r>
          </a:p>
          <a:p>
            <a:pPr marL="237066" indent="-237066" defTabSz="250031">
              <a:spcBef>
                <a:spcPts val="0"/>
              </a:spcBef>
              <a:buFont typeface="Helvetica Neue"/>
              <a:buChar char="⁃"/>
              <a:defRPr sz="16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Теряет связь с женщиной и начинает выделять в ней только мать ребенка. </a:t>
            </a:r>
          </a:p>
          <a:p>
            <a:pPr marL="0" indent="0" defTabSz="250031">
              <a:spcBef>
                <a:spcPts val="0"/>
              </a:spcBef>
              <a:buNone/>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237066" indent="-237066" defTabSz="250031">
              <a:spcBef>
                <a:spcPts val="0"/>
              </a:spcBef>
              <a:buFont typeface="Helvetica Neue"/>
              <a:buChar char="⁃"/>
              <a:defRPr sz="1600">
                <a:latin typeface="Palatino"/>
                <a:ea typeface="Palatino"/>
                <a:cs typeface="Palatino"/>
                <a:sym typeface="Palatino"/>
              </a:defRPr>
            </a:pPr>
            <a:endParaRPr lang="ru-RU" sz="2400" dirty="0">
              <a:latin typeface="Times New Roman" panose="02020603050405020304" pitchFamily="18" charset="0"/>
              <a:cs typeface="Times New Roman" panose="02020603050405020304" pitchFamily="18" charset="0"/>
            </a:endParaRPr>
          </a:p>
          <a:p>
            <a:pPr marL="0" indent="0" defTabSz="250031">
              <a:spcBef>
                <a:spcPts val="0"/>
              </a:spcBef>
              <a:buSzTx/>
              <a:buNone/>
              <a:defRPr sz="1200">
                <a:latin typeface="Palatino"/>
                <a:ea typeface="Palatino"/>
                <a:cs typeface="Palatino"/>
                <a:sym typeface="Palatino"/>
              </a:defRPr>
            </a:pPr>
            <a:r>
              <a:rPr lang="ru-RU" sz="2400" dirty="0">
                <a:latin typeface="Times New Roman" panose="02020603050405020304" pitchFamily="18" charset="0"/>
                <a:cs typeface="Times New Roman" panose="02020603050405020304" pitchFamily="18" charset="0"/>
              </a:rPr>
              <a:t>Мужчина может еще больше хотеть секса, так как не чувствует близости (это могла быть единственная форма его близости). </a:t>
            </a:r>
          </a:p>
        </p:txBody>
      </p:sp>
    </p:spTree>
    <p:extLst>
      <p:ext uri="{BB962C8B-B14F-4D97-AF65-F5344CB8AC3E}">
        <p14:creationId xmlns:p14="http://schemas.microsoft.com/office/powerpoint/2010/main" val="26330905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C9B9E7-5778-B25F-BF3E-4DD63500ADB7}"/>
              </a:ext>
            </a:extLst>
          </p:cNvPr>
          <p:cNvSpPr>
            <a:spLocks noGrp="1"/>
          </p:cNvSpPr>
          <p:nvPr>
            <p:ph type="title"/>
          </p:nvPr>
        </p:nvSpPr>
        <p:spPr>
          <a:xfrm>
            <a:off x="838200" y="365125"/>
            <a:ext cx="10515600" cy="668545"/>
          </a:xfrm>
        </p:spPr>
        <p:txBody>
          <a:bodyPr/>
          <a:lstStyle/>
          <a:p>
            <a:r>
              <a:rPr lang="ru-RU" dirty="0"/>
              <a:t>Стереотипы на этой стадии</a:t>
            </a:r>
          </a:p>
        </p:txBody>
      </p:sp>
      <p:sp>
        <p:nvSpPr>
          <p:cNvPr id="3" name="Объект 2">
            <a:extLst>
              <a:ext uri="{FF2B5EF4-FFF2-40B4-BE49-F238E27FC236}">
                <a16:creationId xmlns:a16="http://schemas.microsoft.com/office/drawing/2014/main" id="{EAF4BDC9-ABC5-49AF-F322-63CB227968F5}"/>
              </a:ext>
            </a:extLst>
          </p:cNvPr>
          <p:cNvSpPr>
            <a:spLocks noGrp="1"/>
          </p:cNvSpPr>
          <p:nvPr>
            <p:ph idx="1"/>
          </p:nvPr>
        </p:nvSpPr>
        <p:spPr>
          <a:xfrm>
            <a:off x="838200" y="1391478"/>
            <a:ext cx="10515600" cy="4780722"/>
          </a:xfrm>
        </p:spPr>
        <p:txBody>
          <a:bodyPr>
            <a:noAutofit/>
          </a:bodyPr>
          <a:lstStyle/>
          <a:p>
            <a:pPr marL="101317" indent="-101317" defTabSz="250031">
              <a:spcBef>
                <a:spcPts val="0"/>
              </a:spcBef>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Что секс нужен только мужчине. (нужен ли он был женщине или она подстраивалась) </a:t>
            </a:r>
          </a:p>
          <a:p>
            <a:pPr marL="0" indent="0" defTabSz="250031">
              <a:spcBef>
                <a:spcPts val="0"/>
              </a:spcBef>
              <a:buSzTx/>
              <a:buNone/>
              <a:defRPr sz="12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В отношениях НЕ должно быть конфликтов. </a:t>
            </a:r>
          </a:p>
          <a:p>
            <a:pPr marL="0" indent="0" defTabSz="250031">
              <a:spcBef>
                <a:spcPts val="0"/>
              </a:spcBef>
              <a:buSzTx/>
              <a:buNone/>
              <a:defRPr sz="12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0" indent="0" defTabSz="250031">
              <a:spcBef>
                <a:spcPts val="0"/>
              </a:spcBef>
              <a:buSzTx/>
              <a:buNone/>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Наоборот, в хороших парах не возможно без конфликтов. В хороших парах есть РАЗНОСТЬ людей! Они не стараются подстраиваться и делать вид, что они одинаковые. Они признают  что они разные, они не стремятся другого человека подвести под желаемый образ.  </a:t>
            </a:r>
          </a:p>
          <a:p>
            <a:pPr marL="0" indent="0" defTabSz="250031">
              <a:spcBef>
                <a:spcPts val="0"/>
              </a:spcBef>
              <a:buSzTx/>
              <a:buNone/>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Есть разные «хочу» </a:t>
            </a:r>
          </a:p>
          <a:p>
            <a:pPr marL="0" indent="0" defTabSz="250031">
              <a:spcBef>
                <a:spcPts val="0"/>
              </a:spcBef>
              <a:buSzTx/>
              <a:buNone/>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Идея что не должно быть конфликтов, мешает развитию отношений. </a:t>
            </a:r>
          </a:p>
          <a:p>
            <a:pPr marL="0" indent="0" defTabSz="250031">
              <a:spcBef>
                <a:spcPts val="0"/>
              </a:spcBef>
              <a:buSzTx/>
              <a:buNone/>
              <a:defRPr sz="12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Он сам должен понять что мне нужно.</a:t>
            </a:r>
          </a:p>
          <a:p>
            <a:pPr marL="0" indent="0" defTabSz="250031">
              <a:spcBef>
                <a:spcPts val="0"/>
              </a:spcBef>
              <a:buSzTx/>
              <a:buNone/>
              <a:defRPr sz="12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Если само собой все не складывается, то значит нам не по пути. </a:t>
            </a:r>
          </a:p>
          <a:p>
            <a:pPr marL="101317" indent="-101317" defTabSz="250031">
              <a:spcBef>
                <a:spcPts val="0"/>
              </a:spcBef>
              <a:defRPr sz="12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101317" indent="-101317" defTabSz="250031">
              <a:spcBef>
                <a:spcPts val="0"/>
              </a:spcBef>
              <a:defRPr sz="12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Любые длительные отношения, приходят к угасанию. </a:t>
            </a:r>
          </a:p>
        </p:txBody>
      </p:sp>
    </p:spTree>
    <p:extLst>
      <p:ext uri="{BB962C8B-B14F-4D97-AF65-F5344CB8AC3E}">
        <p14:creationId xmlns:p14="http://schemas.microsoft.com/office/powerpoint/2010/main" val="25766472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11" name="Rectangle 10">
            <a:extLst>
              <a:ext uri="{FF2B5EF4-FFF2-40B4-BE49-F238E27FC236}">
                <a16:creationId xmlns:a16="http://schemas.microsoft.com/office/drawing/2014/main" id="{BD517D21-289D-4850-929A-9D0A854EA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mask">
            <a:extLst>
              <a:ext uri="{FF2B5EF4-FFF2-40B4-BE49-F238E27FC236}">
                <a16:creationId xmlns:a16="http://schemas.microsoft.com/office/drawing/2014/main" id="{69F2D923-FC6D-402C-AF7F-48E07A89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3" y="-1"/>
            <a:ext cx="12188952" cy="6858000"/>
          </a:xfrm>
          <a:custGeom>
            <a:avLst/>
            <a:gdLst>
              <a:gd name="connsiteX0" fmla="*/ 10360682 w 12188952"/>
              <a:gd name="connsiteY0" fmla="*/ 1582951 h 6858000"/>
              <a:gd name="connsiteX1" fmla="*/ 9965970 w 12188952"/>
              <a:gd name="connsiteY1" fmla="*/ 1755290 h 6858000"/>
              <a:gd name="connsiteX2" fmla="*/ 9601833 w 12188952"/>
              <a:gd name="connsiteY2" fmla="*/ 1855358 h 6858000"/>
              <a:gd name="connsiteX3" fmla="*/ 9032001 w 12188952"/>
              <a:gd name="connsiteY3" fmla="*/ 1899833 h 6858000"/>
              <a:gd name="connsiteX4" fmla="*/ 8453831 w 12188952"/>
              <a:gd name="connsiteY4" fmla="*/ 1933189 h 6858000"/>
              <a:gd name="connsiteX5" fmla="*/ 7883999 w 12188952"/>
              <a:gd name="connsiteY5" fmla="*/ 1944308 h 6858000"/>
              <a:gd name="connsiteX6" fmla="*/ 7311387 w 12188952"/>
              <a:gd name="connsiteY6" fmla="*/ 1941528 h 6858000"/>
              <a:gd name="connsiteX7" fmla="*/ 7047319 w 12188952"/>
              <a:gd name="connsiteY7" fmla="*/ 1938749 h 6858000"/>
              <a:gd name="connsiteX8" fmla="*/ 6335724 w 12188952"/>
              <a:gd name="connsiteY8" fmla="*/ 1913732 h 6858000"/>
              <a:gd name="connsiteX9" fmla="*/ 6332945 w 12188952"/>
              <a:gd name="connsiteY9" fmla="*/ 1913732 h 6858000"/>
              <a:gd name="connsiteX10" fmla="*/ 6168943 w 12188952"/>
              <a:gd name="connsiteY10" fmla="*/ 1908172 h 6858000"/>
              <a:gd name="connsiteX11" fmla="*/ 5596332 w 12188952"/>
              <a:gd name="connsiteY11" fmla="*/ 1908172 h 6858000"/>
              <a:gd name="connsiteX12" fmla="*/ 5023720 w 12188952"/>
              <a:gd name="connsiteY12" fmla="*/ 1977664 h 6858000"/>
              <a:gd name="connsiteX13" fmla="*/ 4453890 w 12188952"/>
              <a:gd name="connsiteY13" fmla="*/ 2058275 h 6858000"/>
              <a:gd name="connsiteX14" fmla="*/ 4028600 w 12188952"/>
              <a:gd name="connsiteY14" fmla="*/ 2113868 h 6858000"/>
              <a:gd name="connsiteX15" fmla="*/ 3956328 w 12188952"/>
              <a:gd name="connsiteY15" fmla="*/ 2347360 h 6858000"/>
              <a:gd name="connsiteX16" fmla="*/ 4209278 w 12188952"/>
              <a:gd name="connsiteY16" fmla="*/ 2525259 h 6858000"/>
              <a:gd name="connsiteX17" fmla="*/ 4053617 w 12188952"/>
              <a:gd name="connsiteY17" fmla="*/ 2644784 h 6858000"/>
              <a:gd name="connsiteX18" fmla="*/ 4278770 w 12188952"/>
              <a:gd name="connsiteY18" fmla="*/ 2789327 h 6858000"/>
              <a:gd name="connsiteX19" fmla="*/ 4412194 w 12188952"/>
              <a:gd name="connsiteY19" fmla="*/ 2914412 h 6858000"/>
              <a:gd name="connsiteX20" fmla="*/ 4920873 w 12188952"/>
              <a:gd name="connsiteY20" fmla="*/ 2970006 h 6858000"/>
              <a:gd name="connsiteX21" fmla="*/ 5051518 w 12188952"/>
              <a:gd name="connsiteY21" fmla="*/ 3045057 h 6858000"/>
              <a:gd name="connsiteX22" fmla="*/ 4920873 w 12188952"/>
              <a:gd name="connsiteY22" fmla="*/ 3092311 h 6858000"/>
              <a:gd name="connsiteX23" fmla="*/ 4137007 w 12188952"/>
              <a:gd name="connsiteY23" fmla="*/ 3075633 h 6858000"/>
              <a:gd name="connsiteX24" fmla="*/ 4034159 w 12188952"/>
              <a:gd name="connsiteY24" fmla="*/ 3136786 h 6858000"/>
              <a:gd name="connsiteX25" fmla="*/ 5296129 w 12188952"/>
              <a:gd name="connsiteY25" fmla="*/ 3286888 h 6858000"/>
              <a:gd name="connsiteX26" fmla="*/ 4517821 w 12188952"/>
              <a:gd name="connsiteY26" fmla="*/ 3589872 h 6858000"/>
              <a:gd name="connsiteX27" fmla="*/ 4754094 w 12188952"/>
              <a:gd name="connsiteY27" fmla="*/ 3648245 h 6858000"/>
              <a:gd name="connsiteX28" fmla="*/ 5218298 w 12188952"/>
              <a:gd name="connsiteY28" fmla="*/ 3890077 h 6858000"/>
              <a:gd name="connsiteX29" fmla="*/ 4806907 w 12188952"/>
              <a:gd name="connsiteY29" fmla="*/ 4067975 h 6858000"/>
              <a:gd name="connsiteX30" fmla="*/ 5137687 w 12188952"/>
              <a:gd name="connsiteY30" fmla="*/ 4173602 h 6858000"/>
              <a:gd name="connsiteX31" fmla="*/ 5218298 w 12188952"/>
              <a:gd name="connsiteY31" fmla="*/ 4240314 h 6858000"/>
              <a:gd name="connsiteX32" fmla="*/ 5176602 w 12188952"/>
              <a:gd name="connsiteY32" fmla="*/ 4256992 h 6858000"/>
              <a:gd name="connsiteX33" fmla="*/ 5913214 w 12188952"/>
              <a:gd name="connsiteY33" fmla="*/ 4384858 h 6858000"/>
              <a:gd name="connsiteX34" fmla="*/ 5607451 w 12188952"/>
              <a:gd name="connsiteY34" fmla="*/ 4443230 h 6858000"/>
              <a:gd name="connsiteX35" fmla="*/ 7586575 w 12188952"/>
              <a:gd name="connsiteY35" fmla="*/ 4924113 h 6858000"/>
              <a:gd name="connsiteX36" fmla="*/ 10471869 w 12188952"/>
              <a:gd name="connsiteY36" fmla="*/ 4985265 h 6858000"/>
              <a:gd name="connsiteX37" fmla="*/ 10916616 w 12188952"/>
              <a:gd name="connsiteY37" fmla="*/ 4687841 h 6858000"/>
              <a:gd name="connsiteX38" fmla="*/ 11333566 w 12188952"/>
              <a:gd name="connsiteY38" fmla="*/ 3392515 h 6858000"/>
              <a:gd name="connsiteX39" fmla="*/ 11289091 w 12188952"/>
              <a:gd name="connsiteY39" fmla="*/ 2300106 h 6858000"/>
              <a:gd name="connsiteX40" fmla="*/ 10747056 w 12188952"/>
              <a:gd name="connsiteY40" fmla="*/ 1816443 h 6858000"/>
              <a:gd name="connsiteX41" fmla="*/ 10360682 w 12188952"/>
              <a:gd name="connsiteY41" fmla="*/ 1582951 h 6858000"/>
              <a:gd name="connsiteX42" fmla="*/ 0 w 12188952"/>
              <a:gd name="connsiteY42" fmla="*/ 0 h 6858000"/>
              <a:gd name="connsiteX43" fmla="*/ 12188952 w 12188952"/>
              <a:gd name="connsiteY43" fmla="*/ 0 h 6858000"/>
              <a:gd name="connsiteX44" fmla="*/ 12188952 w 12188952"/>
              <a:gd name="connsiteY44" fmla="*/ 6858000 h 6858000"/>
              <a:gd name="connsiteX45" fmla="*/ 0 w 12188952"/>
              <a:gd name="connsiteY4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2188952" h="6858000">
                <a:moveTo>
                  <a:pt x="10360682" y="1582951"/>
                </a:moveTo>
                <a:cubicBezTo>
                  <a:pt x="10227259" y="1638544"/>
                  <a:pt x="10118852" y="1796986"/>
                  <a:pt x="9965970" y="1755290"/>
                </a:cubicBezTo>
                <a:cubicBezTo>
                  <a:pt x="9813089" y="1716375"/>
                  <a:pt x="9743597" y="1916511"/>
                  <a:pt x="9601833" y="1855358"/>
                </a:cubicBezTo>
                <a:cubicBezTo>
                  <a:pt x="9415596" y="1910952"/>
                  <a:pt x="9223799" y="1910952"/>
                  <a:pt x="9032001" y="1899833"/>
                </a:cubicBezTo>
                <a:cubicBezTo>
                  <a:pt x="8840205" y="1924850"/>
                  <a:pt x="8648407" y="1952647"/>
                  <a:pt x="8453831" y="1933189"/>
                </a:cubicBezTo>
                <a:cubicBezTo>
                  <a:pt x="8262034" y="1949868"/>
                  <a:pt x="8075796" y="1960986"/>
                  <a:pt x="7883999" y="1944308"/>
                </a:cubicBezTo>
                <a:cubicBezTo>
                  <a:pt x="7692202" y="1963765"/>
                  <a:pt x="7500405" y="1955426"/>
                  <a:pt x="7311387" y="1941528"/>
                </a:cubicBezTo>
                <a:cubicBezTo>
                  <a:pt x="7222438" y="1941528"/>
                  <a:pt x="7136268" y="1938749"/>
                  <a:pt x="7047319" y="1938749"/>
                </a:cubicBezTo>
                <a:cubicBezTo>
                  <a:pt x="6811047" y="1927630"/>
                  <a:pt x="6574776" y="1922071"/>
                  <a:pt x="6335724" y="1913732"/>
                </a:cubicBezTo>
                <a:cubicBezTo>
                  <a:pt x="6335724" y="1913732"/>
                  <a:pt x="6332945" y="1913732"/>
                  <a:pt x="6332945" y="1913732"/>
                </a:cubicBezTo>
                <a:cubicBezTo>
                  <a:pt x="6277350" y="1910952"/>
                  <a:pt x="6224538" y="1910952"/>
                  <a:pt x="6168943" y="1908172"/>
                </a:cubicBezTo>
                <a:cubicBezTo>
                  <a:pt x="5977147" y="1908172"/>
                  <a:pt x="5785350" y="1908172"/>
                  <a:pt x="5596332" y="1908172"/>
                </a:cubicBezTo>
                <a:cubicBezTo>
                  <a:pt x="5410094" y="1983223"/>
                  <a:pt x="5207180" y="1919291"/>
                  <a:pt x="5023720" y="1977664"/>
                </a:cubicBezTo>
                <a:cubicBezTo>
                  <a:pt x="4829144" y="1974885"/>
                  <a:pt x="4645687" y="2033257"/>
                  <a:pt x="4453890" y="2058275"/>
                </a:cubicBezTo>
                <a:cubicBezTo>
                  <a:pt x="4309346" y="2069393"/>
                  <a:pt x="4162024" y="2055495"/>
                  <a:pt x="4028600" y="2113868"/>
                </a:cubicBezTo>
                <a:cubicBezTo>
                  <a:pt x="3925752" y="2161122"/>
                  <a:pt x="3845142" y="2222275"/>
                  <a:pt x="3956328" y="2347360"/>
                </a:cubicBezTo>
                <a:cubicBezTo>
                  <a:pt x="4089753" y="2344581"/>
                  <a:pt x="4075854" y="2555835"/>
                  <a:pt x="4209278" y="2525259"/>
                </a:cubicBezTo>
                <a:cubicBezTo>
                  <a:pt x="4181482" y="2622548"/>
                  <a:pt x="4086973" y="2572513"/>
                  <a:pt x="4053617" y="2644784"/>
                </a:cubicBezTo>
                <a:cubicBezTo>
                  <a:pt x="4123109" y="2705937"/>
                  <a:pt x="4256532" y="2661463"/>
                  <a:pt x="4278770" y="2789327"/>
                </a:cubicBezTo>
                <a:cubicBezTo>
                  <a:pt x="4250974" y="2922751"/>
                  <a:pt x="4339924" y="2906073"/>
                  <a:pt x="4412194" y="2914412"/>
                </a:cubicBezTo>
                <a:cubicBezTo>
                  <a:pt x="4584534" y="2931091"/>
                  <a:pt x="4751314" y="2942209"/>
                  <a:pt x="4920873" y="2970006"/>
                </a:cubicBezTo>
                <a:cubicBezTo>
                  <a:pt x="4962568" y="2978345"/>
                  <a:pt x="5059857" y="2958887"/>
                  <a:pt x="5051518" y="3045057"/>
                </a:cubicBezTo>
                <a:cubicBezTo>
                  <a:pt x="5043179" y="3114548"/>
                  <a:pt x="4968127" y="3089532"/>
                  <a:pt x="4920873" y="3092311"/>
                </a:cubicBezTo>
                <a:cubicBezTo>
                  <a:pt x="4659584" y="3125668"/>
                  <a:pt x="4395517" y="3072854"/>
                  <a:pt x="4137007" y="3075633"/>
                </a:cubicBezTo>
                <a:cubicBezTo>
                  <a:pt x="4106431" y="3075633"/>
                  <a:pt x="4100871" y="3167362"/>
                  <a:pt x="4034159" y="3136786"/>
                </a:cubicBezTo>
                <a:cubicBezTo>
                  <a:pt x="4209278" y="3220176"/>
                  <a:pt x="5023720" y="3242414"/>
                  <a:pt x="5296129" y="3286888"/>
                </a:cubicBezTo>
                <a:cubicBezTo>
                  <a:pt x="5012602" y="3603771"/>
                  <a:pt x="4742974" y="3411974"/>
                  <a:pt x="4517821" y="3589872"/>
                </a:cubicBezTo>
                <a:cubicBezTo>
                  <a:pt x="4517821" y="3589872"/>
                  <a:pt x="4562296" y="3589872"/>
                  <a:pt x="4754094" y="3648245"/>
                </a:cubicBezTo>
                <a:cubicBezTo>
                  <a:pt x="4906975" y="3695499"/>
                  <a:pt x="4831925" y="3762211"/>
                  <a:pt x="5218298" y="3890077"/>
                </a:cubicBezTo>
                <a:cubicBezTo>
                  <a:pt x="5070976" y="3931771"/>
                  <a:pt x="4879178" y="3851161"/>
                  <a:pt x="4806907" y="4067975"/>
                </a:cubicBezTo>
                <a:cubicBezTo>
                  <a:pt x="4920873" y="4106891"/>
                  <a:pt x="5057077" y="4070755"/>
                  <a:pt x="5137687" y="4173602"/>
                </a:cubicBezTo>
                <a:cubicBezTo>
                  <a:pt x="5162704" y="4204179"/>
                  <a:pt x="5187722" y="4223637"/>
                  <a:pt x="5218298" y="4240314"/>
                </a:cubicBezTo>
                <a:cubicBezTo>
                  <a:pt x="5204400" y="4245874"/>
                  <a:pt x="5187722" y="4251433"/>
                  <a:pt x="5176602" y="4256992"/>
                </a:cubicBezTo>
                <a:cubicBezTo>
                  <a:pt x="5198840" y="4276451"/>
                  <a:pt x="5768673" y="4382077"/>
                  <a:pt x="5913214" y="4384858"/>
                </a:cubicBezTo>
                <a:cubicBezTo>
                  <a:pt x="5813146" y="4418213"/>
                  <a:pt x="5607451" y="4443230"/>
                  <a:pt x="5607451" y="4443230"/>
                </a:cubicBezTo>
                <a:cubicBezTo>
                  <a:pt x="5607451" y="4443230"/>
                  <a:pt x="5651926" y="4571095"/>
                  <a:pt x="7586575" y="4924113"/>
                </a:cubicBezTo>
                <a:cubicBezTo>
                  <a:pt x="7942372" y="4988046"/>
                  <a:pt x="10310649" y="4996385"/>
                  <a:pt x="10471869" y="4985265"/>
                </a:cubicBezTo>
                <a:cubicBezTo>
                  <a:pt x="10624751" y="4974147"/>
                  <a:pt x="10827667" y="4668383"/>
                  <a:pt x="10916616" y="4687841"/>
                </a:cubicBezTo>
                <a:cubicBezTo>
                  <a:pt x="10944413" y="4660044"/>
                  <a:pt x="11250176" y="3981806"/>
                  <a:pt x="11333566" y="3392515"/>
                </a:cubicBezTo>
                <a:cubicBezTo>
                  <a:pt x="11355803" y="3156244"/>
                  <a:pt x="11378041" y="2483564"/>
                  <a:pt x="11289091" y="2300106"/>
                </a:cubicBezTo>
                <a:cubicBezTo>
                  <a:pt x="11239057" y="2194478"/>
                  <a:pt x="10874921" y="1872037"/>
                  <a:pt x="10747056" y="1816443"/>
                </a:cubicBezTo>
                <a:cubicBezTo>
                  <a:pt x="10616412" y="1744172"/>
                  <a:pt x="10463531" y="1708036"/>
                  <a:pt x="10360682" y="1582951"/>
                </a:cubicBezTo>
                <a:close/>
                <a:moveTo>
                  <a:pt x="0" y="0"/>
                </a:moveTo>
                <a:lnTo>
                  <a:pt x="12188952" y="0"/>
                </a:lnTo>
                <a:lnTo>
                  <a:pt x="12188952"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Заголовок 1">
            <a:extLst>
              <a:ext uri="{FF2B5EF4-FFF2-40B4-BE49-F238E27FC236}">
                <a16:creationId xmlns:a16="http://schemas.microsoft.com/office/drawing/2014/main" id="{FD894B7C-9FF4-D6D8-EAEA-6B920FEE562E}"/>
              </a:ext>
            </a:extLst>
          </p:cNvPr>
          <p:cNvSpPr>
            <a:spLocks noGrp="1"/>
          </p:cNvSpPr>
          <p:nvPr>
            <p:ph type="title"/>
          </p:nvPr>
        </p:nvSpPr>
        <p:spPr>
          <a:xfrm>
            <a:off x="838200" y="1113158"/>
            <a:ext cx="3853070" cy="3001642"/>
          </a:xfrm>
        </p:spPr>
        <p:txBody>
          <a:bodyPr vert="horz" lIns="91440" tIns="45720" rIns="91440" bIns="45720" rtlCol="0" anchor="b">
            <a:normAutofit/>
          </a:bodyPr>
          <a:lstStyle/>
          <a:p>
            <a:r>
              <a:rPr lang="en-US" sz="3600" dirty="0" err="1"/>
              <a:t>Упражнение</a:t>
            </a:r>
            <a:r>
              <a:rPr lang="en-US" sz="3600" dirty="0"/>
              <a:t> «</a:t>
            </a:r>
            <a:r>
              <a:rPr lang="en-US" sz="3600" dirty="0" err="1"/>
              <a:t>Новые</a:t>
            </a:r>
            <a:r>
              <a:rPr lang="en-US" sz="3600" dirty="0"/>
              <a:t> </a:t>
            </a:r>
            <a:r>
              <a:rPr lang="en-US" sz="3600" dirty="0" err="1"/>
              <a:t>договоренности</a:t>
            </a:r>
            <a:r>
              <a:rPr lang="en-US" sz="3600" dirty="0"/>
              <a:t>»</a:t>
            </a:r>
          </a:p>
        </p:txBody>
      </p:sp>
      <p:pic>
        <p:nvPicPr>
          <p:cNvPr id="4" name="Снимок экрана 2020-04-20 в 15.39.15.png" descr="Снимок экрана 2020-04-20 в 15.39.15.png">
            <a:extLst>
              <a:ext uri="{FF2B5EF4-FFF2-40B4-BE49-F238E27FC236}">
                <a16:creationId xmlns:a16="http://schemas.microsoft.com/office/drawing/2014/main" id="{EFDA8614-1DF5-3794-1214-57DDD2545202}"/>
              </a:ext>
            </a:extLst>
          </p:cNvPr>
          <p:cNvPicPr>
            <a:picLocks noGrp="1" noChangeAspect="1"/>
          </p:cNvPicPr>
          <p:nvPr>
            <p:ph idx="1"/>
          </p:nvPr>
        </p:nvPicPr>
        <p:blipFill>
          <a:blip r:embed="rId2"/>
          <a:stretch>
            <a:fillRect/>
          </a:stretch>
        </p:blipFill>
        <p:spPr>
          <a:xfrm>
            <a:off x="4667949" y="931561"/>
            <a:ext cx="7264029" cy="4903218"/>
          </a:xfrm>
          <a:prstGeom prst="rect">
            <a:avLst/>
          </a:prstGeom>
        </p:spPr>
      </p:pic>
    </p:spTree>
    <p:extLst>
      <p:ext uri="{BB962C8B-B14F-4D97-AF65-F5344CB8AC3E}">
        <p14:creationId xmlns:p14="http://schemas.microsoft.com/office/powerpoint/2010/main" val="12097924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A4BAE-5E58-1181-4054-9C1C574A4B4A}"/>
              </a:ext>
            </a:extLst>
          </p:cNvPr>
          <p:cNvSpPr>
            <a:spLocks noGrp="1"/>
          </p:cNvSpPr>
          <p:nvPr>
            <p:ph type="title"/>
          </p:nvPr>
        </p:nvSpPr>
        <p:spPr/>
        <p:txBody>
          <a:bodyPr/>
          <a:lstStyle/>
          <a:p>
            <a:r>
              <a:rPr lang="ru-RU" dirty="0"/>
              <a:t>Причины сексуальной неудовлетворенности</a:t>
            </a:r>
          </a:p>
        </p:txBody>
      </p:sp>
      <p:sp>
        <p:nvSpPr>
          <p:cNvPr id="3" name="Объект 2">
            <a:extLst>
              <a:ext uri="{FF2B5EF4-FFF2-40B4-BE49-F238E27FC236}">
                <a16:creationId xmlns:a16="http://schemas.microsoft.com/office/drawing/2014/main" id="{ABDF1ED6-411F-12EA-7B66-45FA7B74303B}"/>
              </a:ext>
            </a:extLst>
          </p:cNvPr>
          <p:cNvSpPr>
            <a:spLocks noGrp="1"/>
          </p:cNvSpPr>
          <p:nvPr>
            <p:ph idx="1"/>
          </p:nvPr>
        </p:nvSpPr>
        <p:spPr>
          <a:xfrm>
            <a:off x="258417" y="1431235"/>
            <a:ext cx="11095383" cy="4740965"/>
          </a:xfrm>
        </p:spPr>
        <p:txBody>
          <a:bodyPr>
            <a:noAutofit/>
          </a:bodyPr>
          <a:lstStyle/>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Выясняем с каким мотивом вступали в брак ?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Выясняем те установки которые связаны у партнеров с браком.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Психологические травмы.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Несоответствие половой конституции.</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Важно выяснить, насколько пара узнала друг друга до брака.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Отсутствие вариативности. (Пассивность, легче найти новое, чем в старом увидеть что-то еще)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Не умение совладать с собственными эмоциями; </a:t>
            </a: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(Эмоции приносят с работы или с других сфер жизни)  </a:t>
            </a:r>
          </a:p>
          <a:p>
            <a:pPr marL="0" indent="0" defTabSz="250031">
              <a:lnSpc>
                <a:spcPct val="150000"/>
              </a:lnSpc>
              <a:spcBef>
                <a:spcPts val="0"/>
              </a:spcBef>
              <a:buSzTx/>
              <a:buNone/>
              <a:defRPr sz="1400">
                <a:latin typeface="Palatino"/>
                <a:ea typeface="Palatino"/>
                <a:cs typeface="Palatino"/>
                <a:sym typeface="Palatino"/>
              </a:defRPr>
            </a:pPr>
            <a:endParaRPr lang="ru-RU" sz="2000" dirty="0">
              <a:latin typeface="Times New Roman" panose="02020603050405020304" pitchFamily="18" charset="0"/>
              <a:cs typeface="Times New Roman" panose="02020603050405020304" pitchFamily="18" charset="0"/>
            </a:endParaRPr>
          </a:p>
          <a:p>
            <a:pPr marL="0" indent="0" defTabSz="250031">
              <a:lnSpc>
                <a:spcPct val="150000"/>
              </a:lnSpc>
              <a:spcBef>
                <a:spcPts val="0"/>
              </a:spcBef>
              <a:buSzTx/>
              <a:buNone/>
              <a:defRPr sz="1400">
                <a:latin typeface="Palatino"/>
                <a:ea typeface="Palatino"/>
                <a:cs typeface="Palatino"/>
                <a:sym typeface="Palatino"/>
              </a:defRPr>
            </a:pPr>
            <a:r>
              <a:rPr lang="ru-RU" sz="2000" dirty="0">
                <a:latin typeface="Times New Roman" panose="02020603050405020304" pitchFamily="18" charset="0"/>
                <a:cs typeface="Times New Roman" panose="02020603050405020304" pitchFamily="18" charset="0"/>
              </a:rPr>
              <a:t>Самое важное это искусство коммуникации в паре! </a:t>
            </a:r>
          </a:p>
        </p:txBody>
      </p:sp>
    </p:spTree>
    <p:extLst>
      <p:ext uri="{BB962C8B-B14F-4D97-AF65-F5344CB8AC3E}">
        <p14:creationId xmlns:p14="http://schemas.microsoft.com/office/powerpoint/2010/main" val="20967108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1E205E-B816-A747-AE02-61DC3C3A0071}"/>
              </a:ext>
            </a:extLst>
          </p:cNvPr>
          <p:cNvSpPr>
            <a:spLocks noGrp="1"/>
          </p:cNvSpPr>
          <p:nvPr>
            <p:ph type="title"/>
          </p:nvPr>
        </p:nvSpPr>
        <p:spPr>
          <a:xfrm>
            <a:off x="838200" y="365126"/>
            <a:ext cx="10515600" cy="589032"/>
          </a:xfrm>
        </p:spPr>
        <p:txBody>
          <a:bodyPr>
            <a:normAutofit fontScale="90000"/>
          </a:bodyPr>
          <a:lstStyle/>
          <a:p>
            <a:r>
              <a:rPr lang="ru-RU" dirty="0"/>
              <a:t>Техника </a:t>
            </a:r>
          </a:p>
        </p:txBody>
      </p:sp>
      <p:sp>
        <p:nvSpPr>
          <p:cNvPr id="3" name="Объект 2">
            <a:extLst>
              <a:ext uri="{FF2B5EF4-FFF2-40B4-BE49-F238E27FC236}">
                <a16:creationId xmlns:a16="http://schemas.microsoft.com/office/drawing/2014/main" id="{525EE834-ABC4-23D3-7B65-5D9D0EE36AC8}"/>
              </a:ext>
            </a:extLst>
          </p:cNvPr>
          <p:cNvSpPr>
            <a:spLocks noGrp="1"/>
          </p:cNvSpPr>
          <p:nvPr>
            <p:ph idx="1"/>
          </p:nvPr>
        </p:nvSpPr>
        <p:spPr>
          <a:xfrm>
            <a:off x="397565" y="954159"/>
            <a:ext cx="10956235" cy="5538716"/>
          </a:xfrm>
        </p:spPr>
        <p:txBody>
          <a:bodyPr>
            <a:noAutofit/>
          </a:bodyPr>
          <a:lstStyle/>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Рекомендуем при: отсутствии эмоциональной близости, развитие мужской и женской чувствительности, женская аноргазмия, сверх контроль, не умение расслабиться, отсутствие навыка концентрации на партнере, отсутствие навыка концентрации на ощущениях, отсутствие доверия, выстраивание новой коммуникации в сексуальном взаимодействии. </a:t>
            </a: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Эффективность: представлена как практика, без конкретной цели. </a:t>
            </a:r>
          </a:p>
          <a:p>
            <a:pPr marL="930402" lvl="2" indent="-253744" defTabSz="676655">
              <a:spcBef>
                <a:spcPts val="400"/>
              </a:spcBef>
              <a:defRPr sz="1200"/>
            </a:pPr>
            <a:r>
              <a:rPr lang="ru-RU" sz="1800" dirty="0">
                <a:latin typeface="Times New Roman" panose="02020603050405020304" pitchFamily="18" charset="0"/>
                <a:cs typeface="Times New Roman" panose="02020603050405020304" pitchFamily="18" charset="0"/>
              </a:rPr>
              <a:t>Отделяет секс от оргазма. </a:t>
            </a: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Техника парная. </a:t>
            </a:r>
          </a:p>
          <a:p>
            <a:pPr marL="253745" indent="-253745" defTabSz="676655">
              <a:spcBef>
                <a:spcPts val="400"/>
              </a:spcBef>
              <a:defRPr sz="1200"/>
            </a:pPr>
            <a:endParaRPr lang="ru-RU" sz="1800" dirty="0">
              <a:latin typeface="Times New Roman" panose="02020603050405020304" pitchFamily="18" charset="0"/>
              <a:cs typeface="Times New Roman" panose="02020603050405020304" pitchFamily="18" charset="0"/>
            </a:endParaRP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Шаг 1. Объясняем что мужчина должен пояснить для своей партнерши прежде чем приступать к технике: Объясните своей партнерше, что эта практика не предполагает никакой цели</a:t>
            </a: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Выполнение этой задачи крайне важно. Никакой цели нет, есть только сосредоточенность на единственной точке контакта. Ваши объяснения должны подчеркивать этот факт, избавляя ее тем самым от ожиданий и напряжения:</a:t>
            </a: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 Я буду ласкать тебя в течение 15 минут. Тебе ничего не понадобится делать ни в эти 15 минут, ни потом. Не нужно ни к чему-то стремиться, ни чего-то добиваться. Просто сосредоточься на единственной точке контакта. Это такое упражнение.</a:t>
            </a:r>
          </a:p>
          <a:p>
            <a:pPr marL="253745" indent="-253745" defTabSz="676655">
              <a:spcBef>
                <a:spcPts val="400"/>
              </a:spcBef>
              <a:defRPr sz="1200"/>
            </a:pPr>
            <a:r>
              <a:rPr lang="ru-RU" sz="1800" dirty="0">
                <a:latin typeface="Times New Roman" panose="02020603050405020304" pitchFamily="18" charset="0"/>
                <a:cs typeface="Times New Roman" panose="02020603050405020304" pitchFamily="18" charset="0"/>
              </a:rPr>
              <a:t>Сосредоточиться надо только на коротком поглаживании – одном, отдельно взятом поглаживании – точно так же, как в большинстве видов медитации акцент делается на дыхании, на каждом отдельном вдохе и выдохе. Воспринимайте происходящее как упражнение на вдумчивое осознание. Цели в нем нет. </a:t>
            </a:r>
          </a:p>
        </p:txBody>
      </p:sp>
    </p:spTree>
    <p:extLst>
      <p:ext uri="{BB962C8B-B14F-4D97-AF65-F5344CB8AC3E}">
        <p14:creationId xmlns:p14="http://schemas.microsoft.com/office/powerpoint/2010/main" val="16551355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51A156E4-BF76-2039-A729-9A198CC43419}"/>
              </a:ext>
            </a:extLst>
          </p:cNvPr>
          <p:cNvSpPr>
            <a:spLocks noGrp="1"/>
          </p:cNvSpPr>
          <p:nvPr>
            <p:ph sz="half" idx="1"/>
          </p:nvPr>
        </p:nvSpPr>
        <p:spPr>
          <a:xfrm>
            <a:off x="357809" y="218661"/>
            <a:ext cx="5418151" cy="6321287"/>
          </a:xfrm>
        </p:spPr>
        <p:txBody>
          <a:bodyPr>
            <a:noAutofit/>
          </a:bodyPr>
          <a:lstStyle/>
          <a:p>
            <a:pPr marL="0" indent="0">
              <a:buNone/>
              <a:defRPr sz="1600">
                <a:latin typeface="+mn-lt"/>
                <a:ea typeface="+mn-ea"/>
                <a:cs typeface="+mn-cs"/>
                <a:sym typeface="Calibri"/>
              </a:defRPr>
            </a:pPr>
            <a:r>
              <a:rPr lang="ru-RU" sz="2000" dirty="0">
                <a:latin typeface="Times New Roman" panose="02020603050405020304" pitchFamily="18" charset="0"/>
                <a:cs typeface="Times New Roman" panose="02020603050405020304" pitchFamily="18" charset="0"/>
              </a:rPr>
              <a:t>2) Примите правильную позу</a:t>
            </a:r>
          </a:p>
          <a:p>
            <a:pPr marL="0" indent="0">
              <a:buNone/>
              <a:defRPr sz="1600">
                <a:latin typeface="+mn-lt"/>
                <a:ea typeface="+mn-ea"/>
                <a:cs typeface="+mn-cs"/>
                <a:sym typeface="Calibri"/>
              </a:defRPr>
            </a:pPr>
            <a:r>
              <a:rPr lang="ru-RU" sz="2000" dirty="0">
                <a:latin typeface="Times New Roman" panose="02020603050405020304" pitchFamily="18" charset="0"/>
                <a:cs typeface="Times New Roman" panose="02020603050405020304" pitchFamily="18" charset="0"/>
              </a:rPr>
              <a:t>Сначала женщина раздевается ниже пояса и ложится на спину, подложив под голову и шею подушку. Ее ноги согнуты и раздвинуты, ступни соединены и подтянуты к ягодицам «бабочкой». Если при этом она испытывает неприятные ощущения в одном или обоих бедрах, под колени можно подложить подушки.</a:t>
            </a:r>
          </a:p>
          <a:p>
            <a:pPr marL="0" indent="0">
              <a:buNone/>
              <a:defRPr sz="1600">
                <a:latin typeface="+mn-lt"/>
                <a:ea typeface="+mn-ea"/>
                <a:cs typeface="+mn-cs"/>
                <a:sym typeface="Calibri"/>
              </a:defRPr>
            </a:pPr>
            <a:r>
              <a:rPr lang="ru-RU" sz="2000" dirty="0">
                <a:latin typeface="Times New Roman" panose="02020603050405020304" pitchFamily="18" charset="0"/>
                <a:cs typeface="Times New Roman" panose="02020603050405020304" pitchFamily="18" charset="0"/>
              </a:rPr>
              <a:t>Исходя из соображения о том, что добиться правильного угла при контакте проще левой рукой, мужчина должен сесть справа от женщины на как минимум две подушки и поставить левую ступню по другую сторону тела женщины, перпендикулярно ее торсу. Чтобы левая нога мужчины не давила на живот женщины, можно подложить столько подушек, сколько понадобится, – лучше, если их будет больше, чем необходимо, а не меньше. Правая нога мужчины выпрямлена или согнута «бабочкой»</a:t>
            </a:r>
          </a:p>
        </p:txBody>
      </p:sp>
      <p:sp>
        <p:nvSpPr>
          <p:cNvPr id="6" name="Объект 5">
            <a:extLst>
              <a:ext uri="{FF2B5EF4-FFF2-40B4-BE49-F238E27FC236}">
                <a16:creationId xmlns:a16="http://schemas.microsoft.com/office/drawing/2014/main" id="{33F47384-3E56-2E3B-DBF1-27AAE1706ADE}"/>
              </a:ext>
            </a:extLst>
          </p:cNvPr>
          <p:cNvSpPr>
            <a:spLocks noGrp="1"/>
          </p:cNvSpPr>
          <p:nvPr>
            <p:ph sz="half" idx="2"/>
          </p:nvPr>
        </p:nvSpPr>
        <p:spPr/>
        <p:txBody>
          <a:bodyPr>
            <a:normAutofit/>
          </a:bodyPr>
          <a:lstStyle/>
          <a:p>
            <a:endParaRPr lang="ru-RU"/>
          </a:p>
        </p:txBody>
      </p:sp>
      <p:pic>
        <p:nvPicPr>
          <p:cNvPr id="7" name="WhatsApp Image 2020-01-15 at 15.37.43.jpeg" descr="WhatsApp Image 2020-01-15 at 15.37.43.jpeg">
            <a:extLst>
              <a:ext uri="{FF2B5EF4-FFF2-40B4-BE49-F238E27FC236}">
                <a16:creationId xmlns:a16="http://schemas.microsoft.com/office/drawing/2014/main" id="{958DA18A-DC99-96A2-D82F-33AB8DDD6CB4}"/>
              </a:ext>
            </a:extLst>
          </p:cNvPr>
          <p:cNvPicPr>
            <a:picLocks noChangeAspect="1"/>
          </p:cNvPicPr>
          <p:nvPr/>
        </p:nvPicPr>
        <p:blipFill>
          <a:blip r:embed="rId2"/>
          <a:srcRect l="8544" t="3099" r="10660" b="3099"/>
          <a:stretch>
            <a:fillRect/>
          </a:stretch>
        </p:blipFill>
        <p:spPr>
          <a:xfrm>
            <a:off x="6096000" y="457364"/>
            <a:ext cx="5915567" cy="5714836"/>
          </a:xfrm>
          <a:prstGeom prst="rect">
            <a:avLst/>
          </a:prstGeom>
          <a:ln w="12700">
            <a:miter lim="400000"/>
          </a:ln>
        </p:spPr>
      </p:pic>
    </p:spTree>
    <p:extLst>
      <p:ext uri="{BB962C8B-B14F-4D97-AF65-F5344CB8AC3E}">
        <p14:creationId xmlns:p14="http://schemas.microsoft.com/office/powerpoint/2010/main" val="120983700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бъект 5">
            <a:extLst>
              <a:ext uri="{FF2B5EF4-FFF2-40B4-BE49-F238E27FC236}">
                <a16:creationId xmlns:a16="http://schemas.microsoft.com/office/drawing/2014/main" id="{00EDA57E-2C3D-40B0-D80C-56A4907C0BFE}"/>
              </a:ext>
            </a:extLst>
          </p:cNvPr>
          <p:cNvSpPr>
            <a:spLocks noGrp="1"/>
          </p:cNvSpPr>
          <p:nvPr>
            <p:ph idx="1"/>
          </p:nvPr>
        </p:nvSpPr>
        <p:spPr>
          <a:xfrm>
            <a:off x="838200" y="585627"/>
            <a:ext cx="10515600" cy="5586573"/>
          </a:xfrm>
        </p:spPr>
        <p:txBody>
          <a:bodyPr>
            <a:normAutofit/>
          </a:bodyPr>
          <a:lstStyle/>
          <a:p>
            <a:pPr marL="0" indent="0" defTabSz="640079">
              <a:spcBef>
                <a:spcPts val="500"/>
              </a:spcBef>
              <a:buNone/>
              <a:defRPr sz="2200"/>
            </a:pPr>
            <a:r>
              <a:rPr lang="ru-RU" sz="2400" dirty="0">
                <a:latin typeface="Times New Roman" panose="02020603050405020304" pitchFamily="18" charset="0"/>
                <a:cs typeface="Times New Roman" panose="02020603050405020304" pitchFamily="18" charset="0"/>
              </a:rPr>
              <a:t>3. Поставьте таймер на 15 минут, найдите в верхнем секторе клитора самую чувствительную точку и приступайте к поглаживаниям</a:t>
            </a:r>
          </a:p>
          <a:p>
            <a:pPr marL="0" indent="0" defTabSz="640079">
              <a:spcBef>
                <a:spcPts val="500"/>
              </a:spcBef>
              <a:buNone/>
              <a:defRPr sz="2200"/>
            </a:pPr>
            <a:r>
              <a:rPr lang="ru-RU" sz="2400" dirty="0">
                <a:latin typeface="Times New Roman" panose="02020603050405020304" pitchFamily="18" charset="0"/>
                <a:cs typeface="Times New Roman" panose="02020603050405020304" pitchFamily="18" charset="0"/>
              </a:rPr>
              <a:t>Ограничьте сеанс ровно 15 минутами.</a:t>
            </a:r>
          </a:p>
          <a:p>
            <a:pPr marL="0" indent="0" defTabSz="640079">
              <a:spcBef>
                <a:spcPts val="500"/>
              </a:spcBef>
              <a:buNone/>
              <a:defRPr sz="2200"/>
            </a:pPr>
            <a:r>
              <a:rPr lang="ru-RU" sz="2400" dirty="0">
                <a:latin typeface="Times New Roman" panose="02020603050405020304" pitchFamily="18" charset="0"/>
                <a:cs typeface="Times New Roman" panose="02020603050405020304" pitchFamily="18" charset="0"/>
              </a:rPr>
              <a:t>Он помогает не отвлекаться от процесса и придает уверенности женщине, знающей, когда начнется и когда закончится сеанс. Относитесь к происходящему, как к занятию йогой или дыхательной гимнастикой. Это упражнение на сосредоточенное выполнение повторов, оно не имеет какой-либо иной цели.</a:t>
            </a:r>
          </a:p>
        </p:txBody>
      </p:sp>
    </p:spTree>
    <p:extLst>
      <p:ext uri="{BB962C8B-B14F-4D97-AF65-F5344CB8AC3E}">
        <p14:creationId xmlns:p14="http://schemas.microsoft.com/office/powerpoint/2010/main" val="79540542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бъект 5">
            <a:extLst>
              <a:ext uri="{FF2B5EF4-FFF2-40B4-BE49-F238E27FC236}">
                <a16:creationId xmlns:a16="http://schemas.microsoft.com/office/drawing/2014/main" id="{00EDA57E-2C3D-40B0-D80C-56A4907C0BFE}"/>
              </a:ext>
            </a:extLst>
          </p:cNvPr>
          <p:cNvSpPr>
            <a:spLocks noGrp="1"/>
          </p:cNvSpPr>
          <p:nvPr>
            <p:ph idx="1"/>
          </p:nvPr>
        </p:nvSpPr>
        <p:spPr>
          <a:xfrm>
            <a:off x="159026" y="159027"/>
            <a:ext cx="12032974" cy="6013174"/>
          </a:xfrm>
        </p:spPr>
        <p:txBody>
          <a:bodyPr>
            <a:noAutofit/>
          </a:bodyPr>
          <a:lstStyle/>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Поиск верхнего сектора и закрепление в нем </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1. Раздвиньте половые губы.</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2. Отведите основанием ладони </a:t>
            </a:r>
            <a:r>
              <a:rPr lang="ru-RU" sz="1800" dirty="0" err="1">
                <a:latin typeface="Times New Roman" panose="02020603050405020304" pitchFamily="18" charset="0"/>
                <a:cs typeface="Times New Roman" panose="02020603050405020304" pitchFamily="18" charset="0"/>
              </a:rPr>
              <a:t>клиторальный</a:t>
            </a:r>
            <a:r>
              <a:rPr lang="ru-RU" sz="1800" dirty="0">
                <a:latin typeface="Times New Roman" panose="02020603050405020304" pitchFamily="18" charset="0"/>
                <a:cs typeface="Times New Roman" panose="02020603050405020304" pitchFamily="18" charset="0"/>
              </a:rPr>
              <a:t> капюшон вверх и назад.</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3. Придержите клитор большим пальцем правой руки, при этом капюшон по-прежнему должен быть отодвинут.»</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«4. Подложите левую руку под ягодицы женщины, по два пальца под каждую, а большой палец – на основание входа в вагину («на», а не «в»). Он послужит «якорем» и поможет женщине расслабиться.</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5. Представьте себе, что находитесь между ног женщины и смотрите на ее клитор в упор, а верх клитора соответствует 12 часам на циферблате. Найдите место, соответствующее на циферблате одному часу – в идеале маленький выступ или углубление между капюшоном и клитором – и указательным пальцем правой руки начните максимально легкими движениями поглаживать его с амплитудой не больше 1,5 мм. Лучше действовать кончиком пальца, а не подушечкой, поэтому заранее обстригите ногти.»</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6.Не жалейте времени на поиски той самой точки. А когда найдете ее, помните, что она допускает лишь самые легкие прикосновения, похожие на скольжение атласной ткани по коже».</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Двигайтесь в четком ритме, как метроном, с постоянной скоростью, в течение периодов по 2–3 минуты, но с началом каждого нового периода можете менять скорость. (не ерзайте, это отвлекает партнершу) </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 7. «Заземлитесь» в конце сеанса.</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Как только 15 минут истекут, выполняется «заземление» – чтобы подготовить женщину к прекращению сеанса. Оно осуществляется довольно сильным давлением на лобковую кость женщины, направленным в сторону ее головы. Давление оказывают ладони, наложенные одна на другую, как показано на рисунке. </a:t>
            </a:r>
          </a:p>
          <a:p>
            <a:pPr marL="0" indent="0" defTabSz="374904">
              <a:spcBef>
                <a:spcPts val="300"/>
              </a:spcBef>
              <a:buSzTx/>
              <a:buNone/>
              <a:defRPr sz="1300"/>
            </a:pPr>
            <a:r>
              <a:rPr lang="ru-RU" sz="1800" dirty="0">
                <a:latin typeface="Times New Roman" panose="02020603050405020304" pitchFamily="18" charset="0"/>
                <a:cs typeface="Times New Roman" panose="02020603050405020304" pitchFamily="18" charset="0"/>
              </a:rPr>
              <a:t>Дайте женщине возможность регулировать силу нажима, сильный нажим часто приятен. </a:t>
            </a:r>
          </a:p>
          <a:p>
            <a:pPr marL="0" indent="0" defTabSz="374904">
              <a:spcBef>
                <a:spcPts val="300"/>
              </a:spcBef>
              <a:buSzTx/>
              <a:buNone/>
              <a:defRPr sz="1300"/>
            </a:pPr>
            <a:endParaRPr lang="ru-RU" sz="1800" dirty="0">
              <a:latin typeface="Times New Roman" panose="02020603050405020304" pitchFamily="18" charset="0"/>
              <a:cs typeface="Times New Roman" panose="02020603050405020304" pitchFamily="18" charset="0"/>
            </a:endParaRPr>
          </a:p>
          <a:p>
            <a:pPr marL="0" indent="0" defTabSz="374904">
              <a:spcBef>
                <a:spcPts val="300"/>
              </a:spcBef>
              <a:buSzTx/>
              <a:buNone/>
              <a:defRPr sz="900"/>
            </a:pPr>
            <a:r>
              <a:rPr lang="ru-RU" sz="1800" dirty="0">
                <a:latin typeface="Times New Roman" panose="02020603050405020304" pitchFamily="18" charset="0"/>
                <a:cs typeface="Times New Roman" panose="02020603050405020304" pitchFamily="18" charset="0"/>
              </a:rPr>
              <a:t>Помните, что именно отсутствие цели способствует релаксации, а она, в свою очередь, приводит к оргазму.</a:t>
            </a:r>
          </a:p>
        </p:txBody>
      </p:sp>
    </p:spTree>
    <p:extLst>
      <p:ext uri="{BB962C8B-B14F-4D97-AF65-F5344CB8AC3E}">
        <p14:creationId xmlns:p14="http://schemas.microsoft.com/office/powerpoint/2010/main" val="904288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Объект 7">
            <a:extLst>
              <a:ext uri="{FF2B5EF4-FFF2-40B4-BE49-F238E27FC236}">
                <a16:creationId xmlns:a16="http://schemas.microsoft.com/office/drawing/2014/main" id="{9F0D3D55-B78E-BDBD-926F-383C873A9D04}"/>
              </a:ext>
            </a:extLst>
          </p:cNvPr>
          <p:cNvSpPr>
            <a:spLocks noGrp="1"/>
          </p:cNvSpPr>
          <p:nvPr>
            <p:ph sz="half" idx="1"/>
          </p:nvPr>
        </p:nvSpPr>
        <p:spPr>
          <a:xfrm>
            <a:off x="838200" y="1272209"/>
            <a:ext cx="4937760" cy="4899991"/>
          </a:xfrm>
        </p:spPr>
        <p:txBody>
          <a:bodyPr/>
          <a:lstStyle/>
          <a:p>
            <a:pPr marL="0" indent="0">
              <a:buSzTx/>
              <a:buNone/>
            </a:pPr>
            <a:r>
              <a:rPr lang="ru-RU" dirty="0"/>
              <a:t>1. Капюшон клитора.</a:t>
            </a:r>
          </a:p>
          <a:p>
            <a:pPr marL="0" indent="0">
              <a:buSzTx/>
              <a:buNone/>
            </a:pPr>
            <a:r>
              <a:rPr lang="ru-RU" dirty="0"/>
              <a:t>2. Головка клитора (точка контакта).</a:t>
            </a:r>
          </a:p>
          <a:p>
            <a:pPr marL="0" indent="0">
              <a:buSzTx/>
              <a:buNone/>
            </a:pPr>
            <a:r>
              <a:rPr lang="ru-RU" dirty="0"/>
              <a:t>3. Отверстие уретры.</a:t>
            </a:r>
          </a:p>
          <a:p>
            <a:pPr marL="0" indent="0">
              <a:buSzTx/>
              <a:buNone/>
            </a:pPr>
            <a:r>
              <a:rPr lang="ru-RU" dirty="0"/>
              <a:t>4. Отверстие (вход) вагины.</a:t>
            </a:r>
          </a:p>
          <a:p>
            <a:pPr marL="0" indent="0">
              <a:buSzTx/>
              <a:buNone/>
            </a:pPr>
            <a:r>
              <a:rPr lang="ru-RU" dirty="0"/>
              <a:t>5. Малые половые губы.</a:t>
            </a:r>
          </a:p>
          <a:p>
            <a:pPr marL="0" indent="0">
              <a:buSzTx/>
              <a:buNone/>
            </a:pPr>
            <a:r>
              <a:rPr lang="ru-RU" dirty="0"/>
              <a:t>6. Промежность.</a:t>
            </a:r>
          </a:p>
          <a:p>
            <a:pPr marL="0" indent="0">
              <a:buNone/>
            </a:pPr>
            <a:endParaRPr lang="ru-RU" dirty="0"/>
          </a:p>
        </p:txBody>
      </p:sp>
      <p:sp>
        <p:nvSpPr>
          <p:cNvPr id="9" name="Объект 8">
            <a:extLst>
              <a:ext uri="{FF2B5EF4-FFF2-40B4-BE49-F238E27FC236}">
                <a16:creationId xmlns:a16="http://schemas.microsoft.com/office/drawing/2014/main" id="{484EEC09-89C9-3B9A-7E90-3EB7503A6CAF}"/>
              </a:ext>
            </a:extLst>
          </p:cNvPr>
          <p:cNvSpPr>
            <a:spLocks noGrp="1"/>
          </p:cNvSpPr>
          <p:nvPr>
            <p:ph sz="half" idx="2"/>
          </p:nvPr>
        </p:nvSpPr>
        <p:spPr/>
        <p:txBody>
          <a:bodyPr/>
          <a:lstStyle/>
          <a:p>
            <a:endParaRPr lang="ru-RU"/>
          </a:p>
        </p:txBody>
      </p:sp>
      <p:pic>
        <p:nvPicPr>
          <p:cNvPr id="10" name="WhatsApp Image 2020-01-15 at 15.39.04.jpeg" descr="WhatsApp Image 2020-01-15 at 15.39.04.jpeg">
            <a:extLst>
              <a:ext uri="{FF2B5EF4-FFF2-40B4-BE49-F238E27FC236}">
                <a16:creationId xmlns:a16="http://schemas.microsoft.com/office/drawing/2014/main" id="{81000CF2-B5D1-FCE3-7310-550EAE8354B0}"/>
              </a:ext>
            </a:extLst>
          </p:cNvPr>
          <p:cNvPicPr>
            <a:picLocks noChangeAspect="1"/>
          </p:cNvPicPr>
          <p:nvPr/>
        </p:nvPicPr>
        <p:blipFill>
          <a:blip r:embed="rId2"/>
          <a:srcRect l="9721" r="9721"/>
          <a:stretch>
            <a:fillRect/>
          </a:stretch>
        </p:blipFill>
        <p:spPr>
          <a:xfrm>
            <a:off x="7000888" y="594525"/>
            <a:ext cx="3298144" cy="5646726"/>
          </a:xfrm>
          <a:prstGeom prst="rect">
            <a:avLst/>
          </a:prstGeom>
          <a:ln w="12700">
            <a:miter lim="400000"/>
          </a:ln>
        </p:spPr>
      </p:pic>
    </p:spTree>
    <p:extLst>
      <p:ext uri="{BB962C8B-B14F-4D97-AF65-F5344CB8AC3E}">
        <p14:creationId xmlns:p14="http://schemas.microsoft.com/office/powerpoint/2010/main" val="307569872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WhatsApp Image 2020-01-15 at 15.41.42.jpeg" descr="WhatsApp Image 2020-01-15 at 15.41.42.jpeg">
            <a:extLst>
              <a:ext uri="{FF2B5EF4-FFF2-40B4-BE49-F238E27FC236}">
                <a16:creationId xmlns:a16="http://schemas.microsoft.com/office/drawing/2014/main" id="{2526D4B5-ECAD-800D-F333-2581D5FF95E7}"/>
              </a:ext>
            </a:extLst>
          </p:cNvPr>
          <p:cNvPicPr>
            <a:picLocks noGrp="1" noChangeAspect="1"/>
          </p:cNvPicPr>
          <p:nvPr>
            <p:ph idx="1"/>
          </p:nvPr>
        </p:nvPicPr>
        <p:blipFill>
          <a:blip r:embed="rId2"/>
          <a:stretch>
            <a:fillRect/>
          </a:stretch>
        </p:blipFill>
        <p:spPr>
          <a:xfrm>
            <a:off x="3344046" y="643468"/>
            <a:ext cx="7235150" cy="5571066"/>
          </a:xfrm>
          <a:prstGeom prst="rect">
            <a:avLst/>
          </a:prstGeom>
        </p:spPr>
      </p:pic>
    </p:spTree>
    <p:extLst>
      <p:ext uri="{BB962C8B-B14F-4D97-AF65-F5344CB8AC3E}">
        <p14:creationId xmlns:p14="http://schemas.microsoft.com/office/powerpoint/2010/main" val="398322955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039DE2B2-7ED9-95BB-E1B0-DABCF2BBB360}"/>
              </a:ext>
            </a:extLst>
          </p:cNvPr>
          <p:cNvSpPr txBox="1"/>
          <p:nvPr/>
        </p:nvSpPr>
        <p:spPr>
          <a:xfrm>
            <a:off x="272715" y="243512"/>
            <a:ext cx="11646569" cy="6370975"/>
          </a:xfrm>
          <a:prstGeom prst="rect">
            <a:avLst/>
          </a:prstGeom>
          <a:noFill/>
        </p:spPr>
        <p:txBody>
          <a:bodyPr wrap="square">
            <a:spAutoFit/>
          </a:bodyPr>
          <a:lstStyle/>
          <a:p>
            <a:pPr>
              <a:defRPr sz="1900"/>
            </a:pPr>
            <a:r>
              <a:rPr lang="ru-RU" sz="2400" dirty="0">
                <a:latin typeface="Times New Roman" panose="02020603050405020304" pitchFamily="18" charset="0"/>
                <a:cs typeface="Times New Roman" panose="02020603050405020304" pitchFamily="18" charset="0"/>
              </a:rPr>
              <a:t> Легкий контакт. Запомните: давление вглубь – на толщину двух листов бумаги. Не более. Легкие поглаживания требуют огромной силы и сосредоточенности.</a:t>
            </a:r>
          </a:p>
          <a:p>
            <a:pPr>
              <a:defRPr sz="1400"/>
            </a:pPr>
            <a:r>
              <a:rPr lang="ru-RU" sz="2400" dirty="0">
                <a:latin typeface="Times New Roman" panose="02020603050405020304" pitchFamily="18" charset="0"/>
                <a:cs typeface="Times New Roman" panose="02020603050405020304" pitchFamily="18" charset="0"/>
              </a:rPr>
              <a:t>• Ни к чему не стремитесь. Практика не должна иметь определенной цели, главное – помнить суть задачи: сосредоточенно повторять одно и то же движение в течение 15 минут.</a:t>
            </a:r>
          </a:p>
          <a:p>
            <a:pPr>
              <a:defRPr sz="1400"/>
            </a:pPr>
            <a:r>
              <a:rPr lang="ru-RU" sz="2400" dirty="0">
                <a:latin typeface="Times New Roman" panose="02020603050405020304" pitchFamily="18" charset="0"/>
                <a:cs typeface="Times New Roman" panose="02020603050405020304" pitchFamily="18" charset="0"/>
              </a:rPr>
              <a:t>• Вы можете завязать женщине глаза или предложить надеть маску для сна. Я убедился, что с завязанными глазами женщины меньше стесняются и быстрее отдаются тактильным ощущениям.</a:t>
            </a:r>
          </a:p>
          <a:p>
            <a:pPr>
              <a:defRPr sz="1400"/>
            </a:pPr>
            <a:r>
              <a:rPr lang="ru-RU" sz="2400" dirty="0">
                <a:latin typeface="Times New Roman" panose="02020603050405020304" pitchFamily="18" charset="0"/>
                <a:cs typeface="Times New Roman" panose="02020603050405020304" pitchFamily="18" charset="0"/>
              </a:rPr>
              <a:t>• Попросите женщину вести себя естественно. Она не должна доставлять вам удовольствие. Ясно дайте это понять. Ей незачем стонать и вздыхать. Главное – сосредоточенность на ощущениях, и больше ничего.</a:t>
            </a:r>
          </a:p>
          <a:p>
            <a:pPr>
              <a:defRPr sz="1400"/>
            </a:pPr>
            <a:r>
              <a:rPr lang="ru-RU" sz="2400" dirty="0">
                <a:latin typeface="Times New Roman" panose="02020603050405020304" pitchFamily="18" charset="0"/>
                <a:cs typeface="Times New Roman" panose="02020603050405020304" pitchFamily="18" charset="0"/>
              </a:rPr>
              <a:t>Воспринимайте сеанс как развлечение, называйте происходящее экспериментом. Серьезность = напряжение. Пусть все пройдет легко.</a:t>
            </a:r>
          </a:p>
          <a:p>
            <a:pPr>
              <a:defRPr sz="1400"/>
            </a:pPr>
            <a:r>
              <a:rPr lang="ru-RU" sz="2400" dirty="0">
                <a:latin typeface="Times New Roman" panose="02020603050405020304" pitchFamily="18" charset="0"/>
                <a:cs typeface="Times New Roman" panose="02020603050405020304" pitchFamily="18" charset="0"/>
              </a:rPr>
              <a:t>• Примечание к предыдущему пункту: развлекайтесь, но без пустой болтовни. Некоторые женщины способны разговорами отвлечь себя от оргазма. Это упражнение на преодоление стеснительности, во время которого такие «костыли», как слова, ни к чему. Маска, надетая на глаза, помогает свести к минимуму желание поболтать. </a:t>
            </a:r>
          </a:p>
        </p:txBody>
      </p:sp>
    </p:spTree>
    <p:extLst>
      <p:ext uri="{BB962C8B-B14F-4D97-AF65-F5344CB8AC3E}">
        <p14:creationId xmlns:p14="http://schemas.microsoft.com/office/powerpoint/2010/main" val="2459541070"/>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BrushVTI">
  <a:themeElements>
    <a:clrScheme name="Желтый и оранжевый">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TF00001241</Template>
  <TotalTime>268</TotalTime>
  <Words>11847</Words>
  <Application>Microsoft Macintosh PowerPoint</Application>
  <PresentationFormat>Широкоэкранный</PresentationFormat>
  <Paragraphs>856</Paragraphs>
  <Slides>138</Slides>
  <Notes>1</Notes>
  <HiddenSlides>0</HiddenSlides>
  <MMClips>0</MMClips>
  <ScaleCrop>false</ScaleCrop>
  <HeadingPairs>
    <vt:vector size="6" baseType="variant">
      <vt:variant>
        <vt:lpstr>Использованные шрифты</vt:lpstr>
      </vt:variant>
      <vt:variant>
        <vt:i4>8</vt:i4>
      </vt:variant>
      <vt:variant>
        <vt:lpstr>Тема</vt:lpstr>
      </vt:variant>
      <vt:variant>
        <vt:i4>2</vt:i4>
      </vt:variant>
      <vt:variant>
        <vt:lpstr>Заголовки слайдов</vt:lpstr>
      </vt:variant>
      <vt:variant>
        <vt:i4>138</vt:i4>
      </vt:variant>
    </vt:vector>
  </HeadingPairs>
  <TitlesOfParts>
    <vt:vector size="148" baseType="lpstr">
      <vt:lpstr>Arial</vt:lpstr>
      <vt:lpstr>Avenir Next LT Pro</vt:lpstr>
      <vt:lpstr>Calibri</vt:lpstr>
      <vt:lpstr>Century Gothic</vt:lpstr>
      <vt:lpstr>Elephant</vt:lpstr>
      <vt:lpstr>Helvetica Neue</vt:lpstr>
      <vt:lpstr>Palatino</vt:lpstr>
      <vt:lpstr>Times New Roman</vt:lpstr>
      <vt:lpstr>AccentBoxVTI</vt:lpstr>
      <vt:lpstr>BrushVTI</vt:lpstr>
      <vt:lpstr>Модуль 4</vt:lpstr>
      <vt:lpstr>Гибадуллина Алина Альбертовна</vt:lpstr>
      <vt:lpstr>Презентация PowerPoint</vt:lpstr>
      <vt:lpstr>Для чего нужен сексолог?</vt:lpstr>
      <vt:lpstr>Что такое сексология?</vt:lpstr>
      <vt:lpstr>Презентация PowerPoint</vt:lpstr>
      <vt:lpstr>Сексология</vt:lpstr>
      <vt:lpstr>Презентация PowerPoint</vt:lpstr>
      <vt:lpstr>Презентация PowerPoint</vt:lpstr>
      <vt:lpstr>Выделяется несколько относительно самостоятельных направлений исследований в рамках сексологии:</vt:lpstr>
      <vt:lpstr>Понять сексуальное поведение людей можно только в том случае, если вы готовы отрешиться от своих стереотипов и представлений. Для объективного взгляда важно выйти за рамки собственных стереотипов, которые для начала нужно осознать.</vt:lpstr>
      <vt:lpstr>Специфика сексологического знания</vt:lpstr>
      <vt:lpstr>Секс терапия ( Хелен Каплан)</vt:lpstr>
      <vt:lpstr>Главным ориентиром в секс-терапии является не техническое овладение неким поведением, а научение вчувствоваться в то, что делаю я и что делают со мной.   В сексе важно убирать цель и тогда все случается естественно</vt:lpstr>
      <vt:lpstr>С какими запросами мы работаем?</vt:lpstr>
      <vt:lpstr>Терминология</vt:lpstr>
      <vt:lpstr>Современные тенденции в человеческой сексуальности:</vt:lpstr>
      <vt:lpstr>Современные тенденции в человеческой сексуальности:</vt:lpstr>
      <vt:lpstr>Практика</vt:lpstr>
      <vt:lpstr>Сексуальность как совокупность физиологии и психологии</vt:lpstr>
      <vt:lpstr>Термин "пол" имеет несколько значений</vt:lpstr>
      <vt:lpstr>Презентация PowerPoint</vt:lpstr>
      <vt:lpstr>Презентация PowerPoint</vt:lpstr>
      <vt:lpstr>Презентация PowerPoint</vt:lpstr>
      <vt:lpstr>Презентация PowerPoint</vt:lpstr>
      <vt:lpstr>Гендерная дисфория: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Гендерные различия в характеристиках социального интеллекта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Практика Мак</vt:lpstr>
      <vt:lpstr>Презентация PowerPoint</vt:lpstr>
      <vt:lpstr>Презентация PowerPoint</vt:lpstr>
      <vt:lpstr>Презентация PowerPoint</vt:lpstr>
      <vt:lpstr>Презентация PowerPoint</vt:lpstr>
      <vt:lpstr>Презентация PowerPoint</vt:lpstr>
      <vt:lpstr>Норма и сексуальность</vt:lpstr>
      <vt:lpstr>Сексуальные расстройства и отклонения:</vt:lpstr>
      <vt:lpstr>Презентация PowerPoint</vt:lpstr>
      <vt:lpstr>Презентация PowerPoint</vt:lpstr>
      <vt:lpstr>Мужские сексуальные дисфункции</vt:lpstr>
      <vt:lpstr>Презентация PowerPoint</vt:lpstr>
      <vt:lpstr>Презентация PowerPoint</vt:lpstr>
      <vt:lpstr>Женские сексуальные дисфункции</vt:lpstr>
      <vt:lpstr>Женские сексуальные дисфункции</vt:lpstr>
      <vt:lpstr>Диспареуния</vt:lpstr>
      <vt:lpstr>Вагинизм</vt:lpstr>
      <vt:lpstr>Презентация PowerPoint</vt:lpstr>
      <vt:lpstr>Презентация PowerPoint</vt:lpstr>
      <vt:lpstr>Основные этапы сексуального развития на жизненном пути:</vt:lpstr>
      <vt:lpstr>Основные этапы сексуального развития на жизненном пути:</vt:lpstr>
      <vt:lpstr>Презентация PowerPoint</vt:lpstr>
      <vt:lpstr>Теория развития личности Эриксона утверждает: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Мотивы сексуального дебюта</vt:lpstr>
      <vt:lpstr>Упражнение «История сексуальности»</vt:lpstr>
      <vt:lpstr>Упражнение «Сексуальная биография»</vt:lpstr>
      <vt:lpstr>Стадии развития либидо</vt:lpstr>
      <vt:lpstr>Стадии развития либидо</vt:lpstr>
      <vt:lpstr>Стадии развития либидо</vt:lpstr>
      <vt:lpstr>Подростковая мастурбация</vt:lpstr>
      <vt:lpstr>Петтинг</vt:lpstr>
      <vt:lpstr>Виды петтинга:</vt:lpstr>
      <vt:lpstr>Советы родителям:</vt:lpstr>
      <vt:lpstr>Упражнение «Анализ сексуального воспитания»</vt:lpstr>
      <vt:lpstr>Презентация PowerPoint</vt:lpstr>
      <vt:lpstr>Презентация PowerPoint</vt:lpstr>
      <vt:lpstr>Период зрелой сексуальности:</vt:lpstr>
      <vt:lpstr>Этап первичной адаптации</vt:lpstr>
      <vt:lpstr>Презентация PowerPoint</vt:lpstr>
      <vt:lpstr>Мотивация сексуального поведения</vt:lpstr>
      <vt:lpstr>Этап прогрессирующей адаптации</vt:lpstr>
      <vt:lpstr>Презентация PowerPoint</vt:lpstr>
      <vt:lpstr>Презентация PowerPoint</vt:lpstr>
      <vt:lpstr>Мифы влияющие на сексуальность:</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СЕКСУАЛЬНАЯ НЕМОТА.   Многие психосексуальные проблемы связаны с тем, что люди не умеют или не смеют выражать свои желания в словах. Чтобы проверить клиента и одновременно оценить качество его партнерских отношений, стоит задать ему вопросы. Например, такие:  Можете ли вы сказать своему партнеру, что вам требуется больше времени для себя, чтобы побыть с друзьями, почитать, просто побыть одному? Можете ли вы сказать ему (ей), что вы хотите проводить больше времени с ней (с ним)? Можете ли вы дать ей (ему) понять, что вас тревожит чтото такое, что он (она) сделал или не сделал? Можете ли вы дать понять, что вы сейчас не в настроении для секса, даже если партнер этого хочет? Можете ли вы ясно дать понять, когда вы хотите любовной близости? Можете ли вы ясно сказать, какие именно сексуальные ласки и игры вы предпочитаете, вообще или в данный момент? Можете ли вы объяснить партнеру, что мешает вашему возбуждению, желанию или действиям? Можете ли вы спросить, какие сексуальные действия предпочитает ваш партнер? Можете ли вы ясно сказать, что хотите остановиться в середине любовной игры? Можете ли вы завести разговор о том, что бы вы хотели изменить в вашей сексуальной жизни? Можете ли вы отстаивать свою точку зрения, если партнер с ней не соглашается? В случае разногласий, можете ли вы понять основательность как своей, так и его (ее) позиции и постараться найти обоюдно приемлемое решение?  Если на какой-то из этих вопросов получен ответ «нет», – в сексуальности и/или партнерских отношениях пациента (клиента) не все в порядке, они нуждаются в урегулировании или коррекции.</vt:lpstr>
      <vt:lpstr>Презентация PowerPoint</vt:lpstr>
      <vt:lpstr>Презентация PowerPoint</vt:lpstr>
      <vt:lpstr>Презентация PowerPoint</vt:lpstr>
      <vt:lpstr>Инволюционный (51-70 лет) период: увядание </vt:lpstr>
      <vt:lpstr>Презентация PowerPoint</vt:lpstr>
      <vt:lpstr>Выводы по 3 периодам</vt:lpstr>
      <vt:lpstr>Секс может быть средством:</vt:lpstr>
      <vt:lpstr>Цикл сексуальной реакции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упражнение</vt:lpstr>
      <vt:lpstr>Стадия влюбленности</vt:lpstr>
      <vt:lpstr>Вторичное слияние</vt:lpstr>
      <vt:lpstr>Кризисы в семье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Что делать?</vt:lpstr>
      <vt:lpstr>Презентация PowerPoint</vt:lpstr>
      <vt:lpstr>Мужчина и роды</vt:lpstr>
      <vt:lpstr>Стереотипы на этой стадии</vt:lpstr>
      <vt:lpstr>Упражнение «Новые договоренности»</vt:lpstr>
      <vt:lpstr>Причины сексуальной неудовлетворенности</vt:lpstr>
      <vt:lpstr>Техника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Алина Гибадуллина</cp:lastModifiedBy>
  <cp:revision>763</cp:revision>
  <dcterms:created xsi:type="dcterms:W3CDTF">2022-04-21T10:15:05Z</dcterms:created>
  <dcterms:modified xsi:type="dcterms:W3CDTF">2022-04-22T19:50:42Z</dcterms:modified>
</cp:coreProperties>
</file>