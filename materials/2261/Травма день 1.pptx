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  <p:sldMasterId id="2147483780" r:id="rId2"/>
  </p:sldMasterIdLst>
  <p:notesMasterIdLst>
    <p:notesMasterId r:id="rId41"/>
  </p:notesMasterIdLst>
  <p:sldIdLst>
    <p:sldId id="263" r:id="rId3"/>
    <p:sldId id="267" r:id="rId4"/>
    <p:sldId id="316" r:id="rId5"/>
    <p:sldId id="930" r:id="rId6"/>
    <p:sldId id="931" r:id="rId7"/>
    <p:sldId id="932" r:id="rId8"/>
    <p:sldId id="933" r:id="rId9"/>
    <p:sldId id="934" r:id="rId10"/>
    <p:sldId id="955" r:id="rId11"/>
    <p:sldId id="935" r:id="rId12"/>
    <p:sldId id="936" r:id="rId13"/>
    <p:sldId id="937" r:id="rId14"/>
    <p:sldId id="940" r:id="rId15"/>
    <p:sldId id="938" r:id="rId16"/>
    <p:sldId id="939" r:id="rId17"/>
    <p:sldId id="942" r:id="rId18"/>
    <p:sldId id="943" r:id="rId19"/>
    <p:sldId id="945" r:id="rId20"/>
    <p:sldId id="944" r:id="rId21"/>
    <p:sldId id="946" r:id="rId22"/>
    <p:sldId id="947" r:id="rId23"/>
    <p:sldId id="941" r:id="rId24"/>
    <p:sldId id="948" r:id="rId25"/>
    <p:sldId id="949" r:id="rId26"/>
    <p:sldId id="950" r:id="rId27"/>
    <p:sldId id="951" r:id="rId28"/>
    <p:sldId id="952" r:id="rId29"/>
    <p:sldId id="953" r:id="rId30"/>
    <p:sldId id="954" r:id="rId31"/>
    <p:sldId id="956" r:id="rId32"/>
    <p:sldId id="957" r:id="rId33"/>
    <p:sldId id="958" r:id="rId34"/>
    <p:sldId id="960" r:id="rId35"/>
    <p:sldId id="961" r:id="rId36"/>
    <p:sldId id="962" r:id="rId37"/>
    <p:sldId id="963" r:id="rId38"/>
    <p:sldId id="959" r:id="rId39"/>
    <p:sldId id="92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911" autoAdjust="0"/>
    <p:restoredTop sz="73806" autoAdjust="0"/>
  </p:normalViewPr>
  <p:slideViewPr>
    <p:cSldViewPr>
      <p:cViewPr varScale="1">
        <p:scale>
          <a:sx n="52" d="100"/>
          <a:sy n="52" d="100"/>
        </p:scale>
        <p:origin x="62" y="5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4AF961-51BC-4067-B2D7-5E0E2F96850E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680D1-D797-47C9-B80B-1C2A1EFC3A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84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082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0159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971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251E3-CEA9-BD1B-C603-FAFAEAAB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D8903AB-2FEA-E9AE-3546-5E8850EE9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464C09A-7E68-AE20-ACAC-311D57981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D35F81-0128-625B-81CE-26A9CFB6B0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521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8C712-A702-47EF-C0EC-1BB8667F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C67065A-1D44-0EAB-AC27-5866A8209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08ABC9-1277-3711-BF9E-10AF27404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8B6521-6BB6-E6C3-ED4B-0D244C0A78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3657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BA3E5-C50F-C34B-AEF3-D46B1639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9CF03A1-2EB9-028F-2CB3-4A0A83EE5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D50C41A-1164-E9EE-484F-BA63FB8EA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2CCE94-FB53-4073-172B-A1AFFD2CE2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884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5325B-0F77-7F0B-E37F-5DCC3024D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78AB1B0-ECDC-C8F5-6532-EEAFD8161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88BA9BB-3303-CABF-49DE-7DC93E8CF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1200"/>
              </a:spcAft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921B25-B1BF-A0CB-5493-7CC396F580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353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94364-59ED-63ED-59C6-340236689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F007F1D-E096-3CDC-FC9A-611276EB8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FA6236-0312-B949-3AA4-D8E9005E7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1C4D73-9239-E702-FA61-42CB89782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5570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F87ED-F419-BD66-5F5A-899F0B19C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EEA3416-8618-73AA-294F-7305954BC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CF1FCE6-275B-0038-77E1-1BE1E701B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CBAF3A-78FA-4470-15A0-EA3E73650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596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84AA1-B62A-6772-28F1-AE5B0A94D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85B397D-F275-F88D-58B2-19D77F6E9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7FF06D7-0459-37CC-2B83-24B40521C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DBE996-DD00-FAB1-73B0-C101FE44D1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123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DFFF0-B06F-129C-9D0B-C355DD206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71C62DA-3829-C27D-6C9A-F882B2577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605D089-AD01-B941-44F0-7DFB7BF85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ru-RU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79680B-F509-DD4A-3E51-EB3B982A38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265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F0E8-04E7-825D-E915-44C54475E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85F7FF3-F986-DDB7-6060-5ECB149B7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91771D0-0207-287E-6757-4A80F730A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75D4DE-E56C-BC6E-C949-42B0373DB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966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94C81-9B12-3AED-BA79-C6F3E8503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75D756E-99BE-7D33-D35E-935BA763E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1423345-4C2F-949F-4F94-43F9B5C14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870448-E196-CDF5-8850-8505BC8B2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6959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32040-1863-F38C-8D34-BC5982D41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DBA9728-4D0C-A637-8EDC-B845EE1B0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8CFF9B7-7652-E113-E66C-05F9505F7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5DD0FC-1F9E-8048-D088-5BB1F441BD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2993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24547-4EB4-522F-A272-C97B37174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6FD4707-7811-DF6A-1E81-5843DB947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9F50C1C-B9D7-E58B-A531-832239BDD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A406FB-5413-CA85-8A09-446929E675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6089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F494-EA6A-C81B-129F-1C772D757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84CC923-EB75-E3CD-D662-1BA30B290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29B6B8F-8E0A-45D4-B0A7-E017909BF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33F566-C4B5-67F6-CD31-98862FCC7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71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B756C-572B-2C19-3A60-A6816823D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6339F09-49E6-39F4-79C2-6D25AB47E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FF57D6F-637A-C53D-861A-6482176DA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ADC13F-844A-2A96-FEA0-4BCEE3FEE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4300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59FDD-67E1-D07C-632D-BA7D2FE7E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BA218FE-63E7-C84D-0A79-E2AE0C564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DA62DD1-52A2-9EA9-5E65-E06BC7111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496A2C-ABCD-6C0D-4CDA-0A31E7E762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9221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2182D-BB12-AFC6-B0F5-0AA8F858E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E167085-4578-A1EB-92BB-1CE556660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CCE696F-CFD7-1B71-4810-256945D55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9A7674-4B85-FA24-EA20-0ADC7F35C7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4753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2A9DB-D29E-32AB-558D-CA4E1567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6A35F2-C9A8-E4CD-07E5-0B1FA26DF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B5D898A-D8FB-8318-FD9F-2B0B996BB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9D4D17-D931-FB35-E2B8-E3ED17505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2857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F070F-CB05-72A2-8C2B-AC3F1A2D7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418B145-D17A-A3AF-D4DF-59B43CC45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3A113AE-CC86-F3E5-923C-32DEE0AAE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DEFB2A-C736-2683-E12E-4F4CB4A80C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6593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D2BF9-7CD9-49E8-C8F3-2D3D5F025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7B6C3C2-5342-D7FD-C216-8EA03E934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F6E65AC-55E8-1BC4-FD4A-AA74C854D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6126B3-3AD4-3F83-BB71-27A4710DB3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8284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2FE3C-8B03-9A81-073B-FA1D330F0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432B99D-FF6E-CBC5-D4E8-5633FA07B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35EB7A4-2329-0B04-855D-7DBCF55A3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0F2B96-B1C9-A024-E5D8-4C5E93137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8468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0234F-4A6D-C201-CC75-F54329B59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FD1AB0B-F7B5-9D8E-F37B-27748FDAB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73DB850-9CDC-AABD-A7D2-2F0019684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51D7CC2-E4A1-C3E0-5776-E7E9C3BD71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2213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07A9-50EF-05A4-9BEC-257FF439E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9E77702-2502-2041-EC16-CB5AE919BF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15487A4-67E3-8CEF-CB50-9A684E953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9AAE9E-2860-EE9E-69AD-4A48D437E5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39979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442C9-1456-5E9B-AF17-2333B031E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FAAAB61-7634-A342-0A8A-774AB7D2E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5C48C8D-E08C-CB91-0B6E-D405FAE69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039E42-D617-DEB1-CCD8-2396B68D1C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1902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5278D-7C1C-984D-454D-AE0E5772F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1C33CEF-8E98-F5A5-AD39-1C0783D48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08EBFCB-E114-A4AB-BE9E-E350AE794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4E4342-E04F-7FA4-145B-1D8D39E73A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737478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67A3D-B5D9-2FCD-AEE4-E196BE698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A6BE4E8-1C57-4D39-65AC-DA3918905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DDC1C63-720C-ECF1-208B-45A905A95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D0F630-F3A6-D505-E1AE-4A3895AD2E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3125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5DE1-777E-9DEB-F123-93364CB6E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D682B7-A704-4B28-41D5-7A287F798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725F97-14B6-8DF6-44E4-F2573D078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35BD2B-0866-CAD8-F568-3B93CAD92D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7367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83A3-7829-1423-903A-A503D7A78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CDBECAE-351E-DAA3-ACF8-D2816FEA3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C233658-42C7-9859-293B-660F50DED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1668D2-2AF9-6099-6B8F-14BB2D7A93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3121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BDC8E-99B7-B1F9-4A4C-F74A65CF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B57C420-EA68-ECE1-8416-B7E8540C7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EEA0362-998D-4347-478E-3DB5F9F05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3A44D7-6C77-037F-335C-10DAF57A9A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3237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C1C75-8A57-8853-DBCF-27C9ADCEE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09A903D-241B-209E-78F3-E70CBBA63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A8158BF-469B-9895-4E5C-C0442EF33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BD0CAD-40EF-48D2-D4C5-7BA49FF1F6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5580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FB315-F046-92EE-2244-F74837164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FE8AA2-A483-5F91-0C1A-FF3A3C4D6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E2880FC-4BB1-55F7-F918-538707263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506CF0-3387-9BEA-27E1-5D91599F5B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1438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E5DEB-E22D-96B8-DD19-27363B0C0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944D4A2-C238-487A-0761-6D97CE76B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F12204F-B840-B5F6-0FEB-6ECEFFA68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374C3A-111F-AA32-FA69-4628FF1C26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0332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FA594-2D78-73D1-F207-82E49775C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DD2644B-03A0-6B26-8369-845499B00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6A2812A-3958-C6AC-5861-41EE98D63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BA1C6C-617C-49BF-B7AC-9100304C24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8323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4CFD2-2136-B19B-389C-F5ED58ABF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F204B15-4AD7-0497-244D-FACD21386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F7B03F0-8CE7-5118-2073-E11AFA4DE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686566-3EDC-BAB6-43B5-E757E453C0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5471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3CB62-BFAD-F25B-B5EC-49C920965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59C7123-6CAC-F460-44DC-A1187F5F2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A6DE769-6DD6-BA8C-4821-3039075D5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796BA4-C63D-911B-4B13-6F414F7477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4685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680D1-D797-47C9-B80B-1C2A1EFC3AAA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441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564EAD-3DE4-4FA9-983C-2FEB036D2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E8D247-73C4-40E1-B339-68338D740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2B1CB3-4568-4156-A822-C83D7B267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F0E45A-BF2F-4A34-99AB-77A70275A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5B447A-C153-49EB-B85F-4E2C40D5E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3392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836021-9D10-45CA-BE6F-FA782B6A7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281108-A77B-4064-94A5-91A719F5D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EFB188-146A-4453-8DC6-DB6D6B4AC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01C62F-17C0-4942-A8E6-F402312D5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64E694-3EAD-4F4F-892B-D611A1A5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72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CA8EC-8D7D-4A5C-8C23-261E52C13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C596DB-C557-4874-A8CE-965B28B77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BF8CE7C-CA2D-4A0F-BCDC-9C81D1B1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FB9881-B40B-4A64-A4F1-6FC1EE348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1AFFC-A39E-4FBE-AE70-F7EE75038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184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48FC1D-242F-4E58-8B3E-7B0895F5C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E842E9-9BF3-4942-8A7B-56E7DA5DB5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5F4586-E21E-4429-848A-64B6A10B9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7421BF-D796-4FA6-89FA-6DA068B6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DCD9F5-501E-4CE3-935A-A5ADDBBC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BA4F29-2C50-4D33-933B-7FC58FF2C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0809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94462-F652-4188-9D89-28D0DA666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917353-ACBA-4BA6-B364-5C18B2C57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5E74319-9038-4AE8-AA73-34B552828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E6C23E-6EB6-4260-8CEF-BCFBE5B217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4775F34-BCC5-412D-B6A6-4BA3F6A20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43DAB8-26D8-41AB-88F6-BC0ACDF2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34D172-7652-4355-A71E-5743F828B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671A2DF-6372-4ECA-8C65-40C4EB8F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5314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D09A9-688E-47E8-B55E-65B90D657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74BB7E3-3AF8-457C-A0AF-F4426BECB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A0CFB7B-295A-426C-8BEE-872B817B9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EE58BF-C4DC-4737-8118-185942019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177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1DB65FA-135B-4D86-851D-C31674CA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918BF81-DC3E-4108-B449-2F37A170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40329D-5930-411F-B299-4529C55A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6570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823ED3-B63E-4E8C-A66B-E7024AC27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D2D3FF-6FB5-4D5D-9FDC-83F9F88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1940AB-0652-4A06-A069-F30FE335E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F66805-AFBD-4E67-B4C5-1E22236D9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7E5E50-E689-4415-91FD-40B5C76FD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0381AE-8E6C-4400-9E9E-898E6F350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7875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F16BC-737C-4895-A1EF-E5AA629B3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940524F-E726-4E8B-8721-E8DDF46FE8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494293-A852-4513-A8B2-8735838AE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EEA2A2-AD8E-47C4-906C-0BF525336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291B08-C23B-4F19-8694-6067C0431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B0AA4B-E124-4069-9413-129CCF53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3210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C094B-92BB-4CAC-A13F-775348BBE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E611618-D56E-44B7-A5CD-C65585E6F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0DBD13-DA2C-4CA1-8750-0818710D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3466A9-2BFE-4D1D-BE1E-FC1C3914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E31CFF-81A6-4BE7-8192-A43F48A10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6367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36F80E6-DB18-49E1-965D-B969A7771D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FB81AB-91E2-4EEC-AF98-0B7896EF4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15FF21-31A6-4A77-87F8-285DBAC7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04792C-EC9F-45F3-9511-7F1B640C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4F6253-C351-4F5E-9441-4FD4A423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7706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364A98-86DD-43D6-8CB7-9D6A841E36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B13E772-12C4-4013-9FC3-CEFF3271F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DF0BDE-84F3-4016-B865-2689B994F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2CF317-3AC1-44A7-83F9-B3992A3B0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2EC370-D6E6-413E-8214-AC491B118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540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EB77C5-44FD-4284-8592-05666E30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9B190E-08F1-40A8-B88B-657D536F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D5D215-F6BC-4077-A587-D3CF998AC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B3C9A8-9F5D-4D99-AB0C-64BB0E5B8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31E2C8-E2E9-4225-87A2-C00A2EB22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9625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C5C9DD-054A-4F94-9DA8-24A21446B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F70905-75BC-4F5D-B6AA-ABC1701A7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0DBC32-4F0E-41B8-8B3B-EC7E0A9B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30D8C9-E7DC-405F-B360-8DB0D3B64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223809-2E7B-4D5E-AD96-5F45902D8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7300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198E3-85C7-467A-BE3D-5746F9BA8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D563F0-BA49-42E1-BDC4-B5FFF63A0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D7193B-2D0F-4FE9-A5D2-7BF0F38EB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632FD6-1C77-4A3B-98AE-9AB577460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5B125F-8324-4059-96F6-6A5DB0DBA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CCBAE4-A3B8-4407-94E0-8E7217D5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1446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40B25-F551-4B6C-BEF7-4F25BC9CE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8C5D36-7417-4892-AC3F-BFC243B20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B79C22-629E-4D90-ADED-363DBCC51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20FA329-1438-4336-A9ED-D6F1314CD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D378934-1080-46A4-B5C9-398EF5A1D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7FCEB7F-85A2-4096-9136-F1891DBB4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E40D80B-4AF9-4487-ABA7-7F318C9D9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63CF86D-8EA0-4797-A5C7-55537EB7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2481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75A55-9884-45F1-B71E-43EBFC3FD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3FCFDDE-1A29-4DBE-8CD3-B2D9FD3C9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7BB3C45-2BE3-4313-9DF1-9B815D012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227B5F4-6A48-4718-9C1F-686C8D5D1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77317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426B738-2F17-47FC-A764-EA22FA60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6030EC2-EC6B-4DB5-A533-A79EE5C04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1FA7AF-0B6B-4995-B7F9-E216F1E7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70314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3BD462-9840-4EC0-8185-029769BA4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D5F00-4F37-4796-904F-297BDF75E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31130C-7965-43CE-84B2-E2FD0DD12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39EE30-6A0B-49EE-A93D-51C36D20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790B5C-A8F9-4E3A-88D8-55C56C786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086DB7-A103-4BBB-A2D2-79D1367DF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0446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35CBC-4073-4ECB-BE0B-88B1A90AE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59DC6A-F187-4C75-8D90-D270B9C23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E47953-3B15-469E-945C-5B6E54F16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AD2D93-03EA-4B75-8BAF-47C712C83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573E4A7-CC23-4609-8759-F37EA0123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76E778E-EA84-4543-9BC3-B4F55735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70080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B3D64-3EE6-47AD-AC37-E7DD141E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8A6C8D6-0EF4-4464-8844-59EFA0E79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C3593F-11B6-498A-B9D1-E5BD8FF0F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D55B71-0C6D-4B63-8489-1B8A92373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8F6201-06FC-4B56-BBE6-EF938CF0F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9243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8C53281-246C-4DFC-9346-C2202E9ED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0F69AC-2B9C-4FCB-B346-A7A38435D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DC56DC-7458-41E2-995E-7BAD7BCB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C555CC-B7A9-4FFE-94D5-DA66FE21C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E421C9-9FCC-4CEE-BF94-466831BA5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5395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CAA2B2-A6BB-42A4-872A-8F188355F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33129E-8C29-4CCB-BC70-07ADE00EA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DC6ECA-68AF-41D2-B3B8-15469BAAF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3AA891-875D-43C2-8330-C3A7DA9B2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7EAF2B-5AF7-40D5-9CD3-E36661F15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7001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2E64FD-B937-4A46-A64E-9F93E1250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EBBFE1-61C1-4DFC-8DB1-9504E3CE6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89188F-7EFB-4A21-8D65-B94A249AD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ADBBE-D4B7-44B3-99B0-B72716F33032}" type="datetimeFigureOut">
              <a:rPr lang="ru-RU" smtClean="0"/>
              <a:t>12.04.2025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DA2CDB-09DB-4676-B8A6-077BC1574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E2F33E-6EAA-40E2-99E2-302D125C0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7ED4E-82B7-40EE-A846-EDA15D68DCB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284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9532" y="476672"/>
            <a:ext cx="8424936" cy="4536504"/>
          </a:xfrm>
        </p:spPr>
        <p:txBody>
          <a:bodyPr>
            <a:norm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Модуль 5. Глубинная структура личности и здоровая гендерная коммуникация</a:t>
            </a:r>
            <a:b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Глубинная терапия</a:t>
            </a:r>
          </a:p>
        </p:txBody>
      </p:sp>
    </p:spTree>
    <p:extLst>
      <p:ext uri="{BB962C8B-B14F-4D97-AF65-F5344CB8AC3E}">
        <p14:creationId xmlns:p14="http://schemas.microsoft.com/office/powerpoint/2010/main" val="3763966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2675057" y="992040"/>
            <a:ext cx="4464497" cy="26776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Кирилл</a:t>
            </a:r>
          </a:p>
          <a:p>
            <a:pPr algn="ctr"/>
            <a:r>
              <a:rPr lang="ru-RU" sz="5400" b="1" dirty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 Грин</a:t>
            </a:r>
          </a:p>
          <a:p>
            <a:pPr algn="ctr"/>
            <a:r>
              <a:rPr lang="en-US" sz="2800" b="1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Inst</a:t>
            </a:r>
            <a:r>
              <a:rPr lang="ru-RU" sz="2800" b="1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: </a:t>
            </a:r>
            <a:r>
              <a:rPr lang="en-US" sz="2800" b="1" dirty="0">
                <a:ln w="17780" cmpd="sng">
                  <a:solidFill>
                    <a:schemeClr val="tx1"/>
                  </a:solidFill>
                  <a:prstDash val="solid"/>
                  <a:miter lim="800000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@mr.kirgreen</a:t>
            </a:r>
            <a:endParaRPr lang="ru-RU" sz="2800" b="1" dirty="0">
              <a:ln w="17780" cmpd="sng">
                <a:solidFill>
                  <a:schemeClr val="tx1"/>
                </a:solidFill>
                <a:prstDash val="solid"/>
                <a:miter lim="800000"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  <a:p>
            <a:pPr algn="ctr"/>
            <a:endParaRPr lang="ru-RU" sz="3200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3320720"/>
            <a:ext cx="913751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Высшее юридическое и психологическое образование</a:t>
            </a:r>
          </a:p>
          <a:p>
            <a:pPr marL="285750" indent="-285750">
              <a:buFontTx/>
              <a:buChar char="-"/>
            </a:pPr>
            <a:r>
              <a:rPr lang="ru-RU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 лет успешной психологической практики в Москве</a:t>
            </a:r>
          </a:p>
          <a:p>
            <a:pPr marL="285750" indent="-285750">
              <a:buFontTx/>
              <a:buChar char="-"/>
            </a:pPr>
            <a:r>
              <a:rPr lang="ru-RU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Трансперсональный</a:t>
            </a:r>
            <a:r>
              <a:rPr lang="ru-RU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психотерапевт</a:t>
            </a:r>
          </a:p>
          <a:p>
            <a:pPr marL="285750" indent="-285750">
              <a:buFontTx/>
              <a:buChar char="-"/>
            </a:pPr>
            <a:r>
              <a:rPr lang="ru-RU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Профессиональный коуч (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ICPA</a:t>
            </a:r>
            <a:r>
              <a:rPr lang="ru-RU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Tx/>
              <a:buChar char="-"/>
            </a:pPr>
            <a:r>
              <a:rPr lang="ru-RU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Нейрокоуч</a:t>
            </a:r>
            <a:r>
              <a:rPr lang="ru-RU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(ICI)</a:t>
            </a:r>
          </a:p>
          <a:p>
            <a:pPr marL="285750" indent="-285750">
              <a:buFontTx/>
              <a:buChar char="-"/>
            </a:pPr>
            <a:r>
              <a:rPr lang="ru-RU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Мастер коуч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(ICI)</a:t>
            </a:r>
          </a:p>
          <a:p>
            <a:pPr marL="285750" indent="-285750">
              <a:buFontTx/>
              <a:buChar char="-"/>
            </a:pPr>
            <a:r>
              <a:rPr lang="ru-RU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Супервизор (ЕСА)</a:t>
            </a:r>
          </a:p>
          <a:p>
            <a:pPr marL="285750" indent="-285750">
              <a:buFontTx/>
              <a:buChar char="-"/>
            </a:pPr>
            <a:r>
              <a:rPr lang="ru-RU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Доула смерти</a:t>
            </a:r>
          </a:p>
          <a:p>
            <a:pPr marL="285750" indent="-285750">
              <a:buFontTx/>
              <a:buChar char="-"/>
            </a:pPr>
            <a:r>
              <a:rPr lang="ru-RU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Свыше 100 успешных коучинговых и тренинговых проектов</a:t>
            </a:r>
          </a:p>
          <a:p>
            <a:pPr marL="285750" indent="-285750">
              <a:buFontTx/>
              <a:buChar char="-"/>
            </a:pPr>
            <a:r>
              <a:rPr lang="ru-RU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Эксперт в области личностного роста и развития, личностных взаимоотношений, работы с профессиональным и эмоциональным выгоранием, бизнес-консультант в сфере работы с персоналом. </a:t>
            </a:r>
            <a:endParaRPr lang="ru-RU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677" y="208663"/>
            <a:ext cx="2191010" cy="32865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Рисунок 4" descr="Изображение выглядит как шаблон, искусство, Прямоугольник, Симметрия&#10;&#10;Автоматически созданное описание">
            <a:extLst>
              <a:ext uri="{FF2B5EF4-FFF2-40B4-BE49-F238E27FC236}">
                <a16:creationId xmlns:a16="http://schemas.microsoft.com/office/drawing/2014/main" id="{80BD65AF-8C57-1ECC-77D6-9DB7A7880B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41" y="162720"/>
            <a:ext cx="3158000" cy="3158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58881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5A3DA3-89A8-7AAC-E7A0-D8DDAB0DB699}"/>
              </a:ext>
            </a:extLst>
          </p:cNvPr>
          <p:cNvSpPr txBox="1"/>
          <p:nvPr/>
        </p:nvSpPr>
        <p:spPr>
          <a:xfrm>
            <a:off x="323528" y="1268760"/>
            <a:ext cx="820891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Почему мы иногда повторяем одни и те же ошибки в отношениях, даже если осознаем их?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895858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2468F-53EB-7A36-64E6-2A8615055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1D13B56-2758-0477-CE60-BE95CEFF7E2F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544B9-83E1-995F-55D2-FE11ACB91346}"/>
              </a:ext>
            </a:extLst>
          </p:cNvPr>
          <p:cNvSpPr txBox="1"/>
          <p:nvPr/>
        </p:nvSpPr>
        <p:spPr>
          <a:xfrm>
            <a:off x="251520" y="1052736"/>
            <a:ext cx="8640960" cy="4233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«Психодинамические процессы — бессознательные механизмы, управляющие поведением, эмоциями и мыслями.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ru-RU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"Бессознательное — это склад невыраженных желаний и конфликтов" (Фрейд, 1914)</a:t>
            </a:r>
          </a:p>
        </p:txBody>
      </p:sp>
    </p:spTree>
    <p:extLst>
      <p:ext uri="{BB962C8B-B14F-4D97-AF65-F5344CB8AC3E}">
        <p14:creationId xmlns:p14="http://schemas.microsoft.com/office/powerpoint/2010/main" val="4057525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FE9D-B72C-279A-0303-190C27100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6FCF93B-7869-61C3-C47C-F62350496A48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A52BB-45EE-0938-DB94-C90D202D2A96}"/>
              </a:ext>
            </a:extLst>
          </p:cNvPr>
          <p:cNvSpPr txBox="1"/>
          <p:nvPr/>
        </p:nvSpPr>
        <p:spPr>
          <a:xfrm>
            <a:off x="323528" y="1165207"/>
            <a:ext cx="8496944" cy="510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Как бессознательное влияет на отношения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ru-RU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3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«Бессознательное → Поведение → Отношения»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ru-RU" sz="3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ru-RU" sz="3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Прошлый опыт формирует бессознательные импульсы, влияющие на выбор партнёра и реакции</a:t>
            </a:r>
          </a:p>
        </p:txBody>
      </p:sp>
    </p:spTree>
    <p:extLst>
      <p:ext uri="{BB962C8B-B14F-4D97-AF65-F5344CB8AC3E}">
        <p14:creationId xmlns:p14="http://schemas.microsoft.com/office/powerpoint/2010/main" val="3605121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64769-659F-51DD-58BB-8792D5D65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DC8D16A-117E-A6BF-BF8A-F88468E4CF4B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842B64-1B35-6AFD-20CC-BD8FE0867DD5}"/>
              </a:ext>
            </a:extLst>
          </p:cNvPr>
          <p:cNvSpPr txBox="1"/>
          <p:nvPr/>
        </p:nvSpPr>
        <p:spPr>
          <a:xfrm>
            <a:off x="222380" y="231593"/>
            <a:ext cx="8568952" cy="652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З</a:t>
            </a:r>
            <a:r>
              <a:rPr lang="ru-RU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ащитные механизмы— бессознательные стратегии защиты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ru-RU" sz="28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«Ид»</a:t>
            </a: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— наши бессознательные желания и инстинкты, такие как агрессия и сексуальность.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«Суперэго»</a:t>
            </a: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— внутренний цензор, отвечающий за моральные нормы и совесть.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«Эго»</a:t>
            </a: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— посредник, который пытается примирить «Ид» и «Суперэго», сохраняя баланс между внутренними импульсами и внешними требованиями.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ru-RU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778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3C0A0-5DCA-7ADC-76B6-1C97DAF78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0F39C4A-880D-0596-EC50-E8F19798DE72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91FA48-11F3-1938-0EFF-336C9E17B2AB}"/>
              </a:ext>
            </a:extLst>
          </p:cNvPr>
          <p:cNvSpPr txBox="1"/>
          <p:nvPr/>
        </p:nvSpPr>
        <p:spPr>
          <a:xfrm>
            <a:off x="222380" y="231593"/>
            <a:ext cx="8568952" cy="116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З</a:t>
            </a:r>
            <a:r>
              <a:rPr lang="ru-RU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ащитные механизмы в психоанализе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Примитивные</a:t>
            </a:r>
            <a:endParaRPr lang="ru-RU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22B1C1-90B3-5775-7458-166D97626125}"/>
              </a:ext>
            </a:extLst>
          </p:cNvPr>
          <p:cNvSpPr txBox="1"/>
          <p:nvPr/>
        </p:nvSpPr>
        <p:spPr>
          <a:xfrm>
            <a:off x="111190" y="1340768"/>
            <a:ext cx="89216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1. </a:t>
            </a:r>
            <a:r>
              <a:rPr lang="ru-RU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Отрицание:</a:t>
            </a:r>
            <a:r>
              <a:rPr lang="ru-RU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отказ признавать очевидное.</a:t>
            </a:r>
            <a:br>
              <a:rPr lang="ru-RU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Проекция:</a:t>
            </a:r>
            <a:r>
              <a:rPr lang="ru-RU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перенос собственных эмоций и недостатков на других.</a:t>
            </a:r>
            <a:br>
              <a:rPr lang="ru-RU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Расщепление: </a:t>
            </a:r>
            <a:r>
              <a:rPr lang="ru-RU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деление всего на «черное» и «белое».</a:t>
            </a:r>
            <a:br>
              <a:rPr lang="ru-RU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Отстранение: </a:t>
            </a:r>
            <a:r>
              <a:rPr lang="ru-RU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попытка уйти от реальности через сон или уединение.</a:t>
            </a:r>
            <a:br>
              <a:rPr lang="ru-RU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</a:t>
            </a:r>
            <a:r>
              <a:rPr lang="ru-RU" sz="24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Компартментализация</a:t>
            </a:r>
            <a:r>
              <a:rPr lang="ru-RU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ru-RU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разделение противоречивых установок на изолированные области, чтобы избежать внутреннего конфликта.</a:t>
            </a:r>
            <a:br>
              <a:rPr lang="ru-RU" sz="24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400" b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</a:t>
            </a:r>
            <a:r>
              <a:rPr lang="ru-RU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Репрессия/вытеснение:</a:t>
            </a:r>
            <a:r>
              <a:rPr lang="ru-RU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вытеснение неприятных воспоминаний и эмоций в бессознательное.</a:t>
            </a:r>
            <a:br>
              <a:rPr lang="ru-RU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 Интроекция: </a:t>
            </a:r>
            <a:r>
              <a:rPr lang="ru-RU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бессознательное принятие чужих ценностей или идей.</a:t>
            </a:r>
            <a:br>
              <a:rPr lang="ru-RU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16029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38D88-3B8D-7D36-6B06-F36443C92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2F1562A-6FBF-9E66-E488-F367A3F43CD4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C76F1C-E060-2862-8A6C-38E123D2BA29}"/>
              </a:ext>
            </a:extLst>
          </p:cNvPr>
          <p:cNvSpPr txBox="1"/>
          <p:nvPr/>
        </p:nvSpPr>
        <p:spPr>
          <a:xfrm>
            <a:off x="222380" y="231593"/>
            <a:ext cx="8568952" cy="116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З</a:t>
            </a:r>
            <a:r>
              <a:rPr lang="ru-RU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ащитные механизмы в психоанализе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Зрелые</a:t>
            </a:r>
            <a:endParaRPr lang="ru-RU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23FF8-DF77-36C7-6703-0B9C344E0BB0}"/>
              </a:ext>
            </a:extLst>
          </p:cNvPr>
          <p:cNvSpPr txBox="1"/>
          <p:nvPr/>
        </p:nvSpPr>
        <p:spPr>
          <a:xfrm>
            <a:off x="111190" y="1340768"/>
            <a:ext cx="89216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Сублимация: </a:t>
            </a: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превращение негативных эмоций в конструктивное действие.</a:t>
            </a:r>
            <a:b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Рационализация: </a:t>
            </a: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поиск логического объяснения своим чувствам.</a:t>
            </a:r>
            <a:b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Изоляция: </a:t>
            </a: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отделение эмоций от событий.</a:t>
            </a:r>
            <a:b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Интеллектуализация: </a:t>
            </a: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использование логики, чтобы отдалиться от эмоций.</a:t>
            </a:r>
            <a:b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Регрессия: </a:t>
            </a: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возврат к детским моделям поведения в стрессовых ситуациях.</a:t>
            </a:r>
            <a:b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Аннулирование:</a:t>
            </a: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попытка компенсировать или «отменить» неприятные чувства или поступки.</a:t>
            </a:r>
            <a:b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7. Реверсия: </a:t>
            </a: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проекция своих потребностей на других.</a:t>
            </a:r>
            <a:b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Идентификация: </a:t>
            </a: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отождествление себя с кем-то, чтобы почувствовать принадлежность или силу.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997980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136AC-D1C3-E2CF-A108-F288567D0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669DB4B-6756-5FB7-D819-A912D681EFBB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78B7C3-E1B6-1C43-8F3A-884BB03D792C}"/>
              </a:ext>
            </a:extLst>
          </p:cNvPr>
          <p:cNvSpPr txBox="1"/>
          <p:nvPr/>
        </p:nvSpPr>
        <p:spPr>
          <a:xfrm>
            <a:off x="222380" y="231593"/>
            <a:ext cx="8568952" cy="563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З</a:t>
            </a:r>
            <a:r>
              <a:rPr lang="ru-RU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ащитные механизмы в психоанализе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D4958-2BCB-7176-6760-38A4E465ACFD}"/>
              </a:ext>
            </a:extLst>
          </p:cNvPr>
          <p:cNvSpPr txBox="1"/>
          <p:nvPr/>
        </p:nvSpPr>
        <p:spPr>
          <a:xfrm>
            <a:off x="467544" y="1859339"/>
            <a:ext cx="777686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  <a:t>                 Работа с механизмами защиты</a:t>
            </a:r>
          </a:p>
          <a:p>
            <a:endParaRPr lang="ru-RU" sz="28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  <a:t>— Осознать свои механизмы защиты</a:t>
            </a:r>
            <a:b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  <a:t>— Понять природу конфликта</a:t>
            </a:r>
            <a:b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  <a:t>— Получить новый опыт</a:t>
            </a:r>
            <a:b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  <a:t>— Закрепить зрелые механизмы защиты</a:t>
            </a:r>
            <a:b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endParaRPr lang="ru-RU" sz="28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262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E411B-2241-DFED-B6BE-0A31D4E63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C759C76-A7C7-2D22-0BF8-FAA4F6C61411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D2F489-1D54-9E81-B44E-564197DDE8A4}"/>
              </a:ext>
            </a:extLst>
          </p:cNvPr>
          <p:cNvSpPr txBox="1"/>
          <p:nvPr/>
        </p:nvSpPr>
        <p:spPr>
          <a:xfrm>
            <a:off x="222380" y="231593"/>
            <a:ext cx="8568952" cy="63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З</a:t>
            </a:r>
            <a:r>
              <a:rPr lang="ru-RU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ащитные механизмы в гештальт-терапии</a:t>
            </a:r>
            <a:endParaRPr lang="ru-RU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F29E33-45AA-231A-AF7E-4369A9AC9690}"/>
              </a:ext>
            </a:extLst>
          </p:cNvPr>
          <p:cNvSpPr txBox="1"/>
          <p:nvPr/>
        </p:nvSpPr>
        <p:spPr>
          <a:xfrm>
            <a:off x="410106" y="1340768"/>
            <a:ext cx="832378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Цикл контакта включает четыре фазы — </a:t>
            </a:r>
            <a:r>
              <a:rPr lang="ru-RU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преконтакт</a:t>
            </a:r>
            <a:r>
              <a:rPr lang="ru-RU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контактирование, полный контакт и </a:t>
            </a:r>
            <a:r>
              <a:rPr lang="ru-RU" sz="2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постконтакт</a:t>
            </a:r>
            <a:r>
              <a:rPr lang="ru-RU" sz="2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EE48E-1937-AEE9-967A-8BA9ED074E98}"/>
              </a:ext>
            </a:extLst>
          </p:cNvPr>
          <p:cNvSpPr txBox="1"/>
          <p:nvPr/>
        </p:nvSpPr>
        <p:spPr>
          <a:xfrm>
            <a:off x="344962" y="3270463"/>
            <a:ext cx="83237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  <a:t>Защитный механизм - психологическая стратегия, способ мышления, сценарии поведения, с помощью которых человек защищается от неприятных или тревожных мыслей, болезненных чувств и переживаний, опасных ситуаций. </a:t>
            </a:r>
          </a:p>
        </p:txBody>
      </p:sp>
    </p:spTree>
    <p:extLst>
      <p:ext uri="{BB962C8B-B14F-4D97-AF65-F5344CB8AC3E}">
        <p14:creationId xmlns:p14="http://schemas.microsoft.com/office/powerpoint/2010/main" val="1485672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FB025-711C-4A63-59E6-CE535A995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3C71903-064C-601D-6966-DEEAEE8B711A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24B911-2F75-04CD-1C11-C79CAF9E3BF0}"/>
              </a:ext>
            </a:extLst>
          </p:cNvPr>
          <p:cNvSpPr txBox="1"/>
          <p:nvPr/>
        </p:nvSpPr>
        <p:spPr>
          <a:xfrm>
            <a:off x="222380" y="231593"/>
            <a:ext cx="8568952" cy="63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З</a:t>
            </a:r>
            <a:r>
              <a:rPr lang="ru-RU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ащитные механизмы в гештальт-терапии</a:t>
            </a:r>
            <a:endParaRPr lang="ru-RU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F3AE32-13F9-5732-AD50-FD17EF640E8A}"/>
              </a:ext>
            </a:extLst>
          </p:cNvPr>
          <p:cNvSpPr txBox="1"/>
          <p:nvPr/>
        </p:nvSpPr>
        <p:spPr>
          <a:xfrm>
            <a:off x="246607" y="1126514"/>
            <a:ext cx="8670100" cy="5394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Конфлюэнция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(или слияние) -</a:t>
            </a:r>
            <a:r>
              <a:rPr lang="ru-RU" sz="2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смешение собственной идентичности, мыслей или убеждений с чужими.</a:t>
            </a:r>
            <a:endParaRPr lang="ru-RU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Интроекция - </a:t>
            </a:r>
            <a:r>
              <a:rPr lang="ru-RU" sz="2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интеграция ценностей, убеждений, характеристик, мыслей и чувств других людей.</a:t>
            </a:r>
            <a:endParaRPr lang="ru-RU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Проекция - </a:t>
            </a:r>
            <a:r>
              <a:rPr lang="ru-RU" sz="2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перенос своей ответственности на свое окружение.</a:t>
            </a:r>
            <a:endParaRPr lang="ru-RU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Ретрофлексия – направление чувств, эмоций, переживаний внутрь себя.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Эготизм </a:t>
            </a:r>
            <a:r>
              <a:rPr lang="ru-RU" sz="2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чрезмерная сосредоточенность человека на себе.</a:t>
            </a:r>
            <a:endParaRPr lang="ru-RU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Дефлексия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 </a:t>
            </a:r>
            <a:r>
              <a:rPr lang="ru-RU" sz="2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перенаправление или смещение внимания с собственных эмоций, мыслей или поведения на что-то другое. </a:t>
            </a:r>
            <a:endParaRPr lang="ru-RU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</a:t>
            </a:r>
            <a:r>
              <a:rPr lang="ru-RU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рофлексия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 </a:t>
            </a:r>
            <a:r>
              <a:rPr lang="ru-RU" sz="2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сделать другому то, что мне хотелось бы самому получить от него.</a:t>
            </a:r>
            <a:endParaRPr lang="ru-RU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О</a:t>
            </a:r>
            <a:r>
              <a:rPr lang="ru-RU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бесценивание - </a:t>
            </a:r>
            <a:r>
              <a:rPr lang="ru-RU" sz="20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отрицании ценности, значимости произошедшего события.</a:t>
            </a:r>
            <a:endParaRPr lang="ru-RU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242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B93E1-315F-8417-84CB-8D75FB1E0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203260C-B26C-CA31-E10B-D4E784ADB91C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DC8DFE-270B-477C-A1BD-12D563CFAD00}"/>
              </a:ext>
            </a:extLst>
          </p:cNvPr>
          <p:cNvSpPr txBox="1"/>
          <p:nvPr/>
        </p:nvSpPr>
        <p:spPr>
          <a:xfrm>
            <a:off x="222380" y="231593"/>
            <a:ext cx="8568952" cy="63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З</a:t>
            </a:r>
            <a:r>
              <a:rPr lang="ru-RU" sz="3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ащитные механизмы в гештальт-терапии</a:t>
            </a:r>
            <a:endParaRPr lang="ru-RU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7B821F-9A8C-3F9B-D129-9DCC6CED11FF}"/>
              </a:ext>
            </a:extLst>
          </p:cNvPr>
          <p:cNvSpPr txBox="1"/>
          <p:nvPr/>
        </p:nvSpPr>
        <p:spPr>
          <a:xfrm>
            <a:off x="467544" y="1859339"/>
            <a:ext cx="777686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  <a:t>                 Работа с механизмами защиты</a:t>
            </a:r>
          </a:p>
          <a:p>
            <a:endParaRPr lang="ru-RU" sz="28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  <a:t>Осознание</a:t>
            </a:r>
            <a:b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  <a:t>Беседа</a:t>
            </a:r>
            <a:b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  <a:t>«Пустой стул»</a:t>
            </a:r>
            <a:b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  <a:t>Эксперименты</a:t>
            </a:r>
          </a:p>
          <a:p>
            <a: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  <a:t>Гештальт-диалоги</a:t>
            </a:r>
          </a:p>
          <a:p>
            <a: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  <a:t>Работа со сновидениями</a:t>
            </a:r>
          </a:p>
          <a:p>
            <a: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  <a:t>Работа с границами</a:t>
            </a:r>
            <a:br>
              <a:rPr lang="ru-RU" sz="2800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endParaRPr lang="ru-RU" sz="28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033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D17C6-50B8-2B3B-B6FF-A197328FD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16EEC24-F729-BF77-D063-98814B388AFB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C24716-7455-2B47-69B6-CB31D0C6CF19}"/>
              </a:ext>
            </a:extLst>
          </p:cNvPr>
          <p:cNvSpPr txBox="1"/>
          <p:nvPr/>
        </p:nvSpPr>
        <p:spPr>
          <a:xfrm>
            <a:off x="899592" y="1628800"/>
            <a:ext cx="7560840" cy="3377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ru-RU" sz="4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Техника "Пустой стул" (гештальт-терапия) 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Цель: Работа с незавершенными гештальтами и проекциями.  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endParaRPr lang="ru-RU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720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6B696-6D99-2A2F-67D9-4C54C108C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D270B02-A802-B248-6A40-1582ED59D04B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620300-8FFF-0066-9DE2-E5D1E4117CD6}"/>
              </a:ext>
            </a:extLst>
          </p:cNvPr>
          <p:cNvSpPr txBox="1"/>
          <p:nvPr/>
        </p:nvSpPr>
        <p:spPr>
          <a:xfrm>
            <a:off x="431540" y="371739"/>
            <a:ext cx="8280920" cy="5536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Что такое фрустрированные потребности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ru-RU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Неудовлетворённые базовые нужды (любовь, безопасность), влияющие на поведение.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ru-RU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Пример: Требование похвалы из-за недостатка признания в детстве.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Неудовлетворенная потребность в безопасности → Взрослый устраивает истерику при критике (регрессия до 5 лет).  </a:t>
            </a:r>
          </a:p>
        </p:txBody>
      </p:sp>
    </p:spTree>
    <p:extLst>
      <p:ext uri="{BB962C8B-B14F-4D97-AF65-F5344CB8AC3E}">
        <p14:creationId xmlns:p14="http://schemas.microsoft.com/office/powerpoint/2010/main" val="2411392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5488E-7853-606C-7C5F-40E4447CC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4918BA6-4D82-1889-C697-74998F097414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7024B-D0E9-830E-BE35-D0F8BDCD5D14}"/>
              </a:ext>
            </a:extLst>
          </p:cNvPr>
          <p:cNvSpPr txBox="1"/>
          <p:nvPr/>
        </p:nvSpPr>
        <p:spPr>
          <a:xfrm>
            <a:off x="395536" y="548680"/>
            <a:ext cx="8352928" cy="4293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Возрастная регрессия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ru-RU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Возврат к детским моделям поведения в стрессе.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ru-RU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Пример: Истерика вместо обсуждения</a:t>
            </a:r>
            <a:r>
              <a:rPr lang="ru-RU" sz="3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543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E4AE4-8BCF-A0B1-CD2B-BB913A855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E4C3DF2-E97C-5481-AF0B-60288E40A81B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8C8032-332C-AA91-2B1C-D096841B92A7}"/>
              </a:ext>
            </a:extLst>
          </p:cNvPr>
          <p:cNvSpPr txBox="1"/>
          <p:nvPr/>
        </p:nvSpPr>
        <p:spPr>
          <a:xfrm>
            <a:off x="546416" y="682017"/>
            <a:ext cx="7920880" cy="6035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Психическая травма - нарушение психики из-за сильного стресса (острая или хроническая).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Событие, превышающее способность психики к адаптации. 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Примеры события: Потеря близкого, насилие, сильная критика от близкого человека и пр.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Пример травмы: Сексуальное насилие → человек избегает отношений.  </a:t>
            </a:r>
          </a:p>
        </p:txBody>
      </p:sp>
    </p:spTree>
    <p:extLst>
      <p:ext uri="{BB962C8B-B14F-4D97-AF65-F5344CB8AC3E}">
        <p14:creationId xmlns:p14="http://schemas.microsoft.com/office/powerpoint/2010/main" val="4078393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F5463-6D00-2F98-A466-9F7BF4BAB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3485218-3DC0-DCAA-C33E-FC8E6A550182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1F3BB8-8705-1BF8-99C3-50415240E6C5}"/>
              </a:ext>
            </a:extLst>
          </p:cNvPr>
          <p:cNvSpPr txBox="1"/>
          <p:nvPr/>
        </p:nvSpPr>
        <p:spPr>
          <a:xfrm>
            <a:off x="287524" y="908720"/>
            <a:ext cx="8568952" cy="345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Как формируется психическая травма? 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Формула появления психической травмы: Ситуация → Негативный опыт → Защитный механизм → Симптом. </a:t>
            </a:r>
          </a:p>
        </p:txBody>
      </p:sp>
    </p:spTree>
    <p:extLst>
      <p:ext uri="{BB962C8B-B14F-4D97-AF65-F5344CB8AC3E}">
        <p14:creationId xmlns:p14="http://schemas.microsoft.com/office/powerpoint/2010/main" val="12173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C260B-5176-C5B0-B84C-62E11824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C0410C4-E398-D260-3109-440841D1E58C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7686F-39D8-A6E5-15C9-2E3C42D78BAB}"/>
              </a:ext>
            </a:extLst>
          </p:cNvPr>
          <p:cNvSpPr txBox="1"/>
          <p:nvPr/>
        </p:nvSpPr>
        <p:spPr>
          <a:xfrm>
            <a:off x="251520" y="188640"/>
            <a:ext cx="8640960" cy="623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Виды психических травм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По времени воздействия:</a:t>
            </a:r>
          </a:p>
          <a:p>
            <a:pPr marL="342900" indent="-342900">
              <a:spcAft>
                <a:spcPts val="800"/>
              </a:spcAft>
              <a:buAutoNum type="arabicPeriod"/>
            </a:pPr>
            <a:r>
              <a:rPr lang="ru-RU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Острая/шоковая</a:t>
            </a:r>
          </a:p>
          <a:p>
            <a:pPr marL="342900" indent="-342900">
              <a:spcAft>
                <a:spcPts val="800"/>
              </a:spcAft>
              <a:buAutoNum type="arabicPeriod"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Хроническая/комплексная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AutoNum type="arabicPeriod"/>
            </a:pPr>
            <a:endParaRPr lang="ru-RU" sz="3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По причине возникновения:</a:t>
            </a:r>
          </a:p>
          <a:p>
            <a:pPr marL="342900" indent="-342900">
              <a:spcAft>
                <a:spcPts val="800"/>
              </a:spcAft>
              <a:buAutoNum type="arabicPeriod"/>
            </a:pPr>
            <a:r>
              <a:rPr lang="ru-RU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Насилие </a:t>
            </a:r>
          </a:p>
          <a:p>
            <a:pPr marL="342900" indent="-342900">
              <a:spcAft>
                <a:spcPts val="800"/>
              </a:spcAft>
              <a:buAutoNum type="arabicPeriod"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Утрата</a:t>
            </a:r>
          </a:p>
          <a:p>
            <a:pPr marL="342900" indent="-342900">
              <a:spcAft>
                <a:spcPts val="800"/>
              </a:spcAft>
              <a:buAutoNum type="arabicPeriod"/>
            </a:pPr>
            <a:r>
              <a:rPr lang="ru-RU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Привязанность</a:t>
            </a:r>
          </a:p>
          <a:p>
            <a:pPr marL="342900" indent="-342900">
              <a:spcAft>
                <a:spcPts val="800"/>
              </a:spcAft>
              <a:buAutoNum type="arabicPeriod"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Предательство</a:t>
            </a:r>
            <a:endParaRPr lang="ru-RU" sz="3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C3023-635B-25BA-E3A8-12D9CEC13D24}"/>
              </a:ext>
            </a:extLst>
          </p:cNvPr>
          <p:cNvSpPr txBox="1"/>
          <p:nvPr/>
        </p:nvSpPr>
        <p:spPr>
          <a:xfrm>
            <a:off x="6553833" y="4941168"/>
            <a:ext cx="2208359" cy="1197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32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Викарная травма</a:t>
            </a:r>
          </a:p>
        </p:txBody>
      </p:sp>
    </p:spTree>
    <p:extLst>
      <p:ext uri="{BB962C8B-B14F-4D97-AF65-F5344CB8AC3E}">
        <p14:creationId xmlns:p14="http://schemas.microsoft.com/office/powerpoint/2010/main" val="698107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705DC-8CF2-2F5F-EA67-D86DF871E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138679-9AF8-0996-6646-BE5600DF74AF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5FF38-5C9C-C4A1-E9BB-A519C0925023}"/>
              </a:ext>
            </a:extLst>
          </p:cNvPr>
          <p:cNvSpPr txBox="1"/>
          <p:nvPr/>
        </p:nvSpPr>
        <p:spPr>
          <a:xfrm>
            <a:off x="222380" y="116632"/>
            <a:ext cx="8568952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Схема развития травмы и ее проживания/проработки</a:t>
            </a:r>
          </a:p>
          <a:p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Шок → Отрицание → Проживание → Интеграция (принятие или не принятие. Выстраивание отношения к ситуации).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F5952A-B32F-BB96-67F2-BA4097E09036}"/>
              </a:ext>
            </a:extLst>
          </p:cNvPr>
          <p:cNvSpPr txBox="1"/>
          <p:nvPr/>
        </p:nvSpPr>
        <p:spPr>
          <a:xfrm>
            <a:off x="539552" y="3214309"/>
            <a:ext cx="457925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Проживание:</a:t>
            </a:r>
          </a:p>
          <a:p>
            <a:r>
              <a:rPr lang="ru-RU" sz="2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Навязчивые воспоминания</a:t>
            </a:r>
          </a:p>
          <a:p>
            <a:r>
              <a:rPr lang="ru-RU" sz="2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Признание факта</a:t>
            </a:r>
          </a:p>
          <a:p>
            <a:r>
              <a:rPr lang="ru-RU" sz="2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Гнев</a:t>
            </a:r>
          </a:p>
          <a:p>
            <a:r>
              <a:rPr lang="ru-RU" sz="2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Сделка/торг</a:t>
            </a:r>
          </a:p>
          <a:p>
            <a:r>
              <a:rPr lang="ru-RU" sz="2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Депрессия/горевание</a:t>
            </a:r>
          </a:p>
          <a:p>
            <a:r>
              <a:rPr lang="ru-RU" sz="2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Выстраивание окружения</a:t>
            </a:r>
          </a:p>
          <a:p>
            <a:r>
              <a:rPr lang="ru-RU" sz="2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Переживание травмы/горя</a:t>
            </a:r>
          </a:p>
        </p:txBody>
      </p:sp>
    </p:spTree>
    <p:extLst>
      <p:ext uri="{BB962C8B-B14F-4D97-AF65-F5344CB8AC3E}">
        <p14:creationId xmlns:p14="http://schemas.microsoft.com/office/powerpoint/2010/main" val="2542081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97023-7187-D946-B880-C15809435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39246C1-2603-40CC-0DC8-19578DC82CC9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018945-53B1-BEF4-BC1B-FD9B825CB8A0}"/>
              </a:ext>
            </a:extLst>
          </p:cNvPr>
          <p:cNvSpPr txBox="1"/>
          <p:nvPr/>
        </p:nvSpPr>
        <p:spPr>
          <a:xfrm>
            <a:off x="575556" y="336130"/>
            <a:ext cx="7992888" cy="549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Методы работы с травмой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ru-RU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3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Рескриптинг</a:t>
            </a:r>
            <a:endParaRPr lang="ru-RU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Экспозиция</a:t>
            </a:r>
          </a:p>
          <a:p>
            <a:pPr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Катарсис</a:t>
            </a:r>
          </a:p>
          <a:p>
            <a:pPr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Терапия сострадания</a:t>
            </a:r>
          </a:p>
          <a:p>
            <a:pPr>
              <a:spcAft>
                <a:spcPts val="800"/>
              </a:spcAft>
              <a:buNone/>
            </a:pPr>
            <a:r>
              <a:rPr lang="ru-RU" sz="3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Mindfulness</a:t>
            </a:r>
            <a:endParaRPr lang="ru-RU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Эмоционально-образная терапия</a:t>
            </a:r>
          </a:p>
          <a:p>
            <a:pPr>
              <a:spcAft>
                <a:spcPts val="800"/>
              </a:spcAft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КПТ</a:t>
            </a:r>
          </a:p>
        </p:txBody>
      </p:sp>
    </p:spTree>
    <p:extLst>
      <p:ext uri="{BB962C8B-B14F-4D97-AF65-F5344CB8AC3E}">
        <p14:creationId xmlns:p14="http://schemas.microsoft.com/office/powerpoint/2010/main" val="401291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1559-03C4-3438-2264-4A66F00E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1603872-5611-491A-D05E-B3D8EE9B089B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F301D-D46E-3FA5-C395-B3827CB392D0}"/>
              </a:ext>
            </a:extLst>
          </p:cNvPr>
          <p:cNvSpPr txBox="1"/>
          <p:nvPr/>
        </p:nvSpPr>
        <p:spPr>
          <a:xfrm>
            <a:off x="251520" y="364730"/>
            <a:ext cx="8892480" cy="5636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Использование </a:t>
            </a:r>
            <a:r>
              <a:rPr lang="ru-RU" sz="2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регрессии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Метод </a:t>
            </a:r>
            <a:r>
              <a:rPr lang="ru-RU" sz="2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рескриптинга</a:t>
            </a: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— это техника, направленная на изменение травматического или болезненного воспоминания через воображение.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Цель — снизить эмоциональное воздействие события и помочь человеку обрести чувство контроля.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Шаги:</a:t>
            </a:r>
          </a:p>
          <a:p>
            <a:pPr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Вспомнить травму.</a:t>
            </a:r>
          </a:p>
          <a:p>
            <a:pPr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Изменить сценарий в воображении.</a:t>
            </a:r>
          </a:p>
          <a:p>
            <a:pPr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Закрепить новый финал.</a:t>
            </a:r>
          </a:p>
          <a:p>
            <a:pPr>
              <a:spcAft>
                <a:spcPts val="800"/>
              </a:spcAft>
            </a:pP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Пример: Изменить финал конфликта, представив в конце позитивный финал.</a:t>
            </a:r>
          </a:p>
        </p:txBody>
      </p:sp>
    </p:spTree>
    <p:extLst>
      <p:ext uri="{BB962C8B-B14F-4D97-AF65-F5344CB8AC3E}">
        <p14:creationId xmlns:p14="http://schemas.microsoft.com/office/powerpoint/2010/main" val="1454939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7EBB5-2429-4E76-970B-23566DB38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4D905CD-3741-E772-0681-6495812BE7A1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26BB4-9B7A-271E-C426-04E8EA494221}"/>
              </a:ext>
            </a:extLst>
          </p:cNvPr>
          <p:cNvSpPr txBox="1"/>
          <p:nvPr/>
        </p:nvSpPr>
        <p:spPr>
          <a:xfrm>
            <a:off x="359532" y="69939"/>
            <a:ext cx="8424936" cy="6873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Экспозиция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7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Метод экспозиции — это техника постепенного столкновения с травматическими воспоминаниями или ситуациями, вызывающими страх, чтобы снизить тревогу через привыкание.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7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Техника: рассказать о событии вслух, сначала кратко, потом детальнее. 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7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Шаги: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7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Кратко описать травму.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7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Углубить детали.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7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Повторять до снижения тревоги.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7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Пример: Рассказ об уходе партнера.</a:t>
            </a:r>
          </a:p>
        </p:txBody>
      </p:sp>
    </p:spTree>
    <p:extLst>
      <p:ext uri="{BB962C8B-B14F-4D97-AF65-F5344CB8AC3E}">
        <p14:creationId xmlns:p14="http://schemas.microsoft.com/office/powerpoint/2010/main" val="1230150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DFE16-2B95-CB11-6230-7CA916396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FBF60A6-2F17-5E40-7B65-DEEE0A4CDE13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1EE646-0250-9AC2-E863-35108877A96A}"/>
              </a:ext>
            </a:extLst>
          </p:cNvPr>
          <p:cNvSpPr txBox="1"/>
          <p:nvPr/>
        </p:nvSpPr>
        <p:spPr>
          <a:xfrm>
            <a:off x="287524" y="143521"/>
            <a:ext cx="8568952" cy="63783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Катарсис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Метод катарсиса — это техника высвобождения подавленных эмоций через их выражение (например, письмо, крик, плач), что помогает снять внутреннее напряжение.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endParaRPr lang="ru-RU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Шаги: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Выбрать способ выражения (письмо, крик).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Выразить эмоции.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Отдохнуть и обсудить.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Пример: Письмо обидчику.</a:t>
            </a:r>
          </a:p>
        </p:txBody>
      </p:sp>
    </p:spTree>
    <p:extLst>
      <p:ext uri="{BB962C8B-B14F-4D97-AF65-F5344CB8AC3E}">
        <p14:creationId xmlns:p14="http://schemas.microsoft.com/office/powerpoint/2010/main" val="2919853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F8714-0C57-967D-A763-3899E49A1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01DD58F-D6B3-D506-EE6E-E1CB988FBA4D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BF28FB-3260-7380-80BA-C77CEDFEA1E9}"/>
              </a:ext>
            </a:extLst>
          </p:cNvPr>
          <p:cNvSpPr txBox="1"/>
          <p:nvPr/>
        </p:nvSpPr>
        <p:spPr>
          <a:xfrm>
            <a:off x="647564" y="371424"/>
            <a:ext cx="7848872" cy="558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Терапия, ориентированная на сострадание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Помогает развить самопринятие и доброту к себе, особенно если вы склонны к самокритике или чувству вины.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Шаги:</a:t>
            </a:r>
          </a:p>
          <a:p>
            <a:pPr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Положить руку на сердце.</a:t>
            </a:r>
          </a:p>
          <a:p>
            <a:pPr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Произнести фразы самопринятия ("Я достоин любви").</a:t>
            </a:r>
          </a:p>
          <a:p>
            <a:pPr>
              <a:spcAft>
                <a:spcPts val="800"/>
              </a:spcAft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Повторять ежедневно.</a:t>
            </a:r>
          </a:p>
        </p:txBody>
      </p:sp>
    </p:spTree>
    <p:extLst>
      <p:ext uri="{BB962C8B-B14F-4D97-AF65-F5344CB8AC3E}">
        <p14:creationId xmlns:p14="http://schemas.microsoft.com/office/powerpoint/2010/main" val="1065097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3C971-57B1-DDE3-E157-57F49B8ED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5CE7CD5-96A4-33CA-FC88-D41BB9600218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D63E3-8983-7369-0D9E-311BF909FC30}"/>
              </a:ext>
            </a:extLst>
          </p:cNvPr>
          <p:cNvSpPr txBox="1"/>
          <p:nvPr/>
        </p:nvSpPr>
        <p:spPr>
          <a:xfrm>
            <a:off x="503548" y="476672"/>
            <a:ext cx="8136904" cy="5648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ru-RU" sz="3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Mindfulness</a:t>
            </a: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-терапия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</a:t>
            </a: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рактика осознанности, которая учит фокусироваться на настоящем моменте, снижая тревогу и улучшая контроль над эмоциями.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ru-RU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Шаги:</a:t>
            </a:r>
          </a:p>
          <a:p>
            <a:pPr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Сесть удобно, закрыть глаза.</a:t>
            </a:r>
          </a:p>
          <a:p>
            <a:pPr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Фокус на дыхании.</a:t>
            </a:r>
          </a:p>
          <a:p>
            <a:pPr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Наблюдать мысли без осуждения.</a:t>
            </a:r>
          </a:p>
          <a:p>
            <a:pPr>
              <a:spcAft>
                <a:spcPts val="800"/>
              </a:spcAft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Время: 5–10 минут.</a:t>
            </a:r>
          </a:p>
        </p:txBody>
      </p:sp>
    </p:spTree>
    <p:extLst>
      <p:ext uri="{BB962C8B-B14F-4D97-AF65-F5344CB8AC3E}">
        <p14:creationId xmlns:p14="http://schemas.microsoft.com/office/powerpoint/2010/main" val="1805196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525CF-0A76-F222-F40B-61CF4FB25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BC0A200-17EC-92EA-B127-1A2AC044CDE0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91F2BF-B352-12A3-3CA6-B4E8086B0FCD}"/>
              </a:ext>
            </a:extLst>
          </p:cNvPr>
          <p:cNvSpPr txBox="1"/>
          <p:nvPr/>
        </p:nvSpPr>
        <p:spPr>
          <a:xfrm>
            <a:off x="395536" y="311163"/>
            <a:ext cx="8352928" cy="5050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Эмоционально-образная терапия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использует визуализацию образов для работы с травмами, трансформируя негативные переживания в более спокойные.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Шаги:</a:t>
            </a:r>
          </a:p>
          <a:p>
            <a:pPr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Представить травму как образ.</a:t>
            </a:r>
          </a:p>
          <a:p>
            <a:pPr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Изменить образ на позитивный.</a:t>
            </a:r>
          </a:p>
          <a:p>
            <a:pPr>
              <a:spcAft>
                <a:spcPts val="800"/>
              </a:spcAft>
              <a:buNone/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Закрепить новый образ.</a:t>
            </a:r>
          </a:p>
          <a:p>
            <a:pPr>
              <a:spcAft>
                <a:spcPts val="800"/>
              </a:spcAft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Пример: Огонь → Свет.</a:t>
            </a:r>
          </a:p>
        </p:txBody>
      </p:sp>
    </p:spTree>
    <p:extLst>
      <p:ext uri="{BB962C8B-B14F-4D97-AF65-F5344CB8AC3E}">
        <p14:creationId xmlns:p14="http://schemas.microsoft.com/office/powerpoint/2010/main" val="3508050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DF3B0-80F6-1A3C-C0E2-494A1D9F0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EEF69B4-2B99-5EC1-6C03-083F4C51A56A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F9B896-0EDB-2E7D-4068-00C068079B45}"/>
              </a:ext>
            </a:extLst>
          </p:cNvPr>
          <p:cNvSpPr txBox="1"/>
          <p:nvPr/>
        </p:nvSpPr>
        <p:spPr>
          <a:xfrm>
            <a:off x="294388" y="789873"/>
            <a:ext cx="8424936" cy="6233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Когнитивно-поведенческая терапия (КПТ)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Когнитивно-поведенческая терапия помогает выявить и изменить негативные мысли, влияющие на эмоции и поведение.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Шаги: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Выявить негативную мысль.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Проанализировать её.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Сформулировать новую установку.</a:t>
            </a:r>
          </a:p>
          <a:p>
            <a:pPr>
              <a:spcAft>
                <a:spcPts val="800"/>
              </a:spcAft>
            </a:pP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Пример: "Я не достоин" → "Я ценен".</a:t>
            </a:r>
          </a:p>
          <a:p>
            <a:pPr>
              <a:spcAft>
                <a:spcPts val="800"/>
              </a:spcAft>
            </a:pPr>
            <a:r>
              <a:rPr lang="ru-RU" sz="2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                   'Я виноват' </a:t>
            </a:r>
            <a:r>
              <a:rPr lang="ru-RU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→</a:t>
            </a:r>
            <a:r>
              <a:rPr lang="ru-RU" sz="24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'Я сделал, что мог'."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ru-RU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ru-RU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2882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6696D-B2D6-2C1E-5CD9-CE3ED91C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262D20B-8271-C467-EC02-FF79E460BD75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514B1-4449-F84F-768E-CA27146F1EBE}"/>
              </a:ext>
            </a:extLst>
          </p:cNvPr>
          <p:cNvSpPr txBox="1"/>
          <p:nvPr/>
        </p:nvSpPr>
        <p:spPr>
          <a:xfrm>
            <a:off x="647564" y="908720"/>
            <a:ext cx="7848872" cy="4520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Метафорические ассоциативные карты — это инструмент для доступа к бессознательным процессам через образы. Клиент выбирает карты, которые вызывают отклик, что помогает раскрыть скрытые эмоции и мысли.</a:t>
            </a:r>
          </a:p>
        </p:txBody>
      </p:sp>
    </p:spTree>
    <p:extLst>
      <p:ext uri="{BB962C8B-B14F-4D97-AF65-F5344CB8AC3E}">
        <p14:creationId xmlns:p14="http://schemas.microsoft.com/office/powerpoint/2010/main" val="141379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2912F-A537-71B0-EABF-7A762B04D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DEEF77B-E5E2-96E3-D4D4-0DB276928A0F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E6FB61-0CC9-A20D-D132-8702392D220E}"/>
              </a:ext>
            </a:extLst>
          </p:cNvPr>
          <p:cNvSpPr txBox="1"/>
          <p:nvPr/>
        </p:nvSpPr>
        <p:spPr>
          <a:xfrm>
            <a:off x="467544" y="908720"/>
            <a:ext cx="8208912" cy="4623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Техника "Телесная осознанность" (соматический подход)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Эта техника фокусируется на телесных ощущениях, чтобы выявить и освободить подавленные эмоции, которые проявляются в виде напряжения в теле.</a:t>
            </a:r>
          </a:p>
        </p:txBody>
      </p:sp>
    </p:spTree>
    <p:extLst>
      <p:ext uri="{BB962C8B-B14F-4D97-AF65-F5344CB8AC3E}">
        <p14:creationId xmlns:p14="http://schemas.microsoft.com/office/powerpoint/2010/main" val="1548063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811BE-D7D7-8654-B716-306ED39AC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392D51-A63A-8E9F-3E17-EE7F05B5751D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23A8A-20CA-3FBC-EE20-91A83FF6D44D}"/>
              </a:ext>
            </a:extLst>
          </p:cNvPr>
          <p:cNvSpPr txBox="1"/>
          <p:nvPr/>
        </p:nvSpPr>
        <p:spPr>
          <a:xfrm>
            <a:off x="467544" y="548680"/>
            <a:ext cx="8424936" cy="5260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Техника "Работа с </a:t>
            </a:r>
            <a:r>
              <a:rPr lang="ru-RU" sz="3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субличностями</a:t>
            </a: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 (психодинамический и </a:t>
            </a:r>
            <a:r>
              <a:rPr lang="ru-RU" sz="3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юнгианский</a:t>
            </a: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подходы)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Техника рассматривает личность как набор "частей" (например, "внутренний ребёнок", "критик") и помогает наладить между ними диалог для интеграции.</a:t>
            </a:r>
          </a:p>
        </p:txBody>
      </p:sp>
    </p:spTree>
    <p:extLst>
      <p:ext uri="{BB962C8B-B14F-4D97-AF65-F5344CB8AC3E}">
        <p14:creationId xmlns:p14="http://schemas.microsoft.com/office/powerpoint/2010/main" val="2713307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8DADD-EC2F-E932-E5B1-65E1BB4B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E013FFA-DDC8-838B-3633-3024A4AE7903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47ECC0-8CB3-8023-B805-0D59CFAEB20D}"/>
              </a:ext>
            </a:extLst>
          </p:cNvPr>
          <p:cNvSpPr txBox="1"/>
          <p:nvPr/>
        </p:nvSpPr>
        <p:spPr>
          <a:xfrm>
            <a:off x="611560" y="764704"/>
            <a:ext cx="8208912" cy="4623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Техника "Десенсибилизация и переработка движениями глаз" (EMDR, упрощённая версия)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EMDR используется для переработки травм через стимуляцию (обычно движения глаз), помогая снизить эмоциональный заряд воспоминаний.</a:t>
            </a:r>
          </a:p>
        </p:txBody>
      </p:sp>
    </p:spTree>
    <p:extLst>
      <p:ext uri="{BB962C8B-B14F-4D97-AF65-F5344CB8AC3E}">
        <p14:creationId xmlns:p14="http://schemas.microsoft.com/office/powerpoint/2010/main" val="21372322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60AA3-5288-F4A2-36A5-0018F5AD9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F1028F3-41D0-10EF-64C0-F4865346DFDA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AA3668-AFA8-8917-71CB-AA9D358A86D2}"/>
              </a:ext>
            </a:extLst>
          </p:cNvPr>
          <p:cNvSpPr txBox="1"/>
          <p:nvPr/>
        </p:nvSpPr>
        <p:spPr>
          <a:xfrm>
            <a:off x="1331640" y="836712"/>
            <a:ext cx="7416824" cy="4623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Техника "Письмо прощения" (терапия принятия и ответственности, ACT)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3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Письмо помогает отпустить обиды, выражая чувства и принимая ситуацию через прощение.</a:t>
            </a:r>
          </a:p>
        </p:txBody>
      </p:sp>
    </p:spTree>
    <p:extLst>
      <p:ext uri="{BB962C8B-B14F-4D97-AF65-F5344CB8AC3E}">
        <p14:creationId xmlns:p14="http://schemas.microsoft.com/office/powerpoint/2010/main" val="4277123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159B3-AC86-49BB-02F6-3032A938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356DF1B-02F3-15EE-3D1E-DD06DCA029CD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585342-A75F-A9A1-896B-2DDCED83AF94}"/>
              </a:ext>
            </a:extLst>
          </p:cNvPr>
          <p:cNvSpPr txBox="1"/>
          <p:nvPr/>
        </p:nvSpPr>
        <p:spPr>
          <a:xfrm>
            <a:off x="611560" y="336130"/>
            <a:ext cx="8208912" cy="5776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Техника «Телесный щит» (телесно-ориентированная терапия) 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Цель: Осознание и трансформация телесных проявлений защит. 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Шаги: 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ru-RU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Возвращение в ситуацию травмы</a:t>
            </a:r>
            <a:endParaRPr lang="ru-RU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Рефлексия телесной реакции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Фиксация позы</a:t>
            </a:r>
            <a:endParaRPr lang="ru-RU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Трансформация позы  </a:t>
            </a:r>
          </a:p>
        </p:txBody>
      </p:sp>
    </p:spTree>
    <p:extLst>
      <p:ext uri="{BB962C8B-B14F-4D97-AF65-F5344CB8AC3E}">
        <p14:creationId xmlns:p14="http://schemas.microsoft.com/office/powerpoint/2010/main" val="22372648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8FF4D-255C-AABA-21CE-585B55E39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47584AA-FBEF-5A75-AD59-1C54DAE28584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C461E8-AF17-9024-9D8F-078F0975CC15}"/>
              </a:ext>
            </a:extLst>
          </p:cNvPr>
          <p:cNvSpPr txBox="1"/>
          <p:nvPr/>
        </p:nvSpPr>
        <p:spPr>
          <a:xfrm>
            <a:off x="395536" y="311163"/>
            <a:ext cx="8352928" cy="6240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Техника «Скульптура семьи» (гештальт-подход) 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Цель: Визуализация семейных динамик и защитных механизмов через телесное выражение. 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Шаги: 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Скульптор строит семейные отношения  (люди, стулья, МАК и пр.)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Анализ ощущений каждой скульптуры 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Трансформация скульптуры  </a:t>
            </a:r>
          </a:p>
        </p:txBody>
      </p:sp>
    </p:spTree>
    <p:extLst>
      <p:ext uri="{BB962C8B-B14F-4D97-AF65-F5344CB8AC3E}">
        <p14:creationId xmlns:p14="http://schemas.microsoft.com/office/powerpoint/2010/main" val="732416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BA6CB-BD12-E5FA-AF4D-5DA22EB2E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2A14172-5CC4-C731-75FF-30267914D479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3A6EB-F811-5924-6878-861D8DEDD4A4}"/>
              </a:ext>
            </a:extLst>
          </p:cNvPr>
          <p:cNvSpPr txBox="1"/>
          <p:nvPr/>
        </p:nvSpPr>
        <p:spPr>
          <a:xfrm>
            <a:off x="287524" y="84366"/>
            <a:ext cx="8568952" cy="6689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Техника «Дневник защит» (когнитивно-поведенческий подход) 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Цель: Осознание автоматических защитных реакций в повседневности.</a:t>
            </a:r>
          </a:p>
          <a:p>
            <a:pPr>
              <a:spcAft>
                <a:spcPts val="800"/>
              </a:spcAft>
              <a:buNone/>
            </a:pPr>
            <a:r>
              <a:rPr lang="ru-RU" sz="2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Шаги:  </a:t>
            </a:r>
          </a:p>
          <a:p>
            <a:pPr>
              <a:spcAft>
                <a:spcPts val="800"/>
              </a:spcAft>
              <a:buNone/>
            </a:pPr>
            <a:r>
              <a:rPr lang="ru-RU" sz="2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Инструкция:  </a:t>
            </a:r>
          </a:p>
          <a:p>
            <a:pPr>
              <a:spcAft>
                <a:spcPts val="800"/>
              </a:spcAft>
              <a:buNone/>
            </a:pPr>
            <a:r>
              <a:rPr lang="ru-RU" sz="2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- Клиент неделю ведет дневник, фиксируя:  </a:t>
            </a:r>
          </a:p>
          <a:p>
            <a:pPr>
              <a:spcAft>
                <a:spcPts val="800"/>
              </a:spcAft>
              <a:buNone/>
            </a:pPr>
            <a:r>
              <a:rPr lang="ru-RU" sz="2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- Ситуация (например, спор с партнером).  </a:t>
            </a:r>
          </a:p>
          <a:p>
            <a:pPr>
              <a:spcAft>
                <a:spcPts val="800"/>
              </a:spcAft>
              <a:buNone/>
            </a:pPr>
            <a:r>
              <a:rPr lang="ru-RU" sz="2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- Эмоция (гнев, страх).  </a:t>
            </a:r>
          </a:p>
          <a:p>
            <a:pPr>
              <a:spcAft>
                <a:spcPts val="800"/>
              </a:spcAft>
              <a:buNone/>
            </a:pPr>
            <a:r>
              <a:rPr lang="ru-RU" sz="2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- Защитный механизм (избегание, сарказм).  </a:t>
            </a:r>
          </a:p>
          <a:p>
            <a:pPr>
              <a:spcAft>
                <a:spcPts val="800"/>
              </a:spcAft>
              <a:buNone/>
            </a:pPr>
            <a:r>
              <a:rPr lang="ru-RU" sz="2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Обсуждение и анализ на следующей сессии:  </a:t>
            </a:r>
          </a:p>
          <a:p>
            <a:pPr>
              <a:spcAft>
                <a:spcPts val="800"/>
              </a:spcAft>
              <a:buNone/>
            </a:pPr>
            <a:r>
              <a:rPr lang="ru-RU" sz="2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- Поиск паттернов: «Как часто проявляется защитный механизм?».  </a:t>
            </a:r>
          </a:p>
          <a:p>
            <a:pPr>
              <a:spcAft>
                <a:spcPts val="800"/>
              </a:spcAft>
              <a:buNone/>
            </a:pPr>
            <a:r>
              <a:rPr lang="ru-RU" sz="2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Планирование изменений:  </a:t>
            </a:r>
          </a:p>
          <a:p>
            <a:pPr>
              <a:spcAft>
                <a:spcPts val="800"/>
              </a:spcAft>
            </a:pPr>
            <a:r>
              <a:rPr lang="ru-RU" sz="23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- Для каждой защиты придумывают альтернативу (вместо избегания – «Я скажу, что мне нужно время»).  </a:t>
            </a:r>
          </a:p>
        </p:txBody>
      </p:sp>
    </p:spTree>
    <p:extLst>
      <p:ext uri="{BB962C8B-B14F-4D97-AF65-F5344CB8AC3E}">
        <p14:creationId xmlns:p14="http://schemas.microsoft.com/office/powerpoint/2010/main" val="4720101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8F407-1FAE-D96E-5281-E2677341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CE3A6DC-F7E0-9DA7-AF39-A09A39A868E2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FB0FCA-706A-83B4-0B04-6A77AD21023C}"/>
              </a:ext>
            </a:extLst>
          </p:cNvPr>
          <p:cNvSpPr txBox="1"/>
          <p:nvPr/>
        </p:nvSpPr>
        <p:spPr>
          <a:xfrm>
            <a:off x="359532" y="68086"/>
            <a:ext cx="8424936" cy="6805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Техника «Безопасное место» (терапия травмы)  (групповую сделать?)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Цель: Создание внутреннего ресурса для работы с травматичными воспоминаниями.  </a:t>
            </a:r>
          </a:p>
          <a:p>
            <a:pPr>
              <a:spcAft>
                <a:spcPts val="800"/>
              </a:spcAft>
              <a:buNone/>
            </a:pPr>
            <a:r>
              <a:rPr lang="ru-RU" sz="2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Шаги:  </a:t>
            </a:r>
          </a:p>
          <a:p>
            <a:pPr>
              <a:spcAft>
                <a:spcPts val="800"/>
              </a:spcAft>
              <a:buNone/>
            </a:pPr>
            <a:r>
              <a:rPr lang="ru-RU" sz="2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Инструкция:  </a:t>
            </a:r>
          </a:p>
          <a:p>
            <a:pPr>
              <a:spcAft>
                <a:spcPts val="800"/>
              </a:spcAft>
              <a:buNone/>
            </a:pPr>
            <a:r>
              <a:rPr lang="ru-RU" sz="2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- Клиент закрывает глаза, представляет место, где чувствует себя в безопасности (пляж, лесная поляна).  </a:t>
            </a:r>
          </a:p>
          <a:p>
            <a:pPr>
              <a:spcAft>
                <a:spcPts val="800"/>
              </a:spcAft>
              <a:buNone/>
            </a:pPr>
            <a:r>
              <a:rPr lang="ru-RU" sz="2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Детализация:  </a:t>
            </a:r>
          </a:p>
          <a:p>
            <a:pPr>
              <a:spcAft>
                <a:spcPts val="800"/>
              </a:spcAft>
              <a:buNone/>
            </a:pPr>
            <a:r>
              <a:rPr lang="ru-RU" sz="2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- Терапевт задает вопросы: «Какие там звуки? Запахи? Какие цвета вы видите?».  </a:t>
            </a:r>
          </a:p>
          <a:p>
            <a:pPr>
              <a:spcAft>
                <a:spcPts val="800"/>
              </a:spcAft>
              <a:buNone/>
            </a:pPr>
            <a:r>
              <a:rPr lang="ru-RU" sz="2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«Якорение»:  </a:t>
            </a:r>
          </a:p>
          <a:p>
            <a:pPr>
              <a:spcAft>
                <a:spcPts val="800"/>
              </a:spcAft>
              <a:buNone/>
            </a:pPr>
            <a:r>
              <a:rPr lang="ru-RU" sz="2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- Клиент выбирают «якорь» (например, сжатие кулака), чтобы мгновенно возвращаться в это состояние.  </a:t>
            </a:r>
          </a:p>
          <a:p>
            <a:pPr>
              <a:spcAft>
                <a:spcPts val="800"/>
              </a:spcAft>
              <a:buNone/>
            </a:pPr>
            <a:r>
              <a:rPr lang="ru-RU" sz="2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Применение:  </a:t>
            </a:r>
          </a:p>
          <a:p>
            <a:pPr>
              <a:spcAft>
                <a:spcPts val="800"/>
              </a:spcAft>
            </a:pPr>
            <a:r>
              <a:rPr lang="ru-RU" sz="2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- При обсуждении травмы терапевт напоминает: «Используйте якорь, если эмоции станут слишком интенсивными».  </a:t>
            </a:r>
          </a:p>
        </p:txBody>
      </p:sp>
    </p:spTree>
    <p:extLst>
      <p:ext uri="{BB962C8B-B14F-4D97-AF65-F5344CB8AC3E}">
        <p14:creationId xmlns:p14="http://schemas.microsoft.com/office/powerpoint/2010/main" val="23539550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C352B-3308-6BA0-880E-475DB0AF8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61AFB52-96D2-D486-C6E9-080C9A73BB99}"/>
              </a:ext>
            </a:extLst>
          </p:cNvPr>
          <p:cNvSpPr/>
          <p:nvPr/>
        </p:nvSpPr>
        <p:spPr>
          <a:xfrm>
            <a:off x="2022580" y="311163"/>
            <a:ext cx="4968552" cy="6210707"/>
          </a:xfrm>
          <a:prstGeom prst="rect">
            <a:avLst/>
          </a:prstGeom>
          <a:blipFill dpi="0" rotWithShape="1">
            <a:blip r:embed="rId3">
              <a:alphaModFix amt="8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482043-345B-2CF4-4331-D93D05716702}"/>
              </a:ext>
            </a:extLst>
          </p:cNvPr>
          <p:cNvSpPr txBox="1"/>
          <p:nvPr/>
        </p:nvSpPr>
        <p:spPr>
          <a:xfrm>
            <a:off x="287524" y="548680"/>
            <a:ext cx="8568952" cy="5005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Основные выводы: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endParaRPr lang="ru-RU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Прошлое влияет на отношения через бессознательные процессы.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Защитные механизмы можно распознать и изменить.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Травмы требуют особого подхода, но с ними можно работать.</a:t>
            </a:r>
          </a:p>
        </p:txBody>
      </p:sp>
    </p:spTree>
    <p:extLst>
      <p:ext uri="{BB962C8B-B14F-4D97-AF65-F5344CB8AC3E}">
        <p14:creationId xmlns:p14="http://schemas.microsoft.com/office/powerpoint/2010/main" val="16321835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шаблон, искусство, Прямоугольник, Симметрия&#10;&#10;Автоматически созданное описание">
            <a:extLst>
              <a:ext uri="{FF2B5EF4-FFF2-40B4-BE49-F238E27FC236}">
                <a16:creationId xmlns:a16="http://schemas.microsoft.com/office/drawing/2014/main" id="{0BA38923-3E84-FFE5-B4B2-A71B169C41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216" y="1124744"/>
            <a:ext cx="5485568" cy="54855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06F91FA-D7A2-EA68-8F94-2C367969C4A5}"/>
              </a:ext>
            </a:extLst>
          </p:cNvPr>
          <p:cNvSpPr/>
          <p:nvPr/>
        </p:nvSpPr>
        <p:spPr>
          <a:xfrm>
            <a:off x="2289163" y="116632"/>
            <a:ext cx="45656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Мои контакты:</a:t>
            </a:r>
          </a:p>
        </p:txBody>
      </p:sp>
    </p:spTree>
    <p:extLst>
      <p:ext uri="{BB962C8B-B14F-4D97-AF65-F5344CB8AC3E}">
        <p14:creationId xmlns:p14="http://schemas.microsoft.com/office/powerpoint/2010/main" val="35505935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17156</TotalTime>
  <Words>1752</Words>
  <Application>Microsoft Office PowerPoint</Application>
  <PresentationFormat>Экран (4:3)</PresentationFormat>
  <Paragraphs>250</Paragraphs>
  <Slides>38</Slides>
  <Notes>38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38</vt:i4>
      </vt:variant>
    </vt:vector>
  </HeadingPairs>
  <TitlesOfParts>
    <vt:vector size="45" baseType="lpstr">
      <vt:lpstr>Aptos</vt:lpstr>
      <vt:lpstr>Arial</vt:lpstr>
      <vt:lpstr>Calibri</vt:lpstr>
      <vt:lpstr>Calibri Light</vt:lpstr>
      <vt:lpstr>Symbol</vt:lpstr>
      <vt:lpstr>Тема Office</vt:lpstr>
      <vt:lpstr>1_Тема Office</vt:lpstr>
      <vt:lpstr>Модуль 5. Глубинная структура личности и здоровая гендерная коммуникация   Глубинная терапия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Голиченков Кирилл Юрьевич</dc:creator>
  <cp:lastModifiedBy>Кирилл Голиченков</cp:lastModifiedBy>
  <cp:revision>596</cp:revision>
  <dcterms:created xsi:type="dcterms:W3CDTF">2016-07-18T10:38:12Z</dcterms:created>
  <dcterms:modified xsi:type="dcterms:W3CDTF">2025-04-12T08:17:49Z</dcterms:modified>
</cp:coreProperties>
</file>