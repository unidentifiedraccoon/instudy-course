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895" r:id="rId1"/>
  </p:sldMasterIdLst>
  <p:notesMasterIdLst>
    <p:notesMasterId r:id="rId106"/>
  </p:notesMasterIdLst>
  <p:sldIdLst>
    <p:sldId id="1019" r:id="rId2"/>
    <p:sldId id="947" r:id="rId3"/>
    <p:sldId id="1020" r:id="rId4"/>
    <p:sldId id="1056" r:id="rId5"/>
    <p:sldId id="926" r:id="rId6"/>
    <p:sldId id="1021" r:id="rId7"/>
    <p:sldId id="1063" r:id="rId8"/>
    <p:sldId id="1147" r:id="rId9"/>
    <p:sldId id="1133" r:id="rId10"/>
    <p:sldId id="1136" r:id="rId11"/>
    <p:sldId id="1137" r:id="rId12"/>
    <p:sldId id="1138" r:id="rId13"/>
    <p:sldId id="928" r:id="rId14"/>
    <p:sldId id="920" r:id="rId15"/>
    <p:sldId id="921" r:id="rId16"/>
    <p:sldId id="1012" r:id="rId17"/>
    <p:sldId id="373" r:id="rId18"/>
    <p:sldId id="1011" r:id="rId19"/>
    <p:sldId id="1152" r:id="rId20"/>
    <p:sldId id="1026" r:id="rId21"/>
    <p:sldId id="378" r:id="rId22"/>
    <p:sldId id="381" r:id="rId23"/>
    <p:sldId id="1158" r:id="rId24"/>
    <p:sldId id="383" r:id="rId25"/>
    <p:sldId id="384" r:id="rId26"/>
    <p:sldId id="379" r:id="rId27"/>
    <p:sldId id="1059" r:id="rId28"/>
    <p:sldId id="1060" r:id="rId29"/>
    <p:sldId id="1061" r:id="rId30"/>
    <p:sldId id="1027" r:id="rId31"/>
    <p:sldId id="1028" r:id="rId32"/>
    <p:sldId id="978" r:id="rId33"/>
    <p:sldId id="1013" r:id="rId34"/>
    <p:sldId id="1109" r:id="rId35"/>
    <p:sldId id="1105" r:id="rId36"/>
    <p:sldId id="1112" r:id="rId37"/>
    <p:sldId id="1113" r:id="rId38"/>
    <p:sldId id="1114" r:id="rId39"/>
    <p:sldId id="1106" r:id="rId40"/>
    <p:sldId id="1107" r:id="rId41"/>
    <p:sldId id="1052" r:id="rId42"/>
    <p:sldId id="267" r:id="rId43"/>
    <p:sldId id="1067" r:id="rId44"/>
    <p:sldId id="1053" r:id="rId45"/>
    <p:sldId id="946" r:id="rId46"/>
    <p:sldId id="1145" r:id="rId47"/>
    <p:sldId id="1111" r:id="rId48"/>
    <p:sldId id="1066" r:id="rId49"/>
    <p:sldId id="1128" r:id="rId50"/>
    <p:sldId id="888" r:id="rId51"/>
    <p:sldId id="1127" r:id="rId52"/>
    <p:sldId id="1014" r:id="rId53"/>
    <p:sldId id="991" r:id="rId54"/>
    <p:sldId id="890" r:id="rId55"/>
    <p:sldId id="889" r:id="rId56"/>
    <p:sldId id="1131" r:id="rId57"/>
    <p:sldId id="1132" r:id="rId58"/>
    <p:sldId id="1143" r:id="rId59"/>
    <p:sldId id="982" r:id="rId60"/>
    <p:sldId id="983" r:id="rId61"/>
    <p:sldId id="936" r:id="rId62"/>
    <p:sldId id="979" r:id="rId63"/>
    <p:sldId id="893" r:id="rId64"/>
    <p:sldId id="980" r:id="rId65"/>
    <p:sldId id="1151" r:id="rId66"/>
    <p:sldId id="937" r:id="rId67"/>
    <p:sldId id="993" r:id="rId68"/>
    <p:sldId id="996" r:id="rId69"/>
    <p:sldId id="995" r:id="rId70"/>
    <p:sldId id="359" r:id="rId71"/>
    <p:sldId id="382" r:id="rId72"/>
    <p:sldId id="407" r:id="rId73"/>
    <p:sldId id="1108" r:id="rId74"/>
    <p:sldId id="1159" r:id="rId75"/>
    <p:sldId id="1160" r:id="rId76"/>
    <p:sldId id="1161" r:id="rId77"/>
    <p:sldId id="1162" r:id="rId78"/>
    <p:sldId id="361" r:id="rId79"/>
    <p:sldId id="344" r:id="rId80"/>
    <p:sldId id="428" r:id="rId81"/>
    <p:sldId id="358" r:id="rId82"/>
    <p:sldId id="429" r:id="rId83"/>
    <p:sldId id="350" r:id="rId84"/>
    <p:sldId id="360" r:id="rId85"/>
    <p:sldId id="423" r:id="rId86"/>
    <p:sldId id="424" r:id="rId87"/>
    <p:sldId id="425" r:id="rId88"/>
    <p:sldId id="1068" r:id="rId89"/>
    <p:sldId id="1069" r:id="rId90"/>
    <p:sldId id="1070" r:id="rId91"/>
    <p:sldId id="1048" r:id="rId92"/>
    <p:sldId id="1049" r:id="rId93"/>
    <p:sldId id="1058" r:id="rId94"/>
    <p:sldId id="268" r:id="rId95"/>
    <p:sldId id="271" r:id="rId96"/>
    <p:sldId id="273" r:id="rId97"/>
    <p:sldId id="1062" r:id="rId98"/>
    <p:sldId id="1064" r:id="rId99"/>
    <p:sldId id="1065" r:id="rId100"/>
    <p:sldId id="1153" r:id="rId101"/>
    <p:sldId id="1154" r:id="rId102"/>
    <p:sldId id="1155" r:id="rId103"/>
    <p:sldId id="1156" r:id="rId104"/>
    <p:sldId id="1104" r:id="rId105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2048" autoAdjust="0"/>
    <p:restoredTop sz="90143" autoAdjust="0"/>
  </p:normalViewPr>
  <p:slideViewPr>
    <p:cSldViewPr>
      <p:cViewPr varScale="1">
        <p:scale>
          <a:sx n="72" d="100"/>
          <a:sy n="72" d="100"/>
        </p:scale>
        <p:origin x="872" y="56"/>
      </p:cViewPr>
      <p:guideLst>
        <p:guide orient="horz" pos="2160"/>
        <p:guide pos="2840"/>
      </p:guideLst>
    </p:cSldViewPr>
  </p:slideViewPr>
  <p:outlineViewPr>
    <p:cViewPr>
      <p:scale>
        <a:sx n="33" d="100"/>
        <a:sy n="33" d="100"/>
      </p:scale>
      <p:origin x="0" y="10032"/>
    </p:cViewPr>
  </p:outlin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07" Type="http://schemas.openxmlformats.org/officeDocument/2006/relationships/presProps" Target="presProps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viewProps" Target="viewProps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theme" Target="theme/theme1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tableStyles" Target="tableStyle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4D25E85-275D-48E5-9A44-1A90A7F56B97}" type="doc">
      <dgm:prSet loTypeId="urn:microsoft.com/office/officeart/2005/8/layout/hProcess6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AEA8DD56-1CF4-4FC7-8226-74A9B004CB64}">
      <dgm:prSet phldrT="[Текст]" custT="1"/>
      <dgm:spPr>
        <a:solidFill>
          <a:srgbClr val="FF0000"/>
        </a:solidFill>
      </dgm:spPr>
      <dgm:t>
        <a:bodyPr/>
        <a:lstStyle/>
        <a:p>
          <a:r>
            <a:rPr lang="ru-RU" sz="1000" b="1" dirty="0">
              <a:solidFill>
                <a:schemeClr val="tx1"/>
              </a:solidFill>
            </a:rPr>
            <a:t>Желания</a:t>
          </a:r>
        </a:p>
      </dgm:t>
    </dgm:pt>
    <dgm:pt modelId="{CFBDFED4-FCA6-470C-A904-7A7852FA800C}" type="parTrans" cxnId="{11860BB5-4F86-40CF-A8AF-9A09368E053E}">
      <dgm:prSet/>
      <dgm:spPr/>
      <dgm:t>
        <a:bodyPr/>
        <a:lstStyle/>
        <a:p>
          <a:endParaRPr lang="ru-RU"/>
        </a:p>
      </dgm:t>
    </dgm:pt>
    <dgm:pt modelId="{700A98FA-9B6C-4198-B697-BEB7352D40BE}" type="sibTrans" cxnId="{11860BB5-4F86-40CF-A8AF-9A09368E053E}">
      <dgm:prSet/>
      <dgm:spPr/>
      <dgm:t>
        <a:bodyPr/>
        <a:lstStyle/>
        <a:p>
          <a:endParaRPr lang="ru-RU"/>
        </a:p>
      </dgm:t>
    </dgm:pt>
    <dgm:pt modelId="{84BFD923-E2DE-425C-805B-DB6A6C6C443E}">
      <dgm:prSet phldrT="[Текст]" custT="1"/>
      <dgm:spPr/>
      <dgm:t>
        <a:bodyPr/>
        <a:lstStyle/>
        <a:p>
          <a:r>
            <a:rPr lang="ru-RU" sz="1000" b="1" dirty="0"/>
            <a:t>  партнера </a:t>
          </a:r>
        </a:p>
      </dgm:t>
    </dgm:pt>
    <dgm:pt modelId="{3967AF87-DA7A-4467-8340-86CD9706F824}" type="parTrans" cxnId="{B6A8301C-388B-4B4B-B072-492F2E3570C5}">
      <dgm:prSet/>
      <dgm:spPr/>
      <dgm:t>
        <a:bodyPr/>
        <a:lstStyle/>
        <a:p>
          <a:endParaRPr lang="ru-RU"/>
        </a:p>
      </dgm:t>
    </dgm:pt>
    <dgm:pt modelId="{E35BC016-EC2C-4E16-B366-54F2D0025856}" type="sibTrans" cxnId="{B6A8301C-388B-4B4B-B072-492F2E3570C5}">
      <dgm:prSet/>
      <dgm:spPr/>
      <dgm:t>
        <a:bodyPr/>
        <a:lstStyle/>
        <a:p>
          <a:endParaRPr lang="ru-RU"/>
        </a:p>
      </dgm:t>
    </dgm:pt>
    <dgm:pt modelId="{73F05CFD-0BC1-49F1-93C8-FC24496D2EEF}">
      <dgm:prSet phldrT="[Текст]" custT="1"/>
      <dgm:spPr/>
      <dgm:t>
        <a:bodyPr/>
        <a:lstStyle/>
        <a:p>
          <a:r>
            <a:rPr lang="ru-RU" sz="1200" b="1" dirty="0"/>
            <a:t>родителей</a:t>
          </a:r>
        </a:p>
      </dgm:t>
    </dgm:pt>
    <dgm:pt modelId="{91D36D6A-2FC5-4F74-AF4A-27E579AF95F1}" type="parTrans" cxnId="{20D67A0F-3734-477C-8EA8-02C67FE598F6}">
      <dgm:prSet/>
      <dgm:spPr/>
      <dgm:t>
        <a:bodyPr/>
        <a:lstStyle/>
        <a:p>
          <a:endParaRPr lang="ru-RU"/>
        </a:p>
      </dgm:t>
    </dgm:pt>
    <dgm:pt modelId="{4F9F1D5F-9D95-4FF5-8C1F-829B9242BB0D}" type="sibTrans" cxnId="{20D67A0F-3734-477C-8EA8-02C67FE598F6}">
      <dgm:prSet/>
      <dgm:spPr/>
      <dgm:t>
        <a:bodyPr/>
        <a:lstStyle/>
        <a:p>
          <a:endParaRPr lang="ru-RU"/>
        </a:p>
      </dgm:t>
    </dgm:pt>
    <dgm:pt modelId="{397454AE-575F-4EB4-A39D-DDFFF6268951}">
      <dgm:prSet phldrT="[Текст]"/>
      <dgm:spPr>
        <a:solidFill>
          <a:schemeClr val="bg2">
            <a:lumMod val="25000"/>
          </a:schemeClr>
        </a:solidFill>
      </dgm:spPr>
      <dgm:t>
        <a:bodyPr/>
        <a:lstStyle/>
        <a:p>
          <a:r>
            <a:rPr lang="ru-RU" dirty="0"/>
            <a:t>действия</a:t>
          </a:r>
        </a:p>
      </dgm:t>
    </dgm:pt>
    <dgm:pt modelId="{88B52D9C-CDE7-4063-9B03-9B6C60F941FE}" type="parTrans" cxnId="{28D52864-B9C1-40A2-979F-59B90A191F9B}">
      <dgm:prSet/>
      <dgm:spPr/>
      <dgm:t>
        <a:bodyPr/>
        <a:lstStyle/>
        <a:p>
          <a:endParaRPr lang="ru-RU"/>
        </a:p>
      </dgm:t>
    </dgm:pt>
    <dgm:pt modelId="{700CB6BC-5CAD-49C2-B691-7BEABD179EAE}" type="sibTrans" cxnId="{28D52864-B9C1-40A2-979F-59B90A191F9B}">
      <dgm:prSet/>
      <dgm:spPr/>
      <dgm:t>
        <a:bodyPr/>
        <a:lstStyle/>
        <a:p>
          <a:endParaRPr lang="ru-RU"/>
        </a:p>
      </dgm:t>
    </dgm:pt>
    <dgm:pt modelId="{22A116B6-FAB6-413F-9E10-7F2B31E26BD1}">
      <dgm:prSet phldrT="[Текст]" custT="1"/>
      <dgm:spPr/>
      <dgm:t>
        <a:bodyPr/>
        <a:lstStyle/>
        <a:p>
          <a:r>
            <a:rPr lang="ru-RU" sz="1200" b="1" dirty="0"/>
            <a:t> Неверные действия</a:t>
          </a:r>
        </a:p>
      </dgm:t>
    </dgm:pt>
    <dgm:pt modelId="{C8B85640-EC97-4451-9140-D8B04BA5F768}" type="parTrans" cxnId="{C5369126-0618-4A3C-B1FA-F7C92C273F36}">
      <dgm:prSet/>
      <dgm:spPr/>
      <dgm:t>
        <a:bodyPr/>
        <a:lstStyle/>
        <a:p>
          <a:endParaRPr lang="ru-RU"/>
        </a:p>
      </dgm:t>
    </dgm:pt>
    <dgm:pt modelId="{D82BF940-818E-47DC-966E-907FC6AABCB3}" type="sibTrans" cxnId="{C5369126-0618-4A3C-B1FA-F7C92C273F36}">
      <dgm:prSet/>
      <dgm:spPr/>
      <dgm:t>
        <a:bodyPr/>
        <a:lstStyle/>
        <a:p>
          <a:endParaRPr lang="ru-RU"/>
        </a:p>
      </dgm:t>
    </dgm:pt>
    <dgm:pt modelId="{75ED449D-63C8-49CA-99D7-D0B7658DAD03}">
      <dgm:prSet phldrT="[Текст]"/>
      <dgm:spPr>
        <a:solidFill>
          <a:schemeClr val="accent3">
            <a:lumMod val="75000"/>
          </a:schemeClr>
        </a:solidFill>
      </dgm:spPr>
      <dgm:t>
        <a:bodyPr/>
        <a:lstStyle/>
        <a:p>
          <a:r>
            <a:rPr lang="ru-RU" dirty="0"/>
            <a:t>чувства</a:t>
          </a:r>
        </a:p>
      </dgm:t>
    </dgm:pt>
    <dgm:pt modelId="{E42FABDF-29DD-4343-A582-B889B0A068CC}" type="parTrans" cxnId="{43A829B6-3723-4469-A6C9-DA1077EA57F8}">
      <dgm:prSet/>
      <dgm:spPr/>
      <dgm:t>
        <a:bodyPr/>
        <a:lstStyle/>
        <a:p>
          <a:endParaRPr lang="ru-RU"/>
        </a:p>
      </dgm:t>
    </dgm:pt>
    <dgm:pt modelId="{355A335B-AF4E-452A-BB89-5D8215CB8E24}" type="sibTrans" cxnId="{43A829B6-3723-4469-A6C9-DA1077EA57F8}">
      <dgm:prSet/>
      <dgm:spPr/>
      <dgm:t>
        <a:bodyPr/>
        <a:lstStyle/>
        <a:p>
          <a:endParaRPr lang="ru-RU"/>
        </a:p>
      </dgm:t>
    </dgm:pt>
    <dgm:pt modelId="{536B3546-3E51-406E-ACE7-B027A432DF56}">
      <dgm:prSet phldrT="[Текст]"/>
      <dgm:spPr/>
      <dgm:t>
        <a:bodyPr/>
        <a:lstStyle/>
        <a:p>
          <a:r>
            <a:rPr lang="ru-RU" b="1" dirty="0"/>
            <a:t>гнев</a:t>
          </a:r>
        </a:p>
      </dgm:t>
    </dgm:pt>
    <dgm:pt modelId="{ED67EFBB-BE56-4173-8CCF-00FF101EAC88}" type="sibTrans" cxnId="{E98EEE21-EDDB-45D5-B07B-3CA3E4021FAA}">
      <dgm:prSet/>
      <dgm:spPr/>
      <dgm:t>
        <a:bodyPr/>
        <a:lstStyle/>
        <a:p>
          <a:endParaRPr lang="ru-RU"/>
        </a:p>
      </dgm:t>
    </dgm:pt>
    <dgm:pt modelId="{3A006C52-33E1-4BF7-ADCD-4BBACA3CC3D3}" type="parTrans" cxnId="{E98EEE21-EDDB-45D5-B07B-3CA3E4021FAA}">
      <dgm:prSet/>
      <dgm:spPr/>
      <dgm:t>
        <a:bodyPr/>
        <a:lstStyle/>
        <a:p>
          <a:endParaRPr lang="ru-RU"/>
        </a:p>
      </dgm:t>
    </dgm:pt>
    <dgm:pt modelId="{5199A50D-527C-405C-BD0C-E5D167DF1BAD}">
      <dgm:prSet phldrT="[Текст]"/>
      <dgm:spPr/>
      <dgm:t>
        <a:bodyPr/>
        <a:lstStyle/>
        <a:p>
          <a:r>
            <a:rPr lang="ru-RU" b="1" dirty="0"/>
            <a:t>печаль</a:t>
          </a:r>
        </a:p>
      </dgm:t>
    </dgm:pt>
    <dgm:pt modelId="{B039DCB5-AE0B-4947-BEB7-B2F9CCD88744}" type="sibTrans" cxnId="{0F42BB9F-1B74-47CB-8614-8A67C68DC6D4}">
      <dgm:prSet/>
      <dgm:spPr/>
      <dgm:t>
        <a:bodyPr/>
        <a:lstStyle/>
        <a:p>
          <a:endParaRPr lang="ru-RU"/>
        </a:p>
      </dgm:t>
    </dgm:pt>
    <dgm:pt modelId="{1ACE3CAA-36A0-49C0-B340-465BFC05F8EC}" type="parTrans" cxnId="{0F42BB9F-1B74-47CB-8614-8A67C68DC6D4}">
      <dgm:prSet/>
      <dgm:spPr/>
      <dgm:t>
        <a:bodyPr/>
        <a:lstStyle/>
        <a:p>
          <a:endParaRPr lang="ru-RU"/>
        </a:p>
      </dgm:t>
    </dgm:pt>
    <dgm:pt modelId="{EFD2509B-0F22-423E-BE16-AB3D4B52BD4B}" type="pres">
      <dgm:prSet presAssocID="{44D25E85-275D-48E5-9A44-1A90A7F56B97}" presName="theList" presStyleCnt="0">
        <dgm:presLayoutVars>
          <dgm:dir/>
          <dgm:animLvl val="lvl"/>
          <dgm:resizeHandles val="exact"/>
        </dgm:presLayoutVars>
      </dgm:prSet>
      <dgm:spPr/>
    </dgm:pt>
    <dgm:pt modelId="{3967D7D6-08D0-41E8-AB49-59C4E4D42CD4}" type="pres">
      <dgm:prSet presAssocID="{AEA8DD56-1CF4-4FC7-8226-74A9B004CB64}" presName="compNode" presStyleCnt="0"/>
      <dgm:spPr/>
    </dgm:pt>
    <dgm:pt modelId="{C56634A4-F7B7-464E-B729-24A2E850C206}" type="pres">
      <dgm:prSet presAssocID="{AEA8DD56-1CF4-4FC7-8226-74A9B004CB64}" presName="noGeometry" presStyleCnt="0"/>
      <dgm:spPr/>
    </dgm:pt>
    <dgm:pt modelId="{455F4A48-2AF1-4988-9713-A26E5ABC3BE5}" type="pres">
      <dgm:prSet presAssocID="{AEA8DD56-1CF4-4FC7-8226-74A9B004CB64}" presName="childTextVisible" presStyleLbl="bgAccFollowNode1" presStyleIdx="0" presStyleCnt="3" custScaleX="180057">
        <dgm:presLayoutVars>
          <dgm:bulletEnabled val="1"/>
        </dgm:presLayoutVars>
      </dgm:prSet>
      <dgm:spPr/>
    </dgm:pt>
    <dgm:pt modelId="{02E2380A-3F5B-4E47-B473-D3193192CC8B}" type="pres">
      <dgm:prSet presAssocID="{AEA8DD56-1CF4-4FC7-8226-74A9B004CB64}" presName="childTextHidden" presStyleLbl="bgAccFollowNode1" presStyleIdx="0" presStyleCnt="3"/>
      <dgm:spPr/>
    </dgm:pt>
    <dgm:pt modelId="{B5648173-F299-45E7-8694-07870BD8E318}" type="pres">
      <dgm:prSet presAssocID="{AEA8DD56-1CF4-4FC7-8226-74A9B004CB64}" presName="parentText" presStyleLbl="node1" presStyleIdx="0" presStyleCnt="3" custLinFactNeighborX="-10655" custLinFactNeighborY="-901">
        <dgm:presLayoutVars>
          <dgm:chMax val="1"/>
          <dgm:bulletEnabled val="1"/>
        </dgm:presLayoutVars>
      </dgm:prSet>
      <dgm:spPr/>
    </dgm:pt>
    <dgm:pt modelId="{446042ED-9ECF-4415-8199-743090D20162}" type="pres">
      <dgm:prSet presAssocID="{AEA8DD56-1CF4-4FC7-8226-74A9B004CB64}" presName="aSpace" presStyleCnt="0"/>
      <dgm:spPr/>
    </dgm:pt>
    <dgm:pt modelId="{7F5A9B79-37CE-4896-A718-6378B44D0884}" type="pres">
      <dgm:prSet presAssocID="{397454AE-575F-4EB4-A39D-DDFFF6268951}" presName="compNode" presStyleCnt="0"/>
      <dgm:spPr/>
    </dgm:pt>
    <dgm:pt modelId="{DCAA6AFC-D159-4E19-9969-C6C22FFC9DC3}" type="pres">
      <dgm:prSet presAssocID="{397454AE-575F-4EB4-A39D-DDFFF6268951}" presName="noGeometry" presStyleCnt="0"/>
      <dgm:spPr/>
    </dgm:pt>
    <dgm:pt modelId="{176D84B6-2D89-4CD6-AD32-BFD1251B9257}" type="pres">
      <dgm:prSet presAssocID="{397454AE-575F-4EB4-A39D-DDFFF6268951}" presName="childTextVisible" presStyleLbl="bgAccFollowNode1" presStyleIdx="1" presStyleCnt="3" custScaleX="200695">
        <dgm:presLayoutVars>
          <dgm:bulletEnabled val="1"/>
        </dgm:presLayoutVars>
      </dgm:prSet>
      <dgm:spPr/>
    </dgm:pt>
    <dgm:pt modelId="{90026BBF-A382-434D-8056-29FBFF2DF5FF}" type="pres">
      <dgm:prSet presAssocID="{397454AE-575F-4EB4-A39D-DDFFF6268951}" presName="childTextHidden" presStyleLbl="bgAccFollowNode1" presStyleIdx="1" presStyleCnt="3"/>
      <dgm:spPr/>
    </dgm:pt>
    <dgm:pt modelId="{4F8BAC09-00F8-465C-8F46-22680E9FC991}" type="pres">
      <dgm:prSet presAssocID="{397454AE-575F-4EB4-A39D-DDFFF6268951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2ADCE0E5-4102-4073-88E3-DE98EEAE20CA}" type="pres">
      <dgm:prSet presAssocID="{397454AE-575F-4EB4-A39D-DDFFF6268951}" presName="aSpace" presStyleCnt="0"/>
      <dgm:spPr/>
    </dgm:pt>
    <dgm:pt modelId="{65BAFB3A-B750-48C6-BBF9-A7E5D44532B5}" type="pres">
      <dgm:prSet presAssocID="{75ED449D-63C8-49CA-99D7-D0B7658DAD03}" presName="compNode" presStyleCnt="0"/>
      <dgm:spPr/>
    </dgm:pt>
    <dgm:pt modelId="{BF783A26-7649-41A3-B38E-5C3A04227CCE}" type="pres">
      <dgm:prSet presAssocID="{75ED449D-63C8-49CA-99D7-D0B7658DAD03}" presName="noGeometry" presStyleCnt="0"/>
      <dgm:spPr/>
    </dgm:pt>
    <dgm:pt modelId="{D53B790E-2224-4C4B-B28D-305680E347B4}" type="pres">
      <dgm:prSet presAssocID="{75ED449D-63C8-49CA-99D7-D0B7658DAD03}" presName="childTextVisible" presStyleLbl="bgAccFollowNode1" presStyleIdx="2" presStyleCnt="3" custScaleX="112147" custScaleY="99697" custLinFactNeighborX="15394" custLinFactNeighborY="-3883">
        <dgm:presLayoutVars>
          <dgm:bulletEnabled val="1"/>
        </dgm:presLayoutVars>
      </dgm:prSet>
      <dgm:spPr/>
    </dgm:pt>
    <dgm:pt modelId="{4035166F-6C90-4557-AAAF-77FB8C246C55}" type="pres">
      <dgm:prSet presAssocID="{75ED449D-63C8-49CA-99D7-D0B7658DAD03}" presName="childTextHidden" presStyleLbl="bgAccFollowNode1" presStyleIdx="2" presStyleCnt="3"/>
      <dgm:spPr/>
    </dgm:pt>
    <dgm:pt modelId="{3DFA7077-C65F-4A89-A8AA-4A9DAA236776}" type="pres">
      <dgm:prSet presAssocID="{75ED449D-63C8-49CA-99D7-D0B7658DAD03}" presName="parentText" presStyleLbl="node1" presStyleIdx="2" presStyleCnt="3">
        <dgm:presLayoutVars>
          <dgm:chMax val="1"/>
          <dgm:bulletEnabled val="1"/>
        </dgm:presLayoutVars>
      </dgm:prSet>
      <dgm:spPr/>
    </dgm:pt>
  </dgm:ptLst>
  <dgm:cxnLst>
    <dgm:cxn modelId="{20D67A0F-3734-477C-8EA8-02C67FE598F6}" srcId="{AEA8DD56-1CF4-4FC7-8226-74A9B004CB64}" destId="{73F05CFD-0BC1-49F1-93C8-FC24496D2EEF}" srcOrd="1" destOrd="0" parTransId="{91D36D6A-2FC5-4F74-AF4A-27E579AF95F1}" sibTransId="{4F9F1D5F-9D95-4FF5-8C1F-829B9242BB0D}"/>
    <dgm:cxn modelId="{F3769E14-8C9A-4367-9B01-359261EE8D1C}" type="presOf" srcId="{536B3546-3E51-406E-ACE7-B027A432DF56}" destId="{4035166F-6C90-4557-AAAF-77FB8C246C55}" srcOrd="1" destOrd="0" presId="urn:microsoft.com/office/officeart/2005/8/layout/hProcess6"/>
    <dgm:cxn modelId="{F7EBC318-20FB-4E8E-8F98-DE9E1C9073A3}" type="presOf" srcId="{84BFD923-E2DE-425C-805B-DB6A6C6C443E}" destId="{02E2380A-3F5B-4E47-B473-D3193192CC8B}" srcOrd="1" destOrd="0" presId="urn:microsoft.com/office/officeart/2005/8/layout/hProcess6"/>
    <dgm:cxn modelId="{B6A8301C-388B-4B4B-B072-492F2E3570C5}" srcId="{AEA8DD56-1CF4-4FC7-8226-74A9B004CB64}" destId="{84BFD923-E2DE-425C-805B-DB6A6C6C443E}" srcOrd="0" destOrd="0" parTransId="{3967AF87-DA7A-4467-8340-86CD9706F824}" sibTransId="{E35BC016-EC2C-4E16-B366-54F2D0025856}"/>
    <dgm:cxn modelId="{E938261D-D868-4CD1-A498-31C838DB48C5}" type="presOf" srcId="{AEA8DD56-1CF4-4FC7-8226-74A9B004CB64}" destId="{B5648173-F299-45E7-8694-07870BD8E318}" srcOrd="0" destOrd="0" presId="urn:microsoft.com/office/officeart/2005/8/layout/hProcess6"/>
    <dgm:cxn modelId="{E4851C21-CA97-4BF2-98E9-547D941F17B4}" type="presOf" srcId="{84BFD923-E2DE-425C-805B-DB6A6C6C443E}" destId="{455F4A48-2AF1-4988-9713-A26E5ABC3BE5}" srcOrd="0" destOrd="0" presId="urn:microsoft.com/office/officeart/2005/8/layout/hProcess6"/>
    <dgm:cxn modelId="{E98EEE21-EDDB-45D5-B07B-3CA3E4021FAA}" srcId="{75ED449D-63C8-49CA-99D7-D0B7658DAD03}" destId="{536B3546-3E51-406E-ACE7-B027A432DF56}" srcOrd="0" destOrd="0" parTransId="{3A006C52-33E1-4BF7-ADCD-4BBACA3CC3D3}" sibTransId="{ED67EFBB-BE56-4173-8CCF-00FF101EAC88}"/>
    <dgm:cxn modelId="{F437A025-32C4-4665-BE91-864A6179BF2A}" type="presOf" srcId="{536B3546-3E51-406E-ACE7-B027A432DF56}" destId="{D53B790E-2224-4C4B-B28D-305680E347B4}" srcOrd="0" destOrd="0" presId="urn:microsoft.com/office/officeart/2005/8/layout/hProcess6"/>
    <dgm:cxn modelId="{C5369126-0618-4A3C-B1FA-F7C92C273F36}" srcId="{397454AE-575F-4EB4-A39D-DDFFF6268951}" destId="{22A116B6-FAB6-413F-9E10-7F2B31E26BD1}" srcOrd="0" destOrd="0" parTransId="{C8B85640-EC97-4451-9140-D8B04BA5F768}" sibTransId="{D82BF940-818E-47DC-966E-907FC6AABCB3}"/>
    <dgm:cxn modelId="{AD5EBD5F-18E9-4667-A633-1765A97878A3}" type="presOf" srcId="{73F05CFD-0BC1-49F1-93C8-FC24496D2EEF}" destId="{02E2380A-3F5B-4E47-B473-D3193192CC8B}" srcOrd="1" destOrd="1" presId="urn:microsoft.com/office/officeart/2005/8/layout/hProcess6"/>
    <dgm:cxn modelId="{28D52864-B9C1-40A2-979F-59B90A191F9B}" srcId="{44D25E85-275D-48E5-9A44-1A90A7F56B97}" destId="{397454AE-575F-4EB4-A39D-DDFFF6268951}" srcOrd="1" destOrd="0" parTransId="{88B52D9C-CDE7-4063-9B03-9B6C60F941FE}" sibTransId="{700CB6BC-5CAD-49C2-B691-7BEABD179EAE}"/>
    <dgm:cxn modelId="{FBF3104F-9403-4020-8070-D84125CF4692}" type="presOf" srcId="{22A116B6-FAB6-413F-9E10-7F2B31E26BD1}" destId="{176D84B6-2D89-4CD6-AD32-BFD1251B9257}" srcOrd="0" destOrd="0" presId="urn:microsoft.com/office/officeart/2005/8/layout/hProcess6"/>
    <dgm:cxn modelId="{CB373273-0DF5-48DB-B552-A27EE666D949}" type="presOf" srcId="{22A116B6-FAB6-413F-9E10-7F2B31E26BD1}" destId="{90026BBF-A382-434D-8056-29FBFF2DF5FF}" srcOrd="1" destOrd="0" presId="urn:microsoft.com/office/officeart/2005/8/layout/hProcess6"/>
    <dgm:cxn modelId="{F75DFD75-78FA-4909-A47C-674FAF9B9403}" type="presOf" srcId="{73F05CFD-0BC1-49F1-93C8-FC24496D2EEF}" destId="{455F4A48-2AF1-4988-9713-A26E5ABC3BE5}" srcOrd="0" destOrd="1" presId="urn:microsoft.com/office/officeart/2005/8/layout/hProcess6"/>
    <dgm:cxn modelId="{F7BE8C7A-7112-456D-A565-CA5A255F9984}" type="presOf" srcId="{5199A50D-527C-405C-BD0C-E5D167DF1BAD}" destId="{4035166F-6C90-4557-AAAF-77FB8C246C55}" srcOrd="1" destOrd="1" presId="urn:microsoft.com/office/officeart/2005/8/layout/hProcess6"/>
    <dgm:cxn modelId="{0F42BB9F-1B74-47CB-8614-8A67C68DC6D4}" srcId="{75ED449D-63C8-49CA-99D7-D0B7658DAD03}" destId="{5199A50D-527C-405C-BD0C-E5D167DF1BAD}" srcOrd="1" destOrd="0" parTransId="{1ACE3CAA-36A0-49C0-B340-465BFC05F8EC}" sibTransId="{B039DCB5-AE0B-4947-BEB7-B2F9CCD88744}"/>
    <dgm:cxn modelId="{5BF96CB0-C9E7-4252-A693-4D3BF0F19ABB}" type="presOf" srcId="{5199A50D-527C-405C-BD0C-E5D167DF1BAD}" destId="{D53B790E-2224-4C4B-B28D-305680E347B4}" srcOrd="0" destOrd="1" presId="urn:microsoft.com/office/officeart/2005/8/layout/hProcess6"/>
    <dgm:cxn modelId="{11860BB5-4F86-40CF-A8AF-9A09368E053E}" srcId="{44D25E85-275D-48E5-9A44-1A90A7F56B97}" destId="{AEA8DD56-1CF4-4FC7-8226-74A9B004CB64}" srcOrd="0" destOrd="0" parTransId="{CFBDFED4-FCA6-470C-A904-7A7852FA800C}" sibTransId="{700A98FA-9B6C-4198-B697-BEB7352D40BE}"/>
    <dgm:cxn modelId="{43A829B6-3723-4469-A6C9-DA1077EA57F8}" srcId="{44D25E85-275D-48E5-9A44-1A90A7F56B97}" destId="{75ED449D-63C8-49CA-99D7-D0B7658DAD03}" srcOrd="2" destOrd="0" parTransId="{E42FABDF-29DD-4343-A582-B889B0A068CC}" sibTransId="{355A335B-AF4E-452A-BB89-5D8215CB8E24}"/>
    <dgm:cxn modelId="{BECCE5B9-DBE2-41F2-B2FD-3D528EACB96B}" type="presOf" srcId="{397454AE-575F-4EB4-A39D-DDFFF6268951}" destId="{4F8BAC09-00F8-465C-8F46-22680E9FC991}" srcOrd="0" destOrd="0" presId="urn:microsoft.com/office/officeart/2005/8/layout/hProcess6"/>
    <dgm:cxn modelId="{546C00E8-CD3C-464A-B24B-2C2FAEA5092B}" type="presOf" srcId="{44D25E85-275D-48E5-9A44-1A90A7F56B97}" destId="{EFD2509B-0F22-423E-BE16-AB3D4B52BD4B}" srcOrd="0" destOrd="0" presId="urn:microsoft.com/office/officeart/2005/8/layout/hProcess6"/>
    <dgm:cxn modelId="{A47F19EA-F940-484D-ABA3-F13175736079}" type="presOf" srcId="{75ED449D-63C8-49CA-99D7-D0B7658DAD03}" destId="{3DFA7077-C65F-4A89-A8AA-4A9DAA236776}" srcOrd="0" destOrd="0" presId="urn:microsoft.com/office/officeart/2005/8/layout/hProcess6"/>
    <dgm:cxn modelId="{8E951CAC-5963-48DD-AFAA-C2376D33641A}" type="presParOf" srcId="{EFD2509B-0F22-423E-BE16-AB3D4B52BD4B}" destId="{3967D7D6-08D0-41E8-AB49-59C4E4D42CD4}" srcOrd="0" destOrd="0" presId="urn:microsoft.com/office/officeart/2005/8/layout/hProcess6"/>
    <dgm:cxn modelId="{54C4CD86-29A6-4FB6-AC49-EE58ACE29AC2}" type="presParOf" srcId="{3967D7D6-08D0-41E8-AB49-59C4E4D42CD4}" destId="{C56634A4-F7B7-464E-B729-24A2E850C206}" srcOrd="0" destOrd="0" presId="urn:microsoft.com/office/officeart/2005/8/layout/hProcess6"/>
    <dgm:cxn modelId="{361839F5-2E70-4FC0-8721-628CD7C278B8}" type="presParOf" srcId="{3967D7D6-08D0-41E8-AB49-59C4E4D42CD4}" destId="{455F4A48-2AF1-4988-9713-A26E5ABC3BE5}" srcOrd="1" destOrd="0" presId="urn:microsoft.com/office/officeart/2005/8/layout/hProcess6"/>
    <dgm:cxn modelId="{2632EB6B-1FB4-419D-BAB9-9261F98BD5CD}" type="presParOf" srcId="{3967D7D6-08D0-41E8-AB49-59C4E4D42CD4}" destId="{02E2380A-3F5B-4E47-B473-D3193192CC8B}" srcOrd="2" destOrd="0" presId="urn:microsoft.com/office/officeart/2005/8/layout/hProcess6"/>
    <dgm:cxn modelId="{C9582D19-3C42-4616-A87E-EEE4A28675E9}" type="presParOf" srcId="{3967D7D6-08D0-41E8-AB49-59C4E4D42CD4}" destId="{B5648173-F299-45E7-8694-07870BD8E318}" srcOrd="3" destOrd="0" presId="urn:microsoft.com/office/officeart/2005/8/layout/hProcess6"/>
    <dgm:cxn modelId="{F7E981A0-49AB-492C-974E-022D5200B5D1}" type="presParOf" srcId="{EFD2509B-0F22-423E-BE16-AB3D4B52BD4B}" destId="{446042ED-9ECF-4415-8199-743090D20162}" srcOrd="1" destOrd="0" presId="urn:microsoft.com/office/officeart/2005/8/layout/hProcess6"/>
    <dgm:cxn modelId="{FE7179DE-964A-486A-8F8C-096E30CB3A05}" type="presParOf" srcId="{EFD2509B-0F22-423E-BE16-AB3D4B52BD4B}" destId="{7F5A9B79-37CE-4896-A718-6378B44D0884}" srcOrd="2" destOrd="0" presId="urn:microsoft.com/office/officeart/2005/8/layout/hProcess6"/>
    <dgm:cxn modelId="{7CBBF52C-383B-4399-905B-E4C41E2A76BD}" type="presParOf" srcId="{7F5A9B79-37CE-4896-A718-6378B44D0884}" destId="{DCAA6AFC-D159-4E19-9969-C6C22FFC9DC3}" srcOrd="0" destOrd="0" presId="urn:microsoft.com/office/officeart/2005/8/layout/hProcess6"/>
    <dgm:cxn modelId="{0AC869F2-6CA0-4FD4-88D6-9A416F0C50F0}" type="presParOf" srcId="{7F5A9B79-37CE-4896-A718-6378B44D0884}" destId="{176D84B6-2D89-4CD6-AD32-BFD1251B9257}" srcOrd="1" destOrd="0" presId="urn:microsoft.com/office/officeart/2005/8/layout/hProcess6"/>
    <dgm:cxn modelId="{F30C243B-5EC6-4845-8EEA-FD8314643115}" type="presParOf" srcId="{7F5A9B79-37CE-4896-A718-6378B44D0884}" destId="{90026BBF-A382-434D-8056-29FBFF2DF5FF}" srcOrd="2" destOrd="0" presId="urn:microsoft.com/office/officeart/2005/8/layout/hProcess6"/>
    <dgm:cxn modelId="{2A241D3D-1D1A-4C85-A9DA-DCA9DA960441}" type="presParOf" srcId="{7F5A9B79-37CE-4896-A718-6378B44D0884}" destId="{4F8BAC09-00F8-465C-8F46-22680E9FC991}" srcOrd="3" destOrd="0" presId="urn:microsoft.com/office/officeart/2005/8/layout/hProcess6"/>
    <dgm:cxn modelId="{41302582-D4FC-4FFA-A6C9-318D6F3D4411}" type="presParOf" srcId="{EFD2509B-0F22-423E-BE16-AB3D4B52BD4B}" destId="{2ADCE0E5-4102-4073-88E3-DE98EEAE20CA}" srcOrd="3" destOrd="0" presId="urn:microsoft.com/office/officeart/2005/8/layout/hProcess6"/>
    <dgm:cxn modelId="{C6C690F8-EEE5-418C-949A-4B3FA108C201}" type="presParOf" srcId="{EFD2509B-0F22-423E-BE16-AB3D4B52BD4B}" destId="{65BAFB3A-B750-48C6-BBF9-A7E5D44532B5}" srcOrd="4" destOrd="0" presId="urn:microsoft.com/office/officeart/2005/8/layout/hProcess6"/>
    <dgm:cxn modelId="{A778A540-3229-4A07-A4FB-72B9598A8329}" type="presParOf" srcId="{65BAFB3A-B750-48C6-BBF9-A7E5D44532B5}" destId="{BF783A26-7649-41A3-B38E-5C3A04227CCE}" srcOrd="0" destOrd="0" presId="urn:microsoft.com/office/officeart/2005/8/layout/hProcess6"/>
    <dgm:cxn modelId="{05F55B0B-6A8B-4DCA-84DA-C53A7CDD6647}" type="presParOf" srcId="{65BAFB3A-B750-48C6-BBF9-A7E5D44532B5}" destId="{D53B790E-2224-4C4B-B28D-305680E347B4}" srcOrd="1" destOrd="0" presId="urn:microsoft.com/office/officeart/2005/8/layout/hProcess6"/>
    <dgm:cxn modelId="{4418BC9C-8635-4658-BE15-B54E4609A316}" type="presParOf" srcId="{65BAFB3A-B750-48C6-BBF9-A7E5D44532B5}" destId="{4035166F-6C90-4557-AAAF-77FB8C246C55}" srcOrd="2" destOrd="0" presId="urn:microsoft.com/office/officeart/2005/8/layout/hProcess6"/>
    <dgm:cxn modelId="{7F1DDF92-2FB2-4CCE-AFE5-C90F2604D9CC}" type="presParOf" srcId="{65BAFB3A-B750-48C6-BBF9-A7E5D44532B5}" destId="{3DFA7077-C65F-4A89-A8AA-4A9DAA236776}" srcOrd="3" destOrd="0" presId="urn:microsoft.com/office/officeart/2005/8/layout/hProcess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B2FA193-F386-41D7-A7FF-6ECEBB460CD1}" type="doc">
      <dgm:prSet loTypeId="urn:microsoft.com/office/officeart/2005/8/layout/vList6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77185513-95A4-468B-8F96-8486B2351040}">
      <dgm:prSet phldrT="[Текст]"/>
      <dgm:spPr>
        <a:solidFill>
          <a:schemeClr val="tx2">
            <a:lumMod val="75000"/>
          </a:schemeClr>
        </a:solidFill>
      </dgm:spPr>
      <dgm:t>
        <a:bodyPr/>
        <a:lstStyle/>
        <a:p>
          <a:r>
            <a:rPr lang="ru-RU" dirty="0"/>
            <a:t>результат</a:t>
          </a:r>
        </a:p>
      </dgm:t>
    </dgm:pt>
    <dgm:pt modelId="{221D85F9-8682-48FC-8CAD-2536FA6332FF}" type="parTrans" cxnId="{EDC340BA-EBA6-4A0D-9153-A9777952E015}">
      <dgm:prSet/>
      <dgm:spPr/>
      <dgm:t>
        <a:bodyPr/>
        <a:lstStyle/>
        <a:p>
          <a:endParaRPr lang="ru-RU"/>
        </a:p>
      </dgm:t>
    </dgm:pt>
    <dgm:pt modelId="{628B8D5F-536B-4204-9482-D0BEFC9C6B36}" type="sibTrans" cxnId="{EDC340BA-EBA6-4A0D-9153-A9777952E015}">
      <dgm:prSet/>
      <dgm:spPr/>
      <dgm:t>
        <a:bodyPr/>
        <a:lstStyle/>
        <a:p>
          <a:endParaRPr lang="ru-RU"/>
        </a:p>
      </dgm:t>
    </dgm:pt>
    <dgm:pt modelId="{E658561B-6E11-4F34-ADDF-5F9DF88A161A}">
      <dgm:prSet phldrT="[Текст]"/>
      <dgm:spPr/>
      <dgm:t>
        <a:bodyPr/>
        <a:lstStyle/>
        <a:p>
          <a:r>
            <a:rPr lang="ru-RU" dirty="0"/>
            <a:t>агрессия</a:t>
          </a:r>
        </a:p>
      </dgm:t>
    </dgm:pt>
    <dgm:pt modelId="{6AC59462-BFC1-48A3-8CBB-9411EC196B2E}" type="parTrans" cxnId="{FB2EB43F-E020-4389-8DEB-EF10C7077B7D}">
      <dgm:prSet/>
      <dgm:spPr/>
      <dgm:t>
        <a:bodyPr/>
        <a:lstStyle/>
        <a:p>
          <a:endParaRPr lang="ru-RU"/>
        </a:p>
      </dgm:t>
    </dgm:pt>
    <dgm:pt modelId="{D8518980-109B-4831-985E-C79B644FF6D9}" type="sibTrans" cxnId="{FB2EB43F-E020-4389-8DEB-EF10C7077B7D}">
      <dgm:prSet/>
      <dgm:spPr/>
      <dgm:t>
        <a:bodyPr/>
        <a:lstStyle/>
        <a:p>
          <a:endParaRPr lang="ru-RU"/>
        </a:p>
      </dgm:t>
    </dgm:pt>
    <dgm:pt modelId="{6D9BF940-37BD-44E6-ABA2-406636AC59A6}">
      <dgm:prSet phldrT="[Текст]"/>
      <dgm:spPr/>
      <dgm:t>
        <a:bodyPr/>
        <a:lstStyle/>
        <a:p>
          <a:r>
            <a:rPr lang="ru-RU" dirty="0"/>
            <a:t>злость</a:t>
          </a:r>
        </a:p>
      </dgm:t>
    </dgm:pt>
    <dgm:pt modelId="{F3D42E5E-EFFA-4C8F-BB8E-392DD1756794}" type="parTrans" cxnId="{F558AB0E-7E91-46BB-8FFF-05282CC3E291}">
      <dgm:prSet/>
      <dgm:spPr/>
      <dgm:t>
        <a:bodyPr/>
        <a:lstStyle/>
        <a:p>
          <a:endParaRPr lang="ru-RU"/>
        </a:p>
      </dgm:t>
    </dgm:pt>
    <dgm:pt modelId="{16F5F8CE-861E-4FFF-867D-22476C8D4A41}" type="sibTrans" cxnId="{F558AB0E-7E91-46BB-8FFF-05282CC3E291}">
      <dgm:prSet/>
      <dgm:spPr/>
      <dgm:t>
        <a:bodyPr/>
        <a:lstStyle/>
        <a:p>
          <a:endParaRPr lang="ru-RU"/>
        </a:p>
      </dgm:t>
    </dgm:pt>
    <dgm:pt modelId="{64B6A59B-105D-4195-BACA-3725B38D3457}">
      <dgm:prSet phldrT="[Текст]"/>
      <dgm:spPr>
        <a:solidFill>
          <a:srgbClr val="7030A0"/>
        </a:solidFill>
      </dgm:spPr>
      <dgm:t>
        <a:bodyPr/>
        <a:lstStyle/>
        <a:p>
          <a:r>
            <a:rPr lang="ru-RU" dirty="0"/>
            <a:t>результат</a:t>
          </a:r>
        </a:p>
      </dgm:t>
    </dgm:pt>
    <dgm:pt modelId="{73C6D899-9431-4950-B167-F067EE682E6F}" type="parTrans" cxnId="{11E5682C-4677-4E16-ACDC-2B2587AE660D}">
      <dgm:prSet/>
      <dgm:spPr/>
      <dgm:t>
        <a:bodyPr/>
        <a:lstStyle/>
        <a:p>
          <a:endParaRPr lang="ru-RU"/>
        </a:p>
      </dgm:t>
    </dgm:pt>
    <dgm:pt modelId="{0DBE3EC1-7E33-4F23-8CB0-4A61A59A09D9}" type="sibTrans" cxnId="{11E5682C-4677-4E16-ACDC-2B2587AE660D}">
      <dgm:prSet/>
      <dgm:spPr/>
      <dgm:t>
        <a:bodyPr/>
        <a:lstStyle/>
        <a:p>
          <a:endParaRPr lang="ru-RU"/>
        </a:p>
      </dgm:t>
    </dgm:pt>
    <dgm:pt modelId="{605EDC9B-CCAE-4C66-BDA6-C7DA6AFE8211}">
      <dgm:prSet phldrT="[Текст]"/>
      <dgm:spPr/>
      <dgm:t>
        <a:bodyPr/>
        <a:lstStyle/>
        <a:p>
          <a:r>
            <a:rPr lang="ru-RU" dirty="0"/>
            <a:t>уныние</a:t>
          </a:r>
        </a:p>
      </dgm:t>
    </dgm:pt>
    <dgm:pt modelId="{E883A5C2-58E6-4DFD-AFF0-C954BE3C08EC}" type="parTrans" cxnId="{C1B08CFE-9348-4FE2-A134-095598C92025}">
      <dgm:prSet/>
      <dgm:spPr/>
      <dgm:t>
        <a:bodyPr/>
        <a:lstStyle/>
        <a:p>
          <a:endParaRPr lang="ru-RU"/>
        </a:p>
      </dgm:t>
    </dgm:pt>
    <dgm:pt modelId="{A63E1743-985D-43D1-9A07-13D97831E0B0}" type="sibTrans" cxnId="{C1B08CFE-9348-4FE2-A134-095598C92025}">
      <dgm:prSet/>
      <dgm:spPr/>
      <dgm:t>
        <a:bodyPr/>
        <a:lstStyle/>
        <a:p>
          <a:endParaRPr lang="ru-RU"/>
        </a:p>
      </dgm:t>
    </dgm:pt>
    <dgm:pt modelId="{4A19D563-A00B-44C9-A7BA-5569AE22C92D}">
      <dgm:prSet phldrT="[Текст]"/>
      <dgm:spPr/>
      <dgm:t>
        <a:bodyPr/>
        <a:lstStyle/>
        <a:p>
          <a:r>
            <a:rPr lang="ru-RU" dirty="0"/>
            <a:t>пассивность</a:t>
          </a:r>
        </a:p>
      </dgm:t>
    </dgm:pt>
    <dgm:pt modelId="{126534A1-5A29-4469-B9A7-36CDE57DAEDB}" type="parTrans" cxnId="{1181F09A-1F28-4B46-8606-227E00A7B64F}">
      <dgm:prSet/>
      <dgm:spPr/>
      <dgm:t>
        <a:bodyPr/>
        <a:lstStyle/>
        <a:p>
          <a:endParaRPr lang="ru-RU"/>
        </a:p>
      </dgm:t>
    </dgm:pt>
    <dgm:pt modelId="{1E01F470-A196-4911-AC5C-30F82F101CB5}" type="sibTrans" cxnId="{1181F09A-1F28-4B46-8606-227E00A7B64F}">
      <dgm:prSet/>
      <dgm:spPr/>
      <dgm:t>
        <a:bodyPr/>
        <a:lstStyle/>
        <a:p>
          <a:endParaRPr lang="ru-RU"/>
        </a:p>
      </dgm:t>
    </dgm:pt>
    <dgm:pt modelId="{4B3E6411-8761-4CEE-8803-8982346F15FB}">
      <dgm:prSet phldrT="[Текст]"/>
      <dgm:spPr/>
      <dgm:t>
        <a:bodyPr/>
        <a:lstStyle/>
        <a:p>
          <a:r>
            <a:rPr lang="ru-RU" dirty="0"/>
            <a:t>разбой</a:t>
          </a:r>
        </a:p>
      </dgm:t>
    </dgm:pt>
    <dgm:pt modelId="{D5091518-4FC4-48AB-8B68-BA1BF21F7676}" type="parTrans" cxnId="{CE883EE7-F877-4817-9F01-6A6A1D286D8E}">
      <dgm:prSet/>
      <dgm:spPr/>
      <dgm:t>
        <a:bodyPr/>
        <a:lstStyle/>
        <a:p>
          <a:endParaRPr lang="ru-RU"/>
        </a:p>
      </dgm:t>
    </dgm:pt>
    <dgm:pt modelId="{64AFD7A1-A6D0-4181-AB06-A74C5FD4A6F0}" type="sibTrans" cxnId="{CE883EE7-F877-4817-9F01-6A6A1D286D8E}">
      <dgm:prSet/>
      <dgm:spPr/>
      <dgm:t>
        <a:bodyPr/>
        <a:lstStyle/>
        <a:p>
          <a:endParaRPr lang="ru-RU"/>
        </a:p>
      </dgm:t>
    </dgm:pt>
    <dgm:pt modelId="{00C05E24-D17B-4C6A-BA04-0CB27CA0AC80}">
      <dgm:prSet phldrT="[Текст]"/>
      <dgm:spPr/>
      <dgm:t>
        <a:bodyPr/>
        <a:lstStyle/>
        <a:p>
          <a:r>
            <a:rPr lang="ru-RU" dirty="0"/>
            <a:t>вредные привычки</a:t>
          </a:r>
        </a:p>
      </dgm:t>
    </dgm:pt>
    <dgm:pt modelId="{1710AE74-A5AC-44A6-9A81-774081D0AACF}" type="parTrans" cxnId="{DC27C1A3-1516-44D4-A779-C43E93459178}">
      <dgm:prSet/>
      <dgm:spPr/>
      <dgm:t>
        <a:bodyPr/>
        <a:lstStyle/>
        <a:p>
          <a:endParaRPr lang="ru-RU"/>
        </a:p>
      </dgm:t>
    </dgm:pt>
    <dgm:pt modelId="{44478BA8-618F-49BB-BEBB-9BA4A7C2EE32}" type="sibTrans" cxnId="{DC27C1A3-1516-44D4-A779-C43E93459178}">
      <dgm:prSet/>
      <dgm:spPr/>
      <dgm:t>
        <a:bodyPr/>
        <a:lstStyle/>
        <a:p>
          <a:endParaRPr lang="ru-RU"/>
        </a:p>
      </dgm:t>
    </dgm:pt>
    <dgm:pt modelId="{32CADB6C-F86A-4C8B-8106-D1D4A181F021}" type="pres">
      <dgm:prSet presAssocID="{6B2FA193-F386-41D7-A7FF-6ECEBB460CD1}" presName="Name0" presStyleCnt="0">
        <dgm:presLayoutVars>
          <dgm:dir/>
          <dgm:animLvl val="lvl"/>
          <dgm:resizeHandles/>
        </dgm:presLayoutVars>
      </dgm:prSet>
      <dgm:spPr/>
    </dgm:pt>
    <dgm:pt modelId="{B248D6A8-1693-43E3-927E-FB8597FCD770}" type="pres">
      <dgm:prSet presAssocID="{77185513-95A4-468B-8F96-8486B2351040}" presName="linNode" presStyleCnt="0"/>
      <dgm:spPr/>
    </dgm:pt>
    <dgm:pt modelId="{BFFBFFF0-3291-460F-B6EF-DEF936503466}" type="pres">
      <dgm:prSet presAssocID="{77185513-95A4-468B-8F96-8486B2351040}" presName="parentShp" presStyleLbl="node1" presStyleIdx="0" presStyleCnt="2">
        <dgm:presLayoutVars>
          <dgm:bulletEnabled val="1"/>
        </dgm:presLayoutVars>
      </dgm:prSet>
      <dgm:spPr/>
    </dgm:pt>
    <dgm:pt modelId="{75413CE6-958B-46E6-8D5E-79EE87FCCEED}" type="pres">
      <dgm:prSet presAssocID="{77185513-95A4-468B-8F96-8486B2351040}" presName="childShp" presStyleLbl="bgAccFollowNode1" presStyleIdx="0" presStyleCnt="2">
        <dgm:presLayoutVars>
          <dgm:bulletEnabled val="1"/>
        </dgm:presLayoutVars>
      </dgm:prSet>
      <dgm:spPr/>
    </dgm:pt>
    <dgm:pt modelId="{8C5FB5D5-8295-4803-9090-F9BF8AABE01B}" type="pres">
      <dgm:prSet presAssocID="{628B8D5F-536B-4204-9482-D0BEFC9C6B36}" presName="spacing" presStyleCnt="0"/>
      <dgm:spPr/>
    </dgm:pt>
    <dgm:pt modelId="{B2881DCC-1209-4E33-A046-2A30A7605146}" type="pres">
      <dgm:prSet presAssocID="{64B6A59B-105D-4195-BACA-3725B38D3457}" presName="linNode" presStyleCnt="0"/>
      <dgm:spPr/>
    </dgm:pt>
    <dgm:pt modelId="{01AFC1A5-E9C0-4FC4-82A9-C250DF9A28AA}" type="pres">
      <dgm:prSet presAssocID="{64B6A59B-105D-4195-BACA-3725B38D3457}" presName="parentShp" presStyleLbl="node1" presStyleIdx="1" presStyleCnt="2">
        <dgm:presLayoutVars>
          <dgm:bulletEnabled val="1"/>
        </dgm:presLayoutVars>
      </dgm:prSet>
      <dgm:spPr/>
    </dgm:pt>
    <dgm:pt modelId="{0AAA64C7-0A6D-4A62-AF6B-743C30D0401E}" type="pres">
      <dgm:prSet presAssocID="{64B6A59B-105D-4195-BACA-3725B38D3457}" presName="childShp" presStyleLbl="bgAccFollowNode1" presStyleIdx="1" presStyleCnt="2">
        <dgm:presLayoutVars>
          <dgm:bulletEnabled val="1"/>
        </dgm:presLayoutVars>
      </dgm:prSet>
      <dgm:spPr/>
    </dgm:pt>
  </dgm:ptLst>
  <dgm:cxnLst>
    <dgm:cxn modelId="{914B4500-61B7-4A55-BBE8-B08DE91D81C2}" type="presOf" srcId="{64B6A59B-105D-4195-BACA-3725B38D3457}" destId="{01AFC1A5-E9C0-4FC4-82A9-C250DF9A28AA}" srcOrd="0" destOrd="0" presId="urn:microsoft.com/office/officeart/2005/8/layout/vList6"/>
    <dgm:cxn modelId="{F558AB0E-7E91-46BB-8FFF-05282CC3E291}" srcId="{77185513-95A4-468B-8F96-8486B2351040}" destId="{6D9BF940-37BD-44E6-ABA2-406636AC59A6}" srcOrd="1" destOrd="0" parTransId="{F3D42E5E-EFFA-4C8F-BB8E-392DD1756794}" sibTransId="{16F5F8CE-861E-4FFF-867D-22476C8D4A41}"/>
    <dgm:cxn modelId="{79125616-0EA2-40DB-871F-E72518A9B284}" type="presOf" srcId="{6B2FA193-F386-41D7-A7FF-6ECEBB460CD1}" destId="{32CADB6C-F86A-4C8B-8106-D1D4A181F021}" srcOrd="0" destOrd="0" presId="urn:microsoft.com/office/officeart/2005/8/layout/vList6"/>
    <dgm:cxn modelId="{62A19319-F758-4CB9-9247-CCEA8D7F5788}" type="presOf" srcId="{6D9BF940-37BD-44E6-ABA2-406636AC59A6}" destId="{75413CE6-958B-46E6-8D5E-79EE87FCCEED}" srcOrd="0" destOrd="1" presId="urn:microsoft.com/office/officeart/2005/8/layout/vList6"/>
    <dgm:cxn modelId="{4B52C31C-0D01-432B-904E-E394FCD3709A}" type="presOf" srcId="{4A19D563-A00B-44C9-A7BA-5569AE22C92D}" destId="{0AAA64C7-0A6D-4A62-AF6B-743C30D0401E}" srcOrd="0" destOrd="1" presId="urn:microsoft.com/office/officeart/2005/8/layout/vList6"/>
    <dgm:cxn modelId="{11E5682C-4677-4E16-ACDC-2B2587AE660D}" srcId="{6B2FA193-F386-41D7-A7FF-6ECEBB460CD1}" destId="{64B6A59B-105D-4195-BACA-3725B38D3457}" srcOrd="1" destOrd="0" parTransId="{73C6D899-9431-4950-B167-F067EE682E6F}" sibTransId="{0DBE3EC1-7E33-4F23-8CB0-4A61A59A09D9}"/>
    <dgm:cxn modelId="{72399E35-B10F-4345-B583-C852E08261C3}" type="presOf" srcId="{00C05E24-D17B-4C6A-BA04-0CB27CA0AC80}" destId="{0AAA64C7-0A6D-4A62-AF6B-743C30D0401E}" srcOrd="0" destOrd="2" presId="urn:microsoft.com/office/officeart/2005/8/layout/vList6"/>
    <dgm:cxn modelId="{633CD135-F634-4B4D-AC11-432506309054}" type="presOf" srcId="{605EDC9B-CCAE-4C66-BDA6-C7DA6AFE8211}" destId="{0AAA64C7-0A6D-4A62-AF6B-743C30D0401E}" srcOrd="0" destOrd="0" presId="urn:microsoft.com/office/officeart/2005/8/layout/vList6"/>
    <dgm:cxn modelId="{FB2EB43F-E020-4389-8DEB-EF10C7077B7D}" srcId="{77185513-95A4-468B-8F96-8486B2351040}" destId="{E658561B-6E11-4F34-ADDF-5F9DF88A161A}" srcOrd="0" destOrd="0" parTransId="{6AC59462-BFC1-48A3-8CBB-9411EC196B2E}" sibTransId="{D8518980-109B-4831-985E-C79B644FF6D9}"/>
    <dgm:cxn modelId="{5C4A0861-92A0-452B-9514-3A5B37868E12}" type="presOf" srcId="{E658561B-6E11-4F34-ADDF-5F9DF88A161A}" destId="{75413CE6-958B-46E6-8D5E-79EE87FCCEED}" srcOrd="0" destOrd="0" presId="urn:microsoft.com/office/officeart/2005/8/layout/vList6"/>
    <dgm:cxn modelId="{B8DA9870-0BE4-4A1A-8614-E2F711FB261C}" type="presOf" srcId="{77185513-95A4-468B-8F96-8486B2351040}" destId="{BFFBFFF0-3291-460F-B6EF-DEF936503466}" srcOrd="0" destOrd="0" presId="urn:microsoft.com/office/officeart/2005/8/layout/vList6"/>
    <dgm:cxn modelId="{95612053-13C0-46C4-977A-E4D89D077D93}" type="presOf" srcId="{4B3E6411-8761-4CEE-8803-8982346F15FB}" destId="{75413CE6-958B-46E6-8D5E-79EE87FCCEED}" srcOrd="0" destOrd="2" presId="urn:microsoft.com/office/officeart/2005/8/layout/vList6"/>
    <dgm:cxn modelId="{1181F09A-1F28-4B46-8606-227E00A7B64F}" srcId="{64B6A59B-105D-4195-BACA-3725B38D3457}" destId="{4A19D563-A00B-44C9-A7BA-5569AE22C92D}" srcOrd="1" destOrd="0" parTransId="{126534A1-5A29-4469-B9A7-36CDE57DAEDB}" sibTransId="{1E01F470-A196-4911-AC5C-30F82F101CB5}"/>
    <dgm:cxn modelId="{DC27C1A3-1516-44D4-A779-C43E93459178}" srcId="{64B6A59B-105D-4195-BACA-3725B38D3457}" destId="{00C05E24-D17B-4C6A-BA04-0CB27CA0AC80}" srcOrd="2" destOrd="0" parTransId="{1710AE74-A5AC-44A6-9A81-774081D0AACF}" sibTransId="{44478BA8-618F-49BB-BEBB-9BA4A7C2EE32}"/>
    <dgm:cxn modelId="{EDC340BA-EBA6-4A0D-9153-A9777952E015}" srcId="{6B2FA193-F386-41D7-A7FF-6ECEBB460CD1}" destId="{77185513-95A4-468B-8F96-8486B2351040}" srcOrd="0" destOrd="0" parTransId="{221D85F9-8682-48FC-8CAD-2536FA6332FF}" sibTransId="{628B8D5F-536B-4204-9482-D0BEFC9C6B36}"/>
    <dgm:cxn modelId="{CE883EE7-F877-4817-9F01-6A6A1D286D8E}" srcId="{77185513-95A4-468B-8F96-8486B2351040}" destId="{4B3E6411-8761-4CEE-8803-8982346F15FB}" srcOrd="2" destOrd="0" parTransId="{D5091518-4FC4-48AB-8B68-BA1BF21F7676}" sibTransId="{64AFD7A1-A6D0-4181-AB06-A74C5FD4A6F0}"/>
    <dgm:cxn modelId="{C1B08CFE-9348-4FE2-A134-095598C92025}" srcId="{64B6A59B-105D-4195-BACA-3725B38D3457}" destId="{605EDC9B-CCAE-4C66-BDA6-C7DA6AFE8211}" srcOrd="0" destOrd="0" parTransId="{E883A5C2-58E6-4DFD-AFF0-C954BE3C08EC}" sibTransId="{A63E1743-985D-43D1-9A07-13D97831E0B0}"/>
    <dgm:cxn modelId="{9FFFB9FC-53D3-437A-AEB1-6E3E4AF90006}" type="presParOf" srcId="{32CADB6C-F86A-4C8B-8106-D1D4A181F021}" destId="{B248D6A8-1693-43E3-927E-FB8597FCD770}" srcOrd="0" destOrd="0" presId="urn:microsoft.com/office/officeart/2005/8/layout/vList6"/>
    <dgm:cxn modelId="{F8CD9422-FF2D-4198-82A2-D3E6F6B389B5}" type="presParOf" srcId="{B248D6A8-1693-43E3-927E-FB8597FCD770}" destId="{BFFBFFF0-3291-460F-B6EF-DEF936503466}" srcOrd="0" destOrd="0" presId="urn:microsoft.com/office/officeart/2005/8/layout/vList6"/>
    <dgm:cxn modelId="{ABDE3C9D-32EB-411F-8215-4089C7D79EC6}" type="presParOf" srcId="{B248D6A8-1693-43E3-927E-FB8597FCD770}" destId="{75413CE6-958B-46E6-8D5E-79EE87FCCEED}" srcOrd="1" destOrd="0" presId="urn:microsoft.com/office/officeart/2005/8/layout/vList6"/>
    <dgm:cxn modelId="{487373F6-AAF1-4554-A085-1254F0B41353}" type="presParOf" srcId="{32CADB6C-F86A-4C8B-8106-D1D4A181F021}" destId="{8C5FB5D5-8295-4803-9090-F9BF8AABE01B}" srcOrd="1" destOrd="0" presId="urn:microsoft.com/office/officeart/2005/8/layout/vList6"/>
    <dgm:cxn modelId="{79DABEF1-70C2-44F6-A446-74B13889AFC5}" type="presParOf" srcId="{32CADB6C-F86A-4C8B-8106-D1D4A181F021}" destId="{B2881DCC-1209-4E33-A046-2A30A7605146}" srcOrd="2" destOrd="0" presId="urn:microsoft.com/office/officeart/2005/8/layout/vList6"/>
    <dgm:cxn modelId="{B887FF56-8F79-4997-B579-1F8EC808D18B}" type="presParOf" srcId="{B2881DCC-1209-4E33-A046-2A30A7605146}" destId="{01AFC1A5-E9C0-4FC4-82A9-C250DF9A28AA}" srcOrd="0" destOrd="0" presId="urn:microsoft.com/office/officeart/2005/8/layout/vList6"/>
    <dgm:cxn modelId="{2D3003A8-D7BA-45B2-B6A3-3685F94D0013}" type="presParOf" srcId="{B2881DCC-1209-4E33-A046-2A30A7605146}" destId="{0AAA64C7-0A6D-4A62-AF6B-743C30D0401E}" srcOrd="1" destOrd="0" presId="urn:microsoft.com/office/officeart/2005/8/layout/vList6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4D25E85-275D-48E5-9A44-1A90A7F56B97}" type="doc">
      <dgm:prSet loTypeId="urn:microsoft.com/office/officeart/2005/8/layout/hProcess6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AEA8DD56-1CF4-4FC7-8226-74A9B004CB64}">
      <dgm:prSet phldrT="[Текст]" custT="1"/>
      <dgm:spPr>
        <a:solidFill>
          <a:srgbClr val="FF0000"/>
        </a:solidFill>
      </dgm:spPr>
      <dgm:t>
        <a:bodyPr/>
        <a:lstStyle/>
        <a:p>
          <a:r>
            <a:rPr lang="ru-RU" sz="1000" b="1" dirty="0">
              <a:solidFill>
                <a:schemeClr val="tx1"/>
              </a:solidFill>
            </a:rPr>
            <a:t>Желания</a:t>
          </a:r>
        </a:p>
      </dgm:t>
    </dgm:pt>
    <dgm:pt modelId="{CFBDFED4-FCA6-470C-A904-7A7852FA800C}" type="parTrans" cxnId="{11860BB5-4F86-40CF-A8AF-9A09368E053E}">
      <dgm:prSet/>
      <dgm:spPr/>
      <dgm:t>
        <a:bodyPr/>
        <a:lstStyle/>
        <a:p>
          <a:endParaRPr lang="ru-RU"/>
        </a:p>
      </dgm:t>
    </dgm:pt>
    <dgm:pt modelId="{700A98FA-9B6C-4198-B697-BEB7352D40BE}" type="sibTrans" cxnId="{11860BB5-4F86-40CF-A8AF-9A09368E053E}">
      <dgm:prSet/>
      <dgm:spPr/>
      <dgm:t>
        <a:bodyPr/>
        <a:lstStyle/>
        <a:p>
          <a:endParaRPr lang="ru-RU"/>
        </a:p>
      </dgm:t>
    </dgm:pt>
    <dgm:pt modelId="{84BFD923-E2DE-425C-805B-DB6A6C6C443E}">
      <dgm:prSet phldrT="[Текст]" custT="1"/>
      <dgm:spPr/>
      <dgm:t>
        <a:bodyPr/>
        <a:lstStyle/>
        <a:p>
          <a:r>
            <a:rPr lang="ru-RU" sz="1000" b="1" dirty="0"/>
            <a:t>  партнера </a:t>
          </a:r>
        </a:p>
      </dgm:t>
    </dgm:pt>
    <dgm:pt modelId="{3967AF87-DA7A-4467-8340-86CD9706F824}" type="parTrans" cxnId="{B6A8301C-388B-4B4B-B072-492F2E3570C5}">
      <dgm:prSet/>
      <dgm:spPr/>
      <dgm:t>
        <a:bodyPr/>
        <a:lstStyle/>
        <a:p>
          <a:endParaRPr lang="ru-RU"/>
        </a:p>
      </dgm:t>
    </dgm:pt>
    <dgm:pt modelId="{E35BC016-EC2C-4E16-B366-54F2D0025856}" type="sibTrans" cxnId="{B6A8301C-388B-4B4B-B072-492F2E3570C5}">
      <dgm:prSet/>
      <dgm:spPr/>
      <dgm:t>
        <a:bodyPr/>
        <a:lstStyle/>
        <a:p>
          <a:endParaRPr lang="ru-RU"/>
        </a:p>
      </dgm:t>
    </dgm:pt>
    <dgm:pt modelId="{73F05CFD-0BC1-49F1-93C8-FC24496D2EEF}">
      <dgm:prSet phldrT="[Текст]" custT="1"/>
      <dgm:spPr/>
      <dgm:t>
        <a:bodyPr/>
        <a:lstStyle/>
        <a:p>
          <a:r>
            <a:rPr lang="ru-RU" sz="1200" b="1" dirty="0"/>
            <a:t>родителей</a:t>
          </a:r>
        </a:p>
      </dgm:t>
    </dgm:pt>
    <dgm:pt modelId="{91D36D6A-2FC5-4F74-AF4A-27E579AF95F1}" type="parTrans" cxnId="{20D67A0F-3734-477C-8EA8-02C67FE598F6}">
      <dgm:prSet/>
      <dgm:spPr/>
      <dgm:t>
        <a:bodyPr/>
        <a:lstStyle/>
        <a:p>
          <a:endParaRPr lang="ru-RU"/>
        </a:p>
      </dgm:t>
    </dgm:pt>
    <dgm:pt modelId="{4F9F1D5F-9D95-4FF5-8C1F-829B9242BB0D}" type="sibTrans" cxnId="{20D67A0F-3734-477C-8EA8-02C67FE598F6}">
      <dgm:prSet/>
      <dgm:spPr/>
      <dgm:t>
        <a:bodyPr/>
        <a:lstStyle/>
        <a:p>
          <a:endParaRPr lang="ru-RU"/>
        </a:p>
      </dgm:t>
    </dgm:pt>
    <dgm:pt modelId="{397454AE-575F-4EB4-A39D-DDFFF6268951}">
      <dgm:prSet phldrT="[Текст]"/>
      <dgm:spPr>
        <a:solidFill>
          <a:schemeClr val="bg2">
            <a:lumMod val="25000"/>
          </a:schemeClr>
        </a:solidFill>
      </dgm:spPr>
      <dgm:t>
        <a:bodyPr/>
        <a:lstStyle/>
        <a:p>
          <a:r>
            <a:rPr lang="ru-RU" dirty="0"/>
            <a:t>действия</a:t>
          </a:r>
        </a:p>
      </dgm:t>
    </dgm:pt>
    <dgm:pt modelId="{88B52D9C-CDE7-4063-9B03-9B6C60F941FE}" type="parTrans" cxnId="{28D52864-B9C1-40A2-979F-59B90A191F9B}">
      <dgm:prSet/>
      <dgm:spPr/>
      <dgm:t>
        <a:bodyPr/>
        <a:lstStyle/>
        <a:p>
          <a:endParaRPr lang="ru-RU"/>
        </a:p>
      </dgm:t>
    </dgm:pt>
    <dgm:pt modelId="{700CB6BC-5CAD-49C2-B691-7BEABD179EAE}" type="sibTrans" cxnId="{28D52864-B9C1-40A2-979F-59B90A191F9B}">
      <dgm:prSet/>
      <dgm:spPr/>
      <dgm:t>
        <a:bodyPr/>
        <a:lstStyle/>
        <a:p>
          <a:endParaRPr lang="ru-RU"/>
        </a:p>
      </dgm:t>
    </dgm:pt>
    <dgm:pt modelId="{22A116B6-FAB6-413F-9E10-7F2B31E26BD1}">
      <dgm:prSet phldrT="[Текст]" custT="1"/>
      <dgm:spPr/>
      <dgm:t>
        <a:bodyPr/>
        <a:lstStyle/>
        <a:p>
          <a:r>
            <a:rPr lang="ru-RU" sz="1200" b="1" dirty="0"/>
            <a:t> Неверные действия</a:t>
          </a:r>
        </a:p>
      </dgm:t>
    </dgm:pt>
    <dgm:pt modelId="{C8B85640-EC97-4451-9140-D8B04BA5F768}" type="parTrans" cxnId="{C5369126-0618-4A3C-B1FA-F7C92C273F36}">
      <dgm:prSet/>
      <dgm:spPr/>
      <dgm:t>
        <a:bodyPr/>
        <a:lstStyle/>
        <a:p>
          <a:endParaRPr lang="ru-RU"/>
        </a:p>
      </dgm:t>
    </dgm:pt>
    <dgm:pt modelId="{D82BF940-818E-47DC-966E-907FC6AABCB3}" type="sibTrans" cxnId="{C5369126-0618-4A3C-B1FA-F7C92C273F36}">
      <dgm:prSet/>
      <dgm:spPr/>
      <dgm:t>
        <a:bodyPr/>
        <a:lstStyle/>
        <a:p>
          <a:endParaRPr lang="ru-RU"/>
        </a:p>
      </dgm:t>
    </dgm:pt>
    <dgm:pt modelId="{75ED449D-63C8-49CA-99D7-D0B7658DAD03}">
      <dgm:prSet phldrT="[Текст]"/>
      <dgm:spPr>
        <a:solidFill>
          <a:schemeClr val="accent3">
            <a:lumMod val="75000"/>
          </a:schemeClr>
        </a:solidFill>
      </dgm:spPr>
      <dgm:t>
        <a:bodyPr/>
        <a:lstStyle/>
        <a:p>
          <a:r>
            <a:rPr lang="ru-RU" dirty="0"/>
            <a:t>чувства</a:t>
          </a:r>
        </a:p>
      </dgm:t>
    </dgm:pt>
    <dgm:pt modelId="{E42FABDF-29DD-4343-A582-B889B0A068CC}" type="parTrans" cxnId="{43A829B6-3723-4469-A6C9-DA1077EA57F8}">
      <dgm:prSet/>
      <dgm:spPr/>
      <dgm:t>
        <a:bodyPr/>
        <a:lstStyle/>
        <a:p>
          <a:endParaRPr lang="ru-RU"/>
        </a:p>
      </dgm:t>
    </dgm:pt>
    <dgm:pt modelId="{355A335B-AF4E-452A-BB89-5D8215CB8E24}" type="sibTrans" cxnId="{43A829B6-3723-4469-A6C9-DA1077EA57F8}">
      <dgm:prSet/>
      <dgm:spPr/>
      <dgm:t>
        <a:bodyPr/>
        <a:lstStyle/>
        <a:p>
          <a:endParaRPr lang="ru-RU"/>
        </a:p>
      </dgm:t>
    </dgm:pt>
    <dgm:pt modelId="{536B3546-3E51-406E-ACE7-B027A432DF56}">
      <dgm:prSet phldrT="[Текст]"/>
      <dgm:spPr/>
      <dgm:t>
        <a:bodyPr/>
        <a:lstStyle/>
        <a:p>
          <a:r>
            <a:rPr lang="ru-RU" b="1" dirty="0"/>
            <a:t>гнев</a:t>
          </a:r>
        </a:p>
      </dgm:t>
    </dgm:pt>
    <dgm:pt modelId="{ED67EFBB-BE56-4173-8CCF-00FF101EAC88}" type="sibTrans" cxnId="{E98EEE21-EDDB-45D5-B07B-3CA3E4021FAA}">
      <dgm:prSet/>
      <dgm:spPr/>
      <dgm:t>
        <a:bodyPr/>
        <a:lstStyle/>
        <a:p>
          <a:endParaRPr lang="ru-RU"/>
        </a:p>
      </dgm:t>
    </dgm:pt>
    <dgm:pt modelId="{3A006C52-33E1-4BF7-ADCD-4BBACA3CC3D3}" type="parTrans" cxnId="{E98EEE21-EDDB-45D5-B07B-3CA3E4021FAA}">
      <dgm:prSet/>
      <dgm:spPr/>
      <dgm:t>
        <a:bodyPr/>
        <a:lstStyle/>
        <a:p>
          <a:endParaRPr lang="ru-RU"/>
        </a:p>
      </dgm:t>
    </dgm:pt>
    <dgm:pt modelId="{5199A50D-527C-405C-BD0C-E5D167DF1BAD}">
      <dgm:prSet phldrT="[Текст]"/>
      <dgm:spPr/>
      <dgm:t>
        <a:bodyPr/>
        <a:lstStyle/>
        <a:p>
          <a:r>
            <a:rPr lang="ru-RU" b="1" dirty="0"/>
            <a:t>печаль</a:t>
          </a:r>
        </a:p>
      </dgm:t>
    </dgm:pt>
    <dgm:pt modelId="{B039DCB5-AE0B-4947-BEB7-B2F9CCD88744}" type="sibTrans" cxnId="{0F42BB9F-1B74-47CB-8614-8A67C68DC6D4}">
      <dgm:prSet/>
      <dgm:spPr/>
      <dgm:t>
        <a:bodyPr/>
        <a:lstStyle/>
        <a:p>
          <a:endParaRPr lang="ru-RU"/>
        </a:p>
      </dgm:t>
    </dgm:pt>
    <dgm:pt modelId="{1ACE3CAA-36A0-49C0-B340-465BFC05F8EC}" type="parTrans" cxnId="{0F42BB9F-1B74-47CB-8614-8A67C68DC6D4}">
      <dgm:prSet/>
      <dgm:spPr/>
      <dgm:t>
        <a:bodyPr/>
        <a:lstStyle/>
        <a:p>
          <a:endParaRPr lang="ru-RU"/>
        </a:p>
      </dgm:t>
    </dgm:pt>
    <dgm:pt modelId="{EFD2509B-0F22-423E-BE16-AB3D4B52BD4B}" type="pres">
      <dgm:prSet presAssocID="{44D25E85-275D-48E5-9A44-1A90A7F56B97}" presName="theList" presStyleCnt="0">
        <dgm:presLayoutVars>
          <dgm:dir/>
          <dgm:animLvl val="lvl"/>
          <dgm:resizeHandles val="exact"/>
        </dgm:presLayoutVars>
      </dgm:prSet>
      <dgm:spPr/>
    </dgm:pt>
    <dgm:pt modelId="{3967D7D6-08D0-41E8-AB49-59C4E4D42CD4}" type="pres">
      <dgm:prSet presAssocID="{AEA8DD56-1CF4-4FC7-8226-74A9B004CB64}" presName="compNode" presStyleCnt="0"/>
      <dgm:spPr/>
    </dgm:pt>
    <dgm:pt modelId="{C56634A4-F7B7-464E-B729-24A2E850C206}" type="pres">
      <dgm:prSet presAssocID="{AEA8DD56-1CF4-4FC7-8226-74A9B004CB64}" presName="noGeometry" presStyleCnt="0"/>
      <dgm:spPr/>
    </dgm:pt>
    <dgm:pt modelId="{455F4A48-2AF1-4988-9713-A26E5ABC3BE5}" type="pres">
      <dgm:prSet presAssocID="{AEA8DD56-1CF4-4FC7-8226-74A9B004CB64}" presName="childTextVisible" presStyleLbl="bgAccFollowNode1" presStyleIdx="0" presStyleCnt="3" custScaleX="180057">
        <dgm:presLayoutVars>
          <dgm:bulletEnabled val="1"/>
        </dgm:presLayoutVars>
      </dgm:prSet>
      <dgm:spPr/>
    </dgm:pt>
    <dgm:pt modelId="{02E2380A-3F5B-4E47-B473-D3193192CC8B}" type="pres">
      <dgm:prSet presAssocID="{AEA8DD56-1CF4-4FC7-8226-74A9B004CB64}" presName="childTextHidden" presStyleLbl="bgAccFollowNode1" presStyleIdx="0" presStyleCnt="3"/>
      <dgm:spPr/>
    </dgm:pt>
    <dgm:pt modelId="{B5648173-F299-45E7-8694-07870BD8E318}" type="pres">
      <dgm:prSet presAssocID="{AEA8DD56-1CF4-4FC7-8226-74A9B004CB64}" presName="parentText" presStyleLbl="node1" presStyleIdx="0" presStyleCnt="3" custLinFactNeighborX="-10655" custLinFactNeighborY="-901">
        <dgm:presLayoutVars>
          <dgm:chMax val="1"/>
          <dgm:bulletEnabled val="1"/>
        </dgm:presLayoutVars>
      </dgm:prSet>
      <dgm:spPr/>
    </dgm:pt>
    <dgm:pt modelId="{446042ED-9ECF-4415-8199-743090D20162}" type="pres">
      <dgm:prSet presAssocID="{AEA8DD56-1CF4-4FC7-8226-74A9B004CB64}" presName="aSpace" presStyleCnt="0"/>
      <dgm:spPr/>
    </dgm:pt>
    <dgm:pt modelId="{7F5A9B79-37CE-4896-A718-6378B44D0884}" type="pres">
      <dgm:prSet presAssocID="{397454AE-575F-4EB4-A39D-DDFFF6268951}" presName="compNode" presStyleCnt="0"/>
      <dgm:spPr/>
    </dgm:pt>
    <dgm:pt modelId="{DCAA6AFC-D159-4E19-9969-C6C22FFC9DC3}" type="pres">
      <dgm:prSet presAssocID="{397454AE-575F-4EB4-A39D-DDFFF6268951}" presName="noGeometry" presStyleCnt="0"/>
      <dgm:spPr/>
    </dgm:pt>
    <dgm:pt modelId="{176D84B6-2D89-4CD6-AD32-BFD1251B9257}" type="pres">
      <dgm:prSet presAssocID="{397454AE-575F-4EB4-A39D-DDFFF6268951}" presName="childTextVisible" presStyleLbl="bgAccFollowNode1" presStyleIdx="1" presStyleCnt="3" custScaleX="200695">
        <dgm:presLayoutVars>
          <dgm:bulletEnabled val="1"/>
        </dgm:presLayoutVars>
      </dgm:prSet>
      <dgm:spPr/>
    </dgm:pt>
    <dgm:pt modelId="{90026BBF-A382-434D-8056-29FBFF2DF5FF}" type="pres">
      <dgm:prSet presAssocID="{397454AE-575F-4EB4-A39D-DDFFF6268951}" presName="childTextHidden" presStyleLbl="bgAccFollowNode1" presStyleIdx="1" presStyleCnt="3"/>
      <dgm:spPr/>
    </dgm:pt>
    <dgm:pt modelId="{4F8BAC09-00F8-465C-8F46-22680E9FC991}" type="pres">
      <dgm:prSet presAssocID="{397454AE-575F-4EB4-A39D-DDFFF6268951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2ADCE0E5-4102-4073-88E3-DE98EEAE20CA}" type="pres">
      <dgm:prSet presAssocID="{397454AE-575F-4EB4-A39D-DDFFF6268951}" presName="aSpace" presStyleCnt="0"/>
      <dgm:spPr/>
    </dgm:pt>
    <dgm:pt modelId="{65BAFB3A-B750-48C6-BBF9-A7E5D44532B5}" type="pres">
      <dgm:prSet presAssocID="{75ED449D-63C8-49CA-99D7-D0B7658DAD03}" presName="compNode" presStyleCnt="0"/>
      <dgm:spPr/>
    </dgm:pt>
    <dgm:pt modelId="{BF783A26-7649-41A3-B38E-5C3A04227CCE}" type="pres">
      <dgm:prSet presAssocID="{75ED449D-63C8-49CA-99D7-D0B7658DAD03}" presName="noGeometry" presStyleCnt="0"/>
      <dgm:spPr/>
    </dgm:pt>
    <dgm:pt modelId="{D53B790E-2224-4C4B-B28D-305680E347B4}" type="pres">
      <dgm:prSet presAssocID="{75ED449D-63C8-49CA-99D7-D0B7658DAD03}" presName="childTextVisible" presStyleLbl="bgAccFollowNode1" presStyleIdx="2" presStyleCnt="3" custScaleX="112147" custScaleY="99697" custLinFactNeighborX="15394" custLinFactNeighborY="-3883">
        <dgm:presLayoutVars>
          <dgm:bulletEnabled val="1"/>
        </dgm:presLayoutVars>
      </dgm:prSet>
      <dgm:spPr/>
    </dgm:pt>
    <dgm:pt modelId="{4035166F-6C90-4557-AAAF-77FB8C246C55}" type="pres">
      <dgm:prSet presAssocID="{75ED449D-63C8-49CA-99D7-D0B7658DAD03}" presName="childTextHidden" presStyleLbl="bgAccFollowNode1" presStyleIdx="2" presStyleCnt="3"/>
      <dgm:spPr/>
    </dgm:pt>
    <dgm:pt modelId="{3DFA7077-C65F-4A89-A8AA-4A9DAA236776}" type="pres">
      <dgm:prSet presAssocID="{75ED449D-63C8-49CA-99D7-D0B7658DAD03}" presName="parentText" presStyleLbl="node1" presStyleIdx="2" presStyleCnt="3">
        <dgm:presLayoutVars>
          <dgm:chMax val="1"/>
          <dgm:bulletEnabled val="1"/>
        </dgm:presLayoutVars>
      </dgm:prSet>
      <dgm:spPr/>
    </dgm:pt>
  </dgm:ptLst>
  <dgm:cxnLst>
    <dgm:cxn modelId="{20D67A0F-3734-477C-8EA8-02C67FE598F6}" srcId="{AEA8DD56-1CF4-4FC7-8226-74A9B004CB64}" destId="{73F05CFD-0BC1-49F1-93C8-FC24496D2EEF}" srcOrd="1" destOrd="0" parTransId="{91D36D6A-2FC5-4F74-AF4A-27E579AF95F1}" sibTransId="{4F9F1D5F-9D95-4FF5-8C1F-829B9242BB0D}"/>
    <dgm:cxn modelId="{F3769E14-8C9A-4367-9B01-359261EE8D1C}" type="presOf" srcId="{536B3546-3E51-406E-ACE7-B027A432DF56}" destId="{4035166F-6C90-4557-AAAF-77FB8C246C55}" srcOrd="1" destOrd="0" presId="urn:microsoft.com/office/officeart/2005/8/layout/hProcess6"/>
    <dgm:cxn modelId="{F7EBC318-20FB-4E8E-8F98-DE9E1C9073A3}" type="presOf" srcId="{84BFD923-E2DE-425C-805B-DB6A6C6C443E}" destId="{02E2380A-3F5B-4E47-B473-D3193192CC8B}" srcOrd="1" destOrd="0" presId="urn:microsoft.com/office/officeart/2005/8/layout/hProcess6"/>
    <dgm:cxn modelId="{B6A8301C-388B-4B4B-B072-492F2E3570C5}" srcId="{AEA8DD56-1CF4-4FC7-8226-74A9B004CB64}" destId="{84BFD923-E2DE-425C-805B-DB6A6C6C443E}" srcOrd="0" destOrd="0" parTransId="{3967AF87-DA7A-4467-8340-86CD9706F824}" sibTransId="{E35BC016-EC2C-4E16-B366-54F2D0025856}"/>
    <dgm:cxn modelId="{E938261D-D868-4CD1-A498-31C838DB48C5}" type="presOf" srcId="{AEA8DD56-1CF4-4FC7-8226-74A9B004CB64}" destId="{B5648173-F299-45E7-8694-07870BD8E318}" srcOrd="0" destOrd="0" presId="urn:microsoft.com/office/officeart/2005/8/layout/hProcess6"/>
    <dgm:cxn modelId="{E4851C21-CA97-4BF2-98E9-547D941F17B4}" type="presOf" srcId="{84BFD923-E2DE-425C-805B-DB6A6C6C443E}" destId="{455F4A48-2AF1-4988-9713-A26E5ABC3BE5}" srcOrd="0" destOrd="0" presId="urn:microsoft.com/office/officeart/2005/8/layout/hProcess6"/>
    <dgm:cxn modelId="{E98EEE21-EDDB-45D5-B07B-3CA3E4021FAA}" srcId="{75ED449D-63C8-49CA-99D7-D0B7658DAD03}" destId="{536B3546-3E51-406E-ACE7-B027A432DF56}" srcOrd="0" destOrd="0" parTransId="{3A006C52-33E1-4BF7-ADCD-4BBACA3CC3D3}" sibTransId="{ED67EFBB-BE56-4173-8CCF-00FF101EAC88}"/>
    <dgm:cxn modelId="{F437A025-32C4-4665-BE91-864A6179BF2A}" type="presOf" srcId="{536B3546-3E51-406E-ACE7-B027A432DF56}" destId="{D53B790E-2224-4C4B-B28D-305680E347B4}" srcOrd="0" destOrd="0" presId="urn:microsoft.com/office/officeart/2005/8/layout/hProcess6"/>
    <dgm:cxn modelId="{C5369126-0618-4A3C-B1FA-F7C92C273F36}" srcId="{397454AE-575F-4EB4-A39D-DDFFF6268951}" destId="{22A116B6-FAB6-413F-9E10-7F2B31E26BD1}" srcOrd="0" destOrd="0" parTransId="{C8B85640-EC97-4451-9140-D8B04BA5F768}" sibTransId="{D82BF940-818E-47DC-966E-907FC6AABCB3}"/>
    <dgm:cxn modelId="{AD5EBD5F-18E9-4667-A633-1765A97878A3}" type="presOf" srcId="{73F05CFD-0BC1-49F1-93C8-FC24496D2EEF}" destId="{02E2380A-3F5B-4E47-B473-D3193192CC8B}" srcOrd="1" destOrd="1" presId="urn:microsoft.com/office/officeart/2005/8/layout/hProcess6"/>
    <dgm:cxn modelId="{28D52864-B9C1-40A2-979F-59B90A191F9B}" srcId="{44D25E85-275D-48E5-9A44-1A90A7F56B97}" destId="{397454AE-575F-4EB4-A39D-DDFFF6268951}" srcOrd="1" destOrd="0" parTransId="{88B52D9C-CDE7-4063-9B03-9B6C60F941FE}" sibTransId="{700CB6BC-5CAD-49C2-B691-7BEABD179EAE}"/>
    <dgm:cxn modelId="{FBF3104F-9403-4020-8070-D84125CF4692}" type="presOf" srcId="{22A116B6-FAB6-413F-9E10-7F2B31E26BD1}" destId="{176D84B6-2D89-4CD6-AD32-BFD1251B9257}" srcOrd="0" destOrd="0" presId="urn:microsoft.com/office/officeart/2005/8/layout/hProcess6"/>
    <dgm:cxn modelId="{CB373273-0DF5-48DB-B552-A27EE666D949}" type="presOf" srcId="{22A116B6-FAB6-413F-9E10-7F2B31E26BD1}" destId="{90026BBF-A382-434D-8056-29FBFF2DF5FF}" srcOrd="1" destOrd="0" presId="urn:microsoft.com/office/officeart/2005/8/layout/hProcess6"/>
    <dgm:cxn modelId="{F75DFD75-78FA-4909-A47C-674FAF9B9403}" type="presOf" srcId="{73F05CFD-0BC1-49F1-93C8-FC24496D2EEF}" destId="{455F4A48-2AF1-4988-9713-A26E5ABC3BE5}" srcOrd="0" destOrd="1" presId="urn:microsoft.com/office/officeart/2005/8/layout/hProcess6"/>
    <dgm:cxn modelId="{F7BE8C7A-7112-456D-A565-CA5A255F9984}" type="presOf" srcId="{5199A50D-527C-405C-BD0C-E5D167DF1BAD}" destId="{4035166F-6C90-4557-AAAF-77FB8C246C55}" srcOrd="1" destOrd="1" presId="urn:microsoft.com/office/officeart/2005/8/layout/hProcess6"/>
    <dgm:cxn modelId="{0F42BB9F-1B74-47CB-8614-8A67C68DC6D4}" srcId="{75ED449D-63C8-49CA-99D7-D0B7658DAD03}" destId="{5199A50D-527C-405C-BD0C-E5D167DF1BAD}" srcOrd="1" destOrd="0" parTransId="{1ACE3CAA-36A0-49C0-B340-465BFC05F8EC}" sibTransId="{B039DCB5-AE0B-4947-BEB7-B2F9CCD88744}"/>
    <dgm:cxn modelId="{5BF96CB0-C9E7-4252-A693-4D3BF0F19ABB}" type="presOf" srcId="{5199A50D-527C-405C-BD0C-E5D167DF1BAD}" destId="{D53B790E-2224-4C4B-B28D-305680E347B4}" srcOrd="0" destOrd="1" presId="urn:microsoft.com/office/officeart/2005/8/layout/hProcess6"/>
    <dgm:cxn modelId="{11860BB5-4F86-40CF-A8AF-9A09368E053E}" srcId="{44D25E85-275D-48E5-9A44-1A90A7F56B97}" destId="{AEA8DD56-1CF4-4FC7-8226-74A9B004CB64}" srcOrd="0" destOrd="0" parTransId="{CFBDFED4-FCA6-470C-A904-7A7852FA800C}" sibTransId="{700A98FA-9B6C-4198-B697-BEB7352D40BE}"/>
    <dgm:cxn modelId="{43A829B6-3723-4469-A6C9-DA1077EA57F8}" srcId="{44D25E85-275D-48E5-9A44-1A90A7F56B97}" destId="{75ED449D-63C8-49CA-99D7-D0B7658DAD03}" srcOrd="2" destOrd="0" parTransId="{E42FABDF-29DD-4343-A582-B889B0A068CC}" sibTransId="{355A335B-AF4E-452A-BB89-5D8215CB8E24}"/>
    <dgm:cxn modelId="{BECCE5B9-DBE2-41F2-B2FD-3D528EACB96B}" type="presOf" srcId="{397454AE-575F-4EB4-A39D-DDFFF6268951}" destId="{4F8BAC09-00F8-465C-8F46-22680E9FC991}" srcOrd="0" destOrd="0" presId="urn:microsoft.com/office/officeart/2005/8/layout/hProcess6"/>
    <dgm:cxn modelId="{546C00E8-CD3C-464A-B24B-2C2FAEA5092B}" type="presOf" srcId="{44D25E85-275D-48E5-9A44-1A90A7F56B97}" destId="{EFD2509B-0F22-423E-BE16-AB3D4B52BD4B}" srcOrd="0" destOrd="0" presId="urn:microsoft.com/office/officeart/2005/8/layout/hProcess6"/>
    <dgm:cxn modelId="{A47F19EA-F940-484D-ABA3-F13175736079}" type="presOf" srcId="{75ED449D-63C8-49CA-99D7-D0B7658DAD03}" destId="{3DFA7077-C65F-4A89-A8AA-4A9DAA236776}" srcOrd="0" destOrd="0" presId="urn:microsoft.com/office/officeart/2005/8/layout/hProcess6"/>
    <dgm:cxn modelId="{8E951CAC-5963-48DD-AFAA-C2376D33641A}" type="presParOf" srcId="{EFD2509B-0F22-423E-BE16-AB3D4B52BD4B}" destId="{3967D7D6-08D0-41E8-AB49-59C4E4D42CD4}" srcOrd="0" destOrd="0" presId="urn:microsoft.com/office/officeart/2005/8/layout/hProcess6"/>
    <dgm:cxn modelId="{54C4CD86-29A6-4FB6-AC49-EE58ACE29AC2}" type="presParOf" srcId="{3967D7D6-08D0-41E8-AB49-59C4E4D42CD4}" destId="{C56634A4-F7B7-464E-B729-24A2E850C206}" srcOrd="0" destOrd="0" presId="urn:microsoft.com/office/officeart/2005/8/layout/hProcess6"/>
    <dgm:cxn modelId="{361839F5-2E70-4FC0-8721-628CD7C278B8}" type="presParOf" srcId="{3967D7D6-08D0-41E8-AB49-59C4E4D42CD4}" destId="{455F4A48-2AF1-4988-9713-A26E5ABC3BE5}" srcOrd="1" destOrd="0" presId="urn:microsoft.com/office/officeart/2005/8/layout/hProcess6"/>
    <dgm:cxn modelId="{2632EB6B-1FB4-419D-BAB9-9261F98BD5CD}" type="presParOf" srcId="{3967D7D6-08D0-41E8-AB49-59C4E4D42CD4}" destId="{02E2380A-3F5B-4E47-B473-D3193192CC8B}" srcOrd="2" destOrd="0" presId="urn:microsoft.com/office/officeart/2005/8/layout/hProcess6"/>
    <dgm:cxn modelId="{C9582D19-3C42-4616-A87E-EEE4A28675E9}" type="presParOf" srcId="{3967D7D6-08D0-41E8-AB49-59C4E4D42CD4}" destId="{B5648173-F299-45E7-8694-07870BD8E318}" srcOrd="3" destOrd="0" presId="urn:microsoft.com/office/officeart/2005/8/layout/hProcess6"/>
    <dgm:cxn modelId="{F7E981A0-49AB-492C-974E-022D5200B5D1}" type="presParOf" srcId="{EFD2509B-0F22-423E-BE16-AB3D4B52BD4B}" destId="{446042ED-9ECF-4415-8199-743090D20162}" srcOrd="1" destOrd="0" presId="urn:microsoft.com/office/officeart/2005/8/layout/hProcess6"/>
    <dgm:cxn modelId="{FE7179DE-964A-486A-8F8C-096E30CB3A05}" type="presParOf" srcId="{EFD2509B-0F22-423E-BE16-AB3D4B52BD4B}" destId="{7F5A9B79-37CE-4896-A718-6378B44D0884}" srcOrd="2" destOrd="0" presId="urn:microsoft.com/office/officeart/2005/8/layout/hProcess6"/>
    <dgm:cxn modelId="{7CBBF52C-383B-4399-905B-E4C41E2A76BD}" type="presParOf" srcId="{7F5A9B79-37CE-4896-A718-6378B44D0884}" destId="{DCAA6AFC-D159-4E19-9969-C6C22FFC9DC3}" srcOrd="0" destOrd="0" presId="urn:microsoft.com/office/officeart/2005/8/layout/hProcess6"/>
    <dgm:cxn modelId="{0AC869F2-6CA0-4FD4-88D6-9A416F0C50F0}" type="presParOf" srcId="{7F5A9B79-37CE-4896-A718-6378B44D0884}" destId="{176D84B6-2D89-4CD6-AD32-BFD1251B9257}" srcOrd="1" destOrd="0" presId="urn:microsoft.com/office/officeart/2005/8/layout/hProcess6"/>
    <dgm:cxn modelId="{F30C243B-5EC6-4845-8EEA-FD8314643115}" type="presParOf" srcId="{7F5A9B79-37CE-4896-A718-6378B44D0884}" destId="{90026BBF-A382-434D-8056-29FBFF2DF5FF}" srcOrd="2" destOrd="0" presId="urn:microsoft.com/office/officeart/2005/8/layout/hProcess6"/>
    <dgm:cxn modelId="{2A241D3D-1D1A-4C85-A9DA-DCA9DA960441}" type="presParOf" srcId="{7F5A9B79-37CE-4896-A718-6378B44D0884}" destId="{4F8BAC09-00F8-465C-8F46-22680E9FC991}" srcOrd="3" destOrd="0" presId="urn:microsoft.com/office/officeart/2005/8/layout/hProcess6"/>
    <dgm:cxn modelId="{41302582-D4FC-4FFA-A6C9-318D6F3D4411}" type="presParOf" srcId="{EFD2509B-0F22-423E-BE16-AB3D4B52BD4B}" destId="{2ADCE0E5-4102-4073-88E3-DE98EEAE20CA}" srcOrd="3" destOrd="0" presId="urn:microsoft.com/office/officeart/2005/8/layout/hProcess6"/>
    <dgm:cxn modelId="{C6C690F8-EEE5-418C-949A-4B3FA108C201}" type="presParOf" srcId="{EFD2509B-0F22-423E-BE16-AB3D4B52BD4B}" destId="{65BAFB3A-B750-48C6-BBF9-A7E5D44532B5}" srcOrd="4" destOrd="0" presId="urn:microsoft.com/office/officeart/2005/8/layout/hProcess6"/>
    <dgm:cxn modelId="{A778A540-3229-4A07-A4FB-72B9598A8329}" type="presParOf" srcId="{65BAFB3A-B750-48C6-BBF9-A7E5D44532B5}" destId="{BF783A26-7649-41A3-B38E-5C3A04227CCE}" srcOrd="0" destOrd="0" presId="urn:microsoft.com/office/officeart/2005/8/layout/hProcess6"/>
    <dgm:cxn modelId="{05F55B0B-6A8B-4DCA-84DA-C53A7CDD6647}" type="presParOf" srcId="{65BAFB3A-B750-48C6-BBF9-A7E5D44532B5}" destId="{D53B790E-2224-4C4B-B28D-305680E347B4}" srcOrd="1" destOrd="0" presId="urn:microsoft.com/office/officeart/2005/8/layout/hProcess6"/>
    <dgm:cxn modelId="{4418BC9C-8635-4658-BE15-B54E4609A316}" type="presParOf" srcId="{65BAFB3A-B750-48C6-BBF9-A7E5D44532B5}" destId="{4035166F-6C90-4557-AAAF-77FB8C246C55}" srcOrd="2" destOrd="0" presId="urn:microsoft.com/office/officeart/2005/8/layout/hProcess6"/>
    <dgm:cxn modelId="{7F1DDF92-2FB2-4CCE-AFE5-C90F2604D9CC}" type="presParOf" srcId="{65BAFB3A-B750-48C6-BBF9-A7E5D44532B5}" destId="{3DFA7077-C65F-4A89-A8AA-4A9DAA236776}" srcOrd="3" destOrd="0" presId="urn:microsoft.com/office/officeart/2005/8/layout/hProcess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B2FA193-F386-41D7-A7FF-6ECEBB460CD1}" type="doc">
      <dgm:prSet loTypeId="urn:microsoft.com/office/officeart/2005/8/layout/vList6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77185513-95A4-468B-8F96-8486B2351040}">
      <dgm:prSet phldrT="[Текст]"/>
      <dgm:spPr>
        <a:solidFill>
          <a:schemeClr val="tx2">
            <a:lumMod val="75000"/>
          </a:schemeClr>
        </a:solidFill>
      </dgm:spPr>
      <dgm:t>
        <a:bodyPr/>
        <a:lstStyle/>
        <a:p>
          <a:r>
            <a:rPr lang="ru-RU" dirty="0"/>
            <a:t>результат</a:t>
          </a:r>
        </a:p>
      </dgm:t>
    </dgm:pt>
    <dgm:pt modelId="{221D85F9-8682-48FC-8CAD-2536FA6332FF}" type="parTrans" cxnId="{EDC340BA-EBA6-4A0D-9153-A9777952E015}">
      <dgm:prSet/>
      <dgm:spPr/>
      <dgm:t>
        <a:bodyPr/>
        <a:lstStyle/>
        <a:p>
          <a:endParaRPr lang="ru-RU"/>
        </a:p>
      </dgm:t>
    </dgm:pt>
    <dgm:pt modelId="{628B8D5F-536B-4204-9482-D0BEFC9C6B36}" type="sibTrans" cxnId="{EDC340BA-EBA6-4A0D-9153-A9777952E015}">
      <dgm:prSet/>
      <dgm:spPr/>
      <dgm:t>
        <a:bodyPr/>
        <a:lstStyle/>
        <a:p>
          <a:endParaRPr lang="ru-RU"/>
        </a:p>
      </dgm:t>
    </dgm:pt>
    <dgm:pt modelId="{E658561B-6E11-4F34-ADDF-5F9DF88A161A}">
      <dgm:prSet phldrT="[Текст]"/>
      <dgm:spPr/>
      <dgm:t>
        <a:bodyPr/>
        <a:lstStyle/>
        <a:p>
          <a:r>
            <a:rPr lang="ru-RU" dirty="0"/>
            <a:t>агрессия</a:t>
          </a:r>
        </a:p>
      </dgm:t>
    </dgm:pt>
    <dgm:pt modelId="{6AC59462-BFC1-48A3-8CBB-9411EC196B2E}" type="parTrans" cxnId="{FB2EB43F-E020-4389-8DEB-EF10C7077B7D}">
      <dgm:prSet/>
      <dgm:spPr/>
      <dgm:t>
        <a:bodyPr/>
        <a:lstStyle/>
        <a:p>
          <a:endParaRPr lang="ru-RU"/>
        </a:p>
      </dgm:t>
    </dgm:pt>
    <dgm:pt modelId="{D8518980-109B-4831-985E-C79B644FF6D9}" type="sibTrans" cxnId="{FB2EB43F-E020-4389-8DEB-EF10C7077B7D}">
      <dgm:prSet/>
      <dgm:spPr/>
      <dgm:t>
        <a:bodyPr/>
        <a:lstStyle/>
        <a:p>
          <a:endParaRPr lang="ru-RU"/>
        </a:p>
      </dgm:t>
    </dgm:pt>
    <dgm:pt modelId="{6D9BF940-37BD-44E6-ABA2-406636AC59A6}">
      <dgm:prSet phldrT="[Текст]"/>
      <dgm:spPr/>
      <dgm:t>
        <a:bodyPr/>
        <a:lstStyle/>
        <a:p>
          <a:r>
            <a:rPr lang="ru-RU" dirty="0"/>
            <a:t>злость</a:t>
          </a:r>
        </a:p>
      </dgm:t>
    </dgm:pt>
    <dgm:pt modelId="{F3D42E5E-EFFA-4C8F-BB8E-392DD1756794}" type="parTrans" cxnId="{F558AB0E-7E91-46BB-8FFF-05282CC3E291}">
      <dgm:prSet/>
      <dgm:spPr/>
      <dgm:t>
        <a:bodyPr/>
        <a:lstStyle/>
        <a:p>
          <a:endParaRPr lang="ru-RU"/>
        </a:p>
      </dgm:t>
    </dgm:pt>
    <dgm:pt modelId="{16F5F8CE-861E-4FFF-867D-22476C8D4A41}" type="sibTrans" cxnId="{F558AB0E-7E91-46BB-8FFF-05282CC3E291}">
      <dgm:prSet/>
      <dgm:spPr/>
      <dgm:t>
        <a:bodyPr/>
        <a:lstStyle/>
        <a:p>
          <a:endParaRPr lang="ru-RU"/>
        </a:p>
      </dgm:t>
    </dgm:pt>
    <dgm:pt modelId="{64B6A59B-105D-4195-BACA-3725B38D3457}">
      <dgm:prSet phldrT="[Текст]"/>
      <dgm:spPr>
        <a:solidFill>
          <a:srgbClr val="7030A0"/>
        </a:solidFill>
      </dgm:spPr>
      <dgm:t>
        <a:bodyPr/>
        <a:lstStyle/>
        <a:p>
          <a:r>
            <a:rPr lang="ru-RU" dirty="0"/>
            <a:t>результат</a:t>
          </a:r>
        </a:p>
      </dgm:t>
    </dgm:pt>
    <dgm:pt modelId="{73C6D899-9431-4950-B167-F067EE682E6F}" type="parTrans" cxnId="{11E5682C-4677-4E16-ACDC-2B2587AE660D}">
      <dgm:prSet/>
      <dgm:spPr/>
      <dgm:t>
        <a:bodyPr/>
        <a:lstStyle/>
        <a:p>
          <a:endParaRPr lang="ru-RU"/>
        </a:p>
      </dgm:t>
    </dgm:pt>
    <dgm:pt modelId="{0DBE3EC1-7E33-4F23-8CB0-4A61A59A09D9}" type="sibTrans" cxnId="{11E5682C-4677-4E16-ACDC-2B2587AE660D}">
      <dgm:prSet/>
      <dgm:spPr/>
      <dgm:t>
        <a:bodyPr/>
        <a:lstStyle/>
        <a:p>
          <a:endParaRPr lang="ru-RU"/>
        </a:p>
      </dgm:t>
    </dgm:pt>
    <dgm:pt modelId="{605EDC9B-CCAE-4C66-BDA6-C7DA6AFE8211}">
      <dgm:prSet phldrT="[Текст]"/>
      <dgm:spPr/>
      <dgm:t>
        <a:bodyPr/>
        <a:lstStyle/>
        <a:p>
          <a:r>
            <a:rPr lang="ru-RU" dirty="0"/>
            <a:t>уныние</a:t>
          </a:r>
        </a:p>
      </dgm:t>
    </dgm:pt>
    <dgm:pt modelId="{E883A5C2-58E6-4DFD-AFF0-C954BE3C08EC}" type="parTrans" cxnId="{C1B08CFE-9348-4FE2-A134-095598C92025}">
      <dgm:prSet/>
      <dgm:spPr/>
      <dgm:t>
        <a:bodyPr/>
        <a:lstStyle/>
        <a:p>
          <a:endParaRPr lang="ru-RU"/>
        </a:p>
      </dgm:t>
    </dgm:pt>
    <dgm:pt modelId="{A63E1743-985D-43D1-9A07-13D97831E0B0}" type="sibTrans" cxnId="{C1B08CFE-9348-4FE2-A134-095598C92025}">
      <dgm:prSet/>
      <dgm:spPr/>
      <dgm:t>
        <a:bodyPr/>
        <a:lstStyle/>
        <a:p>
          <a:endParaRPr lang="ru-RU"/>
        </a:p>
      </dgm:t>
    </dgm:pt>
    <dgm:pt modelId="{4A19D563-A00B-44C9-A7BA-5569AE22C92D}">
      <dgm:prSet phldrT="[Текст]"/>
      <dgm:spPr/>
      <dgm:t>
        <a:bodyPr/>
        <a:lstStyle/>
        <a:p>
          <a:r>
            <a:rPr lang="ru-RU" dirty="0"/>
            <a:t>пассивность</a:t>
          </a:r>
        </a:p>
      </dgm:t>
    </dgm:pt>
    <dgm:pt modelId="{126534A1-5A29-4469-B9A7-36CDE57DAEDB}" type="parTrans" cxnId="{1181F09A-1F28-4B46-8606-227E00A7B64F}">
      <dgm:prSet/>
      <dgm:spPr/>
      <dgm:t>
        <a:bodyPr/>
        <a:lstStyle/>
        <a:p>
          <a:endParaRPr lang="ru-RU"/>
        </a:p>
      </dgm:t>
    </dgm:pt>
    <dgm:pt modelId="{1E01F470-A196-4911-AC5C-30F82F101CB5}" type="sibTrans" cxnId="{1181F09A-1F28-4B46-8606-227E00A7B64F}">
      <dgm:prSet/>
      <dgm:spPr/>
      <dgm:t>
        <a:bodyPr/>
        <a:lstStyle/>
        <a:p>
          <a:endParaRPr lang="ru-RU"/>
        </a:p>
      </dgm:t>
    </dgm:pt>
    <dgm:pt modelId="{4B3E6411-8761-4CEE-8803-8982346F15FB}">
      <dgm:prSet phldrT="[Текст]"/>
      <dgm:spPr/>
      <dgm:t>
        <a:bodyPr/>
        <a:lstStyle/>
        <a:p>
          <a:r>
            <a:rPr lang="ru-RU" dirty="0"/>
            <a:t>разбой</a:t>
          </a:r>
        </a:p>
      </dgm:t>
    </dgm:pt>
    <dgm:pt modelId="{D5091518-4FC4-48AB-8B68-BA1BF21F7676}" type="parTrans" cxnId="{CE883EE7-F877-4817-9F01-6A6A1D286D8E}">
      <dgm:prSet/>
      <dgm:spPr/>
      <dgm:t>
        <a:bodyPr/>
        <a:lstStyle/>
        <a:p>
          <a:endParaRPr lang="ru-RU"/>
        </a:p>
      </dgm:t>
    </dgm:pt>
    <dgm:pt modelId="{64AFD7A1-A6D0-4181-AB06-A74C5FD4A6F0}" type="sibTrans" cxnId="{CE883EE7-F877-4817-9F01-6A6A1D286D8E}">
      <dgm:prSet/>
      <dgm:spPr/>
      <dgm:t>
        <a:bodyPr/>
        <a:lstStyle/>
        <a:p>
          <a:endParaRPr lang="ru-RU"/>
        </a:p>
      </dgm:t>
    </dgm:pt>
    <dgm:pt modelId="{00C05E24-D17B-4C6A-BA04-0CB27CA0AC80}">
      <dgm:prSet phldrT="[Текст]"/>
      <dgm:spPr/>
      <dgm:t>
        <a:bodyPr/>
        <a:lstStyle/>
        <a:p>
          <a:r>
            <a:rPr lang="ru-RU" dirty="0"/>
            <a:t>вредные привычки</a:t>
          </a:r>
        </a:p>
      </dgm:t>
    </dgm:pt>
    <dgm:pt modelId="{1710AE74-A5AC-44A6-9A81-774081D0AACF}" type="parTrans" cxnId="{DC27C1A3-1516-44D4-A779-C43E93459178}">
      <dgm:prSet/>
      <dgm:spPr/>
      <dgm:t>
        <a:bodyPr/>
        <a:lstStyle/>
        <a:p>
          <a:endParaRPr lang="ru-RU"/>
        </a:p>
      </dgm:t>
    </dgm:pt>
    <dgm:pt modelId="{44478BA8-618F-49BB-BEBB-9BA4A7C2EE32}" type="sibTrans" cxnId="{DC27C1A3-1516-44D4-A779-C43E93459178}">
      <dgm:prSet/>
      <dgm:spPr/>
      <dgm:t>
        <a:bodyPr/>
        <a:lstStyle/>
        <a:p>
          <a:endParaRPr lang="ru-RU"/>
        </a:p>
      </dgm:t>
    </dgm:pt>
    <dgm:pt modelId="{32CADB6C-F86A-4C8B-8106-D1D4A181F021}" type="pres">
      <dgm:prSet presAssocID="{6B2FA193-F386-41D7-A7FF-6ECEBB460CD1}" presName="Name0" presStyleCnt="0">
        <dgm:presLayoutVars>
          <dgm:dir/>
          <dgm:animLvl val="lvl"/>
          <dgm:resizeHandles/>
        </dgm:presLayoutVars>
      </dgm:prSet>
      <dgm:spPr/>
    </dgm:pt>
    <dgm:pt modelId="{B248D6A8-1693-43E3-927E-FB8597FCD770}" type="pres">
      <dgm:prSet presAssocID="{77185513-95A4-468B-8F96-8486B2351040}" presName="linNode" presStyleCnt="0"/>
      <dgm:spPr/>
    </dgm:pt>
    <dgm:pt modelId="{BFFBFFF0-3291-460F-B6EF-DEF936503466}" type="pres">
      <dgm:prSet presAssocID="{77185513-95A4-468B-8F96-8486B2351040}" presName="parentShp" presStyleLbl="node1" presStyleIdx="0" presStyleCnt="2">
        <dgm:presLayoutVars>
          <dgm:bulletEnabled val="1"/>
        </dgm:presLayoutVars>
      </dgm:prSet>
      <dgm:spPr/>
    </dgm:pt>
    <dgm:pt modelId="{75413CE6-958B-46E6-8D5E-79EE87FCCEED}" type="pres">
      <dgm:prSet presAssocID="{77185513-95A4-468B-8F96-8486B2351040}" presName="childShp" presStyleLbl="bgAccFollowNode1" presStyleIdx="0" presStyleCnt="2">
        <dgm:presLayoutVars>
          <dgm:bulletEnabled val="1"/>
        </dgm:presLayoutVars>
      </dgm:prSet>
      <dgm:spPr/>
    </dgm:pt>
    <dgm:pt modelId="{8C5FB5D5-8295-4803-9090-F9BF8AABE01B}" type="pres">
      <dgm:prSet presAssocID="{628B8D5F-536B-4204-9482-D0BEFC9C6B36}" presName="spacing" presStyleCnt="0"/>
      <dgm:spPr/>
    </dgm:pt>
    <dgm:pt modelId="{B2881DCC-1209-4E33-A046-2A30A7605146}" type="pres">
      <dgm:prSet presAssocID="{64B6A59B-105D-4195-BACA-3725B38D3457}" presName="linNode" presStyleCnt="0"/>
      <dgm:spPr/>
    </dgm:pt>
    <dgm:pt modelId="{01AFC1A5-E9C0-4FC4-82A9-C250DF9A28AA}" type="pres">
      <dgm:prSet presAssocID="{64B6A59B-105D-4195-BACA-3725B38D3457}" presName="parentShp" presStyleLbl="node1" presStyleIdx="1" presStyleCnt="2">
        <dgm:presLayoutVars>
          <dgm:bulletEnabled val="1"/>
        </dgm:presLayoutVars>
      </dgm:prSet>
      <dgm:spPr/>
    </dgm:pt>
    <dgm:pt modelId="{0AAA64C7-0A6D-4A62-AF6B-743C30D0401E}" type="pres">
      <dgm:prSet presAssocID="{64B6A59B-105D-4195-BACA-3725B38D3457}" presName="childShp" presStyleLbl="bgAccFollowNode1" presStyleIdx="1" presStyleCnt="2">
        <dgm:presLayoutVars>
          <dgm:bulletEnabled val="1"/>
        </dgm:presLayoutVars>
      </dgm:prSet>
      <dgm:spPr/>
    </dgm:pt>
  </dgm:ptLst>
  <dgm:cxnLst>
    <dgm:cxn modelId="{914B4500-61B7-4A55-BBE8-B08DE91D81C2}" type="presOf" srcId="{64B6A59B-105D-4195-BACA-3725B38D3457}" destId="{01AFC1A5-E9C0-4FC4-82A9-C250DF9A28AA}" srcOrd="0" destOrd="0" presId="urn:microsoft.com/office/officeart/2005/8/layout/vList6"/>
    <dgm:cxn modelId="{F558AB0E-7E91-46BB-8FFF-05282CC3E291}" srcId="{77185513-95A4-468B-8F96-8486B2351040}" destId="{6D9BF940-37BD-44E6-ABA2-406636AC59A6}" srcOrd="1" destOrd="0" parTransId="{F3D42E5E-EFFA-4C8F-BB8E-392DD1756794}" sibTransId="{16F5F8CE-861E-4FFF-867D-22476C8D4A41}"/>
    <dgm:cxn modelId="{79125616-0EA2-40DB-871F-E72518A9B284}" type="presOf" srcId="{6B2FA193-F386-41D7-A7FF-6ECEBB460CD1}" destId="{32CADB6C-F86A-4C8B-8106-D1D4A181F021}" srcOrd="0" destOrd="0" presId="urn:microsoft.com/office/officeart/2005/8/layout/vList6"/>
    <dgm:cxn modelId="{62A19319-F758-4CB9-9247-CCEA8D7F5788}" type="presOf" srcId="{6D9BF940-37BD-44E6-ABA2-406636AC59A6}" destId="{75413CE6-958B-46E6-8D5E-79EE87FCCEED}" srcOrd="0" destOrd="1" presId="urn:microsoft.com/office/officeart/2005/8/layout/vList6"/>
    <dgm:cxn modelId="{4B52C31C-0D01-432B-904E-E394FCD3709A}" type="presOf" srcId="{4A19D563-A00B-44C9-A7BA-5569AE22C92D}" destId="{0AAA64C7-0A6D-4A62-AF6B-743C30D0401E}" srcOrd="0" destOrd="1" presId="urn:microsoft.com/office/officeart/2005/8/layout/vList6"/>
    <dgm:cxn modelId="{11E5682C-4677-4E16-ACDC-2B2587AE660D}" srcId="{6B2FA193-F386-41D7-A7FF-6ECEBB460CD1}" destId="{64B6A59B-105D-4195-BACA-3725B38D3457}" srcOrd="1" destOrd="0" parTransId="{73C6D899-9431-4950-B167-F067EE682E6F}" sibTransId="{0DBE3EC1-7E33-4F23-8CB0-4A61A59A09D9}"/>
    <dgm:cxn modelId="{72399E35-B10F-4345-B583-C852E08261C3}" type="presOf" srcId="{00C05E24-D17B-4C6A-BA04-0CB27CA0AC80}" destId="{0AAA64C7-0A6D-4A62-AF6B-743C30D0401E}" srcOrd="0" destOrd="2" presId="urn:microsoft.com/office/officeart/2005/8/layout/vList6"/>
    <dgm:cxn modelId="{633CD135-F634-4B4D-AC11-432506309054}" type="presOf" srcId="{605EDC9B-CCAE-4C66-BDA6-C7DA6AFE8211}" destId="{0AAA64C7-0A6D-4A62-AF6B-743C30D0401E}" srcOrd="0" destOrd="0" presId="urn:microsoft.com/office/officeart/2005/8/layout/vList6"/>
    <dgm:cxn modelId="{FB2EB43F-E020-4389-8DEB-EF10C7077B7D}" srcId="{77185513-95A4-468B-8F96-8486B2351040}" destId="{E658561B-6E11-4F34-ADDF-5F9DF88A161A}" srcOrd="0" destOrd="0" parTransId="{6AC59462-BFC1-48A3-8CBB-9411EC196B2E}" sibTransId="{D8518980-109B-4831-985E-C79B644FF6D9}"/>
    <dgm:cxn modelId="{5C4A0861-92A0-452B-9514-3A5B37868E12}" type="presOf" srcId="{E658561B-6E11-4F34-ADDF-5F9DF88A161A}" destId="{75413CE6-958B-46E6-8D5E-79EE87FCCEED}" srcOrd="0" destOrd="0" presId="urn:microsoft.com/office/officeart/2005/8/layout/vList6"/>
    <dgm:cxn modelId="{B8DA9870-0BE4-4A1A-8614-E2F711FB261C}" type="presOf" srcId="{77185513-95A4-468B-8F96-8486B2351040}" destId="{BFFBFFF0-3291-460F-B6EF-DEF936503466}" srcOrd="0" destOrd="0" presId="urn:microsoft.com/office/officeart/2005/8/layout/vList6"/>
    <dgm:cxn modelId="{95612053-13C0-46C4-977A-E4D89D077D93}" type="presOf" srcId="{4B3E6411-8761-4CEE-8803-8982346F15FB}" destId="{75413CE6-958B-46E6-8D5E-79EE87FCCEED}" srcOrd="0" destOrd="2" presId="urn:microsoft.com/office/officeart/2005/8/layout/vList6"/>
    <dgm:cxn modelId="{1181F09A-1F28-4B46-8606-227E00A7B64F}" srcId="{64B6A59B-105D-4195-BACA-3725B38D3457}" destId="{4A19D563-A00B-44C9-A7BA-5569AE22C92D}" srcOrd="1" destOrd="0" parTransId="{126534A1-5A29-4469-B9A7-36CDE57DAEDB}" sibTransId="{1E01F470-A196-4911-AC5C-30F82F101CB5}"/>
    <dgm:cxn modelId="{DC27C1A3-1516-44D4-A779-C43E93459178}" srcId="{64B6A59B-105D-4195-BACA-3725B38D3457}" destId="{00C05E24-D17B-4C6A-BA04-0CB27CA0AC80}" srcOrd="2" destOrd="0" parTransId="{1710AE74-A5AC-44A6-9A81-774081D0AACF}" sibTransId="{44478BA8-618F-49BB-BEBB-9BA4A7C2EE32}"/>
    <dgm:cxn modelId="{EDC340BA-EBA6-4A0D-9153-A9777952E015}" srcId="{6B2FA193-F386-41D7-A7FF-6ECEBB460CD1}" destId="{77185513-95A4-468B-8F96-8486B2351040}" srcOrd="0" destOrd="0" parTransId="{221D85F9-8682-48FC-8CAD-2536FA6332FF}" sibTransId="{628B8D5F-536B-4204-9482-D0BEFC9C6B36}"/>
    <dgm:cxn modelId="{CE883EE7-F877-4817-9F01-6A6A1D286D8E}" srcId="{77185513-95A4-468B-8F96-8486B2351040}" destId="{4B3E6411-8761-4CEE-8803-8982346F15FB}" srcOrd="2" destOrd="0" parTransId="{D5091518-4FC4-48AB-8B68-BA1BF21F7676}" sibTransId="{64AFD7A1-A6D0-4181-AB06-A74C5FD4A6F0}"/>
    <dgm:cxn modelId="{C1B08CFE-9348-4FE2-A134-095598C92025}" srcId="{64B6A59B-105D-4195-BACA-3725B38D3457}" destId="{605EDC9B-CCAE-4C66-BDA6-C7DA6AFE8211}" srcOrd="0" destOrd="0" parTransId="{E883A5C2-58E6-4DFD-AFF0-C954BE3C08EC}" sibTransId="{A63E1743-985D-43D1-9A07-13D97831E0B0}"/>
    <dgm:cxn modelId="{9FFFB9FC-53D3-437A-AEB1-6E3E4AF90006}" type="presParOf" srcId="{32CADB6C-F86A-4C8B-8106-D1D4A181F021}" destId="{B248D6A8-1693-43E3-927E-FB8597FCD770}" srcOrd="0" destOrd="0" presId="urn:microsoft.com/office/officeart/2005/8/layout/vList6"/>
    <dgm:cxn modelId="{F8CD9422-FF2D-4198-82A2-D3E6F6B389B5}" type="presParOf" srcId="{B248D6A8-1693-43E3-927E-FB8597FCD770}" destId="{BFFBFFF0-3291-460F-B6EF-DEF936503466}" srcOrd="0" destOrd="0" presId="urn:microsoft.com/office/officeart/2005/8/layout/vList6"/>
    <dgm:cxn modelId="{ABDE3C9D-32EB-411F-8215-4089C7D79EC6}" type="presParOf" srcId="{B248D6A8-1693-43E3-927E-FB8597FCD770}" destId="{75413CE6-958B-46E6-8D5E-79EE87FCCEED}" srcOrd="1" destOrd="0" presId="urn:microsoft.com/office/officeart/2005/8/layout/vList6"/>
    <dgm:cxn modelId="{487373F6-AAF1-4554-A085-1254F0B41353}" type="presParOf" srcId="{32CADB6C-F86A-4C8B-8106-D1D4A181F021}" destId="{8C5FB5D5-8295-4803-9090-F9BF8AABE01B}" srcOrd="1" destOrd="0" presId="urn:microsoft.com/office/officeart/2005/8/layout/vList6"/>
    <dgm:cxn modelId="{79DABEF1-70C2-44F6-A446-74B13889AFC5}" type="presParOf" srcId="{32CADB6C-F86A-4C8B-8106-D1D4A181F021}" destId="{B2881DCC-1209-4E33-A046-2A30A7605146}" srcOrd="2" destOrd="0" presId="urn:microsoft.com/office/officeart/2005/8/layout/vList6"/>
    <dgm:cxn modelId="{B887FF56-8F79-4997-B579-1F8EC808D18B}" type="presParOf" srcId="{B2881DCC-1209-4E33-A046-2A30A7605146}" destId="{01AFC1A5-E9C0-4FC4-82A9-C250DF9A28AA}" srcOrd="0" destOrd="0" presId="urn:microsoft.com/office/officeart/2005/8/layout/vList6"/>
    <dgm:cxn modelId="{2D3003A8-D7BA-45B2-B6A3-3685F94D0013}" type="presParOf" srcId="{B2881DCC-1209-4E33-A046-2A30A7605146}" destId="{0AAA64C7-0A6D-4A62-AF6B-743C30D0401E}" srcOrd="1" destOrd="0" presId="urn:microsoft.com/office/officeart/2005/8/layout/vList6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55F4A48-2AF1-4988-9713-A26E5ABC3BE5}">
      <dsp:nvSpPr>
        <dsp:cNvPr id="0" name=""/>
        <dsp:cNvSpPr/>
      </dsp:nvSpPr>
      <dsp:spPr>
        <a:xfrm>
          <a:off x="1191" y="1648784"/>
          <a:ext cx="1621573" cy="787227"/>
        </a:xfrm>
        <a:prstGeom prst="rightArrow">
          <a:avLst>
            <a:gd name="adj1" fmla="val 70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6350" rIns="12700" bIns="6350" numCol="1" spcCol="1270" anchor="ctr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000" b="1" kern="1200" dirty="0"/>
            <a:t>  партнера 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200" b="1" kern="1200" dirty="0"/>
            <a:t>родителей</a:t>
          </a:r>
        </a:p>
      </dsp:txBody>
      <dsp:txXfrm>
        <a:off x="406585" y="1766868"/>
        <a:ext cx="940650" cy="551059"/>
      </dsp:txXfrm>
    </dsp:sp>
    <dsp:sp modelId="{B5648173-F299-45E7-8694-07870BD8E318}">
      <dsp:nvSpPr>
        <dsp:cNvPr id="0" name=""/>
        <dsp:cNvSpPr/>
      </dsp:nvSpPr>
      <dsp:spPr>
        <a:xfrm>
          <a:off x="88557" y="1813193"/>
          <a:ext cx="450294" cy="450294"/>
        </a:xfrm>
        <a:prstGeom prst="ellipse">
          <a:avLst/>
        </a:prstGeom>
        <a:solidFill>
          <a:srgbClr val="FF00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000" b="1" kern="1200" dirty="0">
              <a:solidFill>
                <a:schemeClr val="tx1"/>
              </a:solidFill>
            </a:rPr>
            <a:t>Желания</a:t>
          </a:r>
        </a:p>
      </dsp:txBody>
      <dsp:txXfrm>
        <a:off x="154501" y="1879137"/>
        <a:ext cx="318406" cy="318406"/>
      </dsp:txXfrm>
    </dsp:sp>
    <dsp:sp modelId="{176D84B6-2D89-4CD6-AD32-BFD1251B9257}">
      <dsp:nvSpPr>
        <dsp:cNvPr id="0" name=""/>
        <dsp:cNvSpPr/>
      </dsp:nvSpPr>
      <dsp:spPr>
        <a:xfrm>
          <a:off x="1679051" y="1648784"/>
          <a:ext cx="1807436" cy="787227"/>
        </a:xfrm>
        <a:prstGeom prst="rightArrow">
          <a:avLst>
            <a:gd name="adj1" fmla="val 70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7620" rIns="1524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200" b="1" kern="1200" dirty="0"/>
            <a:t> Неверные действия</a:t>
          </a:r>
        </a:p>
      </dsp:txBody>
      <dsp:txXfrm>
        <a:off x="2130910" y="1766868"/>
        <a:ext cx="1080048" cy="551059"/>
      </dsp:txXfrm>
    </dsp:sp>
    <dsp:sp modelId="{4F8BAC09-00F8-465C-8F46-22680E9FC991}">
      <dsp:nvSpPr>
        <dsp:cNvPr id="0" name=""/>
        <dsp:cNvSpPr/>
      </dsp:nvSpPr>
      <dsp:spPr>
        <a:xfrm>
          <a:off x="1907328" y="1817250"/>
          <a:ext cx="450294" cy="450294"/>
        </a:xfrm>
        <a:prstGeom prst="ellipse">
          <a:avLst/>
        </a:prstGeom>
        <a:solidFill>
          <a:schemeClr val="bg2">
            <a:lumMod val="2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600" kern="1200" dirty="0"/>
            <a:t>действия</a:t>
          </a:r>
        </a:p>
      </dsp:txBody>
      <dsp:txXfrm>
        <a:off x="1973272" y="1883194"/>
        <a:ext cx="318406" cy="318406"/>
      </dsp:txXfrm>
    </dsp:sp>
    <dsp:sp modelId="{D53B790E-2224-4C4B-B28D-305680E347B4}">
      <dsp:nvSpPr>
        <dsp:cNvPr id="0" name=""/>
        <dsp:cNvSpPr/>
      </dsp:nvSpPr>
      <dsp:spPr>
        <a:xfrm>
          <a:off x="3714416" y="1619408"/>
          <a:ext cx="1009983" cy="784842"/>
        </a:xfrm>
        <a:prstGeom prst="rightArrow">
          <a:avLst>
            <a:gd name="adj1" fmla="val 70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6350" rIns="12700" bIns="6350" numCol="1" spcCol="1270" anchor="ctr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000" b="1" kern="1200" dirty="0"/>
            <a:t>гнев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000" b="1" kern="1200" dirty="0"/>
            <a:t>печаль</a:t>
          </a:r>
        </a:p>
      </dsp:txBody>
      <dsp:txXfrm>
        <a:off x="3966912" y="1737134"/>
        <a:ext cx="492367" cy="549390"/>
      </dsp:txXfrm>
    </dsp:sp>
    <dsp:sp modelId="{3DFA7077-C65F-4A89-A8AA-4A9DAA236776}">
      <dsp:nvSpPr>
        <dsp:cNvPr id="0" name=""/>
        <dsp:cNvSpPr/>
      </dsp:nvSpPr>
      <dsp:spPr>
        <a:xfrm>
          <a:off x="3542775" y="1817250"/>
          <a:ext cx="450294" cy="450294"/>
        </a:xfrm>
        <a:prstGeom prst="ellipse">
          <a:avLst/>
        </a:prstGeom>
        <a:solidFill>
          <a:schemeClr val="accent3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600" kern="1200" dirty="0"/>
            <a:t>чувства</a:t>
          </a:r>
        </a:p>
      </dsp:txBody>
      <dsp:txXfrm>
        <a:off x="3608719" y="1883194"/>
        <a:ext cx="318406" cy="31840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5413CE6-958B-46E6-8D5E-79EE87FCCEED}">
      <dsp:nvSpPr>
        <dsp:cNvPr id="0" name=""/>
        <dsp:cNvSpPr/>
      </dsp:nvSpPr>
      <dsp:spPr>
        <a:xfrm>
          <a:off x="1098804" y="280"/>
          <a:ext cx="1648206" cy="1095447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55" tIns="8255" rIns="8255" bIns="8255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300" kern="1200" dirty="0"/>
            <a:t>агрессия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300" kern="1200" dirty="0"/>
            <a:t>злость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300" kern="1200" dirty="0"/>
            <a:t>разбой</a:t>
          </a:r>
        </a:p>
      </dsp:txBody>
      <dsp:txXfrm>
        <a:off x="1098804" y="137211"/>
        <a:ext cx="1237413" cy="821585"/>
      </dsp:txXfrm>
    </dsp:sp>
    <dsp:sp modelId="{BFFBFFF0-3291-460F-B6EF-DEF936503466}">
      <dsp:nvSpPr>
        <dsp:cNvPr id="0" name=""/>
        <dsp:cNvSpPr/>
      </dsp:nvSpPr>
      <dsp:spPr>
        <a:xfrm>
          <a:off x="0" y="280"/>
          <a:ext cx="1098804" cy="1095447"/>
        </a:xfrm>
        <a:prstGeom prst="roundRect">
          <a:avLst/>
        </a:prstGeom>
        <a:solidFill>
          <a:schemeClr val="tx2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/>
            <a:t>результат</a:t>
          </a:r>
        </a:p>
      </dsp:txBody>
      <dsp:txXfrm>
        <a:off x="53475" y="53755"/>
        <a:ext cx="991854" cy="988497"/>
      </dsp:txXfrm>
    </dsp:sp>
    <dsp:sp modelId="{0AAA64C7-0A6D-4A62-AF6B-743C30D0401E}">
      <dsp:nvSpPr>
        <dsp:cNvPr id="0" name=""/>
        <dsp:cNvSpPr/>
      </dsp:nvSpPr>
      <dsp:spPr>
        <a:xfrm>
          <a:off x="1098804" y="1205273"/>
          <a:ext cx="1648206" cy="1095447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55" tIns="8255" rIns="8255" bIns="8255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300" kern="1200" dirty="0"/>
            <a:t>уныние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300" kern="1200" dirty="0"/>
            <a:t>пассивность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300" kern="1200" dirty="0"/>
            <a:t>вредные привычки</a:t>
          </a:r>
        </a:p>
      </dsp:txBody>
      <dsp:txXfrm>
        <a:off x="1098804" y="1342204"/>
        <a:ext cx="1237413" cy="821585"/>
      </dsp:txXfrm>
    </dsp:sp>
    <dsp:sp modelId="{01AFC1A5-E9C0-4FC4-82A9-C250DF9A28AA}">
      <dsp:nvSpPr>
        <dsp:cNvPr id="0" name=""/>
        <dsp:cNvSpPr/>
      </dsp:nvSpPr>
      <dsp:spPr>
        <a:xfrm>
          <a:off x="0" y="1205273"/>
          <a:ext cx="1098804" cy="1095447"/>
        </a:xfrm>
        <a:prstGeom prst="roundRect">
          <a:avLst/>
        </a:prstGeom>
        <a:solidFill>
          <a:srgbClr val="7030A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/>
            <a:t>результат</a:t>
          </a:r>
        </a:p>
      </dsp:txBody>
      <dsp:txXfrm>
        <a:off x="53475" y="1258748"/>
        <a:ext cx="991854" cy="98849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55F4A48-2AF1-4988-9713-A26E5ABC3BE5}">
      <dsp:nvSpPr>
        <dsp:cNvPr id="0" name=""/>
        <dsp:cNvSpPr/>
      </dsp:nvSpPr>
      <dsp:spPr>
        <a:xfrm>
          <a:off x="1191" y="1648784"/>
          <a:ext cx="1621573" cy="787227"/>
        </a:xfrm>
        <a:prstGeom prst="rightArrow">
          <a:avLst>
            <a:gd name="adj1" fmla="val 70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6350" rIns="12700" bIns="6350" numCol="1" spcCol="1270" anchor="ctr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000" b="1" kern="1200" dirty="0"/>
            <a:t>  партнера 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200" b="1" kern="1200" dirty="0"/>
            <a:t>родителей</a:t>
          </a:r>
        </a:p>
      </dsp:txBody>
      <dsp:txXfrm>
        <a:off x="406585" y="1766868"/>
        <a:ext cx="940650" cy="551059"/>
      </dsp:txXfrm>
    </dsp:sp>
    <dsp:sp modelId="{B5648173-F299-45E7-8694-07870BD8E318}">
      <dsp:nvSpPr>
        <dsp:cNvPr id="0" name=""/>
        <dsp:cNvSpPr/>
      </dsp:nvSpPr>
      <dsp:spPr>
        <a:xfrm>
          <a:off x="88557" y="1813193"/>
          <a:ext cx="450294" cy="450294"/>
        </a:xfrm>
        <a:prstGeom prst="ellipse">
          <a:avLst/>
        </a:prstGeom>
        <a:solidFill>
          <a:srgbClr val="FF00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000" b="1" kern="1200" dirty="0">
              <a:solidFill>
                <a:schemeClr val="tx1"/>
              </a:solidFill>
            </a:rPr>
            <a:t>Желания</a:t>
          </a:r>
        </a:p>
      </dsp:txBody>
      <dsp:txXfrm>
        <a:off x="154501" y="1879137"/>
        <a:ext cx="318406" cy="318406"/>
      </dsp:txXfrm>
    </dsp:sp>
    <dsp:sp modelId="{176D84B6-2D89-4CD6-AD32-BFD1251B9257}">
      <dsp:nvSpPr>
        <dsp:cNvPr id="0" name=""/>
        <dsp:cNvSpPr/>
      </dsp:nvSpPr>
      <dsp:spPr>
        <a:xfrm>
          <a:off x="1679051" y="1648784"/>
          <a:ext cx="1807436" cy="787227"/>
        </a:xfrm>
        <a:prstGeom prst="rightArrow">
          <a:avLst>
            <a:gd name="adj1" fmla="val 70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7620" rIns="1524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200" b="1" kern="1200" dirty="0"/>
            <a:t> Неверные действия</a:t>
          </a:r>
        </a:p>
      </dsp:txBody>
      <dsp:txXfrm>
        <a:off x="2130910" y="1766868"/>
        <a:ext cx="1080048" cy="551059"/>
      </dsp:txXfrm>
    </dsp:sp>
    <dsp:sp modelId="{4F8BAC09-00F8-465C-8F46-22680E9FC991}">
      <dsp:nvSpPr>
        <dsp:cNvPr id="0" name=""/>
        <dsp:cNvSpPr/>
      </dsp:nvSpPr>
      <dsp:spPr>
        <a:xfrm>
          <a:off x="1907328" y="1817250"/>
          <a:ext cx="450294" cy="450294"/>
        </a:xfrm>
        <a:prstGeom prst="ellipse">
          <a:avLst/>
        </a:prstGeom>
        <a:solidFill>
          <a:schemeClr val="bg2">
            <a:lumMod val="2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600" kern="1200" dirty="0"/>
            <a:t>действия</a:t>
          </a:r>
        </a:p>
      </dsp:txBody>
      <dsp:txXfrm>
        <a:off x="1973272" y="1883194"/>
        <a:ext cx="318406" cy="318406"/>
      </dsp:txXfrm>
    </dsp:sp>
    <dsp:sp modelId="{D53B790E-2224-4C4B-B28D-305680E347B4}">
      <dsp:nvSpPr>
        <dsp:cNvPr id="0" name=""/>
        <dsp:cNvSpPr/>
      </dsp:nvSpPr>
      <dsp:spPr>
        <a:xfrm>
          <a:off x="3714416" y="1619408"/>
          <a:ext cx="1009983" cy="784842"/>
        </a:xfrm>
        <a:prstGeom prst="rightArrow">
          <a:avLst>
            <a:gd name="adj1" fmla="val 70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6350" rIns="12700" bIns="6350" numCol="1" spcCol="1270" anchor="ctr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000" b="1" kern="1200" dirty="0"/>
            <a:t>гнев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000" b="1" kern="1200" dirty="0"/>
            <a:t>печаль</a:t>
          </a:r>
        </a:p>
      </dsp:txBody>
      <dsp:txXfrm>
        <a:off x="3966912" y="1737134"/>
        <a:ext cx="492367" cy="549390"/>
      </dsp:txXfrm>
    </dsp:sp>
    <dsp:sp modelId="{3DFA7077-C65F-4A89-A8AA-4A9DAA236776}">
      <dsp:nvSpPr>
        <dsp:cNvPr id="0" name=""/>
        <dsp:cNvSpPr/>
      </dsp:nvSpPr>
      <dsp:spPr>
        <a:xfrm>
          <a:off x="3542775" y="1817250"/>
          <a:ext cx="450294" cy="450294"/>
        </a:xfrm>
        <a:prstGeom prst="ellipse">
          <a:avLst/>
        </a:prstGeom>
        <a:solidFill>
          <a:schemeClr val="accent3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600" kern="1200" dirty="0"/>
            <a:t>чувства</a:t>
          </a:r>
        </a:p>
      </dsp:txBody>
      <dsp:txXfrm>
        <a:off x="3608719" y="1883194"/>
        <a:ext cx="318406" cy="31840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5413CE6-958B-46E6-8D5E-79EE87FCCEED}">
      <dsp:nvSpPr>
        <dsp:cNvPr id="0" name=""/>
        <dsp:cNvSpPr/>
      </dsp:nvSpPr>
      <dsp:spPr>
        <a:xfrm>
          <a:off x="1098804" y="280"/>
          <a:ext cx="1648206" cy="1095447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55" tIns="8255" rIns="8255" bIns="8255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300" kern="1200" dirty="0"/>
            <a:t>агрессия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300" kern="1200" dirty="0"/>
            <a:t>злость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300" kern="1200" dirty="0"/>
            <a:t>разбой</a:t>
          </a:r>
        </a:p>
      </dsp:txBody>
      <dsp:txXfrm>
        <a:off x="1098804" y="137211"/>
        <a:ext cx="1237413" cy="821585"/>
      </dsp:txXfrm>
    </dsp:sp>
    <dsp:sp modelId="{BFFBFFF0-3291-460F-B6EF-DEF936503466}">
      <dsp:nvSpPr>
        <dsp:cNvPr id="0" name=""/>
        <dsp:cNvSpPr/>
      </dsp:nvSpPr>
      <dsp:spPr>
        <a:xfrm>
          <a:off x="0" y="280"/>
          <a:ext cx="1098804" cy="1095447"/>
        </a:xfrm>
        <a:prstGeom prst="roundRect">
          <a:avLst/>
        </a:prstGeom>
        <a:solidFill>
          <a:schemeClr val="tx2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/>
            <a:t>результат</a:t>
          </a:r>
        </a:p>
      </dsp:txBody>
      <dsp:txXfrm>
        <a:off x="53475" y="53755"/>
        <a:ext cx="991854" cy="988497"/>
      </dsp:txXfrm>
    </dsp:sp>
    <dsp:sp modelId="{0AAA64C7-0A6D-4A62-AF6B-743C30D0401E}">
      <dsp:nvSpPr>
        <dsp:cNvPr id="0" name=""/>
        <dsp:cNvSpPr/>
      </dsp:nvSpPr>
      <dsp:spPr>
        <a:xfrm>
          <a:off x="1098804" y="1205273"/>
          <a:ext cx="1648206" cy="1095447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55" tIns="8255" rIns="8255" bIns="8255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300" kern="1200" dirty="0"/>
            <a:t>уныние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300" kern="1200" dirty="0"/>
            <a:t>пассивность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300" kern="1200" dirty="0"/>
            <a:t>вредные привычки</a:t>
          </a:r>
        </a:p>
      </dsp:txBody>
      <dsp:txXfrm>
        <a:off x="1098804" y="1342204"/>
        <a:ext cx="1237413" cy="821585"/>
      </dsp:txXfrm>
    </dsp:sp>
    <dsp:sp modelId="{01AFC1A5-E9C0-4FC4-82A9-C250DF9A28AA}">
      <dsp:nvSpPr>
        <dsp:cNvPr id="0" name=""/>
        <dsp:cNvSpPr/>
      </dsp:nvSpPr>
      <dsp:spPr>
        <a:xfrm>
          <a:off x="0" y="1205273"/>
          <a:ext cx="1098804" cy="1095447"/>
        </a:xfrm>
        <a:prstGeom prst="roundRect">
          <a:avLst/>
        </a:prstGeom>
        <a:solidFill>
          <a:srgbClr val="7030A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/>
            <a:t>результат</a:t>
          </a:r>
        </a:p>
      </dsp:txBody>
      <dsp:txXfrm>
        <a:off x="53475" y="1258748"/>
        <a:ext cx="991854" cy="98849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6">
  <dgm:title val=""/>
  <dgm:desc val=""/>
  <dgm:catLst>
    <dgm:cat type="process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L"/>
          <dgm:param type="nodeHorzAlign" val="l"/>
        </dgm:alg>
      </dgm:if>
      <dgm:else name="Name2">
        <dgm:alg type="lin">
          <dgm:param type="linDir" val="from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w" refFor="ch" refForName="compNode" fact="0.7"/>
      <dgm:constr type="ctrY" for="ch" forName="compNode" refType="h" fact="0.5"/>
      <dgm:constr type="w" for="ch" forName="aSpace" refType="w" fact="0.05"/>
      <dgm:constr type="primFontSz" for="des" forName="childTextHidden" op="equ" val="65"/>
      <dgm:constr type="primFontSz" for="des" forName="parentText" op="equ"/>
    </dgm:constrLst>
    <dgm:ruleLst/>
    <dgm:forEach name="aNodeForEach" axis="ch" ptType="node">
      <dgm:layoutNode name="compNode">
        <dgm:alg type="composite">
          <dgm:param type="ar" val="1.43"/>
        </dgm:alg>
        <dgm:shape xmlns:r="http://schemas.openxmlformats.org/officeDocument/2006/relationships" r:blip="">
          <dgm:adjLst/>
        </dgm:shape>
        <dgm:presOf/>
        <dgm:choose name="Name3">
          <dgm:if name="Name4" func="var" arg="dir" op="equ" val="norm">
            <dgm:constrLst>
              <dgm:constr type="w" for="ch" forName="childTextVisible" refType="w" fact="0.8"/>
              <dgm:constr type="h" for="ch" forName="childTextVisible" refType="h"/>
              <dgm:constr type="r" for="ch" forName="childTextVisible" refType="w"/>
              <dgm:constr type="w" for="ch" forName="childTextHidden" refType="w" fact="0.6"/>
              <dgm:constr type="h" for="ch" forName="childTextHidden" refType="h"/>
              <dgm:constr type="r" for="ch" forName="childTextHidden" refType="w"/>
              <dgm:constr type="l" for="ch" forName="parentText"/>
              <dgm:constr type="w" for="ch" forName="parentText" refType="w" fact="0.4"/>
              <dgm:constr type="h" for="ch" forName="parentText" refType="w" refFor="ch" refForName="parentText" op="equ"/>
              <dgm:constr type="ctrY" for="ch" forName="parentText" refType="h" fact="0.5"/>
            </dgm:constrLst>
          </dgm:if>
          <dgm:else name="Name5">
            <dgm:constrLst>
              <dgm:constr type="w" for="ch" forName="childTextVisible" refType="w" fact="0.8"/>
              <dgm:constr type="h" for="ch" forName="childTextVisible" refType="h"/>
              <dgm:constr type="l" for="ch" forName="childTextVisible"/>
              <dgm:constr type="w" for="ch" forName="childTextHidden" refType="w" fact="0.6"/>
              <dgm:constr type="h" for="ch" forName="childTextHidden" refType="h"/>
              <dgm:constr type="l" for="ch" forName="childTextHidden"/>
              <dgm:constr type="r" for="ch" forName="parentText" refType="w"/>
              <dgm:constr type="w" for="ch" forName="parentText" refType="w" fact="0.4"/>
              <dgm:constr type="h" for="ch" forName="parentText" refType="w" refFor="ch" refForName="parentText" op="equ"/>
              <dgm:constr type="ctrY" for="ch" forName="parentText" refType="h" fact="0.5"/>
            </dgm:constrLst>
          </dgm:else>
        </dgm:choose>
        <dgm:ruleLst/>
        <dgm:layoutNode name="noGeometry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childTextVisible" styleLbl="bgAccFollowNode1">
          <dgm:varLst>
            <dgm:bulletEnabled val="1"/>
          </dgm:varLst>
          <dgm:alg type="sp"/>
          <dgm:choose name="Name6">
            <dgm:if name="Name7" func="var" arg="dir" op="equ" val="norm">
              <dgm:shape xmlns:r="http://schemas.openxmlformats.org/officeDocument/2006/relationships" type="rightArrow" r:blip="">
                <dgm:adjLst>
                  <dgm:adj idx="1" val="0.7"/>
                  <dgm:adj idx="2" val="0.5"/>
                </dgm:adjLst>
              </dgm:shape>
            </dgm:if>
            <dgm:else name="Name8">
              <dgm:shape xmlns:r="http://schemas.openxmlformats.org/officeDocument/2006/relationships" type="leftArrow" r:blip="">
                <dgm:adjLst>
                  <dgm:adj idx="1" val="0.7"/>
                  <dgm:adj idx="2" val="0.5"/>
                </dgm:adjLst>
              </dgm:shape>
            </dgm:else>
          </dgm:choose>
          <dgm:presOf axis="des" ptType="node"/>
          <dgm:constrLst/>
          <dgm:ruleLst/>
        </dgm:layoutNode>
        <dgm:layoutNode name="childTextHidden" styleLbl="bgAccFollowNode1">
          <dgm:choose name="Name9">
            <dgm:if name="Name10" axis="des followSib" ptType="node node" st="1 1" cnt="1 0" func="cnt" op="gte" val="1">
              <dgm:alg type="tx">
                <dgm:param type="stBulletLvl" val="1"/>
                <dgm:param type="txAnchorVertCh" val="mid"/>
              </dgm:alg>
            </dgm:if>
            <dgm:else name="Name11">
              <dgm:alg type="tx">
                <dgm:param type="stBulletLvl" val="2"/>
                <dgm:param type="txAnchorVertCh" val="mid"/>
              </dgm:alg>
            </dgm:else>
          </dgm:choose>
          <dgm:choose name="Name12">
            <dgm:if name="Name13" func="var" arg="dir" op="equ" val="norm">
              <dgm:shape xmlns:r="http://schemas.openxmlformats.org/officeDocument/2006/relationships" type="rightArrow" r:blip="" hideGeom="1">
                <dgm:adjLst>
                  <dgm:adj idx="1" val="0.7"/>
                  <dgm:adj idx="2" val="0.5"/>
                </dgm:adjLst>
              </dgm:shape>
            </dgm:if>
            <dgm:else name="Name14">
              <dgm:shape xmlns:r="http://schemas.openxmlformats.org/officeDocument/2006/relationships" type="leftArrow" r:blip="" hideGeom="1">
                <dgm:adjLst>
                  <dgm:adj idx="1" val="0.7"/>
                  <dgm:adj idx="2" val="0.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rMarg" refType="primFontSz" fact="0.1"/>
            <dgm:constr type="lMarg" refType="primFontSz" fact="0.2"/>
          </dgm:constrLst>
          <dgm:ruleLst>
            <dgm:rule type="primFontSz" val="5" fact="NaN" max="NaN"/>
          </dgm:ruleLst>
        </dgm:layoutNode>
        <dgm:layoutNode name="parentText" styleLbl="node1">
          <dgm:varLst>
            <dgm:chMax val="1"/>
            <dgm:bulletEnabled val="1"/>
          </dgm:varLst>
          <dgm:alg type="tx"/>
          <dgm:shape xmlns:r="http://schemas.openxmlformats.org/officeDocument/2006/relationships" type="ellipse" r:blip="">
            <dgm:adjLst/>
          </dgm:shape>
          <dgm:presOf axis="self"/>
          <dgm:constrLst>
            <dgm:constr type="primFontSz" val="65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choose name="Name15">
        <dgm:if name="Name16" axis="self" ptType="node" func="revPos" op="gte" val="2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6">
  <dgm:title val=""/>
  <dgm:desc val=""/>
  <dgm:catLst>
    <dgm:cat type="process" pri="22000"/>
    <dgm:cat type="list" pri="1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linNode" refType="w"/>
      <dgm:constr type="h" for="ch" forName="linNode" refType="h"/>
      <dgm:constr type="h" for="ch" forName="spacing" refType="h" refFor="ch" refForName="linNode" fact="0.1"/>
      <dgm:constr type="primFontSz" for="des" forName="parentShp" op="equ" val="65"/>
      <dgm:constr type="primFontSz" for="des" forName="childShp" op="equ" val="65"/>
    </dgm:constrLst>
    <dgm:ruleLst/>
    <dgm:forEach name="Name1" axis="ch" ptType="node">
      <dgm:layoutNode name="linNode">
        <dgm:choose name="Name2">
          <dgm:if name="Name3" func="var" arg="dir" op="equ" val="norm">
            <dgm:alg type="lin">
              <dgm:param type="linDir" val="fromL"/>
            </dgm:alg>
          </dgm:if>
          <dgm:else name="Name4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if>
          <dgm:else name="Name7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else>
        </dgm:choose>
        <dgm:ruleLst/>
        <dgm:layoutNode name="parentShp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childShp" styleLbl="bgAccFollowNode1">
          <dgm:varLst>
            <dgm:bulletEnabled val="1"/>
          </dgm:varLst>
          <dgm:alg type="tx">
            <dgm:param type="stBulletLvl" val="1"/>
          </dgm:alg>
          <dgm:choose name="Name8">
            <dgm:if name="Name9" func="var" arg="dir" op="equ" val="norm">
              <dgm:shape xmlns:r="http://schemas.openxmlformats.org/officeDocument/2006/relationships" type="rightArrow" r:blip="" zOrderOff="-2">
                <dgm:adjLst>
                  <dgm:adj idx="1" val="0.75"/>
                </dgm:adjLst>
              </dgm:shape>
            </dgm:if>
            <dgm:else name="Name10">
              <dgm:shape xmlns:r="http://schemas.openxmlformats.org/officeDocument/2006/relationships" rot="180" type="rightArrow" r:blip="" zOrderOff="-2">
                <dgm:adjLst>
                  <dgm:adj idx="1" val="0.7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forEach name="Name11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Process6">
  <dgm:title val=""/>
  <dgm:desc val=""/>
  <dgm:catLst>
    <dgm:cat type="process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L"/>
          <dgm:param type="nodeHorzAlign" val="l"/>
        </dgm:alg>
      </dgm:if>
      <dgm:else name="Name2">
        <dgm:alg type="lin">
          <dgm:param type="linDir" val="from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w" refFor="ch" refForName="compNode" fact="0.7"/>
      <dgm:constr type="ctrY" for="ch" forName="compNode" refType="h" fact="0.5"/>
      <dgm:constr type="w" for="ch" forName="aSpace" refType="w" fact="0.05"/>
      <dgm:constr type="primFontSz" for="des" forName="childTextHidden" op="equ" val="65"/>
      <dgm:constr type="primFontSz" for="des" forName="parentText" op="equ"/>
    </dgm:constrLst>
    <dgm:ruleLst/>
    <dgm:forEach name="aNodeForEach" axis="ch" ptType="node">
      <dgm:layoutNode name="compNode">
        <dgm:alg type="composite">
          <dgm:param type="ar" val="1.43"/>
        </dgm:alg>
        <dgm:shape xmlns:r="http://schemas.openxmlformats.org/officeDocument/2006/relationships" r:blip="">
          <dgm:adjLst/>
        </dgm:shape>
        <dgm:presOf/>
        <dgm:choose name="Name3">
          <dgm:if name="Name4" func="var" arg="dir" op="equ" val="norm">
            <dgm:constrLst>
              <dgm:constr type="w" for="ch" forName="childTextVisible" refType="w" fact="0.8"/>
              <dgm:constr type="h" for="ch" forName="childTextVisible" refType="h"/>
              <dgm:constr type="r" for="ch" forName="childTextVisible" refType="w"/>
              <dgm:constr type="w" for="ch" forName="childTextHidden" refType="w" fact="0.6"/>
              <dgm:constr type="h" for="ch" forName="childTextHidden" refType="h"/>
              <dgm:constr type="r" for="ch" forName="childTextHidden" refType="w"/>
              <dgm:constr type="l" for="ch" forName="parentText"/>
              <dgm:constr type="w" for="ch" forName="parentText" refType="w" fact="0.4"/>
              <dgm:constr type="h" for="ch" forName="parentText" refType="w" refFor="ch" refForName="parentText" op="equ"/>
              <dgm:constr type="ctrY" for="ch" forName="parentText" refType="h" fact="0.5"/>
            </dgm:constrLst>
          </dgm:if>
          <dgm:else name="Name5">
            <dgm:constrLst>
              <dgm:constr type="w" for="ch" forName="childTextVisible" refType="w" fact="0.8"/>
              <dgm:constr type="h" for="ch" forName="childTextVisible" refType="h"/>
              <dgm:constr type="l" for="ch" forName="childTextVisible"/>
              <dgm:constr type="w" for="ch" forName="childTextHidden" refType="w" fact="0.6"/>
              <dgm:constr type="h" for="ch" forName="childTextHidden" refType="h"/>
              <dgm:constr type="l" for="ch" forName="childTextHidden"/>
              <dgm:constr type="r" for="ch" forName="parentText" refType="w"/>
              <dgm:constr type="w" for="ch" forName="parentText" refType="w" fact="0.4"/>
              <dgm:constr type="h" for="ch" forName="parentText" refType="w" refFor="ch" refForName="parentText" op="equ"/>
              <dgm:constr type="ctrY" for="ch" forName="parentText" refType="h" fact="0.5"/>
            </dgm:constrLst>
          </dgm:else>
        </dgm:choose>
        <dgm:ruleLst/>
        <dgm:layoutNode name="noGeometry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childTextVisible" styleLbl="bgAccFollowNode1">
          <dgm:varLst>
            <dgm:bulletEnabled val="1"/>
          </dgm:varLst>
          <dgm:alg type="sp"/>
          <dgm:choose name="Name6">
            <dgm:if name="Name7" func="var" arg="dir" op="equ" val="norm">
              <dgm:shape xmlns:r="http://schemas.openxmlformats.org/officeDocument/2006/relationships" type="rightArrow" r:blip="">
                <dgm:adjLst>
                  <dgm:adj idx="1" val="0.7"/>
                  <dgm:adj idx="2" val="0.5"/>
                </dgm:adjLst>
              </dgm:shape>
            </dgm:if>
            <dgm:else name="Name8">
              <dgm:shape xmlns:r="http://schemas.openxmlformats.org/officeDocument/2006/relationships" type="leftArrow" r:blip="">
                <dgm:adjLst>
                  <dgm:adj idx="1" val="0.7"/>
                  <dgm:adj idx="2" val="0.5"/>
                </dgm:adjLst>
              </dgm:shape>
            </dgm:else>
          </dgm:choose>
          <dgm:presOf axis="des" ptType="node"/>
          <dgm:constrLst/>
          <dgm:ruleLst/>
        </dgm:layoutNode>
        <dgm:layoutNode name="childTextHidden" styleLbl="bgAccFollowNode1">
          <dgm:choose name="Name9">
            <dgm:if name="Name10" axis="des followSib" ptType="node node" st="1 1" cnt="1 0" func="cnt" op="gte" val="1">
              <dgm:alg type="tx">
                <dgm:param type="stBulletLvl" val="1"/>
                <dgm:param type="txAnchorVertCh" val="mid"/>
              </dgm:alg>
            </dgm:if>
            <dgm:else name="Name11">
              <dgm:alg type="tx">
                <dgm:param type="stBulletLvl" val="2"/>
                <dgm:param type="txAnchorVertCh" val="mid"/>
              </dgm:alg>
            </dgm:else>
          </dgm:choose>
          <dgm:choose name="Name12">
            <dgm:if name="Name13" func="var" arg="dir" op="equ" val="norm">
              <dgm:shape xmlns:r="http://schemas.openxmlformats.org/officeDocument/2006/relationships" type="rightArrow" r:blip="" hideGeom="1">
                <dgm:adjLst>
                  <dgm:adj idx="1" val="0.7"/>
                  <dgm:adj idx="2" val="0.5"/>
                </dgm:adjLst>
              </dgm:shape>
            </dgm:if>
            <dgm:else name="Name14">
              <dgm:shape xmlns:r="http://schemas.openxmlformats.org/officeDocument/2006/relationships" type="leftArrow" r:blip="" hideGeom="1">
                <dgm:adjLst>
                  <dgm:adj idx="1" val="0.7"/>
                  <dgm:adj idx="2" val="0.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rMarg" refType="primFontSz" fact="0.1"/>
            <dgm:constr type="lMarg" refType="primFontSz" fact="0.2"/>
          </dgm:constrLst>
          <dgm:ruleLst>
            <dgm:rule type="primFontSz" val="5" fact="NaN" max="NaN"/>
          </dgm:ruleLst>
        </dgm:layoutNode>
        <dgm:layoutNode name="parentText" styleLbl="node1">
          <dgm:varLst>
            <dgm:chMax val="1"/>
            <dgm:bulletEnabled val="1"/>
          </dgm:varLst>
          <dgm:alg type="tx"/>
          <dgm:shape xmlns:r="http://schemas.openxmlformats.org/officeDocument/2006/relationships" type="ellipse" r:blip="">
            <dgm:adjLst/>
          </dgm:shape>
          <dgm:presOf axis="self"/>
          <dgm:constrLst>
            <dgm:constr type="primFontSz" val="65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choose name="Name15">
        <dgm:if name="Name16" axis="self" ptType="node" func="revPos" op="gte" val="2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6">
  <dgm:title val=""/>
  <dgm:desc val=""/>
  <dgm:catLst>
    <dgm:cat type="process" pri="22000"/>
    <dgm:cat type="list" pri="1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linNode" refType="w"/>
      <dgm:constr type="h" for="ch" forName="linNode" refType="h"/>
      <dgm:constr type="h" for="ch" forName="spacing" refType="h" refFor="ch" refForName="linNode" fact="0.1"/>
      <dgm:constr type="primFontSz" for="des" forName="parentShp" op="equ" val="65"/>
      <dgm:constr type="primFontSz" for="des" forName="childShp" op="equ" val="65"/>
    </dgm:constrLst>
    <dgm:ruleLst/>
    <dgm:forEach name="Name1" axis="ch" ptType="node">
      <dgm:layoutNode name="linNode">
        <dgm:choose name="Name2">
          <dgm:if name="Name3" func="var" arg="dir" op="equ" val="norm">
            <dgm:alg type="lin">
              <dgm:param type="linDir" val="fromL"/>
            </dgm:alg>
          </dgm:if>
          <dgm:else name="Name4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if>
          <dgm:else name="Name7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else>
        </dgm:choose>
        <dgm:ruleLst/>
        <dgm:layoutNode name="parentShp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childShp" styleLbl="bgAccFollowNode1">
          <dgm:varLst>
            <dgm:bulletEnabled val="1"/>
          </dgm:varLst>
          <dgm:alg type="tx">
            <dgm:param type="stBulletLvl" val="1"/>
          </dgm:alg>
          <dgm:choose name="Name8">
            <dgm:if name="Name9" func="var" arg="dir" op="equ" val="norm">
              <dgm:shape xmlns:r="http://schemas.openxmlformats.org/officeDocument/2006/relationships" type="rightArrow" r:blip="" zOrderOff="-2">
                <dgm:adjLst>
                  <dgm:adj idx="1" val="0.75"/>
                </dgm:adjLst>
              </dgm:shape>
            </dgm:if>
            <dgm:else name="Name10">
              <dgm:shape xmlns:r="http://schemas.openxmlformats.org/officeDocument/2006/relationships" rot="180" type="rightArrow" r:blip="" zOrderOff="-2">
                <dgm:adjLst>
                  <dgm:adj idx="1" val="0.7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forEach name="Name11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23T16:54:08.938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0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2-15T10:57:42.405"/>
    </inkml:context>
    <inkml:brush xml:id="br0">
      <inkml:brushProperty name="width" value="0.3" units="cm"/>
      <inkml:brushProperty name="height" value="0.6" units="cm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0,'1142'0,"-620"38,-73-2,-322-33,159 6,64 22,-204-17,27 1,211 28,39 5,-266-26,124 16,311 10,-180-42,-2-19,-376 11,233-16,-198 10,119-18,122-22,2 15,-157 18,274-8,0 23,-232 2,-81-3,396 17,-274-1,243-14,578-14,-1054 13,227 10,19-1,-232-9,-4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2-15T11:00:32.084"/>
    </inkml:context>
    <inkml:brush xml:id="br0">
      <inkml:brushProperty name="width" value="0.1" units="cm"/>
      <inkml:brushProperty name="height" value="0.2" units="cm"/>
      <inkml:brushProperty name="color" value="#0069A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1495,'197'-302,"-173"265,165-218,24 17,139-159,-321 359,-5 7,39-64,-65 94,1 1,-1 0,1-1,-1 0,1 0,-1 1,0 0,0-1,0 0,0 0,0 1,0-1,1 0,-1 0,0 1,0 0,0-1,-1 0,1 0,0 1,0-2,0 1,-1 1,1 0,-1-1,1 1,-1-1,1 1,0 0,-1-1,0 1,1 0,-1 0,1 0,-1 0,1 0,-1-1,0 1,1 0,0 0,-3 0,-1 0,-1 1,1-1,-1 0,2 2,-9 1,-24 10,-47 27,13-6,3-4,-244 100,286-124,15-3,0-1,-11 6,18-7,2 0,-1-1,0 1,1 1,-2-2,2 2,-1-1,1 0,-1 1,1-1,-1 1,2-1,-2 1,1 0,0-1,-1 5,1-6,1 0,0 1,0 0,0 0,0-1,0 1,0 0,0-1,0 1,0-1,0 1,0 0,0 0,1-1,-1 0,0 1,0 0,0 0,1-1,-1 0,1 1,-1 0,1-1,-1 1,0-1,0 0,1 1,0-1,0 1,-1-1,0 1,1-1,0 0,-1 0,1 0,-1 0,1 1,0-1,0 0,0 0,2 1,0 0,0-1,1 0,-1 0,0 0,0 0,4 0,20-7,-2-1,1-1,-2-2,27-14,-19 10,383-216,-403 222,1-1,-1-1,-1 1,1-1,14-20,-25 29,-1 2,1-2,1 1,-2 1,2-2,-1 1,0 1,0-1,0-1,1 2,2-2,-4 2,0 0,0 0,1 1,0-1,-1 0,1 0,-1 0,0 0,0 1,1-1,0 0,-1 0,1 0,-1 0,0 1,0-1,0 0,1 1,-1-1,1 1,-1-1,0 0,0 0,1 1,-1-1,0 1,0 0,0-1,0 0,0 0,0 1,0 0,0-1,0 1,0-1,0 0,0 1,0-1,0 1,2 15,-1 26,-2-31,1 0,1 0,-1 1,2-1,4 17,41 91,-23-65,-9-20,32 56,-44-85,0 0,0 1,-1 0,0 0,0 0,0 0,1 10,-2 0,1 26,-1-2,1-24,2-4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2-15T11:00:36.207"/>
    </inkml:context>
    <inkml:brush xml:id="br0">
      <inkml:brushProperty name="width" value="0.1" units="cm"/>
      <inkml:brushProperty name="height" value="0.2" units="cm"/>
      <inkml:brushProperty name="color" value="#0069AF"/>
      <inkml:brushProperty name="tip" value="rectangle"/>
      <inkml:brushProperty name="rasterOp" value="maskPen"/>
      <inkml:brushProperty name="ignorePressure" value="1"/>
    </inkml:brush>
  </inkml:definitions>
  <inkml:trace contextRef="#ctx0" brushRef="#br0">2057 882,'-21'-1,"0"-1,0-2,1-1,0 0,-28-11,31 10,-772-237,696 212,1-4,2-4,2-3,-128-84,130 66,29 19,49 35,0-1,1 1,0-2,0 1,1-2,-7-9,-1-2,8 14,1 1,0-1,-1 1,0 0,-11-8,-39-17,13 6,24 12,-23-15,39 25,-1 1,1-1,0 1,-1 0,1-1,0 2,-1-1,1 1,-1-1,-5 1,8 0,0 0,0 1,0-1,0 1,0-1,0 0,0 1,0 0,0-1,0 1,0-1,0 1,1 0,-2 0,1 0,1 0,0 0,-1 0,0 0,0 0,1 0,0 0,-1 0,1 0,-1 0,1 0,0 0,0 1,-1 0,1 6,-1 0,1 0,0 10,1-10,-4 38,-13 87,0-21,15-88,-1 0,5 41,-3-64,0 1,1 0,-1-1,1 1,-1-1,0 1,1-1,0 1,0-1,0 1,0-1,0 1,0-1,0 1,0-1,0 0,1 0,-1 0,1 0,-1 1,0-2,3 3,3-1,-1 0,1 0,0 0,10 1,-10-2,-1-1,0 2,0-1,9 5,-5 0,1-1,-11-6,0 0,0 1,1 0,-1-1,0 0,0 1,0-1,0 1,0-1,0 0,0 1,0-1,0 1,0-1,0 0,0 1,-1-1,1 1,0-1,0 1,0-1,0 0,-1 1,-4-17,1 1,1-1,-2-34,5-53,2 46,-4-2,4-63,-1 122,-1-2,0 2,0-1,1 0,-1 1,1-1,0 1,-1-2,2 2,-1-1,-1 1,2-1,-1 1,0 0,0 0,0-1,1 1,-1 0,1 0,-1 0,1 0,-1 0,1 0,-1 1,2-1,-2 0,1 0,-1 1,1 0,4 0,4-2,1 1,1 1,-1 0,12 3,-1-1,208-11,-33 0,-140 8,51 3,-105-2,-1 0,-1 0,2 1,-2 0,1-1,0 1,0-1,0 1,0 1,-1-2,1 1,2 2,4 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2-15T11:01:01.803"/>
    </inkml:context>
    <inkml:brush xml:id="br0">
      <inkml:brushProperty name="width" value="0.2" units="cm"/>
      <inkml:brushProperty name="height" value="0.4" units="cm"/>
      <inkml:brushProperty name="color" value="#FF2500"/>
      <inkml:brushProperty name="tip" value="rectangle"/>
      <inkml:brushProperty name="rasterOp" value="maskPen"/>
      <inkml:brushProperty name="ignorePressure" value="1"/>
    </inkml:brush>
  </inkml:definitions>
  <inkml:trace contextRef="#ctx0" brushRef="#br0">741 2713,'-25'-141,"1"-6,-183-879,-37 211,82 314,142 447,17 73,3 15,2 337,-3-216,2-123,-2 0,-1 1,-2-1,-1 0,-12 42,11-47,-2 4,8-31,0 1,0-1,0 0,0 0,0 1,0-1,0 0,0 0,0 0,0 0,0 0,-1 0,1 1,0-1,0 0,0 0,0 0,0 1,0-1,0 0,0 0,0 0,0 1,0-1,-1 0,1 0,0 0,0 0,0 0,-1 0,1 0,0 0,0 0,-1 0,1 0,0 0,0 0,0 0,0 0,0 0,0 0,-1 0,1 0,0 0,0 0,-1 0,-3-10,1-17,1-211,4 119,-2 105,3 1,-1-1,1 2,0-2,10-23,-3 8,31-68,-2 1,-35 82,0 1,-1-1,0 1,-2-2,2-19,-6-48,33 134,-11-20,25 33,-24-36,-13-17,2-2,-1 2,1-2,20 19,-6-10,-2 2,19 23,27 27,-60-64,0 1,0 0,6 12,-9-14,0 0,0 0,1-1,-1 1,2-2,-1 2,0-2,1 1,6 4,1-2,-1 2,1 0,-2 2,17 16,-13-13,26 22,-16-17,0 2,-1 0,23 29,-42-43,-13-10,-10-8,10 2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2-15T11:01:14.027"/>
    </inkml:context>
    <inkml:brush xml:id="br0">
      <inkml:brushProperty name="width" value="0.2" units="cm"/>
      <inkml:brushProperty name="height" value="0.4" units="cm"/>
      <inkml:brushProperty name="color" value="#FF2500"/>
      <inkml:brushProperty name="tip" value="rectangle"/>
      <inkml:brushProperty name="rasterOp" value="maskPen"/>
      <inkml:brushProperty name="ignorePressure" value="1"/>
    </inkml:brush>
  </inkml:definitions>
  <inkml:trace contextRef="#ctx0" brushRef="#br0">4239 3236,'-47'-39,"-65"-47,-92-62,-75-51,-577-386,132 93,19-16,424 292,32 20,32 25,39 33,40 30,108 84,-6-2,1-2,1-2,-34-41,64 67,-20-27,23 29,-1-1,2 1,-2 0,1 0,0-1,0 0,0 1,1-1,-1 1,1-1,-1-3,1 5,0 1,0-1,1 1,-1 0,0 0,0-1,1 1,-1 0,0-1,0 1,0-1,0 1,1 0,-1 0,1 0,-1 0,0-1,1 1,-1 0,0 0,0-1,1 1,-1 0,1 0,0 0,-1 0,0 0,0-1,1 1,-1 0,1 0,-1 1,1-1,-1 0,0 0,1 0,15 3,-14-2,0 0,0-1,-1 1,2 0,-2 0,1 0,-1 0,1 0,0 1,-1-1,1 0,-1 1,0-1,1 1,-2 0,2-1,-1 1,-1 0,1 0,0 0,0-1,-1 2,1-2,0 1,-1 1,0-2,1 1,-1 4,0 5,-1 0,0 1,-5 21,2-17,-44 224,45-216,0 1,1-1,3 51,0-27,-1-39,0 0,1-1,1 1,-1-1,1 1,1-1,0 1,6 12,-9-19,0-1,1-1,-1 1,1-1,0 1,-1 0,0-1,1 1,0 0,-1 0,1-1,-1 0,1 1,0-1,0 1,-1-1,1 1,0-1,0 0,-1 0,1 0,0 0,1 1,-1-1,0-1,0 1,0 0,0 0,-1-1,1 1,0-1,0 0,-1 1,1 0,0-1,0 0,-1 0,1 1,-1-1,1 0,0 0,2-5,0 1,-1 0,0 0,0-1,2-9,1-10,1-48,-1 0,3-37,-6 60,1 32,0 1,0-1,7-17,-5 19,-1 0,0-1,2-31,-5 0,-6-69,4 115,1 1,0 0,0-1,0 1,0-1,0 2,0-2,0 1,0-1,1 1,-1-1,1 1,-1 0,1-1,-1 2,1-2,-1 1,1 0,0-1,2-1,-3 3,2-1,-1 1,0-1,1 0,-1 1,0 0,0-1,1 1,-1 0,0 0,1-1,-1 1,1 0,-2 0,2 1,-1-1,1 0,-1 1,0-1,1 0,1 1,27 12,-23-9,1-1,-2 0,2-1,10 3,8-3,0 1,46-5,21 1,-80 4,22 3,-23-3,26 3,-25-3,1-1,-1 0,23 10,-21-7,-1-1,27 4,24 5,-35-6,-17-3,-2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2-15T11:01:41.868"/>
    </inkml:context>
    <inkml:brush xml:id="br0">
      <inkml:brushProperty name="width" value="0.1" units="cm"/>
      <inkml:brushProperty name="height" value="0.2" units="cm"/>
      <inkml:brushProperty name="color" value="#0069AF"/>
      <inkml:brushProperty name="tip" value="rectangle"/>
      <inkml:brushProperty name="rasterOp" value="maskPen"/>
      <inkml:brushProperty name="ignorePressure" value="1"/>
    </inkml:brush>
  </inkml:definitions>
  <inkml:trace contextRef="#ctx0" brushRef="#br0">2438 261,'-143'-9,"89"4,-32-3,-118-7,-331 27,398-7,-293-2,244-4,63-3,-151-25,247 26,-46 3,-6-1,73-1,1 1,-1-1,1-1,-1 1,1-1,0 0,0 0,0-1,1 1,-2-1,3 0,-9-8,11 11,-1-1,2 1,-2-1,1 1,0-1,0 0,0 0,0 0,0 1,0-2,1 2,0-1,-1 0,1 0,0 0,-1 0,1 0,0 0,1-3,0 4,-1-2,1 2,0-1,0 0,0 1,0-1,0 1,0-1,1 1,-1-1,1 1,-1-1,1 1,-1 0,1 0,0 0,-1 0,1 0,3 0,3-3,1 1,0 0,0 1,1 0,14-1,48 2,-52 2,-2-1,1-1,35-5,91-37,-117 35,-13 4,-1 0,1 0,-1 2,18-1,-231 4,194 0,0-1,0 0,0 1,1 0,-1 0,1 0,-1 1,-7 3,1 1,1 0,-10 8,-11 8,19-17,0 0,0 1,0-3,-1 1,0-1,0 0,-26 1,18-2,-31 8,51-9,0-1,1 0,0 0,-1 0,0 0,0 0,1 0,0 0,-1 1,0-1,1 0,-1 1,1-1,0 1,-1-1,1 0,-1 0,1 1,-1 0,1-1,0 1,0-1,0 0,-1 2,1-1,0-1,0 1,0 0,0 0,1-1,-1 1,0 0,0-1,0 1,1-1,-1 1,1 0,-1-1,1 1,-1-1,0 0,2 2,4 3,0 0,1-1,6 4,-6-3,6 4,2 0,-1-1,1 0,0-1,1-1,-1 0,1-1,25 4,-27-7,-1 0,1 1,0 0,-1 1,0 0,0 2,0 0,0 0,-1 0,0 1,16 13,-5-2,61 54,-54-48,-3-3,-19-13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2-15T11:01:46.600"/>
    </inkml:context>
    <inkml:brush xml:id="br0">
      <inkml:brushProperty name="width" value="0.1" units="cm"/>
      <inkml:brushProperty name="height" value="0.2" units="cm"/>
      <inkml:brushProperty name="color" value="#0069AF"/>
      <inkml:brushProperty name="tip" value="rectangle"/>
      <inkml:brushProperty name="rasterOp" value="maskPen"/>
      <inkml:brushProperty name="ignorePressure" value="1"/>
    </inkml:brush>
  </inkml:definitions>
  <inkml:trace contextRef="#ctx0" brushRef="#br0">144 995,'1'-12,"0"1,1-1,3-12,-2 10,3-24,-2 6,1-1,2 1,15-45,5-21,-23 79,-1-1,-1 2,1-27,-3 15,8-38,0-23,-9-161,1 246,1-1,0 0,0 1,2-11,-2 15,-1 2,0-2,1 1,-1 0,1-1,-1 2,0-2,1 1,0 1,0-2,-1 1,1 1,0-2,0 1,-1 1,1-1,0 0,0 0,0 1,0-1,0 0,0 1,1-1,-2 1,2 0,-1-1,0 1,1 0,-2-1,2 1,-1 0,2 0,-2 0,0 1,0 0,0-1,1 0,-2 1,1 0,1 0,-2-1,1 1,0 0,0 0,-1 0,1 0,0 0,0 0,-1 0,1 0,-1 0,1 0,-1 0,1 0,-1 1,0-2,0 2,0 1,4 33,-4-32,0 11,1-3,-1 2,-2 17,2-28,-1 0,0 1,0 0,1-1,-2 1,1-1,-1 0,1 0,-2 1,2-1,-1 0,-1 0,-1 2,-14 12,10-10,-1 1,-9 12,14-14,-1 0,1 0,-1-1,-1 1,0-1,1-1,-1 1,-1-1,1 0,0 0,-1 0,0-1,0 0,0-1,0 0,-10 2,12-3,-46 7,47-7,-1-1,1 2,-1-1,2 2,-2-2,1 1,0 1,-6 3,-4 4,6-8,8-2,0 0,0 0,0 0,0 0,0 0,0 0,-1 0,1-1,0 1,0 0,0 0,0 0,0 0,0-1,0 1,-1 0,1 0,0 0,0-1,0 1,0 0,0 0,0 0,0 0,0 0,0 0,0 0,0 0,0-1,0 1,0 0,0 0,0 0,1-1,-1 1,0 0,0 0,0 0,0 0,0-1,0 1,1 0,1-3,1-1,-1 1,1-1,1 1,-1 0,0 0,1 1,-1-1,1 1,0-1,6-1,6-6,-11 7,-2 0,2-1,-1 1,-1 0,1-1,-1 0,1 0,2-5,-1-1,0 1,-1-1,4-11,-6 14,1 1,0-1,1 0,-1 0,1 1,1 0,-1 0,1 1,0-1,0 1,9-7,-9 8,0 1,0 0,0 0,0 1,1 0,-1-1,1 1,0 1,-1-1,1 1,0 1,0-1,-1 0,1 1,6 1,-10-1,0 1,0-1,0 0,0 1,-1-1,2 1,-2 0,1 0,0 0,-1 0,1 0,-1 0,1 0,-1 1,3 2,1 1,-1 1,0 0,3 7,-4-7,0-1,1 1,6 7,17 10,-21-19,0 1,-1 0,0 0,1 1,4 7,-4-5,1-1,-1 1,1-2,0 0,1 1,9 5,-6-4,0 1,11 11,-7-4,-9-8,0-1,1-1,0 1,0-1,13 8,-8-8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2-15T11:01:49.224"/>
    </inkml:context>
    <inkml:brush xml:id="br0">
      <inkml:brushProperty name="width" value="0.1" units="cm"/>
      <inkml:brushProperty name="height" value="0.2" units="cm"/>
      <inkml:brushProperty name="color" value="#0069AF"/>
      <inkml:brushProperty name="tip" value="rectangle"/>
      <inkml:brushProperty name="rasterOp" value="maskPen"/>
      <inkml:brushProperty name="ignorePressure" value="1"/>
    </inkml:brush>
  </inkml:definitions>
  <inkml:trace contextRef="#ctx0" brushRef="#br0">0 817,'383'-116,"-11"-19,-333 117,20-7,-52 23,1-1,-1 2,1-1,-1 1,1 0,8 1,42-1,79-9,56-20,-142 21,49-9,-18 2,101-6,-179 22,5 0,0-1,0 0,0 0,0-1,-1 1,13-6,0-1,25-4,20-8,483-162,-198 72,-239 65,-81 28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2-15T11:01:53.869"/>
    </inkml:context>
    <inkml:brush xml:id="br0">
      <inkml:brushProperty name="width" value="0.1" units="cm"/>
      <inkml:brushProperty name="height" value="0.2" units="cm"/>
      <inkml:brushProperty name="color" value="#0069AF"/>
      <inkml:brushProperty name="tip" value="rectangle"/>
      <inkml:brushProperty name="rasterOp" value="maskPen"/>
      <inkml:brushProperty name="ignorePressure" value="1"/>
    </inkml:brush>
  </inkml:definitions>
  <inkml:trace contextRef="#ctx0" brushRef="#br0">515 76,'-59'1,"-67"-3,109 0,1-1,-23-8,-8-1,-36-8,-44-7,160 29,-13-2,33 6,17 10,8 2,126 12,27-25,-226-5,14 0,-18 0,0 0,0 0,-1 0,1 0,1 0,-2 0,1 0,0 1,0-1,-1 1,1-1,0 1,0-1,-1 0,0 1,1-1,1 2,-3-1,0 0,0 0,1-1,-2 2,1-1,1-1,-2 1,1-1,0 1,0 0,0-1,-1 0,1 1,-2 0,0 0,-3 2,0 1,-1 0,1 0,0 1,0-1,1 2,-1-1,1 0,1 1,-1 0,-5 8,6-9,-1 1,0-1,-1 0,1 0,-1-1,-7 5,7-6,-1 2,1-1,1 2,-1-1,-8 11,-1 7,1 1,-15 35,17-33,5-5,-5 8,12-28,0 1,-1-1,-1 0,2 1,-1-2,0 2,0-1,0 0,-1 0,2 0,-2 0,1 0,0 0,-1-1,-1 2,2-2,5-2,11-3,-3 3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2-15T11:02:32.840"/>
    </inkml:context>
    <inkml:brush xml:id="br0">
      <inkml:brushProperty name="width" value="0.2" units="cm"/>
      <inkml:brushProperty name="height" value="0.4" units="cm"/>
      <inkml:brushProperty name="color" value="#00B44B"/>
      <inkml:brushProperty name="tip" value="rectangle"/>
      <inkml:brushProperty name="rasterOp" value="maskPen"/>
      <inkml:brushProperty name="ignorePressure" value="1"/>
    </inkml:brush>
  </inkml:definitions>
  <inkml:trace contextRef="#ctx0" brushRef="#br0">3854 138,'-156'19,"-189"0,-183 12,467-25,-501 12,499-18,-327 18,103-1,-228-15,282-3,-119 19,332-15,1 1,-1 1,-27 12,31-11,0-1,0 0,-1 0,1-2,-26 3,27-6,3 1,1-1,-1 0,-21-3,33 3,-1 0,1-1,0 1,0 0,-1 0,1-1,0 1,-1 0,1 0,0-1,0 1,0 0,0 0,0 0,0 0,0 0,0-1,0 1,0 0,0-1,0 1,-1 0,1-1,0 1,0 0,0 0,0 0,0 0,1-1,-1 1,0 0,0-1,0 1,0 0,0-1,0 1,0 0,0 0,0 0,0 0,0 0,1-1,-1 1,0 0,0 0,1-1,-1 1,0 0,0 0,1-1,9-9,-2 5,-1-1,1 2,0-1,0 2,0-1,1 1,12-4,-6 3,21-11,60-36,-55 28,2 1,48-17,-77 33,0 0,-1-2,1 1,-1-2,17-15,21-12,-49 35,0-1,0 0,0 0,0 0,0 0,-1 0,1 0,1-4,-3 6,1 0,-1-1,0 1,0 0,1-1,-1 1,0-1,0 1,0 0,0 0,0-1,0 1,0-1,0 1,0-1,0 1,0 0,0 0,0-1,0 1,0-1,0 1,0-1,-1 1,0 0,1-1,-1 1,1 0,-1-1,0 1,1 0,-1 0,0 0,0 0,1 0,0 0,-1 0,0 0,0 0,1 0,-1 0,0 0,0 1,0-1,-3 1,1 0,-1 1,1-1,0 1,0-1,0 1,0 0,0 0,0 0,-3 4,-2 3,1 0,-6 9,8-12,1 1,-1-1,0 0,0 0,0-1,-9 7,-22 10,-43 19,61-32,-126 51,48-23,80-30,-1 0,-1-2,0-1,-23 4,40-8,0 0,-1 0,2 0,-1 0,-1 1,2-1,-1 0,-1 0,2 0,-1 1,0 0,0-1,0 1,0-1,0 1,1-1,-1 1,0 0,0-1,0 3,1-3,0 0,-1 1,1 0,0 0,0-1,0 1,0 0,0 0,0-1,0 1,1 0,-1 0,0-1,0 1,1-1,-1 1,0 0,0-1,1 1,-1 0,2 0,0 2,2 1,-1-1,0 0,0 0,1 0,0 0,6 3,71 31,-12-7,-13-2,-1 2,75 54,-95-57,1-1,69 38,-93-58,-2 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2-15T11:02:40.694"/>
    </inkml:context>
    <inkml:brush xml:id="br0">
      <inkml:brushProperty name="width" value="0.1" units="cm"/>
      <inkml:brushProperty name="height" value="0.2" units="cm"/>
      <inkml:brushProperty name="color" value="#00B44B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2-15T11:02:51.084"/>
    </inkml:context>
    <inkml:brush xml:id="br0">
      <inkml:brushProperty name="width" value="0.1" units="cm"/>
      <inkml:brushProperty name="height" value="0.2" units="cm"/>
      <inkml:brushProperty name="color" value="#00B44B"/>
      <inkml:brushProperty name="tip" value="rectangle"/>
      <inkml:brushProperty name="rasterOp" value="maskPen"/>
      <inkml:brushProperty name="ignorePressure" value="1"/>
    </inkml:brush>
  </inkml:definitions>
  <inkml:trace contextRef="#ctx0" brushRef="#br0">0 1318,'170'-58,"-153"53,177-54,50-13,1680-407,-1807 455,339-72,-4 27,-331 55,-35-2,-26 4,-36 8,-1-1,0-1,1-1,-2-1,33-16,-34 15,0 1,1 1,-1 1,2 0,38-3,24-6,4-3,48-13,-113 23,0 0,1 1,-1 1,1 0,0 2,36-1,-25 5,38 0,-73 0,0 0,1 0,-2 0,2 0,-1 0,0 0,1 0,-2 0,2-1,-1 0,0 1,0-1,0 1,0-1,0 0,0 1,0-1,0 0,0 0,-1 0,1 1,0-1,0-1,-1 2,2-3,-2 2,0 0,0 0,0 0,0-1,-1 2,1-2,0 1,-1 0,1 0,0 0,0 0,-1 0,0 0,0 0,1 0,0 0,-1 1,0-1,0 0,1 0,-1 1,-1-1,2 0,-1 0,0 1,0 0,-2-2,-3-1,-1 0,0 0,0 1,1 0,-2 0,-7-1,5 2,0-2,-13-4,-13-5,0 1,-55-9,-18-5,36 1,46 14,-1 1,0 1,0 2,-40-5,68 13,6 4,8 3,-6-5,-1 0,2-1,-2 0,1-1,1 0,9 2,53 1,-7 0,183 28,-226-29,22 8,-27-8,-1 1,1-2,20 3,-33-6,0 0,-1 0,1 0,0 0,0 1,0 0,0 0,-1-1,1 2,-1-1,1 0,-1 1,4 1,-4-1,-1 0,1 0,-1 0,0 0,1 0,-2 1,1-2,1 1,-2 1,1 0,-1-1,1 0,0 0,-1 1,0-1,0 4,0-3,0 1,0-1,-1 0,0 1,0-1,1 1,-1-1,-1 1,1-1,0 0,-1 0,0 0,1 0,-1 0,-4 3,-3 5,-1-1,-19 14,-3 3,-25 20,13-11,27-17,16-16,-1-1,1 0,-1 0,0 1,1-2,-2 1,1 0,0 0,0 0,-1-1,1 1,-5 1,-8 1,2-2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2-15T11:02:55.650"/>
    </inkml:context>
    <inkml:brush xml:id="br0">
      <inkml:brushProperty name="width" value="0.1" units="cm"/>
      <inkml:brushProperty name="height" value="0.2" units="cm"/>
      <inkml:brushProperty name="color" value="#00B44B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1,'19'0,"0"1,35 6,-26-3,108 20,147 37,326 113,558 311,-918-361,225 105,-402-198,138 41,-165-61,0-2,1-2,0-2,67-1,-51-4,-1 2,112 20,256 37,-403-56,384 13,-360-17,49 1,-81 1,-1 1,0 1,27 6,-23-3,-9-3,-1 0,0 1,0 0,-1 1,15 8,-18-5,-7-8,0 0,0 1,0-1,0 0,0 0,0 0,0 1,0-1,0 0,0 0,0 0,0 0,0 0,0 0,0 0,0 0,0 1,0-1,0 0,0 0,0 0,0 0,0 1,0-1,0 0,0 0,0 0,0 0,-1 0,1 0,0 1,0-1,0 0,-1 0,1 0,0 0,-1 0,0 0,0 0,0 0,0 0,-1 0,2 0,-1 0,-1 0,2 0,-1-1,-1 1,2-1,-1 1,-1-1,2 1,-1 0,0-1,-1-1,-3-1,0-3,1 2,0-1,-1 0,2-1,-8-10,-14-38,13 22,2 1,-7-44,8 33,-3-6,-2 1,-26-64,38 107,0-2,0 1,0 0,1 0,0-1,0 0,0 1,1 0,0-1,0-8,0 14,0 0,0 0,0 0,1-1,-1 1,0 0,0 0,0 0,0-1,1 1,-1 0,0 0,0 0,1-1,-1 1,0 0,0 0,0 0,0 0,0 0,0 0,1 0,-1 0,0 0,1 0,-1 0,0 0,0 0,1 0,-1 0,0 0,0 0,0 0,0 0,0 0,1 0,-1 0,0 0,0 0,1 0,-1 1,0-1,0 0,0 0,1 0,-1 0,0 1,0-1,0 0,0 0,0 1,0-1,0 0,0 0,0 0,0 0,10 12,113 169,-100-151,-17-24,0 2,-1-2,0 2,8 15,-12-21,0 1,0-1,-1 0,1 0,-1 1,0 0,0-1,0 0,0 0,0 1,0 0,0-1,0 0,-1 1,0-1,0 1,1-1,-1 0,0 0,0 1,0-2,-4 5,-38 46,38-46,-1 0,0-1,0 0,0 1,-1-2,0 1,0-2,0 1,-13 5,-12 7,26-13,0 1,0-1,-1 0,-8 2,-3 0,0 1,1 2,0-1,0 1,-20 15,35-20,3-2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2-15T11:03:01.900"/>
    </inkml:context>
    <inkml:brush xml:id="br0">
      <inkml:brushProperty name="width" value="0.1" units="cm"/>
      <inkml:brushProperty name="height" value="0.2" units="cm"/>
      <inkml:brushProperty name="color" value="#00B44B"/>
      <inkml:brushProperty name="tip" value="rectangle"/>
      <inkml:brushProperty name="rasterOp" value="maskPen"/>
      <inkml:brushProperty name="ignorePressure" value="1"/>
    </inkml:brush>
  </inkml:definitions>
  <inkml:trace contextRef="#ctx0" brushRef="#br0">3875 34,'-101'5,"74"-3,-660 65,385-46,-297 31,327-23,-1-17,-674-15,880 4,-1 4,1 1,1 4,-96 27,144-33,1 1,0-2,0-1,-34 1,51-3,0 0,-1 0,0 0,0 0,1 0,0 0,-1 0,1 0,-1 0,0 0,1-1,0 1,-1 0,1 0,-1 0,1 0,-1 0,1-1,0 1,-1 0,1-1,-1 1,0-1,1 1,0-1,0 1,0-1,0 0,1 1,-1 0,0 0,0-1,1 0,-1 1,0-1,1 1,-1 0,0 0,0-1,0 1,1-1,-1 1,1 0,0-1,25-17,-22 16,7-5,1 1,0 1,25-8,43-6,-31 8,272-76,-66 18,-229 63,-15 3,0 1,-1-1,1 0,-1-1,0 0,17-10,-24 10,-8 3,-9 4,-8 8,-5 1,0 0,0-1,-48 10,28-9,-55 19,53-14,-83 26,-274 82,379-118,-49 5,363-18,-272 7,0 1,0 1,0 0,0 1,-1 1,0 0,14 7,4 1,207 80,195 75,-339-138,-105-32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23T16:35:54.5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24575,'0'1282'-2473,"29"-762"2336,32 506-2928,-59 9 3977,-5-493 1534,3 791-175,24-946-2273,33-3 12,18 172 42,2 4-181,-49-390-62,-7 0 0,-3 295-1,-21-1 857,3-278-2006,0-160-5485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23T16:35:59.7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24575,'121'10'0,"-75"-7"0,122 7-853,921 27-4905,8-35 3479,-730-4 1191,4 1 1020,493 2 2164,-431 28-2096,-2 24 0,-199-23 0,267 24 0,-195-19 0,218 30 0,-95-6-10,-101-15 1335,158 29-1004,251 34-373,278-3 52,740-39-919,-1237-79 1415,-63-5-111,83-7 517,44-27 1166,-157 41 1,-400 13-8895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23T16:36:17.321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1 24575,'53'0'0,"79"2"0,-105 0 0,0 1 0,51 13 0,27 17 0,75 18 0,-33-15 0,60 11 0,147 11 0,-218-37 0,306 66 0,-441-86 0,71 19 0,92 37 0,-64-20 0,-18-8 0,135 49 0,-190-66 0,-1 1 0,0 2 0,31 23 0,23 13 0,346 216 0,-314-190 0,26 20 0,114 89 0,-59-36 0,-62-47 0,-60-46 0,-40-30 0,2-2 0,0-1 0,39 19 0,-39-22 0,0 0 0,49 42 0,4 2 0,231 194 0,-273-219 0,-12-9 0,39 50 0,24 23 0,73 63 0,-31-38 0,-25-25 0,-32-14 0,-53-56 0,3-1 0,32 27 0,6-6 0,29 27 0,99 90 0,-87-78 0,-2-9 0,-71-58 0,0 2 0,-3 1 0,35 38 0,425 493 0,-320-386 0,-154-156 0,116 97 0,-23-20 0,74 64 0,-122-109 0,-3 3 0,99 108 0,77 94 0,22-23 0,-191-174 0,78 86 0,-118-117 0,54 41 0,-54-47 0,0 2 0,31 32 0,-34-27 0,37 31 0,-46-46 0,0-1 0,1-1 0,0 0 0,22 10 0,63 21 0,-53-23 0,47 24 0,-13 2 0,103 57 0,-108-58 0,97 62 0,-155-92 0,22 15 0,0-2 0,1-2 0,58 25 0,210 52 0,-192-65 0,27 8 0,-111-37 0,-1-1 0,50 2 0,-53-6 0,97 8 0,15 7 0,22 4 0,-61-1 0,72 14 0,371 64-101,-170-58-452,147 20 602,-278-21-49,-108-16 0,-80-15 93,71-1 0,58-10 222,-53 0-211,-92 3-104,82 10 0,524 64 0,-444-73 0,-173-1 0,-1 2 0,0 2 0,43 10 0,-7 0 0,13-5 0,1-2 0,122-5 0,-194-3-273,1 0 0,0 1 0,-1 0 0,10 2 0,1 3-6553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23T16:36:32.28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1 24575,'3'0'0,"0"1"0,-1 0 0,1 0 0,0 0 0,0 0 0,-1 0 0,0 1 0,0-1 0,1 1 0,-1-1 0,0 1 0,0 0 0,1 0 0,0 2 0,7 5 0,16 12 0,0 1 0,-2 2 0,-1 0 0,27 36 0,-32-38 0,0 0 0,3-2 0,42 36 0,-35-33 0,40 42 0,-63-59 0,5 6 0,1 0 0,0-1 0,26 19 0,-26-21 0,1-1 0,-1 0 0,0 2 0,-1 0 0,-1-1 0,14 18 0,-17-18 0,1 0 0,-1 0 0,2 0 0,0-1 0,17 14 0,-6-7 0,-1 1 0,0 1 0,-1 0 0,-1 1 0,-1 1 0,21 32 0,-14-21 0,1-1 0,28 26 0,-27-31 0,-2 1 0,34 48 0,108 240 0,-106-191 0,-12-26 0,-5 1 0,-2 3 0,36 157 0,0 151 0,-33-24 0,-22-180 0,27 353 0,-18-177 0,-28-371 0,13 105 0,54 197 0,-34-162 0,20 71 0,17 2 0,17-7 0,63 122 0,-120-268 0,-18-38 0,1-1 0,1-1 0,37 53 0,-22-43 0,3-2 0,45 39 0,-7-2 0,-49-49 0,35 29 0,-43-42 0,0 1 0,0 0 0,14 21 0,-22-28 0,0 1 0,0 0 0,1 0 0,0-1 0,14 9 0,40 19 0,-16-9 0,-5-4 0,43 16 0,8 5 0,14 15 0,60 30 0,478 150-668,-170-93 668,-455-139 23,5 2 106,0 0 0,1-1 0,0-1 0,30 1 0,-27-6-129,-9 0 0,0 1 0,0 1 0,0 0 0,0 1 0,18 5 0,43 23 0,32 9 0,62-6 0,-2-1 0,307 80 0,-380-95 0,88 12 0,-130-23 0,75-1 0,-72-7 0,60 1 0,-109 1-341,-1 1 0,0 0-1,10 4 1,1 1-6485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23T16:36:45.677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0 24575,'4'5'0,"0"0"0,-1-1 0,0 2 0,0-1 0,0 0 0,-1 0 0,0 1 0,2 6 0,5 11 0,16 36 0,81 196 0,-96-229 0,94 280 0,-84-232 0,48 116 0,-20-64 0,-32-81 0,31 117 0,-13-39 0,41 132 0,-19-76 0,-8-53 0,5 14 0,-45-115 0,-2 0 0,-1-1 0,4 52 0,-8-37 0,-1-13 0,2 1 0,6 33 0,15 112 0,-15-95 0,56 277 0,-40-231 0,15 51 0,-24-136 0,-10-27 0,-1 0 0,5 20 0,-6-21 0,-2 0 0,2-1 0,0 0 0,7 15 0,-7-19 0,0-1 0,0 2 0,0-2 0,1 0 0,-1 0 0,1 0 0,1 1 0,-1-2 0,7 6 0,17 12 0,28 27 0,10 9 0,55 24 0,-94-63 0,-20-12 0,0-1 0,-1-1 0,2 0 0,-1 1 0,1-2 0,0 0 0,9 3 0,1-3 0,1 0 0,19 0 0,-26-3 0,1 0 0,-1 1 0,1 1 0,-1 1 0,0-1 0,23 10 0,11 10 0,-18-9 0,0 0 0,49 15 0,80 8 0,-119-30 0,0-2 0,47 1 0,-4-8 0,85 4 0,-135 3 0,36 9 0,-40-7 0,16 3 0,4 0 0,82 9 0,-105-17 0,39 7 0,-56-6 0,1-1 0,-2 1 0,1 1 0,1-1 0,-2 1 0,0 0 0,1 1 0,-1 0 0,11 7 0,-1 4-1365,-2-2-5461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23T16:37:08.633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0 24575,'0'0'-8191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23T16:37:10.016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0 24575,'0'0'-8191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23T16:37:15.236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1 24575,'0'0'-8191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23T16:37:16.124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0 24575,'0'0'-8191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23T16:37:17.088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0 24575,'0'0'-8191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23T16:37:17.494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0 24575,'0'0'-8191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23T16:39:20.975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1 0 24575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23T16:39:23.720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1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55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  <p:sp>
        <p:nvSpPr>
          <p:cNvPr id="56" name="Shape 56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>
      <a:lnSpc>
        <a:spcPct val="118000"/>
      </a:lnSpc>
      <a:defRPr sz="2200">
        <a:latin typeface="+mj-lt"/>
        <a:ea typeface="+mj-ea"/>
        <a:cs typeface="+mj-cs"/>
        <a:sym typeface="Helvetica Neue"/>
      </a:defRPr>
    </a:lvl1pPr>
    <a:lvl2pPr indent="228600" defTabSz="457200">
      <a:lnSpc>
        <a:spcPct val="118000"/>
      </a:lnSpc>
      <a:defRPr sz="2200">
        <a:latin typeface="+mj-lt"/>
        <a:ea typeface="+mj-ea"/>
        <a:cs typeface="+mj-cs"/>
        <a:sym typeface="Helvetica Neue"/>
      </a:defRPr>
    </a:lvl2pPr>
    <a:lvl3pPr indent="457200" defTabSz="457200">
      <a:lnSpc>
        <a:spcPct val="118000"/>
      </a:lnSpc>
      <a:defRPr sz="2200">
        <a:latin typeface="+mj-lt"/>
        <a:ea typeface="+mj-ea"/>
        <a:cs typeface="+mj-cs"/>
        <a:sym typeface="Helvetica Neue"/>
      </a:defRPr>
    </a:lvl3pPr>
    <a:lvl4pPr indent="685800" defTabSz="457200">
      <a:lnSpc>
        <a:spcPct val="118000"/>
      </a:lnSpc>
      <a:defRPr sz="2200">
        <a:latin typeface="+mj-lt"/>
        <a:ea typeface="+mj-ea"/>
        <a:cs typeface="+mj-cs"/>
        <a:sym typeface="Helvetica Neue"/>
      </a:defRPr>
    </a:lvl4pPr>
    <a:lvl5pPr indent="914400" defTabSz="457200">
      <a:lnSpc>
        <a:spcPct val="118000"/>
      </a:lnSpc>
      <a:defRPr sz="2200">
        <a:latin typeface="+mj-lt"/>
        <a:ea typeface="+mj-ea"/>
        <a:cs typeface="+mj-cs"/>
        <a:sym typeface="Helvetica Neue"/>
      </a:defRPr>
    </a:lvl5pPr>
    <a:lvl6pPr indent="1143000" defTabSz="457200">
      <a:lnSpc>
        <a:spcPct val="118000"/>
      </a:lnSpc>
      <a:defRPr sz="2200">
        <a:latin typeface="+mj-lt"/>
        <a:ea typeface="+mj-ea"/>
        <a:cs typeface="+mj-cs"/>
        <a:sym typeface="Helvetica Neue"/>
      </a:defRPr>
    </a:lvl6pPr>
    <a:lvl7pPr indent="1371600" defTabSz="457200">
      <a:lnSpc>
        <a:spcPct val="118000"/>
      </a:lnSpc>
      <a:defRPr sz="2200">
        <a:latin typeface="+mj-lt"/>
        <a:ea typeface="+mj-ea"/>
        <a:cs typeface="+mj-cs"/>
        <a:sym typeface="Helvetica Neue"/>
      </a:defRPr>
    </a:lvl7pPr>
    <a:lvl8pPr indent="1600200" defTabSz="457200">
      <a:lnSpc>
        <a:spcPct val="118000"/>
      </a:lnSpc>
      <a:defRPr sz="2200">
        <a:latin typeface="+mj-lt"/>
        <a:ea typeface="+mj-ea"/>
        <a:cs typeface="+mj-cs"/>
        <a:sym typeface="Helvetica Neue"/>
      </a:defRPr>
    </a:lvl8pPr>
    <a:lvl9pPr indent="1828800" defTabSz="457200">
      <a:lnSpc>
        <a:spcPct val="118000"/>
      </a:lnSpc>
      <a:defRPr sz="2200">
        <a:latin typeface="+mj-lt"/>
        <a:ea typeface="+mj-ea"/>
        <a:cs typeface="+mj-cs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538" name="Rectangle 6">
            <a:extLst>
              <a:ext uri="{FF2B5EF4-FFF2-40B4-BE49-F238E27FC236}">
                <a16:creationId xmlns:a16="http://schemas.microsoft.com/office/drawing/2014/main" id="{11446F4E-955E-4D58-86C8-55FEE2FD8471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ews Gothic MT" panose="020B0504020203020204" pitchFamily="34" charset="0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ews Gothic MT" panose="020B0504020203020204" pitchFamily="34" charset="0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ews Gothic MT" panose="020B0504020203020204" pitchFamily="34" charset="0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ews Gothic MT" panose="020B0504020203020204" pitchFamily="34" charset="0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ews Gothic MT" panose="020B0504020203020204" pitchFamily="34" charset="0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ews Gothic MT" panose="020B0504020203020204" pitchFamily="34" charset="0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ews Gothic MT" panose="020B0504020203020204" pitchFamily="34" charset="0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ews Gothic MT" panose="020B0504020203020204" pitchFamily="34" charset="0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ews Gothic MT" panose="020B0504020203020204" pitchFamily="34" charset="0"/>
              </a:defRPr>
            </a:lvl9pPr>
          </a:lstStyle>
          <a:p>
            <a:fld id="{26AF6C36-A54B-422F-B490-D5EAF78D6FCF}" type="slidenum">
              <a:rPr lang="ru-RU" altLang="ru-RU">
                <a:solidFill>
                  <a:srgbClr val="000000"/>
                </a:solidFill>
                <a:latin typeface="Times New Roman" panose="02020603050405020304" pitchFamily="18" charset="0"/>
              </a:rPr>
              <a:pPr/>
              <a:t>79</a:t>
            </a:fld>
            <a:endParaRPr lang="ru-RU" altLang="ru-RU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93539" name="Rectangle 1">
            <a:extLst>
              <a:ext uri="{FF2B5EF4-FFF2-40B4-BE49-F238E27FC236}">
                <a16:creationId xmlns:a16="http://schemas.microsoft.com/office/drawing/2014/main" id="{42062FD1-4BD9-43CF-9626-9264048E6C2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3540" name="Rectangle 2">
            <a:extLst>
              <a:ext uri="{FF2B5EF4-FFF2-40B4-BE49-F238E27FC236}">
                <a16:creationId xmlns:a16="http://schemas.microsoft.com/office/drawing/2014/main" id="{0F7671CB-20BA-43CB-84DD-E344652968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ru-RU" altLang="ru-RU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61073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34" name="Rectangle 6">
            <a:extLst>
              <a:ext uri="{FF2B5EF4-FFF2-40B4-BE49-F238E27FC236}">
                <a16:creationId xmlns:a16="http://schemas.microsoft.com/office/drawing/2014/main" id="{EE520434-63BA-43C4-B851-AF3FF1585768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ews Gothic MT" panose="020B0504020203020204" pitchFamily="34" charset="0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ews Gothic MT" panose="020B0504020203020204" pitchFamily="34" charset="0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ews Gothic MT" panose="020B0504020203020204" pitchFamily="34" charset="0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ews Gothic MT" panose="020B0504020203020204" pitchFamily="34" charset="0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ews Gothic MT" panose="020B0504020203020204" pitchFamily="34" charset="0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ews Gothic MT" panose="020B0504020203020204" pitchFamily="34" charset="0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ews Gothic MT" panose="020B0504020203020204" pitchFamily="34" charset="0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ews Gothic MT" panose="020B0504020203020204" pitchFamily="34" charset="0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ews Gothic MT" panose="020B0504020203020204" pitchFamily="34" charset="0"/>
              </a:defRPr>
            </a:lvl9pPr>
          </a:lstStyle>
          <a:p>
            <a:fld id="{6701EF7E-F337-418F-851F-CAD1896F1B32}" type="slidenum">
              <a:rPr lang="ru-RU" altLang="ru-RU">
                <a:solidFill>
                  <a:srgbClr val="000000"/>
                </a:solidFill>
                <a:latin typeface="Times New Roman" panose="02020603050405020304" pitchFamily="18" charset="0"/>
              </a:rPr>
              <a:pPr/>
              <a:t>80</a:t>
            </a:fld>
            <a:endParaRPr lang="ru-RU" altLang="ru-RU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97635" name="Rectangle 1">
            <a:extLst>
              <a:ext uri="{FF2B5EF4-FFF2-40B4-BE49-F238E27FC236}">
                <a16:creationId xmlns:a16="http://schemas.microsoft.com/office/drawing/2014/main" id="{BBF0240C-7FA3-4A0A-9276-D06C4801C81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7636" name="Rectangle 2">
            <a:extLst>
              <a:ext uri="{FF2B5EF4-FFF2-40B4-BE49-F238E27FC236}">
                <a16:creationId xmlns:a16="http://schemas.microsoft.com/office/drawing/2014/main" id="{0F818919-979B-4D3F-BC40-5D77C7D6766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ru-RU" altLang="ru-RU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30" name="Rectangle 6">
            <a:extLst>
              <a:ext uri="{FF2B5EF4-FFF2-40B4-BE49-F238E27FC236}">
                <a16:creationId xmlns:a16="http://schemas.microsoft.com/office/drawing/2014/main" id="{398DF337-FAB5-41C0-A942-7499C1E38B7F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ews Gothic MT" panose="020B0504020203020204" pitchFamily="34" charset="0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ews Gothic MT" panose="020B0504020203020204" pitchFamily="34" charset="0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ews Gothic MT" panose="020B0504020203020204" pitchFamily="34" charset="0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ews Gothic MT" panose="020B0504020203020204" pitchFamily="34" charset="0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ews Gothic MT" panose="020B0504020203020204" pitchFamily="34" charset="0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ews Gothic MT" panose="020B0504020203020204" pitchFamily="34" charset="0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ews Gothic MT" panose="020B0504020203020204" pitchFamily="34" charset="0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ews Gothic MT" panose="020B0504020203020204" pitchFamily="34" charset="0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ews Gothic MT" panose="020B0504020203020204" pitchFamily="34" charset="0"/>
              </a:defRPr>
            </a:lvl9pPr>
          </a:lstStyle>
          <a:p>
            <a:fld id="{0FABC4D0-FF43-4093-B7C4-4A1BC226324C}" type="slidenum">
              <a:rPr lang="ru-RU" altLang="ru-RU">
                <a:solidFill>
                  <a:srgbClr val="000000"/>
                </a:solidFill>
                <a:latin typeface="Times New Roman" panose="02020603050405020304" pitchFamily="18" charset="0"/>
              </a:rPr>
              <a:pPr/>
              <a:t>82</a:t>
            </a:fld>
            <a:endParaRPr lang="ru-RU" altLang="ru-RU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01731" name="Rectangle 1">
            <a:extLst>
              <a:ext uri="{FF2B5EF4-FFF2-40B4-BE49-F238E27FC236}">
                <a16:creationId xmlns:a16="http://schemas.microsoft.com/office/drawing/2014/main" id="{CC651E28-537C-436E-B8FC-42690BF5870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1732" name="Rectangle 2">
            <a:extLst>
              <a:ext uri="{FF2B5EF4-FFF2-40B4-BE49-F238E27FC236}">
                <a16:creationId xmlns:a16="http://schemas.microsoft.com/office/drawing/2014/main" id="{404C5D7A-20BC-474B-BC62-71B5441F9BD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ru-RU" altLang="ru-RU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26" name="Rectangle 6">
            <a:extLst>
              <a:ext uri="{FF2B5EF4-FFF2-40B4-BE49-F238E27FC236}">
                <a16:creationId xmlns:a16="http://schemas.microsoft.com/office/drawing/2014/main" id="{02C9D67F-D7EC-457E-A754-D68FD4BB7E5D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ews Gothic MT" panose="020B0504020203020204" pitchFamily="34" charset="0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ews Gothic MT" panose="020B0504020203020204" pitchFamily="34" charset="0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ews Gothic MT" panose="020B0504020203020204" pitchFamily="34" charset="0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ews Gothic MT" panose="020B0504020203020204" pitchFamily="34" charset="0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ews Gothic MT" panose="020B0504020203020204" pitchFamily="34" charset="0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ews Gothic MT" panose="020B0504020203020204" pitchFamily="34" charset="0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ews Gothic MT" panose="020B0504020203020204" pitchFamily="34" charset="0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ews Gothic MT" panose="020B0504020203020204" pitchFamily="34" charset="0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ews Gothic MT" panose="020B0504020203020204" pitchFamily="34" charset="0"/>
              </a:defRPr>
            </a:lvl9pPr>
          </a:lstStyle>
          <a:p>
            <a:fld id="{E449BC49-A93F-4487-8AAB-680D7688B18B}" type="slidenum">
              <a:rPr lang="ru-RU" altLang="ru-RU">
                <a:solidFill>
                  <a:srgbClr val="000000"/>
                </a:solidFill>
                <a:latin typeface="Times New Roman" panose="02020603050405020304" pitchFamily="18" charset="0"/>
              </a:rPr>
              <a:pPr/>
              <a:t>83</a:t>
            </a:fld>
            <a:endParaRPr lang="ru-RU" altLang="ru-RU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05827" name="Rectangle 1">
            <a:extLst>
              <a:ext uri="{FF2B5EF4-FFF2-40B4-BE49-F238E27FC236}">
                <a16:creationId xmlns:a16="http://schemas.microsoft.com/office/drawing/2014/main" id="{3AF2673F-01F5-4361-8C5C-3AC855F8663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5828" name="Rectangle 2">
            <a:extLst>
              <a:ext uri="{FF2B5EF4-FFF2-40B4-BE49-F238E27FC236}">
                <a16:creationId xmlns:a16="http://schemas.microsoft.com/office/drawing/2014/main" id="{18529B06-C6E0-4AA4-AB31-8273E19183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ru-RU" altLang="ru-RU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bg>
      <p:bgPr>
        <a:blipFill dpi="0" rotWithShape="1">
          <a:blip r:embed="rId2">
            <a:alphaModFix amt="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E2307-1E40-4E12-8716-25BFDA8E7013}" type="datetime1">
              <a:rPr lang="en-US" smtClean="0"/>
              <a:pPr/>
              <a:t>9/23/2024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ru-RU" smtClean="0"/>
              <a:pPr lvl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740241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объект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 descr="C:\Users\v.pospelov\Desktop\лого.png">
            <a:extLst>
              <a:ext uri="{FF2B5EF4-FFF2-40B4-BE49-F238E27FC236}">
                <a16:creationId xmlns:a16="http://schemas.microsoft.com/office/drawing/2014/main" id="{3C1CC6F6-A74A-4590-925B-583BE0F013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528427"/>
            <a:ext cx="2380837" cy="6795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C:\Users\v.pospelov\Desktop\птт.png">
            <a:extLst>
              <a:ext uri="{FF2B5EF4-FFF2-40B4-BE49-F238E27FC236}">
                <a16:creationId xmlns:a16="http://schemas.microsoft.com/office/drawing/2014/main" id="{71C0F0C6-CDFB-43BB-A411-B81D4C87D8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77" y="0"/>
            <a:ext cx="9127442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3482" y="1277888"/>
            <a:ext cx="8229600" cy="1143000"/>
          </a:xfrm>
        </p:spPr>
        <p:txBody>
          <a:bodyPr>
            <a:normAutofit/>
          </a:bodyPr>
          <a:lstStyle>
            <a:lvl1pPr algn="l">
              <a:defRPr lang="ru-RU" sz="3600" kern="1200" dirty="0">
                <a:solidFill>
                  <a:schemeClr val="tx1"/>
                </a:solidFill>
                <a:latin typeface="HeliosBlack" pitchFamily="82" charset="0"/>
                <a:ea typeface="+mj-ea"/>
                <a:cs typeface="+mj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2348880"/>
            <a:ext cx="8003232" cy="377728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D110F-3F4E-48D9-B8AA-5D0E825AFDBA}" type="datetime1">
              <a:rPr lang="en-US" smtClean="0"/>
              <a:pPr/>
              <a:t>9/23/2024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ru-RU" smtClean="0"/>
              <a:pPr lvl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56787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AEBBE-F8B2-42CF-9895-E86A608384EB}" type="datetime1">
              <a:rPr lang="en-US" smtClean="0"/>
              <a:pPr/>
              <a:t>9/23/2024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ru-RU" smtClean="0"/>
              <a:pPr lvl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77280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D110F-3F4E-48D9-B8AA-5D0E825AFDBA}" type="datetime1">
              <a:rPr lang="en-US" smtClean="0"/>
              <a:pPr/>
              <a:t>9/23/2024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ru-RU" smtClean="0"/>
              <a:pPr lvl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558490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D110F-3F4E-48D9-B8AA-5D0E825AFDBA}" type="datetime1">
              <a:rPr lang="en-US" smtClean="0"/>
              <a:pPr/>
              <a:t>9/23/2024</a:t>
            </a:fld>
            <a:endParaRPr lang="en-US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ru-RU" smtClean="0"/>
              <a:pPr lvl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26247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BF60-6CC3-4B74-A60D-3486985E4346}" type="datetime1">
              <a:rPr lang="en-US" smtClean="0"/>
              <a:pPr/>
              <a:t>9/23/2024</a:t>
            </a:fld>
            <a:endParaRPr lang="en-US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ru-RU" smtClean="0"/>
              <a:pPr lvl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96464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14818-984F-4759-BF72-A33BDC1963BD}" type="datetime1">
              <a:rPr lang="en-US" smtClean="0"/>
              <a:pPr/>
              <a:t>9/23/2024</a:t>
            </a:fld>
            <a:endParaRPr lang="en-US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ru-RU" smtClean="0"/>
              <a:pPr lvl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88088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D110F-3F4E-48D9-B8AA-5D0E825AFDBA}" type="datetime1">
              <a:rPr lang="en-US" smtClean="0"/>
              <a:pPr/>
              <a:t>9/23/2024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ru-RU" smtClean="0"/>
              <a:pPr lvl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97444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56D55-EFBE-4F9B-8A5F-09D42CA22A9B}" type="datetime1">
              <a:rPr lang="en-US" smtClean="0"/>
              <a:pPr/>
              <a:t>9/23/2024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ru-RU" smtClean="0"/>
              <a:pPr lvl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391702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D110F-3F4E-48D9-B8AA-5D0E825AFDBA}" type="datetime1">
              <a:rPr lang="en-US" smtClean="0"/>
              <a:pPr/>
              <a:t>9/23/2024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ru-RU" smtClean="0"/>
              <a:pPr lvl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88938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D110F-3F4E-48D9-B8AA-5D0E825AFDBA}" type="datetime1">
              <a:rPr lang="en-US" smtClean="0"/>
              <a:pPr/>
              <a:t>9/23/2024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ru-RU" smtClean="0"/>
              <a:pPr lvl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376180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330" y="2367093"/>
            <a:ext cx="7772870" cy="342410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D110F-3F4E-48D9-B8AA-5D0E825AFDBA}" type="datetime1">
              <a:rPr lang="en-US" smtClean="0"/>
              <a:pPr/>
              <a:t>9/23/2024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ru-RU" smtClean="0"/>
              <a:pPr lvl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57773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D110F-3F4E-48D9-B8AA-5D0E825AFDBA}" type="datetime1">
              <a:rPr lang="en-US" smtClean="0"/>
              <a:pPr/>
              <a:t>9/23/2024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ru-RU" smtClean="0"/>
              <a:pPr lvl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26105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7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fld id="{86CB4B4D-7CA3-9044-876B-883B54F8677D}" type="slidenum">
              <a:rPr/>
              <a:pPr lvl="0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11902181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6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1D110F-3F4E-48D9-B8AA-5D0E825AFDBA}" type="datetime1">
              <a:rPr lang="en-US" smtClean="0"/>
              <a:pPr/>
              <a:t>9/23/2024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/>
            <a:fld id="{86CB4B4D-7CA3-9044-876B-883B54F8677D}" type="slidenum">
              <a:rPr lang="ru-RU" smtClean="0"/>
              <a:pPr lvl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0900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6" r:id="rId1"/>
    <p:sldLayoutId id="2147483897" r:id="rId2"/>
    <p:sldLayoutId id="2147483898" r:id="rId3"/>
    <p:sldLayoutId id="2147483899" r:id="rId4"/>
    <p:sldLayoutId id="2147483900" r:id="rId5"/>
    <p:sldLayoutId id="2147483901" r:id="rId6"/>
    <p:sldLayoutId id="2147483902" r:id="rId7"/>
    <p:sldLayoutId id="2147483903" r:id="rId8"/>
    <p:sldLayoutId id="2147483904" r:id="rId9"/>
    <p:sldLayoutId id="2147483905" r:id="rId10"/>
    <p:sldLayoutId id="2147483906" r:id="rId11"/>
    <p:sldLayoutId id="2147483907" r:id="rId12"/>
    <p:sldLayoutId id="2147483908" r:id="rId13"/>
    <p:sldLayoutId id="2147483910" r:id="rId14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ru.wikipedia.org/wiki/%D0%A4%D0%B8%D0%B7%D0%B8%D0%BE%D0%BB%D0%BE%D0%B3%D0%B8%D1%8F_%D0%B2%D1%8B%D1%81%D1%88%D0%B5%D0%B9_%D0%BD%D0%B5%D1%80%D0%B2%D0%BD%D0%BE%D0%B9_%D0%B4%D0%B5%D1%8F%D1%82%D0%B5%D0%BB%D1%8C%D0%BD%D0%BE%D1%81%D1%82%D0%B8" TargetMode="External"/><Relationship Id="rId7" Type="http://schemas.openxmlformats.org/officeDocument/2006/relationships/image" Target="../media/image7.jpeg"/><Relationship Id="rId2" Type="http://schemas.openxmlformats.org/officeDocument/2006/relationships/hyperlink" Target="https://ru.wikipedia.org/wiki/%D0%A4%D0%B8%D0%B7%D0%B8%D0%BE%D0%BB%D0%BE%D0%B3%D0%B8%D1%8F" TargetMode="External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ru.wikipedia.org/wiki/1904_%D0%B3%D0%BE%D0%B4" TargetMode="External"/><Relationship Id="rId5" Type="http://schemas.openxmlformats.org/officeDocument/2006/relationships/hyperlink" Target="https://ru.wikipedia.org/wiki/%D0%A1%D0%BF%D0%B8%D1%81%D0%BE%D0%BA_%D0%BB%D0%B0%D1%83%D1%80%D0%B5%D0%B0%D1%82%D0%BE%D0%B2_%D0%9D%D0%BE%D0%B1%D0%B5%D0%BB%D0%B5%D0%B2%D1%81%D0%BA%D0%BE%D0%B9_%D0%BF%D1%80%D0%B5%D0%BC%D0%B8%D0%B8_%D0%BF%D0%BE_%D1%84%D0%B8%D0%B7%D0%B8%D0%BE%D0%BB%D0%BE%D0%B3%D0%B8%D0%B8_%D0%B8%D0%BB%D0%B8_%D0%BC%D0%B5%D0%B4%D0%B8%D1%86%D0%B8%D0%BD%D0%B5" TargetMode="External"/><Relationship Id="rId4" Type="http://schemas.openxmlformats.org/officeDocument/2006/relationships/hyperlink" Target="https://ru.wikipedia.org/wiki/%D0%A0%D0%B5%D1%84%D0%BB%D0%B5%D0%BA%D1%82%D0%BE%D1%80%D0%BD%D0%B0%D1%8F_%D0%B4%D1%83%D0%B3%D0%B0" TargetMode="Externa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psytests.org/" TargetMode="External"/><Relationship Id="rId2" Type="http://schemas.openxmlformats.org/officeDocument/2006/relationships/hyperlink" Target="https://testometrika.com/for-children/test-the-temperament-of-the-child/" TargetMode="Externa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hyperlink" Target="https://ru.wikipedia.org/wiki/%D0%96%D0%B5%D0%BD%D1%89%D0%B8%D0%BD%D0%B0" TargetMode="External"/><Relationship Id="rId13" Type="http://schemas.openxmlformats.org/officeDocument/2006/relationships/hyperlink" Target="https://ru.wikipedia.org/wiki/%D0%9F%D1%80%D0%BE%D0%B3%D0%B5%D1%81%D1%82%D0%B8%D0%BD%D1%8B" TargetMode="External"/><Relationship Id="rId18" Type="http://schemas.openxmlformats.org/officeDocument/2006/relationships/hyperlink" Target="https://ru.wikipedia.org/wiki/%D0%9C%D0%B0%D1%82%D0%BA%D0%B0_%D0%B6%D0%B5%D0%BD%D1%89%D0%B8%D0%BD%D1%8B" TargetMode="External"/><Relationship Id="rId26" Type="http://schemas.openxmlformats.org/officeDocument/2006/relationships/hyperlink" Target="https://ru.wikipedia.org/wiki/%D0%93%D0%BE%D0%BB%D0%BE%D1%81" TargetMode="External"/><Relationship Id="rId3" Type="http://schemas.openxmlformats.org/officeDocument/2006/relationships/hyperlink" Target="https://ru.wikipedia.org/wiki/%D0%A4%D0%B8%D0%B7%D0%B8%D0%BE%D0%BB%D0%BE%D0%B3%D0%B8%D1%8F" TargetMode="External"/><Relationship Id="rId21" Type="http://schemas.openxmlformats.org/officeDocument/2006/relationships/hyperlink" Target="https://ru.wikipedia.org/wiki/%D0%9F%D0%BE%D0%BB%D0%BE%D0%B2%D0%BE%D0%B9_%D1%87%D0%BB%D0%B5%D0%BD_%D1%87%D0%B5%D0%BB%D0%BE%D0%B2%D0%B5%D0%BA%D0%B0" TargetMode="External"/><Relationship Id="rId7" Type="http://schemas.openxmlformats.org/officeDocument/2006/relationships/hyperlink" Target="https://ru.wikipedia.org/wiki/%D0%9C%D1%83%D0%B6%D1%87%D0%B8%D0%BD%D0%B0" TargetMode="External"/><Relationship Id="rId12" Type="http://schemas.openxmlformats.org/officeDocument/2006/relationships/hyperlink" Target="https://ru.wikipedia.org/wiki/%D0%AD%D1%81%D1%82%D1%80%D0%BE%D0%B3%D0%B5%D0%BD%D1%8B" TargetMode="External"/><Relationship Id="rId17" Type="http://schemas.openxmlformats.org/officeDocument/2006/relationships/hyperlink" Target="https://ru.wikipedia.org/wiki/%D0%A1%D0%B5%D0%BC%D0%B5%D0%BD%D0%BD%D1%8B%D0%B5_%D0%BF%D1%83%D0%B7%D1%8B%D1%80%D1%8C%D0%BA%D0%B8" TargetMode="External"/><Relationship Id="rId25" Type="http://schemas.openxmlformats.org/officeDocument/2006/relationships/hyperlink" Target="https://ru.wikipedia.org/wiki/%D0%A1%D0%BA%D0%B5%D0%BB%D0%B5%D1%82" TargetMode="External"/><Relationship Id="rId2" Type="http://schemas.openxmlformats.org/officeDocument/2006/relationships/hyperlink" Target="https://ru.wikipedia.org/wiki/%D0%90%D0%BD%D0%B0%D1%82%D0%BE%D0%BC%D0%B8%D1%8F" TargetMode="External"/><Relationship Id="rId16" Type="http://schemas.openxmlformats.org/officeDocument/2006/relationships/hyperlink" Target="https://ru.wikipedia.org/wiki/%D0%9F%D1%80%D0%B5%D0%B4%D1%81%D1%82%D0%B0%D1%82%D0%B5%D0%BB%D1%8C%D0%BD%D0%B0%D1%8F_%D0%B6%D0%B5%D0%BB%D0%B5%D0%B7%D0%B0" TargetMode="External"/><Relationship Id="rId20" Type="http://schemas.openxmlformats.org/officeDocument/2006/relationships/hyperlink" Target="https://ru.wikipedia.org/wiki/%D0%92%D0%BB%D0%B0%D0%B3%D0%B0%D0%BB%D0%B8%D1%89%D0%B5_(%D0%BF%D0%BE%D0%BB%D0%BE%D0%B2%D0%BE%D0%B9_%D0%BE%D1%80%D0%B3%D0%B0%D0%BD)" TargetMode="External"/><Relationship Id="rId1" Type="http://schemas.openxmlformats.org/officeDocument/2006/relationships/slideLayout" Target="../slideLayouts/slideLayout13.xml"/><Relationship Id="rId6" Type="http://schemas.openxmlformats.org/officeDocument/2006/relationships/hyperlink" Target="https://ru.wikipedia.org/wiki/%D0%9E%D1%80%D0%B3%D0%B0%D0%BD%D0%B8%D0%B7%D0%BC" TargetMode="External"/><Relationship Id="rId11" Type="http://schemas.openxmlformats.org/officeDocument/2006/relationships/hyperlink" Target="https://ru.wikipedia.org/wiki/%D0%90%D0%BD%D0%B4%D1%80%D0%BE%D0%B3%D0%B5%D0%BD%D1%8B" TargetMode="External"/><Relationship Id="rId24" Type="http://schemas.openxmlformats.org/officeDocument/2006/relationships/hyperlink" Target="https://ru.wikipedia.org/wiki/%D0%9F%D0%BE%D0%BB%D0%BE%D0%B2%D1%8B%D0%B5_%D0%B3%D1%83%D0%B1%D1%8B" TargetMode="External"/><Relationship Id="rId5" Type="http://schemas.openxmlformats.org/officeDocument/2006/relationships/hyperlink" Target="https://ru.wikipedia.org/wiki/%D0%93%D0%B5%D0%BD%D0%B5%D1%82%D0%B8%D0%BA%D0%B0" TargetMode="External"/><Relationship Id="rId15" Type="http://schemas.openxmlformats.org/officeDocument/2006/relationships/hyperlink" Target="https://ru.wikipedia.org/wiki/%D0%AF%D0%B8%D1%87%D0%BD%D0%B8%D0%BA%D0%B8" TargetMode="External"/><Relationship Id="rId23" Type="http://schemas.openxmlformats.org/officeDocument/2006/relationships/hyperlink" Target="https://ru.wikipedia.org/wiki/%D0%9A%D0%BB%D0%B8%D1%82%D0%BE%D1%80" TargetMode="External"/><Relationship Id="rId28" Type="http://schemas.openxmlformats.org/officeDocument/2006/relationships/hyperlink" Target="https://ru.wikipedia.org/wiki/%D0%A4%D0%B5%D1%80%D0%BE%D0%BC%D0%BE%D0%BD%D1%8B" TargetMode="External"/><Relationship Id="rId10" Type="http://schemas.openxmlformats.org/officeDocument/2006/relationships/hyperlink" Target="https://ru.wikipedia.org/wiki/%D0%9A%D1%80%D0%BE%D0%B2%D1%8C" TargetMode="External"/><Relationship Id="rId19" Type="http://schemas.openxmlformats.org/officeDocument/2006/relationships/hyperlink" Target="https://ru.wikipedia.org/wiki/%D0%A4%D0%B0%D0%BB%D0%BB%D0%BE%D0%BF%D0%B8%D0%B5%D0%B2%D1%8B_%D1%82%D1%80%D1%83%D0%B1%D1%8B" TargetMode="External"/><Relationship Id="rId4" Type="http://schemas.openxmlformats.org/officeDocument/2006/relationships/hyperlink" Target="https://ru.wikipedia.org/wiki/%D0%91%D0%B8%D0%BE%D1%85%D0%B8%D0%BC%D0%B8%D1%8F" TargetMode="External"/><Relationship Id="rId9" Type="http://schemas.openxmlformats.org/officeDocument/2006/relationships/hyperlink" Target="https://ru.wikipedia.org/wiki/%D0%A5%D1%80%D0%BE%D0%BC%D0%BE%D1%81%D0%BE%D0%BC%D0%B0" TargetMode="External"/><Relationship Id="rId14" Type="http://schemas.openxmlformats.org/officeDocument/2006/relationships/hyperlink" Target="https://ru.wikipedia.org/wiki/%D0%AF%D0%B8%D1%87%D0%BA%D0%B8" TargetMode="External"/><Relationship Id="rId22" Type="http://schemas.openxmlformats.org/officeDocument/2006/relationships/hyperlink" Target="https://ru.wikipedia.org/wiki/%D0%9C%D0%BE%D1%88%D0%BE%D0%BD%D0%BA%D0%B0" TargetMode="External"/><Relationship Id="rId27" Type="http://schemas.openxmlformats.org/officeDocument/2006/relationships/hyperlink" Target="https://ru.wikipedia.org/wiki/%D0%9C%D0%BE%D0%BB%D0%BE%D1%87%D0%BD%D0%B0%D1%8F_%D0%B6%D0%B5%D0%BB%D0%B5%D0%B7%D0%B0" TargetMode="Externa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0.png"/><Relationship Id="rId13" Type="http://schemas.openxmlformats.org/officeDocument/2006/relationships/customXml" Target="../ink/ink7.xml"/><Relationship Id="rId18" Type="http://schemas.openxmlformats.org/officeDocument/2006/relationships/image" Target="../media/image30.png"/><Relationship Id="rId26" Type="http://schemas.openxmlformats.org/officeDocument/2006/relationships/image" Target="../media/image34.png"/><Relationship Id="rId3" Type="http://schemas.openxmlformats.org/officeDocument/2006/relationships/customXml" Target="../ink/ink2.xml"/><Relationship Id="rId21" Type="http://schemas.openxmlformats.org/officeDocument/2006/relationships/customXml" Target="../ink/ink11.xml"/><Relationship Id="rId7" Type="http://schemas.openxmlformats.org/officeDocument/2006/relationships/customXml" Target="../ink/ink4.xml"/><Relationship Id="rId12" Type="http://schemas.openxmlformats.org/officeDocument/2006/relationships/image" Target="../media/image27.png"/><Relationship Id="rId17" Type="http://schemas.openxmlformats.org/officeDocument/2006/relationships/customXml" Target="../ink/ink9.xml"/><Relationship Id="rId25" Type="http://schemas.openxmlformats.org/officeDocument/2006/relationships/customXml" Target="../ink/ink13.xml"/><Relationship Id="rId2" Type="http://schemas.openxmlformats.org/officeDocument/2006/relationships/image" Target="../media/image25.png"/><Relationship Id="rId16" Type="http://schemas.openxmlformats.org/officeDocument/2006/relationships/image" Target="../media/image29.png"/><Relationship Id="rId20" Type="http://schemas.openxmlformats.org/officeDocument/2006/relationships/image" Target="../media/image31.png"/><Relationship Id="rId29" Type="http://schemas.openxmlformats.org/officeDocument/2006/relationships/customXml" Target="../ink/ink1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11" Type="http://schemas.openxmlformats.org/officeDocument/2006/relationships/customXml" Target="../ink/ink6.xml"/><Relationship Id="rId24" Type="http://schemas.openxmlformats.org/officeDocument/2006/relationships/image" Target="../media/image33.png"/><Relationship Id="rId5" Type="http://schemas.openxmlformats.org/officeDocument/2006/relationships/customXml" Target="../ink/ink3.xml"/><Relationship Id="rId15" Type="http://schemas.openxmlformats.org/officeDocument/2006/relationships/customXml" Target="../ink/ink8.xml"/><Relationship Id="rId23" Type="http://schemas.openxmlformats.org/officeDocument/2006/relationships/customXml" Target="../ink/ink12.xml"/><Relationship Id="rId28" Type="http://schemas.openxmlformats.org/officeDocument/2006/relationships/image" Target="../media/image35.png"/><Relationship Id="rId10" Type="http://schemas.openxmlformats.org/officeDocument/2006/relationships/image" Target="../media/image26.png"/><Relationship Id="rId19" Type="http://schemas.openxmlformats.org/officeDocument/2006/relationships/customXml" Target="../ink/ink10.xml"/><Relationship Id="rId4" Type="http://schemas.openxmlformats.org/officeDocument/2006/relationships/image" Target="../media/image23.png"/><Relationship Id="rId9" Type="http://schemas.openxmlformats.org/officeDocument/2006/relationships/customXml" Target="../ink/ink5.xml"/><Relationship Id="rId14" Type="http://schemas.openxmlformats.org/officeDocument/2006/relationships/image" Target="../media/image28.png"/><Relationship Id="rId22" Type="http://schemas.openxmlformats.org/officeDocument/2006/relationships/image" Target="../media/image32.png"/><Relationship Id="rId27" Type="http://schemas.openxmlformats.org/officeDocument/2006/relationships/customXml" Target="../ink/ink14.xml"/><Relationship Id="rId30" Type="http://schemas.openxmlformats.org/officeDocument/2006/relationships/image" Target="../media/image36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1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1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12.xml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customXml" Target="../ink/ink19.xml"/><Relationship Id="rId13" Type="http://schemas.openxmlformats.org/officeDocument/2006/relationships/image" Target="../media/image46.png"/><Relationship Id="rId18" Type="http://schemas.openxmlformats.org/officeDocument/2006/relationships/image" Target="../media/image40.png"/><Relationship Id="rId3" Type="http://schemas.openxmlformats.org/officeDocument/2006/relationships/image" Target="../media/image41.png"/><Relationship Id="rId21" Type="http://schemas.openxmlformats.org/officeDocument/2006/relationships/customXml" Target="../ink/ink28.xml"/><Relationship Id="rId7" Type="http://schemas.openxmlformats.org/officeDocument/2006/relationships/image" Target="../media/image43.png"/><Relationship Id="rId12" Type="http://schemas.openxmlformats.org/officeDocument/2006/relationships/customXml" Target="../ink/ink21.xml"/><Relationship Id="rId17" Type="http://schemas.openxmlformats.org/officeDocument/2006/relationships/customXml" Target="../ink/ink25.xml"/><Relationship Id="rId2" Type="http://schemas.openxmlformats.org/officeDocument/2006/relationships/customXml" Target="../ink/ink16.xml"/><Relationship Id="rId16" Type="http://schemas.openxmlformats.org/officeDocument/2006/relationships/customXml" Target="../ink/ink24.xml"/><Relationship Id="rId20" Type="http://schemas.openxmlformats.org/officeDocument/2006/relationships/customXml" Target="../ink/ink27.xml"/><Relationship Id="rId1" Type="http://schemas.openxmlformats.org/officeDocument/2006/relationships/slideLayout" Target="../slideLayouts/slideLayout6.xml"/><Relationship Id="rId6" Type="http://schemas.openxmlformats.org/officeDocument/2006/relationships/customXml" Target="../ink/ink18.xml"/><Relationship Id="rId11" Type="http://schemas.openxmlformats.org/officeDocument/2006/relationships/image" Target="../media/image45.png"/><Relationship Id="rId5" Type="http://schemas.openxmlformats.org/officeDocument/2006/relationships/image" Target="../media/image42.png"/><Relationship Id="rId15" Type="http://schemas.openxmlformats.org/officeDocument/2006/relationships/customXml" Target="../ink/ink23.xml"/><Relationship Id="rId10" Type="http://schemas.openxmlformats.org/officeDocument/2006/relationships/customXml" Target="../ink/ink20.xml"/><Relationship Id="rId19" Type="http://schemas.openxmlformats.org/officeDocument/2006/relationships/customXml" Target="../ink/ink26.xml"/><Relationship Id="rId4" Type="http://schemas.openxmlformats.org/officeDocument/2006/relationships/customXml" Target="../ink/ink17.xml"/><Relationship Id="rId9" Type="http://schemas.openxmlformats.org/officeDocument/2006/relationships/image" Target="../media/image44.png"/><Relationship Id="rId14" Type="http://schemas.openxmlformats.org/officeDocument/2006/relationships/customXml" Target="../ink/ink2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1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4.xml"/><Relationship Id="rId3" Type="http://schemas.openxmlformats.org/officeDocument/2006/relationships/diagramLayout" Target="../diagrams/layout3.xml"/><Relationship Id="rId7" Type="http://schemas.openxmlformats.org/officeDocument/2006/relationships/diagramData" Target="../diagrams/data4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.xml"/><Relationship Id="rId11" Type="http://schemas.microsoft.com/office/2007/relationships/diagramDrawing" Target="../diagrams/drawing4.xml"/><Relationship Id="rId5" Type="http://schemas.openxmlformats.org/officeDocument/2006/relationships/diagramColors" Target="../diagrams/colors3.xml"/><Relationship Id="rId10" Type="http://schemas.openxmlformats.org/officeDocument/2006/relationships/diagramColors" Target="../diagrams/colors4.xml"/><Relationship Id="rId4" Type="http://schemas.openxmlformats.org/officeDocument/2006/relationships/diagramQuickStyle" Target="../diagrams/quickStyle3.xml"/><Relationship Id="rId9" Type="http://schemas.openxmlformats.org/officeDocument/2006/relationships/diagramQuickStyle" Target="../diagrams/quickStyle4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4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1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1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3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3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3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jpeg"/><Relationship Id="rId1" Type="http://schemas.openxmlformats.org/officeDocument/2006/relationships/slideLayout" Target="../slideLayouts/slideLayout7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jpeg"/><Relationship Id="rId2" Type="http://schemas.openxmlformats.org/officeDocument/2006/relationships/image" Target="../media/image53.jpeg"/><Relationship Id="rId1" Type="http://schemas.openxmlformats.org/officeDocument/2006/relationships/slideLayout" Target="../slideLayouts/slideLayout7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jpe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381747-74CD-4A75-B313-6DE3E4D2AD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13484"/>
            <a:ext cx="8229600" cy="1143000"/>
          </a:xfrm>
        </p:spPr>
        <p:txBody>
          <a:bodyPr>
            <a:noAutofit/>
          </a:bodyPr>
          <a:lstStyle/>
          <a:p>
            <a:pPr algn="ctr"/>
            <a:r>
              <a:rPr lang="ru-RU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«Гендерная психология. Коучинг отношений»</a:t>
            </a:r>
            <a:endParaRPr lang="ru-RU" sz="4000" dirty="0">
              <a:solidFill>
                <a:srgbClr val="FF0000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78CF61F-85A9-49F9-93B8-0160A6AE9C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3284984"/>
            <a:ext cx="8003232" cy="2841179"/>
          </a:xfr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128187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8314E49A-4327-4C24-A5B8-DBE1A550BC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3888" y="160337"/>
            <a:ext cx="4985177" cy="1143000"/>
          </a:xfrm>
        </p:spPr>
        <p:txBody>
          <a:bodyPr>
            <a:normAutofit/>
          </a:bodyPr>
          <a:lstStyle/>
          <a:p>
            <a:r>
              <a:rPr lang="ru-RU" sz="3200" b="1" dirty="0"/>
              <a:t>Пономарева Наталия Владимировна</a:t>
            </a:r>
            <a:endParaRPr lang="ru-RU" sz="3200" dirty="0"/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078FEB55-2CCE-4F34-ACFA-B70A6C60D0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84784"/>
            <a:ext cx="8003232" cy="4641379"/>
          </a:xfrm>
        </p:spPr>
        <p:txBody>
          <a:bodyPr>
            <a:normAutofit fontScale="77500" lnSpcReduction="20000"/>
          </a:bodyPr>
          <a:lstStyle/>
          <a:p>
            <a:r>
              <a:rPr lang="ru-RU" dirty="0"/>
              <a:t>Клинический психолог, консультант по семейным вопросам, </a:t>
            </a:r>
            <a:r>
              <a:rPr lang="en-US" dirty="0"/>
              <a:t>ECA </a:t>
            </a:r>
            <a:r>
              <a:rPr lang="en-US" dirty="0" err="1"/>
              <a:t>Inctructor</a:t>
            </a:r>
            <a:r>
              <a:rPr lang="en-US" dirty="0"/>
              <a:t>\trainer</a:t>
            </a:r>
            <a:r>
              <a:rPr lang="ru-RU" dirty="0"/>
              <a:t>, Мастер тренер </a:t>
            </a:r>
            <a:r>
              <a:rPr lang="en-US" dirty="0"/>
              <a:t>International Association of Coaching Institutes</a:t>
            </a:r>
            <a:r>
              <a:rPr lang="ru-RU" dirty="0"/>
              <a:t> (</a:t>
            </a:r>
            <a:r>
              <a:rPr lang="en-US" dirty="0"/>
              <a:t>ICI</a:t>
            </a:r>
            <a:r>
              <a:rPr lang="ru-RU" dirty="0"/>
              <a:t>), </a:t>
            </a:r>
            <a:r>
              <a:rPr lang="en-US" dirty="0"/>
              <a:t>Professional</a:t>
            </a:r>
            <a:r>
              <a:rPr lang="ru-RU" dirty="0"/>
              <a:t> </a:t>
            </a:r>
            <a:r>
              <a:rPr lang="en-US" dirty="0"/>
              <a:t>coach ICU</a:t>
            </a:r>
            <a:r>
              <a:rPr lang="ru-RU" dirty="0"/>
              <a:t>. </a:t>
            </a:r>
          </a:p>
          <a:p>
            <a:r>
              <a:rPr lang="ru-RU" dirty="0"/>
              <a:t>Несколько лет работала научным сотрудником НИИ Высшей нервной деятельности и нейрофизиологии Российской Академии наук, соискатель. </a:t>
            </a:r>
          </a:p>
          <a:p>
            <a:r>
              <a:rPr lang="ru-RU" dirty="0"/>
              <a:t>Автор и ведущая семинаров и тренингов для педагогов и воспитателей негосударственных детских домов. </a:t>
            </a:r>
          </a:p>
          <a:p>
            <a:r>
              <a:rPr lang="ru-RU" dirty="0"/>
              <a:t>Автор программ духовно-психологической коррекции, разработанных для психологических  лабораторий ФСИН. </a:t>
            </a:r>
          </a:p>
          <a:p>
            <a:r>
              <a:rPr lang="ru-RU" dirty="0"/>
              <a:t>Ведущая семинаров по вопросам </a:t>
            </a:r>
            <a:r>
              <a:rPr lang="ru-RU" dirty="0" err="1"/>
              <a:t>командообразования</a:t>
            </a:r>
            <a:r>
              <a:rPr lang="ru-RU" dirty="0"/>
              <a:t> и создания социальных проектов. </a:t>
            </a:r>
          </a:p>
          <a:p>
            <a:r>
              <a:rPr lang="ru-RU" dirty="0"/>
              <a:t>Автор и руководитель федеральных и региональных добровольческих проектов (номинант международного грантового конкурса фонда «</a:t>
            </a:r>
            <a:r>
              <a:rPr lang="ru-RU" dirty="0" err="1"/>
              <a:t>Соработничество</a:t>
            </a:r>
            <a:r>
              <a:rPr lang="ru-RU" dirty="0"/>
              <a:t>»).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293303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Текст 2"/>
          <p:cNvSpPr>
            <a:spLocks noGrp="1"/>
          </p:cNvSpPr>
          <p:nvPr>
            <p:ph type="body" idx="1"/>
          </p:nvPr>
        </p:nvSpPr>
        <p:spPr>
          <a:xfrm>
            <a:off x="395536" y="404664"/>
            <a:ext cx="7344816" cy="5328592"/>
          </a:xfrm>
        </p:spPr>
        <p:txBody>
          <a:bodyPr>
            <a:normAutofit lnSpcReduction="10000"/>
          </a:bodyPr>
          <a:lstStyle/>
          <a:p>
            <a:pPr algn="l"/>
            <a:r>
              <a:rPr lang="ru-RU" sz="2100" b="1" dirty="0">
                <a:solidFill>
                  <a:schemeClr val="tx1"/>
                </a:solidFill>
                <a:latin typeface="Times New Roman" panose="02020603050405020304" pitchFamily="18" charset="0"/>
                <a:ea typeface="Verdana" pitchFamily="34" charset="0"/>
                <a:cs typeface="Times New Roman" panose="02020603050405020304" pitchFamily="18" charset="0"/>
                <a:sym typeface="Verdana"/>
              </a:rPr>
              <a:t>Организация работы на тренинге</a:t>
            </a:r>
            <a:br>
              <a:rPr lang="en-US" sz="21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Verdana" pitchFamily="34" charset="0"/>
                <a:cs typeface="Times New Roman" panose="02020603050405020304" pitchFamily="18" charset="0"/>
                <a:sym typeface="Verdana"/>
              </a:rPr>
            </a:br>
            <a:endParaRPr lang="ru-RU" sz="21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Verdana" pitchFamily="34" charset="0"/>
              <a:cs typeface="Times New Roman" panose="02020603050405020304" pitchFamily="18" charset="0"/>
              <a:sym typeface="Verdana"/>
            </a:endParaRPr>
          </a:p>
          <a:p>
            <a:pPr marL="342900" indent="-342900" algn="l">
              <a:buFont typeface="Arial"/>
              <a:buChar char="•"/>
            </a:pPr>
            <a:r>
              <a:rPr lang="ru-RU" sz="21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Необходимо держать телефоны выключенными или в </a:t>
            </a:r>
            <a:r>
              <a:rPr lang="ru-RU" sz="210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виброрежиме</a:t>
            </a:r>
            <a:r>
              <a:rPr lang="ru-RU" sz="21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  (если надо поговорить, можно тихонько выйти)</a:t>
            </a:r>
          </a:p>
          <a:p>
            <a:pPr marL="342900" indent="-342900" algn="l">
              <a:buFont typeface="Arial"/>
              <a:buChar char="•"/>
            </a:pPr>
            <a:r>
              <a:rPr lang="ru-RU" sz="21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Вопросы задаются по поднятой руке во время отведенное для вопросов</a:t>
            </a:r>
          </a:p>
          <a:p>
            <a:pPr marL="342900" indent="-342900" algn="l">
              <a:buFont typeface="Arial"/>
              <a:buChar char="•"/>
            </a:pPr>
            <a:r>
              <a:rPr lang="ru-RU" sz="21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Видеосъёмка проводится организаторами</a:t>
            </a:r>
          </a:p>
          <a:p>
            <a:pPr marL="342900" indent="-342900" algn="l">
              <a:buFont typeface="Arial"/>
              <a:buChar char="•"/>
            </a:pPr>
            <a:r>
              <a:rPr lang="ru-RU" sz="21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Пространство программы не используется для привлечения людей в системы МЛМ и приносящие вам деньги</a:t>
            </a:r>
          </a:p>
          <a:p>
            <a:pPr marL="342900" indent="-342900" algn="l">
              <a:buFont typeface="Arial"/>
              <a:buChar char="•"/>
            </a:pPr>
            <a:r>
              <a:rPr lang="ru-RU" sz="21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До завершения программы вы не позиционируете себя как профессиональный коуч</a:t>
            </a:r>
          </a:p>
          <a:p>
            <a:pPr marL="342900" indent="-342900" algn="l">
              <a:buFont typeface="Arial"/>
              <a:buChar char="•"/>
            </a:pPr>
            <a:r>
              <a:rPr lang="ru-RU" sz="21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Вы можете делать всё, что посчитаете нужным</a:t>
            </a:r>
            <a:r>
              <a:rPr lang="ru-RU" sz="21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Wingdings"/>
              </a:rPr>
              <a:t> </a:t>
            </a:r>
            <a:r>
              <a:rPr lang="ru-RU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Wingdings" pitchFamily="2" charset="2"/>
              </a:rPr>
              <a:t></a:t>
            </a:r>
            <a:endParaRPr lang="ru-RU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395733DF-FE59-4E16-9A38-239A1C5CF9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Знакомство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D66DC048-A95F-413C-9C27-6A7F0780EFA6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ru-RU" dirty="0"/>
              <a:t>Расскажите немного о себе:</a:t>
            </a:r>
          </a:p>
          <a:p>
            <a:r>
              <a:rPr lang="ru-RU" dirty="0"/>
              <a:t> образование, </a:t>
            </a:r>
          </a:p>
          <a:p>
            <a:r>
              <a:rPr lang="ru-RU" dirty="0"/>
              <a:t>цель посещения курса</a:t>
            </a:r>
            <a:r>
              <a:rPr lang="ru-RU"/>
              <a:t>, </a:t>
            </a:r>
          </a:p>
          <a:p>
            <a:r>
              <a:rPr lang="ru-RU"/>
              <a:t>самый </a:t>
            </a:r>
            <a:r>
              <a:rPr lang="ru-RU" dirty="0"/>
              <a:t>важный вопрос по МЖ теме.</a:t>
            </a:r>
          </a:p>
        </p:txBody>
      </p:sp>
    </p:spTree>
    <p:extLst>
      <p:ext uri="{BB962C8B-B14F-4D97-AF65-F5344CB8AC3E}">
        <p14:creationId xmlns:p14="http://schemas.microsoft.com/office/powerpoint/2010/main" val="3331261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Shape 141"/>
          <p:cNvSpPr>
            <a:spLocks noGrp="1"/>
          </p:cNvSpPr>
          <p:nvPr>
            <p:ph type="title"/>
          </p:nvPr>
        </p:nvSpPr>
        <p:spPr>
          <a:xfrm>
            <a:off x="549275" y="107575"/>
            <a:ext cx="5894933" cy="875799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>
                <a:latin typeface="Verdana"/>
                <a:ea typeface="Verdana"/>
                <a:cs typeface="Verdana"/>
                <a:sym typeface="Verdana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800" b="1" dirty="0" err="1"/>
              <a:t>Круг</a:t>
            </a:r>
            <a:r>
              <a:rPr sz="2800" b="1" dirty="0"/>
              <a:t> в </a:t>
            </a:r>
            <a:r>
              <a:rPr sz="2800" b="1" dirty="0" err="1"/>
              <a:t>обучении</a:t>
            </a:r>
            <a:endParaRPr sz="2800" b="1" dirty="0"/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>
          <a:xfrm>
            <a:off x="7897906" y="6139460"/>
            <a:ext cx="990601" cy="637541"/>
          </a:xfrm>
          <a:prstGeom prst="rect">
            <a:avLst/>
          </a:prstGeom>
        </p:spPr>
        <p:txBody>
          <a:bodyPr/>
          <a:lstStyle/>
          <a:p>
            <a:pPr lvl="0"/>
            <a:fld id="{86CB4B4D-7CA3-9044-876B-883B54F8677D}" type="slidenum">
              <a:rPr lang="ru-RU" smtClean="0"/>
              <a:pPr lvl="0"/>
              <a:t>5</a:t>
            </a:fld>
            <a:endParaRPr lang="ru-RU"/>
          </a:p>
        </p:txBody>
      </p:sp>
      <p:pic>
        <p:nvPicPr>
          <p:cNvPr id="142" name="image11.jpg" descr="circleeduc.jpg"/>
          <p:cNvPicPr/>
          <p:nvPr/>
        </p:nvPicPr>
        <p:blipFill>
          <a:blip r:embed="rId2"/>
          <a:srcRect t="1"/>
          <a:stretch>
            <a:fillRect/>
          </a:stretch>
        </p:blipFill>
        <p:spPr>
          <a:xfrm>
            <a:off x="549275" y="953593"/>
            <a:ext cx="5686101" cy="4950813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Ovr>
    <a:masterClrMapping/>
  </p:clrMapOvr>
  <p:transition spd="slow">
    <p:cove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699720" y="371480"/>
            <a:ext cx="6512511" cy="1143000"/>
          </a:xfrm>
        </p:spPr>
        <p:txBody>
          <a:bodyPr/>
          <a:lstStyle/>
          <a:p>
            <a:r>
              <a:rPr lang="ru-RU" sz="3200" b="1" dirty="0"/>
              <a:t>Концентрация внимания на различиях</a:t>
            </a:r>
          </a:p>
        </p:txBody>
      </p:sp>
      <p:sp>
        <p:nvSpPr>
          <p:cNvPr id="5" name="Объект 4"/>
          <p:cNvSpPr>
            <a:spLocks noGrp="1"/>
          </p:cNvSpPr>
          <p:nvPr>
            <p:ph sz="quarter" idx="13"/>
          </p:nvPr>
        </p:nvSpPr>
        <p:spPr>
          <a:xfrm>
            <a:off x="611560" y="1628800"/>
            <a:ext cx="6400800" cy="4569688"/>
          </a:xfrm>
        </p:spPr>
        <p:txBody>
          <a:bodyPr>
            <a:normAutofit fontScale="85000" lnSpcReduction="10000"/>
          </a:bodyPr>
          <a:lstStyle/>
          <a:p>
            <a:pPr fontAlgn="base"/>
            <a:r>
              <a:rPr lang="ru-RU" sz="3200" dirty="0"/>
              <a:t>Особенность работы человеческого мозга заключается в том, что он обучается только тогда, </a:t>
            </a:r>
            <a:r>
              <a:rPr lang="ru-RU" sz="3200" b="1" dirty="0"/>
              <a:t>когда видит разницу, чем одно отличается от другого</a:t>
            </a:r>
            <a:r>
              <a:rPr lang="ru-RU" sz="3200" dirty="0"/>
              <a:t>, чем один прием или способ не такой, как другой.</a:t>
            </a:r>
          </a:p>
          <a:p>
            <a:pPr fontAlgn="base"/>
            <a:r>
              <a:rPr lang="ru-RU" sz="3200" dirty="0"/>
              <a:t>Противоположным навыком является </a:t>
            </a:r>
            <a:r>
              <a:rPr lang="ru-RU" sz="3200" b="1" dirty="0"/>
              <a:t>концентрация внимания на сходстве.</a:t>
            </a:r>
            <a:r>
              <a:rPr lang="ru-RU" sz="3200" dirty="0"/>
              <a:t> Как только что-то определяется мозгом как «точно такое же, как и то…», процесс обучения останавливается.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49F6890E-046A-4971-A03D-61AF99519D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754760" cy="1143000"/>
          </a:xfrm>
        </p:spPr>
        <p:txBody>
          <a:bodyPr/>
          <a:lstStyle/>
          <a:p>
            <a:r>
              <a:rPr lang="ru-RU" dirty="0"/>
              <a:t>Стараемся!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A1BAEC3-45E4-4ECC-8D53-3FE7C7689C45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ru-RU" dirty="0"/>
              <a:t>Каждый практический материал применяем прежде всего к себе!</a:t>
            </a:r>
          </a:p>
          <a:p>
            <a:r>
              <a:rPr lang="ru-RU" dirty="0"/>
              <a:t>Далее – к отношениям с партнером</a:t>
            </a:r>
          </a:p>
          <a:p>
            <a:r>
              <a:rPr lang="ru-RU" dirty="0"/>
              <a:t>И потом к клиентам и их конфликтам </a:t>
            </a:r>
          </a:p>
        </p:txBody>
      </p:sp>
    </p:spTree>
    <p:extLst>
      <p:ext uri="{BB962C8B-B14F-4D97-AF65-F5344CB8AC3E}">
        <p14:creationId xmlns:p14="http://schemas.microsoft.com/office/powerpoint/2010/main" val="32523499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533FE3A7-F18E-44CC-A8E0-E10388E039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7787208" cy="1143000"/>
          </a:xfrm>
        </p:spPr>
        <p:txBody>
          <a:bodyPr>
            <a:normAutofit fontScale="90000"/>
          </a:bodyPr>
          <a:lstStyle/>
          <a:p>
            <a:r>
              <a:rPr lang="ru-RU" sz="2800" b="1" dirty="0">
                <a:solidFill>
                  <a:srgbClr val="222222"/>
                </a:solidFill>
                <a:effectLst/>
                <a:latin typeface="Open Sans" panose="020B0606030504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Павел Васильевич Симонов (психофизиолог, биофизик и психолог, 1926-2002)</a:t>
            </a:r>
            <a:endParaRPr lang="ru-RU" b="1" dirty="0"/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322A16C3-30E2-4345-9DAC-10ADD6FB83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700808"/>
            <a:ext cx="6059016" cy="4525963"/>
          </a:xfrm>
        </p:spPr>
        <p:txBody>
          <a:bodyPr>
            <a:normAutofit/>
          </a:bodyPr>
          <a:lstStyle/>
          <a:p>
            <a:pPr algn="just">
              <a:lnSpc>
                <a:spcPct val="107000"/>
              </a:lnSpc>
              <a:spcBef>
                <a:spcPts val="375"/>
              </a:spcBef>
              <a:spcAft>
                <a:spcPts val="750"/>
              </a:spcAft>
            </a:pPr>
            <a:r>
              <a:rPr lang="ru-RU" sz="2000" dirty="0">
                <a:solidFill>
                  <a:srgbClr val="222222"/>
                </a:solidFill>
                <a:effectLst/>
                <a:latin typeface="Open Sans" panose="020B0606030504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Врожденно заданные поведенчес­кие программы, для каждой из которых выделены свои мозговые центры, подразделяются на три группы:</a:t>
            </a:r>
            <a:endParaRPr lang="ru-RU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ts val="1500"/>
              </a:lnSpc>
              <a:spcBef>
                <a:spcPts val="360"/>
              </a:spcBef>
              <a:spcAft>
                <a:spcPts val="36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000" dirty="0">
                <a:solidFill>
                  <a:srgbClr val="222222"/>
                </a:solidFill>
                <a:effectLst/>
                <a:latin typeface="Open Sans" panose="020B0606030504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Витальные («жизненно необходимые»).</a:t>
            </a:r>
            <a:endParaRPr lang="ru-RU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ts val="1500"/>
              </a:lnSpc>
              <a:spcBef>
                <a:spcPts val="360"/>
              </a:spcBef>
              <a:spcAft>
                <a:spcPts val="36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000" dirty="0" err="1">
                <a:solidFill>
                  <a:srgbClr val="222222"/>
                </a:solidFill>
                <a:effectLst/>
                <a:latin typeface="Open Sans" panose="020B0606030504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Зоосоциальные</a:t>
            </a:r>
            <a:r>
              <a:rPr lang="ru-RU" sz="2000" dirty="0">
                <a:solidFill>
                  <a:srgbClr val="222222"/>
                </a:solidFill>
                <a:effectLst/>
                <a:latin typeface="Open Sans" panose="020B0606030504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(«внутривидовое взаимодействие»).</a:t>
            </a:r>
            <a:endParaRPr lang="ru-RU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sz="2000" dirty="0">
                <a:solidFill>
                  <a:srgbClr val="222222"/>
                </a:solidFill>
                <a:effectLst/>
                <a:latin typeface="Open Sans" panose="020B0606030504020204" pitchFamily="34" charset="0"/>
                <a:ea typeface="Times New Roman" panose="02020603050405020304" pitchFamily="18" charset="0"/>
              </a:rPr>
              <a:t>Саморазвития («направлены в будущее»)</a:t>
            </a:r>
            <a:endParaRPr lang="ru-RU" sz="20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" name="Рукописный ввод 5">
                <a:extLst>
                  <a:ext uri="{FF2B5EF4-FFF2-40B4-BE49-F238E27FC236}">
                    <a16:creationId xmlns:a16="http://schemas.microsoft.com/office/drawing/2014/main" id="{0769377C-4CE6-4D06-8C45-CEC510CB16A1}"/>
                  </a:ext>
                </a:extLst>
              </p14:cNvPr>
              <p14:cNvContentPartPr/>
              <p14:nvPr/>
            </p14:nvContentPartPr>
            <p14:xfrm>
              <a:off x="1113817" y="1985332"/>
              <a:ext cx="360" cy="360"/>
            </p14:xfrm>
          </p:contentPart>
        </mc:Choice>
        <mc:Fallback xmlns="">
          <p:pic>
            <p:nvPicPr>
              <p:cNvPr id="6" name="Рукописный ввод 5">
                <a:extLst>
                  <a:ext uri="{FF2B5EF4-FFF2-40B4-BE49-F238E27FC236}">
                    <a16:creationId xmlns:a16="http://schemas.microsoft.com/office/drawing/2014/main" id="{0769377C-4CE6-4D06-8C45-CEC510CB16A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04817" y="1976332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985844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9561520-BDF1-4972-9A4B-86C5D535CE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5410944" cy="1143000"/>
          </a:xfrm>
        </p:spPr>
        <p:txBody>
          <a:bodyPr/>
          <a:lstStyle/>
          <a:p>
            <a:r>
              <a:rPr lang="ru-RU" sz="2800" b="1" dirty="0">
                <a:solidFill>
                  <a:srgbClr val="222222"/>
                </a:solidFill>
                <a:effectLst/>
                <a:latin typeface="Open Sans" panose="020B0606030504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Витальные потребности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234CBA0-86EE-4C51-8343-D13ADE9745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560" y="1340768"/>
            <a:ext cx="7787208" cy="4525963"/>
          </a:xfrm>
        </p:spPr>
        <p:txBody>
          <a:bodyPr/>
          <a:lstStyle/>
          <a:p>
            <a:pPr marL="0" indent="0">
              <a:lnSpc>
                <a:spcPct val="107000"/>
              </a:lnSpc>
              <a:spcBef>
                <a:spcPts val="750"/>
              </a:spcBef>
              <a:spcAft>
                <a:spcPts val="750"/>
              </a:spcAft>
              <a:buNone/>
            </a:pPr>
            <a:r>
              <a:rPr lang="ru-RU" sz="1800" b="1" dirty="0">
                <a:solidFill>
                  <a:srgbClr val="222222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Витальные потребности присущи человеку как представителю биологического вида.</a:t>
            </a:r>
            <a:endParaRPr lang="ru-RU" sz="1800" b="1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ru-RU" sz="1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Пищевые и питьевые.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ru-RU" sz="1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Пассивно-оборонительные (страх, тревожность).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ru-RU" sz="1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Активно-оборонительные (агрессия).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ru-RU" sz="1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Гомеостатические (дыхание, кровообращение, терморегуляция, сон и бодрствование).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ru-RU" sz="1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Экономия сил («рефлексы лени»).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ru-RU" sz="1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Груминг («уход за телом»).</a:t>
            </a:r>
          </a:p>
          <a:p>
            <a:pPr>
              <a:lnSpc>
                <a:spcPts val="1500"/>
              </a:lnSpc>
              <a:spcBef>
                <a:spcPts val="360"/>
              </a:spcBef>
              <a:spcAft>
                <a:spcPts val="360"/>
              </a:spcAft>
              <a:buSzPts val="1000"/>
              <a:tabLst>
                <a:tab pos="457200" algn="l"/>
              </a:tabLst>
            </a:pPr>
            <a:endParaRPr lang="ru-RU" sz="2400" dirty="0">
              <a:solidFill>
                <a:srgbClr val="222222"/>
              </a:solidFill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941907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E7D499-79DC-43C9-966B-37B5DE2E9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5842992" cy="1143000"/>
          </a:xfrm>
        </p:spPr>
        <p:txBody>
          <a:bodyPr>
            <a:normAutofit/>
          </a:bodyPr>
          <a:lstStyle/>
          <a:p>
            <a:r>
              <a:rPr lang="ru-RU" sz="2800" b="1" dirty="0" err="1">
                <a:solidFill>
                  <a:srgbClr val="222222"/>
                </a:solidFill>
                <a:effectLst/>
                <a:latin typeface="Open Sans" panose="020B0606030504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Зоосоциальные</a:t>
            </a:r>
            <a:r>
              <a:rPr lang="ru-RU" sz="2800" b="1" dirty="0">
                <a:solidFill>
                  <a:srgbClr val="222222"/>
                </a:solidFill>
                <a:effectLst/>
                <a:latin typeface="Open Sans" panose="020B0606030504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потребности</a:t>
            </a:r>
            <a:endParaRPr lang="ru-RU" sz="28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C80151B-9F29-4F0B-83BE-18F1CD008D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88517"/>
            <a:ext cx="6203032" cy="4983162"/>
          </a:xfrm>
        </p:spPr>
        <p:txBody>
          <a:bodyPr>
            <a:normAutofit/>
          </a:bodyPr>
          <a:lstStyle/>
          <a:p>
            <a:pPr>
              <a:lnSpc>
                <a:spcPts val="1500"/>
              </a:lnSpc>
              <a:spcBef>
                <a:spcPts val="360"/>
              </a:spcBef>
              <a:spcAft>
                <a:spcPts val="360"/>
              </a:spcAft>
              <a:buSzPts val="1000"/>
              <a:tabLst>
                <a:tab pos="457200" algn="l"/>
              </a:tabLst>
            </a:pPr>
            <a:r>
              <a:rPr lang="ru-RU" sz="1800" dirty="0">
                <a:solidFill>
                  <a:srgbClr val="222222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Половое поведение.</a:t>
            </a:r>
            <a:endParaRPr lang="ru-RU" sz="18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500"/>
              </a:lnSpc>
              <a:spcBef>
                <a:spcPts val="360"/>
              </a:spcBef>
              <a:spcAft>
                <a:spcPts val="360"/>
              </a:spcAft>
              <a:buSzPts val="1000"/>
              <a:tabLst>
                <a:tab pos="457200" algn="l"/>
              </a:tabLst>
            </a:pPr>
            <a:r>
              <a:rPr lang="ru-RU" sz="1800" dirty="0">
                <a:solidFill>
                  <a:srgbClr val="222222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Материнское (родительское) поведение. </a:t>
            </a:r>
            <a:endParaRPr lang="ru-RU" sz="18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500"/>
              </a:lnSpc>
              <a:spcBef>
                <a:spcPts val="360"/>
              </a:spcBef>
              <a:spcAft>
                <a:spcPts val="360"/>
              </a:spcAft>
              <a:buSzPts val="1000"/>
              <a:tabLst>
                <a:tab pos="457200" algn="l"/>
              </a:tabLst>
            </a:pPr>
            <a:r>
              <a:rPr lang="ru-RU" sz="1800" dirty="0">
                <a:solidFill>
                  <a:srgbClr val="222222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«Детское» поведение (стремление к контакту с родителем). </a:t>
            </a:r>
            <a:endParaRPr lang="ru-RU" sz="18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500"/>
              </a:lnSpc>
              <a:spcBef>
                <a:spcPts val="360"/>
              </a:spcBef>
              <a:spcAft>
                <a:spcPts val="360"/>
              </a:spcAft>
              <a:buSzPts val="1000"/>
              <a:tabLst>
                <a:tab pos="457200" algn="l"/>
              </a:tabLst>
            </a:pPr>
            <a:r>
              <a:rPr lang="ru-RU" sz="1800" dirty="0">
                <a:solidFill>
                  <a:srgbClr val="222222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Территориальное поведение («защита от перенаселения»). </a:t>
            </a:r>
            <a:endParaRPr lang="ru-RU" sz="18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500"/>
              </a:lnSpc>
              <a:spcBef>
                <a:spcPts val="360"/>
              </a:spcBef>
              <a:spcAft>
                <a:spcPts val="360"/>
              </a:spcAft>
              <a:buSzPts val="1000"/>
              <a:tabLst>
                <a:tab pos="457200" algn="l"/>
              </a:tabLst>
            </a:pPr>
            <a:r>
              <a:rPr lang="ru-RU" sz="1800" dirty="0">
                <a:solidFill>
                  <a:srgbClr val="222222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Иерархическое поведение </a:t>
            </a:r>
          </a:p>
          <a:p>
            <a:pPr>
              <a:lnSpc>
                <a:spcPts val="1500"/>
              </a:lnSpc>
              <a:spcBef>
                <a:spcPts val="360"/>
              </a:spcBef>
              <a:spcAft>
                <a:spcPts val="360"/>
              </a:spcAft>
              <a:buSzPts val="1000"/>
              <a:tabLst>
                <a:tab pos="457200" algn="l"/>
              </a:tabLst>
            </a:pPr>
            <a:r>
              <a:rPr lang="ru-RU" sz="1800" dirty="0">
                <a:solidFill>
                  <a:srgbClr val="222222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(стремление к лидерству и стремление  подчиняться вожаку). </a:t>
            </a:r>
            <a:endParaRPr lang="ru-RU" sz="18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500"/>
              </a:lnSpc>
              <a:spcBef>
                <a:spcPts val="360"/>
              </a:spcBef>
              <a:spcAft>
                <a:spcPts val="360"/>
              </a:spcAft>
              <a:buSzPts val="1000"/>
              <a:tabLst>
                <a:tab pos="457200" algn="l"/>
              </a:tabLst>
            </a:pPr>
            <a:r>
              <a:rPr lang="ru-RU" sz="1800" dirty="0">
                <a:solidFill>
                  <a:srgbClr val="222222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Реакции сопереживания </a:t>
            </a:r>
          </a:p>
          <a:p>
            <a:pPr>
              <a:lnSpc>
                <a:spcPts val="1500"/>
              </a:lnSpc>
              <a:spcBef>
                <a:spcPts val="360"/>
              </a:spcBef>
              <a:spcAft>
                <a:spcPts val="360"/>
              </a:spcAft>
              <a:buSzPts val="1000"/>
              <a:tabLst>
                <a:tab pos="457200" algn="l"/>
              </a:tabLst>
            </a:pPr>
            <a:r>
              <a:rPr lang="ru-RU" sz="1800" dirty="0">
                <a:solidFill>
                  <a:srgbClr val="222222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(«перенос» на себя эмоций, испытываемых другой особью).</a:t>
            </a:r>
            <a:r>
              <a:rPr lang="ru-RU" sz="1800" dirty="0">
                <a:solidFill>
                  <a:srgbClr val="222222"/>
                </a:solidFill>
                <a:effectLst/>
                <a:latin typeface="+mj-lt"/>
                <a:ea typeface="Times New Roman" panose="02020603050405020304" pitchFamily="18" charset="0"/>
              </a:rPr>
              <a:t> </a:t>
            </a:r>
          </a:p>
          <a:p>
            <a:pPr marL="0" lvl="0" indent="0">
              <a:lnSpc>
                <a:spcPts val="1500"/>
              </a:lnSpc>
              <a:spcBef>
                <a:spcPts val="360"/>
              </a:spcBef>
              <a:spcAft>
                <a:spcPts val="360"/>
              </a:spcAft>
              <a:buSzPts val="1000"/>
              <a:buNone/>
              <a:tabLst>
                <a:tab pos="457200" algn="l"/>
              </a:tabLst>
            </a:pPr>
            <a:endParaRPr lang="ru-RU" sz="1800" dirty="0">
              <a:solidFill>
                <a:srgbClr val="222222"/>
              </a:solidFill>
              <a:effectLst/>
              <a:latin typeface="+mj-lt"/>
              <a:ea typeface="Times New Roman" panose="02020603050405020304" pitchFamily="18" charset="0"/>
            </a:endParaRPr>
          </a:p>
          <a:p>
            <a:pPr marL="0" lvl="0" indent="0">
              <a:lnSpc>
                <a:spcPts val="1500"/>
              </a:lnSpc>
              <a:spcBef>
                <a:spcPts val="360"/>
              </a:spcBef>
              <a:spcAft>
                <a:spcPts val="360"/>
              </a:spcAft>
              <a:buSzPts val="1000"/>
              <a:buNone/>
              <a:tabLst>
                <a:tab pos="457200" algn="l"/>
              </a:tabLst>
            </a:pPr>
            <a:r>
              <a:rPr lang="ru-RU" sz="1800" i="1" dirty="0">
                <a:solidFill>
                  <a:srgbClr val="222222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Центры полового и родительского поведения (передняя часть гипо­таламуса) работают, «откликаясь» на изменения концентрации ряда гормонов.</a:t>
            </a:r>
          </a:p>
          <a:p>
            <a:pPr marL="0" lvl="0" indent="0">
              <a:lnSpc>
                <a:spcPts val="1500"/>
              </a:lnSpc>
              <a:spcBef>
                <a:spcPts val="360"/>
              </a:spcBef>
              <a:spcAft>
                <a:spcPts val="360"/>
              </a:spcAft>
              <a:buSzPts val="1000"/>
              <a:buNone/>
              <a:tabLst>
                <a:tab pos="457200" algn="l"/>
              </a:tabLst>
            </a:pPr>
            <a:endParaRPr lang="ru-RU" sz="1800" dirty="0">
              <a:solidFill>
                <a:srgbClr val="222222"/>
              </a:solidFill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ts val="1500"/>
              </a:lnSpc>
              <a:spcBef>
                <a:spcPts val="360"/>
              </a:spcBef>
              <a:spcAft>
                <a:spcPts val="360"/>
              </a:spcAft>
              <a:buSzPts val="1000"/>
              <a:buNone/>
              <a:tabLst>
                <a:tab pos="457200" algn="l"/>
              </a:tabLst>
            </a:pPr>
            <a:endParaRPr lang="ru-RU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574103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0383B1-B529-4EC2-BFB4-51D00D92EE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5626968" cy="1143000"/>
          </a:xfrm>
        </p:spPr>
        <p:txBody>
          <a:bodyPr>
            <a:normAutofit/>
          </a:bodyPr>
          <a:lstStyle/>
          <a:p>
            <a:r>
              <a:rPr lang="ru-RU" sz="2800" b="1" dirty="0">
                <a:solidFill>
                  <a:srgbClr val="222222"/>
                </a:solidFill>
                <a:effectLst/>
                <a:latin typeface="Open Sans" panose="020B0606030504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Потребности саморазвития</a:t>
            </a:r>
            <a:br>
              <a:rPr lang="ru-RU" sz="2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ru-RU" sz="2800" b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729D682-EF13-4F90-8738-F54135B537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96752"/>
            <a:ext cx="6851104" cy="3744417"/>
          </a:xfrm>
        </p:spPr>
        <p:txBody>
          <a:bodyPr>
            <a:normAutofit/>
          </a:bodyPr>
          <a:lstStyle/>
          <a:p>
            <a:pPr marL="342900" lvl="0" indent="-342900">
              <a:lnSpc>
                <a:spcPts val="1500"/>
              </a:lnSpc>
              <a:spcBef>
                <a:spcPts val="360"/>
              </a:spcBef>
              <a:spcAft>
                <a:spcPts val="36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b="1" dirty="0">
                <a:solidFill>
                  <a:srgbClr val="222222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Исследовательская: </a:t>
            </a:r>
          </a:p>
          <a:p>
            <a:pPr marL="342900" lvl="0" indent="-342900">
              <a:lnSpc>
                <a:spcPts val="1500"/>
              </a:lnSpc>
              <a:spcBef>
                <a:spcPts val="360"/>
              </a:spcBef>
              <a:spcAft>
                <a:spcPts val="36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dirty="0">
                <a:solidFill>
                  <a:srgbClr val="222222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сбор новой информации, «любопытство».</a:t>
            </a:r>
            <a:endParaRPr lang="ru-RU" sz="18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ts val="1500"/>
              </a:lnSpc>
              <a:spcBef>
                <a:spcPts val="360"/>
              </a:spcBef>
              <a:spcAft>
                <a:spcPts val="36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b="1" dirty="0">
                <a:solidFill>
                  <a:srgbClr val="222222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Подражательная</a:t>
            </a:r>
            <a:r>
              <a:rPr lang="ru-RU" sz="1800" dirty="0">
                <a:solidFill>
                  <a:srgbClr val="222222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: «делай, как...».</a:t>
            </a:r>
            <a:endParaRPr lang="ru-RU" sz="18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ts val="1500"/>
              </a:lnSpc>
              <a:spcBef>
                <a:spcPts val="360"/>
              </a:spcBef>
              <a:spcAft>
                <a:spcPts val="36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dirty="0">
                <a:solidFill>
                  <a:srgbClr val="222222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«Рефлекс свободы» (преодоление ограничений).</a:t>
            </a:r>
            <a:endParaRPr lang="ru-RU" sz="18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ts val="1500"/>
              </a:lnSpc>
              <a:spcBef>
                <a:spcPts val="360"/>
              </a:spcBef>
              <a:spcAft>
                <a:spcPts val="36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b="1" dirty="0">
                <a:solidFill>
                  <a:srgbClr val="222222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Игровая </a:t>
            </a:r>
            <a:r>
              <a:rPr lang="ru-RU" sz="1800" dirty="0">
                <a:solidFill>
                  <a:srgbClr val="222222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(тренировка двигательных навыков).</a:t>
            </a:r>
            <a:endParaRPr lang="ru-RU" sz="18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222222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Каждая группа врожденных поведенческих программ обеспечивается работой особых нервных клеток внутри головного мозга – как правило, в его глубоких («древних») структурах.</a:t>
            </a:r>
            <a:endParaRPr lang="ru-RU" sz="1800" dirty="0">
              <a:latin typeface="+mj-lt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55456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236711-699F-447A-84C5-B1FEB61198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40FD543-F301-4163-878A-66C0B29891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6059016" cy="4525963"/>
          </a:xfrm>
        </p:spPr>
        <p:txBody>
          <a:bodyPr/>
          <a:lstStyle/>
          <a:p>
            <a:r>
              <a:rPr lang="ru-RU" sz="2000" b="1" dirty="0">
                <a:solidFill>
                  <a:srgbClr val="222222"/>
                </a:solidFill>
                <a:effectLst/>
                <a:latin typeface="Open Sans" panose="020B0606030504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Идеальные потребности (саморазвитие)</a:t>
            </a:r>
            <a:endParaRPr lang="ru-RU" sz="2000" b="1" dirty="0">
              <a:solidFill>
                <a:srgbClr val="222222"/>
              </a:solidFill>
              <a:latin typeface="Open Sans" panose="020B0606030504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2000" dirty="0">
              <a:solidFill>
                <a:srgbClr val="222222"/>
              </a:solidFill>
              <a:effectLst/>
              <a:latin typeface="Open Sans" panose="020B0606030504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222222"/>
                </a:solidFill>
                <a:latin typeface="Open Sans" panose="020B0606030504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Н</a:t>
            </a:r>
            <a:r>
              <a:rPr lang="ru-RU" sz="1800" dirty="0">
                <a:solidFill>
                  <a:srgbClr val="222222"/>
                </a:solidFill>
                <a:effectLst/>
                <a:latin typeface="Open Sans" panose="020B0606030504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аиболее ярким представителем которых является потребность познания себя, окружающего мира, своего места в этом мире, смысла и назначения своего существования на земле. Эта же потребность, в частности, побуждает людей создавать произведения искусства и обращаться к ним.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931632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428596" y="357166"/>
            <a:ext cx="6447501" cy="232229"/>
          </a:xfrm>
        </p:spPr>
        <p:txBody>
          <a:bodyPr>
            <a:noAutofit/>
          </a:bodyPr>
          <a:lstStyle/>
          <a:p>
            <a:r>
              <a:rPr lang="ru-RU" sz="2800" b="1" dirty="0"/>
              <a:t>Подробнее о темпераментах</a:t>
            </a:r>
          </a:p>
        </p:txBody>
      </p:sp>
      <p:sp>
        <p:nvSpPr>
          <p:cNvPr id="2" name="Объект 1"/>
          <p:cNvSpPr>
            <a:spLocks noGrp="1"/>
          </p:cNvSpPr>
          <p:nvPr>
            <p:ph sz="quarter" idx="13"/>
          </p:nvPr>
        </p:nvSpPr>
        <p:spPr>
          <a:xfrm>
            <a:off x="785786" y="928671"/>
            <a:ext cx="6090311" cy="5020609"/>
          </a:xfrm>
          <a:prstGeom prst="rect">
            <a:avLst/>
          </a:prstGeo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ru-RU" dirty="0"/>
              <a:t>Впервые о темпераментах сказал </a:t>
            </a:r>
            <a:r>
              <a:rPr lang="ru-RU" b="1" dirty="0"/>
              <a:t>Гиппократ (V в. до н.э.). </a:t>
            </a:r>
            <a:r>
              <a:rPr lang="ru-RU" dirty="0"/>
              <a:t>Он утверждал, что люди различаются соотношением 4 основных "соков" жизни, входящих в его состав:</a:t>
            </a:r>
          </a:p>
          <a:p>
            <a:pPr marL="0" indent="0">
              <a:buNone/>
            </a:pPr>
            <a:r>
              <a:rPr lang="ru-RU" dirty="0"/>
              <a:t>крови, ·  флегмы,  ·  желтой желчи и  ·  черной желчи</a:t>
            </a:r>
          </a:p>
          <a:p>
            <a:pPr marL="0" indent="0">
              <a:buNone/>
            </a:pPr>
            <a:endParaRPr lang="ru-RU" dirty="0"/>
          </a:p>
          <a:p>
            <a:pPr marL="109728" indent="0">
              <a:buNone/>
            </a:pPr>
            <a:r>
              <a:rPr lang="ru-RU" b="1" dirty="0"/>
              <a:t>Клавдий Гален (II в. до н.э.)</a:t>
            </a:r>
            <a:r>
              <a:rPr lang="ru-RU" dirty="0"/>
              <a:t> продолжил. Он разработал первую типологию темпераментов (трактат "</a:t>
            </a:r>
            <a:r>
              <a:rPr lang="ru-RU" dirty="0" err="1"/>
              <a:t>De</a:t>
            </a:r>
            <a:r>
              <a:rPr lang="ru-RU" dirty="0"/>
              <a:t> </a:t>
            </a:r>
            <a:r>
              <a:rPr lang="ru-RU" dirty="0" err="1"/>
              <a:t>temperamentum</a:t>
            </a:r>
            <a:r>
              <a:rPr lang="ru-RU" dirty="0"/>
              <a:t>") </a:t>
            </a:r>
          </a:p>
          <a:p>
            <a:pPr marL="109728" indent="0">
              <a:buNone/>
            </a:pPr>
            <a:r>
              <a:rPr lang="ru-RU" dirty="0"/>
              <a:t>Согласно его учению тип темперамента зависит от преобладания в организме одного из соков. Им были выделены темпераменты, которые в наше время пользуются широкой известностью: </a:t>
            </a:r>
          </a:p>
          <a:p>
            <a:pPr marL="109728" indent="0">
              <a:buNone/>
            </a:pPr>
            <a:r>
              <a:rPr lang="ru-RU" dirty="0"/>
              <a:t>•  холерика (от греч. </a:t>
            </a:r>
            <a:r>
              <a:rPr lang="ru-RU" dirty="0" err="1"/>
              <a:t>chole</a:t>
            </a:r>
            <a:r>
              <a:rPr lang="ru-RU" dirty="0"/>
              <a:t> - "желчь"),</a:t>
            </a:r>
          </a:p>
          <a:p>
            <a:pPr marL="109728" indent="0">
              <a:buNone/>
            </a:pPr>
            <a:r>
              <a:rPr lang="ru-RU" dirty="0"/>
              <a:t>•  сангвиника (от лат. </a:t>
            </a:r>
            <a:r>
              <a:rPr lang="ru-RU" dirty="0" err="1"/>
              <a:t>sanguis</a:t>
            </a:r>
            <a:r>
              <a:rPr lang="ru-RU" dirty="0"/>
              <a:t> - "кровь"),</a:t>
            </a:r>
          </a:p>
          <a:p>
            <a:pPr marL="109728" indent="0">
              <a:buNone/>
            </a:pPr>
            <a:r>
              <a:rPr lang="ru-RU" dirty="0"/>
              <a:t>•  флегматика (от греч. - </a:t>
            </a:r>
            <a:r>
              <a:rPr lang="ru-RU" dirty="0" err="1"/>
              <a:t>phlegma</a:t>
            </a:r>
            <a:r>
              <a:rPr lang="ru-RU" dirty="0"/>
              <a:t> - "флегма"),</a:t>
            </a:r>
          </a:p>
          <a:p>
            <a:pPr marL="109728" indent="0">
              <a:buNone/>
            </a:pPr>
            <a:r>
              <a:rPr lang="ru-RU" dirty="0"/>
              <a:t>•  меланхолика (от греч. </a:t>
            </a:r>
            <a:r>
              <a:rPr lang="ru-RU" dirty="0" err="1"/>
              <a:t>melas</a:t>
            </a:r>
            <a:r>
              <a:rPr lang="ru-RU" dirty="0"/>
              <a:t> </a:t>
            </a:r>
            <a:r>
              <a:rPr lang="ru-RU" dirty="0" err="1"/>
              <a:t>chole</a:t>
            </a:r>
            <a:r>
              <a:rPr lang="ru-RU" dirty="0"/>
              <a:t> - "черная желчь")</a:t>
            </a:r>
          </a:p>
          <a:p>
            <a:pPr marL="109728" indent="0">
              <a:buNone/>
            </a:pPr>
            <a:endParaRPr lang="ru-RU" dirty="0"/>
          </a:p>
        </p:txBody>
      </p:sp>
      <p:pic>
        <p:nvPicPr>
          <p:cNvPr id="1026" name="Picture 2" descr="Гиппократ — Википедия">
            <a:extLst>
              <a:ext uri="{FF2B5EF4-FFF2-40B4-BE49-F238E27FC236}">
                <a16:creationId xmlns:a16="http://schemas.microsoft.com/office/drawing/2014/main" id="{09F5DCC0-6277-433D-B3F4-2B2FD13C3B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0404" y="188640"/>
            <a:ext cx="1487810" cy="19863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Гален - биография, фото, медицина, личная жизнь, вклад в науку - 24СМИ">
            <a:extLst>
              <a:ext uri="{FF2B5EF4-FFF2-40B4-BE49-F238E27FC236}">
                <a16:creationId xmlns:a16="http://schemas.microsoft.com/office/drawing/2014/main" id="{422FCAB4-694D-4332-A6C3-1AF3B67FB3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3388" y="3189592"/>
            <a:ext cx="1487810" cy="19863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837115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Иван Петрович Павлов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quarter" idx="13"/>
          </p:nvPr>
        </p:nvSpPr>
        <p:spPr>
          <a:xfrm>
            <a:off x="685331" y="2060849"/>
            <a:ext cx="4804772" cy="3730353"/>
          </a:xfrm>
        </p:spPr>
        <p:txBody>
          <a:bodyPr>
            <a:normAutofit fontScale="70000" lnSpcReduction="20000"/>
          </a:bodyPr>
          <a:lstStyle/>
          <a:p>
            <a:r>
              <a:rPr lang="ru-RU" dirty="0"/>
              <a:t>Русский учёный, первый русский нобелевский лауреат, </a:t>
            </a:r>
            <a:r>
              <a:rPr lang="ru-RU" dirty="0">
                <a:hlinkClick r:id="rId2" tooltip="Физиология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физиолог</a:t>
            </a:r>
            <a:r>
              <a:rPr lang="ru-RU" dirty="0"/>
              <a:t>, создатель науки о </a:t>
            </a:r>
            <a:r>
              <a:rPr lang="ru-RU" dirty="0">
                <a:hlinkClick r:id="rId3" tooltip="Физиология высшей нервной деятельности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высшей нервной деятельности</a:t>
            </a:r>
            <a:r>
              <a:rPr lang="ru-RU" dirty="0"/>
              <a:t> и формировании </a:t>
            </a:r>
            <a:r>
              <a:rPr lang="ru-RU" dirty="0">
                <a:hlinkClick r:id="rId4" tooltip="Рефлекторная дуга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рефлекторных дуг</a:t>
            </a:r>
            <a:r>
              <a:rPr lang="ru-RU" dirty="0"/>
              <a:t>; основатель крупнейшей российской физиологической школы; лауреат </a:t>
            </a:r>
            <a:r>
              <a:rPr lang="ru-RU" dirty="0">
                <a:hlinkClick r:id="rId5" tooltip="Список лауреатов Нобелевской премии по физиологии или медицине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Нобелевской премии в области медицины и физиологии</a:t>
            </a:r>
            <a:r>
              <a:rPr lang="ru-RU" dirty="0"/>
              <a:t> </a:t>
            </a:r>
            <a:r>
              <a:rPr lang="ru-RU" dirty="0">
                <a:hlinkClick r:id="rId6" tooltip="1904 год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1904 года</a:t>
            </a:r>
            <a:r>
              <a:rPr lang="ru-RU" dirty="0"/>
              <a:t> </a:t>
            </a:r>
            <a:r>
              <a:rPr lang="ru-RU" i="1" dirty="0"/>
              <a:t>«за работу по физиологии пищеварения»</a:t>
            </a:r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6136" y="1704246"/>
            <a:ext cx="2304256" cy="3449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92511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656998" y="330486"/>
            <a:ext cx="5830004" cy="578234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Типы нервной системы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quarter" idx="13"/>
          </p:nvPr>
        </p:nvSpPr>
        <p:spPr>
          <a:xfrm>
            <a:off x="395536" y="1124744"/>
            <a:ext cx="6912768" cy="4824536"/>
          </a:xfrm>
        </p:spPr>
        <p:txBody>
          <a:bodyPr>
            <a:normAutofit fontScale="62500" lnSpcReduction="20000"/>
          </a:bodyPr>
          <a:lstStyle/>
          <a:p>
            <a:r>
              <a:rPr lang="ru-RU" dirty="0"/>
              <a:t>1 </a:t>
            </a:r>
            <a:r>
              <a:rPr lang="ru-RU" b="1" dirty="0"/>
              <a:t>— живой тип </a:t>
            </a:r>
            <a:r>
              <a:rPr lang="ru-RU" dirty="0"/>
              <a:t>(соответствует </a:t>
            </a:r>
            <a:r>
              <a:rPr lang="ru-RU" b="1" dirty="0"/>
              <a:t>сангвинику</a:t>
            </a:r>
            <a:r>
              <a:rPr lang="ru-RU" dirty="0"/>
              <a:t> Гиппократа), характеризующийся большой силой возбудительного и тормозного процессов, их уравновешенностью и высокой подвижностью (тип сильный, уравновешенный, подвижный); </a:t>
            </a:r>
          </a:p>
          <a:p>
            <a:r>
              <a:rPr lang="ru-RU" dirty="0"/>
              <a:t>2 — </a:t>
            </a:r>
            <a:r>
              <a:rPr lang="ru-RU" b="1" dirty="0"/>
              <a:t>спокойный </a:t>
            </a:r>
            <a:r>
              <a:rPr lang="ru-RU" dirty="0"/>
              <a:t>тип (соответствует </a:t>
            </a:r>
            <a:r>
              <a:rPr lang="ru-RU" b="1" dirty="0"/>
              <a:t>флегматику</a:t>
            </a:r>
            <a:r>
              <a:rPr lang="ru-RU" dirty="0"/>
              <a:t> Гиппократа), обладающий высокой силой и достаточной уравновешенностью возбудительного и тормозного процессов, но малой их подвижностью (тип сильный, уравновешенный, инертный); </a:t>
            </a:r>
          </a:p>
          <a:p>
            <a:r>
              <a:rPr lang="ru-RU" dirty="0"/>
              <a:t>3 — </a:t>
            </a:r>
            <a:r>
              <a:rPr lang="ru-RU" b="1" dirty="0"/>
              <a:t>безудержный</a:t>
            </a:r>
            <a:r>
              <a:rPr lang="ru-RU" dirty="0"/>
              <a:t> тип (соответствует </a:t>
            </a:r>
            <a:r>
              <a:rPr lang="ru-RU" b="1" dirty="0"/>
              <a:t>холерику</a:t>
            </a:r>
            <a:r>
              <a:rPr lang="ru-RU" dirty="0"/>
              <a:t> Гиппократа), имеющий сильный возбудительный процесс при слабом тормозном (тип сильный, но неуравновешенный); </a:t>
            </a:r>
          </a:p>
          <a:p>
            <a:r>
              <a:rPr lang="ru-RU" dirty="0"/>
              <a:t>4 — </a:t>
            </a:r>
            <a:r>
              <a:rPr lang="ru-RU" b="1" dirty="0"/>
              <a:t>слабый тип </a:t>
            </a:r>
            <a:r>
              <a:rPr lang="ru-RU" dirty="0"/>
              <a:t>(соответствует </a:t>
            </a:r>
            <a:r>
              <a:rPr lang="ru-RU" b="1" dirty="0"/>
              <a:t>меланхолику</a:t>
            </a:r>
            <a:r>
              <a:rPr lang="ru-RU" dirty="0"/>
              <a:t> Гиппократа), отличающийся малой силой возбудительного и активного тормозного процессов. 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683232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41E7D0-7306-4DFB-8A1E-52C582548B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202034"/>
          </a:xfrm>
        </p:spPr>
        <p:txBody>
          <a:bodyPr>
            <a:normAutofit fontScale="90000"/>
          </a:bodyPr>
          <a:lstStyle/>
          <a:p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1CC1F80-6220-4F23-91E0-11C2291EE9E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28600" y="476672"/>
            <a:ext cx="8229600" cy="5976664"/>
          </a:xfrm>
        </p:spPr>
        <p:txBody>
          <a:bodyPr>
            <a:normAutofit fontScale="62500" lnSpcReduction="20000"/>
          </a:bodyPr>
          <a:lstStyle/>
          <a:p>
            <a:r>
              <a:rPr lang="ru-RU" b="1" dirty="0"/>
              <a:t>Флегматик</a:t>
            </a:r>
            <a:r>
              <a:rPr lang="ru-RU" dirty="0"/>
              <a:t> неспешен, невозмутим, имеет устойчивые стремления и настроение, внешне скуп на проявление эмоций и чувств. Он проявляет упорство и настойчивость в работе, оставаясь спокойным и уравновешенным. В работе он производителен, компенсируя свою неспешность прилежанием.</a:t>
            </a:r>
          </a:p>
          <a:p>
            <a:r>
              <a:rPr lang="ru-RU" b="1" dirty="0"/>
              <a:t>Холерик -</a:t>
            </a:r>
            <a:r>
              <a:rPr lang="ru-RU" dirty="0"/>
              <a:t> быстрый, страстный, порывистый, однако совершенно неуравновешенный, с резко меняющимся настроением с эмоциональными вспышками, быстро истощаемый. У него нет равновесия нервных процессов, это его резко отличает от сангвиника. Холерик, увлекаясь, безалаберно растрачивает свои силы и быстро истощается.</a:t>
            </a:r>
          </a:p>
          <a:p>
            <a:r>
              <a:rPr lang="ru-RU" b="1" dirty="0"/>
              <a:t>Сангвиник -</a:t>
            </a:r>
            <a:r>
              <a:rPr lang="ru-RU" dirty="0"/>
              <a:t> живой, горячий, подвижный человек, с частой сменой настроения, впечатлений, с быстрой реакцией на все события, происходящие вокруг него, довольно легко примиряющийся со своими неудачами и неприятностями. Обычно сангвиники обладают выразительной мимикой. Он очень продуктивен в работе, когда ему интересно, приходя в сильное возбуждение от этого, если работа не интересна, он относится к ней безразлично, ему становится скучно.</a:t>
            </a:r>
          </a:p>
          <a:p>
            <a:r>
              <a:rPr lang="ru-RU" b="1" dirty="0"/>
              <a:t>Меланхолик -</a:t>
            </a:r>
            <a:r>
              <a:rPr lang="ru-RU" dirty="0"/>
              <a:t> человек легко ранимый, склонный к постоянному переживанию различных событий, он мало реагирует на внешние факторы. Свои астенические переживания он не может сдерживать усилием воли, он чересчур впечатлителен, легко эмоционально раним.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154039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51DCB868-9D1A-4FD1-B6E6-41A18D9616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95299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sz="3600" b="1" dirty="0"/>
              <a:t>Слабость нервной системы не является отрицательным свойством</a:t>
            </a:r>
            <a:br>
              <a:rPr lang="ru-RU" sz="4400" b="1" dirty="0">
                <a:solidFill>
                  <a:schemeClr val="accent2">
                    <a:lumMod val="75000"/>
                  </a:schemeClr>
                </a:solidFill>
              </a:rPr>
            </a:br>
            <a:endParaRPr lang="ru-RU" dirty="0"/>
          </a:p>
        </p:txBody>
      </p:sp>
      <p:sp>
        <p:nvSpPr>
          <p:cNvPr id="2" name="Объект 1"/>
          <p:cNvSpPr>
            <a:spLocks noGrp="1"/>
          </p:cNvSpPr>
          <p:nvPr>
            <p:ph sz="quarter" idx="13"/>
          </p:nvPr>
        </p:nvSpPr>
        <p:spPr>
          <a:xfrm>
            <a:off x="685330" y="1556793"/>
            <a:ext cx="7772870" cy="4234408"/>
          </a:xfrm>
        </p:spPr>
        <p:txBody>
          <a:bodyPr>
            <a:noAutofit/>
          </a:bodyPr>
          <a:lstStyle/>
          <a:p>
            <a:r>
              <a:rPr lang="ru-RU" sz="2000" b="1" dirty="0"/>
              <a:t>Сильная нервная система </a:t>
            </a:r>
            <a:r>
              <a:rPr lang="ru-RU" sz="2000" dirty="0"/>
              <a:t>более успешно справляется с одними жизненными задачами (например, в работе, связанной с большими и неожиданными нагрузками).</a:t>
            </a:r>
          </a:p>
          <a:p>
            <a:endParaRPr lang="ru-RU" sz="2000" dirty="0"/>
          </a:p>
          <a:p>
            <a:r>
              <a:rPr lang="ru-RU" sz="2000" dirty="0"/>
              <a:t>Слабая нервная система более успешно справляется с другими (например, в условиях монотонной работы). Слабая нервная система - нервная система высокой чувствительности, и в этом заключается ее преимущество перед сильной.</a:t>
            </a:r>
          </a:p>
          <a:p>
            <a:endParaRPr lang="ru-RU" sz="2000" dirty="0"/>
          </a:p>
          <a:p>
            <a:r>
              <a:rPr lang="ru-RU" sz="2000" dirty="0"/>
              <a:t> Деление людей на четыре вида темперамента очень условно. Существуют переходные, смешанные, промежуточные типы. Чистые темпераменты встречаются относительно редко.</a:t>
            </a:r>
          </a:p>
        </p:txBody>
      </p:sp>
    </p:spTree>
    <p:extLst>
      <p:ext uri="{BB962C8B-B14F-4D97-AF65-F5344CB8AC3E}">
        <p14:creationId xmlns:p14="http://schemas.microsoft.com/office/powerpoint/2010/main" val="25219380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41FB67FD-546D-43BA-BD40-AD2733ECFDAC}"/>
              </a:ext>
            </a:extLst>
          </p:cNvPr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5652120" cy="68603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510817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EFD7E63-E0DE-4BC7-82FB-FAF02389C897}"/>
              </a:ext>
            </a:extLst>
          </p:cNvPr>
          <p:cNvSpPr txBox="1"/>
          <p:nvPr/>
        </p:nvSpPr>
        <p:spPr>
          <a:xfrm>
            <a:off x="755576" y="1052737"/>
            <a:ext cx="610242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https://testometrika.com/for-children/test-the-temperament-of-the-child/</a:t>
            </a:r>
            <a:endParaRPr lang="ru-RU" dirty="0"/>
          </a:p>
          <a:p>
            <a:endParaRPr lang="ru-RU" dirty="0"/>
          </a:p>
          <a:p>
            <a:r>
              <a:rPr lang="en-US" dirty="0">
                <a:hlinkClick r:id="rId3"/>
              </a:rPr>
              <a:t>https://psytests.org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914125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E29C44E-6AAD-47B0-ABD5-911EFF6AB4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656" y="-19784"/>
            <a:ext cx="8229600" cy="1143000"/>
          </a:xfrm>
        </p:spPr>
        <p:txBody>
          <a:bodyPr/>
          <a:lstStyle/>
          <a:p>
            <a:r>
              <a:rPr lang="ru-RU" dirty="0"/>
              <a:t>Экстраверты - Интроверты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D6844C8-CE74-477D-A2B9-BD3433678B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268760"/>
            <a:ext cx="4994132" cy="4857403"/>
          </a:xfrm>
        </p:spPr>
        <p:txBody>
          <a:bodyPr>
            <a:normAutofit fontScale="70000" lnSpcReduction="20000"/>
          </a:bodyPr>
          <a:lstStyle/>
          <a:p>
            <a:r>
              <a:rPr lang="ru-RU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Экстраверт</a:t>
            </a:r>
            <a:r>
              <a:rPr lang="ru-RU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по Юнгу — это тип личности (или поведения), который ориентирован в своих проявлениях вовне, на окружающих. Для экстравертов характерно поведение, при котором человек стремится к общению с людьми, вниманию со стороны окружающих, участию в публичных выступлениях, участию в многолюдных мероприятиях и вечеринках.</a:t>
            </a:r>
          </a:p>
          <a:p>
            <a:r>
              <a:rPr lang="ru-RU" b="1" dirty="0">
                <a:solidFill>
                  <a:srgbClr val="000000"/>
                </a:solidFill>
                <a:latin typeface="Arial" panose="020B0604020202020204" pitchFamily="34" charset="0"/>
              </a:rPr>
              <a:t>Интроверт</a:t>
            </a:r>
            <a:r>
              <a:rPr lang="ru-RU" dirty="0">
                <a:solidFill>
                  <a:srgbClr val="000000"/>
                </a:solidFill>
                <a:latin typeface="Arial" panose="020B0604020202020204" pitchFamily="34" charset="0"/>
              </a:rPr>
              <a:t> – тип личности (или поведения), который </a:t>
            </a:r>
            <a:r>
              <a:rPr lang="ru-RU" b="0" i="0" dirty="0">
                <a:solidFill>
                  <a:srgbClr val="000000"/>
                </a:solidFill>
                <a:effectLst/>
                <a:latin typeface="Roboto Slab"/>
              </a:rPr>
              <a:t>предпочитает слушать, а не говорить, читать или мастерить, а не тусоваться, остаться при своем мнении, но не спорить, работать в одиночку, а не в команде, — те, кому уютнее в своем внутреннем мире, чем во внешнем.</a:t>
            </a:r>
            <a:endParaRPr lang="ru-RU" dirty="0"/>
          </a:p>
          <a:p>
            <a:endParaRPr lang="ru-RU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88ED611-77E2-4F3A-A82B-B88E257ECE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56176" y="1600200"/>
            <a:ext cx="2530624" cy="4525963"/>
          </a:xfrm>
        </p:spPr>
        <p:txBody>
          <a:bodyPr>
            <a:normAutofit fontScale="70000" lnSpcReduction="20000"/>
          </a:bodyPr>
          <a:lstStyle/>
          <a:p>
            <a:endParaRPr lang="ru-RU" dirty="0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B6AD7F35-6ABE-4A6F-A5BF-E84E410C2B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4128" y="1600200"/>
            <a:ext cx="2689876" cy="15130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186408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95"/>
          <p:cNvGrpSpPr/>
          <p:nvPr/>
        </p:nvGrpSpPr>
        <p:grpSpPr>
          <a:xfrm>
            <a:off x="1484795" y="1918419"/>
            <a:ext cx="6174410" cy="2749177"/>
            <a:chOff x="-1" y="882731"/>
            <a:chExt cx="8232544" cy="3665567"/>
          </a:xfrm>
        </p:grpSpPr>
        <p:sp>
          <p:nvSpPr>
            <p:cNvPr id="19" name="Shape 279"/>
            <p:cNvSpPr/>
            <p:nvPr/>
          </p:nvSpPr>
          <p:spPr>
            <a:xfrm>
              <a:off x="0" y="882731"/>
              <a:ext cx="8232542" cy="436278"/>
            </a:xfrm>
            <a:prstGeom prst="rect">
              <a:avLst/>
            </a:prstGeom>
            <a:gradFill flip="none" rotWithShape="1">
              <a:gsLst>
                <a:gs pos="0">
                  <a:srgbClr val="D2A8A8"/>
                </a:gs>
                <a:gs pos="76000">
                  <a:srgbClr val="D2A8A8"/>
                </a:gs>
                <a:gs pos="100000">
                  <a:srgbClr val="D2A8A8"/>
                </a:gs>
              </a:gsLst>
              <a:path path="circle">
                <a:fillToRect l="37721" t="-19636" r="62278" b="119636"/>
              </a:path>
            </a:gradFill>
            <a:ln w="12700" cap="flat">
              <a:noFill/>
              <a:miter lim="400000"/>
            </a:ln>
            <a:effectLst>
              <a:outerShdw blurRad="38100" dist="38100" dir="5400000" rotWithShape="0">
                <a:srgbClr val="000000">
                  <a:alpha val="35000"/>
                </a:srgbClr>
              </a:outerShdw>
            </a:effectLst>
          </p:spPr>
          <p:txBody>
            <a:bodyPr wrap="square" lIns="0" tIns="0" rIns="0" bIns="0" numCol="1" anchor="t">
              <a:noAutofit/>
            </a:bodyPr>
            <a:lstStyle/>
            <a:p>
              <a:pPr lvl="0">
                <a:defRPr sz="2400" b="1">
                  <a:latin typeface="Verdana"/>
                  <a:ea typeface="Verdana"/>
                  <a:cs typeface="Verdana"/>
                  <a:sym typeface="Verdana"/>
                </a:defRPr>
              </a:pPr>
              <a:endParaRPr/>
            </a:p>
          </p:txBody>
        </p:sp>
        <p:grpSp>
          <p:nvGrpSpPr>
            <p:cNvPr id="3" name="Group 284"/>
            <p:cNvGrpSpPr/>
            <p:nvPr/>
          </p:nvGrpSpPr>
          <p:grpSpPr>
            <a:xfrm>
              <a:off x="-1" y="1343704"/>
              <a:ext cx="2039614" cy="2819946"/>
              <a:chOff x="0" y="0"/>
              <a:chExt cx="2039612" cy="2819944"/>
            </a:xfrm>
          </p:grpSpPr>
          <p:sp>
            <p:nvSpPr>
              <p:cNvPr id="17" name="Shape 282"/>
              <p:cNvSpPr/>
              <p:nvPr/>
            </p:nvSpPr>
            <p:spPr>
              <a:xfrm>
                <a:off x="0" y="0"/>
                <a:ext cx="2039612" cy="2819944"/>
              </a:xfrm>
              <a:prstGeom prst="rect">
                <a:avLst/>
              </a:prstGeom>
              <a:gradFill flip="none" rotWithShape="1">
                <a:gsLst>
                  <a:gs pos="0">
                    <a:srgbClr val="E92929"/>
                  </a:gs>
                  <a:gs pos="76000">
                    <a:srgbClr val="AD0101"/>
                  </a:gs>
                  <a:gs pos="100000">
                    <a:srgbClr val="9C0101"/>
                  </a:gs>
                </a:gsLst>
                <a:path path="circle">
                  <a:fillToRect l="37721" t="-19636" r="62278" b="119636"/>
                </a:path>
              </a:gradFill>
              <a:ln w="12700" cap="flat">
                <a:noFill/>
                <a:miter lim="400000"/>
              </a:ln>
              <a:effectLst>
                <a:outerShdw blurRad="38100" dist="381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 sz="2800" b="1">
                    <a:solidFill>
                      <a:srgbClr val="FFFFFF"/>
                    </a:solidFill>
                    <a:latin typeface="Verdana"/>
                    <a:ea typeface="Verdana"/>
                    <a:cs typeface="Verdana"/>
                    <a:sym typeface="Verdana"/>
                  </a:defRPr>
                </a:pPr>
                <a:endParaRPr sz="2100"/>
              </a:p>
            </p:txBody>
          </p:sp>
          <p:sp>
            <p:nvSpPr>
              <p:cNvPr id="18" name="Shape 283"/>
              <p:cNvSpPr/>
              <p:nvPr/>
            </p:nvSpPr>
            <p:spPr>
              <a:xfrm>
                <a:off x="0" y="240369"/>
                <a:ext cx="2039612" cy="181587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spAutoFit/>
              </a:bodyPr>
              <a:lstStyle/>
              <a:p>
                <a:pPr lvl="0" algn="ctr"/>
                <a:endParaRPr sz="2400" b="1" dirty="0">
                  <a:solidFill>
                    <a:srgbClr val="FFFFFF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  <a:p>
                <a:pPr lvl="0" algn="ctr"/>
                <a:r>
                  <a:rPr sz="2250" b="1" dirty="0" err="1">
                    <a:solidFill>
                      <a:srgbClr val="FFFFFF"/>
                    </a:solidFill>
                    <a:latin typeface="Verdana"/>
                    <a:ea typeface="Verdana"/>
                    <a:cs typeface="Verdana"/>
                    <a:sym typeface="Verdana"/>
                  </a:rPr>
                  <a:t>Рулевые</a:t>
                </a:r>
                <a:endParaRPr sz="2250" dirty="0">
                  <a:solidFill>
                    <a:srgbClr val="FFFFFF"/>
                  </a:solidFill>
                </a:endParaRPr>
              </a:p>
              <a:p>
                <a:pPr lvl="0" algn="ctr"/>
                <a:br>
                  <a:rPr lang="ru-RU" sz="2100" b="1" dirty="0">
                    <a:solidFill>
                      <a:srgbClr val="FFFFFF"/>
                    </a:solidFill>
                    <a:latin typeface="Verdana"/>
                    <a:ea typeface="Verdana"/>
                    <a:cs typeface="Verdana"/>
                    <a:sym typeface="Verdana"/>
                  </a:rPr>
                </a:br>
                <a:r>
                  <a:rPr sz="2100" b="1" dirty="0">
                    <a:solidFill>
                      <a:srgbClr val="FFFFFF"/>
                    </a:solidFill>
                    <a:latin typeface="Verdana"/>
                    <a:ea typeface="Verdana"/>
                    <a:cs typeface="Verdana"/>
                    <a:sym typeface="Verdana"/>
                  </a:rPr>
                  <a:t>15%</a:t>
                </a:r>
              </a:p>
            </p:txBody>
          </p:sp>
        </p:grpSp>
        <p:grpSp>
          <p:nvGrpSpPr>
            <p:cNvPr id="4" name="Group 287"/>
            <p:cNvGrpSpPr/>
            <p:nvPr/>
          </p:nvGrpSpPr>
          <p:grpSpPr>
            <a:xfrm>
              <a:off x="2064309" y="1343704"/>
              <a:ext cx="2051961" cy="2819946"/>
              <a:chOff x="0" y="0"/>
              <a:chExt cx="2051959" cy="2819944"/>
            </a:xfrm>
          </p:grpSpPr>
          <p:sp>
            <p:nvSpPr>
              <p:cNvPr id="15" name="Shape 285"/>
              <p:cNvSpPr/>
              <p:nvPr/>
            </p:nvSpPr>
            <p:spPr>
              <a:xfrm>
                <a:off x="0" y="0"/>
                <a:ext cx="2039612" cy="2819944"/>
              </a:xfrm>
              <a:prstGeom prst="rect">
                <a:avLst/>
              </a:prstGeom>
              <a:gradFill flip="none" rotWithShape="1">
                <a:gsLst>
                  <a:gs pos="0">
                    <a:srgbClr val="E92929"/>
                  </a:gs>
                  <a:gs pos="76000">
                    <a:srgbClr val="AD0101"/>
                  </a:gs>
                  <a:gs pos="100000">
                    <a:srgbClr val="9C0101"/>
                  </a:gs>
                </a:gsLst>
                <a:path path="circle">
                  <a:fillToRect l="37721" t="-19636" r="62278" b="119636"/>
                </a:path>
              </a:gradFill>
              <a:ln w="12700" cap="flat">
                <a:noFill/>
                <a:miter lim="400000"/>
              </a:ln>
              <a:effectLst>
                <a:outerShdw blurRad="38100" dist="381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 sz="2800" b="1">
                    <a:solidFill>
                      <a:srgbClr val="FFFFFF"/>
                    </a:solidFill>
                    <a:latin typeface="Verdana"/>
                    <a:ea typeface="Verdana"/>
                    <a:cs typeface="Verdana"/>
                    <a:sym typeface="Verdana"/>
                  </a:defRPr>
                </a:pPr>
                <a:endParaRPr sz="2100"/>
              </a:p>
            </p:txBody>
          </p:sp>
          <p:sp>
            <p:nvSpPr>
              <p:cNvPr id="16" name="Shape 286"/>
              <p:cNvSpPr/>
              <p:nvPr/>
            </p:nvSpPr>
            <p:spPr>
              <a:xfrm>
                <a:off x="12347" y="143738"/>
                <a:ext cx="2039612" cy="190821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spAutoFit/>
              </a:bodyPr>
              <a:lstStyle/>
              <a:p>
                <a:pPr lvl="0" algn="ctr"/>
                <a:endParaRPr sz="2400" b="1" dirty="0">
                  <a:solidFill>
                    <a:srgbClr val="FFFFFF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  <a:p>
                <a:pPr lvl="0" algn="ctr"/>
                <a:r>
                  <a:rPr sz="2400" b="1" dirty="0" err="1">
                    <a:solidFill>
                      <a:srgbClr val="FFFFFF"/>
                    </a:solidFill>
                    <a:latin typeface="Verdana"/>
                    <a:ea typeface="Verdana"/>
                    <a:cs typeface="Verdana"/>
                    <a:sym typeface="Verdana"/>
                  </a:rPr>
                  <a:t>Экспрессивные</a:t>
                </a:r>
                <a:endParaRPr sz="2408" dirty="0">
                  <a:solidFill>
                    <a:srgbClr val="FFFFFF"/>
                  </a:solidFill>
                </a:endParaRPr>
              </a:p>
              <a:p>
                <a:pPr lvl="0" algn="ctr"/>
                <a:r>
                  <a:rPr sz="2100" b="1" dirty="0">
                    <a:solidFill>
                      <a:srgbClr val="FFFFFF"/>
                    </a:solidFill>
                    <a:latin typeface="Verdana"/>
                    <a:ea typeface="Verdana"/>
                    <a:cs typeface="Verdana"/>
                    <a:sym typeface="Verdana"/>
                  </a:rPr>
                  <a:t>15%</a:t>
                </a:r>
              </a:p>
            </p:txBody>
          </p:sp>
        </p:grpSp>
        <p:grpSp>
          <p:nvGrpSpPr>
            <p:cNvPr id="5" name="Group 290"/>
            <p:cNvGrpSpPr/>
            <p:nvPr/>
          </p:nvGrpSpPr>
          <p:grpSpPr>
            <a:xfrm>
              <a:off x="4128619" y="1343704"/>
              <a:ext cx="2039614" cy="2819946"/>
              <a:chOff x="0" y="0"/>
              <a:chExt cx="2039612" cy="2819944"/>
            </a:xfrm>
          </p:grpSpPr>
          <p:sp>
            <p:nvSpPr>
              <p:cNvPr id="13" name="Shape 288"/>
              <p:cNvSpPr/>
              <p:nvPr/>
            </p:nvSpPr>
            <p:spPr>
              <a:xfrm>
                <a:off x="0" y="0"/>
                <a:ext cx="2039612" cy="2819944"/>
              </a:xfrm>
              <a:prstGeom prst="rect">
                <a:avLst/>
              </a:prstGeom>
              <a:gradFill flip="none" rotWithShape="1">
                <a:gsLst>
                  <a:gs pos="0">
                    <a:srgbClr val="E92929"/>
                  </a:gs>
                  <a:gs pos="76000">
                    <a:srgbClr val="AD0101"/>
                  </a:gs>
                  <a:gs pos="100000">
                    <a:srgbClr val="9C0101"/>
                  </a:gs>
                </a:gsLst>
                <a:path path="circle">
                  <a:fillToRect l="37721" t="-19636" r="62278" b="119636"/>
                </a:path>
              </a:gradFill>
              <a:ln w="12700" cap="flat">
                <a:noFill/>
                <a:miter lim="400000"/>
              </a:ln>
              <a:effectLst>
                <a:outerShdw blurRad="38100" dist="381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 sz="2800" b="1">
                    <a:solidFill>
                      <a:srgbClr val="FFFFFF"/>
                    </a:solidFill>
                    <a:latin typeface="Verdana"/>
                    <a:ea typeface="Verdana"/>
                    <a:cs typeface="Verdana"/>
                    <a:sym typeface="Verdana"/>
                  </a:defRPr>
                </a:pPr>
                <a:endParaRPr sz="2100"/>
              </a:p>
            </p:txBody>
          </p:sp>
          <p:sp>
            <p:nvSpPr>
              <p:cNvPr id="14" name="Shape 289"/>
              <p:cNvSpPr/>
              <p:nvPr/>
            </p:nvSpPr>
            <p:spPr>
              <a:xfrm>
                <a:off x="0" y="702086"/>
                <a:ext cx="2039612" cy="141577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spAutoFit/>
              </a:bodyPr>
              <a:lstStyle/>
              <a:p>
                <a:pPr lvl="0" algn="ctr"/>
                <a:r>
                  <a:rPr sz="2400" b="1" dirty="0" err="1">
                    <a:solidFill>
                      <a:srgbClr val="FFFFFF"/>
                    </a:solidFill>
                    <a:latin typeface="Verdana"/>
                    <a:ea typeface="Verdana"/>
                    <a:cs typeface="Verdana"/>
                    <a:sym typeface="Verdana"/>
                  </a:rPr>
                  <a:t>Анали</a:t>
                </a:r>
                <a:r>
                  <a:rPr lang="ru-RU" sz="2400" b="1" dirty="0">
                    <a:solidFill>
                      <a:srgbClr val="FFFFFF"/>
                    </a:solidFill>
                    <a:latin typeface="Verdana"/>
                    <a:ea typeface="Verdana"/>
                    <a:cs typeface="Verdana"/>
                    <a:sym typeface="Verdana"/>
                  </a:rPr>
                  <a:t>-</a:t>
                </a:r>
                <a:r>
                  <a:rPr sz="2400" b="1" dirty="0" err="1">
                    <a:solidFill>
                      <a:srgbClr val="FFFFFF"/>
                    </a:solidFill>
                    <a:latin typeface="Verdana"/>
                    <a:ea typeface="Verdana"/>
                    <a:cs typeface="Verdana"/>
                    <a:sym typeface="Verdana"/>
                  </a:rPr>
                  <a:t>тики</a:t>
                </a:r>
                <a:endParaRPr sz="2408" dirty="0">
                  <a:solidFill>
                    <a:srgbClr val="FFFFFF"/>
                  </a:solidFill>
                </a:endParaRPr>
              </a:p>
              <a:p>
                <a:pPr lvl="0" algn="ctr"/>
                <a:r>
                  <a:rPr sz="2100" b="1" dirty="0">
                    <a:solidFill>
                      <a:srgbClr val="FFFFFF"/>
                    </a:solidFill>
                    <a:latin typeface="Verdana"/>
                    <a:ea typeface="Verdana"/>
                    <a:cs typeface="Verdana"/>
                    <a:sym typeface="Verdana"/>
                  </a:rPr>
                  <a:t>35%</a:t>
                </a:r>
              </a:p>
            </p:txBody>
          </p:sp>
        </p:grpSp>
        <p:grpSp>
          <p:nvGrpSpPr>
            <p:cNvPr id="6" name="Group 293"/>
            <p:cNvGrpSpPr/>
            <p:nvPr/>
          </p:nvGrpSpPr>
          <p:grpSpPr>
            <a:xfrm>
              <a:off x="6192929" y="1343704"/>
              <a:ext cx="2039614" cy="2819946"/>
              <a:chOff x="0" y="0"/>
              <a:chExt cx="2039612" cy="2819944"/>
            </a:xfrm>
          </p:grpSpPr>
          <p:sp>
            <p:nvSpPr>
              <p:cNvPr id="11" name="Shape 291"/>
              <p:cNvSpPr/>
              <p:nvPr/>
            </p:nvSpPr>
            <p:spPr>
              <a:xfrm>
                <a:off x="0" y="0"/>
                <a:ext cx="2039612" cy="2819944"/>
              </a:xfrm>
              <a:prstGeom prst="rect">
                <a:avLst/>
              </a:prstGeom>
              <a:gradFill flip="none" rotWithShape="1">
                <a:gsLst>
                  <a:gs pos="0">
                    <a:srgbClr val="E92929"/>
                  </a:gs>
                  <a:gs pos="76000">
                    <a:srgbClr val="AD0101"/>
                  </a:gs>
                  <a:gs pos="100000">
                    <a:srgbClr val="9C0101"/>
                  </a:gs>
                </a:gsLst>
                <a:path path="circle">
                  <a:fillToRect l="37721" t="-19636" r="62278" b="119636"/>
                </a:path>
              </a:gradFill>
              <a:ln w="12700" cap="flat">
                <a:noFill/>
                <a:miter lim="400000"/>
              </a:ln>
              <a:effectLst>
                <a:outerShdw blurRad="38100" dist="381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 sz="2800" b="1">
                    <a:solidFill>
                      <a:srgbClr val="FFFFFF"/>
                    </a:solidFill>
                    <a:latin typeface="Verdana"/>
                    <a:ea typeface="Verdana"/>
                    <a:cs typeface="Verdana"/>
                    <a:sym typeface="Verdana"/>
                  </a:defRPr>
                </a:pPr>
                <a:endParaRPr sz="2100"/>
              </a:p>
            </p:txBody>
          </p:sp>
          <p:sp>
            <p:nvSpPr>
              <p:cNvPr id="12" name="Shape 292"/>
              <p:cNvSpPr/>
              <p:nvPr/>
            </p:nvSpPr>
            <p:spPr>
              <a:xfrm>
                <a:off x="0" y="702086"/>
                <a:ext cx="2039612" cy="141577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spAutoFit/>
              </a:bodyPr>
              <a:lstStyle/>
              <a:p>
                <a:pPr lvl="0" algn="ctr"/>
                <a:r>
                  <a:rPr sz="2400" b="1" dirty="0" err="1">
                    <a:solidFill>
                      <a:srgbClr val="FFFFFF"/>
                    </a:solidFill>
                    <a:latin typeface="Verdana"/>
                    <a:ea typeface="Verdana"/>
                    <a:cs typeface="Verdana"/>
                    <a:sym typeface="Verdana"/>
                  </a:rPr>
                  <a:t>Друже</a:t>
                </a:r>
                <a:r>
                  <a:rPr lang="ru-RU" sz="2400" b="1" dirty="0">
                    <a:solidFill>
                      <a:srgbClr val="FFFFFF"/>
                    </a:solidFill>
                    <a:latin typeface="Verdana"/>
                    <a:ea typeface="Verdana"/>
                    <a:cs typeface="Verdana"/>
                    <a:sym typeface="Verdana"/>
                  </a:rPr>
                  <a:t>-</a:t>
                </a:r>
                <a:r>
                  <a:rPr sz="2400" b="1" dirty="0" err="1">
                    <a:solidFill>
                      <a:srgbClr val="FFFFFF"/>
                    </a:solidFill>
                    <a:latin typeface="Verdana"/>
                    <a:ea typeface="Verdana"/>
                    <a:cs typeface="Verdana"/>
                    <a:sym typeface="Verdana"/>
                  </a:rPr>
                  <a:t>любные</a:t>
                </a:r>
                <a:endParaRPr sz="2400" b="1" dirty="0">
                  <a:solidFill>
                    <a:srgbClr val="FFFFFF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  <a:p>
                <a:pPr lvl="0" algn="ctr"/>
                <a:r>
                  <a:rPr sz="2100" b="1" dirty="0">
                    <a:solidFill>
                      <a:srgbClr val="FFFFFF"/>
                    </a:solidFill>
                    <a:latin typeface="Verdana"/>
                    <a:ea typeface="Verdana"/>
                    <a:cs typeface="Verdana"/>
                    <a:sym typeface="Verdana"/>
                  </a:rPr>
                  <a:t>35% </a:t>
                </a:r>
              </a:p>
            </p:txBody>
          </p:sp>
        </p:grpSp>
        <p:sp>
          <p:nvSpPr>
            <p:cNvPr id="10" name="Shape 294"/>
            <p:cNvSpPr/>
            <p:nvPr/>
          </p:nvSpPr>
          <p:spPr>
            <a:xfrm>
              <a:off x="0" y="4188346"/>
              <a:ext cx="8232541" cy="359952"/>
            </a:xfrm>
            <a:prstGeom prst="rect">
              <a:avLst/>
            </a:prstGeom>
            <a:gradFill flip="none" rotWithShape="1">
              <a:gsLst>
                <a:gs pos="0">
                  <a:srgbClr val="D2A8A8"/>
                </a:gs>
                <a:gs pos="76000">
                  <a:srgbClr val="D2A8A8"/>
                </a:gs>
                <a:gs pos="100000">
                  <a:srgbClr val="D2A8A8"/>
                </a:gs>
              </a:gsLst>
              <a:path path="circle">
                <a:fillToRect l="37721" t="-19636" r="62278" b="119636"/>
              </a:path>
            </a:gradFill>
            <a:ln w="12700" cap="flat">
              <a:noFill/>
              <a:miter lim="400000"/>
            </a:ln>
            <a:effectLst>
              <a:outerShdw blurRad="38100" dist="38100" dir="5400000" rotWithShape="0">
                <a:srgbClr val="000000">
                  <a:alpha val="35000"/>
                </a:srgbClr>
              </a:outerShdw>
            </a:effectLst>
          </p:spPr>
          <p:txBody>
            <a:bodyPr wrap="square" lIns="0" tIns="0" rIns="0" bIns="0" numCol="1" anchor="ctr">
              <a:noAutofit/>
            </a:bodyPr>
            <a:lstStyle/>
            <a:p>
              <a:pPr lvl="0"/>
              <a:endParaRPr sz="1350"/>
            </a:p>
          </p:txBody>
        </p:sp>
      </p:grpSp>
      <p:pic>
        <p:nvPicPr>
          <p:cNvPr id="21" name="image43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88025" y="3860761"/>
            <a:ext cx="916181" cy="194794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22" name="image44.pn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22874" y="3866146"/>
            <a:ext cx="824949" cy="2134604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23" name="image45.png" descr="77498164.png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328529" y="4075060"/>
            <a:ext cx="938711" cy="162945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24" name="image42.png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408204" y="3994744"/>
            <a:ext cx="926582" cy="164055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6" name="Заголовок 1"/>
          <p:cNvSpPr>
            <a:spLocks noGrp="1"/>
          </p:cNvSpPr>
          <p:nvPr>
            <p:ph type="title"/>
          </p:nvPr>
        </p:nvSpPr>
        <p:spPr>
          <a:xfrm>
            <a:off x="971600" y="383723"/>
            <a:ext cx="6759612" cy="1331137"/>
          </a:xfrm>
        </p:spPr>
        <p:txBody>
          <a:bodyPr>
            <a:normAutofit/>
          </a:bodyPr>
          <a:lstStyle/>
          <a:p>
            <a:pPr algn="ctr"/>
            <a:r>
              <a:rPr lang="ru-RU" sz="2400" b="1" dirty="0">
                <a:solidFill>
                  <a:schemeClr val="accent2">
                    <a:lumMod val="75000"/>
                  </a:schemeClr>
                </a:solidFill>
                <a:latin typeface="Verdana"/>
                <a:ea typeface="Verdana"/>
                <a:cs typeface="Verdana"/>
                <a:sym typeface="Verdana"/>
              </a:rPr>
              <a:t>Еще один пример типолог</a:t>
            </a:r>
            <a:r>
              <a:rPr lang="ru-RU" sz="2400" b="1" dirty="0">
                <a:solidFill>
                  <a:schemeClr val="accent2">
                    <a:lumMod val="75000"/>
                  </a:schemeClr>
                </a:solidFill>
                <a:effectLst/>
                <a:latin typeface="Verdana"/>
                <a:ea typeface="Verdana"/>
                <a:cs typeface="Verdana"/>
                <a:sym typeface="Verdana"/>
              </a:rPr>
              <a:t>ии</a:t>
            </a:r>
            <a:endParaRPr lang="ru-RU" sz="2400" b="1" dirty="0">
              <a:solidFill>
                <a:schemeClr val="accent2">
                  <a:lumMod val="75000"/>
                </a:schemeClr>
              </a:solidFill>
              <a:effectLst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Объект 8"/>
          <p:cNvSpPr>
            <a:spLocks noGrp="1"/>
          </p:cNvSpPr>
          <p:nvPr>
            <p:ph idx="4294967295"/>
          </p:nvPr>
        </p:nvSpPr>
        <p:spPr>
          <a:xfrm>
            <a:off x="539552" y="404664"/>
            <a:ext cx="8064896" cy="6192688"/>
          </a:xfrm>
          <a:prstGeom prst="rect">
            <a:avLst/>
          </a:prstGeom>
        </p:spPr>
        <p:txBody>
          <a:bodyPr>
            <a:normAutofit fontScale="62500" lnSpcReduction="20000"/>
          </a:bodyPr>
          <a:lstStyle/>
          <a:p>
            <a:pPr marL="34290" indent="0">
              <a:buNone/>
            </a:pPr>
            <a:r>
              <a:rPr lang="ru-RU" b="1" dirty="0">
                <a:solidFill>
                  <a:schemeClr val="accent2">
                    <a:lumMod val="75000"/>
                  </a:schemeClr>
                </a:solidFill>
              </a:rPr>
              <a:t>ГРУППА 1. РУЛЕВОЙ</a:t>
            </a:r>
          </a:p>
          <a:p>
            <a:pPr marL="34290" indent="0">
              <a:buNone/>
            </a:pPr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Зажигается трудностями и вызовом претворения в жизнь изменений, направленных на более эффективную работу служения.</a:t>
            </a:r>
          </a:p>
          <a:p>
            <a:pPr marL="34290" indent="0">
              <a:buNone/>
            </a:pPr>
            <a:r>
              <a:rPr lang="ru-RU" i="1" dirty="0">
                <a:solidFill>
                  <a:schemeClr val="accent2">
                    <a:lumMod val="75000"/>
                  </a:schemeClr>
                </a:solidFill>
              </a:rPr>
              <a:t>Желательны ситуации, дающие</a:t>
            </a:r>
            <a:endParaRPr lang="ru-RU" dirty="0">
              <a:solidFill>
                <a:schemeClr val="accent2">
                  <a:lumMod val="75000"/>
                </a:schemeClr>
              </a:solidFill>
            </a:endParaRPr>
          </a:p>
          <a:p>
            <a:pPr marL="34290" indent="0">
              <a:buNone/>
            </a:pPr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- Свободу, полномочия, разнообразие, трудные задания, возможность продвижения и поощряющие индивидуальность.</a:t>
            </a:r>
          </a:p>
          <a:p>
            <a:pPr marL="34290" indent="0">
              <a:buNone/>
            </a:pPr>
            <a:r>
              <a:rPr lang="ru-RU" i="1" dirty="0">
                <a:solidFill>
                  <a:schemeClr val="accent2">
                    <a:lumMod val="75000"/>
                  </a:schemeClr>
                </a:solidFill>
              </a:rPr>
              <a:t>Реагирует на окружающих наилучшим образом когда они</a:t>
            </a:r>
            <a:endParaRPr lang="ru-RU" dirty="0">
              <a:solidFill>
                <a:schemeClr val="accent2">
                  <a:lumMod val="75000"/>
                </a:schemeClr>
              </a:solidFill>
            </a:endParaRPr>
          </a:p>
          <a:p>
            <a:pPr marL="34290" indent="0">
              <a:buNone/>
            </a:pPr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- Дают прямые ответы, привержены делу и здравому смыслу, заставляют интенсивно работать.</a:t>
            </a:r>
          </a:p>
          <a:p>
            <a:pPr marL="34290" indent="0">
              <a:buNone/>
            </a:pPr>
            <a:r>
              <a:rPr lang="ru-RU" u="sng" dirty="0">
                <a:solidFill>
                  <a:schemeClr val="accent2">
                    <a:lumMod val="75000"/>
                  </a:schemeClr>
                </a:solidFill>
              </a:rPr>
              <a:t>Люди с аналогичным стилем видят в вас</a:t>
            </a:r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 независимого, эффективного, основательного, практичного, способного на принятие решений человека.</a:t>
            </a:r>
          </a:p>
          <a:p>
            <a:pPr marL="34290" indent="0">
              <a:buNone/>
            </a:pPr>
            <a:r>
              <a:rPr lang="ru-RU" u="sng" dirty="0">
                <a:solidFill>
                  <a:schemeClr val="accent2">
                    <a:lumMod val="75000"/>
                  </a:schemeClr>
                </a:solidFill>
              </a:rPr>
              <a:t>Обладатели противоположного стиля видят вас как</a:t>
            </a:r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 резкого, назойливого, строгого, жестокого и властного человека.</a:t>
            </a:r>
          </a:p>
          <a:p>
            <a:pPr marL="34290" indent="0">
              <a:buNone/>
            </a:pPr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 </a:t>
            </a:r>
          </a:p>
          <a:p>
            <a:pPr marL="34290" indent="0">
              <a:buNone/>
            </a:pPr>
            <a:r>
              <a:rPr lang="ru-RU" b="1" dirty="0">
                <a:solidFill>
                  <a:schemeClr val="accent2">
                    <a:lumMod val="75000"/>
                  </a:schemeClr>
                </a:solidFill>
              </a:rPr>
              <a:t>НЕКОТОРЫЕ ПРАКТИЧЕСКИЕ ШАГИ:</a:t>
            </a:r>
          </a:p>
          <a:p>
            <a:pPr marL="34290" indent="0">
              <a:buNone/>
            </a:pPr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- Учитесь слушать, будьте терпеливы.</a:t>
            </a:r>
          </a:p>
          <a:p>
            <a:pPr marL="34290" indent="0">
              <a:buNone/>
            </a:pPr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- Ослабьте контроль.</a:t>
            </a:r>
          </a:p>
          <a:p>
            <a:pPr marL="34290" indent="0">
              <a:buNone/>
            </a:pPr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- Проявляйте больше участия к людям.</a:t>
            </a:r>
          </a:p>
          <a:p>
            <a:pPr marL="34290" indent="0">
              <a:buNone/>
            </a:pPr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- Будьте более гибкими и оказывайте людям поддержку.</a:t>
            </a:r>
          </a:p>
          <a:p>
            <a:pPr marL="34290" indent="0">
              <a:buNone/>
            </a:pPr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- Объясняйте положение вещей.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4294967295"/>
          </p:nvPr>
        </p:nvSpPr>
        <p:spPr>
          <a:xfrm>
            <a:off x="395536" y="332656"/>
            <a:ext cx="8352927" cy="6192688"/>
          </a:xfrm>
          <a:prstGeom prst="rect">
            <a:avLst/>
          </a:prstGeom>
        </p:spPr>
        <p:txBody>
          <a:bodyPr>
            <a:normAutofit fontScale="55000" lnSpcReduction="20000"/>
          </a:bodyPr>
          <a:lstStyle/>
          <a:p>
            <a:pPr marL="34290" indent="0">
              <a:buNone/>
            </a:pPr>
            <a:r>
              <a:rPr lang="ru-RU" b="1" dirty="0">
                <a:solidFill>
                  <a:schemeClr val="accent2">
                    <a:lumMod val="75000"/>
                  </a:schemeClr>
                </a:solidFill>
              </a:rPr>
              <a:t>ГРУППА 2. ЭКСПРЕССИВНЫЕ (вдохновитель)</a:t>
            </a:r>
          </a:p>
          <a:p>
            <a:pPr marL="34290" indent="0">
              <a:buNone/>
            </a:pPr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Влияет и мотивирует других на совместную работу для достижения значительных результатов. </a:t>
            </a:r>
          </a:p>
          <a:p>
            <a:pPr marL="34290" indent="0">
              <a:buNone/>
            </a:pPr>
            <a:r>
              <a:rPr lang="ru-RU" b="1" i="1" dirty="0">
                <a:solidFill>
                  <a:schemeClr val="accent2">
                    <a:lumMod val="75000"/>
                  </a:schemeClr>
                </a:solidFill>
              </a:rPr>
              <a:t>Желательны ситуации, дающие</a:t>
            </a:r>
            <a:endParaRPr lang="ru-RU" dirty="0">
              <a:solidFill>
                <a:schemeClr val="accent2">
                  <a:lumMod val="75000"/>
                </a:schemeClr>
              </a:solidFill>
            </a:endParaRPr>
          </a:p>
          <a:p>
            <a:pPr marL="34290" indent="0">
              <a:buNone/>
            </a:pPr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- Престиж, дружеские отношения, свободу от контроля и скрупулёзности, возможность мотивации и помощи другим, свободное выражение идей. </a:t>
            </a:r>
          </a:p>
          <a:p>
            <a:pPr marL="34290" indent="0">
              <a:buNone/>
            </a:pPr>
            <a:r>
              <a:rPr lang="ru-RU" b="1" i="1" dirty="0">
                <a:solidFill>
                  <a:schemeClr val="accent2">
                    <a:lumMod val="75000"/>
                  </a:schemeClr>
                </a:solidFill>
              </a:rPr>
              <a:t>Реагирует наилучшим образом на проявления</a:t>
            </a:r>
            <a:endParaRPr lang="ru-RU" dirty="0">
              <a:solidFill>
                <a:schemeClr val="accent2">
                  <a:lumMod val="75000"/>
                </a:schemeClr>
              </a:solidFill>
            </a:endParaRPr>
          </a:p>
          <a:p>
            <a:pPr marL="34290" indent="0">
              <a:buNone/>
            </a:pPr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- Дружелюбия и демократичности, признания и принятия. Обеспечивают социальное вовлечение.</a:t>
            </a:r>
          </a:p>
          <a:p>
            <a:pPr marL="34290" indent="0">
              <a:buNone/>
            </a:pPr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 </a:t>
            </a:r>
          </a:p>
          <a:p>
            <a:pPr marL="34290" indent="0">
              <a:buNone/>
            </a:pPr>
            <a:r>
              <a:rPr lang="ru-RU" u="sng" dirty="0">
                <a:solidFill>
                  <a:schemeClr val="accent2">
                    <a:lumMod val="75000"/>
                  </a:schemeClr>
                </a:solidFill>
              </a:rPr>
              <a:t>Люди с аналогичным стилем видят в вас</a:t>
            </a:r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 стимулирующего, коммуникабельного, вдохновляющего  энтузиаста. </a:t>
            </a:r>
          </a:p>
          <a:p>
            <a:pPr marL="34290" indent="0">
              <a:buNone/>
            </a:pPr>
            <a:r>
              <a:rPr lang="ru-RU" u="sng" dirty="0">
                <a:solidFill>
                  <a:schemeClr val="accent2">
                    <a:lumMod val="75000"/>
                  </a:schemeClr>
                </a:solidFill>
              </a:rPr>
              <a:t>Обладатели противоположного стиля видят вас как</a:t>
            </a:r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 возбудимого, эгоистичного, не в меру эмоционально реагирующего и разговорчивого манипулятора людьми.</a:t>
            </a:r>
          </a:p>
          <a:p>
            <a:pPr marL="34290" indent="0">
              <a:buNone/>
            </a:pPr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 </a:t>
            </a:r>
          </a:p>
          <a:p>
            <a:pPr marL="34290" indent="0">
              <a:buNone/>
            </a:pPr>
            <a:r>
              <a:rPr lang="ru-RU" b="1" dirty="0">
                <a:solidFill>
                  <a:schemeClr val="accent2">
                    <a:lumMod val="75000"/>
                  </a:schemeClr>
                </a:solidFill>
              </a:rPr>
              <a:t>НЕКОТОРЫЕ ПРАКТИЧЕСКИЕ ШАГИ</a:t>
            </a:r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:</a:t>
            </a:r>
          </a:p>
          <a:p>
            <a:pPr marL="34290" indent="0">
              <a:buNone/>
            </a:pPr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- Будьте менее импульсивны, оценивайте свои идеи.</a:t>
            </a:r>
          </a:p>
          <a:p>
            <a:pPr marL="34290" indent="0">
              <a:buNone/>
            </a:pPr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- Будьте более настроены на результат.</a:t>
            </a:r>
          </a:p>
          <a:p>
            <a:pPr marL="34290" indent="0">
              <a:buNone/>
            </a:pPr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- Контролируйте свои эмоции и действия.</a:t>
            </a:r>
          </a:p>
          <a:p>
            <a:pPr marL="34290" indent="0">
              <a:buNone/>
            </a:pPr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- Сосредоточьте больше внимания на фактах и деталях.</a:t>
            </a:r>
          </a:p>
          <a:p>
            <a:pPr marL="34290" indent="0">
              <a:buNone/>
            </a:pPr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- Замедлите темп, прислушайтесь к другим, не говорите так много.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2951822" y="1052736"/>
            <a:ext cx="4884383" cy="52458"/>
          </a:xfrm>
        </p:spPr>
        <p:txBody>
          <a:bodyPr>
            <a:normAutofit fontScale="90000"/>
          </a:bodyPr>
          <a:lstStyle/>
          <a:p>
            <a:endParaRPr lang="ru-RU" dirty="0"/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323528" y="313106"/>
            <a:ext cx="8424936" cy="6284246"/>
          </a:xfrm>
          <a:prstGeom prst="rect">
            <a:avLst/>
          </a:prstGeom>
        </p:spPr>
        <p:txBody>
          <a:bodyPr>
            <a:normAutofit fontScale="55000" lnSpcReduction="20000"/>
          </a:bodyPr>
          <a:lstStyle/>
          <a:p>
            <a:pPr marL="34290" indent="0">
              <a:buNone/>
            </a:pPr>
            <a:r>
              <a:rPr lang="ru-RU" b="1" dirty="0">
                <a:solidFill>
                  <a:schemeClr val="accent2">
                    <a:lumMod val="75000"/>
                  </a:schemeClr>
                </a:solidFill>
              </a:rPr>
              <a:t>ГРУППА 3. ДРУЖЕЛЮБНЫЕ (командные игрок)</a:t>
            </a:r>
          </a:p>
          <a:p>
            <a:pPr marL="34290" indent="0">
              <a:buNone/>
            </a:pPr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С готовностью сотрудничает с другими для претворения в жизнь планов и видения </a:t>
            </a:r>
          </a:p>
          <a:p>
            <a:pPr marL="34290" indent="0">
              <a:buNone/>
            </a:pPr>
            <a:r>
              <a:rPr lang="ru-RU" b="1" i="1" dirty="0">
                <a:solidFill>
                  <a:schemeClr val="accent2">
                    <a:lumMod val="75000"/>
                  </a:schemeClr>
                </a:solidFill>
              </a:rPr>
              <a:t>Желательны ситуации, дающие</a:t>
            </a:r>
            <a:endParaRPr lang="ru-RU" dirty="0">
              <a:solidFill>
                <a:schemeClr val="accent2">
                  <a:lumMod val="75000"/>
                </a:schemeClr>
              </a:solidFill>
            </a:endParaRPr>
          </a:p>
          <a:p>
            <a:pPr marL="34290" indent="0">
              <a:buNone/>
            </a:pPr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- Индивидуальную специализацию, коллективную работу, устоявшиеся стили работы, безопасность, ясные цели и должностные инструкции. </a:t>
            </a:r>
          </a:p>
          <a:p>
            <a:pPr marL="34290" indent="0">
              <a:buNone/>
            </a:pPr>
            <a:r>
              <a:rPr lang="ru-RU" b="1" i="1" dirty="0">
                <a:solidFill>
                  <a:schemeClr val="accent2">
                    <a:lumMod val="75000"/>
                  </a:schemeClr>
                </a:solidFill>
              </a:rPr>
              <a:t>Реагирует наилучшим образом на</a:t>
            </a:r>
            <a:endParaRPr lang="ru-RU" dirty="0">
              <a:solidFill>
                <a:schemeClr val="accent2">
                  <a:lumMod val="75000"/>
                </a:schemeClr>
              </a:solidFill>
            </a:endParaRPr>
          </a:p>
          <a:p>
            <a:pPr marL="34290" indent="0">
              <a:buNone/>
            </a:pPr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- Проявления дружелюбия и терпимости, предоставление свободы работать в своем собственном ритме, предоставление поддержки.</a:t>
            </a:r>
          </a:p>
          <a:p>
            <a:pPr marL="34290" indent="0">
              <a:buNone/>
            </a:pPr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 </a:t>
            </a:r>
          </a:p>
          <a:p>
            <a:pPr marL="34290" indent="0">
              <a:buNone/>
            </a:pPr>
            <a:r>
              <a:rPr lang="ru-RU" u="sng" dirty="0">
                <a:solidFill>
                  <a:schemeClr val="accent2">
                    <a:lumMod val="75000"/>
                  </a:schemeClr>
                </a:solidFill>
              </a:rPr>
              <a:t>Люди с аналогичным стилем видят в вас </a:t>
            </a:r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оказывающего поддержку, усердного, идущего на уступки человека. </a:t>
            </a:r>
          </a:p>
          <a:p>
            <a:pPr marL="34290" indent="0">
              <a:buNone/>
            </a:pPr>
            <a:r>
              <a:rPr lang="ru-RU" u="sng" dirty="0">
                <a:solidFill>
                  <a:schemeClr val="accent2">
                    <a:lumMod val="75000"/>
                  </a:schemeClr>
                </a:solidFill>
              </a:rPr>
              <a:t>Обладатели противоположного стиля видят вас как</a:t>
            </a:r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 неуклюжего, медлительного,  немногословного, зависимого приспособленца.</a:t>
            </a:r>
          </a:p>
          <a:p>
            <a:pPr marL="34290" indent="0">
              <a:buNone/>
            </a:pPr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 </a:t>
            </a:r>
          </a:p>
          <a:p>
            <a:pPr marL="34290" indent="0">
              <a:buNone/>
            </a:pPr>
            <a:r>
              <a:rPr lang="ru-RU" b="1" dirty="0">
                <a:solidFill>
                  <a:schemeClr val="accent2">
                    <a:lumMod val="75000"/>
                  </a:schemeClr>
                </a:solidFill>
              </a:rPr>
              <a:t>НЕКОТОРЫЕ ПРАКТИЧЕСКИЕ ШАГИ:</a:t>
            </a:r>
          </a:p>
          <a:p>
            <a:pPr marL="34290" indent="0">
              <a:buNone/>
            </a:pPr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- Не принимайте мнения окружающих так близко к сердцу.</a:t>
            </a:r>
          </a:p>
          <a:p>
            <a:pPr marL="34290" indent="0">
              <a:buNone/>
            </a:pPr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- Будьте прямее.</a:t>
            </a:r>
          </a:p>
          <a:p>
            <a:pPr marL="34290" indent="0">
              <a:buNone/>
            </a:pPr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- Уделяйте больше внимания самой задаче.</a:t>
            </a:r>
          </a:p>
          <a:p>
            <a:pPr marL="34290" indent="0">
              <a:buNone/>
            </a:pPr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- Не отворачивайтесь от конфликтов и быстрее принимайте решения.</a:t>
            </a:r>
          </a:p>
          <a:p>
            <a:pPr marL="34290" indent="0">
              <a:buNone/>
            </a:pPr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- Учитесь говорить «нет».</a:t>
            </a:r>
          </a:p>
          <a:p>
            <a:pPr marL="34290" indent="0">
              <a:buNone/>
            </a:pPr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- Проявляйте больше инициативы.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2951822" y="998730"/>
            <a:ext cx="4884383" cy="52458"/>
          </a:xfrm>
        </p:spPr>
        <p:txBody>
          <a:bodyPr>
            <a:normAutofit fontScale="90000"/>
          </a:bodyPr>
          <a:lstStyle/>
          <a:p>
            <a:endParaRPr lang="ru-RU" dirty="0"/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251520" y="241098"/>
            <a:ext cx="8496944" cy="6356254"/>
          </a:xfrm>
          <a:prstGeom prst="rect">
            <a:avLst/>
          </a:prstGeom>
        </p:spPr>
        <p:txBody>
          <a:bodyPr>
            <a:normAutofit fontScale="55000" lnSpcReduction="20000"/>
          </a:bodyPr>
          <a:lstStyle/>
          <a:p>
            <a:pPr marL="34290" indent="0">
              <a:buNone/>
            </a:pPr>
            <a:r>
              <a:rPr lang="ru-RU" b="1" dirty="0">
                <a:solidFill>
                  <a:schemeClr val="accent2">
                    <a:lumMod val="75000"/>
                  </a:schemeClr>
                </a:solidFill>
              </a:rPr>
              <a:t>ГРУППА 4. АНАЛИТИКИ (</a:t>
            </a:r>
            <a:r>
              <a:rPr lang="ru-RU" b="1" dirty="0" err="1">
                <a:solidFill>
                  <a:schemeClr val="accent2">
                    <a:lumMod val="75000"/>
                  </a:schemeClr>
                </a:solidFill>
              </a:rPr>
              <a:t>реализаторы</a:t>
            </a:r>
            <a:r>
              <a:rPr lang="ru-RU" b="1" dirty="0">
                <a:solidFill>
                  <a:schemeClr val="accent2">
                    <a:lumMod val="75000"/>
                  </a:schemeClr>
                </a:solidFill>
              </a:rPr>
              <a:t>)</a:t>
            </a:r>
          </a:p>
          <a:p>
            <a:pPr marL="34290" indent="0">
              <a:buNone/>
            </a:pPr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Сосредоточен на выполнении планов и видений наилучшим образом не упуская деталей. </a:t>
            </a:r>
          </a:p>
          <a:p>
            <a:pPr marL="34290" indent="0">
              <a:buNone/>
            </a:pPr>
            <a:r>
              <a:rPr lang="ru-RU" b="1" i="1" dirty="0">
                <a:solidFill>
                  <a:schemeClr val="accent2">
                    <a:lumMod val="75000"/>
                  </a:schemeClr>
                </a:solidFill>
              </a:rPr>
              <a:t>Желательны ситуации, дающие</a:t>
            </a:r>
            <a:endParaRPr lang="ru-RU" dirty="0">
              <a:solidFill>
                <a:schemeClr val="accent2">
                  <a:lumMod val="75000"/>
                </a:schemeClr>
              </a:solidFill>
            </a:endParaRPr>
          </a:p>
          <a:p>
            <a:pPr marL="34290" indent="0">
              <a:buNone/>
            </a:pPr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- Специализацию и точность, планирование, безопасность, стабильность, малый риск ошибки. </a:t>
            </a:r>
          </a:p>
          <a:p>
            <a:pPr marL="34290" indent="0">
              <a:buNone/>
            </a:pPr>
            <a:r>
              <a:rPr lang="ru-RU" b="1" i="1" dirty="0">
                <a:solidFill>
                  <a:schemeClr val="accent2">
                    <a:lumMod val="75000"/>
                  </a:schemeClr>
                </a:solidFill>
              </a:rPr>
              <a:t>Реагирует наилучшим образом на</a:t>
            </a:r>
            <a:endParaRPr lang="ru-RU" dirty="0">
              <a:solidFill>
                <a:schemeClr val="accent2">
                  <a:lumMod val="75000"/>
                </a:schemeClr>
              </a:solidFill>
            </a:endParaRPr>
          </a:p>
          <a:p>
            <a:pPr marL="34290" indent="0">
              <a:buNone/>
            </a:pPr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- Обеспечение уверенности, сохранение поддерживающей атмосферы, определение методов и стандартов.</a:t>
            </a:r>
          </a:p>
          <a:p>
            <a:pPr marL="34290" indent="0">
              <a:buNone/>
            </a:pPr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 </a:t>
            </a:r>
          </a:p>
          <a:p>
            <a:pPr marL="34290" indent="0">
              <a:buNone/>
            </a:pPr>
            <a:r>
              <a:rPr lang="ru-RU" u="sng" dirty="0">
                <a:solidFill>
                  <a:schemeClr val="accent2">
                    <a:lumMod val="75000"/>
                  </a:schemeClr>
                </a:solidFill>
              </a:rPr>
              <a:t>Люди с аналогичным стилем видят в вас</a:t>
            </a:r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 настойчивого, аккуратного, серьезного и работящего человека.  </a:t>
            </a:r>
          </a:p>
          <a:p>
            <a:pPr marL="34290" indent="0">
              <a:buNone/>
            </a:pPr>
            <a:r>
              <a:rPr lang="ru-RU" u="sng" dirty="0">
                <a:solidFill>
                  <a:schemeClr val="accent2">
                    <a:lumMod val="75000"/>
                  </a:schemeClr>
                </a:solidFill>
              </a:rPr>
              <a:t>Обладатели противоположного стиля видят вас как</a:t>
            </a:r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 занудного, критикующего, слишком разборчивого, нерешительного моралиста.</a:t>
            </a:r>
          </a:p>
          <a:p>
            <a:pPr marL="34290" indent="0">
              <a:buNone/>
            </a:pPr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 </a:t>
            </a:r>
            <a:endParaRPr lang="ru-RU" b="1" dirty="0">
              <a:solidFill>
                <a:schemeClr val="accent2">
                  <a:lumMod val="75000"/>
                </a:schemeClr>
              </a:solidFill>
            </a:endParaRPr>
          </a:p>
          <a:p>
            <a:pPr marL="34290" indent="0">
              <a:buNone/>
            </a:pPr>
            <a:r>
              <a:rPr lang="ru-RU" b="1" dirty="0">
                <a:solidFill>
                  <a:schemeClr val="accent2">
                    <a:lumMod val="75000"/>
                  </a:schemeClr>
                </a:solidFill>
              </a:rPr>
              <a:t>НЕКОТОРЫЕ ПРАКТИЧЕСКИЕ ШАГИ:</a:t>
            </a:r>
          </a:p>
          <a:p>
            <a:pPr marL="34290" indent="0">
              <a:buNone/>
            </a:pPr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- Учитесь делать правильные вещи, а не только делать вещи правильно.</a:t>
            </a:r>
          </a:p>
          <a:p>
            <a:pPr marL="34290" indent="0">
              <a:buNone/>
            </a:pPr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- Ускорьте реакцию.</a:t>
            </a:r>
          </a:p>
          <a:p>
            <a:pPr marL="34290" indent="0">
              <a:buNone/>
            </a:pPr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- Начните доверять не только фактам, но и вашей интуиции.</a:t>
            </a:r>
          </a:p>
          <a:p>
            <a:pPr marL="34290" indent="0">
              <a:buNone/>
            </a:pPr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- Приобретите способность идти на риск.</a:t>
            </a:r>
          </a:p>
          <a:p>
            <a:pPr marL="34290" indent="0">
              <a:buNone/>
            </a:pPr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- Будьте более открытыми и гибкими.</a:t>
            </a:r>
          </a:p>
          <a:p>
            <a:pPr marL="34290" indent="0">
              <a:buNone/>
            </a:pPr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- Не бойтесь развивать отношения.</a:t>
            </a:r>
          </a:p>
          <a:p>
            <a:pPr marL="34290" indent="0">
              <a:buNone/>
            </a:pPr>
            <a:endParaRPr lang="ru-RU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387786" y="1184513"/>
            <a:ext cx="5830790" cy="857250"/>
          </a:xfrm>
        </p:spPr>
        <p:txBody>
          <a:bodyPr>
            <a:normAutofit/>
          </a:bodyPr>
          <a:lstStyle/>
          <a:p>
            <a:pPr algn="ctr"/>
            <a:r>
              <a:rPr lang="ru-RU" sz="2800" b="0" dirty="0">
                <a:solidFill>
                  <a:schemeClr val="accent2">
                    <a:lumMod val="75000"/>
                  </a:schemeClr>
                </a:solidFill>
                <a:effectLst/>
              </a:rPr>
              <a:t>Как можно определить тип клиента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000250" y="2348880"/>
            <a:ext cx="6100142" cy="3528392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buSzPct val="100000"/>
            </a:pPr>
            <a:r>
              <a:rPr lang="ru-RU" sz="1800" dirty="0">
                <a:solidFill>
                  <a:schemeClr val="accent2">
                    <a:lumMod val="75000"/>
                  </a:schemeClr>
                </a:solidFill>
                <a:latin typeface="Verdana"/>
                <a:ea typeface="Verdana"/>
                <a:cs typeface="Verdana"/>
                <a:sym typeface="Verdana"/>
              </a:rPr>
              <a:t>Рабочее место человека</a:t>
            </a:r>
          </a:p>
          <a:p>
            <a:pPr>
              <a:buSzPct val="100000"/>
            </a:pPr>
            <a:r>
              <a:rPr lang="ru-RU" sz="1800" dirty="0">
                <a:solidFill>
                  <a:schemeClr val="accent2">
                    <a:lumMod val="75000"/>
                  </a:schemeClr>
                </a:solidFill>
                <a:latin typeface="Verdana"/>
                <a:ea typeface="Verdana"/>
                <a:cs typeface="Verdana"/>
                <a:sym typeface="Verdana"/>
              </a:rPr>
              <a:t>Манера речи (темп, тембр)</a:t>
            </a:r>
          </a:p>
          <a:p>
            <a:pPr>
              <a:buSzPct val="100000"/>
            </a:pPr>
            <a:r>
              <a:rPr lang="ru-RU" sz="1800" dirty="0">
                <a:solidFill>
                  <a:schemeClr val="accent2">
                    <a:lumMod val="75000"/>
                  </a:schemeClr>
                </a:solidFill>
                <a:latin typeface="Verdana"/>
                <a:ea typeface="Verdana"/>
                <a:cs typeface="Verdana"/>
                <a:sym typeface="Verdana"/>
              </a:rPr>
              <a:t>Манера коммуникации (открытость, подвижность, жестикуляция)</a:t>
            </a:r>
          </a:p>
          <a:p>
            <a:pPr>
              <a:buSzPct val="100000"/>
            </a:pPr>
            <a:r>
              <a:rPr lang="ru-RU" sz="1800" dirty="0">
                <a:solidFill>
                  <a:schemeClr val="accent2">
                    <a:lumMod val="75000"/>
                  </a:schemeClr>
                </a:solidFill>
                <a:latin typeface="Verdana"/>
                <a:ea typeface="Verdana"/>
                <a:cs typeface="Verdana"/>
                <a:sym typeface="Verdana"/>
              </a:rPr>
              <a:t>Манера одеваться</a:t>
            </a:r>
          </a:p>
          <a:p>
            <a:pPr>
              <a:buSzPct val="100000"/>
            </a:pPr>
            <a:r>
              <a:rPr lang="ru-RU" sz="1800" dirty="0">
                <a:solidFill>
                  <a:schemeClr val="accent2">
                    <a:lumMod val="75000"/>
                  </a:schemeClr>
                </a:solidFill>
                <a:latin typeface="Verdana"/>
                <a:ea typeface="Verdana"/>
                <a:cs typeface="Verdana"/>
                <a:sym typeface="Verdana"/>
              </a:rPr>
              <a:t>Для взрослых  (автомобиль, часы)</a:t>
            </a:r>
          </a:p>
          <a:p>
            <a:pPr>
              <a:buSzPct val="100000"/>
            </a:pPr>
            <a:endParaRPr lang="ru-RU" sz="1800" dirty="0">
              <a:latin typeface="Verdana"/>
              <a:ea typeface="Verdana"/>
              <a:cs typeface="Verdana"/>
              <a:sym typeface="Verdana"/>
            </a:endParaRPr>
          </a:p>
          <a:p>
            <a:endParaRPr lang="ru-RU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7EA44CCB-397E-4480-8684-C44EDE409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Гендерная психология -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7D0DD87C-70EA-4CB4-9A4D-053814C734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7427168" cy="4525963"/>
          </a:xfrm>
        </p:spPr>
        <p:txBody>
          <a:bodyPr>
            <a:normAutofit fontScale="77500" lnSpcReduction="20000"/>
          </a:bodyPr>
          <a:lstStyle/>
          <a:p>
            <a:r>
              <a:rPr lang="ru-RU" dirty="0"/>
              <a:t>область психологии, изучающая закономерности формирования и развития характеристик личности как представителя определенного пола, обусловленные явлениями половой дифференциации, т.е. противопоставлением мужчин и женщин по личностным качествам, социальным ролям и статусу.  </a:t>
            </a:r>
          </a:p>
          <a:p>
            <a:r>
              <a:rPr lang="ru-RU" dirty="0"/>
              <a:t>Г. П. включает такие направления исследований, как психология гендерных различий, психология женщин, психология мужчин, гендерная социализация, </a:t>
            </a:r>
            <a:r>
              <a:rPr lang="ru-RU" b="1" dirty="0"/>
              <a:t>психология гендерных отношений. </a:t>
            </a:r>
          </a:p>
          <a:p>
            <a:r>
              <a:rPr lang="ru-RU" dirty="0"/>
              <a:t>(Большая Российская энциклопедия). </a:t>
            </a:r>
          </a:p>
        </p:txBody>
      </p:sp>
    </p:spTree>
    <p:extLst>
      <p:ext uri="{BB962C8B-B14F-4D97-AF65-F5344CB8AC3E}">
        <p14:creationId xmlns:p14="http://schemas.microsoft.com/office/powerpoint/2010/main" val="367975821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7143A4-4BED-4B8E-86E7-8384F106D2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Пол и гендер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3D0D5E0-F05A-4FAD-A4EE-49069E99F5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09120"/>
          </a:xfrm>
        </p:spPr>
        <p:txBody>
          <a:bodyPr>
            <a:normAutofit fontScale="55000" lnSpcReduction="20000"/>
          </a:bodyPr>
          <a:lstStyle/>
          <a:p>
            <a:r>
              <a:rPr lang="ru-RU" b="1" i="1" dirty="0">
                <a:solidFill>
                  <a:srgbClr val="2E2E2E"/>
                </a:solidFill>
                <a:effectLst/>
                <a:latin typeface="Open Sans" panose="020B0606030504020204" pitchFamily="34" charset="0"/>
              </a:rPr>
              <a:t>Пол</a:t>
            </a:r>
            <a:r>
              <a:rPr lang="ru-RU" b="0" i="0" dirty="0">
                <a:solidFill>
                  <a:srgbClr val="2E2E2E"/>
                </a:solidFill>
                <a:effectLst/>
                <a:latin typeface="Open Sans" panose="020B0606030504020204" pitchFamily="34" charset="0"/>
              </a:rPr>
              <a:t> – это системная совокупность анатомо-физиологических особенностей, отличающих мужчину от женщины. </a:t>
            </a:r>
          </a:p>
          <a:p>
            <a:r>
              <a:rPr lang="ru-RU" b="1" i="1" dirty="0">
                <a:solidFill>
                  <a:srgbClr val="2E2E2E"/>
                </a:solidFill>
                <a:effectLst/>
                <a:latin typeface="Open Sans" panose="020B0606030504020204" pitchFamily="34" charset="0"/>
              </a:rPr>
              <a:t>Гендер</a:t>
            </a:r>
            <a:r>
              <a:rPr lang="ru-RU" b="0" i="0" dirty="0">
                <a:solidFill>
                  <a:srgbClr val="2E2E2E"/>
                </a:solidFill>
                <a:effectLst/>
                <a:latin typeface="Open Sans" panose="020B0606030504020204" pitchFamily="34" charset="0"/>
              </a:rPr>
              <a:t> – это социальный пол, социально детерминированные роли, идентичности и сферы деятельности мужчин и женщин, зависящие не от биологических половых различий, а от социальной организации общества.</a:t>
            </a:r>
          </a:p>
          <a:p>
            <a:r>
              <a:rPr lang="ru-RU" b="0" i="0" dirty="0">
                <a:solidFill>
                  <a:srgbClr val="2E2E2E"/>
                </a:solidFill>
                <a:effectLst/>
                <a:latin typeface="Open Sans" panose="020B0606030504020204" pitchFamily="34" charset="0"/>
              </a:rPr>
              <a:t>Термин </a:t>
            </a:r>
            <a:r>
              <a:rPr lang="ru-RU" b="1" i="1" dirty="0">
                <a:solidFill>
                  <a:srgbClr val="2E2E2E"/>
                </a:solidFill>
                <a:effectLst/>
                <a:latin typeface="Open Sans" panose="020B0606030504020204" pitchFamily="34" charset="0"/>
              </a:rPr>
              <a:t>гендер</a:t>
            </a:r>
            <a:r>
              <a:rPr lang="ru-RU" b="0" i="0" dirty="0">
                <a:solidFill>
                  <a:srgbClr val="2E2E2E"/>
                </a:solidFill>
                <a:effectLst/>
                <a:latin typeface="Open Sans" panose="020B0606030504020204" pitchFamily="34" charset="0"/>
              </a:rPr>
              <a:t> был введен в научный оборот американским психологом Робертом </a:t>
            </a:r>
            <a:r>
              <a:rPr lang="ru-RU" b="0" i="0" dirty="0" err="1">
                <a:solidFill>
                  <a:srgbClr val="2E2E2E"/>
                </a:solidFill>
                <a:effectLst/>
                <a:latin typeface="Open Sans" panose="020B0606030504020204" pitchFamily="34" charset="0"/>
              </a:rPr>
              <a:t>Столлером</a:t>
            </a:r>
            <a:r>
              <a:rPr lang="ru-RU" b="0" i="0" dirty="0">
                <a:solidFill>
                  <a:srgbClr val="2E2E2E"/>
                </a:solidFill>
                <a:effectLst/>
                <a:latin typeface="Open Sans" panose="020B0606030504020204" pitchFamily="34" charset="0"/>
              </a:rPr>
              <a:t> в конце 60-х годов XX века. </a:t>
            </a:r>
            <a:r>
              <a:rPr lang="ru-RU" b="0" i="0" dirty="0" err="1">
                <a:solidFill>
                  <a:srgbClr val="2E2E2E"/>
                </a:solidFill>
                <a:effectLst/>
                <a:latin typeface="Open Sans" panose="020B0606030504020204" pitchFamily="34" charset="0"/>
              </a:rPr>
              <a:t>Столлер</a:t>
            </a:r>
            <a:r>
              <a:rPr lang="ru-RU" b="0" i="0" dirty="0">
                <a:solidFill>
                  <a:srgbClr val="2E2E2E"/>
                </a:solidFill>
                <a:effectLst/>
                <a:latin typeface="Open Sans" panose="020B0606030504020204" pitchFamily="34" charset="0"/>
              </a:rPr>
              <a:t> предложил использовать для обозначения социальных и культурных аспектов пола понятие гендер. </a:t>
            </a:r>
          </a:p>
          <a:p>
            <a:r>
              <a:rPr lang="ru-RU" b="0" i="0" dirty="0">
                <a:solidFill>
                  <a:srgbClr val="2E2E2E"/>
                </a:solidFill>
                <a:effectLst/>
                <a:latin typeface="Open Sans" panose="020B0606030504020204" pitchFamily="34" charset="0"/>
              </a:rPr>
              <a:t>В самом общем виде понятие гендер обозначает совокупность социальных и культурных норм, которые общество предписывает выполнять людям в зависимости от их биологического пола. </a:t>
            </a:r>
          </a:p>
          <a:p>
            <a:r>
              <a:rPr lang="ru-RU" b="0" i="0" dirty="0">
                <a:solidFill>
                  <a:srgbClr val="2E2E2E"/>
                </a:solidFill>
                <a:effectLst/>
                <a:latin typeface="Open Sans" panose="020B0606030504020204" pitchFamily="34" charset="0"/>
              </a:rPr>
              <a:t>Пол предопределен природными факторами, гендер – социально сконструирован, и потому эти слова не являются синонимами.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1802494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746415-E003-4EDC-A872-9A297CEB7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800" b="1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Биологический пол человека — это</a:t>
            </a:r>
            <a:endParaRPr lang="ru-RU" sz="2800" b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F789515-06FC-436E-BD5C-385AB384B3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40768"/>
            <a:ext cx="7427168" cy="4785395"/>
          </a:xfrm>
        </p:spPr>
        <p:txBody>
          <a:bodyPr>
            <a:normAutofit fontScale="47500" lnSpcReduction="20000"/>
          </a:bodyPr>
          <a:lstStyle/>
          <a:p>
            <a:pPr algn="l"/>
            <a:r>
              <a:rPr lang="ru-RU" b="0" i="0" dirty="0">
                <a:effectLst/>
                <a:latin typeface="Arial" panose="020B0604020202020204" pitchFamily="34" charset="0"/>
              </a:rPr>
              <a:t>совокупность </a:t>
            </a:r>
            <a:r>
              <a:rPr lang="ru-RU" b="0" i="0" strike="noStrike" dirty="0">
                <a:effectLst/>
                <a:latin typeface="Arial" panose="020B0604020202020204" pitchFamily="34" charset="0"/>
                <a:hlinkClick r:id="rId2" tooltip="Анатомия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анатомических</a:t>
            </a:r>
            <a:r>
              <a:rPr lang="ru-RU" b="0" i="0" dirty="0">
                <a:effectLst/>
                <a:latin typeface="Arial" panose="020B0604020202020204" pitchFamily="34" charset="0"/>
              </a:rPr>
              <a:t>, </a:t>
            </a:r>
            <a:r>
              <a:rPr lang="ru-RU" b="0" i="0" strike="noStrike" dirty="0">
                <a:effectLst/>
                <a:latin typeface="Arial" panose="020B0604020202020204" pitchFamily="34" charset="0"/>
                <a:hlinkClick r:id="rId3" tooltip="Физиология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физиологических</a:t>
            </a:r>
            <a:r>
              <a:rPr lang="ru-RU" b="0" i="0" dirty="0">
                <a:effectLst/>
                <a:latin typeface="Arial" panose="020B0604020202020204" pitchFamily="34" charset="0"/>
              </a:rPr>
              <a:t>, </a:t>
            </a:r>
            <a:r>
              <a:rPr lang="ru-RU" b="0" i="0" strike="noStrike" dirty="0">
                <a:effectLst/>
                <a:latin typeface="Arial" panose="020B0604020202020204" pitchFamily="34" charset="0"/>
                <a:hlinkClick r:id="rId4" tooltip="Биохимия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биохимических</a:t>
            </a:r>
            <a:r>
              <a:rPr lang="ru-RU" b="0" i="0" dirty="0">
                <a:effectLst/>
                <a:latin typeface="Arial" panose="020B0604020202020204" pitchFamily="34" charset="0"/>
              </a:rPr>
              <a:t> и </a:t>
            </a:r>
            <a:r>
              <a:rPr lang="ru-RU" b="0" i="0" strike="noStrike" dirty="0">
                <a:effectLst/>
                <a:latin typeface="Arial" panose="020B0604020202020204" pitchFamily="34" charset="0"/>
                <a:hlinkClick r:id="rId5" tooltip="Генетика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генетических</a:t>
            </a:r>
            <a:r>
              <a:rPr lang="ru-RU" b="0" i="0" dirty="0">
                <a:effectLst/>
                <a:latin typeface="Arial" panose="020B0604020202020204" pitchFamily="34" charset="0"/>
              </a:rPr>
              <a:t> характеристик, отличающих мужской </a:t>
            </a:r>
            <a:r>
              <a:rPr lang="ru-RU" b="0" i="0" strike="noStrike" dirty="0">
                <a:effectLst/>
                <a:latin typeface="Arial" panose="020B0604020202020204" pitchFamily="34" charset="0"/>
                <a:hlinkClick r:id="rId6" tooltip="Организм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организм</a:t>
            </a:r>
            <a:r>
              <a:rPr lang="ru-RU" b="0" i="0" dirty="0">
                <a:effectLst/>
                <a:latin typeface="Arial" panose="020B0604020202020204" pitchFamily="34" charset="0"/>
              </a:rPr>
              <a:t> от женского и могущих применяться по отдельности или в комплексе для идентификации и различения </a:t>
            </a:r>
            <a:r>
              <a:rPr lang="ru-RU" b="0" i="0" strike="noStrike" dirty="0">
                <a:effectLst/>
                <a:latin typeface="Arial" panose="020B0604020202020204" pitchFamily="34" charset="0"/>
                <a:hlinkClick r:id="rId7" tooltip="Мужчина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мужчины</a:t>
            </a:r>
            <a:r>
              <a:rPr lang="ru-RU" b="0" i="0" dirty="0">
                <a:effectLst/>
                <a:latin typeface="Arial" panose="020B0604020202020204" pitchFamily="34" charset="0"/>
              </a:rPr>
              <a:t> от </a:t>
            </a:r>
            <a:r>
              <a:rPr lang="ru-RU" b="0" i="0" strike="noStrike" dirty="0">
                <a:effectLst/>
                <a:latin typeface="Arial" panose="020B0604020202020204" pitchFamily="34" charset="0"/>
                <a:hlinkClick r:id="rId8" tooltip="Женщина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женщины</a:t>
            </a:r>
            <a:r>
              <a:rPr lang="ru-RU" b="0" i="0" dirty="0">
                <a:effectLst/>
                <a:latin typeface="Arial" panose="020B0604020202020204" pitchFamily="34" charset="0"/>
              </a:rPr>
              <a:t>.</a:t>
            </a:r>
          </a:p>
          <a:p>
            <a:pPr algn="l"/>
            <a:r>
              <a:rPr lang="ru-RU" b="1" i="0" dirty="0">
                <a:effectLst/>
                <a:latin typeface="Arial" panose="020B0604020202020204" pitchFamily="34" charset="0"/>
              </a:rPr>
              <a:t>Выделяют следующие компоненты биологического пола: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Arial" panose="020B0604020202020204" pitchFamily="34" charset="0"/>
              </a:rPr>
              <a:t>1.Генетический пол, или </a:t>
            </a:r>
            <a:r>
              <a:rPr lang="ru-RU" b="0" i="0" strike="noStrike" dirty="0">
                <a:effectLst/>
                <a:latin typeface="Arial" panose="020B0604020202020204" pitchFamily="34" charset="0"/>
                <a:hlinkClick r:id="rId9" tooltip="Хромосома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хромосомный</a:t>
            </a:r>
            <a:r>
              <a:rPr lang="ru-RU" b="0" i="0" dirty="0">
                <a:effectLst/>
                <a:latin typeface="Arial" panose="020B0604020202020204" pitchFamily="34" charset="0"/>
              </a:rPr>
              <a:t> пол — зависит от набора половых хромосом: XY у мужчин, XX у женщин.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Arial" panose="020B0604020202020204" pitchFamily="34" charset="0"/>
              </a:rPr>
              <a:t>2.Гормональный пол — преобладание в </a:t>
            </a:r>
            <a:r>
              <a:rPr lang="ru-RU" b="0" i="0" strike="noStrike" dirty="0">
                <a:effectLst/>
                <a:latin typeface="Arial" panose="020B0604020202020204" pitchFamily="34" charset="0"/>
                <a:hlinkClick r:id="rId10" tooltip="Кровь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крови</a:t>
            </a:r>
            <a:r>
              <a:rPr lang="ru-RU" b="0" i="0" dirty="0">
                <a:effectLst/>
                <a:latin typeface="Arial" panose="020B0604020202020204" pitchFamily="34" charset="0"/>
              </a:rPr>
              <a:t> определённого вида половых гормонов: </a:t>
            </a:r>
            <a:r>
              <a:rPr lang="ru-RU" b="0" i="0" strike="noStrike" dirty="0">
                <a:effectLst/>
                <a:latin typeface="Arial" panose="020B0604020202020204" pitchFamily="34" charset="0"/>
                <a:hlinkClick r:id="rId11" tooltip="Андрогены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андрогенов</a:t>
            </a:r>
            <a:r>
              <a:rPr lang="ru-RU" b="0" i="0" dirty="0">
                <a:effectLst/>
                <a:latin typeface="Arial" panose="020B0604020202020204" pitchFamily="34" charset="0"/>
              </a:rPr>
              <a:t> (мужских) или </a:t>
            </a:r>
            <a:r>
              <a:rPr lang="ru-RU" b="0" i="0" strike="noStrike" dirty="0">
                <a:effectLst/>
                <a:latin typeface="Arial" panose="020B0604020202020204" pitchFamily="34" charset="0"/>
                <a:hlinkClick r:id="rId12" tooltip="Эстрогены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эстрогенов</a:t>
            </a:r>
            <a:r>
              <a:rPr lang="ru-RU" b="0" i="0" dirty="0">
                <a:effectLst/>
                <a:latin typeface="Arial" panose="020B0604020202020204" pitchFamily="34" charset="0"/>
              </a:rPr>
              <a:t> и </a:t>
            </a:r>
            <a:r>
              <a:rPr lang="ru-RU" b="0" i="0" strike="noStrike" dirty="0" err="1">
                <a:effectLst/>
                <a:latin typeface="Arial" panose="020B0604020202020204" pitchFamily="34" charset="0"/>
                <a:hlinkClick r:id="rId13" tooltip="Прогестины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прогестагенов</a:t>
            </a:r>
            <a:r>
              <a:rPr lang="ru-RU" b="0" i="0" dirty="0">
                <a:effectLst/>
                <a:latin typeface="Arial" panose="020B0604020202020204" pitchFamily="34" charset="0"/>
              </a:rPr>
              <a:t> (женских).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Arial" panose="020B0604020202020204" pitchFamily="34" charset="0"/>
              </a:rPr>
              <a:t>3.Гонадный пол, или пол гонад, пол половых желёз — </a:t>
            </a:r>
            <a:r>
              <a:rPr lang="ru-RU" b="0" i="0" strike="noStrike" dirty="0">
                <a:effectLst/>
                <a:latin typeface="Arial" panose="020B0604020202020204" pitchFamily="34" charset="0"/>
                <a:hlinkClick r:id="rId14" tooltip="Яички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яички</a:t>
            </a:r>
            <a:r>
              <a:rPr lang="ru-RU" b="0" i="0" dirty="0">
                <a:effectLst/>
                <a:latin typeface="Arial" panose="020B0604020202020204" pitchFamily="34" charset="0"/>
              </a:rPr>
              <a:t> или </a:t>
            </a:r>
            <a:r>
              <a:rPr lang="ru-RU" b="0" i="0" strike="noStrike" dirty="0">
                <a:effectLst/>
                <a:latin typeface="Arial" panose="020B0604020202020204" pitchFamily="34" charset="0"/>
                <a:hlinkClick r:id="rId15" tooltip="Яичники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яичники</a:t>
            </a:r>
            <a:r>
              <a:rPr lang="ru-RU" b="0" i="0" dirty="0">
                <a:effectLst/>
                <a:latin typeface="Arial" panose="020B0604020202020204" pitchFamily="34" charset="0"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Arial" panose="020B0604020202020204" pitchFamily="34" charset="0"/>
              </a:rPr>
              <a:t>4.Внутренний генитальный пол, или пол внутренних половых органов — </a:t>
            </a:r>
            <a:r>
              <a:rPr lang="ru-RU" b="0" i="0" strike="noStrike" dirty="0">
                <a:effectLst/>
                <a:latin typeface="Arial" panose="020B0604020202020204" pitchFamily="34" charset="0"/>
                <a:hlinkClick r:id="rId16" tooltip="Предстательная железа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простата</a:t>
            </a:r>
            <a:r>
              <a:rPr lang="ru-RU" b="0" i="0" dirty="0">
                <a:effectLst/>
                <a:latin typeface="Arial" panose="020B0604020202020204" pitchFamily="34" charset="0"/>
              </a:rPr>
              <a:t> и </a:t>
            </a:r>
            <a:r>
              <a:rPr lang="ru-RU" b="0" i="0" strike="noStrike" dirty="0">
                <a:effectLst/>
                <a:latin typeface="Arial" panose="020B0604020202020204" pitchFamily="34" charset="0"/>
                <a:hlinkClick r:id="rId17" tooltip="Семенные пузырьки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семенные пузырьки</a:t>
            </a:r>
            <a:r>
              <a:rPr lang="ru-RU" b="0" i="0" dirty="0">
                <a:effectLst/>
                <a:latin typeface="Arial" panose="020B0604020202020204" pitchFamily="34" charset="0"/>
              </a:rPr>
              <a:t> или </a:t>
            </a:r>
            <a:r>
              <a:rPr lang="ru-RU" b="0" i="0" strike="noStrike" dirty="0">
                <a:effectLst/>
                <a:latin typeface="Arial" panose="020B0604020202020204" pitchFamily="34" charset="0"/>
                <a:hlinkClick r:id="rId18" tooltip="Матка женщины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матка</a:t>
            </a:r>
            <a:r>
              <a:rPr lang="ru-RU" b="0" i="0" dirty="0">
                <a:effectLst/>
                <a:latin typeface="Arial" panose="020B0604020202020204" pitchFamily="34" charset="0"/>
              </a:rPr>
              <a:t>, </a:t>
            </a:r>
            <a:r>
              <a:rPr lang="ru-RU" b="0" i="0" strike="noStrike" dirty="0">
                <a:effectLst/>
                <a:latin typeface="Arial" panose="020B0604020202020204" pitchFamily="34" charset="0"/>
                <a:hlinkClick r:id="rId19" tooltip="Фаллопиевы трубы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маточные трубы</a:t>
            </a:r>
            <a:r>
              <a:rPr lang="ru-RU" b="0" i="0" dirty="0">
                <a:effectLst/>
                <a:latin typeface="Arial" panose="020B0604020202020204" pitchFamily="34" charset="0"/>
              </a:rPr>
              <a:t> и </a:t>
            </a:r>
            <a:r>
              <a:rPr lang="ru-RU" b="0" i="0" strike="noStrike" dirty="0">
                <a:effectLst/>
                <a:latin typeface="Arial" panose="020B0604020202020204" pitchFamily="34" charset="0"/>
                <a:hlinkClick r:id="rId20" tooltip="Влагалище (половой орган)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влагалище</a:t>
            </a:r>
            <a:r>
              <a:rPr lang="ru-RU" b="0" i="0" dirty="0">
                <a:effectLst/>
                <a:latin typeface="Arial" panose="020B0604020202020204" pitchFamily="34" charset="0"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Arial" panose="020B0604020202020204" pitchFamily="34" charset="0"/>
              </a:rPr>
              <a:t>5.Наружный генитальный пол, или пол наружных половых органов — </a:t>
            </a:r>
            <a:r>
              <a:rPr lang="ru-RU" b="0" i="0" strike="noStrike" dirty="0">
                <a:effectLst/>
                <a:latin typeface="Arial" panose="020B0604020202020204" pitchFamily="34" charset="0"/>
                <a:hlinkClick r:id="rId21" tooltip="Половой член человека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пенис</a:t>
            </a:r>
            <a:r>
              <a:rPr lang="ru-RU" b="0" i="0" dirty="0">
                <a:effectLst/>
                <a:latin typeface="Arial" panose="020B0604020202020204" pitchFamily="34" charset="0"/>
              </a:rPr>
              <a:t> и </a:t>
            </a:r>
            <a:r>
              <a:rPr lang="ru-RU" b="0" i="0" strike="noStrike" dirty="0">
                <a:effectLst/>
                <a:latin typeface="Arial" panose="020B0604020202020204" pitchFamily="34" charset="0"/>
                <a:hlinkClick r:id="rId22" tooltip="Мошонка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мошонка</a:t>
            </a:r>
            <a:r>
              <a:rPr lang="ru-RU" b="0" i="0" dirty="0">
                <a:effectLst/>
                <a:latin typeface="Arial" panose="020B0604020202020204" pitchFamily="34" charset="0"/>
              </a:rPr>
              <a:t> или </a:t>
            </a:r>
            <a:r>
              <a:rPr lang="ru-RU" b="0" i="0" strike="noStrike" dirty="0">
                <a:effectLst/>
                <a:latin typeface="Arial" panose="020B0604020202020204" pitchFamily="34" charset="0"/>
                <a:hlinkClick r:id="rId23" tooltip="Клитор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клитор</a:t>
            </a:r>
            <a:r>
              <a:rPr lang="ru-RU" b="0" i="0" dirty="0">
                <a:effectLst/>
                <a:latin typeface="Arial" panose="020B0604020202020204" pitchFamily="34" charset="0"/>
              </a:rPr>
              <a:t> и </a:t>
            </a:r>
            <a:r>
              <a:rPr lang="ru-RU" b="0" i="0" strike="noStrike" dirty="0">
                <a:effectLst/>
                <a:latin typeface="Arial" panose="020B0604020202020204" pitchFamily="34" charset="0"/>
                <a:hlinkClick r:id="rId24" tooltip="Половые губы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половые губы</a:t>
            </a:r>
            <a:r>
              <a:rPr lang="ru-RU" b="0" i="0" dirty="0">
                <a:effectLst/>
                <a:latin typeface="Arial" panose="020B0604020202020204" pitchFamily="34" charset="0"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Arial" panose="020B0604020202020204" pitchFamily="34" charset="0"/>
              </a:rPr>
              <a:t>6.Субсидальный пол — строение </a:t>
            </a:r>
            <a:r>
              <a:rPr lang="ru-RU" b="0" i="0" strike="noStrike" dirty="0">
                <a:effectLst/>
                <a:latin typeface="Arial" panose="020B0604020202020204" pitchFamily="34" charset="0"/>
                <a:hlinkClick r:id="rId25" tooltip="Скелет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скелета</a:t>
            </a:r>
            <a:r>
              <a:rPr lang="ru-RU" b="0" i="0" dirty="0">
                <a:effectLst/>
                <a:latin typeface="Arial" panose="020B0604020202020204" pitchFamily="34" charset="0"/>
              </a:rPr>
              <a:t>, тембр </a:t>
            </a:r>
            <a:r>
              <a:rPr lang="ru-RU" b="0" i="0" strike="noStrike" dirty="0">
                <a:effectLst/>
                <a:latin typeface="Arial" panose="020B0604020202020204" pitchFamily="34" charset="0"/>
                <a:hlinkClick r:id="rId26" tooltip="Голос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голоса</a:t>
            </a:r>
            <a:r>
              <a:rPr lang="ru-RU" b="0" i="0" dirty="0">
                <a:effectLst/>
                <a:latin typeface="Arial" panose="020B0604020202020204" pitchFamily="34" charset="0"/>
              </a:rPr>
              <a:t>, степень развития мышечной ткани, распределение подкожной жировой прослойки, наличие или отсутствие развитых </a:t>
            </a:r>
            <a:r>
              <a:rPr lang="ru-RU" b="0" i="0" strike="noStrike" dirty="0">
                <a:effectLst/>
                <a:latin typeface="Arial" panose="020B0604020202020204" pitchFamily="34" charset="0"/>
                <a:hlinkClick r:id="rId27" tooltip="Молочная железа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молочных желёз</a:t>
            </a:r>
            <a:r>
              <a:rPr lang="ru-RU" b="0" i="0" dirty="0">
                <a:effectLst/>
                <a:latin typeface="Arial" panose="020B0604020202020204" pitchFamily="34" charset="0"/>
              </a:rPr>
              <a:t>. Развитие вторичных половых признаков определяется уровнем половых гормонов, чувствительностью клеточных рецепторов, характеристиками внешней среды.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Arial" panose="020B0604020202020204" pitchFamily="34" charset="0"/>
              </a:rPr>
              <a:t>7.Сенсуальный пол — тип волосяного покрова, тип кожи, тип запаха (</a:t>
            </a:r>
            <a:r>
              <a:rPr lang="ru-RU" b="0" i="0" strike="noStrike" dirty="0">
                <a:effectLst/>
                <a:latin typeface="Arial" panose="020B0604020202020204" pitchFamily="34" charset="0"/>
                <a:hlinkClick r:id="rId28" tooltip="Феромоны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феромоны</a:t>
            </a:r>
            <a:r>
              <a:rPr lang="ru-RU" b="0" i="0" dirty="0">
                <a:effectLst/>
                <a:latin typeface="Arial" panose="020B0604020202020204" pitchFamily="34" charset="0"/>
              </a:rPr>
              <a:t>).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1513065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E5D380-B317-43E9-8C89-C939B99C94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7427168" cy="1143000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00F9212-1D50-47AD-975D-59A0E0DB15A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5330" y="1484785"/>
            <a:ext cx="7772870" cy="4306416"/>
          </a:xfrm>
        </p:spPr>
        <p:txBody>
          <a:bodyPr>
            <a:normAutofit fontScale="77500" lnSpcReduction="20000"/>
          </a:bodyPr>
          <a:lstStyle/>
          <a:p>
            <a:r>
              <a:rPr lang="ru-RU" dirty="0"/>
              <a:t>Мозг у Женского и Мужского эмбрионов (с</a:t>
            </a:r>
            <a:r>
              <a:rPr lang="en-US" dirty="0"/>
              <a:t> XX  </a:t>
            </a:r>
            <a:r>
              <a:rPr lang="ru-RU" dirty="0"/>
              <a:t> и </a:t>
            </a:r>
            <a:r>
              <a:rPr lang="en-US" dirty="0"/>
              <a:t>XY</a:t>
            </a:r>
            <a:r>
              <a:rPr lang="ru-RU" dirty="0"/>
              <a:t>  хромосомами) развивается по разному.</a:t>
            </a:r>
          </a:p>
          <a:p>
            <a:r>
              <a:rPr lang="ru-RU" dirty="0"/>
              <a:t>Самое заметное различие в Гипоталамусе - центральном связующем звене между нервной и эндокринной системами. </a:t>
            </a:r>
          </a:p>
          <a:p>
            <a:r>
              <a:rPr lang="ru-RU" dirty="0"/>
              <a:t>А он регулирует </a:t>
            </a:r>
            <a:r>
              <a:rPr lang="ru-RU" b="1" i="1" dirty="0"/>
              <a:t>ощущение голода, жажды, терморегуляцию, половое поведение, ритмы сна и бодрствования. </a:t>
            </a:r>
          </a:p>
          <a:p>
            <a:r>
              <a:rPr lang="ru-RU" dirty="0"/>
              <a:t>Ссылка на интересную статью:</a:t>
            </a:r>
          </a:p>
          <a:p>
            <a:br>
              <a:rPr lang="ru-RU" dirty="0"/>
            </a:br>
            <a:r>
              <a:rPr lang="en-US" sz="2600" dirty="0"/>
              <a:t>http://www.sohmet.ru/books/item/f00/s00/z0000043/st005.shtml</a:t>
            </a:r>
            <a:br>
              <a:rPr lang="ru-RU" sz="2600" dirty="0"/>
            </a:br>
            <a:r>
              <a:rPr lang="ru-RU" sz="2300" b="1" dirty="0">
                <a:solidFill>
                  <a:srgbClr val="4D412D"/>
                </a:solidFill>
                <a:effectLst/>
                <a:latin typeface="Times New Roman" panose="02020603050405020304" pitchFamily="18" charset="0"/>
              </a:rPr>
              <a:t>Гормональная регуляция половой сферы ребенка на основных этапах развития</a:t>
            </a:r>
          </a:p>
          <a:p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9352883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8D0ED2E-8E08-4739-A7BF-BE345143EA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Функционал мужчины и женщины: </a:t>
            </a:r>
            <a:br>
              <a:rPr lang="ru-RU" dirty="0"/>
            </a:br>
            <a:r>
              <a:rPr lang="ru-RU" dirty="0"/>
              <a:t>«гендерный стереотип»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385F258-3BB7-4758-BCB9-56753683AE7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5330" y="1556792"/>
            <a:ext cx="5758878" cy="5026569"/>
          </a:xfrm>
        </p:spPr>
        <p:txBody>
          <a:bodyPr>
            <a:normAutofit fontScale="70000" lnSpcReduction="20000"/>
          </a:bodyPr>
          <a:lstStyle/>
          <a:p>
            <a:r>
              <a:rPr lang="ru-RU" b="1" dirty="0"/>
              <a:t>Мужчины: </a:t>
            </a:r>
            <a:r>
              <a:rPr lang="ru-RU" dirty="0"/>
              <a:t>охотник, добытчик, воин, защитник</a:t>
            </a:r>
          </a:p>
          <a:p>
            <a:r>
              <a:rPr lang="ru-RU" b="1" dirty="0"/>
              <a:t>Важны:</a:t>
            </a:r>
            <a:r>
              <a:rPr lang="ru-RU" dirty="0"/>
              <a:t> свобода передвижения, свобода в принятии решений;</a:t>
            </a:r>
          </a:p>
          <a:p>
            <a:r>
              <a:rPr lang="ru-RU" dirty="0"/>
              <a:t>ощущения себя хозяином своего «прайда»;</a:t>
            </a:r>
          </a:p>
          <a:p>
            <a:r>
              <a:rPr lang="ru-RU" dirty="0"/>
              <a:t> бесстрашие, умение конкурировать, сражаться, добиваться своего!</a:t>
            </a:r>
          </a:p>
          <a:p>
            <a:endParaRPr lang="ru-RU" dirty="0"/>
          </a:p>
          <a:p>
            <a:r>
              <a:rPr lang="ru-RU" b="1" dirty="0"/>
              <a:t>Женщины: </a:t>
            </a:r>
            <a:r>
              <a:rPr lang="ru-RU" dirty="0"/>
              <a:t>помощница, хранительница очага (огня), хозяйка, мать, бабушка (помощь по хозяйству и уходу за детьми)</a:t>
            </a:r>
          </a:p>
          <a:p>
            <a:r>
              <a:rPr lang="ru-RU" b="1" dirty="0"/>
              <a:t>Важны: </a:t>
            </a:r>
            <a:r>
              <a:rPr lang="ru-RU" dirty="0"/>
              <a:t>безопасность,  стабильность, пространство – для хозяйничая, уверенность в М</a:t>
            </a:r>
          </a:p>
          <a:p>
            <a:endParaRPr lang="ru-RU" dirty="0"/>
          </a:p>
        </p:txBody>
      </p:sp>
      <p:pic>
        <p:nvPicPr>
          <p:cNvPr id="5122" name="Picture 2" descr="Этика женщин, этика мужчин - Павел Зыгмантович">
            <a:extLst>
              <a:ext uri="{FF2B5EF4-FFF2-40B4-BE49-F238E27FC236}">
                <a16:creationId xmlns:a16="http://schemas.microsoft.com/office/drawing/2014/main" id="{5B772F29-5481-41CE-A504-C61D4B74C0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0192" y="1382966"/>
            <a:ext cx="2705100" cy="1695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4714536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A8F6C4C-FDCD-4ED6-9106-FA92F79D20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930" y="403580"/>
            <a:ext cx="7773338" cy="578234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Слова Поддержки и восхищения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BCB2669-D3B1-45A5-BC11-E33226400DC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62080" y="1412776"/>
            <a:ext cx="7199038" cy="4752527"/>
          </a:xfrm>
        </p:spPr>
        <p:txBody>
          <a:bodyPr>
            <a:normAutofit fontScale="77500" lnSpcReduction="20000"/>
          </a:bodyPr>
          <a:lstStyle/>
          <a:p>
            <a:r>
              <a:rPr lang="ru-RU" b="1" dirty="0"/>
              <a:t>ВОСХИЩАЯСЬ М, ОБРАЩАЕМ ВНИМАНИЕ НА:</a:t>
            </a:r>
            <a:endParaRPr lang="ru-RU" dirty="0"/>
          </a:p>
          <a:p>
            <a:pPr lvl="0"/>
            <a:r>
              <a:rPr lang="ru-RU" dirty="0"/>
              <a:t>ДОСТИЖЕНИЯ</a:t>
            </a:r>
          </a:p>
          <a:p>
            <a:pPr lvl="0"/>
            <a:r>
              <a:rPr lang="ru-RU" dirty="0"/>
              <a:t>Свойства, навыки, умения, способности, с помощью которых он делает свои достижения.</a:t>
            </a:r>
          </a:p>
          <a:p>
            <a:pPr lvl="0"/>
            <a:r>
              <a:rPr lang="ru-RU" dirty="0"/>
              <a:t>МУЖСКИЕ качества и свойства характера</a:t>
            </a:r>
          </a:p>
          <a:p>
            <a:pPr lvl="0"/>
            <a:r>
              <a:rPr lang="ru-RU" dirty="0"/>
              <a:t>Внешность</a:t>
            </a:r>
          </a:p>
          <a:p>
            <a:r>
              <a:rPr lang="ru-RU" b="1" dirty="0"/>
              <a:t>ВОСХИЩАЯСЬ Ж, ОБРАЩАЕМ ВНИМАНИЕ НА:</a:t>
            </a:r>
            <a:endParaRPr lang="ru-RU" dirty="0"/>
          </a:p>
          <a:p>
            <a:pPr lvl="0"/>
            <a:r>
              <a:rPr lang="ru-RU" dirty="0"/>
              <a:t>ВНЕШНОСТЬ</a:t>
            </a:r>
          </a:p>
          <a:p>
            <a:pPr lvl="0"/>
            <a:r>
              <a:rPr lang="ru-RU" dirty="0"/>
              <a:t>ЖЕНСКИЕ качества и свойства характера</a:t>
            </a:r>
          </a:p>
          <a:p>
            <a:pPr lvl="0"/>
            <a:r>
              <a:rPr lang="ru-RU" dirty="0"/>
              <a:t>Свойства, навыки, умения, способности, присущие женщине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6874933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8B87312-FDF9-4BE2-852E-6ADDA2E1EF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7584" y="274638"/>
            <a:ext cx="7859216" cy="778098"/>
          </a:xfrm>
        </p:spPr>
        <p:txBody>
          <a:bodyPr>
            <a:normAutofit fontScale="90000"/>
          </a:bodyPr>
          <a:lstStyle/>
          <a:p>
            <a:r>
              <a:rPr lang="ru-RU" sz="3200" b="1" dirty="0"/>
              <a:t>Фразы, необходимые близкому </a:t>
            </a:r>
            <a:br>
              <a:rPr lang="ru-RU" sz="3200" b="1" dirty="0"/>
            </a:br>
            <a:r>
              <a:rPr lang="ru-RU" sz="3200" b="1" dirty="0"/>
              <a:t>человеку, как воздух</a:t>
            </a:r>
            <a:r>
              <a:rPr lang="ru-RU" sz="3200" dirty="0"/>
              <a:t>!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B3B2F6D-642D-460E-8713-85FBD4CA73F4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457200" y="1412776"/>
            <a:ext cx="6779096" cy="5256584"/>
          </a:xfrm>
        </p:spPr>
        <p:txBody>
          <a:bodyPr>
            <a:normAutofit fontScale="77500" lnSpcReduction="20000"/>
          </a:bodyPr>
          <a:lstStyle/>
          <a:p>
            <a:r>
              <a:rPr lang="ru-RU" dirty="0"/>
              <a:t>Я рада тебя видеть. Я люблю, когда ты что-то рассказываешь мне, мне интересно. </a:t>
            </a:r>
          </a:p>
          <a:p>
            <a:r>
              <a:rPr lang="ru-RU" dirty="0"/>
              <a:t>Какая ты красивая! </a:t>
            </a:r>
          </a:p>
          <a:p>
            <a:r>
              <a:rPr lang="ru-RU" dirty="0"/>
              <a:t>Ты просто герой! Мне хорошо, когда мы вместе. </a:t>
            </a:r>
          </a:p>
          <a:p>
            <a:r>
              <a:rPr lang="ru-RU" dirty="0"/>
              <a:t>Я любуюсь тобой! Я восхищаюсь!</a:t>
            </a:r>
          </a:p>
          <a:p>
            <a:endParaRPr lang="ru-RU" dirty="0"/>
          </a:p>
          <a:p>
            <a:r>
              <a:rPr lang="ru-RU" i="1" dirty="0"/>
              <a:t>«Давайте восклицать, друг другом восхищаться</a:t>
            </a:r>
            <a:br>
              <a:rPr lang="ru-RU" i="1" dirty="0"/>
            </a:br>
            <a:r>
              <a:rPr lang="ru-RU" i="1" dirty="0"/>
              <a:t>Высокопарных слов не надо опасаться</a:t>
            </a:r>
          </a:p>
          <a:p>
            <a:r>
              <a:rPr lang="ru-RU" i="1" dirty="0"/>
              <a:t>Давайте говорить друг другу комплименты</a:t>
            </a:r>
            <a:br>
              <a:rPr lang="ru-RU" i="1" dirty="0"/>
            </a:br>
            <a:r>
              <a:rPr lang="ru-RU" i="1" dirty="0"/>
              <a:t>Ведь это всё любви счастливые моменты»</a:t>
            </a:r>
          </a:p>
          <a:p>
            <a:r>
              <a:rPr lang="ru-RU" dirty="0"/>
              <a:t>(Б. Окуджава)</a:t>
            </a:r>
          </a:p>
          <a:p>
            <a:endParaRPr lang="ru-RU" dirty="0"/>
          </a:p>
        </p:txBody>
      </p:sp>
      <p:pic>
        <p:nvPicPr>
          <p:cNvPr id="16386" name="Picture 2" descr="Гештальт терапия: Кто такие чувства человека? | Фактор Роста">
            <a:extLst>
              <a:ext uri="{FF2B5EF4-FFF2-40B4-BE49-F238E27FC236}">
                <a16:creationId xmlns:a16="http://schemas.microsoft.com/office/drawing/2014/main" id="{0CE2F5EE-74F3-4A70-90B6-566FD9D7EB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0232" y="2865711"/>
            <a:ext cx="2437695" cy="16306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4422830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B7A72FAD-2BB7-4E0F-9AD6-663C121B23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464A8D9F-3138-45A9-AD3A-7158C89C77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5945" y="116632"/>
            <a:ext cx="2378511" cy="3776663"/>
          </a:xfr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670B296D-8FE3-4759-8D88-5AEC4FCE92D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809955" y="1932508"/>
            <a:ext cx="3282906" cy="2378513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6E304C8E-1736-4B0F-90D1-89E32FD26B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59545" y="2793773"/>
            <a:ext cx="3260210" cy="2514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744519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9FB527-5B8D-44C9-B53D-3FD868F2AC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Основные принципы взаимодействия в семье – это…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2650A30-90AB-48D2-A314-65AB758856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1628800"/>
            <a:ext cx="6033864" cy="4525963"/>
          </a:xfrm>
        </p:spPr>
        <p:txBody>
          <a:bodyPr>
            <a:normAutofit/>
          </a:bodyPr>
          <a:lstStyle/>
          <a:p>
            <a:r>
              <a:rPr lang="ru-RU" sz="2800" dirty="0"/>
              <a:t>принципы экологического общения. </a:t>
            </a:r>
          </a:p>
          <a:p>
            <a:r>
              <a:rPr lang="ru-RU" sz="2800" dirty="0"/>
              <a:t>Экологическое общение – это общение, которое не разрушает отношения и нервную систему членов семьи, а помогает им договариваться, поддерживать друг друга и развивать отношения. </a:t>
            </a:r>
          </a:p>
        </p:txBody>
      </p:sp>
    </p:spTree>
    <p:extLst>
      <p:ext uri="{BB962C8B-B14F-4D97-AF65-F5344CB8AC3E}">
        <p14:creationId xmlns:p14="http://schemas.microsoft.com/office/powerpoint/2010/main" val="350403349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1C6BC9AF-7C78-4F4F-928B-45C65AB45A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7864" y="332656"/>
            <a:ext cx="5117015" cy="1186336"/>
          </a:xfrm>
        </p:spPr>
        <p:txBody>
          <a:bodyPr>
            <a:normAutofit fontScale="90000"/>
          </a:bodyPr>
          <a:lstStyle/>
          <a:p>
            <a:r>
              <a:rPr lang="ru-RU" sz="3000" b="1" dirty="0">
                <a:solidFill>
                  <a:srgbClr val="C00000"/>
                </a:solidFill>
              </a:rPr>
              <a:t>Что такое уважительное общение и почему мы так часто пренебрегаем его законами </a:t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9FEBC10-D239-44B0-AEA8-8DC9F1FEED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380" y="2053413"/>
            <a:ext cx="6712523" cy="3967875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ru-RU" sz="2400" b="1" dirty="0"/>
              <a:t>   Законы уважительного общения</a:t>
            </a:r>
          </a:p>
          <a:p>
            <a:pPr lvl="0"/>
            <a:r>
              <a:rPr lang="ru-RU" sz="2400" b="1" dirty="0"/>
              <a:t>НЕТ долгим монологам. </a:t>
            </a:r>
            <a:r>
              <a:rPr lang="ru-RU" sz="2400" dirty="0"/>
              <a:t>Если мы будем долго говорить и только о себе, то у близкого человека возникнет ощущение, что к нему нет интереса. </a:t>
            </a:r>
          </a:p>
          <a:p>
            <a:pPr lvl="0"/>
            <a:r>
              <a:rPr lang="ru-RU" sz="2400" b="1" dirty="0"/>
              <a:t>Не перебиваем. </a:t>
            </a:r>
            <a:endParaRPr lang="ru-RU" sz="2400" dirty="0"/>
          </a:p>
          <a:p>
            <a:pPr lvl="0"/>
            <a:r>
              <a:rPr lang="ru-RU" sz="2400" b="1" dirty="0"/>
              <a:t>Не переговариваемся</a:t>
            </a:r>
            <a:r>
              <a:rPr lang="ru-RU" sz="2400" dirty="0"/>
              <a:t>, когда один говорит. Захочется ли вашему близкому человеку снова обсудить с вами что-то?</a:t>
            </a:r>
          </a:p>
          <a:p>
            <a:pPr lvl="0"/>
            <a:r>
              <a:rPr lang="ru-RU" sz="2400" b="1" dirty="0"/>
              <a:t>Не пропадаем в телефоне. </a:t>
            </a:r>
            <a:r>
              <a:rPr lang="ru-RU" sz="2400" dirty="0"/>
              <a:t>На время общения друг с другом важно дарить свое внимание людям. </a:t>
            </a:r>
          </a:p>
          <a:p>
            <a:pPr lvl="0"/>
            <a:r>
              <a:rPr lang="ru-RU" sz="2400" b="1" dirty="0"/>
              <a:t>Не учим, не даем советов.</a:t>
            </a:r>
            <a:endParaRPr lang="ru-RU" sz="2400" dirty="0"/>
          </a:p>
          <a:p>
            <a:r>
              <a:rPr lang="ru-RU" sz="2400" dirty="0"/>
              <a:t>Когда мы учим, мы ставим себя выше собеседника. Когда мы даем совет, то берем ответственность за решение на себя. Это общение не на равных. </a:t>
            </a:r>
          </a:p>
          <a:p>
            <a:endParaRPr lang="ru-RU" sz="2400" b="1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1300181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9FEBC10-D239-44B0-AEA8-8DC9F1FEED52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99592" y="692696"/>
            <a:ext cx="6971110" cy="4941293"/>
          </a:xfrm>
        </p:spPr>
        <p:txBody>
          <a:bodyPr>
            <a:normAutofit fontScale="70000" lnSpcReduction="20000"/>
          </a:bodyPr>
          <a:lstStyle/>
          <a:p>
            <a:pPr lvl="0"/>
            <a:r>
              <a:rPr lang="ru-RU" b="1" dirty="0"/>
              <a:t>Не исправляем. Не подсказываем</a:t>
            </a:r>
            <a:r>
              <a:rPr lang="ru-RU" dirty="0"/>
              <a:t>. </a:t>
            </a:r>
            <a:r>
              <a:rPr lang="ru-RU" b="1" dirty="0"/>
              <a:t>Не договариваем за другого.</a:t>
            </a:r>
            <a:r>
              <a:rPr lang="ru-RU" dirty="0"/>
              <a:t> Это правила уважительного слушания и беседы на равных. Никто не учит, никто не заискивает.</a:t>
            </a:r>
          </a:p>
          <a:p>
            <a:pPr lvl="0"/>
            <a:r>
              <a:rPr lang="ru-RU" b="1" dirty="0"/>
              <a:t>Не говорим друг о друге в третьем лице</a:t>
            </a:r>
            <a:r>
              <a:rPr lang="ru-RU" dirty="0"/>
              <a:t>.</a:t>
            </a:r>
          </a:p>
          <a:p>
            <a:r>
              <a:rPr lang="ru-RU" dirty="0"/>
              <a:t>Если член семьи присутствует и есть возможность сказать «ты», а не «он», то лучше сказать «ты».</a:t>
            </a:r>
          </a:p>
          <a:p>
            <a:pPr lvl="0"/>
            <a:r>
              <a:rPr lang="ru-RU" b="1" dirty="0"/>
              <a:t>Дарим качественное внимание.</a:t>
            </a:r>
            <a:r>
              <a:rPr lang="ru-RU" dirty="0"/>
              <a:t> Слушать, глядя на собеседника, в открытой позе, с интересом и вниманием. </a:t>
            </a:r>
          </a:p>
          <a:p>
            <a:pPr lvl="0"/>
            <a:r>
              <a:rPr lang="ru-RU" b="1" dirty="0"/>
              <a:t>Не выносим сор из избы. </a:t>
            </a:r>
            <a:r>
              <a:rPr lang="ru-RU" dirty="0"/>
              <a:t>Мы не рассказываем за пределами семьи об интимных подробностях, о сокровенных чувствах, об историях, которыми делились наши близкие. </a:t>
            </a:r>
          </a:p>
          <a:p>
            <a:pPr marL="0" indent="0" algn="just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1735639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E6B4891-796B-4F57-828B-C8B309DFA1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3928" y="274638"/>
            <a:ext cx="4762872" cy="490066"/>
          </a:xfrm>
        </p:spPr>
        <p:txBody>
          <a:bodyPr>
            <a:normAutofit fontScale="90000"/>
          </a:bodyPr>
          <a:lstStyle/>
          <a:p>
            <a:r>
              <a:rPr lang="ru-RU" dirty="0" err="1"/>
              <a:t>Конфликтогены</a:t>
            </a:r>
            <a:r>
              <a:rPr lang="ru-RU" dirty="0"/>
              <a:t> 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quarter" idx="4294967295"/>
          </p:nvPr>
        </p:nvSpPr>
        <p:spPr>
          <a:xfrm>
            <a:off x="0" y="908050"/>
            <a:ext cx="7740352" cy="5473278"/>
          </a:xfrm>
        </p:spPr>
        <p:txBody>
          <a:bodyPr>
            <a:normAutofit fontScale="62500" lnSpcReduction="20000"/>
          </a:bodyPr>
          <a:lstStyle/>
          <a:p>
            <a:pPr lvl="0"/>
            <a:r>
              <a:rPr lang="ru-RU" b="1" i="1" dirty="0"/>
              <a:t>слова, выражающие недоверие</a:t>
            </a:r>
            <a:r>
              <a:rPr lang="ru-RU" b="1" dirty="0"/>
              <a:t>: </a:t>
            </a:r>
            <a:r>
              <a:rPr lang="ru-RU" dirty="0"/>
              <a:t>«вы меня обманули», «я вам не верю», «вы не разбираетесь» и др.; </a:t>
            </a:r>
          </a:p>
          <a:p>
            <a:pPr lvl="0"/>
            <a:r>
              <a:rPr lang="ru-RU" b="1" i="1" dirty="0"/>
              <a:t>слова-оскорбления</a:t>
            </a:r>
            <a:r>
              <a:rPr lang="ru-RU" b="1" dirty="0"/>
              <a:t>:</a:t>
            </a:r>
            <a:r>
              <a:rPr lang="ru-RU" dirty="0"/>
              <a:t> «</a:t>
            </a:r>
            <a:r>
              <a:rPr lang="ru-RU" dirty="0" err="1"/>
              <a:t>идиот</a:t>
            </a:r>
            <a:r>
              <a:rPr lang="ru-RU" dirty="0"/>
              <a:t>», «</a:t>
            </a:r>
            <a:r>
              <a:rPr lang="ru-RU" dirty="0" err="1"/>
              <a:t>подонок</a:t>
            </a:r>
            <a:r>
              <a:rPr lang="ru-RU" dirty="0"/>
              <a:t>», «тряпка»» и др.; </a:t>
            </a:r>
          </a:p>
          <a:p>
            <a:pPr lvl="0"/>
            <a:r>
              <a:rPr lang="ru-RU" b="1" i="1" dirty="0"/>
              <a:t>слова-угрозы</a:t>
            </a:r>
            <a:r>
              <a:rPr lang="ru-RU" b="1" dirty="0"/>
              <a:t>: </a:t>
            </a:r>
            <a:r>
              <a:rPr lang="ru-RU" dirty="0"/>
              <a:t>«мы еще встретимся на аттестации», «я тебе это припомню», «ты еще пожалеешь» и др.; </a:t>
            </a:r>
          </a:p>
          <a:p>
            <a:pPr lvl="0"/>
            <a:r>
              <a:rPr lang="ru-RU" b="1" i="1" dirty="0"/>
              <a:t>слова-насмешки</a:t>
            </a:r>
            <a:endParaRPr lang="ru-RU" dirty="0"/>
          </a:p>
          <a:p>
            <a:pPr lvl="0"/>
            <a:r>
              <a:rPr lang="ru-RU" b="1" i="1" dirty="0"/>
              <a:t>слова, выражающие отрицательное отношение</a:t>
            </a:r>
            <a:r>
              <a:rPr lang="ru-RU" b="1" dirty="0"/>
              <a:t>: </a:t>
            </a:r>
            <a:r>
              <a:rPr lang="ru-RU" dirty="0"/>
              <a:t>«я тебя ненавижу», «я не хочу с тобой разговаривать», «ты мне противен» и др.; </a:t>
            </a:r>
          </a:p>
          <a:p>
            <a:pPr lvl="0"/>
            <a:r>
              <a:rPr lang="ru-RU" b="1" i="1" dirty="0"/>
              <a:t>слова-долженствования</a:t>
            </a:r>
            <a:r>
              <a:rPr lang="ru-RU" b="1" dirty="0"/>
              <a:t>: </a:t>
            </a:r>
            <a:r>
              <a:rPr lang="ru-RU" dirty="0"/>
              <a:t>«вы обязаны», «ты должен» и др.; </a:t>
            </a:r>
          </a:p>
          <a:p>
            <a:pPr lvl="0"/>
            <a:r>
              <a:rPr lang="ru-RU" b="1" i="1" dirty="0"/>
              <a:t>слова-обвинения</a:t>
            </a:r>
            <a:r>
              <a:rPr lang="ru-RU" b="1" dirty="0"/>
              <a:t>: </a:t>
            </a:r>
            <a:r>
              <a:rPr lang="ru-RU" dirty="0"/>
              <a:t>«это все из-за вас», «вы все испортили», «вы лгун и обманщик», «ты во всем виноват» и др.; </a:t>
            </a:r>
          </a:p>
          <a:p>
            <a:pPr lvl="0"/>
            <a:r>
              <a:rPr lang="ru-RU" b="1" i="1" dirty="0"/>
              <a:t>слова, выражающие категоричность</a:t>
            </a:r>
            <a:r>
              <a:rPr lang="ru-RU" b="1" dirty="0"/>
              <a:t>: </a:t>
            </a:r>
            <a:r>
              <a:rPr lang="ru-RU" dirty="0"/>
              <a:t>«всегда», «ничего и никогда», «все», «никто», «ни за что» и др.; </a:t>
            </a:r>
          </a:p>
          <a:p>
            <a:pPr lvl="0"/>
            <a:r>
              <a:rPr lang="ru-RU" b="1" i="1" dirty="0"/>
              <a:t>слова - ссылки на отрицательные мнения </a:t>
            </a:r>
            <a:r>
              <a:rPr lang="ru-RU" dirty="0"/>
              <a:t>других людей о человеке: «мне твой бывший начальник говорил», «недаром мне говорили, что вы конфликтная, теперь я понимаю», «а говорят, что в прошлом вы…» и т. п. 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7555228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A4C7A72-3E49-4720-8DF5-2F5C32251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2800" b="1" dirty="0"/>
              <a:t>Как говорить о том, что сделано не так, чтобы не обидеть человека</a:t>
            </a:r>
            <a:br>
              <a:rPr lang="ru-RU" sz="2800" dirty="0"/>
            </a:br>
            <a:r>
              <a:rPr lang="ru-RU" sz="2400" dirty="0"/>
              <a:t>КРИТИКА или ПОДДЕРЖКА?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BC2ABCF-9E64-4C0F-AD16-88FFBBF96F3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Казалось бы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что </a:t>
            </a:r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лучше всего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для анализа проделанной работы </a:t>
            </a:r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использовать критику… 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Но это только если, оценивая чей-либо результат, вы:</a:t>
            </a:r>
            <a:endParaRPr lang="ru-RU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500"/>
              </a:spcAft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хотите </a:t>
            </a:r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выставить себя сверхкомпетентным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не предложив ни одного собственного решения поставленной задачи;</a:t>
            </a:r>
            <a:endParaRPr lang="ru-RU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500"/>
              </a:spcAft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хотите </a:t>
            </a:r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добавить человеку отрицательных эмоций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понизить его самооценку и желание работать;</a:t>
            </a:r>
            <a:endParaRPr lang="ru-RU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хотите </a:t>
            </a:r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вызвать агрессию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(явную или скрытую) к себе…</a:t>
            </a:r>
            <a:endParaRPr lang="ru-RU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AEBE8C5-ADB8-4B2C-8536-EB9314423193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860032" y="2564904"/>
            <a:ext cx="3102884" cy="20680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3577081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DAB86ABF-9EAF-4B42-826B-8DDC031394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4082"/>
          </a:xfrm>
        </p:spPr>
        <p:txBody>
          <a:bodyPr>
            <a:normAutofit fontScale="90000"/>
          </a:bodyPr>
          <a:lstStyle/>
          <a:p>
            <a:r>
              <a:rPr lang="ru-RU" sz="3600" dirty="0"/>
              <a:t>Помогающий отзыв 80\20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FA5276AD-01C7-4736-8F1D-8A59CDF799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340768"/>
            <a:ext cx="4038600" cy="4785395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 помогающем отзыве:</a:t>
            </a:r>
            <a:endParaRPr lang="ru-RU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Wingdings" panose="05000000000000000000" pitchFamily="2" charset="2"/>
              <a:buChar char=""/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особое внимание уделяется </a:t>
            </a:r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взаимопониманию и доверию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между </a:t>
            </a:r>
            <a:r>
              <a:rPr lang="ru-RU" sz="18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партнерами</a:t>
            </a:r>
          </a:p>
          <a:p>
            <a:pPr marL="342900" lvl="0" indent="-342900" algn="just">
              <a:buFont typeface="Wingdings" panose="05000000000000000000" pitchFamily="2" charset="2"/>
              <a:buChar char=""/>
            </a:pPr>
            <a:r>
              <a:rPr lang="ru-RU" sz="18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ажно  дать понять партнеру, что мы его </a:t>
            </a:r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любим и ценим</a:t>
            </a:r>
            <a:endParaRPr lang="ru-RU" sz="1800" b="1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Wingdings" panose="05000000000000000000" pitchFamily="2" charset="2"/>
              <a:buChar char=""/>
            </a:pPr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 первую очередь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оценивается то, </a:t>
            </a:r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что конкретно было проделано успешно и качественно</a:t>
            </a:r>
            <a:endParaRPr lang="ru-RU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Wingdings" panose="05000000000000000000" pitchFamily="2" charset="2"/>
              <a:buChar char=""/>
            </a:pPr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во вторую очередь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предлагаются </a:t>
            </a:r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добавления и пожелания в позитивной форме</a:t>
            </a:r>
            <a:endParaRPr lang="ru-RU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Wingdings" panose="05000000000000000000" pitchFamily="2" charset="2"/>
              <a:buChar char=""/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каждое дополнение желательно </a:t>
            </a:r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выразить в максимально конкретных словах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предложениях</a:t>
            </a:r>
            <a:endParaRPr lang="ru-RU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/>
          </a:p>
        </p:txBody>
      </p:sp>
      <p:sp>
        <p:nvSpPr>
          <p:cNvPr id="7" name="Объект 6">
            <a:extLst>
              <a:ext uri="{FF2B5EF4-FFF2-40B4-BE49-F238E27FC236}">
                <a16:creationId xmlns:a16="http://schemas.microsoft.com/office/drawing/2014/main" id="{E6BED7EE-1B96-4E18-80ED-9604BC5CF2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124744"/>
            <a:ext cx="3380184" cy="5001419"/>
          </a:xfrm>
        </p:spPr>
        <p:txBody>
          <a:bodyPr>
            <a:normAutofit/>
          </a:bodyPr>
          <a:lstStyle/>
          <a:p>
            <a:r>
              <a:rPr lang="ru-RU" sz="2400" i="1" dirty="0"/>
              <a:t>«Скажи сначала, что хорошо – конкретно и  потом, что добавить, чтобы стало еще лучше»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ABDE8C94-0297-4804-ACBC-2C2E3E92AC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5220072" y="3733465"/>
            <a:ext cx="2627784" cy="17518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1063831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4690864" cy="1143000"/>
          </a:xfrm>
        </p:spPr>
        <p:txBody>
          <a:bodyPr/>
          <a:lstStyle/>
          <a:p>
            <a:r>
              <a:rPr lang="ru-RU" b="1" dirty="0"/>
              <a:t>Упражнение 80-20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quarter" idx="13"/>
          </p:nvPr>
        </p:nvSpPr>
        <p:spPr>
          <a:xfrm>
            <a:off x="685330" y="1417639"/>
            <a:ext cx="7772870" cy="4373562"/>
          </a:xfrm>
        </p:spPr>
        <p:txBody>
          <a:bodyPr>
            <a:normAutofit/>
          </a:bodyPr>
          <a:lstStyle/>
          <a:p>
            <a:r>
              <a:rPr lang="ru-RU" sz="2400" dirty="0"/>
              <a:t>Друг купил билеты на футбол, но забыл, что я в этот день уже уезжаю</a:t>
            </a:r>
          </a:p>
          <a:p>
            <a:r>
              <a:rPr lang="ru-RU" sz="2400" dirty="0"/>
              <a:t>Жена сварила, наконец долгожданный борщ, но пересолила</a:t>
            </a:r>
          </a:p>
          <a:p>
            <a:r>
              <a:rPr lang="ru-RU" sz="2400" dirty="0"/>
              <a:t>Муж вынес мусор, но не подмел пол у мусоропровода и соседи нажаловались</a:t>
            </a:r>
          </a:p>
        </p:txBody>
      </p:sp>
    </p:spTree>
    <p:extLst>
      <p:ext uri="{BB962C8B-B14F-4D97-AF65-F5344CB8AC3E}">
        <p14:creationId xmlns:p14="http://schemas.microsoft.com/office/powerpoint/2010/main" val="418112632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963754-5905-4B69-BDF8-F10FB87293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3968" y="980728"/>
            <a:ext cx="3576559" cy="628133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>
                <a:solidFill>
                  <a:srgbClr val="C00000"/>
                </a:solidFill>
              </a:rPr>
              <a:t>5 способов проявления любви и дружбы</a:t>
            </a:r>
            <a:br>
              <a:rPr lang="ru-RU" b="1" dirty="0">
                <a:solidFill>
                  <a:srgbClr val="C00000"/>
                </a:solidFill>
              </a:rPr>
            </a:br>
            <a:endParaRPr lang="ru-RU" b="1" dirty="0">
              <a:solidFill>
                <a:srgbClr val="C00000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9FEBC10-D239-44B0-AEA8-8DC9F1FEED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5173" y="3393832"/>
            <a:ext cx="2747008" cy="2953865"/>
          </a:xfrm>
        </p:spPr>
        <p:txBody>
          <a:bodyPr>
            <a:normAutofit/>
          </a:bodyPr>
          <a:lstStyle/>
          <a:p>
            <a:endParaRPr lang="ru-RU" dirty="0"/>
          </a:p>
        </p:txBody>
      </p:sp>
      <p:pic>
        <p:nvPicPr>
          <p:cNvPr id="1026" name="Picture 2" descr="Презентация - 5 языков любви- для педагогов - презентация онлайн">
            <a:extLst>
              <a:ext uri="{FF2B5EF4-FFF2-40B4-BE49-F238E27FC236}">
                <a16:creationId xmlns:a16="http://schemas.microsoft.com/office/drawing/2014/main" id="{8CA798D1-B462-4A6C-8AD9-E7A7CC84A5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6470" y="2419944"/>
            <a:ext cx="4911422" cy="36784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38379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бъект 3">
            <a:extLst>
              <a:ext uri="{FF2B5EF4-FFF2-40B4-BE49-F238E27FC236}">
                <a16:creationId xmlns:a16="http://schemas.microsoft.com/office/drawing/2014/main" id="{8D9DFEEC-38E7-4558-AB38-DDE133FCEDD9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0" y="836712"/>
            <a:ext cx="5364087" cy="4355799"/>
          </a:xfrm>
        </p:spPr>
        <p:txBody>
          <a:bodyPr>
            <a:normAutofit fontScale="62500" lnSpcReduction="20000"/>
          </a:bodyPr>
          <a:lstStyle/>
          <a:p>
            <a:r>
              <a:rPr lang="ru-RU" b="0" i="0" dirty="0">
                <a:solidFill>
                  <a:srgbClr val="333333"/>
                </a:solidFill>
                <a:effectLst/>
                <a:latin typeface="YS Text"/>
              </a:rPr>
              <a:t>Вы стараетесь показать супругу, что любите его, а он как будто ничего не замечает. </a:t>
            </a:r>
          </a:p>
          <a:p>
            <a:r>
              <a:rPr lang="ru-RU" b="0" i="0" dirty="0">
                <a:solidFill>
                  <a:srgbClr val="333333"/>
                </a:solidFill>
                <a:effectLst/>
                <a:latin typeface="YS Text"/>
              </a:rPr>
              <a:t>Может быть, вы просто говорите на разных языках?</a:t>
            </a:r>
          </a:p>
          <a:p>
            <a:r>
              <a:rPr lang="ru-RU" b="0" i="0" dirty="0">
                <a:solidFill>
                  <a:srgbClr val="333333"/>
                </a:solidFill>
                <a:effectLst/>
                <a:latin typeface="YS Text"/>
              </a:rPr>
              <a:t> Возможно, ваш муж хочет, чтобы вы сказали ему, какой </a:t>
            </a:r>
            <a:r>
              <a:rPr lang="ru-RU" b="1" i="1" dirty="0">
                <a:solidFill>
                  <a:srgbClr val="333333"/>
                </a:solidFill>
                <a:effectLst/>
                <a:latin typeface="YS Text"/>
              </a:rPr>
              <a:t>он </a:t>
            </a:r>
            <a:r>
              <a:rPr lang="ru-RU" b="1" i="1" dirty="0">
                <a:solidFill>
                  <a:srgbClr val="333333"/>
                </a:solidFill>
                <a:latin typeface="YS Text"/>
              </a:rPr>
              <a:t>супер мужчина</a:t>
            </a:r>
            <a:r>
              <a:rPr lang="ru-RU" dirty="0">
                <a:solidFill>
                  <a:srgbClr val="333333"/>
                </a:solidFill>
                <a:latin typeface="YS Text"/>
              </a:rPr>
              <a:t>, </a:t>
            </a:r>
            <a:r>
              <a:rPr lang="ru-RU" b="0" i="0" dirty="0">
                <a:solidFill>
                  <a:srgbClr val="333333"/>
                </a:solidFill>
                <a:effectLst/>
                <a:latin typeface="YS Text"/>
              </a:rPr>
              <a:t>а вы вместо этого молча </a:t>
            </a:r>
            <a:r>
              <a:rPr lang="ru-RU" b="1" i="1" dirty="0">
                <a:solidFill>
                  <a:srgbClr val="333333"/>
                </a:solidFill>
                <a:effectLst/>
                <a:latin typeface="YS Text"/>
              </a:rPr>
              <a:t>готовите вкусный ужин</a:t>
            </a:r>
            <a:r>
              <a:rPr lang="ru-RU" b="0" i="0" dirty="0">
                <a:solidFill>
                  <a:srgbClr val="333333"/>
                </a:solidFill>
                <a:effectLst/>
                <a:latin typeface="YS Text"/>
              </a:rPr>
              <a:t>. </a:t>
            </a:r>
          </a:p>
          <a:p>
            <a:r>
              <a:rPr lang="ru-RU" b="0" i="0" dirty="0">
                <a:solidFill>
                  <a:srgbClr val="333333"/>
                </a:solidFill>
                <a:effectLst/>
                <a:latin typeface="YS Text"/>
              </a:rPr>
              <a:t>Возможно, вашей жене </a:t>
            </a:r>
            <a:r>
              <a:rPr lang="ru-RU" b="1" i="1" dirty="0">
                <a:solidFill>
                  <a:srgbClr val="333333"/>
                </a:solidFill>
                <a:effectLst/>
                <a:latin typeface="YS Text"/>
              </a:rPr>
              <a:t>хочется проводить с вами побольше времени, </a:t>
            </a:r>
            <a:r>
              <a:rPr lang="ru-RU" b="0" i="0" dirty="0">
                <a:solidFill>
                  <a:srgbClr val="333333"/>
                </a:solidFill>
                <a:effectLst/>
                <a:latin typeface="YS Text"/>
              </a:rPr>
              <a:t>а </a:t>
            </a:r>
            <a:r>
              <a:rPr lang="ru-RU" b="1" i="1" dirty="0">
                <a:solidFill>
                  <a:srgbClr val="333333"/>
                </a:solidFill>
                <a:effectLst/>
                <a:latin typeface="YS Text"/>
              </a:rPr>
              <a:t>роскошные букеты</a:t>
            </a:r>
            <a:r>
              <a:rPr lang="ru-RU" b="0" i="0" dirty="0">
                <a:solidFill>
                  <a:srgbClr val="333333"/>
                </a:solidFill>
                <a:effectLst/>
                <a:latin typeface="YS Text"/>
              </a:rPr>
              <a:t>, которые вы часто приносите, ей не нужны. </a:t>
            </a:r>
          </a:p>
          <a:p>
            <a:r>
              <a:rPr lang="ru-RU" b="0" i="0" dirty="0">
                <a:solidFill>
                  <a:srgbClr val="333333"/>
                </a:solidFill>
                <a:effectLst/>
                <a:latin typeface="YS Text"/>
              </a:rPr>
              <a:t>Важно знать язык любви близких людей и уметь «говорить на них» </a:t>
            </a:r>
          </a:p>
          <a:p>
            <a:r>
              <a:rPr lang="ru-RU" dirty="0">
                <a:solidFill>
                  <a:srgbClr val="333333"/>
                </a:solidFill>
                <a:latin typeface="YS Text"/>
              </a:rPr>
              <a:t>Еще важнее уметь учить детей различным «Языкам Любви»</a:t>
            </a:r>
          </a:p>
          <a:p>
            <a:endParaRPr lang="ru-RU" b="0" i="0" dirty="0">
              <a:solidFill>
                <a:srgbClr val="333333"/>
              </a:solidFill>
              <a:effectLst/>
              <a:latin typeface="YS Text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5A4FCE65-CA5A-4CAC-9B60-E23E8E8B42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0112" y="1196752"/>
            <a:ext cx="3327972" cy="23897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3793484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Объект 4">
            <a:extLst>
              <a:ext uri="{FF2B5EF4-FFF2-40B4-BE49-F238E27FC236}">
                <a16:creationId xmlns:a16="http://schemas.microsoft.com/office/drawing/2014/main" id="{B63DC267-1530-404B-BAFE-56C4DA8F2ED6}"/>
              </a:ext>
            </a:extLst>
          </p:cNvPr>
          <p:cNvPicPr>
            <a:picLocks noGrp="1" noChangeAspect="1"/>
          </p:cNvPicPr>
          <p:nvPr>
            <p:ph sz="quarter" idx="4294967295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608" y="908720"/>
            <a:ext cx="5832576" cy="4375526"/>
          </a:xfrm>
        </p:spPr>
      </p:pic>
    </p:spTree>
    <p:extLst>
      <p:ext uri="{BB962C8B-B14F-4D97-AF65-F5344CB8AC3E}">
        <p14:creationId xmlns:p14="http://schemas.microsoft.com/office/powerpoint/2010/main" val="41919746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42952" y="90872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sz="4000" dirty="0"/>
              <a:t>Определить свой язык любви можно тремя способами:</a:t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sz="quarter" idx="13"/>
          </p:nvPr>
        </p:nvSpPr>
        <p:spPr>
          <a:xfrm>
            <a:off x="242952" y="2276872"/>
            <a:ext cx="3886670" cy="3424107"/>
          </a:xfrm>
        </p:spPr>
        <p:txBody>
          <a:bodyPr>
            <a:normAutofit fontScale="77500" lnSpcReduction="20000"/>
          </a:bodyPr>
          <a:lstStyle/>
          <a:p>
            <a:r>
              <a:rPr lang="ru-RU" dirty="0"/>
              <a:t>1. Что причиняет вам боль? </a:t>
            </a:r>
          </a:p>
          <a:p>
            <a:r>
              <a:rPr lang="ru-RU" dirty="0"/>
              <a:t>2. О чем вы чаще всего просите? Возможно, в этом для вас выражается любовь. </a:t>
            </a:r>
          </a:p>
          <a:p>
            <a:r>
              <a:rPr lang="ru-RU" dirty="0"/>
              <a:t>3. Как вам самим выражать любовь наиболее комфортно и легко? </a:t>
            </a:r>
          </a:p>
          <a:p>
            <a:endParaRPr lang="ru-RU" dirty="0"/>
          </a:p>
        </p:txBody>
      </p:sp>
      <p:pic>
        <p:nvPicPr>
          <p:cNvPr id="8194" name="Picture 2" descr="языки любви">
            <a:extLst>
              <a:ext uri="{FF2B5EF4-FFF2-40B4-BE49-F238E27FC236}">
                <a16:creationId xmlns:a16="http://schemas.microsoft.com/office/drawing/2014/main" id="{82DB7521-1CFE-4BFE-80CE-0440B46CD1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0726" y="1916832"/>
            <a:ext cx="4963274" cy="3168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6707412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5233CAE6-107A-4898-8035-A33281599C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3518"/>
            <a:ext cx="8229600" cy="1143000"/>
          </a:xfrm>
        </p:spPr>
        <p:txBody>
          <a:bodyPr/>
          <a:lstStyle/>
          <a:p>
            <a:r>
              <a:rPr lang="ru-RU" b="1" dirty="0"/>
              <a:t>Почему нам важно это знать?</a:t>
            </a:r>
            <a:br>
              <a:rPr lang="ru-RU" dirty="0"/>
            </a:br>
            <a:r>
              <a:rPr lang="ru-RU" sz="2400" dirty="0"/>
              <a:t>(мотиватор к работе)</a:t>
            </a:r>
          </a:p>
        </p:txBody>
      </p:sp>
      <p:graphicFrame>
        <p:nvGraphicFramePr>
          <p:cNvPr id="7" name="Объект 6">
            <a:extLst>
              <a:ext uri="{FF2B5EF4-FFF2-40B4-BE49-F238E27FC236}">
                <a16:creationId xmlns:a16="http://schemas.microsoft.com/office/drawing/2014/main" id="{320467D6-A81D-4612-B243-D1E3CF3327C1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106680" y="1642111"/>
          <a:ext cx="4724400" cy="40847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8" name="Объект 7">
            <a:extLst>
              <a:ext uri="{FF2B5EF4-FFF2-40B4-BE49-F238E27FC236}">
                <a16:creationId xmlns:a16="http://schemas.microsoft.com/office/drawing/2014/main" id="{22308CC9-E96A-4072-8A3B-748E6E74D559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4983480" y="2625090"/>
          <a:ext cx="2747010" cy="23010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60343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963754-5905-4B69-BDF8-F10FB87293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616" y="332656"/>
            <a:ext cx="6120680" cy="504056"/>
          </a:xfrm>
        </p:spPr>
        <p:txBody>
          <a:bodyPr>
            <a:noAutofit/>
          </a:bodyPr>
          <a:lstStyle/>
          <a:p>
            <a:br>
              <a:rPr lang="ru-RU" sz="2400" dirty="0"/>
            </a:br>
            <a:r>
              <a:rPr lang="ru-RU" sz="2800" dirty="0"/>
              <a:t>Основные навыки Эмоционального интеллекта</a:t>
            </a:r>
            <a:br>
              <a:rPr lang="ru-RU" sz="2800" dirty="0"/>
            </a:br>
            <a:endParaRPr lang="ru-RU" sz="28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9FEBC10-D239-44B0-AEA8-8DC9F1FEED52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366204" y="1196752"/>
            <a:ext cx="8454268" cy="5184576"/>
          </a:xfrm>
        </p:spPr>
        <p:txBody>
          <a:bodyPr>
            <a:normAutofit fontScale="55000" lnSpcReduction="20000"/>
          </a:bodyPr>
          <a:lstStyle/>
          <a:p>
            <a:r>
              <a:rPr lang="ru-RU" sz="3400" dirty="0"/>
              <a:t>Умение чувствовать – быть в контакте с эмоциями.</a:t>
            </a:r>
          </a:p>
          <a:p>
            <a:r>
              <a:rPr lang="ru-RU" sz="3400" dirty="0"/>
              <a:t>Иметь расширенный запас слов, обозначающих оттенки чувств.</a:t>
            </a:r>
          </a:p>
          <a:p>
            <a:r>
              <a:rPr lang="ru-RU" sz="3400" dirty="0"/>
              <a:t>Умение называть свои чувства.</a:t>
            </a:r>
          </a:p>
          <a:p>
            <a:r>
              <a:rPr lang="ru-RU" sz="3400" dirty="0"/>
              <a:t>Умение работать с чувствами, в том числе и выражать их экологично. </a:t>
            </a:r>
          </a:p>
          <a:p>
            <a:r>
              <a:rPr lang="ru-RU" sz="3400" dirty="0"/>
              <a:t>Умение понимать чувства других людей, не входя в «слияние» с ними.</a:t>
            </a:r>
          </a:p>
          <a:p>
            <a:r>
              <a:rPr lang="ru-RU" sz="3400" dirty="0"/>
              <a:t>Умение помогать другому человеку выразить свои чувства, «ПОНИМАТЬ» другого человека. Эмпатия. </a:t>
            </a:r>
          </a:p>
          <a:p>
            <a:r>
              <a:rPr lang="ru-RU" sz="3400" dirty="0"/>
              <a:t>Умение влиять на эмоциональное состояние другого человека. </a:t>
            </a:r>
          </a:p>
          <a:p>
            <a:r>
              <a:rPr lang="ru-RU" sz="3400" dirty="0"/>
              <a:t>Понимание, как мысли влияют на эмоциональное состояние. Умение контролировать мыслительный процесс. </a:t>
            </a:r>
          </a:p>
          <a:p>
            <a:r>
              <a:rPr lang="ru-RU" sz="3400" dirty="0"/>
              <a:t>Владение навыками неразрушительной экологической коммуникации. </a:t>
            </a:r>
          </a:p>
          <a:p>
            <a:r>
              <a:rPr lang="ru-RU" sz="3400" dirty="0"/>
              <a:t>Умение управлять своими чувствами. </a:t>
            </a:r>
          </a:p>
          <a:p>
            <a:r>
              <a:rPr lang="ru-RU" sz="3400" dirty="0"/>
              <a:t>Умение изменять свои эмоциональные состояния.</a:t>
            </a:r>
          </a:p>
          <a:p>
            <a:r>
              <a:rPr lang="ru-RU" sz="3400" dirty="0"/>
              <a:t>Понимание, благодаря контакту с чувствами, своих границ и границ других  людей.</a:t>
            </a:r>
          </a:p>
          <a:p>
            <a:r>
              <a:rPr lang="ru-RU" sz="3400" dirty="0"/>
              <a:t>Адекватная самооценка. </a:t>
            </a:r>
          </a:p>
          <a:p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9393350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D386648-07B9-4BE5-8D0A-EAF638C759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274042"/>
          </a:xfrm>
        </p:spPr>
        <p:txBody>
          <a:bodyPr>
            <a:normAutofit fontScale="90000"/>
          </a:bodyPr>
          <a:lstStyle/>
          <a:p>
            <a:r>
              <a:rPr lang="ru-RU" dirty="0"/>
              <a:t>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E024D4B-B1C8-4F5E-9F57-47D4B47DDC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692696"/>
            <a:ext cx="4038600" cy="5433467"/>
          </a:xfrm>
        </p:spPr>
        <p:txBody>
          <a:bodyPr>
            <a:normAutofit fontScale="62500" lnSpcReduction="20000"/>
          </a:bodyPr>
          <a:lstStyle/>
          <a:p>
            <a:pPr algn="l"/>
            <a:endParaRPr lang="ru-RU" b="0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r>
              <a:rPr lang="ru-RU" b="1" i="0" dirty="0">
                <a:solidFill>
                  <a:srgbClr val="000000"/>
                </a:solidFill>
                <a:effectLst/>
                <a:latin typeface="-apple-system"/>
              </a:rPr>
              <a:t>ПЛАТОН</a:t>
            </a:r>
          </a:p>
          <a:p>
            <a:pPr algn="l"/>
            <a:r>
              <a:rPr lang="ru-RU" dirty="0">
                <a:solidFill>
                  <a:srgbClr val="000000"/>
                </a:solidFill>
                <a:latin typeface="-apple-system"/>
              </a:rPr>
              <a:t>о</a:t>
            </a:r>
            <a:r>
              <a:rPr lang="ru-RU" b="0" i="0" dirty="0">
                <a:solidFill>
                  <a:srgbClr val="000000"/>
                </a:solidFill>
                <a:effectLst/>
                <a:latin typeface="-apple-system"/>
              </a:rPr>
              <a:t> трех внутренних силах, которые ведут борьбу внутри человека за контроль над его поведением:</a:t>
            </a:r>
          </a:p>
          <a:p>
            <a:pPr algn="l"/>
            <a:r>
              <a:rPr lang="ru-RU" b="0" i="0" dirty="0">
                <a:solidFill>
                  <a:srgbClr val="000000"/>
                </a:solidFill>
                <a:effectLst/>
                <a:latin typeface="-apple-system"/>
              </a:rPr>
              <a:t>🔹первая сила - основные инстинкты выживания (голод, половое влечение);</a:t>
            </a:r>
          </a:p>
          <a:p>
            <a:pPr algn="l"/>
            <a:r>
              <a:rPr lang="ru-RU" b="0" i="0" dirty="0">
                <a:solidFill>
                  <a:srgbClr val="000000"/>
                </a:solidFill>
                <a:effectLst/>
                <a:latin typeface="-apple-system"/>
              </a:rPr>
              <a:t>🔹вторая - эмоции, такие как радость, гнев и страх - вместе, писал Платон, эти две силы подобны животным, которые могут увлекать наше поведение в разных, порой неблагоприятных направлениях;</a:t>
            </a:r>
          </a:p>
          <a:p>
            <a:pPr algn="l"/>
            <a:r>
              <a:rPr lang="ru-RU" b="0" i="0" dirty="0">
                <a:solidFill>
                  <a:srgbClr val="000000"/>
                </a:solidFill>
                <a:effectLst/>
                <a:latin typeface="-apple-system"/>
              </a:rPr>
              <a:t>🔹третья сила - рациональное мышление - противостоит этому хаосу, обуздывает обоих зверей и направляет нас по более цивилизованному и праведному пути.</a:t>
            </a:r>
          </a:p>
          <a:p>
            <a:endParaRPr lang="ru-RU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08DE1D4-BCB0-4114-B844-EECA64CD06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836713"/>
            <a:ext cx="4038600" cy="1080120"/>
          </a:xfrm>
        </p:spPr>
        <p:txBody>
          <a:bodyPr>
            <a:normAutofit fontScale="62500" lnSpcReduction="20000"/>
          </a:bodyPr>
          <a:lstStyle/>
          <a:p>
            <a:r>
              <a:rPr lang="ru-RU" b="1" i="0" dirty="0">
                <a:solidFill>
                  <a:srgbClr val="000000"/>
                </a:solidFill>
                <a:effectLst/>
                <a:latin typeface="-apple-system"/>
              </a:rPr>
              <a:t>Американский нейробиолог Пол Маклин </a:t>
            </a:r>
            <a:r>
              <a:rPr lang="ru-RU" b="0" i="0" dirty="0">
                <a:solidFill>
                  <a:srgbClr val="000000"/>
                </a:solidFill>
                <a:effectLst/>
                <a:latin typeface="-apple-system"/>
              </a:rPr>
              <a:t>создал в середине прошлого века теорию триединого мозга.</a:t>
            </a:r>
            <a:endParaRPr lang="ru-RU" dirty="0"/>
          </a:p>
        </p:txBody>
      </p:sp>
      <p:pic>
        <p:nvPicPr>
          <p:cNvPr id="1028" name="Picture 4" descr="Триединая модель мозга.">
            <a:extLst>
              <a:ext uri="{FF2B5EF4-FFF2-40B4-BE49-F238E27FC236}">
                <a16:creationId xmlns:a16="http://schemas.microsoft.com/office/drawing/2014/main" id="{74185CC3-86F1-42A8-8229-C2B18B5FD9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1927" y="2276872"/>
            <a:ext cx="4191795" cy="26642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265895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6190B856-96CD-4D82-9A7D-D6AF670E10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4690864" cy="1143000"/>
          </a:xfrm>
        </p:spPr>
        <p:txBody>
          <a:bodyPr>
            <a:normAutofit/>
          </a:bodyPr>
          <a:lstStyle/>
          <a:p>
            <a:r>
              <a:rPr lang="ru-RU" sz="4000" dirty="0"/>
              <a:t>Эмоции и чувства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FA0292CF-D7FF-45C2-A11C-46B86D344D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690864" cy="4525963"/>
          </a:xfrm>
        </p:spPr>
        <p:txBody>
          <a:bodyPr>
            <a:normAutofit fontScale="70000" lnSpcReduction="20000"/>
          </a:bodyPr>
          <a:lstStyle/>
          <a:p>
            <a:r>
              <a:rPr lang="ru-RU" dirty="0"/>
              <a:t>"</a:t>
            </a:r>
            <a:r>
              <a:rPr lang="ru-RU" b="1" dirty="0"/>
              <a:t>Эмоции</a:t>
            </a:r>
            <a:r>
              <a:rPr lang="ru-RU" dirty="0"/>
              <a:t> это процессы, вызванные лимбическими системами головного мозга в ответ на внешние сигналы, которые приходят от наших органов чувств и от внутренних органов. </a:t>
            </a:r>
          </a:p>
          <a:p>
            <a:r>
              <a:rPr lang="ru-RU" dirty="0"/>
              <a:t>Под </a:t>
            </a:r>
            <a:r>
              <a:rPr lang="ru-RU" b="1" dirty="0"/>
              <a:t>чувствами </a:t>
            </a:r>
            <a:r>
              <a:rPr lang="ru-RU" dirty="0"/>
              <a:t>следует понимать субъективное переживание этих процессов. И, наконец, </a:t>
            </a:r>
            <a:r>
              <a:rPr lang="ru-RU" b="1" dirty="0"/>
              <a:t>аффекты </a:t>
            </a:r>
            <a:r>
              <a:rPr lang="ru-RU" dirty="0"/>
              <a:t>— это особые случаи эмоциональных процессов, которые характеризуются внезапным началом и высокой интенсивностью.</a:t>
            </a:r>
          </a:p>
          <a:p>
            <a:r>
              <a:rPr lang="ru-RU" dirty="0"/>
              <a:t>Маргит </a:t>
            </a:r>
            <a:r>
              <a:rPr lang="ru-RU" dirty="0" err="1"/>
              <a:t>Комеда-Лутц</a:t>
            </a:r>
            <a:r>
              <a:rPr lang="ru-RU" dirty="0"/>
              <a:t>, психотерапевт, доктор социальных наук</a:t>
            </a:r>
          </a:p>
          <a:p>
            <a:r>
              <a:rPr lang="ru-RU" dirty="0"/>
              <a:t>«ИНТЕЛЛЕКТУАЛЬНАЯ ЭМОЦИОНАЛЬНОСТЬ»</a:t>
            </a:r>
          </a:p>
        </p:txBody>
      </p:sp>
      <p:sp>
        <p:nvSpPr>
          <p:cNvPr id="2" name="Объект 1">
            <a:extLst>
              <a:ext uri="{FF2B5EF4-FFF2-40B4-BE49-F238E27FC236}">
                <a16:creationId xmlns:a16="http://schemas.microsoft.com/office/drawing/2014/main" id="{9ACB74A9-2D39-4EA8-AF4C-E53E03D433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36096" y="1600200"/>
            <a:ext cx="3250704" cy="4525963"/>
          </a:xfrm>
        </p:spPr>
        <p:txBody>
          <a:bodyPr>
            <a:normAutofit fontScale="70000" lnSpcReduction="20000"/>
          </a:bodyPr>
          <a:lstStyle/>
          <a:p>
            <a:endParaRPr lang="ru-RU"/>
          </a:p>
        </p:txBody>
      </p:sp>
      <p:pic>
        <p:nvPicPr>
          <p:cNvPr id="4" name="Picture 6" descr="Не подавляйте свои чувства. Как справиться с эмоциями.">
            <a:extLst>
              <a:ext uri="{FF2B5EF4-FFF2-40B4-BE49-F238E27FC236}">
                <a16:creationId xmlns:a16="http://schemas.microsoft.com/office/drawing/2014/main" id="{B0AB4A7E-C579-4DC7-A713-068131CEE5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6136" y="2924944"/>
            <a:ext cx="2143125" cy="16073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843947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idx="4294967295"/>
          </p:nvPr>
        </p:nvSpPr>
        <p:spPr>
          <a:xfrm>
            <a:off x="467544" y="273258"/>
            <a:ext cx="4425554" cy="721519"/>
          </a:xfrm>
        </p:spPr>
        <p:txBody>
          <a:bodyPr>
            <a:normAutofit fontScale="90000"/>
          </a:bodyPr>
          <a:lstStyle/>
          <a:p>
            <a:br>
              <a:rPr lang="ru-RU" dirty="0"/>
            </a:br>
            <a:r>
              <a:rPr lang="ru-RU" dirty="0"/>
              <a:t>Эмоциональная замороженность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quarter" idx="4294967295"/>
          </p:nvPr>
        </p:nvSpPr>
        <p:spPr>
          <a:xfrm>
            <a:off x="1143000" y="2025253"/>
            <a:ext cx="4533900" cy="3613547"/>
          </a:xfrm>
        </p:spPr>
        <p:txBody>
          <a:bodyPr>
            <a:normAutofit fontScale="77500" lnSpcReduction="20000"/>
          </a:bodyPr>
          <a:lstStyle/>
          <a:p>
            <a:r>
              <a:rPr lang="ru-RU" b="1" dirty="0"/>
              <a:t>1. «Замороженность чувств».</a:t>
            </a:r>
          </a:p>
          <a:p>
            <a:r>
              <a:rPr lang="ru-RU" dirty="0"/>
              <a:t>- это стойкая привычка не обращать внимания на свои собственные чувства и переживания, связанная с культурными особенностями воспитания и неумением правильно выражать как  позитивные, так и негативные чувства.</a:t>
            </a:r>
          </a:p>
          <a:p>
            <a:endParaRPr lang="ru-RU" dirty="0"/>
          </a:p>
          <a:p>
            <a:endParaRPr lang="ru-RU" dirty="0"/>
          </a:p>
          <a:p>
            <a:endParaRPr lang="ru-RU" dirty="0"/>
          </a:p>
        </p:txBody>
      </p:sp>
      <p:pic>
        <p:nvPicPr>
          <p:cNvPr id="9218" name="Picture 2" descr="Ученые исследовали чувства людей перед смертью. Ридус">
            <a:extLst>
              <a:ext uri="{FF2B5EF4-FFF2-40B4-BE49-F238E27FC236}">
                <a16:creationId xmlns:a16="http://schemas.microsoft.com/office/drawing/2014/main" id="{F961D245-049A-42E2-9D0B-B70023A206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2891" y="994777"/>
            <a:ext cx="2297482" cy="15233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7054160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Триединая модель мозга.">
            <a:extLst>
              <a:ext uri="{FF2B5EF4-FFF2-40B4-BE49-F238E27FC236}">
                <a16:creationId xmlns:a16="http://schemas.microsoft.com/office/drawing/2014/main" id="{994FF4BB-A561-45A0-B258-9B6742B693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1670" y="1430779"/>
            <a:ext cx="5066984" cy="3220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Рукописный ввод 3">
                <a:extLst>
                  <a:ext uri="{FF2B5EF4-FFF2-40B4-BE49-F238E27FC236}">
                    <a16:creationId xmlns:a16="http://schemas.microsoft.com/office/drawing/2014/main" id="{15F7E8DC-DC7A-47F0-AB40-F76DC79C0901}"/>
                  </a:ext>
                </a:extLst>
              </p14:cNvPr>
              <p14:cNvContentPartPr/>
              <p14:nvPr/>
            </p14:nvContentPartPr>
            <p14:xfrm>
              <a:off x="2150480" y="2215285"/>
              <a:ext cx="4022190" cy="126630"/>
            </p14:xfrm>
          </p:contentPart>
        </mc:Choice>
        <mc:Fallback xmlns="">
          <p:pic>
            <p:nvPicPr>
              <p:cNvPr id="4" name="Рукописный ввод 3">
                <a:extLst>
                  <a:ext uri="{FF2B5EF4-FFF2-40B4-BE49-F238E27FC236}">
                    <a16:creationId xmlns:a16="http://schemas.microsoft.com/office/drawing/2014/main" id="{15F7E8DC-DC7A-47F0-AB40-F76DC79C090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096481" y="2107362"/>
                <a:ext cx="4129828" cy="34211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4" name="Рукописный ввод 13">
                <a:extLst>
                  <a:ext uri="{FF2B5EF4-FFF2-40B4-BE49-F238E27FC236}">
                    <a16:creationId xmlns:a16="http://schemas.microsoft.com/office/drawing/2014/main" id="{787C6128-ACC3-4EE4-8904-34D011C15BC5}"/>
                  </a:ext>
                </a:extLst>
              </p14:cNvPr>
              <p14:cNvContentPartPr/>
              <p14:nvPr/>
            </p14:nvContentPartPr>
            <p14:xfrm>
              <a:off x="4540520" y="2369995"/>
              <a:ext cx="476010" cy="538110"/>
            </p14:xfrm>
          </p:contentPart>
        </mc:Choice>
        <mc:Fallback xmlns="">
          <p:pic>
            <p:nvPicPr>
              <p:cNvPr id="14" name="Рукописный ввод 13">
                <a:extLst>
                  <a:ext uri="{FF2B5EF4-FFF2-40B4-BE49-F238E27FC236}">
                    <a16:creationId xmlns:a16="http://schemas.microsoft.com/office/drawing/2014/main" id="{787C6128-ACC3-4EE4-8904-34D011C15BC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522530" y="2334025"/>
                <a:ext cx="511630" cy="60969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5" name="Рукописный ввод 14">
                <a:extLst>
                  <a:ext uri="{FF2B5EF4-FFF2-40B4-BE49-F238E27FC236}">
                    <a16:creationId xmlns:a16="http://schemas.microsoft.com/office/drawing/2014/main" id="{57FDCEBF-2433-4A24-A07A-2E94F10DA58C}"/>
                  </a:ext>
                </a:extLst>
              </p14:cNvPr>
              <p14:cNvContentPartPr/>
              <p14:nvPr/>
            </p14:nvContentPartPr>
            <p14:xfrm>
              <a:off x="2841680" y="2337055"/>
              <a:ext cx="740610" cy="317790"/>
            </p14:xfrm>
          </p:contentPart>
        </mc:Choice>
        <mc:Fallback xmlns="">
          <p:pic>
            <p:nvPicPr>
              <p:cNvPr id="15" name="Рукописный ввод 14">
                <a:extLst>
                  <a:ext uri="{FF2B5EF4-FFF2-40B4-BE49-F238E27FC236}">
                    <a16:creationId xmlns:a16="http://schemas.microsoft.com/office/drawing/2014/main" id="{57FDCEBF-2433-4A24-A07A-2E94F10DA58C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823687" y="2301024"/>
                <a:ext cx="776237" cy="38949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8" name="Рукописный ввод 17">
                <a:extLst>
                  <a:ext uri="{FF2B5EF4-FFF2-40B4-BE49-F238E27FC236}">
                    <a16:creationId xmlns:a16="http://schemas.microsoft.com/office/drawing/2014/main" id="{3802CDCC-97BB-44B5-B223-06F6C0130811}"/>
                  </a:ext>
                </a:extLst>
              </p14:cNvPr>
              <p14:cNvContentPartPr/>
              <p14:nvPr/>
            </p14:nvContentPartPr>
            <p14:xfrm>
              <a:off x="3867950" y="1677985"/>
              <a:ext cx="289710" cy="976860"/>
            </p14:xfrm>
          </p:contentPart>
        </mc:Choice>
        <mc:Fallback xmlns="">
          <p:pic>
            <p:nvPicPr>
              <p:cNvPr id="18" name="Рукописный ввод 17">
                <a:extLst>
                  <a:ext uri="{FF2B5EF4-FFF2-40B4-BE49-F238E27FC236}">
                    <a16:creationId xmlns:a16="http://schemas.microsoft.com/office/drawing/2014/main" id="{3802CDCC-97BB-44B5-B223-06F6C0130811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832006" y="1605972"/>
                <a:ext cx="361239" cy="112052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0" name="Рукописный ввод 19">
                <a:extLst>
                  <a:ext uri="{FF2B5EF4-FFF2-40B4-BE49-F238E27FC236}">
                    <a16:creationId xmlns:a16="http://schemas.microsoft.com/office/drawing/2014/main" id="{CBDD8AF1-86F3-42A6-B6F1-BA81BC1EF19A}"/>
                  </a:ext>
                </a:extLst>
              </p14:cNvPr>
              <p14:cNvContentPartPr/>
              <p14:nvPr/>
            </p14:nvContentPartPr>
            <p14:xfrm>
              <a:off x="2216090" y="1463605"/>
              <a:ext cx="1526040" cy="1164780"/>
            </p14:xfrm>
          </p:contentPart>
        </mc:Choice>
        <mc:Fallback xmlns="">
          <p:pic>
            <p:nvPicPr>
              <p:cNvPr id="20" name="Рукописный ввод 19">
                <a:extLst>
                  <a:ext uri="{FF2B5EF4-FFF2-40B4-BE49-F238E27FC236}">
                    <a16:creationId xmlns:a16="http://schemas.microsoft.com/office/drawing/2014/main" id="{CBDD8AF1-86F3-42A6-B6F1-BA81BC1EF19A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180090" y="1391638"/>
                <a:ext cx="1597680" cy="130835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22" name="Рукописный ввод 21">
                <a:extLst>
                  <a:ext uri="{FF2B5EF4-FFF2-40B4-BE49-F238E27FC236}">
                    <a16:creationId xmlns:a16="http://schemas.microsoft.com/office/drawing/2014/main" id="{B071A3A5-B9A1-4087-AECD-C4F7EDDF71B1}"/>
                  </a:ext>
                </a:extLst>
              </p14:cNvPr>
              <p14:cNvContentPartPr/>
              <p14:nvPr/>
            </p14:nvContentPartPr>
            <p14:xfrm>
              <a:off x="2551700" y="2687245"/>
              <a:ext cx="877500" cy="156060"/>
            </p14:xfrm>
          </p:contentPart>
        </mc:Choice>
        <mc:Fallback xmlns="">
          <p:pic>
            <p:nvPicPr>
              <p:cNvPr id="22" name="Рукописный ввод 21">
                <a:extLst>
                  <a:ext uri="{FF2B5EF4-FFF2-40B4-BE49-F238E27FC236}">
                    <a16:creationId xmlns:a16="http://schemas.microsoft.com/office/drawing/2014/main" id="{B071A3A5-B9A1-4087-AECD-C4F7EDDF71B1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2533711" y="2651286"/>
                <a:ext cx="913118" cy="22761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23" name="Рукописный ввод 22">
                <a:extLst>
                  <a:ext uri="{FF2B5EF4-FFF2-40B4-BE49-F238E27FC236}">
                    <a16:creationId xmlns:a16="http://schemas.microsoft.com/office/drawing/2014/main" id="{0AD94D7A-C72A-47FC-ACAF-64911D70B3D6}"/>
                  </a:ext>
                </a:extLst>
              </p14:cNvPr>
              <p14:cNvContentPartPr/>
              <p14:nvPr/>
            </p14:nvContentPartPr>
            <p14:xfrm>
              <a:off x="4242710" y="2409955"/>
              <a:ext cx="212490" cy="358020"/>
            </p14:xfrm>
          </p:contentPart>
        </mc:Choice>
        <mc:Fallback xmlns="">
          <p:pic>
            <p:nvPicPr>
              <p:cNvPr id="23" name="Рукописный ввод 22">
                <a:extLst>
                  <a:ext uri="{FF2B5EF4-FFF2-40B4-BE49-F238E27FC236}">
                    <a16:creationId xmlns:a16="http://schemas.microsoft.com/office/drawing/2014/main" id="{0AD94D7A-C72A-47FC-ACAF-64911D70B3D6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4224733" y="2373973"/>
                <a:ext cx="248085" cy="42962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24" name="Рукописный ввод 23">
                <a:extLst>
                  <a:ext uri="{FF2B5EF4-FFF2-40B4-BE49-F238E27FC236}">
                    <a16:creationId xmlns:a16="http://schemas.microsoft.com/office/drawing/2014/main" id="{85F08BC0-B32C-4A04-8D13-D73236F85CB7}"/>
                  </a:ext>
                </a:extLst>
              </p14:cNvPr>
              <p14:cNvContentPartPr/>
              <p14:nvPr/>
            </p14:nvContentPartPr>
            <p14:xfrm>
              <a:off x="4560770" y="2700475"/>
              <a:ext cx="1070280" cy="294030"/>
            </p14:xfrm>
          </p:contentPart>
        </mc:Choice>
        <mc:Fallback xmlns="">
          <p:pic>
            <p:nvPicPr>
              <p:cNvPr id="24" name="Рукописный ввод 23">
                <a:extLst>
                  <a:ext uri="{FF2B5EF4-FFF2-40B4-BE49-F238E27FC236}">
                    <a16:creationId xmlns:a16="http://schemas.microsoft.com/office/drawing/2014/main" id="{85F08BC0-B32C-4A04-8D13-D73236F85CB7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4542770" y="2664530"/>
                <a:ext cx="1105920" cy="36556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25" name="Рукописный ввод 24">
                <a:extLst>
                  <a:ext uri="{FF2B5EF4-FFF2-40B4-BE49-F238E27FC236}">
                    <a16:creationId xmlns:a16="http://schemas.microsoft.com/office/drawing/2014/main" id="{C33FAD0C-80D6-485F-B4D8-C599A4656CD5}"/>
                  </a:ext>
                </a:extLst>
              </p14:cNvPr>
              <p14:cNvContentPartPr/>
              <p14:nvPr/>
            </p14:nvContentPartPr>
            <p14:xfrm>
              <a:off x="5420720" y="2654305"/>
              <a:ext cx="262170" cy="158220"/>
            </p14:xfrm>
          </p:contentPart>
        </mc:Choice>
        <mc:Fallback xmlns="">
          <p:pic>
            <p:nvPicPr>
              <p:cNvPr id="25" name="Рукописный ввод 24">
                <a:extLst>
                  <a:ext uri="{FF2B5EF4-FFF2-40B4-BE49-F238E27FC236}">
                    <a16:creationId xmlns:a16="http://schemas.microsoft.com/office/drawing/2014/main" id="{C33FAD0C-80D6-485F-B4D8-C599A4656CD5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5402739" y="2618346"/>
                <a:ext cx="297773" cy="22977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27" name="Рукописный ввод 26">
                <a:extLst>
                  <a:ext uri="{FF2B5EF4-FFF2-40B4-BE49-F238E27FC236}">
                    <a16:creationId xmlns:a16="http://schemas.microsoft.com/office/drawing/2014/main" id="{1EA4C4A5-7827-43FF-9CE7-A2BE56F579FF}"/>
                  </a:ext>
                </a:extLst>
              </p14:cNvPr>
              <p14:cNvContentPartPr/>
              <p14:nvPr/>
            </p14:nvContentPartPr>
            <p14:xfrm>
              <a:off x="4731680" y="2924845"/>
              <a:ext cx="1387530" cy="252180"/>
            </p14:xfrm>
          </p:contentPart>
        </mc:Choice>
        <mc:Fallback xmlns="">
          <p:pic>
            <p:nvPicPr>
              <p:cNvPr id="27" name="Рукописный ввод 26">
                <a:extLst>
                  <a:ext uri="{FF2B5EF4-FFF2-40B4-BE49-F238E27FC236}">
                    <a16:creationId xmlns:a16="http://schemas.microsoft.com/office/drawing/2014/main" id="{1EA4C4A5-7827-43FF-9CE7-A2BE56F579FF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4695687" y="2852794"/>
                <a:ext cx="1459156" cy="39592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28" name="Рукописный ввод 27">
                <a:extLst>
                  <a:ext uri="{FF2B5EF4-FFF2-40B4-BE49-F238E27FC236}">
                    <a16:creationId xmlns:a16="http://schemas.microsoft.com/office/drawing/2014/main" id="{4338580E-116D-4368-892D-1E044789F745}"/>
                  </a:ext>
                </a:extLst>
              </p14:cNvPr>
              <p14:cNvContentPartPr/>
              <p14:nvPr/>
            </p14:nvContentPartPr>
            <p14:xfrm>
              <a:off x="1844300" y="3493735"/>
              <a:ext cx="270" cy="270"/>
            </p14:xfrm>
          </p:contentPart>
        </mc:Choice>
        <mc:Fallback xmlns="">
          <p:pic>
            <p:nvPicPr>
              <p:cNvPr id="28" name="Рукописный ввод 27">
                <a:extLst>
                  <a:ext uri="{FF2B5EF4-FFF2-40B4-BE49-F238E27FC236}">
                    <a16:creationId xmlns:a16="http://schemas.microsoft.com/office/drawing/2014/main" id="{4338580E-116D-4368-892D-1E044789F745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1830800" y="3466735"/>
                <a:ext cx="27000" cy="5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30" name="Рукописный ввод 29">
                <a:extLst>
                  <a:ext uri="{FF2B5EF4-FFF2-40B4-BE49-F238E27FC236}">
                    <a16:creationId xmlns:a16="http://schemas.microsoft.com/office/drawing/2014/main" id="{FB23F1E4-4495-4211-AC60-5531D544C49B}"/>
                  </a:ext>
                </a:extLst>
              </p14:cNvPr>
              <p14:cNvContentPartPr/>
              <p14:nvPr/>
            </p14:nvContentPartPr>
            <p14:xfrm>
              <a:off x="1870760" y="2746375"/>
              <a:ext cx="1752570" cy="474660"/>
            </p14:xfrm>
          </p:contentPart>
        </mc:Choice>
        <mc:Fallback xmlns="">
          <p:pic>
            <p:nvPicPr>
              <p:cNvPr id="30" name="Рукописный ввод 29">
                <a:extLst>
                  <a:ext uri="{FF2B5EF4-FFF2-40B4-BE49-F238E27FC236}">
                    <a16:creationId xmlns:a16="http://schemas.microsoft.com/office/drawing/2014/main" id="{FB23F1E4-4495-4211-AC60-5531D544C49B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1852763" y="2710361"/>
                <a:ext cx="1788205" cy="54632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31" name="Рукописный ввод 30">
                <a:extLst>
                  <a:ext uri="{FF2B5EF4-FFF2-40B4-BE49-F238E27FC236}">
                    <a16:creationId xmlns:a16="http://schemas.microsoft.com/office/drawing/2014/main" id="{91761603-E534-4ADD-904B-02C47231DEA1}"/>
                  </a:ext>
                </a:extLst>
              </p14:cNvPr>
              <p14:cNvContentPartPr/>
              <p14:nvPr/>
            </p14:nvContentPartPr>
            <p14:xfrm>
              <a:off x="1870760" y="2348395"/>
              <a:ext cx="1846800" cy="509760"/>
            </p14:xfrm>
          </p:contentPart>
        </mc:Choice>
        <mc:Fallback xmlns="">
          <p:pic>
            <p:nvPicPr>
              <p:cNvPr id="31" name="Рукописный ввод 30">
                <a:extLst>
                  <a:ext uri="{FF2B5EF4-FFF2-40B4-BE49-F238E27FC236}">
                    <a16:creationId xmlns:a16="http://schemas.microsoft.com/office/drawing/2014/main" id="{91761603-E534-4ADD-904B-02C47231DEA1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1852760" y="2312395"/>
                <a:ext cx="1882440" cy="58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32" name="Рукописный ввод 31">
                <a:extLst>
                  <a:ext uri="{FF2B5EF4-FFF2-40B4-BE49-F238E27FC236}">
                    <a16:creationId xmlns:a16="http://schemas.microsoft.com/office/drawing/2014/main" id="{5AB66211-51D6-4AFA-9F3C-8302397ADBA8}"/>
                  </a:ext>
                </a:extLst>
              </p14:cNvPr>
              <p14:cNvContentPartPr/>
              <p14:nvPr/>
            </p14:nvContentPartPr>
            <p14:xfrm>
              <a:off x="4977110" y="2422915"/>
              <a:ext cx="1394820" cy="234360"/>
            </p14:xfrm>
          </p:contentPart>
        </mc:Choice>
        <mc:Fallback xmlns="">
          <p:pic>
            <p:nvPicPr>
              <p:cNvPr id="32" name="Рукописный ввод 31">
                <a:extLst>
                  <a:ext uri="{FF2B5EF4-FFF2-40B4-BE49-F238E27FC236}">
                    <a16:creationId xmlns:a16="http://schemas.microsoft.com/office/drawing/2014/main" id="{5AB66211-51D6-4AFA-9F3C-8302397ADBA8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4959112" y="2386915"/>
                <a:ext cx="1430455" cy="30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4695233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337C26D3-6E6F-4E34-B139-E14218597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656" y="629071"/>
            <a:ext cx="6902524" cy="421556"/>
          </a:xfrm>
        </p:spPr>
        <p:txBody>
          <a:bodyPr>
            <a:normAutofit fontScale="90000"/>
          </a:bodyPr>
          <a:lstStyle/>
          <a:p>
            <a:r>
              <a:rPr lang="ru-RU" dirty="0"/>
              <a:t>Закон существования чувств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BCC0FD8-770A-4EC0-A5B7-045822A0A9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39552" y="908720"/>
            <a:ext cx="4392488" cy="4896544"/>
          </a:xfrm>
        </p:spPr>
        <p:txBody>
          <a:bodyPr>
            <a:normAutofit fontScale="77500" lnSpcReduction="20000"/>
          </a:bodyPr>
          <a:lstStyle/>
          <a:p>
            <a:r>
              <a:rPr lang="ru-RU" dirty="0"/>
              <a:t>Чувства появляются, как реакция на происходящее в нашей внешней и внутренней жизни, </a:t>
            </a:r>
            <a:r>
              <a:rPr lang="ru-RU" b="1" dirty="0"/>
              <a:t>и никуда не исчезают. 	</a:t>
            </a:r>
            <a:r>
              <a:rPr lang="ru-RU" dirty="0"/>
              <a:t>Мы чувствуем все чувства: приятные и неприятные. </a:t>
            </a:r>
            <a:r>
              <a:rPr lang="ru-RU" b="1" i="1" dirty="0"/>
              <a:t>Если мы не обратим на них внимания, не выразим их,</a:t>
            </a:r>
            <a:r>
              <a:rPr lang="ru-RU" dirty="0"/>
              <a:t> рано или поздно они все равно дадут о себе знать, взрывом эмоций, болезнью, неадекватными эмоциональными реакциями внешними или внутренними (слезливость, или внутренние эмоциональные диалоги), каким-то неблаговидным поведением – разрядкой. </a:t>
            </a:r>
          </a:p>
          <a:p>
            <a:endParaRPr lang="ru-RU" dirty="0"/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1B87AA8F-6229-4E25-8D19-9490C58F88B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7500" lnSpcReduction="20000"/>
          </a:bodyPr>
          <a:lstStyle/>
          <a:p>
            <a:endParaRPr lang="ru-RU"/>
          </a:p>
        </p:txBody>
      </p:sp>
      <p:pic>
        <p:nvPicPr>
          <p:cNvPr id="8194" name="Picture 2" descr="Чувства, которые возвращаются — это чувства, которые никогда не ...">
            <a:extLst>
              <a:ext uri="{FF2B5EF4-FFF2-40B4-BE49-F238E27FC236}">
                <a16:creationId xmlns:a16="http://schemas.microsoft.com/office/drawing/2014/main" id="{7CAC03F2-D535-443E-9731-D6A9A81687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6066" y="981516"/>
            <a:ext cx="2790310" cy="43010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4140222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97141217-C000-4D6F-9AB2-6843874B74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1800" i="1" dirty="0">
                <a:solidFill>
                  <a:srgbClr val="FF0000"/>
                </a:solidFill>
              </a:rPr>
              <a:t>Умение чувствовать – быть в контакте с чувствами.</a:t>
            </a:r>
            <a:br>
              <a:rPr lang="ru-RU" sz="1800" i="1" dirty="0">
                <a:solidFill>
                  <a:srgbClr val="FF0000"/>
                </a:solidFill>
              </a:rPr>
            </a:br>
            <a:r>
              <a:rPr lang="ru-RU" sz="1800" i="1" dirty="0">
                <a:solidFill>
                  <a:srgbClr val="FF0000"/>
                </a:solidFill>
              </a:rPr>
              <a:t>Иметь расширенный запас слов, обозначающих оттенки чувств.</a:t>
            </a:r>
            <a:br>
              <a:rPr lang="ru-RU" sz="1800" i="1" dirty="0">
                <a:solidFill>
                  <a:srgbClr val="FF0000"/>
                </a:solidFill>
              </a:rPr>
            </a:br>
            <a:r>
              <a:rPr lang="ru-RU" sz="1800" i="1" dirty="0">
                <a:solidFill>
                  <a:srgbClr val="FF0000"/>
                </a:solidFill>
              </a:rPr>
              <a:t>Умение называть свои чувства.</a:t>
            </a:r>
            <a:br>
              <a:rPr lang="ru-RU" sz="1800" i="1" dirty="0">
                <a:solidFill>
                  <a:srgbClr val="FF0000"/>
                </a:solidFill>
              </a:rPr>
            </a:br>
            <a:endParaRPr lang="ru-RU" sz="1800" i="1" dirty="0">
              <a:solidFill>
                <a:srgbClr val="FF0000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14A5081-8A6E-45B0-9F39-54A8849E755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5330" y="1556793"/>
            <a:ext cx="7772870" cy="4234408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ru-RU" b="1" dirty="0"/>
              <a:t>Контакт с чувствами.</a:t>
            </a:r>
          </a:p>
          <a:p>
            <a:r>
              <a:rPr lang="ru-RU" dirty="0"/>
              <a:t>Необходимо быть в контакте с собственными чувствами. Это означает разбираться в том, какие эмоциональные ответы Вы сейчас способны осознать и «обработать». Это поможет Вам быстро  приобретать душевное спокойствие. А с этим связано и Ваше физическое благополучие. </a:t>
            </a:r>
          </a:p>
          <a:p>
            <a:pPr marL="0" indent="0">
              <a:buNone/>
            </a:pPr>
            <a:r>
              <a:rPr lang="ru-RU" b="1" dirty="0"/>
              <a:t>Культура чувств. </a:t>
            </a:r>
          </a:p>
          <a:p>
            <a:r>
              <a:rPr lang="ru-RU" dirty="0"/>
              <a:t>Культура чувств включает в себя богатый словарь чувств в лексиконе человека, умение входить в контакт с чувствами и отдавать себе отчет, какое именно чувство сейчас владеет сердцем. Принимать, что все чувства имеют право на существование.  Назовем их «спокойные и беспокойные», или «приятные и неприятные чувства». Воспринимать оттенки чувств. </a:t>
            </a:r>
          </a:p>
          <a:p>
            <a:pPr marL="0" indent="0">
              <a:buNone/>
            </a:pPr>
            <a:r>
              <a:rPr lang="ru-RU" b="1" dirty="0"/>
              <a:t>Пример: оттенки чувства РАДОСТЬ</a:t>
            </a:r>
            <a:br>
              <a:rPr lang="ru-RU" dirty="0"/>
            </a:br>
            <a:r>
              <a:rPr lang="ru-RU" dirty="0"/>
              <a:t>Доволен. Оживлен. Активен. Рад. Оптимистичен. Бодр. Воодушевлен. Горд. Весел. Счастлив. Восхищен. Окрылен. В восторге. Вне себя от счастья. В экстазе.</a:t>
            </a:r>
          </a:p>
          <a:p>
            <a:endParaRPr lang="ru-RU" dirty="0"/>
          </a:p>
          <a:p>
            <a:endParaRPr lang="ru-RU" dirty="0"/>
          </a:p>
        </p:txBody>
      </p:sp>
      <p:pic>
        <p:nvPicPr>
          <p:cNvPr id="7170" name="Picture 2" descr="Эмоции, чувства, ощущения, настроения и аффекты. В чем же разница?">
            <a:extLst>
              <a:ext uri="{FF2B5EF4-FFF2-40B4-BE49-F238E27FC236}">
                <a16:creationId xmlns:a16="http://schemas.microsoft.com/office/drawing/2014/main" id="{E5A99684-E276-4180-B1BD-02BDD43125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0352" y="836712"/>
            <a:ext cx="1259632" cy="9571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5591642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56864" y="764704"/>
            <a:ext cx="5922657" cy="595694"/>
          </a:xfrm>
        </p:spPr>
        <p:txBody>
          <a:bodyPr>
            <a:normAutofit fontScale="90000"/>
          </a:bodyPr>
          <a:lstStyle/>
          <a:p>
            <a:r>
              <a:rPr lang="ru-RU" dirty="0"/>
              <a:t>Чувства всякие важны, </a:t>
            </a:r>
            <a:br>
              <a:rPr lang="ru-RU" dirty="0"/>
            </a:br>
            <a:r>
              <a:rPr lang="ru-RU" dirty="0"/>
              <a:t>чувства разные нужны</a:t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sz="quarter" idx="13"/>
          </p:nvPr>
        </p:nvSpPr>
        <p:spPr>
          <a:xfrm>
            <a:off x="356864" y="1484784"/>
            <a:ext cx="5922657" cy="4608512"/>
          </a:xfrm>
        </p:spPr>
        <p:txBody>
          <a:bodyPr>
            <a:normAutofit fontScale="55000" lnSpcReduction="20000"/>
          </a:bodyPr>
          <a:lstStyle/>
          <a:p>
            <a:r>
              <a:rPr lang="ru-RU" b="1" dirty="0"/>
              <a:t>Чувство страха</a:t>
            </a:r>
            <a:r>
              <a:rPr lang="ru-RU" dirty="0"/>
              <a:t> предупреждает об опасности, подсказывает, что нужно искать защиты и поддержки.</a:t>
            </a:r>
          </a:p>
          <a:p>
            <a:r>
              <a:rPr lang="ru-RU" b="1" dirty="0"/>
              <a:t>Злость (гнев)</a:t>
            </a:r>
            <a:r>
              <a:rPr lang="ru-RU" dirty="0"/>
              <a:t> служит сигналом, что твои или чьи-то права нарушены. Она, словно предохранительный клапан, помогает спустить пары, то есть ослабить эмоциональное напряжение. Она же дает нам силы для того, чтобы найти выход из создавшейся ситуации.</a:t>
            </a:r>
          </a:p>
          <a:p>
            <a:r>
              <a:rPr lang="ru-RU" b="1" dirty="0"/>
              <a:t>Чувство одиночества</a:t>
            </a:r>
            <a:r>
              <a:rPr lang="ru-RU" dirty="0"/>
              <a:t> подсказывает: тебе не хватает человеческого общения, близости - значит, нужно налаживать более тесные отношения с окружающими. </a:t>
            </a:r>
          </a:p>
          <a:p>
            <a:r>
              <a:rPr lang="ru-RU" b="1" dirty="0"/>
              <a:t>Душевная боль</a:t>
            </a:r>
            <a:r>
              <a:rPr lang="ru-RU" dirty="0"/>
              <a:t> (подобно физической боли, которая сигнализирует о неблагополучии в организме) позволяет осознать: что-то идет не так, душа страдает, требуется лечение.</a:t>
            </a:r>
          </a:p>
          <a:p>
            <a:r>
              <a:rPr lang="ru-RU" b="1" dirty="0"/>
              <a:t>Радость</a:t>
            </a:r>
            <a:r>
              <a:rPr lang="ru-RU" dirty="0"/>
              <a:t> свидетельствует о восполнении важной потребности.</a:t>
            </a:r>
          </a:p>
          <a:p>
            <a:r>
              <a:rPr lang="ru-RU" b="1" dirty="0"/>
              <a:t>Удовлетворение</a:t>
            </a:r>
            <a:r>
              <a:rPr lang="ru-RU" dirty="0"/>
              <a:t> говорит о том, что ты что-то делаешь хорошо. Оно помогает укрепить чувство собственного достоинства.</a:t>
            </a:r>
          </a:p>
          <a:p>
            <a:endParaRPr lang="ru-RU" dirty="0"/>
          </a:p>
        </p:txBody>
      </p:sp>
      <p:pic>
        <p:nvPicPr>
          <p:cNvPr id="4098" name="Picture 2" descr="Внутренние чувства или мысли, интеллектуальная оценка - Психологос">
            <a:extLst>
              <a:ext uri="{FF2B5EF4-FFF2-40B4-BE49-F238E27FC236}">
                <a16:creationId xmlns:a16="http://schemas.microsoft.com/office/drawing/2014/main" id="{3E031354-92B0-488F-BFEA-FF3944D139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6516216" y="332656"/>
            <a:ext cx="1615107" cy="13054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4835207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95536" y="692696"/>
            <a:ext cx="5370365" cy="487682"/>
          </a:xfrm>
        </p:spPr>
        <p:txBody>
          <a:bodyPr>
            <a:normAutofit fontScale="90000"/>
          </a:bodyPr>
          <a:lstStyle/>
          <a:p>
            <a:r>
              <a:rPr lang="ru-RU" dirty="0"/>
              <a:t>Культура выражения чувств</a:t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sz="quarter" idx="13"/>
          </p:nvPr>
        </p:nvSpPr>
        <p:spPr>
          <a:xfrm>
            <a:off x="818965" y="1340768"/>
            <a:ext cx="6667685" cy="4680519"/>
          </a:xfrm>
        </p:spPr>
        <p:txBody>
          <a:bodyPr>
            <a:normAutofit fontScale="70000" lnSpcReduction="20000"/>
          </a:bodyPr>
          <a:lstStyle/>
          <a:p>
            <a:pPr lvl="0"/>
            <a:r>
              <a:rPr lang="ru-RU" i="1" dirty="0">
                <a:solidFill>
                  <a:srgbClr val="FF0000"/>
                </a:solidFill>
              </a:rPr>
              <a:t>Умение работать со своими чувствами</a:t>
            </a:r>
          </a:p>
          <a:p>
            <a:pPr lvl="0"/>
            <a:r>
              <a:rPr lang="ru-RU" dirty="0"/>
              <a:t>поплакать </a:t>
            </a:r>
          </a:p>
          <a:p>
            <a:pPr lvl="0"/>
            <a:r>
              <a:rPr lang="ru-RU" dirty="0"/>
              <a:t>(горе, обида, злость, восторг); </a:t>
            </a:r>
          </a:p>
          <a:p>
            <a:pPr lvl="0"/>
            <a:r>
              <a:rPr lang="ru-RU" dirty="0"/>
              <a:t>физически разрядиться – побегать, попрыгать, покричать (радость, злость, утомление, усталость);</a:t>
            </a:r>
          </a:p>
          <a:p>
            <a:pPr lvl="0"/>
            <a:r>
              <a:rPr lang="ru-RU" dirty="0"/>
              <a:t>написать подробно о своих чувствах в тетрадь, в дневник;</a:t>
            </a:r>
          </a:p>
          <a:p>
            <a:pPr lvl="0"/>
            <a:r>
              <a:rPr lang="ru-RU" dirty="0"/>
              <a:t>нарисовать свои чувства;</a:t>
            </a:r>
          </a:p>
          <a:p>
            <a:pPr lvl="0"/>
            <a:r>
              <a:rPr lang="ru-RU" dirty="0"/>
              <a:t>побыть одному, успокоиться;</a:t>
            </a:r>
          </a:p>
          <a:p>
            <a:pPr lvl="0"/>
            <a:r>
              <a:rPr lang="ru-RU" dirty="0"/>
              <a:t>поговорить с другом, с тем, кто готов послушать;</a:t>
            </a:r>
          </a:p>
          <a:p>
            <a:pPr lvl="0"/>
            <a:r>
              <a:rPr lang="ru-RU" dirty="0"/>
              <a:t>побить подушку, бокс, карате – удары в воздух;</a:t>
            </a:r>
          </a:p>
          <a:p>
            <a:pPr lvl="0"/>
            <a:r>
              <a:rPr lang="ru-RU" dirty="0"/>
              <a:t>форма «я – сообщения».</a:t>
            </a:r>
          </a:p>
          <a:p>
            <a:endParaRPr lang="ru-RU" dirty="0"/>
          </a:p>
        </p:txBody>
      </p:sp>
      <p:pic>
        <p:nvPicPr>
          <p:cNvPr id="5122" name="Picture 2" descr="Как научиться выражать чувства - Лечение наркомании, алкоголизма ...">
            <a:extLst>
              <a:ext uri="{FF2B5EF4-FFF2-40B4-BE49-F238E27FC236}">
                <a16:creationId xmlns:a16="http://schemas.microsoft.com/office/drawing/2014/main" id="{B91060BE-E290-43B3-9881-DDE1832098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6112" y="1037333"/>
            <a:ext cx="2378869" cy="10787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1374601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1" name="Рукописный ввод 10">
                <a:extLst>
                  <a:ext uri="{FF2B5EF4-FFF2-40B4-BE49-F238E27FC236}">
                    <a16:creationId xmlns:a16="http://schemas.microsoft.com/office/drawing/2014/main" id="{BFE1B0F0-6E66-41DA-8866-D9576AB6B27D}"/>
                  </a:ext>
                </a:extLst>
              </p14:cNvPr>
              <p14:cNvContentPartPr/>
              <p14:nvPr/>
            </p14:nvContentPartPr>
            <p14:xfrm>
              <a:off x="1496413" y="1210089"/>
              <a:ext cx="140130" cy="3278340"/>
            </p14:xfrm>
          </p:contentPart>
        </mc:Choice>
        <mc:Fallback xmlns="">
          <p:pic>
            <p:nvPicPr>
              <p:cNvPr id="11" name="Рукописный ввод 10">
                <a:extLst>
                  <a:ext uri="{FF2B5EF4-FFF2-40B4-BE49-F238E27FC236}">
                    <a16:creationId xmlns:a16="http://schemas.microsoft.com/office/drawing/2014/main" id="{BFE1B0F0-6E66-41DA-8866-D9576AB6B27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487430" y="1201089"/>
                <a:ext cx="157736" cy="329597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2" name="Рукописный ввод 11">
                <a:extLst>
                  <a:ext uri="{FF2B5EF4-FFF2-40B4-BE49-F238E27FC236}">
                    <a16:creationId xmlns:a16="http://schemas.microsoft.com/office/drawing/2014/main" id="{F07A0997-9567-4DE0-BB4B-665590033688}"/>
                  </a:ext>
                </a:extLst>
              </p14:cNvPr>
              <p14:cNvContentPartPr/>
              <p14:nvPr/>
            </p14:nvContentPartPr>
            <p14:xfrm>
              <a:off x="1400023" y="4189269"/>
              <a:ext cx="4972590" cy="280260"/>
            </p14:xfrm>
          </p:contentPart>
        </mc:Choice>
        <mc:Fallback xmlns="">
          <p:pic>
            <p:nvPicPr>
              <p:cNvPr id="12" name="Рукописный ввод 11">
                <a:extLst>
                  <a:ext uri="{FF2B5EF4-FFF2-40B4-BE49-F238E27FC236}">
                    <a16:creationId xmlns:a16="http://schemas.microsoft.com/office/drawing/2014/main" id="{F07A0997-9567-4DE0-BB4B-66559003368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391024" y="4180275"/>
                <a:ext cx="4990228" cy="29788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3" name="Рукописный ввод 12">
                <a:extLst>
                  <a:ext uri="{FF2B5EF4-FFF2-40B4-BE49-F238E27FC236}">
                    <a16:creationId xmlns:a16="http://schemas.microsoft.com/office/drawing/2014/main" id="{256C3918-8F52-48AE-8074-6024AD239401}"/>
                  </a:ext>
                </a:extLst>
              </p14:cNvPr>
              <p14:cNvContentPartPr/>
              <p14:nvPr/>
            </p14:nvContentPartPr>
            <p14:xfrm>
              <a:off x="1560943" y="1499799"/>
              <a:ext cx="5556060" cy="2672730"/>
            </p14:xfrm>
          </p:contentPart>
        </mc:Choice>
        <mc:Fallback xmlns="">
          <p:pic>
            <p:nvPicPr>
              <p:cNvPr id="13" name="Рукописный ввод 12">
                <a:extLst>
                  <a:ext uri="{FF2B5EF4-FFF2-40B4-BE49-F238E27FC236}">
                    <a16:creationId xmlns:a16="http://schemas.microsoft.com/office/drawing/2014/main" id="{256C3918-8F52-48AE-8074-6024AD23940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551944" y="1490799"/>
                <a:ext cx="5573698" cy="269037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4" name="Рукописный ввод 13">
                <a:extLst>
                  <a:ext uri="{FF2B5EF4-FFF2-40B4-BE49-F238E27FC236}">
                    <a16:creationId xmlns:a16="http://schemas.microsoft.com/office/drawing/2014/main" id="{019677F5-DE04-41A9-AF68-D94653F8B2EF}"/>
                  </a:ext>
                </a:extLst>
              </p14:cNvPr>
              <p14:cNvContentPartPr/>
              <p14:nvPr/>
            </p14:nvContentPartPr>
            <p14:xfrm>
              <a:off x="1539073" y="1595919"/>
              <a:ext cx="2296620" cy="2600370"/>
            </p14:xfrm>
          </p:contentPart>
        </mc:Choice>
        <mc:Fallback xmlns="">
          <p:pic>
            <p:nvPicPr>
              <p:cNvPr id="14" name="Рукописный ввод 13">
                <a:extLst>
                  <a:ext uri="{FF2B5EF4-FFF2-40B4-BE49-F238E27FC236}">
                    <a16:creationId xmlns:a16="http://schemas.microsoft.com/office/drawing/2014/main" id="{019677F5-DE04-41A9-AF68-D94653F8B2E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530075" y="1586920"/>
                <a:ext cx="2314256" cy="261800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5" name="Рукописный ввод 14">
                <a:extLst>
                  <a:ext uri="{FF2B5EF4-FFF2-40B4-BE49-F238E27FC236}">
                    <a16:creationId xmlns:a16="http://schemas.microsoft.com/office/drawing/2014/main" id="{DB42F548-4221-453F-AD8E-EADA4736DC08}"/>
                  </a:ext>
                </a:extLst>
              </p14:cNvPr>
              <p14:cNvContentPartPr/>
              <p14:nvPr/>
            </p14:nvContentPartPr>
            <p14:xfrm>
              <a:off x="1528813" y="2710749"/>
              <a:ext cx="1034100" cy="1472850"/>
            </p14:xfrm>
          </p:contentPart>
        </mc:Choice>
        <mc:Fallback xmlns="">
          <p:pic>
            <p:nvPicPr>
              <p:cNvPr id="15" name="Рукописный ввод 14">
                <a:extLst>
                  <a:ext uri="{FF2B5EF4-FFF2-40B4-BE49-F238E27FC236}">
                    <a16:creationId xmlns:a16="http://schemas.microsoft.com/office/drawing/2014/main" id="{DB42F548-4221-453F-AD8E-EADA4736DC08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519818" y="2701751"/>
                <a:ext cx="1051731" cy="149048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8" name="Рукописный ввод 17">
                <a:extLst>
                  <a:ext uri="{FF2B5EF4-FFF2-40B4-BE49-F238E27FC236}">
                    <a16:creationId xmlns:a16="http://schemas.microsoft.com/office/drawing/2014/main" id="{DCA1AE6D-EF69-4471-A5B3-06F04618CEC8}"/>
                  </a:ext>
                </a:extLst>
              </p14:cNvPr>
              <p14:cNvContentPartPr/>
              <p14:nvPr/>
            </p14:nvContentPartPr>
            <p14:xfrm>
              <a:off x="3457693" y="2871129"/>
              <a:ext cx="270" cy="270"/>
            </p14:xfrm>
          </p:contentPart>
        </mc:Choice>
        <mc:Fallback xmlns="">
          <p:pic>
            <p:nvPicPr>
              <p:cNvPr id="18" name="Рукописный ввод 17">
                <a:extLst>
                  <a:ext uri="{FF2B5EF4-FFF2-40B4-BE49-F238E27FC236}">
                    <a16:creationId xmlns:a16="http://schemas.microsoft.com/office/drawing/2014/main" id="{DCA1AE6D-EF69-4471-A5B3-06F04618CEC8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450943" y="2864379"/>
                <a:ext cx="13500" cy="135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9" name="Рукописный ввод 18">
                <a:extLst>
                  <a:ext uri="{FF2B5EF4-FFF2-40B4-BE49-F238E27FC236}">
                    <a16:creationId xmlns:a16="http://schemas.microsoft.com/office/drawing/2014/main" id="{B13A2B22-6698-4E15-8D82-8CA045B7F61C}"/>
                  </a:ext>
                </a:extLst>
              </p14:cNvPr>
              <p14:cNvContentPartPr/>
              <p14:nvPr/>
            </p14:nvContentPartPr>
            <p14:xfrm>
              <a:off x="5718133" y="3106839"/>
              <a:ext cx="270" cy="270"/>
            </p14:xfrm>
          </p:contentPart>
        </mc:Choice>
        <mc:Fallback xmlns="">
          <p:pic>
            <p:nvPicPr>
              <p:cNvPr id="19" name="Рукописный ввод 18">
                <a:extLst>
                  <a:ext uri="{FF2B5EF4-FFF2-40B4-BE49-F238E27FC236}">
                    <a16:creationId xmlns:a16="http://schemas.microsoft.com/office/drawing/2014/main" id="{B13A2B22-6698-4E15-8D82-8CA045B7F61C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711383" y="3100089"/>
                <a:ext cx="13500" cy="135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20" name="Рукописный ввод 19">
                <a:extLst>
                  <a:ext uri="{FF2B5EF4-FFF2-40B4-BE49-F238E27FC236}">
                    <a16:creationId xmlns:a16="http://schemas.microsoft.com/office/drawing/2014/main" id="{F468C191-269B-4A42-A36A-883B33BE7C33}"/>
                  </a:ext>
                </a:extLst>
              </p14:cNvPr>
              <p14:cNvContentPartPr/>
              <p14:nvPr/>
            </p14:nvContentPartPr>
            <p14:xfrm>
              <a:off x="7636753" y="2560629"/>
              <a:ext cx="270" cy="270"/>
            </p14:xfrm>
          </p:contentPart>
        </mc:Choice>
        <mc:Fallback xmlns="">
          <p:pic>
            <p:nvPicPr>
              <p:cNvPr id="20" name="Рукописный ввод 19">
                <a:extLst>
                  <a:ext uri="{FF2B5EF4-FFF2-40B4-BE49-F238E27FC236}">
                    <a16:creationId xmlns:a16="http://schemas.microsoft.com/office/drawing/2014/main" id="{F468C191-269B-4A42-A36A-883B33BE7C33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630003" y="2553879"/>
                <a:ext cx="13500" cy="135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21" name="Рукописный ввод 20">
                <a:extLst>
                  <a:ext uri="{FF2B5EF4-FFF2-40B4-BE49-F238E27FC236}">
                    <a16:creationId xmlns:a16="http://schemas.microsoft.com/office/drawing/2014/main" id="{FBAB8339-137F-4B35-877E-A55D3381B9EF}"/>
                  </a:ext>
                </a:extLst>
              </p14:cNvPr>
              <p14:cNvContentPartPr/>
              <p14:nvPr/>
            </p14:nvContentPartPr>
            <p14:xfrm>
              <a:off x="7047343" y="2421579"/>
              <a:ext cx="270" cy="270"/>
            </p14:xfrm>
          </p:contentPart>
        </mc:Choice>
        <mc:Fallback xmlns="">
          <p:pic>
            <p:nvPicPr>
              <p:cNvPr id="21" name="Рукописный ввод 20">
                <a:extLst>
                  <a:ext uri="{FF2B5EF4-FFF2-40B4-BE49-F238E27FC236}">
                    <a16:creationId xmlns:a16="http://schemas.microsoft.com/office/drawing/2014/main" id="{FBAB8339-137F-4B35-877E-A55D3381B9EF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040593" y="2414829"/>
                <a:ext cx="13500" cy="13500"/>
              </a:xfrm>
              <a:prstGeom prst="rect">
                <a:avLst/>
              </a:prstGeom>
            </p:spPr>
          </p:pic>
        </mc:Fallback>
      </mc:AlternateContent>
      <p:grpSp>
        <p:nvGrpSpPr>
          <p:cNvPr id="24" name="Группа 23">
            <a:extLst>
              <a:ext uri="{FF2B5EF4-FFF2-40B4-BE49-F238E27FC236}">
                <a16:creationId xmlns:a16="http://schemas.microsoft.com/office/drawing/2014/main" id="{87C2CD47-658E-4033-B880-54D92234BE9D}"/>
              </a:ext>
            </a:extLst>
          </p:cNvPr>
          <p:cNvGrpSpPr/>
          <p:nvPr/>
        </p:nvGrpSpPr>
        <p:grpSpPr>
          <a:xfrm>
            <a:off x="5343373" y="2399709"/>
            <a:ext cx="270" cy="270"/>
            <a:chOff x="5600497" y="2056612"/>
            <a:chExt cx="360" cy="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22" name="Рукописный ввод 21">
                  <a:extLst>
                    <a:ext uri="{FF2B5EF4-FFF2-40B4-BE49-F238E27FC236}">
                      <a16:creationId xmlns:a16="http://schemas.microsoft.com/office/drawing/2014/main" id="{62E0EBD2-0EA3-4343-AE0E-77CF8FD1B3DB}"/>
                    </a:ext>
                  </a:extLst>
                </p14:cNvPr>
                <p14:cNvContentPartPr/>
                <p14:nvPr/>
              </p14:nvContentPartPr>
              <p14:xfrm>
                <a:off x="5600497" y="2056612"/>
                <a:ext cx="360" cy="360"/>
              </p14:xfrm>
            </p:contentPart>
          </mc:Choice>
          <mc:Fallback xmlns="">
            <p:pic>
              <p:nvPicPr>
                <p:cNvPr id="22" name="Рукописный ввод 21">
                  <a:extLst>
                    <a:ext uri="{FF2B5EF4-FFF2-40B4-BE49-F238E27FC236}">
                      <a16:creationId xmlns:a16="http://schemas.microsoft.com/office/drawing/2014/main" id="{62E0EBD2-0EA3-4343-AE0E-77CF8FD1B3DB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5591497" y="2047612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23" name="Рукописный ввод 22">
                  <a:extLst>
                    <a:ext uri="{FF2B5EF4-FFF2-40B4-BE49-F238E27FC236}">
                      <a16:creationId xmlns:a16="http://schemas.microsoft.com/office/drawing/2014/main" id="{6293C1FC-E981-4EBC-ABA9-82F1091FDDBC}"/>
                    </a:ext>
                  </a:extLst>
                </p14:cNvPr>
                <p14:cNvContentPartPr/>
                <p14:nvPr/>
              </p14:nvContentPartPr>
              <p14:xfrm>
                <a:off x="5600497" y="2056612"/>
                <a:ext cx="360" cy="360"/>
              </p14:xfrm>
            </p:contentPart>
          </mc:Choice>
          <mc:Fallback xmlns="">
            <p:pic>
              <p:nvPicPr>
                <p:cNvPr id="23" name="Рукописный ввод 22">
                  <a:extLst>
                    <a:ext uri="{FF2B5EF4-FFF2-40B4-BE49-F238E27FC236}">
                      <a16:creationId xmlns:a16="http://schemas.microsoft.com/office/drawing/2014/main" id="{6293C1FC-E981-4EBC-ABA9-82F1091FDDBC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5591497" y="2047612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25" name="Рукописный ввод 24">
                <a:extLst>
                  <a:ext uri="{FF2B5EF4-FFF2-40B4-BE49-F238E27FC236}">
                    <a16:creationId xmlns:a16="http://schemas.microsoft.com/office/drawing/2014/main" id="{23BBAF52-B7F6-4F09-ACA3-18921E1FFE87}"/>
                  </a:ext>
                </a:extLst>
              </p14:cNvPr>
              <p14:cNvContentPartPr/>
              <p14:nvPr/>
            </p14:nvContentPartPr>
            <p14:xfrm>
              <a:off x="4153753" y="2217459"/>
              <a:ext cx="270" cy="270"/>
            </p14:xfrm>
          </p:contentPart>
        </mc:Choice>
        <mc:Fallback xmlns="">
          <p:pic>
            <p:nvPicPr>
              <p:cNvPr id="25" name="Рукописный ввод 24">
                <a:extLst>
                  <a:ext uri="{FF2B5EF4-FFF2-40B4-BE49-F238E27FC236}">
                    <a16:creationId xmlns:a16="http://schemas.microsoft.com/office/drawing/2014/main" id="{23BBAF52-B7F6-4F09-ACA3-18921E1FFE87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147003" y="2210709"/>
                <a:ext cx="13500" cy="135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26" name="Рукописный ввод 25">
                <a:extLst>
                  <a:ext uri="{FF2B5EF4-FFF2-40B4-BE49-F238E27FC236}">
                    <a16:creationId xmlns:a16="http://schemas.microsoft.com/office/drawing/2014/main" id="{DBB44DA0-A150-429B-A0F6-A0D43A47C8F2}"/>
                  </a:ext>
                </a:extLst>
              </p14:cNvPr>
              <p14:cNvContentPartPr/>
              <p14:nvPr/>
            </p14:nvContentPartPr>
            <p14:xfrm>
              <a:off x="3071863" y="2667549"/>
              <a:ext cx="270" cy="270"/>
            </p14:xfrm>
          </p:contentPart>
        </mc:Choice>
        <mc:Fallback xmlns="">
          <p:pic>
            <p:nvPicPr>
              <p:cNvPr id="26" name="Рукописный ввод 25">
                <a:extLst>
                  <a:ext uri="{FF2B5EF4-FFF2-40B4-BE49-F238E27FC236}">
                    <a16:creationId xmlns:a16="http://schemas.microsoft.com/office/drawing/2014/main" id="{DBB44DA0-A150-429B-A0F6-A0D43A47C8F2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065113" y="2660799"/>
                <a:ext cx="13500" cy="1350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C37886E-6AE3-472F-8388-F9BAFD38A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«Время лечит…»</a:t>
            </a:r>
          </a:p>
        </p:txBody>
      </p:sp>
    </p:spTree>
    <p:extLst>
      <p:ext uri="{BB962C8B-B14F-4D97-AF65-F5344CB8AC3E}">
        <p14:creationId xmlns:p14="http://schemas.microsoft.com/office/powerpoint/2010/main" val="238940574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75466" y="404664"/>
            <a:ext cx="6172200" cy="857250"/>
          </a:xfrm>
        </p:spPr>
        <p:txBody>
          <a:bodyPr>
            <a:normAutofit fontScale="90000"/>
          </a:bodyPr>
          <a:lstStyle/>
          <a:p>
            <a:r>
              <a:rPr lang="ru-RU" dirty="0"/>
              <a:t>Работа со словарем чувств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quarter" idx="13"/>
          </p:nvPr>
        </p:nvSpPr>
        <p:spPr>
          <a:xfrm>
            <a:off x="1656997" y="2078851"/>
            <a:ext cx="5829653" cy="3121800"/>
          </a:xfrm>
        </p:spPr>
        <p:txBody>
          <a:bodyPr>
            <a:normAutofit/>
          </a:bodyPr>
          <a:lstStyle/>
          <a:p>
            <a:r>
              <a:rPr lang="ru-RU" sz="2800" dirty="0"/>
              <a:t>УПРАЖНЕНИЕ</a:t>
            </a:r>
          </a:p>
          <a:p>
            <a:r>
              <a:rPr lang="ru-RU" sz="2800" dirty="0"/>
              <a:t>Закройте глаза</a:t>
            </a:r>
          </a:p>
          <a:p>
            <a:r>
              <a:rPr lang="ru-RU" sz="2800" dirty="0" err="1"/>
              <a:t>Причувствуйтесь</a:t>
            </a:r>
            <a:r>
              <a:rPr lang="ru-RU" sz="2800" dirty="0"/>
              <a:t> к себе</a:t>
            </a:r>
          </a:p>
          <a:p>
            <a:r>
              <a:rPr lang="ru-RU" sz="2800" dirty="0"/>
              <a:t>Поймите, что вы сейчас, в этот конкретный момент, чувствуете</a:t>
            </a:r>
          </a:p>
          <a:p>
            <a:endParaRPr lang="ru-RU" dirty="0"/>
          </a:p>
        </p:txBody>
      </p:sp>
      <p:pic>
        <p:nvPicPr>
          <p:cNvPr id="12290" name="Picture 2" descr="Если захлестывают чувства и эмоции: 7 стратегий как управлять ...">
            <a:extLst>
              <a:ext uri="{FF2B5EF4-FFF2-40B4-BE49-F238E27FC236}">
                <a16:creationId xmlns:a16="http://schemas.microsoft.com/office/drawing/2014/main" id="{3F35AE2E-0D75-4037-813F-F53222E895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2080" y="1452068"/>
            <a:ext cx="1989114" cy="132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Объект 4">
            <a:extLst>
              <a:ext uri="{FF2B5EF4-FFF2-40B4-BE49-F238E27FC236}">
                <a16:creationId xmlns:a16="http://schemas.microsoft.com/office/drawing/2014/main" id="{01F113F2-8637-4E57-8DCC-8407AD168B22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3485378674"/>
              </p:ext>
            </p:extLst>
          </p:nvPr>
        </p:nvGraphicFramePr>
        <p:xfrm>
          <a:off x="1043608" y="116632"/>
          <a:ext cx="6201688" cy="6741368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{5940675A-B579-460E-94D1-54222C63F5DA}</a:tableStyleId>
              </a:tblPr>
              <a:tblGrid>
                <a:gridCol w="1549936">
                  <a:extLst>
                    <a:ext uri="{9D8B030D-6E8A-4147-A177-3AD203B41FA5}">
                      <a16:colId xmlns:a16="http://schemas.microsoft.com/office/drawing/2014/main" val="1548471279"/>
                    </a:ext>
                  </a:extLst>
                </a:gridCol>
                <a:gridCol w="1550584">
                  <a:extLst>
                    <a:ext uri="{9D8B030D-6E8A-4147-A177-3AD203B41FA5}">
                      <a16:colId xmlns:a16="http://schemas.microsoft.com/office/drawing/2014/main" val="705926310"/>
                    </a:ext>
                  </a:extLst>
                </a:gridCol>
                <a:gridCol w="1550584">
                  <a:extLst>
                    <a:ext uri="{9D8B030D-6E8A-4147-A177-3AD203B41FA5}">
                      <a16:colId xmlns:a16="http://schemas.microsoft.com/office/drawing/2014/main" val="378384660"/>
                    </a:ext>
                  </a:extLst>
                </a:gridCol>
                <a:gridCol w="1550584">
                  <a:extLst>
                    <a:ext uri="{9D8B030D-6E8A-4147-A177-3AD203B41FA5}">
                      <a16:colId xmlns:a16="http://schemas.microsoft.com/office/drawing/2014/main" val="1754286969"/>
                    </a:ext>
                  </a:extLst>
                </a:gridCol>
              </a:tblGrid>
              <a:tr h="3370684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effectLst/>
                        </a:rPr>
                        <a:t>Радость</a:t>
                      </a:r>
                    </a:p>
                    <a:p>
                      <a:r>
                        <a:rPr lang="ru-RU" sz="1100" dirty="0">
                          <a:effectLst/>
                        </a:rPr>
                        <a:t> </a:t>
                      </a:r>
                    </a:p>
                    <a:p>
                      <a:r>
                        <a:rPr lang="ru-RU" sz="1100" dirty="0">
                          <a:effectLst/>
                        </a:rPr>
                        <a:t>Доволен</a:t>
                      </a:r>
                    </a:p>
                    <a:p>
                      <a:r>
                        <a:rPr lang="ru-RU" sz="1100" dirty="0">
                          <a:effectLst/>
                        </a:rPr>
                        <a:t>Оживлен</a:t>
                      </a:r>
                    </a:p>
                    <a:p>
                      <a:r>
                        <a:rPr lang="ru-RU" sz="1100" dirty="0">
                          <a:effectLst/>
                        </a:rPr>
                        <a:t>Ободрен</a:t>
                      </a:r>
                    </a:p>
                    <a:p>
                      <a:r>
                        <a:rPr lang="ru-RU" sz="1100" dirty="0">
                          <a:effectLst/>
                        </a:rPr>
                        <a:t>Рад</a:t>
                      </a:r>
                    </a:p>
                    <a:p>
                      <a:r>
                        <a:rPr lang="ru-RU" sz="1100" dirty="0">
                          <a:effectLst/>
                        </a:rPr>
                        <a:t>Оптимизм</a:t>
                      </a:r>
                    </a:p>
                    <a:p>
                      <a:r>
                        <a:rPr lang="ru-RU" sz="1100" dirty="0">
                          <a:effectLst/>
                        </a:rPr>
                        <a:t>Бодрость</a:t>
                      </a:r>
                    </a:p>
                    <a:p>
                      <a:r>
                        <a:rPr lang="ru-RU" sz="1100" dirty="0">
                          <a:effectLst/>
                        </a:rPr>
                        <a:t>Воодушевление</a:t>
                      </a:r>
                    </a:p>
                    <a:p>
                      <a:r>
                        <a:rPr lang="ru-RU" sz="1100" dirty="0">
                          <a:effectLst/>
                        </a:rPr>
                        <a:t>Гордость, Радость</a:t>
                      </a:r>
                    </a:p>
                    <a:p>
                      <a:r>
                        <a:rPr lang="ru-RU" sz="1100" dirty="0">
                          <a:effectLst/>
                        </a:rPr>
                        <a:t>Весел, Счастлив</a:t>
                      </a:r>
                    </a:p>
                    <a:p>
                      <a:r>
                        <a:rPr lang="ru-RU" sz="1100" dirty="0">
                          <a:effectLst/>
                        </a:rPr>
                        <a:t>В восхищении</a:t>
                      </a:r>
                    </a:p>
                    <a:p>
                      <a:r>
                        <a:rPr lang="ru-RU" sz="1100" dirty="0">
                          <a:effectLst/>
                        </a:rPr>
                        <a:t>Окрылен</a:t>
                      </a:r>
                    </a:p>
                    <a:p>
                      <a:r>
                        <a:rPr lang="ru-RU" sz="1100" dirty="0">
                          <a:effectLst/>
                        </a:rPr>
                        <a:t>Восторг</a:t>
                      </a:r>
                    </a:p>
                    <a:p>
                      <a:r>
                        <a:rPr lang="ru-RU" sz="1100" dirty="0">
                          <a:effectLst/>
                        </a:rPr>
                        <a:t>Вне себя от счастья</a:t>
                      </a:r>
                    </a:p>
                    <a:p>
                      <a:r>
                        <a:rPr lang="ru-RU" sz="1100" dirty="0">
                          <a:effectLst/>
                        </a:rPr>
                        <a:t>Экстаз</a:t>
                      </a:r>
                      <a:endParaRPr lang="ru-RU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8079" marR="28079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effectLst/>
                        </a:rPr>
                        <a:t>Энергия</a:t>
                      </a:r>
                    </a:p>
                    <a:p>
                      <a:r>
                        <a:rPr lang="ru-RU" sz="1100" dirty="0">
                          <a:effectLst/>
                        </a:rPr>
                        <a:t> </a:t>
                      </a:r>
                    </a:p>
                    <a:p>
                      <a:r>
                        <a:rPr lang="ru-RU" sz="1100" dirty="0">
                          <a:effectLst/>
                        </a:rPr>
                        <a:t>Расслаблен</a:t>
                      </a:r>
                    </a:p>
                    <a:p>
                      <a:r>
                        <a:rPr lang="ru-RU" sz="1100" dirty="0">
                          <a:effectLst/>
                        </a:rPr>
                        <a:t>Удовлетворен</a:t>
                      </a:r>
                    </a:p>
                    <a:p>
                      <a:r>
                        <a:rPr lang="ru-RU" sz="1100" dirty="0">
                          <a:effectLst/>
                        </a:rPr>
                        <a:t>Спокоен</a:t>
                      </a:r>
                    </a:p>
                    <a:p>
                      <a:r>
                        <a:rPr lang="ru-RU" sz="1100" dirty="0">
                          <a:effectLst/>
                        </a:rPr>
                        <a:t>Уютно</a:t>
                      </a:r>
                    </a:p>
                    <a:p>
                      <a:r>
                        <a:rPr lang="ru-RU" sz="1100" dirty="0">
                          <a:effectLst/>
                        </a:rPr>
                        <a:t>Комфортно</a:t>
                      </a:r>
                    </a:p>
                    <a:p>
                      <a:r>
                        <a:rPr lang="ru-RU" sz="1100" dirty="0">
                          <a:effectLst/>
                        </a:rPr>
                        <a:t>Оживление</a:t>
                      </a:r>
                    </a:p>
                    <a:p>
                      <a:r>
                        <a:rPr lang="ru-RU" sz="1100" dirty="0">
                          <a:effectLst/>
                        </a:rPr>
                        <a:t>Бодр</a:t>
                      </a:r>
                    </a:p>
                    <a:p>
                      <a:r>
                        <a:rPr lang="ru-RU" sz="1100" dirty="0">
                          <a:effectLst/>
                        </a:rPr>
                        <a:t>Активен</a:t>
                      </a:r>
                    </a:p>
                    <a:p>
                      <a:r>
                        <a:rPr lang="ru-RU" sz="1100" dirty="0">
                          <a:effectLst/>
                        </a:rPr>
                        <a:t>Возбуждение</a:t>
                      </a:r>
                    </a:p>
                    <a:p>
                      <a:r>
                        <a:rPr lang="ru-RU" sz="1100" dirty="0">
                          <a:effectLst/>
                        </a:rPr>
                        <a:t>Полон энтузиазма</a:t>
                      </a:r>
                    </a:p>
                    <a:p>
                      <a:pPr algn="ctr"/>
                      <a:r>
                        <a:rPr lang="ru-RU" sz="1100" dirty="0">
                          <a:effectLst/>
                        </a:rPr>
                        <a:t> </a:t>
                      </a:r>
                    </a:p>
                    <a:p>
                      <a:r>
                        <a:rPr lang="ru-RU" sz="1100" dirty="0">
                          <a:effectLst/>
                        </a:rPr>
                        <a:t> </a:t>
                      </a:r>
                      <a:endParaRPr lang="ru-RU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8079" marR="28079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effectLst/>
                        </a:rPr>
                        <a:t>Печаль</a:t>
                      </a:r>
                    </a:p>
                    <a:p>
                      <a:r>
                        <a:rPr lang="ru-RU" sz="1100" dirty="0">
                          <a:effectLst/>
                        </a:rPr>
                        <a:t> </a:t>
                      </a:r>
                    </a:p>
                    <a:p>
                      <a:r>
                        <a:rPr lang="ru-RU" sz="1100" dirty="0">
                          <a:effectLst/>
                        </a:rPr>
                        <a:t>Не по себе</a:t>
                      </a:r>
                    </a:p>
                    <a:p>
                      <a:r>
                        <a:rPr lang="ru-RU" sz="1100" dirty="0">
                          <a:effectLst/>
                        </a:rPr>
                        <a:t>Взгрустнулось</a:t>
                      </a:r>
                    </a:p>
                    <a:p>
                      <a:r>
                        <a:rPr lang="ru-RU" sz="1100" dirty="0">
                          <a:effectLst/>
                        </a:rPr>
                        <a:t>Грустно, Одиноко</a:t>
                      </a:r>
                    </a:p>
                    <a:p>
                      <a:r>
                        <a:rPr lang="ru-RU" sz="1100" dirty="0">
                          <a:effectLst/>
                        </a:rPr>
                        <a:t>Расстроен</a:t>
                      </a:r>
                    </a:p>
                    <a:p>
                      <a:r>
                        <a:rPr lang="ru-RU" sz="1100" dirty="0">
                          <a:effectLst/>
                        </a:rPr>
                        <a:t>Изнурен</a:t>
                      </a:r>
                    </a:p>
                    <a:p>
                      <a:r>
                        <a:rPr lang="ru-RU" sz="1100" dirty="0">
                          <a:effectLst/>
                        </a:rPr>
                        <a:t>Несчастен, Угрюм</a:t>
                      </a:r>
                    </a:p>
                    <a:p>
                      <a:r>
                        <a:rPr lang="ru-RU" sz="1100" dirty="0">
                          <a:effectLst/>
                        </a:rPr>
                        <a:t>Опечален, Подавлен</a:t>
                      </a:r>
                    </a:p>
                    <a:p>
                      <a:r>
                        <a:rPr lang="ru-RU" sz="1100" dirty="0">
                          <a:effectLst/>
                        </a:rPr>
                        <a:t>Мрачен, Разбит</a:t>
                      </a:r>
                    </a:p>
                    <a:p>
                      <a:r>
                        <a:rPr lang="ru-RU" sz="1100" dirty="0">
                          <a:effectLst/>
                        </a:rPr>
                        <a:t>В тоске, В унынии</a:t>
                      </a:r>
                    </a:p>
                    <a:p>
                      <a:r>
                        <a:rPr lang="ru-RU" sz="1100" dirty="0">
                          <a:effectLst/>
                        </a:rPr>
                        <a:t>В скорби, Сокрушен</a:t>
                      </a:r>
                    </a:p>
                    <a:p>
                      <a:r>
                        <a:rPr lang="ru-RU" sz="1100" dirty="0">
                          <a:effectLst/>
                        </a:rPr>
                        <a:t>Горюю, Упал духом</a:t>
                      </a:r>
                    </a:p>
                    <a:p>
                      <a:r>
                        <a:rPr lang="ru-RU" sz="1100" dirty="0">
                          <a:effectLst/>
                        </a:rPr>
                        <a:t>Опустошен</a:t>
                      </a:r>
                    </a:p>
                    <a:p>
                      <a:r>
                        <a:rPr lang="ru-RU" sz="1100" dirty="0">
                          <a:effectLst/>
                        </a:rPr>
                        <a:t>Раздавлен</a:t>
                      </a:r>
                    </a:p>
                    <a:p>
                      <a:r>
                        <a:rPr lang="ru-RU" sz="1100" dirty="0">
                          <a:effectLst/>
                        </a:rPr>
                        <a:t>Отчаялся</a:t>
                      </a:r>
                    </a:p>
                    <a:p>
                      <a:r>
                        <a:rPr lang="ru-RU" sz="1100" dirty="0">
                          <a:effectLst/>
                        </a:rPr>
                        <a:t> </a:t>
                      </a:r>
                      <a:endParaRPr lang="ru-RU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8079" marR="28079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effectLst/>
                        </a:rPr>
                        <a:t>Страх</a:t>
                      </a:r>
                    </a:p>
                    <a:p>
                      <a:r>
                        <a:rPr lang="ru-RU" sz="1100" dirty="0">
                          <a:effectLst/>
                        </a:rPr>
                        <a:t> </a:t>
                      </a:r>
                    </a:p>
                    <a:p>
                      <a:r>
                        <a:rPr lang="ru-RU" sz="1100" dirty="0">
                          <a:effectLst/>
                        </a:rPr>
                        <a:t>Неуверенность</a:t>
                      </a:r>
                    </a:p>
                    <a:p>
                      <a:r>
                        <a:rPr lang="ru-RU" sz="1100" dirty="0">
                          <a:effectLst/>
                        </a:rPr>
                        <a:t>Обеспокоен</a:t>
                      </a:r>
                    </a:p>
                    <a:p>
                      <a:r>
                        <a:rPr lang="ru-RU" sz="1100" dirty="0">
                          <a:effectLst/>
                        </a:rPr>
                        <a:t>Напряжен</a:t>
                      </a:r>
                    </a:p>
                    <a:p>
                      <a:r>
                        <a:rPr lang="ru-RU" sz="1100" dirty="0">
                          <a:effectLst/>
                        </a:rPr>
                        <a:t>Волнуюсь</a:t>
                      </a:r>
                    </a:p>
                    <a:p>
                      <a:r>
                        <a:rPr lang="ru-RU" sz="1100" dirty="0">
                          <a:effectLst/>
                        </a:rPr>
                        <a:t>Нервничаю</a:t>
                      </a:r>
                    </a:p>
                    <a:p>
                      <a:r>
                        <a:rPr lang="ru-RU" sz="1100" dirty="0">
                          <a:effectLst/>
                        </a:rPr>
                        <a:t>Встревожен</a:t>
                      </a:r>
                    </a:p>
                    <a:p>
                      <a:r>
                        <a:rPr lang="ru-RU" sz="1100" dirty="0">
                          <a:effectLst/>
                        </a:rPr>
                        <a:t>Напуган</a:t>
                      </a:r>
                    </a:p>
                    <a:p>
                      <a:r>
                        <a:rPr lang="ru-RU" sz="1100" dirty="0">
                          <a:effectLst/>
                        </a:rPr>
                        <a:t>Боюсь</a:t>
                      </a:r>
                    </a:p>
                    <a:p>
                      <a:r>
                        <a:rPr lang="ru-RU" sz="1100" dirty="0">
                          <a:effectLst/>
                        </a:rPr>
                        <a:t>Страшно</a:t>
                      </a:r>
                    </a:p>
                    <a:p>
                      <a:r>
                        <a:rPr lang="ru-RU" sz="1100" dirty="0">
                          <a:effectLst/>
                        </a:rPr>
                        <a:t>В ужасе</a:t>
                      </a:r>
                    </a:p>
                    <a:p>
                      <a:r>
                        <a:rPr lang="ru-RU" sz="1100" dirty="0">
                          <a:effectLst/>
                        </a:rPr>
                        <a:t>В панике</a:t>
                      </a:r>
                    </a:p>
                    <a:p>
                      <a:r>
                        <a:rPr lang="ru-RU" sz="1100" dirty="0">
                          <a:effectLst/>
                        </a:rPr>
                        <a:t>Онемел от…</a:t>
                      </a:r>
                    </a:p>
                    <a:p>
                      <a:r>
                        <a:rPr lang="ru-RU" sz="1100" dirty="0">
                          <a:effectLst/>
                        </a:rPr>
                        <a:t>Оцепенение</a:t>
                      </a:r>
                    </a:p>
                    <a:p>
                      <a:r>
                        <a:rPr lang="ru-RU" sz="1100" dirty="0">
                          <a:effectLst/>
                        </a:rPr>
                        <a:t> </a:t>
                      </a:r>
                      <a:endParaRPr lang="ru-RU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8079" marR="28079" marT="0" marB="0"/>
                </a:tc>
                <a:extLst>
                  <a:ext uri="{0D108BD9-81ED-4DB2-BD59-A6C34878D82A}">
                    <a16:rowId xmlns:a16="http://schemas.microsoft.com/office/drawing/2014/main" val="3050295161"/>
                  </a:ext>
                </a:extLst>
              </a:tr>
              <a:tr h="3370684">
                <a:tc>
                  <a:txBody>
                    <a:bodyPr/>
                    <a:lstStyle/>
                    <a:p>
                      <a:pPr algn="ctr"/>
                      <a:r>
                        <a:rPr lang="ru-RU" sz="1100">
                          <a:effectLst/>
                        </a:rPr>
                        <a:t>Стыд</a:t>
                      </a:r>
                    </a:p>
                    <a:p>
                      <a:r>
                        <a:rPr lang="ru-RU" sz="1100">
                          <a:effectLst/>
                        </a:rPr>
                        <a:t> </a:t>
                      </a:r>
                    </a:p>
                    <a:p>
                      <a:r>
                        <a:rPr lang="ru-RU" sz="1100">
                          <a:effectLst/>
                        </a:rPr>
                        <a:t>Неловко</a:t>
                      </a:r>
                    </a:p>
                    <a:p>
                      <a:r>
                        <a:rPr lang="ru-RU" sz="1100">
                          <a:effectLst/>
                        </a:rPr>
                        <a:t>Смущен</a:t>
                      </a:r>
                    </a:p>
                    <a:p>
                      <a:r>
                        <a:rPr lang="ru-RU" sz="1100">
                          <a:effectLst/>
                        </a:rPr>
                        <a:t>Огорчен</a:t>
                      </a:r>
                    </a:p>
                    <a:p>
                      <a:r>
                        <a:rPr lang="ru-RU" sz="1100">
                          <a:effectLst/>
                        </a:rPr>
                        <a:t>Растерян</a:t>
                      </a:r>
                    </a:p>
                    <a:p>
                      <a:r>
                        <a:rPr lang="ru-RU" sz="1100">
                          <a:effectLst/>
                        </a:rPr>
                        <a:t>Сожалею</a:t>
                      </a:r>
                    </a:p>
                    <a:p>
                      <a:r>
                        <a:rPr lang="ru-RU" sz="1100">
                          <a:effectLst/>
                        </a:rPr>
                        <a:t>Сконфужен</a:t>
                      </a:r>
                    </a:p>
                    <a:p>
                      <a:r>
                        <a:rPr lang="ru-RU" sz="1100">
                          <a:effectLst/>
                        </a:rPr>
                        <a:t>Полон сожаления</a:t>
                      </a:r>
                    </a:p>
                    <a:p>
                      <a:r>
                        <a:rPr lang="ru-RU" sz="1100">
                          <a:effectLst/>
                        </a:rPr>
                        <a:t>Полон раскаяния</a:t>
                      </a:r>
                    </a:p>
                    <a:p>
                      <a:r>
                        <a:rPr lang="ru-RU" sz="1100">
                          <a:effectLst/>
                        </a:rPr>
                        <a:t>Унижен</a:t>
                      </a:r>
                    </a:p>
                    <a:p>
                      <a:r>
                        <a:rPr lang="ru-RU" sz="1100">
                          <a:effectLst/>
                        </a:rPr>
                        <a:t>Осквернен</a:t>
                      </a:r>
                    </a:p>
                    <a:p>
                      <a:r>
                        <a:rPr lang="ru-RU" sz="1100">
                          <a:effectLst/>
                        </a:rPr>
                        <a:t> </a:t>
                      </a:r>
                    </a:p>
                    <a:p>
                      <a:r>
                        <a:rPr lang="ru-RU" sz="1100">
                          <a:effectLst/>
                        </a:rPr>
                        <a:t> </a:t>
                      </a:r>
                      <a:endParaRPr lang="ru-RU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8079" marR="28079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effectLst/>
                        </a:rPr>
                        <a:t>Гнев</a:t>
                      </a:r>
                    </a:p>
                    <a:p>
                      <a:r>
                        <a:rPr lang="ru-RU" sz="1100" dirty="0">
                          <a:effectLst/>
                        </a:rPr>
                        <a:t> </a:t>
                      </a:r>
                    </a:p>
                    <a:p>
                      <a:r>
                        <a:rPr lang="ru-RU" sz="1100" dirty="0">
                          <a:effectLst/>
                        </a:rPr>
                        <a:t>Досада</a:t>
                      </a:r>
                    </a:p>
                    <a:p>
                      <a:r>
                        <a:rPr lang="ru-RU" sz="1100" dirty="0">
                          <a:effectLst/>
                        </a:rPr>
                        <a:t>Недовольство</a:t>
                      </a:r>
                    </a:p>
                    <a:p>
                      <a:r>
                        <a:rPr lang="ru-RU" sz="1100" dirty="0">
                          <a:effectLst/>
                        </a:rPr>
                        <a:t>Раздражение</a:t>
                      </a:r>
                    </a:p>
                    <a:p>
                      <a:r>
                        <a:rPr lang="ru-RU" sz="1100" dirty="0">
                          <a:effectLst/>
                        </a:rPr>
                        <a:t>Сердит, Расстроен</a:t>
                      </a:r>
                    </a:p>
                    <a:p>
                      <a:r>
                        <a:rPr lang="ru-RU" sz="1100" dirty="0">
                          <a:effectLst/>
                        </a:rPr>
                        <a:t>Злость, Надоело</a:t>
                      </a:r>
                    </a:p>
                    <a:p>
                      <a:r>
                        <a:rPr lang="ru-RU" sz="1100" dirty="0">
                          <a:effectLst/>
                        </a:rPr>
                        <a:t>Сыть по горло</a:t>
                      </a:r>
                    </a:p>
                    <a:p>
                      <a:r>
                        <a:rPr lang="ru-RU" sz="1100" dirty="0">
                          <a:effectLst/>
                        </a:rPr>
                        <a:t>Возмущен, Разозлен</a:t>
                      </a:r>
                    </a:p>
                    <a:p>
                      <a:r>
                        <a:rPr lang="ru-RU" sz="1100" dirty="0">
                          <a:effectLst/>
                        </a:rPr>
                        <a:t>Киплю от гнева</a:t>
                      </a:r>
                    </a:p>
                    <a:p>
                      <a:r>
                        <a:rPr lang="ru-RU" sz="1100" dirty="0">
                          <a:effectLst/>
                        </a:rPr>
                        <a:t>Вне себя от злости</a:t>
                      </a:r>
                    </a:p>
                    <a:p>
                      <a:r>
                        <a:rPr lang="ru-RU" sz="1100" dirty="0">
                          <a:effectLst/>
                        </a:rPr>
                        <a:t>Пылаю гневом</a:t>
                      </a:r>
                    </a:p>
                    <a:p>
                      <a:r>
                        <a:rPr lang="ru-RU" sz="1100" dirty="0">
                          <a:effectLst/>
                        </a:rPr>
                        <a:t>Разъярен, Ярость</a:t>
                      </a:r>
                    </a:p>
                    <a:p>
                      <a:r>
                        <a:rPr lang="ru-RU" sz="1100" dirty="0">
                          <a:effectLst/>
                        </a:rPr>
                        <a:t>Бешенство</a:t>
                      </a:r>
                    </a:p>
                    <a:p>
                      <a:r>
                        <a:rPr lang="ru-RU" sz="1100" dirty="0">
                          <a:effectLst/>
                        </a:rPr>
                        <a:t> </a:t>
                      </a:r>
                    </a:p>
                    <a:p>
                      <a:r>
                        <a:rPr lang="ru-RU" sz="1100" dirty="0">
                          <a:effectLst/>
                        </a:rPr>
                        <a:t> </a:t>
                      </a:r>
                    </a:p>
                    <a:p>
                      <a:r>
                        <a:rPr lang="ru-RU" sz="1100" dirty="0">
                          <a:effectLst/>
                        </a:rPr>
                        <a:t> </a:t>
                      </a:r>
                      <a:endParaRPr lang="ru-RU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8079" marR="28079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>
                          <a:effectLst/>
                        </a:rPr>
                        <a:t>Недоумение</a:t>
                      </a:r>
                    </a:p>
                    <a:p>
                      <a:r>
                        <a:rPr lang="ru-RU" sz="1100">
                          <a:effectLst/>
                        </a:rPr>
                        <a:t> </a:t>
                      </a:r>
                    </a:p>
                    <a:p>
                      <a:r>
                        <a:rPr lang="ru-RU" sz="1100">
                          <a:effectLst/>
                        </a:rPr>
                        <a:t>Любопытство</a:t>
                      </a:r>
                    </a:p>
                    <a:p>
                      <a:r>
                        <a:rPr lang="ru-RU" sz="1100">
                          <a:effectLst/>
                        </a:rPr>
                        <a:t>Интересно</a:t>
                      </a:r>
                    </a:p>
                    <a:p>
                      <a:r>
                        <a:rPr lang="ru-RU" sz="1100">
                          <a:effectLst/>
                        </a:rPr>
                        <a:t>Не уверен</a:t>
                      </a:r>
                    </a:p>
                    <a:p>
                      <a:r>
                        <a:rPr lang="ru-RU" sz="1100">
                          <a:effectLst/>
                        </a:rPr>
                        <a:t>Сомневаюсь</a:t>
                      </a:r>
                    </a:p>
                    <a:p>
                      <a:r>
                        <a:rPr lang="ru-RU" sz="1100">
                          <a:effectLst/>
                        </a:rPr>
                        <a:t>Колеблюсь</a:t>
                      </a:r>
                    </a:p>
                    <a:p>
                      <a:r>
                        <a:rPr lang="ru-RU" sz="1100">
                          <a:effectLst/>
                        </a:rPr>
                        <a:t>Озадачен</a:t>
                      </a:r>
                    </a:p>
                    <a:p>
                      <a:r>
                        <a:rPr lang="ru-RU" sz="1100">
                          <a:effectLst/>
                        </a:rPr>
                        <a:t>Рассеян</a:t>
                      </a:r>
                    </a:p>
                    <a:p>
                      <a:r>
                        <a:rPr lang="ru-RU" sz="1100">
                          <a:effectLst/>
                        </a:rPr>
                        <a:t>Растерян</a:t>
                      </a:r>
                    </a:p>
                    <a:p>
                      <a:r>
                        <a:rPr lang="ru-RU" sz="1100">
                          <a:effectLst/>
                        </a:rPr>
                        <a:t>Обескуражен</a:t>
                      </a:r>
                    </a:p>
                    <a:p>
                      <a:r>
                        <a:rPr lang="ru-RU" sz="1100">
                          <a:effectLst/>
                        </a:rPr>
                        <a:t>Ошеломлен</a:t>
                      </a:r>
                    </a:p>
                    <a:p>
                      <a:r>
                        <a:rPr lang="ru-RU" sz="1100">
                          <a:effectLst/>
                        </a:rPr>
                        <a:t>Ошарашен</a:t>
                      </a:r>
                    </a:p>
                    <a:p>
                      <a:r>
                        <a:rPr lang="ru-RU" sz="1100">
                          <a:effectLst/>
                        </a:rPr>
                        <a:t>Потрясен</a:t>
                      </a:r>
                      <a:endParaRPr lang="ru-RU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8079" marR="28079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effectLst/>
                        </a:rPr>
                        <a:t>Одиночество</a:t>
                      </a:r>
                    </a:p>
                    <a:p>
                      <a:r>
                        <a:rPr lang="ru-RU" sz="1100" dirty="0">
                          <a:effectLst/>
                        </a:rPr>
                        <a:t> </a:t>
                      </a:r>
                    </a:p>
                    <a:p>
                      <a:r>
                        <a:rPr lang="ru-RU" sz="1100" dirty="0">
                          <a:effectLst/>
                        </a:rPr>
                        <a:t>Одиноко</a:t>
                      </a:r>
                    </a:p>
                    <a:p>
                      <a:r>
                        <a:rPr lang="ru-RU" sz="1100" dirty="0">
                          <a:effectLst/>
                        </a:rPr>
                        <a:t>Отчуждение</a:t>
                      </a:r>
                    </a:p>
                    <a:p>
                      <a:r>
                        <a:rPr lang="ru-RU" sz="1100" dirty="0">
                          <a:effectLst/>
                        </a:rPr>
                        <a:t>Отдаление</a:t>
                      </a:r>
                    </a:p>
                    <a:p>
                      <a:r>
                        <a:rPr lang="ru-RU" sz="1100" dirty="0">
                          <a:effectLst/>
                        </a:rPr>
                        <a:t>Изолированность</a:t>
                      </a:r>
                    </a:p>
                    <a:p>
                      <a:r>
                        <a:rPr lang="ru-RU" sz="1100" dirty="0">
                          <a:effectLst/>
                        </a:rPr>
                        <a:t>Отвержение</a:t>
                      </a:r>
                    </a:p>
                    <a:p>
                      <a:r>
                        <a:rPr lang="ru-RU" sz="1100" dirty="0" err="1">
                          <a:effectLst/>
                        </a:rPr>
                        <a:t>Оставленность</a:t>
                      </a:r>
                      <a:endParaRPr lang="ru-RU" sz="1100" dirty="0">
                        <a:effectLst/>
                      </a:endParaRPr>
                    </a:p>
                    <a:p>
                      <a:r>
                        <a:rPr lang="ru-RU" sz="1100" dirty="0">
                          <a:effectLst/>
                        </a:rPr>
                        <a:t>Покинутость</a:t>
                      </a:r>
                    </a:p>
                    <a:p>
                      <a:r>
                        <a:rPr lang="ru-RU" sz="1100" dirty="0">
                          <a:effectLst/>
                        </a:rPr>
                        <a:t> </a:t>
                      </a:r>
                      <a:endParaRPr lang="ru-RU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8079" marR="28079" marT="0" marB="0"/>
                </a:tc>
                <a:extLst>
                  <a:ext uri="{0D108BD9-81ED-4DB2-BD59-A6C34878D82A}">
                    <a16:rowId xmlns:a16="http://schemas.microsoft.com/office/drawing/2014/main" val="32144647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4634108"/>
      </p:ext>
    </p:extLst>
  </p:cSld>
  <p:clrMapOvr>
    <a:masterClrMapping/>
  </p:clrMapOvr>
  <p:transition spd="med"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1520" y="965100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lang="ru-RU" sz="2800" b="1" dirty="0"/>
              <a:t>Как говорить о своем недовольстве: </a:t>
            </a:r>
            <a:r>
              <a:rPr lang="ru-RU" sz="2800" b="1" dirty="0">
                <a:solidFill>
                  <a:srgbClr val="FF0000"/>
                </a:solidFill>
              </a:rPr>
              <a:t>Я - сообщение</a:t>
            </a: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1285852" y="1000108"/>
            <a:ext cx="227948" cy="144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 </a:t>
            </a:r>
            <a:endParaRPr kumimoji="0" lang="ru-RU" altLang="ru-RU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 </a:t>
            </a:r>
            <a:endParaRPr kumimoji="0" lang="ru-RU" altLang="ru-RU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 </a:t>
            </a:r>
            <a:endParaRPr kumimoji="0" lang="ru-RU" altLang="ru-RU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 </a:t>
            </a:r>
            <a:endParaRPr kumimoji="0" lang="ru-RU" altLang="ru-RU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 </a:t>
            </a:r>
            <a:endParaRPr kumimoji="0" lang="ru-RU" altLang="ru-RU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 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1142976" y="4004881"/>
            <a:ext cx="5332485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3. Причина: формулируем причину чувства.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dirty="0">
                <a:latin typeface="Arial" panose="020B0604020202020204" pitchFamily="34" charset="0"/>
                <a:ea typeface="Times New Roman" panose="02020603050405020304" pitchFamily="18" charset="0"/>
              </a:rPr>
              <a:t>1) </a:t>
            </a:r>
            <a:r>
              <a:rPr kumimoji="0" lang="ru-RU" altLang="ru-RU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Не обвиняем.</a:t>
            </a:r>
            <a:endParaRPr kumimoji="0" lang="ru-RU" altLang="ru-RU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dirty="0">
                <a:latin typeface="Arial" panose="020B0604020202020204" pitchFamily="34" charset="0"/>
                <a:ea typeface="Times New Roman" panose="02020603050405020304" pitchFamily="18" charset="0"/>
              </a:rPr>
              <a:t>2</a:t>
            </a:r>
            <a:r>
              <a:rPr kumimoji="0" lang="ru-RU" altLang="ru-RU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) </a:t>
            </a:r>
            <a:r>
              <a:rPr kumimoji="0" lang="ru-RU" altLang="ru-RU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По-возможности</a:t>
            </a:r>
            <a:r>
              <a:rPr kumimoji="0" lang="ru-RU" altLang="ru-RU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говорим в 3-ем лице.</a:t>
            </a:r>
            <a:endParaRPr kumimoji="0" lang="ru-RU" altLang="ru-RU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dirty="0">
                <a:latin typeface="Arial" panose="020B0604020202020204" pitchFamily="34" charset="0"/>
                <a:ea typeface="Times New Roman" panose="02020603050405020304" pitchFamily="18" charset="0"/>
              </a:rPr>
              <a:t>3</a:t>
            </a:r>
            <a:r>
              <a:rPr kumimoji="0" lang="ru-RU" altLang="ru-RU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) Говорим конкретно.</a:t>
            </a:r>
            <a:endParaRPr kumimoji="0" lang="ru-RU" altLang="ru-RU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 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1142976" y="3143248"/>
            <a:ext cx="2694969" cy="10464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400" b="1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2. Чувство:</a:t>
            </a:r>
            <a:endParaRPr kumimoji="0" lang="ru-RU" altLang="ru-RU" b="1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называем свое чувство</a:t>
            </a:r>
            <a:endParaRPr kumimoji="0" lang="ru-RU" altLang="ru-RU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 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1071538" y="2285992"/>
            <a:ext cx="3185680" cy="1107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b="1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1. Местоимение 1ого лица</a:t>
            </a:r>
            <a:endParaRPr kumimoji="0" lang="ru-RU" altLang="ru-RU" b="1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Я, мне, нам, мы.</a:t>
            </a:r>
            <a:endParaRPr kumimoji="0" lang="ru-RU" altLang="ru-RU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 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352810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Упражнение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quarter" idx="13"/>
          </p:nvPr>
        </p:nvSpPr>
        <p:spPr>
          <a:xfrm>
            <a:off x="685330" y="1628801"/>
            <a:ext cx="7772870" cy="4162400"/>
          </a:xfrm>
        </p:spPr>
        <p:txBody>
          <a:bodyPr>
            <a:normAutofit fontScale="92500" lnSpcReduction="10000"/>
          </a:bodyPr>
          <a:lstStyle/>
          <a:p>
            <a:r>
              <a:rPr lang="ru-RU" dirty="0"/>
              <a:t>Муж превышает скорость </a:t>
            </a:r>
          </a:p>
          <a:p>
            <a:r>
              <a:rPr lang="ru-RU" dirty="0"/>
              <a:t>Дочка не выносит мусор </a:t>
            </a:r>
          </a:p>
          <a:p>
            <a:r>
              <a:rPr lang="ru-RU" dirty="0"/>
              <a:t>Гости закурили в доме, а у нас не курят </a:t>
            </a:r>
          </a:p>
          <a:p>
            <a:r>
              <a:rPr lang="ru-RU" dirty="0"/>
              <a:t>Сын пришел очень поздно</a:t>
            </a:r>
          </a:p>
          <a:p>
            <a:r>
              <a:rPr lang="ru-RU" dirty="0"/>
              <a:t>Девушка опоздала на свидание на 40 минут </a:t>
            </a:r>
          </a:p>
          <a:p>
            <a:r>
              <a:rPr lang="ru-RU" dirty="0"/>
              <a:t>Дочка не сделала уроки вовремя </a:t>
            </a:r>
          </a:p>
          <a:p>
            <a:r>
              <a:rPr lang="ru-RU" dirty="0"/>
              <a:t>Муж сказал, что поедет в выходные на рыбалку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3639466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74D4594-FEDF-47E4-9414-95A6DAF7F4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010" y="116632"/>
            <a:ext cx="8229600" cy="2101521"/>
          </a:xfrm>
        </p:spPr>
        <p:txBody>
          <a:bodyPr>
            <a:normAutofit/>
          </a:bodyPr>
          <a:lstStyle/>
          <a:p>
            <a:r>
              <a:rPr lang="ru-RU" sz="3600" b="1" dirty="0"/>
              <a:t>Как сочувствовать другому человеку</a:t>
            </a:r>
            <a:br>
              <a:rPr lang="ru-RU" sz="3600" b="1" dirty="0"/>
            </a:br>
            <a:r>
              <a:rPr lang="ru-RU" sz="3600" dirty="0"/>
              <a:t>Формула эмпатического ответа</a:t>
            </a:r>
            <a:br>
              <a:rPr lang="ru-RU" altLang="ru-RU" sz="3600" b="1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</a:br>
            <a:endParaRPr lang="ru-RU" sz="3600" dirty="0"/>
          </a:p>
        </p:txBody>
      </p:sp>
      <p:sp>
        <p:nvSpPr>
          <p:cNvPr id="4" name="Text Box 7">
            <a:extLst>
              <a:ext uri="{FF2B5EF4-FFF2-40B4-BE49-F238E27FC236}">
                <a16:creationId xmlns:a16="http://schemas.microsoft.com/office/drawing/2014/main" id="{B1278D9B-B58C-42CF-B366-ED1085F7DD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559" y="2852935"/>
            <a:ext cx="1966769" cy="1864917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1. Предикат </a:t>
            </a:r>
            <a:r>
              <a:rPr kumimoji="0" lang="ru-RU" altLang="ru-RU" sz="2000" b="1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неуверен-ности</a:t>
            </a: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F239A7FB-0A5E-4C0C-B71B-6546A27BC1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432" y="2852936"/>
            <a:ext cx="1883608" cy="1864916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2. Чувство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(</a:t>
            </a:r>
            <a:r>
              <a:rPr lang="ru-RU" altLang="ru-RU" sz="2000" dirty="0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называем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чувство собеседника)</a:t>
            </a: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rgbClr val="0070C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Text Box 5">
            <a:extLst>
              <a:ext uri="{FF2B5EF4-FFF2-40B4-BE49-F238E27FC236}">
                <a16:creationId xmlns:a16="http://schemas.microsoft.com/office/drawing/2014/main" id="{EF1F2EA6-D94F-4A47-B391-D2C887931F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3307" y="2852936"/>
            <a:ext cx="2191494" cy="1864916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3. Причина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(объяснение возникновения своих чувств)</a:t>
            </a: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rgbClr val="00B05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Line 3">
            <a:extLst>
              <a:ext uri="{FF2B5EF4-FFF2-40B4-BE49-F238E27FC236}">
                <a16:creationId xmlns:a16="http://schemas.microsoft.com/office/drawing/2014/main" id="{5FCA0142-98FB-41B4-A8BE-E05D1C29235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932040" y="3800386"/>
            <a:ext cx="570934" cy="18973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9" name="Line 1">
            <a:extLst>
              <a:ext uri="{FF2B5EF4-FFF2-40B4-BE49-F238E27FC236}">
                <a16:creationId xmlns:a16="http://schemas.microsoft.com/office/drawing/2014/main" id="{47BF861C-C1E7-4FD7-AF0D-D51484665B2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552529" y="3932349"/>
            <a:ext cx="572533" cy="195909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430793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4500F3-5BE9-4562-B2C9-1C4F738524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FA973DB-BB06-4E74-9604-523929D4ACD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5330" y="1340769"/>
            <a:ext cx="7772870" cy="4450432"/>
          </a:xfrm>
        </p:spPr>
        <p:txBody>
          <a:bodyPr/>
          <a:lstStyle/>
          <a:p>
            <a:r>
              <a:rPr lang="ru-RU" dirty="0">
                <a:solidFill>
                  <a:srgbClr val="FF0000"/>
                </a:solidFill>
              </a:rPr>
              <a:t>Судя по всему </a:t>
            </a:r>
            <a:r>
              <a:rPr lang="ru-RU" dirty="0"/>
              <a:t>Вы чувствуете </a:t>
            </a:r>
            <a:r>
              <a:rPr lang="ru-RU" dirty="0">
                <a:solidFill>
                  <a:srgbClr val="0070C0"/>
                </a:solidFill>
              </a:rPr>
              <a:t>досаду, </a:t>
            </a:r>
            <a:r>
              <a:rPr lang="ru-RU" dirty="0"/>
              <a:t>когда </a:t>
            </a:r>
            <a:r>
              <a:rPr lang="ru-RU" dirty="0">
                <a:solidFill>
                  <a:srgbClr val="00B050"/>
                </a:solidFill>
              </a:rPr>
              <a:t>не получается по-вашему</a:t>
            </a:r>
          </a:p>
          <a:p>
            <a:r>
              <a:rPr lang="ru-RU" dirty="0"/>
              <a:t> </a:t>
            </a:r>
            <a:r>
              <a:rPr lang="ru-RU" dirty="0">
                <a:solidFill>
                  <a:srgbClr val="FF0000"/>
                </a:solidFill>
              </a:rPr>
              <a:t>Мне показалось</a:t>
            </a:r>
            <a:r>
              <a:rPr lang="ru-RU" dirty="0"/>
              <a:t>, что Вам </a:t>
            </a:r>
            <a:r>
              <a:rPr lang="ru-RU" dirty="0">
                <a:solidFill>
                  <a:srgbClr val="0070C0"/>
                </a:solidFill>
              </a:rPr>
              <a:t>неприятно </a:t>
            </a:r>
            <a:r>
              <a:rPr lang="ru-RU" dirty="0"/>
              <a:t>было </a:t>
            </a:r>
            <a:r>
              <a:rPr lang="ru-RU" dirty="0">
                <a:solidFill>
                  <a:srgbClr val="00B050"/>
                </a:solidFill>
              </a:rPr>
              <a:t>участвовать в этом разговоре</a:t>
            </a:r>
          </a:p>
          <a:p>
            <a:r>
              <a:rPr lang="ru-RU" dirty="0">
                <a:solidFill>
                  <a:srgbClr val="FF0000"/>
                </a:solidFill>
              </a:rPr>
              <a:t>Похоже</a:t>
            </a:r>
            <a:r>
              <a:rPr lang="ru-RU" dirty="0"/>
              <a:t> Вам </a:t>
            </a:r>
            <a:r>
              <a:rPr lang="ru-RU" dirty="0">
                <a:solidFill>
                  <a:srgbClr val="0070C0"/>
                </a:solidFill>
              </a:rPr>
              <a:t>не по себе </a:t>
            </a:r>
            <a:r>
              <a:rPr lang="ru-RU" dirty="0"/>
              <a:t>от </a:t>
            </a:r>
            <a:r>
              <a:rPr lang="ru-RU" dirty="0">
                <a:solidFill>
                  <a:srgbClr val="00B050"/>
                </a:solidFill>
              </a:rPr>
              <a:t>слов дочери</a:t>
            </a:r>
          </a:p>
          <a:p>
            <a:r>
              <a:rPr lang="ru-RU" dirty="0">
                <a:solidFill>
                  <a:srgbClr val="FF0000"/>
                </a:solidFill>
              </a:rPr>
              <a:t>Как мне кажется, </a:t>
            </a:r>
            <a:r>
              <a:rPr lang="ru-RU" dirty="0"/>
              <a:t>Вас </a:t>
            </a:r>
            <a:r>
              <a:rPr lang="ru-RU" dirty="0">
                <a:solidFill>
                  <a:srgbClr val="0070C0"/>
                </a:solidFill>
              </a:rPr>
              <a:t>беспокоит </a:t>
            </a:r>
            <a:r>
              <a:rPr lang="ru-RU" dirty="0">
                <a:solidFill>
                  <a:srgbClr val="00B050"/>
                </a:solidFill>
              </a:rPr>
              <a:t>состояние атмосферы в Вашей семье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0920080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7504" y="548680"/>
            <a:ext cx="7773338" cy="290202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Упражнение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sz="quarter" idx="13"/>
          </p:nvPr>
        </p:nvSpPr>
        <p:spPr bwMode="auto">
          <a:xfrm>
            <a:off x="736065" y="1196752"/>
            <a:ext cx="6516216" cy="42780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kumimoji="0" lang="ru-RU" altLang="ru-RU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Мой друг обычно включает музыку на полную громкость! </a:t>
            </a:r>
            <a:r>
              <a:rPr lang="ru-RU" altLang="ru-RU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И слушает он – тяжелый рок!</a:t>
            </a:r>
            <a:endParaRPr kumimoji="0" lang="ru-RU" altLang="ru-RU" sz="20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kumimoji="0" lang="ru-RU" altLang="ru-RU" sz="20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Мой муж не моет  за собой посуду, уходит и забывает, что-то с этим надо делать. </a:t>
            </a:r>
            <a:endParaRPr kumimoji="0" lang="ru-RU" altLang="ru-RU" sz="20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kumimoji="0" lang="ru-RU" altLang="ru-RU" sz="20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Вчера вернулись из лыжного похода! Целых 20 км прошли! А мороз был не маленький – 15 градусов!</a:t>
            </a:r>
            <a:endParaRPr kumimoji="0" lang="ru-RU" altLang="ru-RU" sz="20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kumimoji="0" lang="ru-RU" altLang="ru-RU" sz="20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Я ездила с мамой в Париж – вот недавно вернулась.  Париж – это конечно ВАУ! А с мамой, сама понимаешь!...</a:t>
            </a:r>
            <a:endParaRPr kumimoji="0" lang="ru-RU" altLang="ru-RU" sz="20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kumimoji="0" lang="ru-RU" altLang="ru-RU" sz="20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Отдохнула на даче – перекопали все шесть соток!</a:t>
            </a:r>
            <a:endParaRPr kumimoji="0" lang="ru-RU" altLang="ru-RU" sz="20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850582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74D4594-FEDF-47E4-9414-95A6DAF7F4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010" y="1075153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altLang="ru-RU" b="1" cap="none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Схема здоровой конфронтации</a:t>
            </a:r>
            <a:br>
              <a:rPr lang="ru-RU" altLang="ru-RU" b="1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</a:br>
            <a:endParaRPr lang="ru-RU" dirty="0"/>
          </a:p>
        </p:txBody>
      </p:sp>
      <p:sp>
        <p:nvSpPr>
          <p:cNvPr id="4" name="Text Box 7">
            <a:extLst>
              <a:ext uri="{FF2B5EF4-FFF2-40B4-BE49-F238E27FC236}">
                <a16:creationId xmlns:a16="http://schemas.microsoft.com/office/drawing/2014/main" id="{B1278D9B-B58C-42CF-B366-ED1085F7DD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348" y="3821802"/>
            <a:ext cx="1500198" cy="1505571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1. Благодарность</a:t>
            </a:r>
            <a:endParaRPr kumimoji="0" lang="ru-RU" altLang="ru-RU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(</a:t>
            </a:r>
            <a:r>
              <a:rPr kumimoji="0" lang="ru-RU" altLang="ru-RU" sz="1200" b="0" i="1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конкретные 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пункты, за что вы благодарны, чем восхищаетесь)</a:t>
            </a:r>
            <a:endParaRPr kumimoji="0" lang="ru-RU" altLang="ru-RU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F239A7FB-0A5E-4C0C-B71B-6546A27BC1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1736" y="3857628"/>
            <a:ext cx="1087002" cy="10096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2. Чувство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(выражение своих чувств)</a:t>
            </a:r>
            <a:endParaRPr kumimoji="0" lang="ru-RU" altLang="ru-RU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 Box 6">
            <a:extLst>
              <a:ext uri="{FF2B5EF4-FFF2-40B4-BE49-F238E27FC236}">
                <a16:creationId xmlns:a16="http://schemas.microsoft.com/office/drawing/2014/main" id="{C3F9D47A-7664-4814-B2F5-0574F804B8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72198" y="3786190"/>
            <a:ext cx="1714512" cy="101917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4. Просьба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о </a:t>
            </a:r>
            <a:r>
              <a:rPr kumimoji="0" lang="ru-RU" altLang="ru-RU" sz="1200" b="0" i="1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конкретном</a:t>
            </a:r>
            <a:endParaRPr kumimoji="0" lang="ru-RU" altLang="ru-RU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1-ном действии для вас 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Text Box 5">
            <a:extLst>
              <a:ext uri="{FF2B5EF4-FFF2-40B4-BE49-F238E27FC236}">
                <a16:creationId xmlns:a16="http://schemas.microsoft.com/office/drawing/2014/main" id="{EF1F2EA6-D94F-4A47-B391-D2C887931F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43372" y="3857628"/>
            <a:ext cx="1500198" cy="10096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3. Причина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(объяснение возникновения своих чувств)</a:t>
            </a:r>
            <a:endParaRPr kumimoji="0" lang="ru-RU" altLang="ru-RU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Line 3">
            <a:extLst>
              <a:ext uri="{FF2B5EF4-FFF2-40B4-BE49-F238E27FC236}">
                <a16:creationId xmlns:a16="http://schemas.microsoft.com/office/drawing/2014/main" id="{5FCA0142-98FB-41B4-A8BE-E05D1C29235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43306" y="4357692"/>
            <a:ext cx="571504" cy="45719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9" name="Line 1">
            <a:extLst>
              <a:ext uri="{FF2B5EF4-FFF2-40B4-BE49-F238E27FC236}">
                <a16:creationId xmlns:a16="http://schemas.microsoft.com/office/drawing/2014/main" id="{47BF861C-C1E7-4FD7-AF0D-D51484665B2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214546" y="4357694"/>
            <a:ext cx="377408" cy="45719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0" name="Line 2">
            <a:extLst>
              <a:ext uri="{FF2B5EF4-FFF2-40B4-BE49-F238E27FC236}">
                <a16:creationId xmlns:a16="http://schemas.microsoft.com/office/drawing/2014/main" id="{A611FDC1-C889-4605-87E2-E2B33853946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643570" y="4357694"/>
            <a:ext cx="428628" cy="714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1" name="Rectangle 8">
            <a:extLst>
              <a:ext uri="{FF2B5EF4-FFF2-40B4-BE49-F238E27FC236}">
                <a16:creationId xmlns:a16="http://schemas.microsoft.com/office/drawing/2014/main" id="{B0D37B2D-AA33-4C74-A516-9F7D600DDF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9431" y="2865333"/>
            <a:ext cx="6208751" cy="7540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</a:rPr>
              <a:t>80% 		Я-сообщение			20%</a:t>
            </a:r>
            <a:endParaRPr kumimoji="0" lang="ru-RU" altLang="ru-RU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055275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DBC85A-EADD-45B7-B5F8-2C0C9DA61E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202034"/>
          </a:xfrm>
        </p:spPr>
        <p:txBody>
          <a:bodyPr>
            <a:normAutofit fontScale="90000"/>
          </a:bodyPr>
          <a:lstStyle/>
          <a:p>
            <a:r>
              <a:rPr lang="ru-RU" dirty="0"/>
              <a:t>Примеры</a:t>
            </a:r>
          </a:p>
        </p:txBody>
      </p:sp>
      <p:graphicFrame>
        <p:nvGraphicFramePr>
          <p:cNvPr id="5" name="Объект 4">
            <a:extLst>
              <a:ext uri="{FF2B5EF4-FFF2-40B4-BE49-F238E27FC236}">
                <a16:creationId xmlns:a16="http://schemas.microsoft.com/office/drawing/2014/main" id="{8937D39E-C0EC-4098-BFB2-1A53C2156A6C}"/>
              </a:ext>
            </a:extLst>
          </p:cNvPr>
          <p:cNvGraphicFramePr>
            <a:graphicFrameLocks noGrp="1"/>
          </p:cNvGraphicFramePr>
          <p:nvPr>
            <p:ph sz="quarter" idx="13"/>
          </p:nvPr>
        </p:nvGraphicFramePr>
        <p:xfrm>
          <a:off x="457200" y="836713"/>
          <a:ext cx="8003231" cy="5185599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250228">
                  <a:extLst>
                    <a:ext uri="{9D8B030D-6E8A-4147-A177-3AD203B41FA5}">
                      <a16:colId xmlns:a16="http://schemas.microsoft.com/office/drawing/2014/main" val="3884674580"/>
                    </a:ext>
                  </a:extLst>
                </a:gridCol>
                <a:gridCol w="1486441">
                  <a:extLst>
                    <a:ext uri="{9D8B030D-6E8A-4147-A177-3AD203B41FA5}">
                      <a16:colId xmlns:a16="http://schemas.microsoft.com/office/drawing/2014/main" val="4003939931"/>
                    </a:ext>
                  </a:extLst>
                </a:gridCol>
                <a:gridCol w="2106323">
                  <a:extLst>
                    <a:ext uri="{9D8B030D-6E8A-4147-A177-3AD203B41FA5}">
                      <a16:colId xmlns:a16="http://schemas.microsoft.com/office/drawing/2014/main" val="1137450733"/>
                    </a:ext>
                  </a:extLst>
                </a:gridCol>
                <a:gridCol w="2160239">
                  <a:extLst>
                    <a:ext uri="{9D8B030D-6E8A-4147-A177-3AD203B41FA5}">
                      <a16:colId xmlns:a16="http://schemas.microsoft.com/office/drawing/2014/main" val="521755302"/>
                    </a:ext>
                  </a:extLst>
                </a:gridCol>
              </a:tblGrid>
              <a:tr h="49685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b="1">
                          <a:effectLst/>
                        </a:rPr>
                        <a:t>1. Конкретная благодарность</a:t>
                      </a:r>
                      <a:endParaRPr lang="ru-RU" sz="16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b="1">
                          <a:effectLst/>
                        </a:rPr>
                        <a:t>2. Свои чувства</a:t>
                      </a:r>
                      <a:endParaRPr lang="ru-RU" sz="16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b="1">
                          <a:effectLst/>
                        </a:rPr>
                        <a:t>3. Причина чувств</a:t>
                      </a:r>
                      <a:endParaRPr lang="ru-RU" sz="16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b="1" dirty="0">
                          <a:effectLst/>
                        </a:rPr>
                        <a:t>4. Конкретная просьба</a:t>
                      </a:r>
                      <a:endParaRPr lang="ru-RU" sz="16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6173766"/>
                  </a:ext>
                </a:extLst>
              </a:tr>
              <a:tr h="17501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Я так рада, что ты у меня есть! Ты моя помощница. Реально я со многим  бы не справилась в одиночку. 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Однако, я переживаю и расстраиваюсь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Когда ты не соблюдаешь наши договоренности. 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Мне было бы важно, чтобы ты меня предупреждала о том, что не сможешь помочь мне с уборкой. 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37284282"/>
                  </a:ext>
                </a:extLst>
              </a:tr>
              <a:tr h="292650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Я очень люблю тебя, очень вдохновляюсь твоей спонтанностью. Меня восхищает твоя легкость на подъем. Ты даешь мне ощущение свободы. 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И при этом я очень волнуюсь и переживаю. А еще чувствую себя одиноко. 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Когда ужинаю в одиночестве и когда ты обещаешь быть в 20:00, а приходишь в 22:00.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Я прошу тебя приходи к ужину. А если не можешь прийти пораньше, то, пожалуйста, предупреждай, чтобы я не волновалась.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832141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7849172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>
            <a:extLst>
              <a:ext uri="{FF2B5EF4-FFF2-40B4-BE49-F238E27FC236}">
                <a16:creationId xmlns:a16="http://schemas.microsoft.com/office/drawing/2014/main" id="{6A7C278D-8043-484A-BA66-784E2D55F16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5330" y="1378227"/>
            <a:ext cx="7772870" cy="4412975"/>
          </a:xfrm>
        </p:spPr>
        <p:txBody>
          <a:bodyPr>
            <a:normAutofit fontScale="70000" lnSpcReduction="20000"/>
          </a:bodyPr>
          <a:lstStyle/>
          <a:p>
            <a:r>
              <a:rPr lang="ru-RU" b="1" dirty="0"/>
              <a:t>1. Важно – это выбрать только 1 повод для конфронтации</a:t>
            </a:r>
            <a:r>
              <a:rPr lang="ru-RU" dirty="0"/>
              <a:t>. </a:t>
            </a:r>
          </a:p>
          <a:p>
            <a:r>
              <a:rPr lang="ru-RU" b="1" dirty="0"/>
              <a:t>2. По началу реплики для конфронтации необходимо прописывать</a:t>
            </a:r>
            <a:r>
              <a:rPr lang="ru-RU" dirty="0"/>
              <a:t>, и только после этого </a:t>
            </a:r>
            <a:r>
              <a:rPr lang="ru-RU" dirty="0" err="1"/>
              <a:t>конфронтировать</a:t>
            </a:r>
            <a:r>
              <a:rPr lang="ru-RU" dirty="0"/>
              <a:t> лично с человеком. </a:t>
            </a:r>
          </a:p>
          <a:p>
            <a:r>
              <a:rPr lang="ru-RU" b="1" dirty="0"/>
              <a:t>3. О благодарности и восхищении.</a:t>
            </a:r>
            <a:r>
              <a:rPr lang="ru-RU" dirty="0"/>
              <a:t> Возможно, вас пугает выражать 80% благодарности человеку, вам покажется это неискренним. Тогда действуйте творчески. Скажите эти 80% в течение дня без конфронтации, а просто… благодарите человека, восхищайтесь им. И когда вы почувствуете, что человек готов к диалогу – поделитесь с ним своими чувствами и скажите 1 конкретную просьбу. </a:t>
            </a:r>
          </a:p>
          <a:p>
            <a:r>
              <a:rPr lang="ru-RU" b="1" dirty="0"/>
              <a:t>4. И самое главное!</a:t>
            </a:r>
            <a:r>
              <a:rPr lang="ru-RU" dirty="0"/>
              <a:t> </a:t>
            </a:r>
            <a:r>
              <a:rPr lang="ru-RU" dirty="0" err="1"/>
              <a:t>Конфронтируйте</a:t>
            </a:r>
            <a:r>
              <a:rPr lang="ru-RU" dirty="0"/>
              <a:t> с теплотой и любовью. Помните, рядом любимый человек. </a:t>
            </a:r>
          </a:p>
        </p:txBody>
      </p:sp>
    </p:spTree>
    <p:extLst>
      <p:ext uri="{BB962C8B-B14F-4D97-AF65-F5344CB8AC3E}">
        <p14:creationId xmlns:p14="http://schemas.microsoft.com/office/powerpoint/2010/main" val="289454566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CC67F50-D469-4565-A861-9F38606FE4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062E008-D7C4-4E76-8910-61AB5FCAA02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5330" y="1700809"/>
            <a:ext cx="7772870" cy="4090392"/>
          </a:xfrm>
        </p:spPr>
        <p:txBody>
          <a:bodyPr>
            <a:normAutofit/>
          </a:bodyPr>
          <a:lstStyle/>
          <a:p>
            <a:r>
              <a:rPr lang="ru-RU" dirty="0"/>
              <a:t>Сотрудник опаздывает  на утреннюю летучку уже в третий раз.</a:t>
            </a:r>
          </a:p>
          <a:p>
            <a:r>
              <a:rPr lang="ru-RU" dirty="0"/>
              <a:t>Мама снова учит, как варить борщ.</a:t>
            </a:r>
          </a:p>
          <a:p>
            <a:r>
              <a:rPr lang="ru-RU" dirty="0"/>
              <a:t> Муж собрался на выходные с друзьями на рыбалку, хотя хотели поехать вместе в дом отдыха.</a:t>
            </a:r>
          </a:p>
          <a:p>
            <a:r>
              <a:rPr lang="ru-RU" dirty="0"/>
              <a:t>Подруга забыла о вашем дне рождения.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1850718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42AA8E-110F-4551-8A56-EB84A47593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965" y="395661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sz="3600" b="1" dirty="0"/>
              <a:t>Примеры фраз, относящихся к здоровой конфронтации</a:t>
            </a:r>
            <a:r>
              <a:rPr lang="ru-RU" b="1" dirty="0"/>
              <a:t>:</a:t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19F46DD-F78A-47F4-8BF2-2712A77EF62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5330" y="1556793"/>
            <a:ext cx="7772870" cy="4234408"/>
          </a:xfrm>
        </p:spPr>
        <p:txBody>
          <a:bodyPr>
            <a:normAutofit fontScale="70000" lnSpcReduction="20000"/>
          </a:bodyPr>
          <a:lstStyle/>
          <a:p>
            <a:pPr lvl="0"/>
            <a:r>
              <a:rPr lang="ru-RU" dirty="0"/>
              <a:t>меня беспокоит..., и я хотела бы это с тобой прояснить, если ты не возражаешь;</a:t>
            </a:r>
          </a:p>
          <a:p>
            <a:pPr lvl="0"/>
            <a:r>
              <a:rPr lang="ru-RU" dirty="0"/>
              <a:t>мне  кажется,  что   в   наших  отношения   возникло  напряжение.   Могли  бы   мы поговорить об этом?</a:t>
            </a:r>
          </a:p>
          <a:p>
            <a:pPr lvl="0"/>
            <a:r>
              <a:rPr lang="ru-RU" dirty="0"/>
              <a:t>итак, я поняла, что ты смотришь на это таким образом..., а я думаю по этому...;</a:t>
            </a:r>
          </a:p>
          <a:p>
            <a:pPr lvl="0"/>
            <a:r>
              <a:rPr lang="ru-RU" dirty="0"/>
              <a:t>мне кажется, что существует такая проблема и давай подумаем, как мы можем её разрешить;</a:t>
            </a:r>
          </a:p>
          <a:p>
            <a:pPr lvl="0"/>
            <a:r>
              <a:rPr lang="ru-RU" dirty="0"/>
              <a:t>возможно, я что-то не так поняла, но мне кажется я старалась поступать правильно (по крайней мере у меня было такое намерение), и мне бы хотелось, чтобы мы...;</a:t>
            </a:r>
          </a:p>
          <a:p>
            <a:pPr lvl="0"/>
            <a:r>
              <a:rPr lang="ru-RU" dirty="0"/>
              <a:t>я хотела бы, чтобы мы пришли к взаимному компромиссу. Возможно ли это?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51596223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A7520A-BAE4-4DD0-8AFC-8C078CCFE8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4868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sz="3600" b="1" dirty="0"/>
              <a:t>Примеры фраз, используемых для выхода из конфронтации:</a:t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3BEEDDD-B5DC-4176-BF61-E7C6795952B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5565" y="1435913"/>
            <a:ext cx="7772870" cy="3424107"/>
          </a:xfrm>
        </p:spPr>
        <p:txBody>
          <a:bodyPr>
            <a:normAutofit fontScale="92500" lnSpcReduction="10000"/>
          </a:bodyPr>
          <a:lstStyle/>
          <a:p>
            <a:pPr lvl="0"/>
            <a:r>
              <a:rPr lang="ru-RU" dirty="0"/>
              <a:t>сейчас я не готова. Давай поговорим об этом в другой раз;</a:t>
            </a:r>
          </a:p>
          <a:p>
            <a:pPr lvl="0"/>
            <a:r>
              <a:rPr lang="ru-RU" dirty="0"/>
              <a:t>я сейчас не готов это обсуждать. Спасибо за твоё желание разобраться;</a:t>
            </a:r>
          </a:p>
          <a:p>
            <a:pPr lvl="0"/>
            <a:r>
              <a:rPr lang="ru-RU" dirty="0"/>
              <a:t>мне кажется, что я уже сказал, что мне бы не хотелось обсуждать это сейчас;</a:t>
            </a:r>
          </a:p>
          <a:p>
            <a:pPr lvl="0"/>
            <a:r>
              <a:rPr lang="ru-RU" dirty="0"/>
              <a:t>я в таком тоне говорить не буду.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95933375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ru-RU" dirty="0"/>
              <a:t>Стимул – реакция</a:t>
            </a:r>
          </a:p>
          <a:p>
            <a:r>
              <a:rPr lang="ru-RU" dirty="0"/>
              <a:t>Стимул – задержка (выбор реакции) - реакция</a:t>
            </a:r>
          </a:p>
        </p:txBody>
      </p:sp>
    </p:spTree>
    <p:extLst>
      <p:ext uri="{BB962C8B-B14F-4D97-AF65-F5344CB8AC3E}">
        <p14:creationId xmlns:p14="http://schemas.microsoft.com/office/powerpoint/2010/main" val="3614865972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5233CAE6-107A-4898-8035-A33281599C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3518"/>
            <a:ext cx="8229600" cy="1143000"/>
          </a:xfrm>
        </p:spPr>
        <p:txBody>
          <a:bodyPr/>
          <a:lstStyle/>
          <a:p>
            <a:r>
              <a:rPr lang="ru-RU" b="1" dirty="0"/>
              <a:t>Почему нам важно это знать?</a:t>
            </a:r>
            <a:br>
              <a:rPr lang="ru-RU" dirty="0"/>
            </a:br>
            <a:r>
              <a:rPr lang="ru-RU" sz="2400" dirty="0"/>
              <a:t>(мотиватор к работе)</a:t>
            </a:r>
          </a:p>
        </p:txBody>
      </p:sp>
      <p:graphicFrame>
        <p:nvGraphicFramePr>
          <p:cNvPr id="7" name="Объект 6">
            <a:extLst>
              <a:ext uri="{FF2B5EF4-FFF2-40B4-BE49-F238E27FC236}">
                <a16:creationId xmlns:a16="http://schemas.microsoft.com/office/drawing/2014/main" id="{320467D6-A81D-4612-B243-D1E3CF3327C1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106680" y="1642111"/>
          <a:ext cx="4724400" cy="40847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8" name="Объект 7">
            <a:extLst>
              <a:ext uri="{FF2B5EF4-FFF2-40B4-BE49-F238E27FC236}">
                <a16:creationId xmlns:a16="http://schemas.microsoft.com/office/drawing/2014/main" id="{22308CC9-E96A-4072-8A3B-748E6E74D559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4983480" y="2625090"/>
          <a:ext cx="2747010" cy="23010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729266279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1C6BC9AF-7C78-4F4F-928B-45C65AB45A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000" dirty="0"/>
              <a:t>Развивать эмоциональный интеллект и учиться экологичному общению непросто </a:t>
            </a:r>
            <a:r>
              <a:rPr lang="ru-RU" sz="3000" dirty="0">
                <a:sym typeface="Wingdings" panose="05000000000000000000" pitchFamily="2" charset="2"/>
              </a:rPr>
              <a:t></a:t>
            </a:r>
            <a:endParaRPr lang="ru-RU" sz="30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9FEBC10-D239-44B0-AEA8-8DC9F1FEED52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539552" y="1417638"/>
            <a:ext cx="6120680" cy="4171602"/>
          </a:xfrm>
        </p:spPr>
        <p:txBody>
          <a:bodyPr>
            <a:normAutofit fontScale="62500" lnSpcReduction="20000"/>
          </a:bodyPr>
          <a:lstStyle/>
          <a:p>
            <a:r>
              <a:rPr lang="ru-RU" b="1" dirty="0">
                <a:solidFill>
                  <a:srgbClr val="0070C0"/>
                </a:solidFill>
              </a:rPr>
              <a:t> </a:t>
            </a:r>
            <a:r>
              <a:rPr lang="ru-RU" sz="2550" b="1" dirty="0">
                <a:solidFill>
                  <a:srgbClr val="FF0000"/>
                </a:solidFill>
              </a:rPr>
              <a:t>Норвежские лыжники говорят:</a:t>
            </a:r>
          </a:p>
          <a:p>
            <a:r>
              <a:rPr lang="ru-RU" dirty="0"/>
              <a:t>Сначала Вы будете чувствовать себя очень неловко.</a:t>
            </a:r>
          </a:p>
          <a:p>
            <a:r>
              <a:rPr lang="ru-RU" dirty="0"/>
              <a:t>Вы невольно будете сравнивать себя с теми, кто опытнее Вас.</a:t>
            </a:r>
          </a:p>
          <a:p>
            <a:r>
              <a:rPr lang="ru-RU" dirty="0"/>
              <a:t>Вы почувствуете «работу тех мышц», о которых даже не знали. </a:t>
            </a:r>
          </a:p>
          <a:p>
            <a:r>
              <a:rPr lang="ru-RU" dirty="0"/>
              <a:t>Это труднее, чем кажется, но со временем ВСЕ ПОЛУЧИТСЯ.</a:t>
            </a:r>
          </a:p>
          <a:p>
            <a:r>
              <a:rPr lang="ru-RU" dirty="0"/>
              <a:t>Если попробуете сейчас, то скоро почувствуете удовольствие. </a:t>
            </a:r>
          </a:p>
          <a:p>
            <a:r>
              <a:rPr lang="ru-RU" dirty="0"/>
              <a:t>Не съезжайте сразу со слишком крутых склонов и все будет нормально!</a:t>
            </a:r>
          </a:p>
          <a:p>
            <a:r>
              <a:rPr lang="ru-RU" dirty="0"/>
              <a:t>Вам придется попотеть!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77448350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71BF861-B5F9-4ED9-BD4C-6A47D409F5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3648" y="188640"/>
            <a:ext cx="4356372" cy="6237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0251345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7BCB8F5A-EF68-42EB-9BC0-1BE2B0D81D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7283152" cy="706090"/>
          </a:xfrm>
        </p:spPr>
        <p:txBody>
          <a:bodyPr>
            <a:noAutofit/>
          </a:bodyPr>
          <a:lstStyle/>
          <a:p>
            <a:r>
              <a:rPr lang="ru-RU" sz="2800" dirty="0"/>
              <a:t>Ответственность – безответственность</a:t>
            </a:r>
            <a:br>
              <a:rPr lang="ru-RU" sz="2800" dirty="0"/>
            </a:br>
            <a:r>
              <a:rPr lang="ru-RU" sz="2800" dirty="0" err="1"/>
              <a:t>Проактивность</a:t>
            </a:r>
            <a:r>
              <a:rPr lang="ru-RU" sz="2800" dirty="0"/>
              <a:t> – реактивность (Стивен </a:t>
            </a:r>
            <a:r>
              <a:rPr lang="ru-RU" sz="2800" dirty="0" err="1"/>
              <a:t>Кови</a:t>
            </a:r>
            <a:r>
              <a:rPr lang="ru-RU" sz="2800" dirty="0"/>
              <a:t>)</a:t>
            </a:r>
          </a:p>
        </p:txBody>
      </p:sp>
      <p:graphicFrame>
        <p:nvGraphicFramePr>
          <p:cNvPr id="7" name="Объект 6">
            <a:extLst>
              <a:ext uri="{FF2B5EF4-FFF2-40B4-BE49-F238E27FC236}">
                <a16:creationId xmlns:a16="http://schemas.microsoft.com/office/drawing/2014/main" id="{8829F671-7966-4900-8D4A-4AE8015CEDB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69060073"/>
              </p:ext>
            </p:extLst>
          </p:nvPr>
        </p:nvGraphicFramePr>
        <p:xfrm>
          <a:off x="827584" y="3789040"/>
          <a:ext cx="6113780" cy="1676400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{5940675A-B579-460E-94D1-54222C63F5DA}</a:tableStyleId>
              </a:tblPr>
              <a:tblGrid>
                <a:gridCol w="1533525">
                  <a:extLst>
                    <a:ext uri="{9D8B030D-6E8A-4147-A177-3AD203B41FA5}">
                      <a16:colId xmlns:a16="http://schemas.microsoft.com/office/drawing/2014/main" val="931333707"/>
                    </a:ext>
                  </a:extLst>
                </a:gridCol>
                <a:gridCol w="2402840">
                  <a:extLst>
                    <a:ext uri="{9D8B030D-6E8A-4147-A177-3AD203B41FA5}">
                      <a16:colId xmlns:a16="http://schemas.microsoft.com/office/drawing/2014/main" val="982251592"/>
                    </a:ext>
                  </a:extLst>
                </a:gridCol>
                <a:gridCol w="2177415">
                  <a:extLst>
                    <a:ext uri="{9D8B030D-6E8A-4147-A177-3AD203B41FA5}">
                      <a16:colId xmlns:a16="http://schemas.microsoft.com/office/drawing/2014/main" val="14654184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just"/>
                      <a:r>
                        <a:rPr lang="ru-RU" sz="1400">
                          <a:effectLst/>
                        </a:rPr>
                        <a:t>Ощущения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400">
                          <a:effectLst/>
                        </a:rPr>
                        <a:t>Выгоды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400">
                          <a:effectLst/>
                        </a:rPr>
                        <a:t>Цены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512178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/>
                      <a:r>
                        <a:rPr lang="ru-RU" sz="1200">
                          <a:effectLst/>
                        </a:rPr>
                        <a:t>Гнев</a:t>
                      </a:r>
                    </a:p>
                    <a:p>
                      <a:pPr algn="just"/>
                      <a:r>
                        <a:rPr lang="ru-RU" sz="1200">
                          <a:effectLst/>
                        </a:rPr>
                        <a:t>Злость</a:t>
                      </a:r>
                    </a:p>
                    <a:p>
                      <a:pPr algn="just"/>
                      <a:r>
                        <a:rPr lang="ru-RU" sz="1200">
                          <a:effectLst/>
                        </a:rPr>
                        <a:t>Непонимание</a:t>
                      </a:r>
                    </a:p>
                    <a:p>
                      <a:pPr algn="just"/>
                      <a:r>
                        <a:rPr lang="ru-RU" sz="1200">
                          <a:effectLst/>
                        </a:rPr>
                        <a:t>Агрессия</a:t>
                      </a:r>
                    </a:p>
                    <a:p>
                      <a:pPr algn="just"/>
                      <a:r>
                        <a:rPr lang="ru-RU" sz="1200">
                          <a:effectLst/>
                        </a:rPr>
                        <a:t>Обида</a:t>
                      </a:r>
                    </a:p>
                    <a:p>
                      <a:pPr algn="just"/>
                      <a:r>
                        <a:rPr lang="ru-RU" sz="1200">
                          <a:effectLst/>
                        </a:rPr>
                        <a:t>Раздражение</a:t>
                      </a:r>
                    </a:p>
                    <a:p>
                      <a:pPr algn="just"/>
                      <a:r>
                        <a:rPr lang="ru-RU" sz="1200">
                          <a:effectLst/>
                        </a:rPr>
                        <a:t>Апатия</a:t>
                      </a:r>
                    </a:p>
                    <a:p>
                      <a:pPr algn="just"/>
                      <a:r>
                        <a:rPr lang="ru-RU" sz="1200">
                          <a:effectLst/>
                        </a:rPr>
                        <a:t>Страх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200">
                          <a:effectLst/>
                        </a:rPr>
                        <a:t>Жалость</a:t>
                      </a:r>
                    </a:p>
                    <a:p>
                      <a:pPr algn="just"/>
                      <a:r>
                        <a:rPr lang="ru-RU" sz="1200">
                          <a:effectLst/>
                        </a:rPr>
                        <a:t>Оправдания</a:t>
                      </a:r>
                    </a:p>
                    <a:p>
                      <a:pPr algn="just"/>
                      <a:r>
                        <a:rPr lang="ru-RU" sz="1200">
                          <a:effectLst/>
                        </a:rPr>
                        <a:t>Сочувствие, помощь</a:t>
                      </a:r>
                    </a:p>
                    <a:p>
                      <a:pPr algn="just"/>
                      <a:r>
                        <a:rPr lang="ru-RU" sz="1200">
                          <a:effectLst/>
                        </a:rPr>
                        <a:t>Понимание</a:t>
                      </a:r>
                    </a:p>
                    <a:p>
                      <a:pPr algn="just"/>
                      <a:r>
                        <a:rPr lang="ru-RU" sz="1200">
                          <a:effectLst/>
                        </a:rPr>
                        <a:t>Ничего не надо делать</a:t>
                      </a:r>
                    </a:p>
                    <a:p>
                      <a:pPr algn="just"/>
                      <a:r>
                        <a:rPr lang="ru-RU" sz="1200">
                          <a:effectLst/>
                        </a:rPr>
                        <a:t>Ожидание</a:t>
                      </a:r>
                    </a:p>
                    <a:p>
                      <a:pPr algn="just"/>
                      <a:r>
                        <a:rPr lang="ru-RU" sz="1200">
                          <a:effectLst/>
                        </a:rPr>
                        <a:t>Отсоединиться от других – непричастность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200" dirty="0">
                          <a:effectLst/>
                        </a:rPr>
                        <a:t>Унижение</a:t>
                      </a:r>
                    </a:p>
                    <a:p>
                      <a:pPr algn="just"/>
                      <a:r>
                        <a:rPr lang="ru-RU" sz="1200" dirty="0">
                          <a:effectLst/>
                        </a:rPr>
                        <a:t>Беспомощность</a:t>
                      </a:r>
                    </a:p>
                    <a:p>
                      <a:pPr algn="just"/>
                      <a:r>
                        <a:rPr lang="ru-RU" sz="1200" dirty="0">
                          <a:effectLst/>
                        </a:rPr>
                        <a:t>Болезни</a:t>
                      </a:r>
                    </a:p>
                    <a:p>
                      <a:pPr algn="just"/>
                      <a:r>
                        <a:rPr lang="ru-RU" sz="1200" dirty="0">
                          <a:effectLst/>
                        </a:rPr>
                        <a:t>Измотанность</a:t>
                      </a:r>
                    </a:p>
                    <a:p>
                      <a:pPr algn="just"/>
                      <a:r>
                        <a:rPr lang="ru-RU" sz="1200" dirty="0">
                          <a:effectLst/>
                        </a:rPr>
                        <a:t>Потеря уважения и самоуважения</a:t>
                      </a:r>
                    </a:p>
                    <a:p>
                      <a:pPr algn="just"/>
                      <a:r>
                        <a:rPr lang="ru-RU" sz="1200" dirty="0">
                          <a:effectLst/>
                        </a:rPr>
                        <a:t>Нет истинных отношений</a:t>
                      </a:r>
                    </a:p>
                    <a:p>
                      <a:pPr algn="just"/>
                      <a:r>
                        <a:rPr lang="ru-RU" sz="1200" dirty="0">
                          <a:effectLst/>
                        </a:rPr>
                        <a:t>Нет истинного счастья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64900292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7974324D-47FF-46DD-8EF8-8503A66614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7525088"/>
              </p:ext>
            </p:extLst>
          </p:nvPr>
        </p:nvGraphicFramePr>
        <p:xfrm>
          <a:off x="828219" y="1700808"/>
          <a:ext cx="6113145" cy="1676400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{5940675A-B579-460E-94D1-54222C63F5DA}</a:tableStyleId>
              </a:tblPr>
              <a:tblGrid>
                <a:gridCol w="1539240">
                  <a:extLst>
                    <a:ext uri="{9D8B030D-6E8A-4147-A177-3AD203B41FA5}">
                      <a16:colId xmlns:a16="http://schemas.microsoft.com/office/drawing/2014/main" val="771862612"/>
                    </a:ext>
                  </a:extLst>
                </a:gridCol>
                <a:gridCol w="2397125">
                  <a:extLst>
                    <a:ext uri="{9D8B030D-6E8A-4147-A177-3AD203B41FA5}">
                      <a16:colId xmlns:a16="http://schemas.microsoft.com/office/drawing/2014/main" val="3407135115"/>
                    </a:ext>
                  </a:extLst>
                </a:gridCol>
                <a:gridCol w="2176780">
                  <a:extLst>
                    <a:ext uri="{9D8B030D-6E8A-4147-A177-3AD203B41FA5}">
                      <a16:colId xmlns:a16="http://schemas.microsoft.com/office/drawing/2014/main" val="265127917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just"/>
                      <a:r>
                        <a:rPr lang="ru-RU" sz="1400">
                          <a:effectLst/>
                        </a:rPr>
                        <a:t>Ощущения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400">
                          <a:effectLst/>
                        </a:rPr>
                        <a:t>Выгоды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400">
                          <a:effectLst/>
                        </a:rPr>
                        <a:t>Цены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084217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/>
                      <a:r>
                        <a:rPr lang="ru-RU" sz="1200">
                          <a:effectLst/>
                        </a:rPr>
                        <a:t>Сила, энергия</a:t>
                      </a:r>
                    </a:p>
                    <a:p>
                      <a:pPr algn="just"/>
                      <a:r>
                        <a:rPr lang="ru-RU" sz="1200">
                          <a:effectLst/>
                        </a:rPr>
                        <a:t>Чувство собственного достоинства</a:t>
                      </a:r>
                    </a:p>
                    <a:p>
                      <a:pPr algn="just"/>
                      <a:r>
                        <a:rPr lang="ru-RU" sz="1200">
                          <a:effectLst/>
                        </a:rPr>
                        <a:t>Душевный подъем</a:t>
                      </a:r>
                    </a:p>
                    <a:p>
                      <a:pPr algn="just"/>
                      <a:r>
                        <a:rPr lang="ru-RU" sz="1200">
                          <a:effectLst/>
                        </a:rPr>
                        <a:t>Оптимизм</a:t>
                      </a:r>
                    </a:p>
                    <a:p>
                      <a:pPr algn="just"/>
                      <a:r>
                        <a:rPr lang="ru-RU" sz="1200">
                          <a:effectLst/>
                        </a:rPr>
                        <a:t>Здоровье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200">
                          <a:effectLst/>
                        </a:rPr>
                        <a:t>Есть уважение</a:t>
                      </a:r>
                    </a:p>
                    <a:p>
                      <a:pPr algn="just"/>
                      <a:r>
                        <a:rPr lang="ru-RU" sz="1200">
                          <a:effectLst/>
                        </a:rPr>
                        <a:t>Есть близкие отношения</a:t>
                      </a:r>
                    </a:p>
                    <a:p>
                      <a:pPr algn="just"/>
                      <a:r>
                        <a:rPr lang="ru-RU" sz="1200">
                          <a:effectLst/>
                        </a:rPr>
                        <a:t>Доверие</a:t>
                      </a:r>
                    </a:p>
                    <a:p>
                      <a:pPr algn="just"/>
                      <a:r>
                        <a:rPr lang="ru-RU" sz="1200">
                          <a:effectLst/>
                        </a:rPr>
                        <a:t>Результаты + возможности</a:t>
                      </a:r>
                    </a:p>
                    <a:p>
                      <a:pPr algn="just"/>
                      <a:r>
                        <a:rPr lang="ru-RU" sz="1200">
                          <a:effectLst/>
                        </a:rPr>
                        <a:t>Влияние</a:t>
                      </a:r>
                    </a:p>
                    <a:p>
                      <a:pPr algn="just"/>
                      <a:r>
                        <a:rPr lang="ru-RU" sz="1200">
                          <a:effectLst/>
                        </a:rPr>
                        <a:t>Здоровье</a:t>
                      </a:r>
                    </a:p>
                    <a:p>
                      <a:pPr algn="just"/>
                      <a:r>
                        <a:rPr lang="ru-RU" sz="1200">
                          <a:effectLst/>
                        </a:rPr>
                        <a:t>Реализация своих целей</a:t>
                      </a:r>
                    </a:p>
                    <a:p>
                      <a:pPr algn="just"/>
                      <a:r>
                        <a:rPr lang="ru-RU" sz="1200">
                          <a:effectLst/>
                        </a:rPr>
                        <a:t>Счастье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200" dirty="0">
                          <a:effectLst/>
                        </a:rPr>
                        <a:t>Нет пустого времени</a:t>
                      </a:r>
                    </a:p>
                    <a:p>
                      <a:pPr algn="just"/>
                      <a:r>
                        <a:rPr lang="ru-RU" sz="1200" dirty="0">
                          <a:effectLst/>
                        </a:rPr>
                        <a:t>Непонимание жертв</a:t>
                      </a:r>
                    </a:p>
                    <a:p>
                      <a:pPr algn="just"/>
                      <a:r>
                        <a:rPr lang="ru-RU" sz="1200" dirty="0">
                          <a:effectLst/>
                        </a:rPr>
                        <a:t>Риск</a:t>
                      </a:r>
                    </a:p>
                    <a:p>
                      <a:pPr algn="just"/>
                      <a:r>
                        <a:rPr lang="ru-RU" sz="1200" dirty="0">
                          <a:effectLst/>
                        </a:rPr>
                        <a:t>Дискомфорт</a:t>
                      </a:r>
                    </a:p>
                    <a:p>
                      <a:pPr algn="just"/>
                      <a:r>
                        <a:rPr lang="ru-RU" sz="1200" dirty="0">
                          <a:effectLst/>
                        </a:rPr>
                        <a:t>Нет историй</a:t>
                      </a:r>
                    </a:p>
                    <a:p>
                      <a:pPr algn="just"/>
                      <a:r>
                        <a:rPr lang="ru-RU" sz="1200" dirty="0">
                          <a:effectLst/>
                        </a:rPr>
                        <a:t>Нет оправданий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377203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13918934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FB29A8-0D6D-49D9-9426-AA7C978994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512" y="4221088"/>
            <a:ext cx="8229600" cy="1070992"/>
          </a:xfrm>
        </p:spPr>
        <p:txBody>
          <a:bodyPr>
            <a:normAutofit fontScale="90000"/>
          </a:bodyPr>
          <a:lstStyle/>
          <a:p>
            <a:r>
              <a:rPr lang="ru-RU" sz="2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Как перейти в позицию ответственности? </a:t>
            </a:r>
            <a:br>
              <a:rPr lang="ru-RU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Задайте себе 3 вопроса:</a:t>
            </a:r>
            <a:br>
              <a:rPr lang="ru-RU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br>
              <a:rPr lang="ru-RU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sz="2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Что я сделал</a:t>
            </a:r>
            <a:r>
              <a:rPr lang="ru-RU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(или не сделал), как я себя вел, что имею такой результат?</a:t>
            </a:r>
            <a:br>
              <a:rPr lang="ru-RU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sz="2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Чему я научился?</a:t>
            </a:r>
            <a:br>
              <a:rPr lang="ru-RU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sz="2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Что я могу сделать</a:t>
            </a:r>
            <a:r>
              <a:rPr lang="ru-RU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теперь, чтобы исправить последствия?</a:t>
            </a:r>
            <a:b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endParaRPr lang="ru-RU" dirty="0"/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2C1AA003-C801-4D1A-9A5F-DB614AE7732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41432768"/>
              </p:ext>
            </p:extLst>
          </p:nvPr>
        </p:nvGraphicFramePr>
        <p:xfrm>
          <a:off x="1043608" y="332656"/>
          <a:ext cx="6301734" cy="2766623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041333">
                  <a:extLst>
                    <a:ext uri="{9D8B030D-6E8A-4147-A177-3AD203B41FA5}">
                      <a16:colId xmlns:a16="http://schemas.microsoft.com/office/drawing/2014/main" val="2155075895"/>
                    </a:ext>
                  </a:extLst>
                </a:gridCol>
                <a:gridCol w="3260401">
                  <a:extLst>
                    <a:ext uri="{9D8B030D-6E8A-4147-A177-3AD203B41FA5}">
                      <a16:colId xmlns:a16="http://schemas.microsoft.com/office/drawing/2014/main" val="690656237"/>
                    </a:ext>
                  </a:extLst>
                </a:gridCol>
              </a:tblGrid>
              <a:tr h="328223">
                <a:tc>
                  <a:txBody>
                    <a:bodyPr/>
                    <a:lstStyle/>
                    <a:p>
                      <a:pPr algn="ctr"/>
                      <a:r>
                        <a:rPr lang="ru-RU" sz="1600" b="1" dirty="0">
                          <a:effectLst/>
                        </a:rPr>
                        <a:t>Безответственный</a:t>
                      </a:r>
                      <a:endParaRPr lang="ru-RU" sz="16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1" dirty="0">
                          <a:effectLst/>
                        </a:rPr>
                        <a:t>Ответственный</a:t>
                      </a:r>
                      <a:endParaRPr lang="ru-RU" sz="16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57177093"/>
                  </a:ext>
                </a:extLst>
              </a:tr>
              <a:tr h="1688001">
                <a:tc>
                  <a:txBody>
                    <a:bodyPr/>
                    <a:lstStyle/>
                    <a:p>
                      <a:r>
                        <a:rPr lang="ru-RU" sz="1600">
                          <a:effectLst/>
                        </a:rPr>
                        <a:t>Они во всем виноваты.</a:t>
                      </a:r>
                    </a:p>
                    <a:p>
                      <a:r>
                        <a:rPr lang="ru-RU" sz="1600">
                          <a:effectLst/>
                        </a:rPr>
                        <a:t>Я ничего не могу поделать. Вот такой я есть.</a:t>
                      </a:r>
                    </a:p>
                    <a:p>
                      <a:r>
                        <a:rPr lang="ru-RU" sz="1600">
                          <a:effectLst/>
                        </a:rPr>
                        <a:t>Он так меня раздражает.</a:t>
                      </a:r>
                    </a:p>
                    <a:p>
                      <a:r>
                        <a:rPr lang="ru-RU" sz="1600">
                          <a:effectLst/>
                        </a:rPr>
                        <a:t>Они не согласятся на это.</a:t>
                      </a:r>
                    </a:p>
                    <a:p>
                      <a:r>
                        <a:rPr lang="ru-RU" sz="1600">
                          <a:effectLst/>
                        </a:rPr>
                        <a:t>Мне придется это сделать.</a:t>
                      </a:r>
                    </a:p>
                    <a:p>
                      <a:r>
                        <a:rPr lang="ru-RU" sz="1600">
                          <a:effectLst/>
                        </a:rPr>
                        <a:t>Я не могу. Я вынужден. Если бы только...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effectLst/>
                        </a:rPr>
                        <a:t>То, что я имею – результат моих действий.</a:t>
                      </a:r>
                    </a:p>
                    <a:p>
                      <a:r>
                        <a:rPr lang="ru-RU" sz="1600" dirty="0">
                          <a:effectLst/>
                        </a:rPr>
                        <a:t>Посмотрим, какие есть возможности.</a:t>
                      </a:r>
                    </a:p>
                    <a:p>
                      <a:r>
                        <a:rPr lang="ru-RU" sz="1600" dirty="0">
                          <a:effectLst/>
                        </a:rPr>
                        <a:t>Я могу выбрать другой подход.</a:t>
                      </a:r>
                    </a:p>
                    <a:p>
                      <a:r>
                        <a:rPr lang="ru-RU" sz="1600" dirty="0">
                          <a:effectLst/>
                        </a:rPr>
                        <a:t>Я контролирую свои чувства.</a:t>
                      </a:r>
                    </a:p>
                    <a:p>
                      <a:r>
                        <a:rPr lang="ru-RU" sz="1600" dirty="0">
                          <a:effectLst/>
                        </a:rPr>
                        <a:t>Я выберу соответствующую реакцию.</a:t>
                      </a:r>
                    </a:p>
                    <a:p>
                      <a:r>
                        <a:rPr lang="ru-RU" sz="1600" dirty="0">
                          <a:effectLst/>
                        </a:rPr>
                        <a:t>Я выбираю, я предпочитаю. Я сделаю.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579970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48103004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Picture background">
            <a:extLst>
              <a:ext uri="{FF2B5EF4-FFF2-40B4-BE49-F238E27FC236}">
                <a16:creationId xmlns:a16="http://schemas.microsoft.com/office/drawing/2014/main" id="{FD5E0975-B1FF-4B83-A107-A21F3B7C7236}"/>
              </a:ext>
            </a:extLst>
          </p:cNvPr>
          <p:cNvPicPr>
            <a:picLocks noGrp="1" noChangeAspect="1" noChangeArrowheads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188640"/>
            <a:ext cx="4958011" cy="49580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1811418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225E7FB1-965A-40AE-8313-7045E32FEEDD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79512" y="764704"/>
            <a:ext cx="8229600" cy="4525963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ru-RU" b="0" i="0" dirty="0">
                <a:solidFill>
                  <a:srgbClr val="333333"/>
                </a:solidFill>
                <a:effectLst/>
                <a:latin typeface="YS Text"/>
              </a:rPr>
              <a:t>Локус контроля — это склонность человека искать причины своего поведения и приписывать ответственность за его результаты либо внешним обстоятельствам, либо своим усилиям и способностям.</a:t>
            </a:r>
          </a:p>
          <a:p>
            <a:pPr algn="l"/>
            <a:r>
              <a:rPr lang="ru-RU" b="0" i="0" dirty="0">
                <a:solidFill>
                  <a:srgbClr val="333333"/>
                </a:solidFill>
                <a:effectLst/>
                <a:latin typeface="YS Text"/>
              </a:rPr>
              <a:t>Понятие ввёл американский психолог Джулиан </a:t>
            </a:r>
            <a:r>
              <a:rPr lang="ru-RU" b="0" i="0" dirty="0" err="1">
                <a:solidFill>
                  <a:srgbClr val="333333"/>
                </a:solidFill>
                <a:effectLst/>
                <a:latin typeface="YS Text"/>
              </a:rPr>
              <a:t>Роттер</a:t>
            </a:r>
            <a:r>
              <a:rPr lang="ru-RU" b="0" i="0" dirty="0">
                <a:solidFill>
                  <a:srgbClr val="333333"/>
                </a:solidFill>
                <a:effectLst/>
                <a:latin typeface="YS Text"/>
              </a:rPr>
              <a:t> в середине XX века. Он выделил два типа локуса контроля:</a:t>
            </a:r>
          </a:p>
          <a:p>
            <a:pPr algn="l">
              <a:buFont typeface="+mj-lt"/>
              <a:buAutoNum type="arabicPeriod"/>
            </a:pPr>
            <a:r>
              <a:rPr lang="ru-RU" b="0" i="0" dirty="0">
                <a:solidFill>
                  <a:srgbClr val="333333"/>
                </a:solidFill>
                <a:effectLst/>
                <a:latin typeface="YS Text"/>
              </a:rPr>
              <a:t>Внешний (экстернальный) — поиск причин своего поведения вне себя, то есть в своём окружении или во внешних обстоятельствах.</a:t>
            </a:r>
          </a:p>
          <a:p>
            <a:pPr algn="l">
              <a:buFont typeface="+mj-lt"/>
              <a:buAutoNum type="arabicPeriod" startAt="2"/>
            </a:pPr>
            <a:r>
              <a:rPr lang="ru-RU" b="0" i="0" dirty="0">
                <a:solidFill>
                  <a:srgbClr val="333333"/>
                </a:solidFill>
                <a:effectLst/>
                <a:latin typeface="YS Text"/>
              </a:rPr>
              <a:t>Внутренний (</a:t>
            </a:r>
            <a:r>
              <a:rPr lang="ru-RU" b="0" i="0" dirty="0" err="1">
                <a:solidFill>
                  <a:srgbClr val="333333"/>
                </a:solidFill>
                <a:effectLst/>
                <a:latin typeface="YS Text"/>
              </a:rPr>
              <a:t>интернальный</a:t>
            </a:r>
            <a:r>
              <a:rPr lang="ru-RU" b="0" i="0" dirty="0">
                <a:solidFill>
                  <a:srgbClr val="333333"/>
                </a:solidFill>
                <a:effectLst/>
                <a:latin typeface="YS Text"/>
              </a:rPr>
              <a:t>) — поиск причин своего поведения внутри себя.</a:t>
            </a:r>
          </a:p>
          <a:p>
            <a:pPr algn="l"/>
            <a:r>
              <a:rPr lang="ru-RU" b="0" i="0" dirty="0">
                <a:solidFill>
                  <a:srgbClr val="333333"/>
                </a:solidFill>
                <a:effectLst/>
                <a:latin typeface="YS Text"/>
              </a:rPr>
              <a:t>Определить свой тип можно с помощью теста </a:t>
            </a:r>
            <a:r>
              <a:rPr lang="ru-RU" b="0" i="0" dirty="0" err="1">
                <a:solidFill>
                  <a:srgbClr val="333333"/>
                </a:solidFill>
                <a:effectLst/>
                <a:latin typeface="YS Text"/>
              </a:rPr>
              <a:t>Роттера</a:t>
            </a:r>
            <a:r>
              <a:rPr lang="ru-RU" b="0" i="0" dirty="0">
                <a:solidFill>
                  <a:srgbClr val="333333"/>
                </a:solidFill>
                <a:effectLst/>
                <a:latin typeface="YS Text"/>
              </a:rPr>
              <a:t>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36779283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sz="quarter" idx="4294967295"/>
          </p:nvPr>
        </p:nvSpPr>
        <p:spPr>
          <a:xfrm>
            <a:off x="827584" y="692696"/>
            <a:ext cx="7175004" cy="5433467"/>
          </a:xfrm>
        </p:spPr>
        <p:txBody>
          <a:bodyPr/>
          <a:lstStyle/>
          <a:p>
            <a:pPr marL="0" indent="0">
              <a:buNone/>
            </a:pPr>
            <a:r>
              <a:rPr lang="ru-RU" b="1" dirty="0"/>
              <a:t>Формула Женского счастья:</a:t>
            </a:r>
          </a:p>
          <a:p>
            <a:endParaRPr lang="ru-RU" dirty="0"/>
          </a:p>
          <a:p>
            <a:r>
              <a:rPr lang="ru-RU" dirty="0"/>
              <a:t>Слышать – слушаться - следовать – жаловаться – просить (О-О!!!)</a:t>
            </a:r>
          </a:p>
          <a:p>
            <a:endParaRPr lang="ru-RU" dirty="0"/>
          </a:p>
          <a:p>
            <a:r>
              <a:rPr lang="ru-RU" dirty="0"/>
              <a:t>А что для Мужчин?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14" name="Rectangle 1">
            <a:extLst>
              <a:ext uri="{FF2B5EF4-FFF2-40B4-BE49-F238E27FC236}">
                <a16:creationId xmlns:a16="http://schemas.microsoft.com/office/drawing/2014/main" id="{652A1345-C69F-4F74-873A-6966832BD1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altLang="ru-RU" b="1" dirty="0"/>
              <a:t>Распространенные ошибки общения </a:t>
            </a:r>
            <a:endParaRPr lang="ru-RU" altLang="ru-RU" dirty="0"/>
          </a:p>
        </p:txBody>
      </p:sp>
      <p:sp>
        <p:nvSpPr>
          <p:cNvPr id="192515" name="Rectangle 2">
            <a:extLst>
              <a:ext uri="{FF2B5EF4-FFF2-40B4-BE49-F238E27FC236}">
                <a16:creationId xmlns:a16="http://schemas.microsoft.com/office/drawing/2014/main" id="{234BB8DA-C9A0-439C-BA9B-E14EFA12A545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685330" y="1916833"/>
            <a:ext cx="7772870" cy="3874368"/>
          </a:xfrm>
        </p:spPr>
        <p:txBody>
          <a:bodyPr/>
          <a:lstStyle/>
          <a:p>
            <a:r>
              <a:rPr lang="ru-RU" altLang="ru-RU" sz="2800" b="1" i="1" dirty="0"/>
              <a:t>У Женщин</a:t>
            </a:r>
          </a:p>
          <a:p>
            <a:r>
              <a:rPr lang="ru-RU" altLang="ru-RU" sz="2800" dirty="0"/>
              <a:t>Ожидание, что партнер читает наши мысли.</a:t>
            </a:r>
          </a:p>
          <a:p>
            <a:r>
              <a:rPr lang="ru-RU" altLang="ru-RU" sz="2800" dirty="0"/>
              <a:t>Убежденность в собственной правоте (</a:t>
            </a:r>
            <a:r>
              <a:rPr lang="ru-RU" altLang="ru-RU" sz="2800" dirty="0" err="1"/>
              <a:t>недиалогичность</a:t>
            </a:r>
            <a:r>
              <a:rPr lang="ru-RU" altLang="ru-RU" sz="2800" dirty="0"/>
              <a:t>). </a:t>
            </a:r>
          </a:p>
          <a:p>
            <a:r>
              <a:rPr lang="ru-RU" altLang="ru-RU" sz="2800" dirty="0"/>
              <a:t>Центр внимания не на партнере.</a:t>
            </a:r>
          </a:p>
          <a:p>
            <a:endParaRPr lang="ru-RU" altLang="ru-RU" dirty="0"/>
          </a:p>
          <a:p>
            <a:endParaRPr lang="ru-RU" altLang="ru-RU" dirty="0"/>
          </a:p>
        </p:txBody>
      </p:sp>
    </p:spTree>
    <p:extLst>
      <p:ext uri="{BB962C8B-B14F-4D97-AF65-F5344CB8AC3E}">
        <p14:creationId xmlns:p14="http://schemas.microsoft.com/office/powerpoint/2010/main" val="138237315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610" name="Rectangle 1">
            <a:extLst>
              <a:ext uri="{FF2B5EF4-FFF2-40B4-BE49-F238E27FC236}">
                <a16:creationId xmlns:a16="http://schemas.microsoft.com/office/drawing/2014/main" id="{2A1BDC9F-E11B-4B26-89C4-C43BE77F4B8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altLang="ru-RU"/>
              <a:t>Мы ожидаем чтения мыслей, потому, что:</a:t>
            </a:r>
          </a:p>
        </p:txBody>
      </p:sp>
      <p:sp>
        <p:nvSpPr>
          <p:cNvPr id="196611" name="Rectangle 2">
            <a:extLst>
              <a:ext uri="{FF2B5EF4-FFF2-40B4-BE49-F238E27FC236}">
                <a16:creationId xmlns:a16="http://schemas.microsoft.com/office/drawing/2014/main" id="{0988DACC-9386-476D-89BD-9C330C5B744B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457200" y="1716946"/>
            <a:ext cx="7772870" cy="4160326"/>
          </a:xfrm>
        </p:spPr>
        <p:txBody>
          <a:bodyPr/>
          <a:lstStyle/>
          <a:p>
            <a:r>
              <a:rPr lang="ru-RU" altLang="ru-RU" sz="2400" dirty="0"/>
              <a:t>Не верим в открытое выражение чувств, или не умеем делать этого сами.</a:t>
            </a:r>
          </a:p>
          <a:p>
            <a:r>
              <a:rPr lang="ru-RU" altLang="ru-RU" sz="2400" dirty="0"/>
              <a:t>Контролируем свои чувства – не доверяем.</a:t>
            </a:r>
          </a:p>
          <a:p>
            <a:r>
              <a:rPr lang="ru-RU" altLang="ru-RU" sz="2400" dirty="0"/>
              <a:t>Боимся откровенных разговоров и не умеем этого делать.</a:t>
            </a:r>
          </a:p>
          <a:p>
            <a:r>
              <a:rPr lang="ru-RU" altLang="ru-RU" sz="2400" dirty="0"/>
              <a:t>Увлекаемся критикой и сарказмом</a:t>
            </a:r>
          </a:p>
          <a:p>
            <a:r>
              <a:rPr lang="ru-RU" altLang="ru-RU" sz="2400" dirty="0"/>
              <a:t>Рассказываем о наших отношениях другим</a:t>
            </a:r>
            <a:r>
              <a:rPr lang="ru-RU" altLang="ru-RU" sz="2000" dirty="0"/>
              <a:t>.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4C5437-D370-4BDA-A69C-F3806AA341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делать?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02F8057-5179-4390-BD47-F213C5D4065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200" y="1716946"/>
            <a:ext cx="7772870" cy="3424107"/>
          </a:xfrm>
        </p:spPr>
        <p:txBody>
          <a:bodyPr>
            <a:normAutofit fontScale="92500" lnSpcReduction="10000"/>
          </a:bodyPr>
          <a:lstStyle/>
          <a:p>
            <a:r>
              <a:rPr lang="ru-RU" altLang="ru-RU" sz="2800" dirty="0"/>
              <a:t>Говорим о своих чувствах и потребностях через Я- сообщение.</a:t>
            </a:r>
          </a:p>
          <a:p>
            <a:r>
              <a:rPr lang="ru-RU" altLang="ru-RU" sz="2800" dirty="0"/>
              <a:t>Выражаем свои желания и потребности прямо, в мягкой форме.</a:t>
            </a:r>
          </a:p>
          <a:p>
            <a:r>
              <a:rPr lang="ru-RU" altLang="ru-RU" sz="2800" dirty="0"/>
              <a:t>Конфликтуем грамотно.</a:t>
            </a:r>
          </a:p>
          <a:p>
            <a:r>
              <a:rPr lang="ru-RU" altLang="ru-RU" sz="2800" dirty="0"/>
              <a:t>Даем обязательства и просим их от партнера.</a:t>
            </a:r>
          </a:p>
          <a:p>
            <a:r>
              <a:rPr lang="ru-RU" altLang="ru-RU" sz="2800" dirty="0"/>
              <a:t>Обсуждаем последствия разрушающего поведения.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24396586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706" name="Rectangle 1">
            <a:extLst>
              <a:ext uri="{FF2B5EF4-FFF2-40B4-BE49-F238E27FC236}">
                <a16:creationId xmlns:a16="http://schemas.microsoft.com/office/drawing/2014/main" id="{50C85D5D-F48F-4F86-80B6-64AE0EC50B6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altLang="ru-RU" dirty="0"/>
              <a:t>Почему мы убеждены в собственной правоте</a:t>
            </a:r>
          </a:p>
        </p:txBody>
      </p:sp>
      <p:sp>
        <p:nvSpPr>
          <p:cNvPr id="200707" name="Rectangle 2">
            <a:extLst>
              <a:ext uri="{FF2B5EF4-FFF2-40B4-BE49-F238E27FC236}">
                <a16:creationId xmlns:a16="http://schemas.microsoft.com/office/drawing/2014/main" id="{11DA847A-856E-404D-8D00-2322A94C91E7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457200" y="1772816"/>
            <a:ext cx="7772870" cy="3424107"/>
          </a:xfrm>
        </p:spPr>
        <p:txBody>
          <a:bodyPr/>
          <a:lstStyle/>
          <a:p>
            <a:r>
              <a:rPr lang="ru-RU" altLang="ru-RU" dirty="0"/>
              <a:t>Компенсируем неуверенность в себе</a:t>
            </a:r>
          </a:p>
          <a:p>
            <a:r>
              <a:rPr lang="ru-RU" altLang="ru-RU" dirty="0"/>
              <a:t>Считаем, что  истина одна, и она именно у нас (не задаем себе вопросы).</a:t>
            </a:r>
          </a:p>
          <a:p>
            <a:r>
              <a:rPr lang="ru-RU" altLang="ru-RU" dirty="0"/>
              <a:t>Хотим контролировать других.</a:t>
            </a:r>
          </a:p>
          <a:p>
            <a:r>
              <a:rPr lang="ru-RU" altLang="ru-RU" dirty="0"/>
              <a:t>Знаем все правильные ответы, т.к. умнее (опытнее, старше и пр.)</a:t>
            </a:r>
          </a:p>
          <a:p>
            <a:endParaRPr lang="ru-RU" altLang="ru-RU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02" name="Rectangle 1">
            <a:extLst>
              <a:ext uri="{FF2B5EF4-FFF2-40B4-BE49-F238E27FC236}">
                <a16:creationId xmlns:a16="http://schemas.microsoft.com/office/drawing/2014/main" id="{E48662FE-BE91-407C-AE25-04623FE0AA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altLang="ru-RU" dirty="0"/>
              <a:t>Центр внимания не на партнере</a:t>
            </a:r>
            <a:br>
              <a:rPr lang="ru-RU" altLang="ru-RU" dirty="0"/>
            </a:br>
            <a:endParaRPr lang="ru-RU" altLang="ru-RU" dirty="0"/>
          </a:p>
        </p:txBody>
      </p:sp>
      <p:sp>
        <p:nvSpPr>
          <p:cNvPr id="204803" name="Rectangle 2">
            <a:extLst>
              <a:ext uri="{FF2B5EF4-FFF2-40B4-BE49-F238E27FC236}">
                <a16:creationId xmlns:a16="http://schemas.microsoft.com/office/drawing/2014/main" id="{EE3F509D-0542-44F8-904C-1E33A7B71726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685565" y="1268760"/>
            <a:ext cx="7772870" cy="4248472"/>
          </a:xfrm>
        </p:spPr>
        <p:txBody>
          <a:bodyPr>
            <a:normAutofit/>
          </a:bodyPr>
          <a:lstStyle/>
          <a:p>
            <a:r>
              <a:rPr lang="ru-RU" altLang="ru-RU" sz="2800" dirty="0"/>
              <a:t>Создаем эмоциональные связи за пределами отношений.</a:t>
            </a:r>
          </a:p>
          <a:p>
            <a:r>
              <a:rPr lang="ru-RU" altLang="ru-RU" sz="2800" dirty="0"/>
              <a:t>Нет должного уважения.</a:t>
            </a:r>
          </a:p>
          <a:p>
            <a:r>
              <a:rPr lang="ru-RU" altLang="ru-RU" sz="2800" dirty="0"/>
              <a:t>Общаемся некачественно.</a:t>
            </a:r>
          </a:p>
          <a:p>
            <a:r>
              <a:rPr lang="ru-RU" altLang="ru-RU" sz="2800" dirty="0"/>
              <a:t>Забываем быть любовниками.</a:t>
            </a:r>
          </a:p>
          <a:p>
            <a:r>
              <a:rPr lang="ru-RU" altLang="ru-RU" sz="2800" dirty="0"/>
              <a:t>Слишком заняты собой, ребенком, мамой и </a:t>
            </a:r>
            <a:r>
              <a:rPr lang="ru-RU" altLang="ru-RU" dirty="0"/>
              <a:t>пр.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2ED3BED-DDCD-4788-A9F0-50337ECB4C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7067128" cy="1143000"/>
          </a:xfrm>
        </p:spPr>
        <p:txBody>
          <a:bodyPr>
            <a:normAutofit fontScale="90000"/>
          </a:bodyPr>
          <a:lstStyle/>
          <a:p>
            <a:r>
              <a:rPr lang="ru-RU" altLang="ru-RU" b="1" dirty="0"/>
              <a:t>Распространенные ошибки общения 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52810FA-52AA-4D9D-84FE-5229D5A8822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5330" y="1916833"/>
            <a:ext cx="7772870" cy="3874368"/>
          </a:xfrm>
        </p:spPr>
        <p:txBody>
          <a:bodyPr>
            <a:normAutofit/>
          </a:bodyPr>
          <a:lstStyle/>
          <a:p>
            <a:r>
              <a:rPr lang="ru-RU" b="1" i="1" dirty="0"/>
              <a:t>Мужчины</a:t>
            </a:r>
          </a:p>
          <a:p>
            <a:r>
              <a:rPr lang="ru-RU" dirty="0"/>
              <a:t>М не готовы быть неправыми</a:t>
            </a:r>
          </a:p>
          <a:p>
            <a:r>
              <a:rPr lang="ru-RU" dirty="0"/>
              <a:t>М трудно, когда Ж нервничают и расстраиваются</a:t>
            </a:r>
          </a:p>
          <a:p>
            <a:r>
              <a:rPr lang="ru-RU" dirty="0"/>
              <a:t>М меньше занимают вопросы отношений, чем достижений</a:t>
            </a:r>
          </a:p>
          <a:p>
            <a:endParaRPr lang="ru-RU" dirty="0"/>
          </a:p>
          <a:p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52734962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B9AEB417-8B83-45BC-9C11-9E657944D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0AE44A7-6A49-4DE6-A04F-145E6FF80BE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200" y="1556792"/>
            <a:ext cx="7772870" cy="4162400"/>
          </a:xfrm>
        </p:spPr>
        <p:txBody>
          <a:bodyPr>
            <a:normAutofit fontScale="85000" lnSpcReduction="20000"/>
          </a:bodyPr>
          <a:lstStyle/>
          <a:p>
            <a:r>
              <a:rPr lang="ru-RU" dirty="0"/>
              <a:t>М часто неверно истолковывают предложения, советы, реакции и воспринимают их как критику</a:t>
            </a:r>
          </a:p>
          <a:p>
            <a:r>
              <a:rPr lang="ru-RU" dirty="0"/>
              <a:t>У М самооценка зависит от достижений</a:t>
            </a:r>
          </a:p>
          <a:p>
            <a:r>
              <a:rPr lang="ru-RU" dirty="0"/>
              <a:t>М трудно извиняться, потому, что для них просить прощения – означает признать, что они совершили ошибку, а значит они – «</a:t>
            </a:r>
            <a:r>
              <a:rPr lang="ru-RU" dirty="0" err="1"/>
              <a:t>лузеры</a:t>
            </a:r>
            <a:r>
              <a:rPr lang="ru-RU" dirty="0"/>
              <a:t>»</a:t>
            </a:r>
          </a:p>
          <a:p>
            <a:r>
              <a:rPr lang="ru-RU" dirty="0"/>
              <a:t>М часто считаю, что читать книги по </a:t>
            </a:r>
            <a:r>
              <a:rPr lang="ru-RU" dirty="0" err="1"/>
              <a:t>самомов</a:t>
            </a:r>
            <a:r>
              <a:rPr lang="ru-RU" dirty="0"/>
              <a:t>-ю, пойти на тренинг, или консультацию – это значит признать себя «</a:t>
            </a:r>
            <a:r>
              <a:rPr lang="ru-RU" dirty="0" err="1"/>
              <a:t>лузером</a:t>
            </a:r>
            <a:r>
              <a:rPr lang="ru-RU" dirty="0"/>
              <a:t>»</a:t>
            </a:r>
          </a:p>
          <a:p>
            <a:r>
              <a:rPr lang="ru-RU" dirty="0"/>
              <a:t>Реакция женщины, часто свидетельствует ему, что она не доверяет его (опыту, знаниям, уму)</a:t>
            </a:r>
          </a:p>
          <a:p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76811138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51A7CA-B48C-45C2-AAAC-A2D057712C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Она расстраивается – он негодует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FCAB65B-2993-4611-A5D7-F4219C5F833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5330" y="1484785"/>
            <a:ext cx="7772870" cy="4306416"/>
          </a:xfrm>
        </p:spPr>
        <p:txBody>
          <a:bodyPr>
            <a:normAutofit fontScale="85000" lnSpcReduction="20000"/>
          </a:bodyPr>
          <a:lstStyle/>
          <a:p>
            <a:r>
              <a:rPr lang="ru-RU" dirty="0"/>
              <a:t>Понять причину нелюбви к женским расстройствам – он почти никогда не попадает в цель</a:t>
            </a:r>
          </a:p>
          <a:p>
            <a:r>
              <a:rPr lang="ru-RU" dirty="0"/>
              <a:t>Он переоценивает состояние дел – такая реакция у него либо не бывает, либо бывает в крайних случаях. Не преувеличивайте.</a:t>
            </a:r>
          </a:p>
          <a:p>
            <a:r>
              <a:rPr lang="ru-RU" dirty="0"/>
              <a:t>Он ругает себя, пусть даже бессознательно</a:t>
            </a:r>
          </a:p>
          <a:p>
            <a:r>
              <a:rPr lang="ru-RU" dirty="0"/>
              <a:t>Поддержать его в том, чтобы он заинтересовался темой чувств</a:t>
            </a:r>
          </a:p>
          <a:p>
            <a:r>
              <a:rPr lang="ru-RU" dirty="0"/>
              <a:t>Лучше установить лимит времени, когда Вы будете говорить о проблеме</a:t>
            </a:r>
          </a:p>
          <a:p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92962567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D4D53C-1F9A-4583-81D6-DE9C59560B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Как обратить внимание М на важность отношений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23C94C2-7E42-44AE-9AB3-0115783C561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5330" y="1772817"/>
            <a:ext cx="7772870" cy="4018384"/>
          </a:xfrm>
        </p:spPr>
        <p:txBody>
          <a:bodyPr>
            <a:normAutofit fontScale="85000" lnSpcReduction="20000"/>
          </a:bodyPr>
          <a:lstStyle/>
          <a:p>
            <a:r>
              <a:rPr lang="ru-RU" dirty="0"/>
              <a:t>Знать его приоритеты</a:t>
            </a:r>
          </a:p>
          <a:p>
            <a:r>
              <a:rPr lang="ru-RU" dirty="0"/>
              <a:t>Давать возможность быть «в пещере»</a:t>
            </a:r>
          </a:p>
          <a:p>
            <a:r>
              <a:rPr lang="ru-RU" dirty="0"/>
              <a:t>Спросить, как еще возможно облегчить переключение с работы на отношения в семье</a:t>
            </a:r>
          </a:p>
          <a:p>
            <a:r>
              <a:rPr lang="ru-RU" dirty="0"/>
              <a:t>Обсудить ценности</a:t>
            </a:r>
          </a:p>
          <a:p>
            <a:r>
              <a:rPr lang="ru-RU" dirty="0"/>
              <a:t>Расспросить о том, что как ему кажется будет происходить, происходит у его друзей, если не обращать внимание на отношения</a:t>
            </a:r>
          </a:p>
          <a:p>
            <a:r>
              <a:rPr lang="ru-RU" dirty="0"/>
              <a:t>Поддерживать в его попытках (возможно неуклюжих) обратить внимание на отношения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13222226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b="1" dirty="0"/>
              <a:t>Модель СТАР – как выстроить, или улучшить отношения 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223630" y="1700809"/>
            <a:ext cx="8920370" cy="4090394"/>
          </a:xfrm>
          <a:prstGeom prst="rect">
            <a:avLst/>
          </a:prstGeom>
        </p:spPr>
        <p:txBody>
          <a:bodyPr/>
          <a:lstStyle/>
          <a:p>
            <a:r>
              <a:rPr lang="ru-RU" sz="1800" b="1" dirty="0"/>
              <a:t>Какие у него </a:t>
            </a:r>
            <a:r>
              <a:rPr lang="en-US" sz="1800" b="1" dirty="0"/>
              <a:t>	</a:t>
            </a:r>
            <a:r>
              <a:rPr lang="ru-RU" sz="1800" b="1" dirty="0"/>
              <a:t>      Как их можно ЗАКРЫТЬ </a:t>
            </a:r>
            <a:r>
              <a:rPr lang="en-US" sz="1800" b="1" dirty="0"/>
              <a:t>	    </a:t>
            </a:r>
            <a:r>
              <a:rPr lang="ru-RU" sz="1800" b="1" dirty="0"/>
              <a:t>  КАК Я МОГУ И ХОЧУ ЭТО сделать</a:t>
            </a:r>
            <a:endParaRPr lang="en-US" sz="1800" b="1" dirty="0"/>
          </a:p>
          <a:p>
            <a:r>
              <a:rPr lang="ru-RU" sz="1800" b="1" dirty="0"/>
              <a:t>потребности      </a:t>
            </a:r>
            <a:r>
              <a:rPr lang="ru-RU" sz="1800" b="1" dirty="0">
                <a:solidFill>
                  <a:schemeClr val="accent6">
                    <a:lumMod val="50000"/>
                  </a:schemeClr>
                </a:solidFill>
              </a:rPr>
              <a:t>							</a:t>
            </a:r>
            <a:r>
              <a:rPr lang="ru-RU" sz="1400" b="1" dirty="0">
                <a:solidFill>
                  <a:schemeClr val="accent6">
                    <a:lumMod val="50000"/>
                  </a:schemeClr>
                </a:solidFill>
              </a:rPr>
              <a:t>			</a:t>
            </a:r>
            <a:r>
              <a:rPr lang="ru-RU" sz="1400" dirty="0">
                <a:solidFill>
                  <a:schemeClr val="accent6">
                    <a:lumMod val="50000"/>
                  </a:schemeClr>
                </a:solidFill>
              </a:rPr>
              <a:t>	</a:t>
            </a:r>
          </a:p>
          <a:p>
            <a:pPr marL="3657600" lvl="8" indent="0">
              <a:buNone/>
            </a:pPr>
            <a:r>
              <a:rPr lang="ru-RU" dirty="0"/>
              <a:t> </a:t>
            </a:r>
          </a:p>
          <a:p>
            <a:pPr marL="3657600" lvl="8" indent="0">
              <a:buNone/>
            </a:pP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24872792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Объект 4">
            <a:extLst>
              <a:ext uri="{FF2B5EF4-FFF2-40B4-BE49-F238E27FC236}">
                <a16:creationId xmlns:a16="http://schemas.microsoft.com/office/drawing/2014/main" id="{4F80AFB1-032C-4A64-8EB7-0EEB3B5757F0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0" y="-1035496"/>
            <a:ext cx="8134803" cy="8136904"/>
          </a:xfrm>
        </p:spPr>
      </p:pic>
    </p:spTree>
    <p:extLst>
      <p:ext uri="{BB962C8B-B14F-4D97-AF65-F5344CB8AC3E}">
        <p14:creationId xmlns:p14="http://schemas.microsoft.com/office/powerpoint/2010/main" val="219058275"/>
      </p:ext>
    </p:extLst>
  </p:cSld>
  <p:clrMapOvr>
    <a:masterClrMapping/>
  </p:clrMapOvr>
  <p:transition spd="med"/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4731626-0E10-428C-8CDB-E1ADC89A0B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9882DE9A-EC4F-44FB-B540-EDC4D65A7BE6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732" y="1340769"/>
            <a:ext cx="6639563" cy="4450432"/>
          </a:xfrm>
        </p:spPr>
      </p:pic>
    </p:spTree>
    <p:extLst>
      <p:ext uri="{BB962C8B-B14F-4D97-AF65-F5344CB8AC3E}">
        <p14:creationId xmlns:p14="http://schemas.microsoft.com/office/powerpoint/2010/main" val="4232224504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5050845-8B83-471F-9AC2-9747FEBD50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528" y="620688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dirty="0"/>
              <a:t>Что вызывает в лимбической системе негативные эмоциональные реакции?</a:t>
            </a:r>
          </a:p>
        </p:txBody>
      </p:sp>
      <p:pic>
        <p:nvPicPr>
          <p:cNvPr id="1026" name="Picture 2" descr="Лимбическая система — Википедия">
            <a:extLst>
              <a:ext uri="{FF2B5EF4-FFF2-40B4-BE49-F238E27FC236}">
                <a16:creationId xmlns:a16="http://schemas.microsoft.com/office/drawing/2014/main" id="{59E5791E-66F0-41B2-86F9-85B486B2F9EA}"/>
              </a:ext>
            </a:extLst>
          </p:cNvPr>
          <p:cNvPicPr>
            <a:picLocks noGrp="1" noChangeAspect="1" noChangeArrowheads="1"/>
          </p:cNvPicPr>
          <p:nvPr>
            <p:ph sz="quarter" idx="13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2385917"/>
            <a:ext cx="5943600" cy="3386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1680943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5441F0-D7DA-4005-A334-8886CCA6EF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6D9DDB0-CA09-4D55-9178-A50299434A5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ru-RU" dirty="0"/>
              <a:t>ВНЕШНИЕ стимулы</a:t>
            </a:r>
          </a:p>
          <a:p>
            <a:r>
              <a:rPr lang="ru-RU" dirty="0"/>
              <a:t>ВНУТРЕННИЕ стимулы</a:t>
            </a:r>
          </a:p>
        </p:txBody>
      </p:sp>
    </p:spTree>
    <p:extLst>
      <p:ext uri="{BB962C8B-B14F-4D97-AF65-F5344CB8AC3E}">
        <p14:creationId xmlns:p14="http://schemas.microsoft.com/office/powerpoint/2010/main" val="1062943904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89F2381-33C5-4464-B5E8-91A7768EA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3100" dirty="0"/>
              <a:t>ОКРУЖАЕМ СЕБЯ ЛЮДЬМИ С ПОЗИТИВНЫМ НАСТРОЕМ</a:t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86C5A2E-A791-4F62-9D26-579BCEA366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24744"/>
            <a:ext cx="6923112" cy="5001419"/>
          </a:xfrm>
        </p:spPr>
        <p:txBody>
          <a:bodyPr>
            <a:normAutofit/>
          </a:bodyPr>
          <a:lstStyle/>
          <a:p>
            <a:r>
              <a:rPr lang="ru-RU" sz="2400" dirty="0"/>
              <a:t>При длительном общении с негативно мыслящими личностями, их негативизм «переползает» на вас, как тараканы. </a:t>
            </a:r>
          </a:p>
          <a:p>
            <a:r>
              <a:rPr lang="ru-RU" sz="2400" dirty="0"/>
              <a:t>Вы входите в помещение в самом приподнятом состоянии духа, но уже очень скоро их «тараканы» переползают к вам. </a:t>
            </a:r>
          </a:p>
          <a:p>
            <a:r>
              <a:rPr lang="ru-RU" sz="2400" dirty="0"/>
              <a:t>Более того, они объединяются с вашими собственными «тараканами» и объединяют усилия. </a:t>
            </a:r>
          </a:p>
          <a:p>
            <a:r>
              <a:rPr lang="ru-RU" sz="2400" dirty="0"/>
              <a:t>Поэтому по возможности окружайте себя людьми с позитивным настроем. А с носителями негатива устанавливайте границы. </a:t>
            </a:r>
          </a:p>
          <a:p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F5707EB-B8A0-465F-A31F-A7A6E122E2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0192" y="846138"/>
            <a:ext cx="2592161" cy="161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9952560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B6907D-E4FB-42D2-A989-B9016D469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40418"/>
            <a:ext cx="8003232" cy="763089"/>
          </a:xfrm>
        </p:spPr>
        <p:txBody>
          <a:bodyPr>
            <a:normAutofit fontScale="90000"/>
          </a:bodyPr>
          <a:lstStyle/>
          <a:p>
            <a:r>
              <a:rPr lang="ru-RU" sz="2700" b="1" dirty="0"/>
              <a:t>РАЗВИВАЕМ ЛИМБИЧЕСКИЕ СВЯЗИ</a:t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2269975-1883-4588-AD3F-E76C0512DB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36712"/>
            <a:ext cx="5626968" cy="5289451"/>
          </a:xfrm>
        </p:spPr>
        <p:txBody>
          <a:bodyPr>
            <a:normAutofit fontScale="70000" lnSpcReduction="20000"/>
          </a:bodyPr>
          <a:lstStyle/>
          <a:p>
            <a:r>
              <a:rPr lang="ru-RU" dirty="0"/>
              <a:t>В 1997 году ученый Майкл Резник и его коллеги из университета штата </a:t>
            </a:r>
            <a:r>
              <a:rPr lang="ru-RU" dirty="0" err="1"/>
              <a:t>Миннессота</a:t>
            </a:r>
            <a:r>
              <a:rPr lang="ru-RU" dirty="0"/>
              <a:t> опубликовали исследование в </a:t>
            </a:r>
            <a:r>
              <a:rPr lang="ru-RU" dirty="0" err="1"/>
              <a:t>Thejournal</a:t>
            </a:r>
            <a:r>
              <a:rPr lang="ru-RU" dirty="0"/>
              <a:t> o f </a:t>
            </a:r>
            <a:r>
              <a:rPr lang="ru-RU" dirty="0" err="1"/>
              <a:t>theAmericanMedicalAssociation</a:t>
            </a:r>
            <a:r>
              <a:rPr lang="ru-RU" dirty="0"/>
              <a:t>. </a:t>
            </a:r>
          </a:p>
          <a:p>
            <a:r>
              <a:rPr lang="ru-RU" dirty="0"/>
              <a:t>Авторы приходят к выводу, что степень привязанности (лимбическая связь), которая существует у подростка по отношению к родителям и учителям, является самым существенным фактором, определяющим его предрасположенность к рискованному сексу, наркомании, насилию или суицидальному поведению.</a:t>
            </a:r>
          </a:p>
          <a:p>
            <a:r>
              <a:rPr lang="ru-RU" dirty="0"/>
              <a:t>УЧИМСЯ ЭКОЛОГИЧНО ОБЩАТЬСЯ, ЧТОБЫ ФОРМИРОВАТЬ ЛИМБИЧЕСКИЕ СВЯЗИ</a:t>
            </a:r>
          </a:p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95657E7-4CB0-4F62-AA6F-272A8883EC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8063" y="1003507"/>
            <a:ext cx="2598737" cy="2193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9752580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CC3357E-E04B-4B4B-88EC-784DF00AEA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17749"/>
            <a:ext cx="8229600" cy="274042"/>
          </a:xfrm>
        </p:spPr>
        <p:txBody>
          <a:bodyPr>
            <a:normAutofit fontScale="90000"/>
          </a:bodyPr>
          <a:lstStyle/>
          <a:p>
            <a:r>
              <a:rPr lang="ru-RU" sz="2700" b="1" dirty="0"/>
              <a:t>ВАЖНОСТЬ ФИЗИЧЕСКОГО КОНТАКТА</a:t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EAACC28-0768-4372-936E-78F4E010462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5330" y="1340769"/>
            <a:ext cx="5902894" cy="4450432"/>
          </a:xfrm>
        </p:spPr>
        <p:txBody>
          <a:bodyPr>
            <a:normAutofit fontScale="70000" lnSpcReduction="20000"/>
          </a:bodyPr>
          <a:lstStyle/>
          <a:p>
            <a:r>
              <a:rPr lang="ru-RU" b="1" dirty="0"/>
              <a:t>ОБНИМАШКИ – ЭТО ВАЖНО!</a:t>
            </a:r>
          </a:p>
          <a:p>
            <a:r>
              <a:rPr lang="ru-RU" dirty="0"/>
              <a:t>Глубокая лимбическая система участвует не только в эмоциональном, но и в физическом общении. </a:t>
            </a:r>
          </a:p>
          <a:p>
            <a:r>
              <a:rPr lang="ru-RU" dirty="0"/>
              <a:t>Прикосновение приносит пользу нашему здоровью. </a:t>
            </a:r>
          </a:p>
          <a:p>
            <a:r>
              <a:rPr lang="ru-RU" dirty="0"/>
              <a:t>При отсутствии физического контакта неизменно выявляются проблемы, связанные с дисфункцией глубокой лимбической системы, такие, как раздражительность и депрессия.</a:t>
            </a:r>
          </a:p>
          <a:p>
            <a:r>
              <a:rPr lang="ru-RU" dirty="0"/>
              <a:t> Симптомы депрессии уходят, как только происходит коррекция  поведения, при котором люди не дотрагиваются друг до друга.</a:t>
            </a:r>
          </a:p>
          <a:p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87498D4-F078-492E-81BF-4787044470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8224" y="863211"/>
            <a:ext cx="2260600" cy="1506125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0386000-43F3-4854-A2B5-E804FE12BE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4328" y="3805246"/>
            <a:ext cx="1366838" cy="1366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3736043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ABDBB6-7235-4A70-8692-A093CD8BC4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57199"/>
          </a:xfrm>
        </p:spPr>
        <p:txBody>
          <a:bodyPr>
            <a:normAutofit fontScale="90000"/>
          </a:bodyPr>
          <a:lstStyle/>
          <a:p>
            <a:r>
              <a:rPr lang="ru-RU" sz="2800" b="1" dirty="0"/>
              <a:t>ОКРУЖАЙТЕ СЕБЯ ПРИЯТНЫМИ ЗАПАХАМИ</a:t>
            </a:r>
            <a:endParaRPr lang="ru-RU" sz="28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6B63524-A9DA-4E57-8692-BBAB3F4911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80728"/>
            <a:ext cx="5987008" cy="5145435"/>
          </a:xfrm>
        </p:spPr>
        <p:txBody>
          <a:bodyPr>
            <a:normAutofit fontScale="77500" lnSpcReduction="20000"/>
          </a:bodyPr>
          <a:lstStyle/>
          <a:p>
            <a:r>
              <a:rPr lang="ru-RU" dirty="0"/>
              <a:t>Глубокая лимбическая система — часть мозга, которая непосредственно связана с обонянием. </a:t>
            </a:r>
          </a:p>
          <a:p>
            <a:r>
              <a:rPr lang="ru-RU" dirty="0"/>
              <a:t>В британском журнале </a:t>
            </a:r>
            <a:r>
              <a:rPr lang="ru-RU" dirty="0" err="1"/>
              <a:t>TheLancet</a:t>
            </a:r>
            <a:r>
              <a:rPr lang="ru-RU" dirty="0"/>
              <a:t> было опубликовано исследование об использовании масла цветов лаванды в ароматерапии. При правильном использовании лавандовое масло помогает облегчить проявления депрессии и стресса и улучшить сон.</a:t>
            </a:r>
          </a:p>
          <a:p>
            <a:r>
              <a:rPr lang="ru-RU" dirty="0"/>
              <a:t>Ароматы оказывают сильное воздействие на настроения человека.</a:t>
            </a:r>
          </a:p>
          <a:p>
            <a:r>
              <a:rPr lang="ru-RU" dirty="0"/>
              <a:t>Запах активизирует обонятельные нервы, которые идут непосредственно в глубокую лимбическую систему.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CE1B909-9620-4B9F-83D8-ED244EBFA0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5440" y="2852936"/>
            <a:ext cx="2161360" cy="162001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8D4C0A5-DF1D-4A7C-8A95-B4155F6071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8264" y="1052736"/>
            <a:ext cx="1285875" cy="85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3879104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4C7CD6-FE7D-418F-B7CB-B980D9A33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9912" y="116632"/>
            <a:ext cx="4265098" cy="1143000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086C7A4-5ECE-4794-A8DD-1520E52AE2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3568" y="2012519"/>
            <a:ext cx="6813612" cy="2832962"/>
          </a:xfrm>
        </p:spPr>
        <p:txBody>
          <a:bodyPr>
            <a:normAutofit/>
          </a:bodyPr>
          <a:lstStyle/>
          <a:p>
            <a:r>
              <a:rPr lang="ru-RU" dirty="0"/>
              <a:t>Немного истории и\или почему мы (консультанты) в </a:t>
            </a:r>
            <a:r>
              <a:rPr lang="ru-RU" b="1" dirty="0"/>
              <a:t>основном </a:t>
            </a:r>
            <a:r>
              <a:rPr lang="ru-RU" dirty="0"/>
              <a:t>опираемся на биологические и социально сформированные</a:t>
            </a:r>
            <a:r>
              <a:rPr lang="ru-RU" b="1" dirty="0"/>
              <a:t> </a:t>
            </a:r>
            <a:r>
              <a:rPr lang="ru-RU" dirty="0"/>
              <a:t>различия между мужчинами и женщинами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50337359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EDA55E6-7A46-4104-886B-DF1D86B0B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392" y="476672"/>
            <a:ext cx="6294268" cy="619645"/>
          </a:xfrm>
        </p:spPr>
        <p:txBody>
          <a:bodyPr>
            <a:noAutofit/>
          </a:bodyPr>
          <a:lstStyle/>
          <a:p>
            <a:r>
              <a:rPr lang="ru-RU" sz="3600" dirty="0"/>
              <a:t>Мужчины и женщины прежде всего люди</a:t>
            </a:r>
            <a:r>
              <a:rPr lang="ru-RU" sz="3600" dirty="0">
                <a:sym typeface="Wingdings" panose="05000000000000000000" pitchFamily="2" charset="2"/>
              </a:rPr>
              <a:t></a:t>
            </a:r>
            <a:endParaRPr lang="ru-RU" sz="36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0BFCB42-4DED-4506-BFC3-4E6B076E9E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2776"/>
            <a:ext cx="7283152" cy="4536504"/>
          </a:xfrm>
        </p:spPr>
        <p:txBody>
          <a:bodyPr>
            <a:normAutofit lnSpcReduction="10000"/>
          </a:bodyPr>
          <a:lstStyle/>
          <a:p>
            <a:pPr fontAlgn="base">
              <a:lnSpc>
                <a:spcPct val="107000"/>
              </a:lnSpc>
              <a:spcAft>
                <a:spcPts val="600"/>
              </a:spcAft>
            </a:pPr>
            <a:r>
              <a:rPr lang="ru-RU" sz="1800" dirty="0">
                <a:solidFill>
                  <a:srgbClr val="11111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Согласно данным, которые приводит в своей книге психолог Татьяна </a:t>
            </a:r>
            <a:r>
              <a:rPr lang="ru-RU" sz="1800" dirty="0" err="1">
                <a:solidFill>
                  <a:srgbClr val="11111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Бендас</a:t>
            </a:r>
            <a:r>
              <a:rPr lang="ru-RU" sz="1800" dirty="0">
                <a:solidFill>
                  <a:srgbClr val="11111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(Гендерная психология), с 1950 по 1980 год в англоязычных источниках были опубликованы результаты 30 тысяч гендерных исследований. Один из самых масштабных трудов — « Психология половых различий» Элеонор </a:t>
            </a:r>
            <a:r>
              <a:rPr lang="ru-RU" sz="1800" dirty="0" err="1">
                <a:solidFill>
                  <a:srgbClr val="11111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Маккоби</a:t>
            </a:r>
            <a:r>
              <a:rPr lang="ru-RU" sz="1800" dirty="0">
                <a:solidFill>
                  <a:srgbClr val="11111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и Кэрол Жаклин, анализ 2000 результатов предыдущих научных работ.</a:t>
            </a:r>
            <a:endParaRPr lang="ru-RU" sz="1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fontAlgn="base">
              <a:lnSpc>
                <a:spcPct val="107000"/>
              </a:lnSpc>
              <a:spcAft>
                <a:spcPts val="600"/>
              </a:spcAft>
            </a:pPr>
            <a:r>
              <a:rPr lang="ru-RU" sz="1800" b="1" dirty="0" err="1">
                <a:solidFill>
                  <a:srgbClr val="111111"/>
                </a:solidFill>
                <a:latin typeface="inherit"/>
                <a:ea typeface="Times New Roman" panose="02020603050405020304" pitchFamily="18" charset="0"/>
                <a:cs typeface="Arial" panose="020B0604020202020204" pitchFamily="34" charset="0"/>
              </a:rPr>
              <a:t>Маккоби</a:t>
            </a:r>
            <a:r>
              <a:rPr lang="ru-RU" sz="1800" b="1" dirty="0">
                <a:solidFill>
                  <a:srgbClr val="111111"/>
                </a:solidFill>
                <a:latin typeface="inherit"/>
                <a:ea typeface="Times New Roman" panose="02020603050405020304" pitchFamily="18" charset="0"/>
                <a:cs typeface="Arial" panose="020B0604020202020204" pitchFamily="34" charset="0"/>
              </a:rPr>
              <a:t> и Жаклин обнаружили, что между мужчинами и женщинами нет различий по большинству параметров, включая восприятие, память, способность к обучению, эмоциональность, внушаемость и самооценку.</a:t>
            </a:r>
            <a:endParaRPr lang="ru-RU" sz="1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fontAlgn="base">
              <a:lnSpc>
                <a:spcPct val="107000"/>
              </a:lnSpc>
              <a:spcAft>
                <a:spcPts val="600"/>
              </a:spcAft>
            </a:pPr>
            <a:r>
              <a:rPr lang="ru-RU" sz="1800" dirty="0">
                <a:solidFill>
                  <a:srgbClr val="11111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Подтвердились только некоторые гендерные различия: женщины превосходят мужчин в вербальных способностях; у мужчин лучше развиты визуально-пространственные, математические способности, выше агрессивность.</a:t>
            </a:r>
            <a:endParaRPr lang="ru-RU" sz="1800" dirty="0">
              <a:solidFill>
                <a:srgbClr val="11111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04368691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46607E-9F34-4B64-A921-098550788D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270" y="332656"/>
            <a:ext cx="7725792" cy="857250"/>
          </a:xfrm>
        </p:spPr>
        <p:txBody>
          <a:bodyPr>
            <a:normAutofit fontScale="90000"/>
          </a:bodyPr>
          <a:lstStyle/>
          <a:p>
            <a:r>
              <a:rPr lang="ru-RU" dirty="0"/>
              <a:t>Феминность, маскулинность, </a:t>
            </a:r>
            <a:r>
              <a:rPr lang="ru-RU" dirty="0" err="1"/>
              <a:t>андрогинность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FB914FA-58A6-4045-936F-735F756327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56792"/>
            <a:ext cx="7355160" cy="4320480"/>
          </a:xfrm>
        </p:spPr>
        <p:txBody>
          <a:bodyPr>
            <a:normAutofit/>
          </a:bodyPr>
          <a:lstStyle/>
          <a:p>
            <a:pPr fontAlgn="base">
              <a:lnSpc>
                <a:spcPct val="107000"/>
              </a:lnSpc>
              <a:spcAft>
                <a:spcPts val="600"/>
              </a:spcAft>
            </a:pPr>
            <a:r>
              <a:rPr lang="ru-RU" sz="1600" dirty="0">
                <a:solidFill>
                  <a:srgbClr val="11111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 1974 году американский психолог Сандра Бем </a:t>
            </a:r>
            <a:r>
              <a:rPr lang="ru-RU" sz="1600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создала</a:t>
            </a:r>
            <a:r>
              <a:rPr lang="ru-RU" sz="1600" dirty="0">
                <a:solidFill>
                  <a:srgbClr val="11111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полоролевой опросник для определения степени маскулинности, феминности и </a:t>
            </a:r>
            <a:r>
              <a:rPr lang="ru-RU" sz="1600" dirty="0" err="1">
                <a:solidFill>
                  <a:srgbClr val="11111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андрогинности</a:t>
            </a:r>
            <a:r>
              <a:rPr lang="ru-RU" sz="1600" dirty="0">
                <a:solidFill>
                  <a:srgbClr val="11111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Тест состоит из 60 личностных качеств (20 мужских, 20 женских, 20 гендерно-нейтральных), которые участники опроса оценивают по семибалльной шкале. Бем была уверена, что маскулинность и феминность не противопоставлены друг другу и люди любого пола могут обладать одновременно и теми, и другими чертами, то есть быть андрогинными.</a:t>
            </a:r>
            <a:endParaRPr lang="ru-RU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fontAlgn="base">
              <a:lnSpc>
                <a:spcPct val="107000"/>
              </a:lnSpc>
              <a:spcAft>
                <a:spcPts val="600"/>
              </a:spcAft>
            </a:pPr>
            <a:r>
              <a:rPr lang="ru-RU" sz="1600" b="1" dirty="0">
                <a:solidFill>
                  <a:srgbClr val="111111"/>
                </a:solidFill>
                <a:latin typeface="inherit"/>
                <a:ea typeface="Times New Roman" panose="02020603050405020304" pitchFamily="18" charset="0"/>
                <a:cs typeface="Arial" panose="020B0604020202020204" pitchFamily="34" charset="0"/>
              </a:rPr>
              <a:t>Сандра Бем утверждала, что </a:t>
            </a:r>
            <a:r>
              <a:rPr lang="ru-RU" sz="1600" b="1" dirty="0" err="1">
                <a:solidFill>
                  <a:srgbClr val="111111"/>
                </a:solidFill>
                <a:latin typeface="inherit"/>
                <a:ea typeface="Times New Roman" panose="02020603050405020304" pitchFamily="18" charset="0"/>
                <a:cs typeface="Arial" panose="020B0604020202020204" pitchFamily="34" charset="0"/>
              </a:rPr>
              <a:t>андрогинность</a:t>
            </a:r>
            <a:r>
              <a:rPr lang="ru-RU" sz="1600" b="1" dirty="0">
                <a:solidFill>
                  <a:srgbClr val="111111"/>
                </a:solidFill>
                <a:latin typeface="inherit"/>
                <a:ea typeface="Times New Roman" panose="02020603050405020304" pitchFamily="18" charset="0"/>
                <a:cs typeface="Arial" panose="020B0604020202020204" pitchFamily="34" charset="0"/>
              </a:rPr>
              <a:t> делает человека более адаптивным, гибким к окружающим обстоятельствам. Позже пользу </a:t>
            </a:r>
            <a:r>
              <a:rPr lang="ru-RU" sz="1600" b="1" dirty="0" err="1">
                <a:solidFill>
                  <a:srgbClr val="111111"/>
                </a:solidFill>
                <a:latin typeface="inherit"/>
                <a:ea typeface="Times New Roman" panose="02020603050405020304" pitchFamily="18" charset="0"/>
                <a:cs typeface="Arial" panose="020B0604020202020204" pitchFamily="34" charset="0"/>
              </a:rPr>
              <a:t>андрогинности</a:t>
            </a:r>
            <a:r>
              <a:rPr lang="ru-RU" sz="1600" b="1" dirty="0">
                <a:solidFill>
                  <a:srgbClr val="111111"/>
                </a:solidFill>
                <a:latin typeface="inherit"/>
                <a:ea typeface="Times New Roman" panose="02020603050405020304" pitchFamily="18" charset="0"/>
                <a:cs typeface="Arial" panose="020B0604020202020204" pitchFamily="34" charset="0"/>
              </a:rPr>
              <a:t> доказали и современные клинические исследования.</a:t>
            </a:r>
            <a:endParaRPr lang="ru-RU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fontAlgn="base">
              <a:lnSpc>
                <a:spcPct val="107000"/>
              </a:lnSpc>
              <a:spcAft>
                <a:spcPts val="600"/>
              </a:spcAft>
            </a:pPr>
            <a:r>
              <a:rPr lang="ru-RU" sz="1600" dirty="0">
                <a:solidFill>
                  <a:srgbClr val="11111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Также Бем разработала теорию гендерной схемы.</a:t>
            </a:r>
            <a:endParaRPr lang="ru-RU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7975322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536E8BEE-8639-4FC9-94ED-E646217C3C6E}"/>
              </a:ext>
            </a:extLst>
          </p:cNvPr>
          <p:cNvPicPr>
            <a:picLocks noGrp="1" noChangeAspect="1" noChangeArrowheads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32656"/>
            <a:ext cx="9142804" cy="51285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75900198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8112EA54-305D-4C2F-B590-B49C17E21AFF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419470" y="1298359"/>
            <a:ext cx="6793706" cy="4086503"/>
          </a:xfrm>
        </p:spPr>
        <p:txBody>
          <a:bodyPr>
            <a:normAutofit lnSpcReduction="10000"/>
          </a:bodyPr>
          <a:lstStyle/>
          <a:p>
            <a:pPr fontAlgn="base">
              <a:lnSpc>
                <a:spcPct val="107000"/>
              </a:lnSpc>
              <a:spcAft>
                <a:spcPts val="600"/>
              </a:spcAft>
            </a:pPr>
            <a:r>
              <a:rPr lang="ru-RU" sz="1800" dirty="0">
                <a:solidFill>
                  <a:srgbClr val="11111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 СССР в конце 1960-х годов сформировалась относительно благоприятная атмосфера для развития гендерной психологии. В это время психолог Б. Г. Ананьев основал ленинградскую (петербургскую) психологическую школу и запустил в ней серию исследований, направленных на изучение мужских и женских особенностей. В итоге ученый пришел к выводу, что мужчины и женщины отличаются друг от друга по многим параметрам, и причина этого — биология.</a:t>
            </a:r>
            <a:endParaRPr lang="ru-RU" sz="1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fontAlgn="base">
              <a:lnSpc>
                <a:spcPct val="107000"/>
              </a:lnSpc>
              <a:spcAft>
                <a:spcPts val="600"/>
              </a:spcAft>
            </a:pPr>
            <a:r>
              <a:rPr lang="ru-RU" sz="1800" dirty="0">
                <a:solidFill>
                  <a:srgbClr val="11111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После работы Ананьева половой диморфизм стал главным принципом психологических исследований в СССР. Многие российские психологи придерживаются его и сегодня.</a:t>
            </a:r>
            <a:endParaRPr lang="ru-RU" sz="1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60310946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BE4B1FC3-D822-4D31-9744-6626FE98D75B}"/>
              </a:ext>
            </a:extLst>
          </p:cNvPr>
          <p:cNvPicPr>
            <a:picLocks noGrp="1" noChangeAspect="1" noChangeArrowheads="1"/>
          </p:cNvPicPr>
          <p:nvPr>
            <p:ph sz="half" idx="4294967295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103" y="1322935"/>
            <a:ext cx="4038600" cy="30253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95BC2D80-0F98-402D-ACAF-8F0DA35D3423}"/>
              </a:ext>
            </a:extLst>
          </p:cNvPr>
          <p:cNvPicPr>
            <a:picLocks noGrp="1" noChangeAspect="1" noChangeArrowheads="1"/>
          </p:cNvPicPr>
          <p:nvPr>
            <p:ph sz="half"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6590" y="1874195"/>
            <a:ext cx="3634978" cy="27253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40947442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4386A59B-321C-410D-91DE-8FE71A407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1D25A30-FBA2-4DC5-96C7-1DDDCCC810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84784"/>
            <a:ext cx="6347048" cy="4536504"/>
          </a:xfrm>
        </p:spPr>
        <p:txBody>
          <a:bodyPr>
            <a:normAutofit/>
          </a:bodyPr>
          <a:lstStyle/>
          <a:p>
            <a:pPr fontAlgn="base"/>
            <a:r>
              <a:rPr lang="ru-RU" sz="1800" dirty="0">
                <a:solidFill>
                  <a:srgbClr val="111111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В 2005 году  Джанет </a:t>
            </a:r>
            <a:r>
              <a:rPr lang="ru-RU" sz="1800" dirty="0" err="1">
                <a:solidFill>
                  <a:srgbClr val="111111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Хайд</a:t>
            </a:r>
            <a:r>
              <a:rPr lang="ru-RU" sz="1800" dirty="0">
                <a:solidFill>
                  <a:srgbClr val="111111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 разработала теорию о гендерном сходстве. Ее данные показали, что 78% предполагаемых гендерных различий несущественны.</a:t>
            </a:r>
            <a:endParaRPr lang="ru-RU" sz="1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fontAlgn="base">
              <a:lnSpc>
                <a:spcPct val="107000"/>
              </a:lnSpc>
              <a:spcAft>
                <a:spcPts val="600"/>
              </a:spcAft>
            </a:pPr>
            <a:r>
              <a:rPr lang="ru-RU" sz="1800" dirty="0">
                <a:solidFill>
                  <a:srgbClr val="11111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До появления теории </a:t>
            </a:r>
            <a:r>
              <a:rPr lang="ru-RU" sz="1800" dirty="0" err="1">
                <a:solidFill>
                  <a:srgbClr val="11111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Хайд</a:t>
            </a:r>
            <a:r>
              <a:rPr lang="ru-RU" sz="1800" dirty="0">
                <a:solidFill>
                  <a:srgbClr val="11111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большинство исследований было направлено на поиск гендерных различий. После нее многие ученые сосредоточились на изучении гендерных сходств. Подобные работы помогают бороться с созданными в обществе стереотипами и дискриминацией.</a:t>
            </a:r>
          </a:p>
          <a:p>
            <a:pPr fontAlgn="base">
              <a:lnSpc>
                <a:spcPct val="107000"/>
              </a:lnSpc>
              <a:spcAft>
                <a:spcPts val="600"/>
              </a:spcAft>
            </a:pPr>
            <a:endParaRPr lang="ru-RU" sz="135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81255346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8EA0AB-041D-42D8-8CA4-8ADC34F24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Мой инстаграм </a:t>
            </a:r>
            <a:r>
              <a:rPr lang="ru-RU" dirty="0">
                <a:sym typeface="Wingdings" panose="05000000000000000000" pitchFamily="2" charset="2"/>
              </a:rPr>
              <a:t></a:t>
            </a:r>
            <a:br>
              <a:rPr lang="ru-RU" dirty="0"/>
            </a:br>
            <a:endParaRPr lang="ru-RU" dirty="0"/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43DF5803-BCDF-4A16-92EE-D5E5F46567F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err="1"/>
              <a:t>psy_ponomareva</a:t>
            </a:r>
            <a:endParaRPr lang="ru-RU" dirty="0"/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1B521CD2-14A6-4FB6-84A1-3E20D63919B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6056" y="1467334"/>
            <a:ext cx="2308010" cy="3462016"/>
          </a:xfrm>
        </p:spPr>
      </p:pic>
    </p:spTree>
    <p:extLst>
      <p:ext uri="{BB962C8B-B14F-4D97-AF65-F5344CB8AC3E}">
        <p14:creationId xmlns:p14="http://schemas.microsoft.com/office/powerpoint/2010/main" val="3171728982"/>
      </p:ext>
    </p:extLst>
  </p:cSld>
  <p:clrMapOvr>
    <a:masterClrMapping/>
  </p:clrMapOvr>
</p:sld>
</file>

<file path=ppt/theme/theme1.xml><?xml version="1.0" encoding="utf-8"?>
<a:theme xmlns:a="http://schemas.openxmlformats.org/drawingml/2006/main" name="Шаблон презентации 30.04.2020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Шаблон презентации 30.04.2020" id="{8EC166D9-960F-45B0-A4D3-64F2AD2DA673}" vid="{89611A37-9DA5-47CA-9E67-9EE3312C5945}"/>
    </a:ext>
  </a:extLst>
</a:theme>
</file>

<file path=ppt/theme/theme2.xml><?xml version="1.0" encoding="utf-8"?>
<a:theme xmlns:a="http://schemas.openxmlformats.org/drawingml/2006/main" name="Default">
  <a:themeElements>
    <a:clrScheme name="Defaul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AD0101"/>
      </a:accent1>
      <a:accent2>
        <a:srgbClr val="726056"/>
      </a:accent2>
      <a:accent3>
        <a:srgbClr val="AC956E"/>
      </a:accent3>
      <a:accent4>
        <a:srgbClr val="808DA9"/>
      </a:accent4>
      <a:accent5>
        <a:srgbClr val="424E5B"/>
      </a:accent5>
      <a:accent6>
        <a:srgbClr val="730E00"/>
      </a:accent6>
      <a:hlink>
        <a:srgbClr val="0000FF"/>
      </a:hlink>
      <a:folHlink>
        <a:srgbClr val="FF00FF"/>
      </a:folHlink>
    </a:clrScheme>
    <a:fontScheme name="Default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Defaul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12700" dir="5280000" rotWithShape="0">
              <a:srgbClr val="000000">
                <a:alpha val="4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2225" cap="flat">
          <a:solidFill>
            <a:srgbClr val="AD0101"/>
          </a:solidFill>
          <a:prstDash val="solid"/>
          <a:bevel/>
        </a:ln>
        <a:effectLst>
          <a:outerShdw blurRad="38100" dist="38100" dir="5400000" rotWithShape="0">
            <a:srgbClr val="000000">
              <a:alpha val="35000"/>
            </a:srgbClr>
          </a:outerShdw>
        </a:effectLst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Times New Roman"/>
            <a:ea typeface="Times New Roman"/>
            <a:cs typeface="Times New Roman"/>
            <a:sym typeface="Times New Roman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2225" cap="flat">
          <a:solidFill>
            <a:srgbClr val="AD0101"/>
          </a:solidFill>
          <a:prstDash val="solid"/>
          <a:bevel/>
        </a:ln>
        <a:effectLst>
          <a:outerShdw blurRad="50800" dist="12700" dir="5280000" rotWithShape="0">
            <a:srgbClr val="000000">
              <a:alpha val="40000"/>
            </a:srgbClr>
          </a:outerShdw>
        </a:effectLst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Times New Roman"/>
            <a:ea typeface="Times New Roman"/>
            <a:cs typeface="Times New Roman"/>
            <a:sym typeface="Times New Roman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Шаблон презентации 30.04.2020</Template>
  <TotalTime>66988</TotalTime>
  <Words>6999</Words>
  <Application>Microsoft Office PowerPoint</Application>
  <PresentationFormat>Экран (4:3)</PresentationFormat>
  <Paragraphs>775</Paragraphs>
  <Slides>104</Slides>
  <Notes>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104</vt:i4>
      </vt:variant>
    </vt:vector>
  </HeadingPairs>
  <TitlesOfParts>
    <vt:vector size="118" baseType="lpstr">
      <vt:lpstr>-apple-system</vt:lpstr>
      <vt:lpstr>Arial</vt:lpstr>
      <vt:lpstr>Calibri</vt:lpstr>
      <vt:lpstr>HeliosBlack</vt:lpstr>
      <vt:lpstr>Helvetica Neue</vt:lpstr>
      <vt:lpstr>inherit</vt:lpstr>
      <vt:lpstr>Open Sans</vt:lpstr>
      <vt:lpstr>Roboto Slab</vt:lpstr>
      <vt:lpstr>Symbol</vt:lpstr>
      <vt:lpstr>Times New Roman</vt:lpstr>
      <vt:lpstr>Verdana</vt:lpstr>
      <vt:lpstr>Wingdings</vt:lpstr>
      <vt:lpstr>YS Text</vt:lpstr>
      <vt:lpstr>Шаблон презентации 30.04.2020</vt:lpstr>
      <vt:lpstr>«Гендерная психология. Коучинг отношений»</vt:lpstr>
      <vt:lpstr>Пономарева Наталия Владимировна</vt:lpstr>
      <vt:lpstr>Презентация PowerPoint</vt:lpstr>
      <vt:lpstr>Знакомство</vt:lpstr>
      <vt:lpstr>Круг в обучении</vt:lpstr>
      <vt:lpstr>Концентрация внимания на различиях</vt:lpstr>
      <vt:lpstr>Стараемся!</vt:lpstr>
      <vt:lpstr>Павел Васильевич Симонов (психофизиолог, биофизик и психолог, 1926-2002)</vt:lpstr>
      <vt:lpstr>Витальные потребности</vt:lpstr>
      <vt:lpstr>Зоосоциальные потребности</vt:lpstr>
      <vt:lpstr>Потребности саморазвития </vt:lpstr>
      <vt:lpstr>Презентация PowerPoint</vt:lpstr>
      <vt:lpstr>Подробнее о темпераментах</vt:lpstr>
      <vt:lpstr>Иван Петрович Павлов</vt:lpstr>
      <vt:lpstr>Типы нервной системы</vt:lpstr>
      <vt:lpstr>Презентация PowerPoint</vt:lpstr>
      <vt:lpstr>Слабость нервной системы не является отрицательным свойством </vt:lpstr>
      <vt:lpstr>Презентация PowerPoint</vt:lpstr>
      <vt:lpstr>Презентация PowerPoint</vt:lpstr>
      <vt:lpstr>Экстраверты - Интроверты</vt:lpstr>
      <vt:lpstr>Еще один пример типологии</vt:lpstr>
      <vt:lpstr>Презентация PowerPoint</vt:lpstr>
      <vt:lpstr>Презентация PowerPoint</vt:lpstr>
      <vt:lpstr>Презентация PowerPoint</vt:lpstr>
      <vt:lpstr>Презентация PowerPoint</vt:lpstr>
      <vt:lpstr>Как можно определить тип клиента</vt:lpstr>
      <vt:lpstr>Гендерная психология -</vt:lpstr>
      <vt:lpstr>Пол и гендер</vt:lpstr>
      <vt:lpstr>Биологический пол человека — это</vt:lpstr>
      <vt:lpstr>Презентация PowerPoint</vt:lpstr>
      <vt:lpstr>Функционал мужчины и женщины:  «гендерный стереотип»</vt:lpstr>
      <vt:lpstr>Слова Поддержки и восхищения</vt:lpstr>
      <vt:lpstr>Фразы, необходимые близкому  человеку, как воздух!</vt:lpstr>
      <vt:lpstr>Презентация PowerPoint</vt:lpstr>
      <vt:lpstr>Основные принципы взаимодействия в семье – это…</vt:lpstr>
      <vt:lpstr>Что такое уважительное общение и почему мы так часто пренебрегаем его законами  </vt:lpstr>
      <vt:lpstr>Презентация PowerPoint</vt:lpstr>
      <vt:lpstr>Конфликтогены </vt:lpstr>
      <vt:lpstr>Как говорить о том, что сделано не так, чтобы не обидеть человека КРИТИКА или ПОДДЕРЖКА?</vt:lpstr>
      <vt:lpstr>Помогающий отзыв 80\20</vt:lpstr>
      <vt:lpstr>Упражнение 80-20</vt:lpstr>
      <vt:lpstr>5 способов проявления любви и дружбы </vt:lpstr>
      <vt:lpstr>Презентация PowerPoint</vt:lpstr>
      <vt:lpstr>Презентация PowerPoint</vt:lpstr>
      <vt:lpstr>Определить свой язык любви можно тремя способами: </vt:lpstr>
      <vt:lpstr>Почему нам важно это знать? (мотиватор к работе)</vt:lpstr>
      <vt:lpstr> Основные навыки Эмоционального интеллекта </vt:lpstr>
      <vt:lpstr> </vt:lpstr>
      <vt:lpstr>Эмоции и чувства</vt:lpstr>
      <vt:lpstr> Эмоциональная замороженность</vt:lpstr>
      <vt:lpstr>Презентация PowerPoint</vt:lpstr>
      <vt:lpstr>Закон существования чувств </vt:lpstr>
      <vt:lpstr>Умение чувствовать – быть в контакте с чувствами. Иметь расширенный запас слов, обозначающих оттенки чувств. Умение называть свои чувства. </vt:lpstr>
      <vt:lpstr>Чувства всякие важны,  чувства разные нужны </vt:lpstr>
      <vt:lpstr>Культура выражения чувств </vt:lpstr>
      <vt:lpstr>«Время лечит…»</vt:lpstr>
      <vt:lpstr>Работа со словарем чувств</vt:lpstr>
      <vt:lpstr>Презентация PowerPoint</vt:lpstr>
      <vt:lpstr>Как говорить о своем недовольстве: Я - сообщение</vt:lpstr>
      <vt:lpstr>Упражнение</vt:lpstr>
      <vt:lpstr>Как сочувствовать другому человеку Формула эмпатического ответа </vt:lpstr>
      <vt:lpstr>ПРИМЕРЫ</vt:lpstr>
      <vt:lpstr>Упражнение</vt:lpstr>
      <vt:lpstr>Схема здоровой конфронтации </vt:lpstr>
      <vt:lpstr>Примеры</vt:lpstr>
      <vt:lpstr>Презентация PowerPoint</vt:lpstr>
      <vt:lpstr>Задание</vt:lpstr>
      <vt:lpstr>Примеры фраз, относящихся к здоровой конфронтации: </vt:lpstr>
      <vt:lpstr>Примеры фраз, используемых для выхода из конфронтации: </vt:lpstr>
      <vt:lpstr>Презентация PowerPoint</vt:lpstr>
      <vt:lpstr>Почему нам важно это знать? (мотиватор к работе)</vt:lpstr>
      <vt:lpstr>Развивать эмоциональный интеллект и учиться экологичному общению непросто </vt:lpstr>
      <vt:lpstr>Презентация PowerPoint</vt:lpstr>
      <vt:lpstr>Ответственность – безответственность Проактивность – реактивность (Стивен Кови)</vt:lpstr>
      <vt:lpstr>Как перейти в позицию ответственности?  Задайте себе 3 вопроса:   Что я сделал (или не сделал), как я себя вел, что имею такой результат? Чему я научился? Что я могу сделать теперь, чтобы исправить последствия? </vt:lpstr>
      <vt:lpstr>Презентация PowerPoint</vt:lpstr>
      <vt:lpstr>Презентация PowerPoint</vt:lpstr>
      <vt:lpstr>Презентация PowerPoint</vt:lpstr>
      <vt:lpstr>Распространенные ошибки общения </vt:lpstr>
      <vt:lpstr>Мы ожидаем чтения мыслей, потому, что:</vt:lpstr>
      <vt:lpstr>Что делать?</vt:lpstr>
      <vt:lpstr>Почему мы убеждены в собственной правоте</vt:lpstr>
      <vt:lpstr>Центр внимания не на партнере </vt:lpstr>
      <vt:lpstr>Распространенные ошибки общения </vt:lpstr>
      <vt:lpstr>Презентация PowerPoint</vt:lpstr>
      <vt:lpstr>Она расстраивается – он негодует</vt:lpstr>
      <vt:lpstr>Как обратить внимание М на важность отношений</vt:lpstr>
      <vt:lpstr>Модель СТАР – как выстроить, или улучшить отношения </vt:lpstr>
      <vt:lpstr>Презентация PowerPoint</vt:lpstr>
      <vt:lpstr>Презентация PowerPoint</vt:lpstr>
      <vt:lpstr>Что вызывает в лимбической системе негативные эмоциональные реакции?</vt:lpstr>
      <vt:lpstr>Презентация PowerPoint</vt:lpstr>
      <vt:lpstr>ОКРУЖАЕМ СЕБЯ ЛЮДЬМИ С ПОЗИТИВНЫМ НАСТРОЕМ </vt:lpstr>
      <vt:lpstr>РАЗВИВАЕМ ЛИМБИЧЕСКИЕ СВЯЗИ </vt:lpstr>
      <vt:lpstr>ВАЖНОСТЬ ФИЗИЧЕСКОГО КОНТАКТА </vt:lpstr>
      <vt:lpstr>ОКРУЖАЙТЕ СЕБЯ ПРИЯТНЫМИ ЗАПАХАМИ</vt:lpstr>
      <vt:lpstr>Презентация PowerPoint</vt:lpstr>
      <vt:lpstr>Мужчины и женщины прежде всего люди</vt:lpstr>
      <vt:lpstr>Феминность, маскулинность, андрогинность</vt:lpstr>
      <vt:lpstr>Презентация PowerPoint</vt:lpstr>
      <vt:lpstr>Презентация PowerPoint</vt:lpstr>
      <vt:lpstr>Презентация PowerPoint</vt:lpstr>
      <vt:lpstr>Презентация PowerPoint</vt:lpstr>
      <vt:lpstr>Мой инстаграм 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Международная сертификационная Программа "Professional Coach ICU"</dc:title>
  <dc:creator>PC</dc:creator>
  <cp:lastModifiedBy>user</cp:lastModifiedBy>
  <cp:revision>360</cp:revision>
  <dcterms:created xsi:type="dcterms:W3CDTF">2016-08-08T21:18:00Z</dcterms:created>
  <dcterms:modified xsi:type="dcterms:W3CDTF">2024-09-23T09:49:34Z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1033-10.1.0.5657</vt:lpwstr>
  </property>
</Properties>
</file>