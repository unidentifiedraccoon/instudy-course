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4"/>
  </p:notesMasterIdLst>
  <p:sldIdLst>
    <p:sldId id="388" r:id="rId2"/>
    <p:sldId id="789" r:id="rId3"/>
    <p:sldId id="833" r:id="rId4"/>
    <p:sldId id="834" r:id="rId5"/>
    <p:sldId id="826" r:id="rId6"/>
    <p:sldId id="808" r:id="rId7"/>
    <p:sldId id="810" r:id="rId8"/>
    <p:sldId id="815" r:id="rId9"/>
    <p:sldId id="817" r:id="rId10"/>
    <p:sldId id="835" r:id="rId11"/>
    <p:sldId id="836" r:id="rId12"/>
    <p:sldId id="820" r:id="rId13"/>
    <p:sldId id="895" r:id="rId14"/>
    <p:sldId id="896" r:id="rId15"/>
    <p:sldId id="516" r:id="rId16"/>
    <p:sldId id="517" r:id="rId17"/>
    <p:sldId id="518" r:id="rId18"/>
    <p:sldId id="827" r:id="rId19"/>
    <p:sldId id="887" r:id="rId20"/>
    <p:sldId id="279" r:id="rId21"/>
    <p:sldId id="822" r:id="rId22"/>
    <p:sldId id="823" r:id="rId23"/>
    <p:sldId id="825" r:id="rId24"/>
    <p:sldId id="824" r:id="rId25"/>
    <p:sldId id="831" r:id="rId26"/>
    <p:sldId id="837" r:id="rId27"/>
    <p:sldId id="838" r:id="rId28"/>
    <p:sldId id="888" r:id="rId29"/>
    <p:sldId id="841" r:id="rId30"/>
    <p:sldId id="839" r:id="rId31"/>
    <p:sldId id="558" r:id="rId32"/>
    <p:sldId id="559" r:id="rId33"/>
    <p:sldId id="886" r:id="rId34"/>
    <p:sldId id="899" r:id="rId35"/>
    <p:sldId id="901" r:id="rId36"/>
    <p:sldId id="842" r:id="rId37"/>
    <p:sldId id="890" r:id="rId38"/>
    <p:sldId id="828" r:id="rId39"/>
    <p:sldId id="829" r:id="rId40"/>
    <p:sldId id="830" r:id="rId41"/>
    <p:sldId id="892" r:id="rId42"/>
    <p:sldId id="592" r:id="rId43"/>
    <p:sldId id="893" r:id="rId44"/>
    <p:sldId id="594" r:id="rId45"/>
    <p:sldId id="903" r:id="rId46"/>
    <p:sldId id="705" r:id="rId47"/>
    <p:sldId id="902" r:id="rId48"/>
    <p:sldId id="891" r:id="rId49"/>
    <p:sldId id="510" r:id="rId50"/>
    <p:sldId id="512" r:id="rId51"/>
    <p:sldId id="511" r:id="rId52"/>
    <p:sldId id="513" r:id="rId53"/>
  </p:sldIdLst>
  <p:sldSz cx="12192000" cy="6858000"/>
  <p:notesSz cx="12192000" cy="6858000"/>
  <p:embeddedFontLst>
    <p:embeddedFont>
      <p:font typeface="BBJHQW+TrebuchetMS" panose="020B0604020202020204"/>
      <p:regular r:id="rId55"/>
    </p:embeddedFont>
    <p:embeddedFont>
      <p:font typeface="EWIGLV+TrebuchetMS" panose="020B0604020202020204"/>
      <p:regular r:id="rId56"/>
    </p:embeddedFont>
    <p:embeddedFont>
      <p:font typeface="FQEICP+Verdana-Italic" panose="020B0604020202020204"/>
      <p:regular r:id="rId57"/>
    </p:embeddedFont>
    <p:embeddedFont>
      <p:font typeface="HMFSJP+TrebuchetMS" panose="020B0604020202020204"/>
      <p:regular r:id="rId58"/>
    </p:embeddedFont>
    <p:embeddedFont>
      <p:font typeface="KRNNCM+SegoeUISymbol" panose="020B0604020202020204"/>
      <p:regular r:id="rId59"/>
    </p:embeddedFont>
    <p:embeddedFont>
      <p:font typeface="MOCBGU+TrebuchetMS-Bold" panose="020B0604020202020204"/>
      <p:regular r:id="rId60"/>
    </p:embeddedFont>
    <p:embeddedFont>
      <p:font typeface="PERUNF+TrebuchetMS-Bold" panose="020B0604020202020204"/>
      <p:regular r:id="rId61"/>
    </p:embeddedFont>
    <p:embeddedFont>
      <p:font typeface="PFGSMB+TrebuchetMS" panose="020B0604020202020204"/>
      <p:regular r:id="rId62"/>
    </p:embeddedFont>
    <p:embeddedFont>
      <p:font typeface="Verdana" panose="020B0604030504040204" pitchFamily="34" charset="0"/>
      <p:regular r:id="rId63"/>
      <p:bold r:id="rId64"/>
      <p:italic r:id="rId65"/>
      <p:boldItalic r:id="rId6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3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>
      <p:cViewPr varScale="1">
        <p:scale>
          <a:sx n="108" d="100"/>
          <a:sy n="108" d="100"/>
        </p:scale>
        <p:origin x="510" y="108"/>
      </p:cViewPr>
      <p:guideLst>
        <p:guide orient="horz" pos="3168"/>
        <p:guide pos="34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1.fntdata"/><Relationship Id="rId63" Type="http://schemas.openxmlformats.org/officeDocument/2006/relationships/font" Target="fonts/font9.fntdata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4.fntdata"/><Relationship Id="rId66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3.fntdata"/><Relationship Id="rId61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6.fntdata"/><Relationship Id="rId65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2.fntdata"/><Relationship Id="rId64" Type="http://schemas.openxmlformats.org/officeDocument/2006/relationships/font" Target="fonts/font10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5.fntdata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62" Type="http://schemas.openxmlformats.org/officeDocument/2006/relationships/font" Target="fonts/font8.fntdata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0CFF1E-BBFD-4F11-B6FA-66EAEA57DF68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5F0007-CC27-47A0-A3CD-3AE9653BF2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941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6FE9FB-D96C-4F28-A695-9677BB0755D6}" type="slidenum">
              <a:rPr lang="ru-RU" smtClean="0"/>
              <a:pPr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8466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5F0007-CC27-47A0-A3CD-3AE9653BF22D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72143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9d4ba3d006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9d4ba3d006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455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0927" y="3888108"/>
            <a:ext cx="7955555" cy="70788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6584" y="4607511"/>
            <a:ext cx="7960659" cy="307777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7666" y="9944862"/>
            <a:ext cx="1737264" cy="276999"/>
          </a:xfrm>
        </p:spPr>
        <p:txBody>
          <a:bodyPr/>
          <a:lstStyle/>
          <a:p>
            <a:fld id="{B4C71EC6-210F-42DE-9C53-41977AD35B3D}" type="datetimeFigureOut">
              <a:rPr lang="ru-RU" smtClean="0"/>
              <a:pPr/>
              <a:t>02.02.2026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8130" y="9944862"/>
            <a:ext cx="2417063" cy="276999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38394" y="9944862"/>
            <a:ext cx="1737264" cy="276999"/>
          </a:xfrm>
        </p:spPr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214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7666" y="9944862"/>
            <a:ext cx="1737264" cy="276999"/>
          </a:xfrm>
        </p:spPr>
        <p:txBody>
          <a:bodyPr/>
          <a:lstStyle/>
          <a:p>
            <a:fld id="{B4C71EC6-210F-42DE-9C53-41977AD35B3D}" type="datetimeFigureOut">
              <a:rPr lang="ru-RU" smtClean="0"/>
              <a:pPr/>
              <a:t>02.02.2026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8130" y="9944862"/>
            <a:ext cx="2417063" cy="276999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38394" y="9944862"/>
            <a:ext cx="1737264" cy="276999"/>
          </a:xfrm>
        </p:spPr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27699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524000" y="731520"/>
            <a:ext cx="8534400" cy="138499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942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276999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77666" y="2459482"/>
            <a:ext cx="6797992" cy="138499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377666" y="9944862"/>
            <a:ext cx="1737264" cy="276999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02.02.2026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568130" y="9944862"/>
            <a:ext cx="2417063" cy="276999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5438394" y="9944862"/>
            <a:ext cx="1737264" cy="276999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0458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ethnopsychology.academic.ru/43/%D0%B2%D0%B5%D1%80%D0%BE%D0%B2%D0%B0%D0%BD%D0%B8%D1%8F" TargetMode="External"/><Relationship Id="rId2" Type="http://schemas.openxmlformats.org/officeDocument/2006/relationships/hyperlink" Target="https://ru.wikipedia.org/wiki/%D0%92%D0%B5%D1%80%D0%B0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ll_words.academic.ru/8314/%D0%B2%D0%B5%D1%80%D0%BE%D0%B2%D0%B0%D0%BD%D0%B8%D1%8F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8999" y="301555"/>
            <a:ext cx="9221457" cy="1088341"/>
          </a:xfrm>
        </p:spPr>
        <p:txBody>
          <a:bodyPr>
            <a:normAutofit/>
          </a:bodyPr>
          <a:lstStyle/>
          <a:p>
            <a:r>
              <a:rPr lang="ru-RU" sz="2800" b="1" dirty="0"/>
              <a:t>Модуль Трансформационные подходы </a:t>
            </a:r>
            <a:br>
              <a:rPr lang="ru-RU" sz="2800" b="1" dirty="0"/>
            </a:br>
            <a:r>
              <a:rPr lang="ru-RU" sz="2800" b="1" dirty="0"/>
              <a:t>в консультировании и коучинге</a:t>
            </a:r>
            <a:endParaRPr lang="ru-RU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978999" y="1340768"/>
            <a:ext cx="6741535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839416" y="1700808"/>
            <a:ext cx="864096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Два подхода к трансформации: внутренний и внешний. «Иметь – делать – быть» или «Быть - делать - иметь»?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Результативность по М. Дауни: «Потенциал минус «вмешательства». «Вмешательства», или с чем работают трансформационные методы - ожидания, воспоминания, интерпретации и пр.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Сущность сознания и бессознательного и особенности их проявления в процессе жизнедеятельности человека.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Самотрансформация</a:t>
            </a:r>
            <a:r>
              <a:rPr lang="ru-RU" dirty="0"/>
              <a:t> – методы изменения состояний. Где брать энергию для радости и эффективного существования.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Трансформационные методики: «Экран», «Мудрец», «План от Мечты», «Выбор» и др.</a:t>
            </a:r>
            <a:endParaRPr lang="ru-RU" sz="24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6348" y="-421677"/>
            <a:ext cx="3336757" cy="333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366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924798" y="548681"/>
            <a:ext cx="8771602" cy="4480519"/>
          </a:xfrm>
        </p:spPr>
        <p:txBody>
          <a:bodyPr>
            <a:normAutofit fontScale="70000" lnSpcReduction="20000"/>
          </a:bodyPr>
          <a:lstStyle/>
          <a:p>
            <a:pPr marL="45719"/>
            <a:r>
              <a:rPr lang="ru-RU" sz="4500" b="1" dirty="0">
                <a:latin typeface="+mj-lt"/>
                <a:ea typeface="+mj-ea"/>
                <a:cs typeface="+mj-cs"/>
                <a:sym typeface="Arial"/>
              </a:rPr>
              <a:t>Ирина Тримаскина</a:t>
            </a:r>
          </a:p>
          <a:p>
            <a:endParaRPr lang="ru-RU" sz="7466" dirty="0"/>
          </a:p>
          <a:p>
            <a:r>
              <a:rPr lang="ru-RU" sz="2600" dirty="0"/>
              <a:t>Коуч по сопровождению изменений</a:t>
            </a:r>
          </a:p>
          <a:p>
            <a:r>
              <a:rPr lang="ru-RU" sz="2600" dirty="0"/>
              <a:t>Эксперт по профессиональной самореализации. </a:t>
            </a:r>
            <a:r>
              <a:rPr lang="ru-RU" sz="2600" dirty="0" err="1"/>
              <a:t>Профориентолог</a:t>
            </a:r>
            <a:endParaRPr lang="ru-RU" sz="2600" dirty="0"/>
          </a:p>
          <a:p>
            <a:r>
              <a:rPr lang="ru-RU" sz="2600" dirty="0"/>
              <a:t>Клинический психолог. Системный семейный психотерапевт</a:t>
            </a:r>
          </a:p>
          <a:p>
            <a:pPr marL="45719"/>
            <a:endParaRPr lang="ru-RU" sz="2900" dirty="0"/>
          </a:p>
          <a:p>
            <a:pPr marL="45719"/>
            <a:r>
              <a:rPr lang="ru-RU" sz="2600" b="1" dirty="0"/>
              <a:t>Темы, с которыми я работаю:</a:t>
            </a:r>
          </a:p>
          <a:p>
            <a:pPr marL="45719"/>
            <a:r>
              <a:rPr lang="ru-RU" sz="2600" dirty="0"/>
              <a:t>1) Профессиональные задачи: Распаковка потенциала и сильных сторон. Профессиональное самоопределение и постановка карьерных целей. Работа со страхами и барьерами в карьерных переходах</a:t>
            </a:r>
          </a:p>
          <a:p>
            <a:endParaRPr lang="ru-RU" sz="2600" dirty="0"/>
          </a:p>
          <a:p>
            <a:pPr marL="45719"/>
            <a:r>
              <a:rPr lang="ru-RU" sz="2600" dirty="0"/>
              <a:t>2) Личные задачи: Работа со всем спектром задач: «Меня не устраивают отношения с моим партнером» (отношений нет, они не устраивают). Работа с женской идентичностью (психологический уровень)</a:t>
            </a:r>
          </a:p>
          <a:p>
            <a:pPr marL="45719"/>
            <a:endParaRPr lang="ru-RU" sz="2600" dirty="0"/>
          </a:p>
          <a:p>
            <a:pPr marL="45719"/>
            <a:r>
              <a:rPr lang="ru-RU" sz="2600" dirty="0"/>
              <a:t>3) Жизненные задачи: Гибкая адаптация к вызовам времени. Снижение страха изменений. Выстраивание жизненных ориентиров</a:t>
            </a:r>
          </a:p>
          <a:p>
            <a:pPr marL="45719" algn="ctr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788A0B30-5CD6-8B1B-F278-68B53ED0DE4F}"/>
              </a:ext>
            </a:extLst>
          </p:cNvPr>
          <p:cNvCxnSpPr>
            <a:cxnSpLocks/>
          </p:cNvCxnSpPr>
          <p:nvPr/>
        </p:nvCxnSpPr>
        <p:spPr>
          <a:xfrm>
            <a:off x="924798" y="1052736"/>
            <a:ext cx="3298994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0054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E4C6F-FEE0-636F-20A2-AFA959F6D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477054"/>
          </a:xfrm>
        </p:spPr>
        <p:txBody>
          <a:bodyPr/>
          <a:lstStyle/>
          <a:p>
            <a:r>
              <a:rPr lang="ru-RU" sz="3100" b="1" dirty="0"/>
              <a:t>Список литературы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7AC8CE-E2A7-25E8-2C93-85E7AADB6A8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7666" y="1412776"/>
            <a:ext cx="9934554" cy="45365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Маслоу А. "Мотивация и личность«, «Дальние пределы человеческой психики»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Виктор Франкл «Скажи жизни Да!» «Человек в поисках смысла», «В борьбе за смысл»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Джеймс Холлис «Перевал в середине пути»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Ирвин Ялом «Экзистенциальная психотерапия»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Иоганн Шульц «Аутогенная тренировка»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Бек А., Фримен А. «Когнитивная психотерапия расстройств личности. Практикум по психотерапии» </a:t>
            </a:r>
            <a:endParaRPr lang="ru-RU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0000"/>
                </a:solidFill>
              </a:rPr>
              <a:t>Роберто </a:t>
            </a:r>
            <a:r>
              <a:rPr lang="ru-RU" b="1" dirty="0" err="1">
                <a:solidFill>
                  <a:srgbClr val="FF0000"/>
                </a:solidFill>
              </a:rPr>
              <a:t>Ассаджиоли</a:t>
            </a:r>
            <a:r>
              <a:rPr lang="ru-RU" b="1" dirty="0">
                <a:solidFill>
                  <a:srgbClr val="FF0000"/>
                </a:solidFill>
              </a:rPr>
              <a:t> «</a:t>
            </a:r>
            <a:r>
              <a:rPr lang="ru-RU" b="1" dirty="0" err="1">
                <a:solidFill>
                  <a:srgbClr val="FF0000"/>
                </a:solidFill>
              </a:rPr>
              <a:t>Психосинтез</a:t>
            </a:r>
            <a:r>
              <a:rPr lang="ru-RU" b="1" dirty="0">
                <a:solidFill>
                  <a:srgbClr val="FF0000"/>
                </a:solidFill>
              </a:rPr>
              <a:t>. Принципы и техники»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0000"/>
                </a:solidFill>
              </a:rPr>
              <a:t>Пьеро </a:t>
            </a:r>
            <a:r>
              <a:rPr lang="ru-RU" b="1" dirty="0" err="1">
                <a:solidFill>
                  <a:srgbClr val="FF0000"/>
                </a:solidFill>
              </a:rPr>
              <a:t>Феруччи</a:t>
            </a:r>
            <a:r>
              <a:rPr lang="ru-RU" b="1" dirty="0">
                <a:solidFill>
                  <a:srgbClr val="FF0000"/>
                </a:solidFill>
              </a:rPr>
              <a:t> «Кем мы можем быть»</a:t>
            </a:r>
            <a:endParaRPr lang="ru-RU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FF0000"/>
                </a:solidFill>
              </a:rPr>
              <a:t>Шейла </a:t>
            </a:r>
            <a:r>
              <a:rPr lang="ru-RU" b="1" dirty="0" err="1">
                <a:solidFill>
                  <a:srgbClr val="FF0000"/>
                </a:solidFill>
              </a:rPr>
              <a:t>Дэйноу</a:t>
            </a:r>
            <a:r>
              <a:rPr lang="ru-RU" b="1" dirty="0">
                <a:solidFill>
                  <a:srgbClr val="FF0000"/>
                </a:solidFill>
              </a:rPr>
              <a:t>. Сам себе психотерапевт (самоучитель по психотерапии). </a:t>
            </a:r>
            <a:endParaRPr lang="ru-RU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err="1">
                <a:solidFill>
                  <a:srgbClr val="FF0000"/>
                </a:solidFill>
              </a:rPr>
              <a:t>Джанетт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ru-RU" b="1" dirty="0" err="1">
                <a:solidFill>
                  <a:srgbClr val="FF0000"/>
                </a:solidFill>
              </a:rPr>
              <a:t>Рейнуотер</a:t>
            </a:r>
            <a:r>
              <a:rPr lang="ru-RU" b="1" dirty="0">
                <a:solidFill>
                  <a:srgbClr val="FF0000"/>
                </a:solidFill>
              </a:rPr>
              <a:t>. Это в ваших силах. Как стать собственным психотерапевтом. </a:t>
            </a:r>
            <a:endParaRPr lang="ru-RU" dirty="0">
              <a:solidFill>
                <a:srgbClr val="FF0000"/>
              </a:solidFill>
            </a:endParaRPr>
          </a:p>
          <a:p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2B2F81B3-9B7C-B188-7C27-96D56A1B9903}"/>
              </a:ext>
            </a:extLst>
          </p:cNvPr>
          <p:cNvCxnSpPr>
            <a:cxnSpLocks/>
          </p:cNvCxnSpPr>
          <p:nvPr/>
        </p:nvCxnSpPr>
        <p:spPr>
          <a:xfrm>
            <a:off x="409919" y="1052736"/>
            <a:ext cx="3298994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350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D9704C-9B0D-4F8A-9C8A-B70E452F4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477054"/>
          </a:xfrm>
        </p:spPr>
        <p:txBody>
          <a:bodyPr/>
          <a:lstStyle/>
          <a:p>
            <a:r>
              <a:rPr lang="ru-RU" sz="3100" b="1" dirty="0"/>
              <a:t>Трансформация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B415A6-52B0-0A9A-9B09-AD673BB5D2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7666" y="1394994"/>
            <a:ext cx="8534400" cy="1107996"/>
          </a:xfrm>
        </p:spPr>
        <p:txBody>
          <a:bodyPr/>
          <a:lstStyle/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(лат. </a:t>
            </a:r>
            <a:r>
              <a:rPr lang="en-US" dirty="0">
                <a:solidFill>
                  <a:schemeClr val="tx1"/>
                </a:solidFill>
              </a:rPr>
              <a:t>T</a:t>
            </a:r>
            <a:r>
              <a:rPr lang="ru-RU" dirty="0" err="1">
                <a:solidFill>
                  <a:schemeClr val="tx1"/>
                </a:solidFill>
              </a:rPr>
              <a:t>ransformatio</a:t>
            </a:r>
            <a:r>
              <a:rPr lang="ru-RU" dirty="0">
                <a:solidFill>
                  <a:schemeClr val="tx1"/>
                </a:solidFill>
              </a:rPr>
              <a:t>)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 - Перемена вида, формы чего-н., ПРЕОБРАЗОВАНИЕ, превращение  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Толковый словарь русского языка» под редакцией Д. Н. Ушакова</a:t>
            </a:r>
          </a:p>
          <a:p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CB34CB1-AC02-C49B-FBF0-C98DB937FA2E}"/>
              </a:ext>
            </a:extLst>
          </p:cNvPr>
          <p:cNvCxnSpPr>
            <a:cxnSpLocks/>
          </p:cNvCxnSpPr>
          <p:nvPr/>
        </p:nvCxnSpPr>
        <p:spPr>
          <a:xfrm>
            <a:off x="409919" y="1052736"/>
            <a:ext cx="2949777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1BAC15C2-5824-E7C5-56D8-DA26C981B9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680" y="2335450"/>
            <a:ext cx="4968552" cy="31104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03283E-D798-E0E8-0FA5-9EEE24EE392A}"/>
              </a:ext>
            </a:extLst>
          </p:cNvPr>
          <p:cNvSpPr txBox="1"/>
          <p:nvPr/>
        </p:nvSpPr>
        <p:spPr>
          <a:xfrm>
            <a:off x="2567608" y="5661248"/>
            <a:ext cx="83826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ТРАНСФОРМАЦИЯ - ЭТО ТОЧКА, ГДЕ У ЧЕЛОВЕКА МЕНЯЕТСЯ ВЕКТОР </a:t>
            </a:r>
          </a:p>
          <a:p>
            <a:r>
              <a:rPr lang="ru-RU" sz="1800" dirty="0"/>
              <a:t>НАПРАВЛЕНИЯ, ЖИЗНЕННЫЕ и ПРОФЕССИОНАЛЬНЫЕ СТРАТЕГИИ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917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F662057E-EDCB-509F-B15F-65994B7874DC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839183460"/>
              </p:ext>
            </p:extLst>
          </p:nvPr>
        </p:nvGraphicFramePr>
        <p:xfrm>
          <a:off x="550863" y="1245994"/>
          <a:ext cx="11233840" cy="56045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71864">
                  <a:extLst>
                    <a:ext uri="{9D8B030D-6E8A-4147-A177-3AD203B41FA5}">
                      <a16:colId xmlns:a16="http://schemas.microsoft.com/office/drawing/2014/main" val="905537072"/>
                    </a:ext>
                  </a:extLst>
                </a:gridCol>
                <a:gridCol w="4438061">
                  <a:extLst>
                    <a:ext uri="{9D8B030D-6E8A-4147-A177-3AD203B41FA5}">
                      <a16:colId xmlns:a16="http://schemas.microsoft.com/office/drawing/2014/main" val="3211810227"/>
                    </a:ext>
                  </a:extLst>
                </a:gridCol>
                <a:gridCol w="4523915">
                  <a:extLst>
                    <a:ext uri="{9D8B030D-6E8A-4147-A177-3AD203B41FA5}">
                      <a16:colId xmlns:a16="http://schemas.microsoft.com/office/drawing/2014/main" val="4085088919"/>
                    </a:ext>
                  </a:extLst>
                </a:gridCol>
              </a:tblGrid>
              <a:tr h="2323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  <a:t>Критерий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48" marR="212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  <a:t>Внешний подход (традиционный)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48" marR="212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solidFill>
                            <a:schemeClr val="tx1"/>
                          </a:solidFill>
                          <a:effectLst/>
                        </a:rPr>
                        <a:t>Внутренний подход (трансформационный)</a:t>
                      </a:r>
                      <a:endParaRPr lang="ru-RU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48" marR="212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15501"/>
                  </a:ext>
                </a:extLst>
              </a:tr>
              <a:tr h="5010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  <a:t>Последовательность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48" marR="212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  <a:t>Иметь → Делать → Быть</a:t>
                      </a:r>
                      <a:b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  <a:t>Сначала цель, потом действие, потом состояние.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48" marR="212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solidFill>
                            <a:schemeClr val="tx1"/>
                          </a:solidFill>
                          <a:effectLst/>
                        </a:rPr>
                        <a:t>Быть → Делать → Иметь</a:t>
                      </a:r>
                      <a:br>
                        <a:rPr lang="ru-RU" sz="1400" kern="10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1400" kern="100">
                          <a:solidFill>
                            <a:schemeClr val="tx1"/>
                          </a:solidFill>
                          <a:effectLst/>
                        </a:rPr>
                        <a:t>Сначала состояние, потом действие, потом результат.</a:t>
                      </a:r>
                      <a:endParaRPr lang="ru-RU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48" marR="212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901032"/>
                  </a:ext>
                </a:extLst>
              </a:tr>
              <a:tr h="4791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  <a:t>Фокус внимания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48" marR="212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  <a:t>На внешнем объекте, дефиците, цели («Что я хочу получить?»).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48" marR="212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solidFill>
                            <a:schemeClr val="tx1"/>
                          </a:solidFill>
                          <a:effectLst/>
                        </a:rPr>
                        <a:t>На внутреннем состоянии, качестве, идентичности («Кем я хочу быть?»).</a:t>
                      </a:r>
                      <a:endParaRPr lang="ru-RU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48" marR="212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269471"/>
                  </a:ext>
                </a:extLst>
              </a:tr>
              <a:tr h="4791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  <a:t>Действия («Делать»)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48" marR="212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  <a:t>Как «плата» за будущий результат. Часто ведут к выгоранию.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48" marR="212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  <a:t>Естественное выражение выбранного состояния «Быть». Заряжают энергией.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48" marR="212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6491893"/>
                  </a:ext>
                </a:extLst>
              </a:tr>
              <a:tr h="4791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  <a:t>Состояние «Быть»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48" marR="212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  <a:t>Отложенная награда, зависящая от успеха. «Сначала добиться — потом быть».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48" marR="212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  <a:t>Стартовая точка и фундамент. Право на состояние есть здесь и сейчас.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48" marR="2124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717767"/>
                  </a:ext>
                </a:extLst>
              </a:tr>
              <a:tr h="47912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>
                          <a:solidFill>
                            <a:schemeClr val="tx1"/>
                          </a:solidFill>
                          <a:effectLst/>
                        </a:rPr>
                        <a:t>Ключевой вопрос</a:t>
                      </a:r>
                      <a:endParaRPr lang="ru-RU" sz="14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48" marR="212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  <a:t>«Что мне нужно ИМЕТЬ, чтобы наконец БЫТЬ счастливым/уверенным?»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48" marR="212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  <a:t>«Каким мне нужно БЫТЬ, чтобы ДЕЛАТЬ то, что приведёт к желаемому?»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48" marR="212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342876"/>
                  </a:ext>
                </a:extLst>
              </a:tr>
              <a:tr h="50108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  <a:t>Метафора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48" marR="212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  <a:t>Белка в колесе/Штурм крепости. Бесконечная гонка за атрибутами.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48" marR="212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  <a:t>Выращивание сада / Излучение света. Внутреннее состояние прорастает вовне.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48" marR="212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710450"/>
                  </a:ext>
                </a:extLst>
              </a:tr>
              <a:tr h="245360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  <a:t>Пример: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  <a:t>Карьерный рост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48" marR="212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  <a:t>ИМЕТЬ: Должность руководителя, статус, кабинет.</a:t>
                      </a:r>
                      <a:b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  <a:t>ДЕЛАТЬ: Интриговать, работать «на показ», имитировать лидерство, выпрашивать повышение.</a:t>
                      </a:r>
                      <a:b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  <a:t>БЫТЬ: Надеяться, что должность даст уверенность и уважение. Риск: Синдром самозванца, выгорание.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48" marR="212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  <a:t>БЫТЬ: Решил быть стратегом, наставником, ответственным лидером прямо сейчас.</a:t>
                      </a:r>
                      <a:b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  <a:t>ДЕЛАТЬ: Инициативно оптимизировать процессы, помогать коллегам, координировать задачи, брать на себя ответственность за результат.</a:t>
                      </a:r>
                      <a:b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1400" kern="100" dirty="0">
                          <a:solidFill>
                            <a:schemeClr val="tx1"/>
                          </a:solidFill>
                          <a:effectLst/>
                        </a:rPr>
                        <a:t>ИМЕТЬ: Естественное следствие: признание как неформального лидера, доверие руководства, предложение должности (или аналогичные возможности). Уважение и ценность не зависят от кресла.</a:t>
                      </a:r>
                      <a:endParaRPr lang="ru-RU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1248" marR="2124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355649"/>
                  </a:ext>
                </a:extLst>
              </a:tr>
            </a:tbl>
          </a:graphicData>
        </a:graphic>
      </p:graphicFrame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3F3B4C1-B847-4448-3A98-2DD3EC6EF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260648"/>
            <a:ext cx="6797675" cy="277812"/>
          </a:xfrm>
        </p:spPr>
        <p:txBody>
          <a:bodyPr/>
          <a:lstStyle/>
          <a:p>
            <a:r>
              <a:rPr lang="ru-RU" sz="3100" b="1" dirty="0"/>
              <a:t>Два подхода к изменениям</a:t>
            </a:r>
            <a:br>
              <a:rPr lang="ru-RU" sz="3100" b="1" dirty="0"/>
            </a:br>
            <a:endParaRPr lang="ru-RU" sz="3100" b="1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0D72A4F7-EAA0-7BB2-ECA6-BD28A406E7F6}"/>
              </a:ext>
            </a:extLst>
          </p:cNvPr>
          <p:cNvCxnSpPr>
            <a:cxnSpLocks/>
          </p:cNvCxnSpPr>
          <p:nvPr/>
        </p:nvCxnSpPr>
        <p:spPr>
          <a:xfrm>
            <a:off x="550863" y="836712"/>
            <a:ext cx="4825057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959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B315ADD0-0A5F-CFF8-4534-6FAAAF1B6B72}"/>
              </a:ext>
            </a:extLst>
          </p:cNvPr>
          <p:cNvSpPr txBox="1"/>
          <p:nvPr/>
        </p:nvSpPr>
        <p:spPr>
          <a:xfrm>
            <a:off x="550863" y="476672"/>
            <a:ext cx="3930327" cy="5281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375"/>
              </a:lnSpc>
              <a:spcBef>
                <a:spcPts val="0"/>
              </a:spcBef>
              <a:spcAft>
                <a:spcPts val="0"/>
              </a:spcAft>
            </a:pPr>
            <a:r>
              <a:rPr sz="3100" b="1" dirty="0">
                <a:latin typeface="+mj-lt"/>
                <a:ea typeface="+mj-ea"/>
                <a:cs typeface="+mj-cs"/>
              </a:rPr>
              <a:t>Трансформация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396AFF9-2D39-B134-EB64-A47CAEEFAA47}"/>
              </a:ext>
            </a:extLst>
          </p:cNvPr>
          <p:cNvSpPr txBox="1"/>
          <p:nvPr/>
        </p:nvSpPr>
        <p:spPr>
          <a:xfrm>
            <a:off x="633308" y="2079079"/>
            <a:ext cx="5764159" cy="532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889"/>
              </a:lnSpc>
              <a:spcBef>
                <a:spcPts val="0"/>
              </a:spcBef>
              <a:spcAft>
                <a:spcPts val="0"/>
              </a:spcAft>
            </a:pPr>
            <a:r>
              <a:rPr sz="3200" dirty="0">
                <a:solidFill>
                  <a:srgbClr val="3F7718"/>
                </a:solidFill>
                <a:latin typeface="Verdana"/>
                <a:cs typeface="Verdana"/>
              </a:rPr>
              <a:t>Быть</a:t>
            </a:r>
            <a:r>
              <a:rPr sz="3200" spc="4534" dirty="0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F7718"/>
                </a:solidFill>
                <a:latin typeface="Verdana"/>
                <a:cs typeface="Verdana"/>
              </a:rPr>
              <a:t>Делать</a:t>
            </a:r>
            <a:r>
              <a:rPr sz="3200" spc="4538" dirty="0">
                <a:solidFill>
                  <a:srgbClr val="3F7718"/>
                </a:solidFill>
                <a:latin typeface="Times New Roman"/>
                <a:cs typeface="Times New Roman"/>
              </a:rPr>
              <a:t> </a:t>
            </a:r>
            <a:r>
              <a:rPr sz="3200" dirty="0">
                <a:solidFill>
                  <a:srgbClr val="3F7718"/>
                </a:solidFill>
                <a:latin typeface="Verdana"/>
                <a:cs typeface="Verdana"/>
              </a:rPr>
              <a:t>Иметь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C7DAE185-7F31-CAA7-8852-F9C3CD811DF0}"/>
              </a:ext>
            </a:extLst>
          </p:cNvPr>
          <p:cNvSpPr txBox="1"/>
          <p:nvPr/>
        </p:nvSpPr>
        <p:spPr>
          <a:xfrm>
            <a:off x="633308" y="3095540"/>
            <a:ext cx="9538196" cy="546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87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FQEICP+Verdana-Italic"/>
                <a:cs typeface="FQEICP+Verdana-Italic"/>
              </a:rPr>
              <a:t>Вопрос</a:t>
            </a:r>
            <a:r>
              <a:rPr sz="1800" spc="18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FQEICP+Verdana-Italic"/>
                <a:cs typeface="FQEICP+Verdana-Italic"/>
              </a:rPr>
              <a:t>самому</a:t>
            </a:r>
            <a:r>
              <a:rPr sz="1800" spc="19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FQEICP+Verdana-Italic"/>
                <a:cs typeface="FQEICP+Verdana-Italic"/>
              </a:rPr>
              <a:t>себе</a:t>
            </a:r>
            <a:r>
              <a:rPr sz="1800" i="1" dirty="0">
                <a:solidFill>
                  <a:srgbClr val="FF0000"/>
                </a:solidFill>
                <a:latin typeface="Verdana"/>
                <a:cs typeface="Verdana"/>
              </a:rPr>
              <a:t>: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«Каким</a:t>
            </a:r>
            <a:r>
              <a:rPr sz="1800" spc="18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мне</a:t>
            </a:r>
            <a:r>
              <a:rPr sz="1800" spc="1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следует</a:t>
            </a:r>
            <a:r>
              <a:rPr sz="1800" spc="18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быть, чтобы</a:t>
            </a:r>
            <a:r>
              <a:rPr sz="1800" spc="18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качественно</a:t>
            </a:r>
            <a:r>
              <a:rPr sz="1800" spc="18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жить</a:t>
            </a:r>
            <a:r>
              <a:rPr sz="1800" spc="18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свою</a:t>
            </a:r>
          </a:p>
          <a:p>
            <a:pPr marL="0" marR="0">
              <a:lnSpc>
                <a:spcPts val="2187"/>
              </a:lnSpc>
              <a:spcBef>
                <a:spcPts val="2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жизнь</a:t>
            </a:r>
            <a:r>
              <a:rPr sz="1800" spc="18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и</a:t>
            </a:r>
            <a:r>
              <a:rPr sz="1800" spc="18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иметь</a:t>
            </a:r>
            <a:r>
              <a:rPr sz="1800" spc="18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то, что</a:t>
            </a:r>
            <a:r>
              <a:rPr sz="1800" spc="18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мне</a:t>
            </a:r>
            <a:r>
              <a:rPr sz="1800" spc="19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важно</a:t>
            </a:r>
            <a:r>
              <a:rPr sz="1800" spc="18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(счастье, любовь, гармонию, достаток…)?»</a:t>
            </a: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961E2C73-1023-75FC-8926-8CC3ADFC53F7}"/>
              </a:ext>
            </a:extLst>
          </p:cNvPr>
          <p:cNvSpPr txBox="1"/>
          <p:nvPr/>
        </p:nvSpPr>
        <p:spPr>
          <a:xfrm>
            <a:off x="633308" y="3769148"/>
            <a:ext cx="9466494" cy="546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87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FF0000"/>
                </a:solidFill>
                <a:latin typeface="FQEICP+Verdana-Italic"/>
                <a:cs typeface="FQEICP+Verdana-Italic"/>
              </a:rPr>
              <a:t>Вопрос</a:t>
            </a:r>
            <a:r>
              <a:rPr sz="1800" spc="18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FQEICP+Verdana-Italic"/>
                <a:cs typeface="FQEICP+Verdana-Italic"/>
              </a:rPr>
              <a:t>самому</a:t>
            </a:r>
            <a:r>
              <a:rPr sz="1800" spc="192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FQEICP+Verdana-Italic"/>
                <a:cs typeface="FQEICP+Verdana-Italic"/>
              </a:rPr>
              <a:t>себе</a:t>
            </a:r>
            <a:r>
              <a:rPr sz="1800" spc="19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FQEICP+Verdana-Italic"/>
                <a:cs typeface="FQEICP+Verdana-Italic"/>
              </a:rPr>
              <a:t>как</a:t>
            </a:r>
            <a:r>
              <a:rPr sz="1800" spc="183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FQEICP+Verdana-Italic"/>
                <a:cs typeface="FQEICP+Verdana-Italic"/>
              </a:rPr>
              <a:t>коучу</a:t>
            </a:r>
            <a:r>
              <a:rPr sz="1800" i="1" dirty="0">
                <a:solidFill>
                  <a:srgbClr val="FF0000"/>
                </a:solidFill>
                <a:latin typeface="Verdana"/>
                <a:cs typeface="Verdana"/>
              </a:rPr>
              <a:t>: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«Каким</a:t>
            </a:r>
            <a:r>
              <a:rPr sz="1800" spc="18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мне</a:t>
            </a:r>
            <a:r>
              <a:rPr sz="1800" spc="1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следует</a:t>
            </a:r>
            <a:r>
              <a:rPr sz="1800" spc="18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быть, чтобы</a:t>
            </a:r>
            <a:r>
              <a:rPr sz="1800" spc="18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качественно</a:t>
            </a:r>
          </a:p>
          <a:p>
            <a:pPr marL="0" marR="0">
              <a:lnSpc>
                <a:spcPts val="2187"/>
              </a:lnSpc>
              <a:spcBef>
                <a:spcPts val="2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делать</a:t>
            </a:r>
            <a:r>
              <a:rPr sz="1800" spc="18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свою</a:t>
            </a:r>
            <a:r>
              <a:rPr sz="1800" spc="1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работу</a:t>
            </a:r>
            <a:r>
              <a:rPr sz="1800" spc="18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и</a:t>
            </a:r>
            <a:r>
              <a:rPr sz="1800" spc="1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клиенты</a:t>
            </a:r>
            <a:r>
              <a:rPr sz="1800" spc="18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получали</a:t>
            </a:r>
            <a:r>
              <a:rPr sz="1800" spc="18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свой</a:t>
            </a:r>
            <a:r>
              <a:rPr sz="1800" spc="1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результат?»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444A8178-50E1-9E06-3F59-FD2801CFD2EF}"/>
              </a:ext>
            </a:extLst>
          </p:cNvPr>
          <p:cNvCxnSpPr>
            <a:cxnSpLocks/>
          </p:cNvCxnSpPr>
          <p:nvPr/>
        </p:nvCxnSpPr>
        <p:spPr>
          <a:xfrm>
            <a:off x="550863" y="1124744"/>
            <a:ext cx="2818749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91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50863" y="332656"/>
            <a:ext cx="11377785" cy="640871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Когда мы используем трансформационный подход?</a:t>
            </a:r>
          </a:p>
          <a:p>
            <a:pPr algn="l"/>
            <a:endParaRPr lang="ru-RU" dirty="0"/>
          </a:p>
          <a:p>
            <a:pPr marL="457200" indent="-457200" algn="l">
              <a:buAutoNum type="arabicParenR"/>
            </a:pPr>
            <a:r>
              <a:rPr lang="ru-RU" dirty="0">
                <a:solidFill>
                  <a:schemeClr val="tx1"/>
                </a:solidFill>
              </a:rPr>
              <a:t>КРИЗИС РОСТА</a:t>
            </a:r>
          </a:p>
          <a:p>
            <a:pPr algn="l"/>
            <a:r>
              <a:rPr lang="ru-RU" dirty="0">
                <a:solidFill>
                  <a:schemeClr val="tx1"/>
                </a:solidFill>
              </a:rPr>
              <a:t>Клиент «приносит» объемную задачу, связанную </a:t>
            </a:r>
            <a:r>
              <a:rPr lang="ru-RU" dirty="0"/>
              <a:t>с </a:t>
            </a:r>
            <a:r>
              <a:rPr lang="ru-RU" b="1" dirty="0">
                <a:solidFill>
                  <a:schemeClr val="tx1"/>
                </a:solidFill>
              </a:rPr>
              <a:t>качественными изменениями вверх</a:t>
            </a:r>
            <a:r>
              <a:rPr lang="ru-RU" dirty="0"/>
              <a:t>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смена профессиональной деятельности,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переход из найма во </a:t>
            </a:r>
            <a:r>
              <a:rPr lang="ru-RU" dirty="0" err="1">
                <a:solidFill>
                  <a:schemeClr val="tx1"/>
                </a:solidFill>
              </a:rPr>
              <a:t>фриланс</a:t>
            </a:r>
            <a:r>
              <a:rPr lang="ru-RU" dirty="0">
                <a:solidFill>
                  <a:schemeClr val="tx1"/>
                </a:solidFill>
              </a:rPr>
              <a:t>,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начало/перезагрузка своего бизнеса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улучшение  отношений</a:t>
            </a:r>
          </a:p>
          <a:p>
            <a:pPr algn="l"/>
            <a:endParaRPr lang="ru-RU" dirty="0">
              <a:solidFill>
                <a:srgbClr val="FF0000"/>
              </a:solidFill>
            </a:endParaRPr>
          </a:p>
          <a:p>
            <a:pPr algn="l"/>
            <a:r>
              <a:rPr lang="ru-RU" dirty="0">
                <a:solidFill>
                  <a:schemeClr val="tx1"/>
                </a:solidFill>
              </a:rPr>
              <a:t>И все эти ВНЕШНИЕ изменения требуют изменений ВНУТРЕННИХ!</a:t>
            </a:r>
          </a:p>
          <a:p>
            <a:pPr algn="l"/>
            <a:r>
              <a:rPr lang="ru-RU" dirty="0">
                <a:solidFill>
                  <a:schemeClr val="tx1"/>
                </a:solidFill>
              </a:rPr>
              <a:t>Часто это связано с изменением идентичности</a:t>
            </a:r>
            <a:endParaRPr lang="ru-RU" dirty="0">
              <a:solidFill>
                <a:srgbClr val="FF0000"/>
              </a:solidFill>
            </a:endParaRPr>
          </a:p>
          <a:p>
            <a:pPr algn="l"/>
            <a:endParaRPr lang="ru-RU" dirty="0">
              <a:solidFill>
                <a:srgbClr val="FF0000"/>
              </a:solidFill>
            </a:endParaRPr>
          </a:p>
          <a:p>
            <a:pPr algn="l"/>
            <a:r>
              <a:rPr lang="ru-RU" u="sng" dirty="0">
                <a:solidFill>
                  <a:schemeClr val="tx1"/>
                </a:solidFill>
              </a:rPr>
              <a:t>Пример:</a:t>
            </a:r>
          </a:p>
          <a:p>
            <a:pPr marL="45720" algn="l"/>
            <a:r>
              <a:rPr lang="ru-RU" dirty="0">
                <a:solidFill>
                  <a:schemeClr val="tx1"/>
                </a:solidFill>
              </a:rPr>
              <a:t>«Конкретного запроса нет.</a:t>
            </a:r>
          </a:p>
          <a:p>
            <a:pPr marL="45720" algn="l"/>
            <a:r>
              <a:rPr lang="ru-RU" dirty="0">
                <a:solidFill>
                  <a:schemeClr val="tx1"/>
                </a:solidFill>
              </a:rPr>
              <a:t>Но есть много тем, которые крутятся в голове.</a:t>
            </a:r>
          </a:p>
          <a:p>
            <a:pPr marL="45720" algn="l"/>
            <a:r>
              <a:rPr lang="ru-RU" dirty="0">
                <a:solidFill>
                  <a:schemeClr val="tx1"/>
                </a:solidFill>
              </a:rPr>
              <a:t>Есть белые пятна в системе координат. Мне важно с этим разобраться, чтобы понять, куда двигаться в профессиональном плане. </a:t>
            </a:r>
          </a:p>
          <a:p>
            <a:pPr marL="45720" algn="l"/>
            <a:r>
              <a:rPr lang="ru-RU" dirty="0">
                <a:solidFill>
                  <a:schemeClr val="tx1"/>
                </a:solidFill>
              </a:rPr>
              <a:t>Хочу уйти (начать хотя бы) в свободное плавание, есть идеи, проекты. Но есть страх, что мне придется уйти с работы и не будет денег.</a:t>
            </a:r>
          </a:p>
          <a:p>
            <a:pPr marL="45720" algn="l"/>
            <a:r>
              <a:rPr lang="ru-RU" dirty="0">
                <a:solidFill>
                  <a:schemeClr val="tx1"/>
                </a:solidFill>
              </a:rPr>
              <a:t>Я хочу понять, готова ли я проявить свои знания и  свою внутреннюю суть.</a:t>
            </a:r>
          </a:p>
          <a:p>
            <a:pPr marL="45720" algn="l"/>
            <a:r>
              <a:rPr lang="ru-RU" dirty="0">
                <a:solidFill>
                  <a:schemeClr val="tx1"/>
                </a:solidFill>
              </a:rPr>
              <a:t>Но тогда появляется вопрос – а что это за суть такая, какую я хочу проявить? И насколько я готова ее проявлять вовне»</a:t>
            </a:r>
          </a:p>
          <a:p>
            <a:pPr algn="l"/>
            <a:endParaRPr lang="ru-RU" dirty="0">
              <a:solidFill>
                <a:srgbClr val="FF0000"/>
              </a:solidFill>
            </a:endParaRPr>
          </a:p>
          <a:p>
            <a:pPr algn="l"/>
            <a:endParaRPr lang="ru-RU" dirty="0"/>
          </a:p>
          <a:p>
            <a:pPr algn="l"/>
            <a:endParaRPr lang="ru-RU" dirty="0">
              <a:solidFill>
                <a:srgbClr val="FF0000"/>
              </a:solidFill>
            </a:endParaRPr>
          </a:p>
          <a:p>
            <a:pPr algn="l"/>
            <a:endParaRPr lang="ru-RU" dirty="0"/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EC49FC1-D701-C678-BFBF-79732B201AD7}"/>
              </a:ext>
            </a:extLst>
          </p:cNvPr>
          <p:cNvCxnSpPr>
            <a:cxnSpLocks/>
          </p:cNvCxnSpPr>
          <p:nvPr/>
        </p:nvCxnSpPr>
        <p:spPr>
          <a:xfrm>
            <a:off x="550863" y="836712"/>
            <a:ext cx="9073529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38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550863" y="332656"/>
            <a:ext cx="11233769" cy="5256584"/>
          </a:xfrm>
        </p:spPr>
        <p:txBody>
          <a:bodyPr>
            <a:normAutofit lnSpcReduction="10000"/>
          </a:bodyPr>
          <a:lstStyle/>
          <a:p>
            <a:pPr algn="l"/>
            <a:r>
              <a:rPr lang="ru-RU" sz="3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Когда мы используем трансформационный подход?</a:t>
            </a:r>
          </a:p>
          <a:p>
            <a:endParaRPr lang="ru-RU" sz="2000" b="1" dirty="0">
              <a:solidFill>
                <a:srgbClr val="FF0000"/>
              </a:solidFill>
            </a:endParaRPr>
          </a:p>
          <a:p>
            <a:r>
              <a:rPr lang="ru-RU" sz="2000" dirty="0">
                <a:solidFill>
                  <a:schemeClr val="tx1"/>
                </a:solidFill>
              </a:rPr>
              <a:t>2) КРИЗИС ПАДЕНИЯ</a:t>
            </a:r>
          </a:p>
          <a:p>
            <a:r>
              <a:rPr lang="ru-RU" sz="2000" dirty="0">
                <a:solidFill>
                  <a:schemeClr val="tx1"/>
                </a:solidFill>
              </a:rPr>
              <a:t>Клиент приносит проблему: проблема в карьере, в бизнесе, отношениях</a:t>
            </a:r>
          </a:p>
          <a:p>
            <a:pPr marL="45720"/>
            <a:r>
              <a:rPr lang="ru-RU" sz="2000" dirty="0">
                <a:solidFill>
                  <a:schemeClr val="tx1"/>
                </a:solidFill>
              </a:rPr>
              <a:t>Запрос часто озвучивается через «не могу» (не-достижение, не-реализация, отсутствие чего-либо или кого-либо) </a:t>
            </a:r>
          </a:p>
          <a:p>
            <a:pPr marL="45720"/>
            <a:r>
              <a:rPr lang="ru-RU" sz="2000" dirty="0">
                <a:solidFill>
                  <a:schemeClr val="tx1"/>
                </a:solidFill>
              </a:rPr>
              <a:t>Клиент воспринимает это как ситуацию тупика, он сам не видит явных возможностей решения. </a:t>
            </a:r>
          </a:p>
          <a:p>
            <a:pPr marL="45720"/>
            <a:endParaRPr lang="ru-RU" sz="2000" b="1" dirty="0">
              <a:solidFill>
                <a:schemeClr val="accent1"/>
              </a:solidFill>
            </a:endParaRPr>
          </a:p>
          <a:p>
            <a:pPr marL="45720"/>
            <a:endParaRPr lang="ru-RU" sz="2000" b="1" dirty="0">
              <a:solidFill>
                <a:schemeClr val="accent1"/>
              </a:solidFill>
            </a:endParaRPr>
          </a:p>
          <a:p>
            <a:pPr marL="45720"/>
            <a:endParaRPr lang="ru-RU" sz="2000" b="1" dirty="0">
              <a:solidFill>
                <a:schemeClr val="accent1"/>
              </a:solidFill>
            </a:endParaRPr>
          </a:p>
          <a:p>
            <a:pPr marL="45720"/>
            <a:r>
              <a:rPr lang="ru-RU" u="sng" dirty="0"/>
              <a:t>Пример:</a:t>
            </a:r>
          </a:p>
          <a:p>
            <a:pPr marL="45720"/>
            <a:r>
              <a:rPr lang="ru-RU" dirty="0"/>
              <a:t>Бывший топ-менеджер, Ж, 38 лет. </a:t>
            </a:r>
          </a:p>
          <a:p>
            <a:pPr marL="45720"/>
            <a:r>
              <a:rPr lang="ru-RU" dirty="0"/>
              <a:t>«Сейчас я никто – ушла с работы, проблемы по здоровью (куча операций), у меня проблемы в семье. </a:t>
            </a:r>
          </a:p>
          <a:p>
            <a:pPr marL="45720"/>
            <a:r>
              <a:rPr lang="ru-RU" dirty="0"/>
              <a:t>Мне не на что и не на кого опереться. </a:t>
            </a:r>
          </a:p>
          <a:p>
            <a:pPr marL="45720"/>
            <a:r>
              <a:rPr lang="ru-RU" dirty="0"/>
              <a:t>Я всегда была человеком цели, результата, пробивная. Сейчас я ощущаю себя человеком процесса, и меня это бесит. </a:t>
            </a:r>
          </a:p>
          <a:p>
            <a:pPr marL="45720"/>
            <a:r>
              <a:rPr lang="ru-RU" dirty="0"/>
              <a:t>Задача: пересмотреть свое устройство мозга, свое отношение, чтобы построить более счастливую и здоровую жизнь»</a:t>
            </a:r>
            <a:br>
              <a:rPr lang="ru-RU" dirty="0"/>
            </a:br>
            <a:endParaRPr lang="ru-RU" dirty="0"/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E0E6D97-6FD4-7277-130B-DAE2DEE64F4D}"/>
              </a:ext>
            </a:extLst>
          </p:cNvPr>
          <p:cNvCxnSpPr>
            <a:cxnSpLocks/>
          </p:cNvCxnSpPr>
          <p:nvPr/>
        </p:nvCxnSpPr>
        <p:spPr>
          <a:xfrm>
            <a:off x="550863" y="836712"/>
            <a:ext cx="8929513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8813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550863" y="476672"/>
            <a:ext cx="11161761" cy="5775427"/>
          </a:xfrm>
        </p:spPr>
        <p:txBody>
          <a:bodyPr/>
          <a:lstStyle/>
          <a:p>
            <a:pPr algn="l">
              <a:lnSpc>
                <a:spcPct val="90000"/>
              </a:lnSpc>
            </a:pPr>
            <a:r>
              <a:rPr lang="ru-RU" sz="3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Когда мы используем трансформационный подход?</a:t>
            </a:r>
          </a:p>
          <a:p>
            <a:pPr algn="l">
              <a:lnSpc>
                <a:spcPct val="90000"/>
              </a:lnSpc>
            </a:pPr>
            <a:endParaRPr lang="ru-RU" sz="2600" b="1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3) ЛИЧНОСТНЫЙ КРИЗИС,   ЭКЗИСТЕНЦИАЛЬНЫЙ КРИЗИС, ВОЗРАСТНОЙ КРИЗИС (КРИЗИС СРЕДНЕГО ВОЗРАСТА)</a:t>
            </a:r>
          </a:p>
          <a:p>
            <a:endParaRPr lang="ru-RU" dirty="0">
              <a:solidFill>
                <a:schemeClr val="tx1"/>
              </a:solidFill>
            </a:endParaRPr>
          </a:p>
          <a:p>
            <a:endParaRPr lang="ru-RU" dirty="0">
              <a:solidFill>
                <a:schemeClr val="tx1"/>
              </a:solidFill>
            </a:endParaRPr>
          </a:p>
          <a:p>
            <a:r>
              <a:rPr lang="ru-RU" u="sng" dirty="0">
                <a:solidFill>
                  <a:schemeClr val="tx1"/>
                </a:solidFill>
              </a:rPr>
              <a:t>Пример:</a:t>
            </a:r>
          </a:p>
          <a:p>
            <a:pPr marL="45720"/>
            <a:r>
              <a:rPr lang="ru-RU" dirty="0"/>
              <a:t>Топ-менеджер, Ж, 34 года. </a:t>
            </a:r>
          </a:p>
          <a:p>
            <a:pPr marL="45720"/>
            <a:r>
              <a:rPr lang="ru-RU" dirty="0"/>
              <a:t>«У меня есть все, кроме отношений. </a:t>
            </a:r>
          </a:p>
          <a:p>
            <a:pPr marL="45720"/>
            <a:r>
              <a:rPr lang="ru-RU" dirty="0"/>
              <a:t>Цель: найти вектор, который поможет мне построить отношения – какие они должны быть. Отношения с мужчинами. И не только отношения с мужчинами, но и собой, с социумом. </a:t>
            </a:r>
          </a:p>
          <a:p>
            <a:pPr marL="45720"/>
            <a:r>
              <a:rPr lang="ru-RU" dirty="0"/>
              <a:t>Первичны отношения с собой – у меня нет согласия с собой. Хочу наладить внутренний диалог с собой»</a:t>
            </a:r>
          </a:p>
          <a:p>
            <a:pPr marL="45720"/>
            <a:endParaRPr lang="ru-RU" dirty="0"/>
          </a:p>
          <a:p>
            <a:pPr marL="45720"/>
            <a:endParaRPr lang="ru-RU" dirty="0"/>
          </a:p>
          <a:p>
            <a:pPr marL="45720"/>
            <a:endParaRPr lang="ru-RU" dirty="0"/>
          </a:p>
          <a:p>
            <a:pPr marL="45720"/>
            <a:r>
              <a:rPr lang="ru-RU" u="sng" dirty="0">
                <a:solidFill>
                  <a:schemeClr val="tx1"/>
                </a:solidFill>
              </a:rPr>
              <a:t>Пример:</a:t>
            </a:r>
          </a:p>
          <a:p>
            <a:pPr marL="45720"/>
            <a:r>
              <a:rPr lang="ru-RU" dirty="0"/>
              <a:t>Ж, 30 лет</a:t>
            </a:r>
          </a:p>
          <a:p>
            <a:pPr marL="45720"/>
            <a:r>
              <a:rPr lang="ru-RU" dirty="0"/>
              <a:t>«Я не знаю, чего хочу. Хочу увидеть/создать видение перспектив в будущем»</a:t>
            </a:r>
          </a:p>
          <a:p>
            <a:pPr marL="45720"/>
            <a:endParaRPr lang="ru-RU" dirty="0"/>
          </a:p>
          <a:p>
            <a:endParaRPr lang="ru-RU" dirty="0">
              <a:solidFill>
                <a:schemeClr val="tx1"/>
              </a:solidFill>
            </a:endParaRPr>
          </a:p>
          <a:p>
            <a:pPr marL="45720"/>
            <a:endParaRPr lang="ru-RU" dirty="0"/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B5A2CC28-671A-1647-D943-C378FC83A2F0}"/>
              </a:ext>
            </a:extLst>
          </p:cNvPr>
          <p:cNvCxnSpPr>
            <a:cxnSpLocks/>
          </p:cNvCxnSpPr>
          <p:nvPr/>
        </p:nvCxnSpPr>
        <p:spPr>
          <a:xfrm>
            <a:off x="550863" y="980728"/>
            <a:ext cx="9001521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107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AA2307-C855-4E3A-C05B-47BC92424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188640"/>
            <a:ext cx="6797992" cy="754053"/>
          </a:xfrm>
        </p:spPr>
        <p:txBody>
          <a:bodyPr/>
          <a:lstStyle/>
          <a:p>
            <a:r>
              <a:rPr lang="ru-RU" sz="3100" b="1" kern="1200" dirty="0">
                <a:solidFill>
                  <a:schemeClr val="tx1"/>
                </a:solidFill>
              </a:rPr>
              <a:t>Этапы развития своего Я</a:t>
            </a:r>
            <a:br>
              <a:rPr lang="ru-RU" sz="3100" b="1" kern="1200" dirty="0">
                <a:solidFill>
                  <a:schemeClr val="tx1"/>
                </a:solidFill>
              </a:rPr>
            </a:br>
            <a:r>
              <a:rPr lang="ru-RU" b="1" dirty="0">
                <a:solidFill>
                  <a:schemeClr val="tx1"/>
                </a:solidFill>
              </a:rPr>
              <a:t>Джеймс Холлис «Перевал в середине пути» </a:t>
            </a:r>
            <a:endParaRPr lang="ru-RU" dirty="0"/>
          </a:p>
        </p:txBody>
      </p:sp>
      <p:pic>
        <p:nvPicPr>
          <p:cNvPr id="5" name="Объект 4" descr="Изображение выглядит как текст, снимок экрана, число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59B0C82-EAEB-4990-DCAA-2CC40A9635F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127448" y="1258476"/>
            <a:ext cx="9649072" cy="5316883"/>
          </a:xfrm>
          <a:prstGeom prst="rect">
            <a:avLst/>
          </a:prstGeom>
          <a:gradFill>
            <a:gsLst>
              <a:gs pos="0">
                <a:schemeClr val="accent3">
                  <a:lumMod val="20000"/>
                  <a:lumOff val="8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13BD37FB-3A95-810E-AB24-FE64452BEFDB}"/>
              </a:ext>
            </a:extLst>
          </p:cNvPr>
          <p:cNvCxnSpPr>
            <a:cxnSpLocks/>
          </p:cNvCxnSpPr>
          <p:nvPr/>
        </p:nvCxnSpPr>
        <p:spPr>
          <a:xfrm>
            <a:off x="335360" y="1052736"/>
            <a:ext cx="4968552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569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12791C-4A5F-C937-A2C0-4CB5EA036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66" y="427735"/>
            <a:ext cx="10801200" cy="754053"/>
          </a:xfrm>
        </p:spPr>
        <p:txBody>
          <a:bodyPr/>
          <a:lstStyle/>
          <a:p>
            <a:r>
              <a:rPr lang="ru-RU" sz="3100" b="1" kern="1200" dirty="0">
                <a:solidFill>
                  <a:schemeClr val="tx1"/>
                </a:solidFill>
              </a:rPr>
              <a:t>Накануне внутренней трансформации могут появиться: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47DF03-5099-693D-2A32-E9777230B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7666" y="1268760"/>
            <a:ext cx="10801200" cy="498598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апатия (прокрастинация), которую человек старается превозмочь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чрезмерное пристрастие к работе (убегание в работу) или постоянная смена места работы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употребление алкоголя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связи на стороне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посещение тренингов, обучение на различных курсах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Как правило, здесь нет никаких внешних стимулов, внешних изменений. Все, как обычно.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А ощущение потери чего-то, что внутри меня что-то происходит есть. </a:t>
            </a:r>
          </a:p>
          <a:p>
            <a:pPr marL="45720" indent="0">
              <a:buNone/>
            </a:pPr>
            <a:r>
              <a:rPr lang="ru-RU" dirty="0">
                <a:solidFill>
                  <a:schemeClr val="tx1"/>
                </a:solidFill>
              </a:rPr>
              <a:t>И это «что-то» меня куда-то зовет, иногда мучает</a:t>
            </a:r>
          </a:p>
          <a:p>
            <a:pPr marL="45720" indent="0" algn="ctr">
              <a:buNone/>
            </a:pPr>
            <a:endParaRPr lang="ru-RU" dirty="0">
              <a:solidFill>
                <a:srgbClr val="FF0000"/>
              </a:solidFill>
            </a:endParaRPr>
          </a:p>
          <a:p>
            <a:pPr marL="45720" indent="0" algn="ctr">
              <a:buNone/>
            </a:pPr>
            <a:r>
              <a:rPr lang="ru-RU" dirty="0">
                <a:solidFill>
                  <a:srgbClr val="FF0000"/>
                </a:solidFill>
              </a:rPr>
              <a:t>!!!ПРИ ОТСУТСТВИИ ВНЕШНИХ ИЗМЕНЕНИЙ ЕСТЬ ИЗМЕНЕНИЯ ВНУТРЕННИЕ. </a:t>
            </a:r>
          </a:p>
          <a:p>
            <a:pPr marL="45720" indent="0" algn="ctr">
              <a:buNone/>
            </a:pPr>
            <a:r>
              <a:rPr lang="ru-RU" dirty="0">
                <a:solidFill>
                  <a:srgbClr val="FF0000"/>
                </a:solidFill>
              </a:rPr>
              <a:t>И желание изменить свою жизнь на внешнем уровне</a:t>
            </a:r>
          </a:p>
          <a:p>
            <a:pPr marL="45720" indent="0" algn="ctr">
              <a:buNone/>
            </a:pPr>
            <a:endParaRPr lang="ru-RU" dirty="0">
              <a:solidFill>
                <a:srgbClr val="FF0000"/>
              </a:solidFill>
            </a:endParaRPr>
          </a:p>
          <a:p>
            <a:pPr marL="45720" indent="0" algn="ctr">
              <a:buNone/>
            </a:pPr>
            <a:r>
              <a:rPr lang="ru-RU" dirty="0">
                <a:solidFill>
                  <a:srgbClr val="FF0000"/>
                </a:solidFill>
              </a:rPr>
              <a:t>Очень часто здесь есть внутренний конфликт!</a:t>
            </a:r>
          </a:p>
          <a:p>
            <a:pPr marL="45720" indent="0" algn="ctr">
              <a:buNone/>
            </a:pPr>
            <a:r>
              <a:rPr lang="ru-RU" dirty="0">
                <a:solidFill>
                  <a:srgbClr val="FF0000"/>
                </a:solidFill>
              </a:rPr>
              <a:t>Человек теряет свою целостность!</a:t>
            </a:r>
          </a:p>
          <a:p>
            <a:pPr marL="45720" indent="0">
              <a:buNone/>
            </a:pPr>
            <a:endParaRPr lang="ru-RU" dirty="0">
              <a:solidFill>
                <a:srgbClr val="0070C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endParaRPr lang="ru-RU" b="1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8397A6D2-7A58-2094-67C0-C5C3754CC6FE}"/>
              </a:ext>
            </a:extLst>
          </p:cNvPr>
          <p:cNvCxnSpPr>
            <a:cxnSpLocks/>
          </p:cNvCxnSpPr>
          <p:nvPr/>
        </p:nvCxnSpPr>
        <p:spPr>
          <a:xfrm>
            <a:off x="335360" y="1052736"/>
            <a:ext cx="9577064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406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323364"/>
            <a:ext cx="9192344" cy="954107"/>
          </a:xfrm>
        </p:spPr>
        <p:txBody>
          <a:bodyPr/>
          <a:lstStyle/>
          <a:p>
            <a:pPr algn="ctr"/>
            <a:r>
              <a:rPr lang="ru-RU" sz="3100" b="1" kern="1200" dirty="0">
                <a:solidFill>
                  <a:schemeClr val="tx1"/>
                </a:solidFill>
              </a:rPr>
              <a:t>Часто бывает, что выскакивает черт из табакерки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460010" y="1124745"/>
            <a:ext cx="11396630" cy="5472606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Клиент «приносит» УСЛОВНО линейную задачу: устройство на работу,  повышение в должности, </a:t>
            </a:r>
          </a:p>
          <a:p>
            <a:pPr marL="342900" indent="-342900"/>
            <a:r>
              <a:rPr lang="ru-RU" dirty="0"/>
              <a:t>переход в более крупную компанию, спланировать шаги в проекте.</a:t>
            </a:r>
          </a:p>
          <a:p>
            <a:pPr marL="342900" indent="-342900"/>
            <a:endParaRPr lang="ru-RU" dirty="0"/>
          </a:p>
          <a:p>
            <a:pPr marL="342900" indent="-342900"/>
            <a:endParaRPr lang="ru-RU" dirty="0"/>
          </a:p>
          <a:p>
            <a:endParaRPr lang="ru-RU" dirty="0">
              <a:solidFill>
                <a:schemeClr val="tx1"/>
              </a:solidFill>
            </a:endParaRPr>
          </a:p>
          <a:p>
            <a:pPr marL="45720"/>
            <a:endParaRPr lang="ru-RU" u="sng" dirty="0">
              <a:solidFill>
                <a:schemeClr val="tx1"/>
              </a:solidFill>
            </a:endParaRPr>
          </a:p>
          <a:p>
            <a:pPr marL="45720"/>
            <a:endParaRPr lang="ru-RU" u="sng" dirty="0">
              <a:solidFill>
                <a:schemeClr val="tx1"/>
              </a:solidFill>
            </a:endParaRPr>
          </a:p>
          <a:p>
            <a:pPr marL="45720"/>
            <a:endParaRPr lang="ru-RU" u="sng" dirty="0">
              <a:solidFill>
                <a:schemeClr val="tx1"/>
              </a:solidFill>
            </a:endParaRPr>
          </a:p>
          <a:p>
            <a:pPr marL="45720"/>
            <a:endParaRPr lang="ru-RU" u="sng" dirty="0">
              <a:solidFill>
                <a:schemeClr val="tx1"/>
              </a:solidFill>
            </a:endParaRPr>
          </a:p>
          <a:p>
            <a:pPr marL="45720"/>
            <a:endParaRPr lang="ru-RU" u="sng" dirty="0">
              <a:solidFill>
                <a:schemeClr val="tx1"/>
              </a:solidFill>
            </a:endParaRPr>
          </a:p>
          <a:p>
            <a:pPr marL="45720"/>
            <a:endParaRPr lang="ru-RU" u="sng" dirty="0">
              <a:solidFill>
                <a:schemeClr val="tx1"/>
              </a:solidFill>
            </a:endParaRPr>
          </a:p>
          <a:p>
            <a:pPr marL="45720"/>
            <a:endParaRPr lang="ru-RU" u="sng" dirty="0">
              <a:solidFill>
                <a:schemeClr val="tx1"/>
              </a:solidFill>
            </a:endParaRPr>
          </a:p>
          <a:p>
            <a:pPr marL="45720"/>
            <a:endParaRPr lang="ru-RU" u="sng" dirty="0">
              <a:solidFill>
                <a:schemeClr val="tx1"/>
              </a:solidFill>
            </a:endParaRPr>
          </a:p>
          <a:p>
            <a:pPr marL="45720"/>
            <a:endParaRPr lang="ru-RU" u="sng" dirty="0">
              <a:solidFill>
                <a:schemeClr val="tx1"/>
              </a:solidFill>
            </a:endParaRPr>
          </a:p>
          <a:p>
            <a:pPr marL="45720"/>
            <a:endParaRPr lang="ru-RU" u="sng" dirty="0">
              <a:solidFill>
                <a:schemeClr val="tx1"/>
              </a:solidFill>
            </a:endParaRPr>
          </a:p>
          <a:p>
            <a:pPr marL="45720"/>
            <a:endParaRPr lang="ru-RU" u="sng" dirty="0">
              <a:solidFill>
                <a:schemeClr val="tx1"/>
              </a:solidFill>
            </a:endParaRPr>
          </a:p>
          <a:p>
            <a:pPr marL="45720"/>
            <a:endParaRPr lang="ru-RU" u="sng" dirty="0">
              <a:solidFill>
                <a:schemeClr val="tx1"/>
              </a:solidFill>
            </a:endParaRPr>
          </a:p>
          <a:p>
            <a:pPr marL="45720"/>
            <a:endParaRPr lang="ru-RU" u="sng" dirty="0">
              <a:solidFill>
                <a:schemeClr val="tx1"/>
              </a:solidFill>
            </a:endParaRPr>
          </a:p>
          <a:p>
            <a:pPr marL="45720"/>
            <a:endParaRPr lang="ru-RU" u="sng" dirty="0">
              <a:solidFill>
                <a:schemeClr val="tx1"/>
              </a:solidFill>
            </a:endParaRPr>
          </a:p>
          <a:p>
            <a:pPr marL="45720"/>
            <a:r>
              <a:rPr lang="ru-RU" u="sng" dirty="0">
                <a:solidFill>
                  <a:schemeClr val="tx1"/>
                </a:solidFill>
              </a:rPr>
              <a:t>Пример:</a:t>
            </a:r>
          </a:p>
          <a:p>
            <a:pPr marL="45720"/>
            <a:r>
              <a:rPr lang="ru-RU" dirty="0"/>
              <a:t>«Внутри меня борется Испуганная Девочка, которую все оценивают, и Могущественная Королева, которая знает свои земли и правила. Девочка сейчас загнала Королеву в темницу сомнений. Я хочу, чтобы именно Королева управляла моей жизнью и карьерой. Сейчас ощущение, что я – ни на что негодная, особенно как женщина. Хочу стать более уверенной, научиться плевать на мнения окружающих.</a:t>
            </a:r>
          </a:p>
          <a:p>
            <a:pPr marL="45720"/>
            <a:endParaRPr lang="ru-RU" dirty="0"/>
          </a:p>
          <a:p>
            <a:pPr marL="45720"/>
            <a:r>
              <a:rPr lang="ru-RU" dirty="0"/>
              <a:t>(Проходит время, и на этой же сессии мы выходим)</a:t>
            </a:r>
          </a:p>
          <a:p>
            <a:pPr marL="45720"/>
            <a:endParaRPr lang="ru-RU" dirty="0"/>
          </a:p>
          <a:p>
            <a:pPr marL="45720"/>
            <a:r>
              <a:rPr lang="ru-RU" dirty="0"/>
              <a:t>Самое актуальное сейчас: сформировать взрослую позицию. Повысить самооценку. Быть уверенной в своих способностях. </a:t>
            </a:r>
          </a:p>
          <a:p>
            <a:pPr marL="45720"/>
            <a:r>
              <a:rPr lang="ru-RU" dirty="0"/>
              <a:t>Перестать беспокоиться, что думают другие. Перестать беспокоиться о том, что еще не наступило, что  будет «там», жить настоящим моментом. </a:t>
            </a:r>
          </a:p>
          <a:p>
            <a:pPr marL="45720"/>
            <a:r>
              <a:rPr lang="ru-RU" dirty="0"/>
              <a:t>Стать автором событий своей жизни. Да, стать автором!»</a:t>
            </a:r>
            <a:br>
              <a:rPr lang="ru-RU" dirty="0"/>
            </a:br>
            <a:endParaRPr lang="ru-RU" dirty="0"/>
          </a:p>
          <a:p>
            <a:pPr marL="45720"/>
            <a:endParaRPr lang="ru-RU" dirty="0">
              <a:solidFill>
                <a:schemeClr val="tx1"/>
              </a:solidFill>
            </a:endParaRPr>
          </a:p>
          <a:p>
            <a:pPr marL="45720"/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386770F7-5C0A-E117-8D89-3794CC6D8BDE}"/>
              </a:ext>
            </a:extLst>
          </p:cNvPr>
          <p:cNvCxnSpPr>
            <a:cxnSpLocks/>
          </p:cNvCxnSpPr>
          <p:nvPr/>
        </p:nvCxnSpPr>
        <p:spPr>
          <a:xfrm>
            <a:off x="479376" y="836712"/>
            <a:ext cx="8352928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Объект 4" descr="Изображение выглядит как текст, снимок экрана, Шрифт, докумен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A8C9FFF-1B3B-4849-84E2-CEB89DF89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3" y="1601098"/>
            <a:ext cx="6264696" cy="261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079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3FF6FC6-C2B3-3B42-ED92-B0A3C23B5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404664"/>
            <a:ext cx="9329650" cy="621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016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визитная карточка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2DCF598-BAF8-7655-EE3D-170068403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32" y="1196752"/>
            <a:ext cx="9037415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774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2691" y="85367"/>
            <a:ext cx="11360800" cy="763600"/>
          </a:xfrm>
        </p:spPr>
        <p:txBody>
          <a:bodyPr>
            <a:normAutofit/>
          </a:bodyPr>
          <a:lstStyle/>
          <a:p>
            <a:r>
              <a:rPr lang="ru-RU" sz="3100" b="1" kern="1200" dirty="0">
                <a:solidFill>
                  <a:schemeClr val="tx1"/>
                </a:solidFill>
              </a:rPr>
              <a:t>Выбор. «Декартовы координаты». Классика</a:t>
            </a:r>
          </a:p>
        </p:txBody>
      </p:sp>
      <p:pic>
        <p:nvPicPr>
          <p:cNvPr id="1028" name="Picture 4" descr="https://sun9-39.userapi.com/impf/c628727/v628727310/41881/Cu37SWiBq8A.jpg?size=807x748&amp;quality=96&amp;sign=9f5a168b66fcca27aba9a741f0df49a2&amp;c_uniq_tag=PvVOimvwdENJ3DjEZV1XkO0iEzpOv7QDuxRGVjgfmPM&amp;type=album"/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08" y="776589"/>
            <a:ext cx="9986113" cy="591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C21543C8-88C5-8FC9-C777-9B757AB632BF}"/>
              </a:ext>
            </a:extLst>
          </p:cNvPr>
          <p:cNvCxnSpPr>
            <a:cxnSpLocks/>
          </p:cNvCxnSpPr>
          <p:nvPr/>
        </p:nvCxnSpPr>
        <p:spPr>
          <a:xfrm>
            <a:off x="692691" y="620688"/>
            <a:ext cx="7563549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610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99661035"/>
              </p:ext>
            </p:extLst>
          </p:nvPr>
        </p:nvGraphicFramePr>
        <p:xfrm>
          <a:off x="543817" y="1111373"/>
          <a:ext cx="10964027" cy="5342383"/>
        </p:xfrm>
        <a:graphic>
          <a:graphicData uri="http://schemas.openxmlformats.org/drawingml/2006/table">
            <a:tbl>
              <a:tblPr/>
              <a:tblGrid>
                <a:gridCol w="10964027">
                  <a:extLst>
                    <a:ext uri="{9D8B030D-6E8A-4147-A177-3AD203B41FA5}">
                      <a16:colId xmlns:a16="http://schemas.microsoft.com/office/drawing/2014/main" val="145576719"/>
                    </a:ext>
                  </a:extLst>
                </a:gridCol>
              </a:tblGrid>
              <a:tr h="534238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900" dirty="0">
                          <a:effectLst/>
                        </a:rPr>
                        <a:t>1) АРТ: нарисовать 2 рисунка = 2 варианта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900" dirty="0">
                          <a:effectLst/>
                        </a:rPr>
                        <a:t>2) Анализ рисунков по базовым</a:t>
                      </a:r>
                      <a:r>
                        <a:rPr lang="ru-RU" sz="1900" baseline="0" dirty="0">
                          <a:effectLst/>
                        </a:rPr>
                        <a:t> вопросам в арт-подходе</a:t>
                      </a:r>
                      <a:r>
                        <a:rPr lang="ru-RU" sz="1900" dirty="0">
                          <a:effectLst/>
                        </a:rPr>
                        <a:t>: что ты видишь, ассоциации, какой рисунок тебе нравится и почему и т п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900" dirty="0">
                          <a:effectLst/>
                        </a:rPr>
                        <a:t>3) ТОП: просим клиента встать поочередно на оба рисунка: 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900" dirty="0">
                          <a:effectLst/>
                        </a:rPr>
                        <a:t>Телесные ощущения</a:t>
                      </a:r>
                      <a:r>
                        <a:rPr lang="ru-RU" sz="1900" baseline="0" dirty="0">
                          <a:effectLst/>
                        </a:rPr>
                        <a:t> («Что чувствуешь телесно? Как тебе здесь находиться именно физически? Какие есть ощущения в теле? Опиши их подробнее. Ес</a:t>
                      </a:r>
                      <a:r>
                        <a:rPr lang="ru-RU" sz="1900" dirty="0">
                          <a:effectLst/>
                        </a:rPr>
                        <a:t>ть ли импульс в теле к действию/движению?»)</a:t>
                      </a:r>
                    </a:p>
                    <a:p>
                      <a:pPr marL="285750" indent="-2857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900" dirty="0">
                          <a:effectLst/>
                        </a:rPr>
                        <a:t>Чувства </a:t>
                      </a:r>
                      <a:r>
                        <a:rPr lang="ru-RU" sz="1900" baseline="0" dirty="0">
                          <a:effectLst/>
                        </a:rPr>
                        <a:t>(«Что чувствуешь при этом?»)</a:t>
                      </a:r>
                      <a:endParaRPr lang="ru-RU" sz="1900" dirty="0">
                        <a:effectLst/>
                      </a:endParaRPr>
                    </a:p>
                    <a:p>
                      <a:pPr marL="285750" indent="-28575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900" dirty="0">
                          <a:effectLst/>
                        </a:rPr>
                        <a:t>По ощущениям,</a:t>
                      </a:r>
                      <a:r>
                        <a:rPr lang="ru-RU" sz="1900" baseline="0" dirty="0">
                          <a:effectLst/>
                        </a:rPr>
                        <a:t> интуиции</a:t>
                      </a:r>
                      <a:r>
                        <a:rPr lang="ru-RU" sz="1900" dirty="0">
                          <a:effectLst/>
                        </a:rPr>
                        <a:t>: «Что потеряешь</a:t>
                      </a:r>
                      <a:r>
                        <a:rPr lang="ru-RU" sz="1900" baseline="0" dirty="0">
                          <a:effectLst/>
                        </a:rPr>
                        <a:t> и что </a:t>
                      </a:r>
                      <a:r>
                        <a:rPr lang="ru-RU" sz="1900" dirty="0">
                          <a:effectLst/>
                        </a:rPr>
                        <a:t>получишь? Какие есть плюсы/минусы?»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900" dirty="0">
                          <a:effectLst/>
                        </a:rPr>
                        <a:t>4) Возвращаемся на место: «заземляемся» и рационально анализируем,</a:t>
                      </a:r>
                      <a:r>
                        <a:rPr lang="ru-RU" sz="1900" baseline="0" dirty="0">
                          <a:effectLst/>
                        </a:rPr>
                        <a:t> делаем выводы:</a:t>
                      </a:r>
                      <a:r>
                        <a:rPr lang="ru-RU" sz="1900" dirty="0">
                          <a:effectLst/>
                        </a:rPr>
                        <a:t> что ты выбираешь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ru-RU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ru-RU" altLang="ru-RU" sz="1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Отработка в парах в одну сторону 25 мин (вместе с рисованием). Итого 50 мин в обе стороны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471" marR="114471" marT="0" marB="0"/>
                </a:tc>
                <a:extLst>
                  <a:ext uri="{0D108BD9-81ED-4DB2-BD59-A6C34878D82A}">
                    <a16:rowId xmlns:a16="http://schemas.microsoft.com/office/drawing/2014/main" val="472783111"/>
                  </a:ext>
                </a:extLst>
              </a:tr>
            </a:tbl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28A477-8093-A246-FB0A-5D97EE3B80D2}"/>
              </a:ext>
            </a:extLst>
          </p:cNvPr>
          <p:cNvSpPr txBox="1">
            <a:spLocks/>
          </p:cNvSpPr>
          <p:nvPr/>
        </p:nvSpPr>
        <p:spPr>
          <a:xfrm>
            <a:off x="530208" y="259551"/>
            <a:ext cx="11360800" cy="763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ru-RU" sz="3100" b="1" kern="1200" dirty="0">
                <a:solidFill>
                  <a:schemeClr val="tx1"/>
                </a:solidFill>
              </a:rPr>
              <a:t>Выбор. «Декартовы координаты». </a:t>
            </a:r>
            <a:r>
              <a:rPr lang="ru-RU" sz="3100" b="1" dirty="0"/>
              <a:t>Трансформационный подход</a:t>
            </a:r>
            <a:r>
              <a:rPr lang="ru-RU" sz="3100" b="1" kern="1200" dirty="0">
                <a:solidFill>
                  <a:schemeClr val="tx1"/>
                </a:solidFill>
              </a:rPr>
              <a:t> 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69FDE1CF-415D-255A-0B5E-3E1340DE6954}"/>
              </a:ext>
            </a:extLst>
          </p:cNvPr>
          <p:cNvCxnSpPr>
            <a:cxnSpLocks/>
          </p:cNvCxnSpPr>
          <p:nvPr/>
        </p:nvCxnSpPr>
        <p:spPr>
          <a:xfrm>
            <a:off x="543817" y="764704"/>
            <a:ext cx="11096799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3132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5600" y="316276"/>
            <a:ext cx="11360800" cy="763600"/>
          </a:xfrm>
        </p:spPr>
        <p:txBody>
          <a:bodyPr>
            <a:normAutofit/>
          </a:bodyPr>
          <a:lstStyle/>
          <a:p>
            <a:r>
              <a:rPr lang="ru-RU" sz="3100" b="1" kern="1200" dirty="0">
                <a:solidFill>
                  <a:schemeClr val="tx1"/>
                </a:solidFill>
              </a:rPr>
              <a:t>БАЗОВЫЕ</a:t>
            </a:r>
            <a:r>
              <a:rPr lang="ru-RU" dirty="0"/>
              <a:t> </a:t>
            </a:r>
            <a:r>
              <a:rPr lang="ru-RU" sz="3100" b="1" kern="1200" dirty="0">
                <a:solidFill>
                  <a:schemeClr val="tx1"/>
                </a:solidFill>
              </a:rPr>
              <a:t>вопросы для работы с рисунком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415601" y="1079876"/>
            <a:ext cx="11129855" cy="520085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Какие ассоциации приходят, когда ты смотришь на сюжет на рисунке?</a:t>
            </a:r>
            <a:endParaRPr lang="ru-RU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Что на рисунке тебя привлекает больше всего? Какая фигура/элемент тебя эмоционально цепляет? С чем это связано?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Что хочется рассказать тебе самому, глядя на этот рисунок?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Предлагаем клиенту пофантазировать и рассказать про фигуру/образ на рисунке: Расскажи поподробнее! Что/кто это? Возраст? Где находится? Какая она? Кто/что ее окружает? С кем взаимодействует? Что привело к сложившейся ситуации?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Какие идут эмоции на этот рисунок, какие телесные ощущения?</a:t>
            </a:r>
            <a:endParaRPr lang="ru-RU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Дай название этому рисунку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FF0000"/>
                </a:solidFill>
              </a:rPr>
              <a:t>Про что это в твоей жизни? Как связано с запросом? Какие подсказки дает рисунок? Какие выводы ты делаешь? Какое решение ты принимаешь?</a:t>
            </a:r>
            <a:endParaRPr lang="ru-RU" i="1" dirty="0">
              <a:solidFill>
                <a:srgbClr val="FF0000"/>
              </a:solidFill>
            </a:endParaRPr>
          </a:p>
          <a:p>
            <a:pPr marL="152396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8974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Объект 8" descr="Изображение выглядит как текст, снимок экрана, Шрифт, алгебр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602F1A6-A530-26EA-80B4-744C44B8C41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00407" y="1700808"/>
            <a:ext cx="7632848" cy="2016224"/>
          </a:xfrm>
          <a:prstGeom prst="rect">
            <a:avLst/>
          </a:prstGeom>
        </p:spPr>
      </p:pic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377825" y="427038"/>
            <a:ext cx="6797675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02"/>
              </a:lnSpc>
              <a:spcBef>
                <a:spcPts val="0"/>
              </a:spcBef>
              <a:spcAft>
                <a:spcPts val="0"/>
              </a:spcAft>
            </a:pPr>
            <a:r>
              <a:rPr sz="3100" b="1" kern="1200" dirty="0">
                <a:solidFill>
                  <a:schemeClr val="tx1"/>
                </a:solidFill>
              </a:rPr>
              <a:t>Компоненты трансформации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5BE65241-C251-C4D0-0790-75664FFA258B}"/>
              </a:ext>
            </a:extLst>
          </p:cNvPr>
          <p:cNvCxnSpPr>
            <a:cxnSpLocks/>
          </p:cNvCxnSpPr>
          <p:nvPr/>
        </p:nvCxnSpPr>
        <p:spPr>
          <a:xfrm>
            <a:off x="377825" y="980728"/>
            <a:ext cx="5070103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1490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BD56A3-1DBD-E3EA-3FEB-8B9EE457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332656"/>
            <a:ext cx="7955555" cy="477054"/>
          </a:xfrm>
        </p:spPr>
        <p:txBody>
          <a:bodyPr/>
          <a:lstStyle/>
          <a:p>
            <a:pPr algn="l"/>
            <a:r>
              <a:rPr lang="ru-RU" sz="3100" kern="1200" dirty="0">
                <a:solidFill>
                  <a:schemeClr val="tx1"/>
                </a:solidFill>
              </a:rPr>
              <a:t>Результативность по Дауни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D0A5D6-1DF8-8B7D-8960-16D5EABC4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8399" y="2319399"/>
            <a:ext cx="11315201" cy="3908762"/>
          </a:xfrm>
        </p:spPr>
        <p:txBody>
          <a:bodyPr/>
          <a:lstStyle/>
          <a:p>
            <a:pPr lvl="0" algn="l"/>
            <a:r>
              <a:rPr lang="ru-RU" sz="1800" b="1" dirty="0">
                <a:solidFill>
                  <a:schemeClr val="tx1"/>
                </a:solidFill>
              </a:rPr>
              <a:t>ПОТЕНЦИАЛ.</a:t>
            </a:r>
            <a:r>
              <a:rPr lang="ru-RU" sz="1800" dirty="0">
                <a:solidFill>
                  <a:schemeClr val="tx1"/>
                </a:solidFill>
              </a:rPr>
              <a:t> Это </a:t>
            </a:r>
            <a:r>
              <a:rPr lang="ru-RU" sz="1800" b="1" dirty="0">
                <a:solidFill>
                  <a:schemeClr val="tx1"/>
                </a:solidFill>
              </a:rPr>
              <a:t>не то, что вам нужно в себе создать</a:t>
            </a:r>
            <a:r>
              <a:rPr lang="ru-RU" sz="1800" dirty="0">
                <a:solidFill>
                  <a:schemeClr val="tx1"/>
                </a:solidFill>
              </a:rPr>
              <a:t>, а то, что в вас уже есть. Ваши способности, таланты, внутренние ресурсы, нервная система, способная учиться. Представьте мощный, чистый источник энергии. Он уже бьёт из-под земли. Это — данность.</a:t>
            </a:r>
          </a:p>
          <a:p>
            <a:pPr lvl="0" algn="l"/>
            <a:endParaRPr lang="ru-RU" sz="1800" b="1" dirty="0">
              <a:solidFill>
                <a:schemeClr val="tx1"/>
              </a:solidFill>
            </a:endParaRPr>
          </a:p>
          <a:p>
            <a:pPr lvl="0" algn="l"/>
            <a:r>
              <a:rPr lang="ru-RU" sz="1800" b="1" dirty="0">
                <a:solidFill>
                  <a:schemeClr val="tx1"/>
                </a:solidFill>
              </a:rPr>
              <a:t>РЕЗУЛЬТАТИВНОСТЬ.</a:t>
            </a:r>
            <a:r>
              <a:rPr lang="ru-RU" sz="1800" dirty="0">
                <a:solidFill>
                  <a:schemeClr val="tx1"/>
                </a:solidFill>
              </a:rPr>
              <a:t> Это то, что мы видим в реальном мире. Решенные задачи, достигнутые цели, качество жизни, ощущения. Это не количество потраченных усилий, а </a:t>
            </a:r>
            <a:r>
              <a:rPr lang="ru-RU" sz="1800" b="1" dirty="0">
                <a:solidFill>
                  <a:schemeClr val="tx1"/>
                </a:solidFill>
              </a:rPr>
              <a:t>практический выход</a:t>
            </a:r>
            <a:r>
              <a:rPr lang="ru-RU" sz="1800" dirty="0">
                <a:solidFill>
                  <a:schemeClr val="tx1"/>
                </a:solidFill>
              </a:rPr>
              <a:t>.</a:t>
            </a:r>
          </a:p>
          <a:p>
            <a:pPr lvl="0" algn="l"/>
            <a:endParaRPr lang="ru-RU" sz="1800" b="1" dirty="0">
              <a:solidFill>
                <a:schemeClr val="tx1"/>
              </a:solidFill>
            </a:endParaRPr>
          </a:p>
          <a:p>
            <a:pPr lvl="0" algn="l"/>
            <a:r>
              <a:rPr lang="ru-RU" sz="1800" b="1" dirty="0">
                <a:solidFill>
                  <a:schemeClr val="tx1"/>
                </a:solidFill>
              </a:rPr>
              <a:t>«МИНУС». Этот знак — самый важный.</a:t>
            </a:r>
            <a:r>
              <a:rPr lang="ru-RU" sz="1800" dirty="0">
                <a:solidFill>
                  <a:schemeClr val="tx1"/>
                </a:solidFill>
              </a:rPr>
              <a:t> Он показывает, что результат </a:t>
            </a:r>
            <a:r>
              <a:rPr lang="ru-RU" sz="1800" b="1" dirty="0">
                <a:solidFill>
                  <a:schemeClr val="tx1"/>
                </a:solidFill>
              </a:rPr>
              <a:t>не равен</a:t>
            </a:r>
            <a:r>
              <a:rPr lang="ru-RU" sz="1800" dirty="0">
                <a:solidFill>
                  <a:schemeClr val="tx1"/>
                </a:solidFill>
              </a:rPr>
              <a:t> потенциалу. Что-то вычитается. Что-то забирает энергию, искажает сигнал, тормозит действие.</a:t>
            </a:r>
          </a:p>
          <a:p>
            <a:pPr lvl="0" algn="l"/>
            <a:endParaRPr lang="ru-RU" sz="1800" b="1" dirty="0">
              <a:solidFill>
                <a:schemeClr val="tx1"/>
              </a:solidFill>
            </a:endParaRPr>
          </a:p>
          <a:p>
            <a:pPr lvl="0" algn="l"/>
            <a:r>
              <a:rPr lang="ru-RU" sz="1800" b="1" dirty="0">
                <a:solidFill>
                  <a:schemeClr val="tx1"/>
                </a:solidFill>
              </a:rPr>
              <a:t>ВМЕШАТЕЛЬСТВО.</a:t>
            </a:r>
            <a:r>
              <a:rPr lang="ru-RU" sz="1800" dirty="0">
                <a:solidFill>
                  <a:schemeClr val="tx1"/>
                </a:solidFill>
              </a:rPr>
              <a:t> Вот она — разгадка. </a:t>
            </a:r>
            <a:r>
              <a:rPr lang="ru-RU" sz="1800" b="1" dirty="0">
                <a:solidFill>
                  <a:schemeClr val="tx1"/>
                </a:solidFill>
              </a:rPr>
              <a:t>Вмешательство — это не внешняя преграда.</a:t>
            </a:r>
            <a:r>
              <a:rPr lang="ru-RU" sz="1800" dirty="0">
                <a:solidFill>
                  <a:schemeClr val="tx1"/>
                </a:solidFill>
              </a:rPr>
              <a:t> Это </a:t>
            </a:r>
            <a:r>
              <a:rPr lang="ru-RU" sz="1800" b="1" dirty="0">
                <a:solidFill>
                  <a:schemeClr val="tx1"/>
                </a:solidFill>
              </a:rPr>
              <a:t>внутренний психический процесс</a:t>
            </a:r>
            <a:r>
              <a:rPr lang="ru-RU" sz="1800" dirty="0">
                <a:solidFill>
                  <a:schemeClr val="tx1"/>
                </a:solidFill>
              </a:rPr>
              <a:t>, который искажает наше восприятие реальности, крадёт фокус и энергию. Это «шум» в голове, который заглушает «сигнал» вашего потенциала.</a:t>
            </a:r>
          </a:p>
          <a:p>
            <a:pPr algn="l"/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D72630F-1326-B86F-82B1-C91FE63DF56A}"/>
              </a:ext>
            </a:extLst>
          </p:cNvPr>
          <p:cNvCxnSpPr>
            <a:cxnSpLocks/>
          </p:cNvCxnSpPr>
          <p:nvPr/>
        </p:nvCxnSpPr>
        <p:spPr>
          <a:xfrm>
            <a:off x="263352" y="980728"/>
            <a:ext cx="4752528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B69FBA9-F1DA-F496-9499-2C4B1BE3E3D8}"/>
              </a:ext>
            </a:extLst>
          </p:cNvPr>
          <p:cNvSpPr txBox="1"/>
          <p:nvPr/>
        </p:nvSpPr>
        <p:spPr>
          <a:xfrm>
            <a:off x="1631504" y="1113335"/>
            <a:ext cx="8712967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0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Результат — это потенциал минус внутренние помехи («вмешательства»). </a:t>
            </a: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20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Работа с ними — суть трансформации.</a:t>
            </a:r>
            <a:endParaRPr lang="ru-RU" sz="2000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425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7434" y="556878"/>
            <a:ext cx="8370235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02"/>
              </a:lnSpc>
              <a:spcBef>
                <a:spcPts val="0"/>
              </a:spcBef>
              <a:spcAft>
                <a:spcPts val="0"/>
              </a:spcAft>
            </a:pPr>
            <a:r>
              <a:rPr sz="3100" b="1" dirty="0">
                <a:latin typeface="+mj-lt"/>
                <a:ea typeface="+mj-ea"/>
                <a:cs typeface="+mj-cs"/>
              </a:rPr>
              <a:t>На чем фокус внимания коуча (по Т.</a:t>
            </a:r>
            <a:r>
              <a:rPr lang="ru-RU" sz="3100" b="1" dirty="0">
                <a:latin typeface="+mj-lt"/>
                <a:ea typeface="+mj-ea"/>
                <a:cs typeface="+mj-cs"/>
              </a:rPr>
              <a:t> </a:t>
            </a:r>
            <a:r>
              <a:rPr sz="3100" b="1" dirty="0" err="1">
                <a:latin typeface="+mj-lt"/>
                <a:ea typeface="+mj-ea"/>
                <a:cs typeface="+mj-cs"/>
              </a:rPr>
              <a:t>Голви</a:t>
            </a:r>
            <a:r>
              <a:rPr sz="3100" b="1" dirty="0">
                <a:latin typeface="+mj-lt"/>
                <a:ea typeface="+mj-ea"/>
                <a:cs typeface="+mj-cs"/>
              </a:rPr>
              <a:t>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31504" y="1372931"/>
            <a:ext cx="922250" cy="834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627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302F2F"/>
                </a:solidFill>
                <a:latin typeface="BBJHQW+TrebuchetMS"/>
                <a:cs typeface="BBJHQW+TrebuchetMS"/>
              </a:rPr>
              <a:t>Я</a:t>
            </a:r>
            <a:r>
              <a:rPr sz="5400" dirty="0">
                <a:solidFill>
                  <a:srgbClr val="302F2F"/>
                </a:solidFill>
                <a:latin typeface="HMFSJP+TrebuchetMS"/>
                <a:cs typeface="HMFSJP+TrebuchetMS"/>
              </a:rPr>
              <a:t>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752184" y="1372931"/>
            <a:ext cx="922250" cy="8344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6270"/>
              </a:lnSpc>
              <a:spcBef>
                <a:spcPts val="0"/>
              </a:spcBef>
              <a:spcAft>
                <a:spcPts val="0"/>
              </a:spcAft>
            </a:pPr>
            <a:r>
              <a:rPr sz="5400" dirty="0">
                <a:solidFill>
                  <a:srgbClr val="575757"/>
                </a:solidFill>
                <a:latin typeface="BBJHQW+TrebuchetMS"/>
                <a:cs typeface="BBJHQW+TrebuchetMS"/>
              </a:rPr>
              <a:t>Я</a:t>
            </a:r>
            <a:r>
              <a:rPr sz="5400" dirty="0">
                <a:solidFill>
                  <a:srgbClr val="575757"/>
                </a:solidFill>
                <a:latin typeface="HMFSJP+TrebuchetMS"/>
                <a:cs typeface="HMFSJP+TrebuchetMS"/>
              </a:rPr>
              <a:t>2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60196" y="2178826"/>
            <a:ext cx="3996454" cy="342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94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RNNCM+SegoeUISymbol"/>
                <a:cs typeface="KRNNCM+SegoeUISymbol"/>
              </a:rPr>
              <a:t>➢</a:t>
            </a:r>
            <a:r>
              <a:rPr sz="1800" spc="7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Внутренний</a:t>
            </a:r>
            <a:r>
              <a:rPr sz="1800" spc="18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голос, подающий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604930" y="2178826"/>
            <a:ext cx="3919926" cy="14239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94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RNNCM+SegoeUISymbol"/>
                <a:cs typeface="KRNNCM+SegoeUISymbol"/>
              </a:rPr>
              <a:t>➢</a:t>
            </a:r>
            <a:r>
              <a:rPr sz="1800" spc="7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Подлинное, истинное</a:t>
            </a:r>
            <a:r>
              <a:rPr sz="1800" spc="19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Я.</a:t>
            </a:r>
          </a:p>
          <a:p>
            <a:pPr marL="0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RNNCM+SegoeUISymbol"/>
                <a:cs typeface="KRNNCM+SegoeUISymbol"/>
              </a:rPr>
              <a:t>➢</a:t>
            </a:r>
            <a:r>
              <a:rPr sz="1800" spc="7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Внутренний</a:t>
            </a:r>
            <a:r>
              <a:rPr sz="1800" spc="18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потенциал,</a:t>
            </a:r>
          </a:p>
          <a:p>
            <a:pPr marL="242887" marR="0">
              <a:lnSpc>
                <a:spcPts val="2187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способности</a:t>
            </a:r>
            <a:r>
              <a:rPr sz="1800" spc="18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и</a:t>
            </a:r>
            <a:r>
              <a:rPr sz="1800" spc="18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ресурсы</a:t>
            </a:r>
          </a:p>
          <a:p>
            <a:pPr marL="0" marR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RNNCM+SegoeUISymbol"/>
                <a:cs typeface="KRNNCM+SegoeUISymbol"/>
              </a:rPr>
              <a:t>➢</a:t>
            </a:r>
            <a:r>
              <a:rPr sz="1800" spc="7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Стремление</a:t>
            </a:r>
            <a:r>
              <a:rPr sz="1800" spc="191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и</a:t>
            </a:r>
            <a:r>
              <a:rPr sz="1800" spc="1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способность</a:t>
            </a:r>
          </a:p>
          <a:p>
            <a:pPr marL="242887" marR="0">
              <a:lnSpc>
                <a:spcPts val="2088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к</a:t>
            </a:r>
            <a:r>
              <a:rPr sz="1800" spc="1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развитию</a:t>
            </a:r>
            <a:r>
              <a:rPr sz="1800" spc="19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и</a:t>
            </a:r>
            <a:r>
              <a:rPr sz="1800" spc="18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самораскрытию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0196" y="2349904"/>
            <a:ext cx="3247434" cy="883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5750" marR="0">
              <a:lnSpc>
                <a:spcPts val="2187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команды</a:t>
            </a:r>
            <a:r>
              <a:rPr sz="1800" spc="183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и</a:t>
            </a:r>
            <a:r>
              <a:rPr sz="1800" spc="18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оценки.</a:t>
            </a:r>
          </a:p>
          <a:p>
            <a:pPr marL="0" marR="0">
              <a:lnSpc>
                <a:spcPts val="2208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RNNCM+SegoeUISymbol"/>
                <a:cs typeface="KRNNCM+SegoeUISymbol"/>
              </a:rPr>
              <a:t>➢</a:t>
            </a:r>
            <a:r>
              <a:rPr sz="1800" spc="7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Вн. критик</a:t>
            </a:r>
            <a:r>
              <a:rPr sz="1800" spc="187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и</a:t>
            </a:r>
            <a:r>
              <a:rPr sz="1800" spc="18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всезнайка</a:t>
            </a:r>
          </a:p>
          <a:p>
            <a:pPr marL="0" marR="0">
              <a:lnSpc>
                <a:spcPts val="2183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000000"/>
                </a:solidFill>
                <a:latin typeface="KRNNCM+SegoeUISymbol"/>
                <a:cs typeface="KRNNCM+SegoeUISymbol"/>
              </a:rPr>
              <a:t>➢</a:t>
            </a:r>
            <a:r>
              <a:rPr sz="1800" spc="72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Привычки</a:t>
            </a:r>
            <a:r>
              <a:rPr sz="1800" spc="186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00"/>
                </a:solidFill>
                <a:latin typeface="Verdana"/>
                <a:cs typeface="Verdana"/>
              </a:rPr>
              <a:t>и</a:t>
            </a: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2170F45D-38EC-3C1D-9710-78DC4539E0E7}"/>
              </a:ext>
            </a:extLst>
          </p:cNvPr>
          <p:cNvCxnSpPr>
            <a:cxnSpLocks/>
          </p:cNvCxnSpPr>
          <p:nvPr/>
        </p:nvCxnSpPr>
        <p:spPr>
          <a:xfrm>
            <a:off x="567434" y="1124744"/>
            <a:ext cx="7328766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Рисунок 10" descr="Изображение выглядит как текст, снимок экрана, Шрифт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A34FF32-7F12-C01F-4671-894056E33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632" y="3741658"/>
            <a:ext cx="4775171" cy="2902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967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903778-5C66-7046-F372-9FE5367F9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770" y="332656"/>
            <a:ext cx="8768740" cy="954107"/>
          </a:xfrm>
        </p:spPr>
        <p:txBody>
          <a:bodyPr/>
          <a:lstStyle/>
          <a:p>
            <a:r>
              <a:rPr lang="ru-RU" sz="3100" b="1" dirty="0"/>
              <a:t>Сущность сознания и бессознательного: </a:t>
            </a:r>
            <a:br>
              <a:rPr lang="ru-RU" sz="3100" b="1" dirty="0"/>
            </a:br>
            <a:r>
              <a:rPr lang="ru-RU" sz="3100" b="1" dirty="0"/>
              <a:t>кто стоит за штурвалом на самом деле</a:t>
            </a:r>
          </a:p>
        </p:txBody>
      </p:sp>
      <p:pic>
        <p:nvPicPr>
          <p:cNvPr id="1026" name="Picture 2" descr="Более 150 000 работ на тему «айсберг»: стоковые фото ...">
            <a:extLst>
              <a:ext uri="{FF2B5EF4-FFF2-40B4-BE49-F238E27FC236}">
                <a16:creationId xmlns:a16="http://schemas.microsoft.com/office/drawing/2014/main" id="{228378B9-3D92-6381-7964-8CFFDCDFC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484" y="2196919"/>
            <a:ext cx="3524151" cy="230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Более 6 400 работ на тему «автопилот»: стоковые фото ...">
            <a:extLst>
              <a:ext uri="{FF2B5EF4-FFF2-40B4-BE49-F238E27FC236}">
                <a16:creationId xmlns:a16="http://schemas.microsoft.com/office/drawing/2014/main" id="{2AC65661-8ECA-5826-62AB-0423CE4CD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816" y="2060847"/>
            <a:ext cx="3384376" cy="2440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342,380 садовник стоковые фото – бесплатные и стоковые фото ...">
            <a:extLst>
              <a:ext uri="{FF2B5EF4-FFF2-40B4-BE49-F238E27FC236}">
                <a16:creationId xmlns:a16="http://schemas.microsoft.com/office/drawing/2014/main" id="{5FD2B247-80AD-06E2-BEAD-795DC6D48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148" y="2196919"/>
            <a:ext cx="3524150" cy="2329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E883F0E-F144-D1EC-A552-E3E552CF6CE7}"/>
              </a:ext>
            </a:extLst>
          </p:cNvPr>
          <p:cNvCxnSpPr/>
          <p:nvPr/>
        </p:nvCxnSpPr>
        <p:spPr>
          <a:xfrm>
            <a:off x="583484" y="1412776"/>
            <a:ext cx="6741535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84551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253E1642-64FD-4D9B-559C-4CB3692C3074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1631504" y="1916673"/>
          <a:ext cx="8928992" cy="352839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30278">
                  <a:extLst>
                    <a:ext uri="{9D8B030D-6E8A-4147-A177-3AD203B41FA5}">
                      <a16:colId xmlns:a16="http://schemas.microsoft.com/office/drawing/2014/main" val="1315212411"/>
                    </a:ext>
                  </a:extLst>
                </a:gridCol>
                <a:gridCol w="2981584">
                  <a:extLst>
                    <a:ext uri="{9D8B030D-6E8A-4147-A177-3AD203B41FA5}">
                      <a16:colId xmlns:a16="http://schemas.microsoft.com/office/drawing/2014/main" val="3991068431"/>
                    </a:ext>
                  </a:extLst>
                </a:gridCol>
                <a:gridCol w="3717130">
                  <a:extLst>
                    <a:ext uri="{9D8B030D-6E8A-4147-A177-3AD203B41FA5}">
                      <a16:colId xmlns:a16="http://schemas.microsoft.com/office/drawing/2014/main" val="1816838445"/>
                    </a:ext>
                  </a:extLst>
                </a:gridCol>
              </a:tblGrid>
              <a:tr h="4221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</a:rPr>
                        <a:t>Параметр</a:t>
                      </a:r>
                      <a:endParaRPr lang="ru-RU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9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</a:rPr>
                        <a:t>Сознание</a:t>
                      </a:r>
                      <a:endParaRPr lang="ru-RU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9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solidFill>
                            <a:schemeClr val="tx1"/>
                          </a:solidFill>
                          <a:effectLst/>
                        </a:rPr>
                        <a:t>Бессознательное</a:t>
                      </a:r>
                      <a:endParaRPr lang="ru-RU" sz="16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81754"/>
                  </a:ext>
                </a:extLst>
              </a:tr>
              <a:tr h="4221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</a:rPr>
                        <a:t>Скорость</a:t>
                      </a:r>
                      <a:endParaRPr lang="ru-RU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9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</a:rPr>
                        <a:t>Медленно (до 40 бит/сек).</a:t>
                      </a:r>
                      <a:endParaRPr lang="ru-RU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9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</a:rPr>
                        <a:t>Сверхбыстро (до 11 млн бит/сек).</a:t>
                      </a:r>
                      <a:endParaRPr lang="ru-RU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345530"/>
                  </a:ext>
                </a:extLst>
              </a:tr>
              <a:tr h="4221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</a:rPr>
                        <a:t>Язык</a:t>
                      </a:r>
                      <a:endParaRPr lang="ru-RU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9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</a:rPr>
                        <a:t>Слова, логика</a:t>
                      </a:r>
                      <a:endParaRPr lang="ru-RU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9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</a:rPr>
                        <a:t>Образы, эмоции, ощущения, символы</a:t>
                      </a:r>
                      <a:endParaRPr lang="ru-RU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548898"/>
                  </a:ext>
                </a:extLst>
              </a:tr>
              <a:tr h="4221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solidFill>
                            <a:schemeClr val="tx1"/>
                          </a:solidFill>
                          <a:effectLst/>
                        </a:rPr>
                        <a:t>Принцип работы</a:t>
                      </a:r>
                      <a:endParaRPr lang="ru-RU" sz="16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9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</a:rPr>
                        <a:t>Последовательный анализ</a:t>
                      </a:r>
                      <a:endParaRPr lang="ru-RU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9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</a:rPr>
                        <a:t>Параллельная обработка, ассоциации</a:t>
                      </a:r>
                      <a:endParaRPr lang="ru-RU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105797"/>
                  </a:ext>
                </a:extLst>
              </a:tr>
              <a:tr h="8705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solidFill>
                            <a:schemeClr val="tx1"/>
                          </a:solidFill>
                          <a:effectLst/>
                        </a:rPr>
                        <a:t>Основная функция</a:t>
                      </a:r>
                      <a:endParaRPr lang="ru-RU" sz="16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9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</a:rPr>
                        <a:t>Принятие решений, воля, самоидентификация</a:t>
                      </a:r>
                      <a:endParaRPr lang="ru-RU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9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</a:rPr>
                        <a:t>Автоматизмы, выживание, эмоции, память, интуиция</a:t>
                      </a:r>
                      <a:endParaRPr lang="ru-RU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213107"/>
                  </a:ext>
                </a:extLst>
              </a:tr>
              <a:tr h="4221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solidFill>
                            <a:schemeClr val="tx1"/>
                          </a:solidFill>
                          <a:effectLst/>
                        </a:rPr>
                        <a:t>Доля управления</a:t>
                      </a:r>
                      <a:endParaRPr lang="ru-RU" sz="16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9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solidFill>
                            <a:schemeClr val="tx1"/>
                          </a:solidFill>
                          <a:effectLst/>
                        </a:rPr>
                        <a:t>5% (Пилот на взлете/посадке)</a:t>
                      </a:r>
                      <a:endParaRPr lang="ru-RU" sz="16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9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</a:rPr>
                        <a:t>95% (Автопилот всего полета).</a:t>
                      </a:r>
                      <a:endParaRPr lang="ru-RU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914432"/>
                  </a:ext>
                </a:extLst>
              </a:tr>
              <a:tr h="5473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solidFill>
                            <a:schemeClr val="tx1"/>
                          </a:solidFill>
                          <a:effectLst/>
                        </a:rPr>
                        <a:t>Метафора</a:t>
                      </a:r>
                      <a:endParaRPr lang="ru-RU" sz="16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9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>
                          <a:solidFill>
                            <a:schemeClr val="tx1"/>
                          </a:solidFill>
                          <a:effectLst/>
                        </a:rPr>
                        <a:t>Садовник, пилот, документ Word</a:t>
                      </a:r>
                      <a:endParaRPr lang="ru-RU" sz="16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9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100" dirty="0">
                          <a:solidFill>
                            <a:schemeClr val="tx1"/>
                          </a:solidFill>
                          <a:effectLst/>
                        </a:rPr>
                        <a:t>Почва, автопилот, операционная система</a:t>
                      </a:r>
                      <a:endParaRPr lang="ru-RU" sz="16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>
                        <a:alpha val="9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0987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C0C11B0B-638A-527B-356F-FBF73AD0E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0252" y="141293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335CB9B-32D1-C879-9E5F-A4A93B13F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770" y="332656"/>
            <a:ext cx="8768740" cy="954107"/>
          </a:xfrm>
        </p:spPr>
        <p:txBody>
          <a:bodyPr/>
          <a:lstStyle/>
          <a:p>
            <a:r>
              <a:rPr lang="ru-RU" sz="3100" b="1" dirty="0"/>
              <a:t>Сущность сознания и бессознательного: </a:t>
            </a:r>
            <a:br>
              <a:rPr lang="ru-RU" sz="3100" b="1" dirty="0"/>
            </a:br>
            <a:r>
              <a:rPr lang="ru-RU" sz="3100" b="1" dirty="0"/>
              <a:t>кто стоит за штурвалом на самом деле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F9A3E01-3E06-4605-37F9-96E561AA61F3}"/>
              </a:ext>
            </a:extLst>
          </p:cNvPr>
          <p:cNvCxnSpPr/>
          <p:nvPr/>
        </p:nvCxnSpPr>
        <p:spPr>
          <a:xfrm>
            <a:off x="583484" y="1412776"/>
            <a:ext cx="6741535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88438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103BE7-9540-5E0F-B663-3F219A677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088" y="404664"/>
            <a:ext cx="10618480" cy="954107"/>
          </a:xfrm>
        </p:spPr>
        <p:txBody>
          <a:bodyPr/>
          <a:lstStyle/>
          <a:p>
            <a:r>
              <a:rPr lang="ru-RU" sz="3100" b="1" dirty="0"/>
              <a:t>Четыре ключевых проявлений бессознательного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2374F2-6C62-F11F-8CF4-660F0832836C}"/>
              </a:ext>
            </a:extLst>
          </p:cNvPr>
          <p:cNvSpPr txBox="1"/>
          <p:nvPr/>
        </p:nvSpPr>
        <p:spPr>
          <a:xfrm>
            <a:off x="479376" y="1294826"/>
            <a:ext cx="10513168" cy="4268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AutoNum type="arabicPeriod"/>
            </a:pPr>
            <a:r>
              <a:rPr lang="ru-RU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Автоматизмы и Привычки (Процессор).</a:t>
            </a:r>
            <a:endParaRPr lang="ru-RU" sz="16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Все, что вы делаете «не думая»: вести машину, печатать, идти знакомым маршрутом. Но! Здесь же вредные привычки, иррациональные страхи («автоматическая» тревога перед звонком).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16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Эмоции и Телесные Реакции (Сигнальная система).</a:t>
            </a:r>
            <a:endParaRPr lang="ru-RU" sz="1600" b="1" kern="1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Эмоция — это </a:t>
            </a:r>
            <a:r>
              <a:rPr lang="ru-RU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мгновенный, до-сознательный отклик бессознательного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на событие. Тело реагирует быстрее мысли: испуг (вздрогнули) → потом мысль «Что это было?». Бессознательное говорит через тело и чувства на языке, который сознанию часто непонятен.</a:t>
            </a:r>
            <a:endParaRPr lang="ru-RU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Интуиция и Озарения (Креативный компьютер).</a:t>
            </a:r>
            <a:br>
              <a:rPr lang="ru-RU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«Эврика!» — это не логический вывод. Это момент, когда бессознательный суперкомпьютер, перебрав миллионы ассоциаций, </a:t>
            </a:r>
            <a:r>
              <a:rPr lang="ru-RU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выдал готовый результат в сознание</a:t>
            </a:r>
            <a:r>
              <a:rPr lang="ru-RU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1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!!! 4. Внутренние Конфликты и Самоограничения (Устаревшие программы).</a:t>
            </a:r>
            <a:b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 бессознательном, как в архиве, хранятся </a:t>
            </a:r>
            <a:r>
              <a:rPr lang="ru-RU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детские решения, принятые для выживания и любви</a:t>
            </a:r>
            <a:r>
              <a:rPr lang="ru-RU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«Чтобы быть в безопасности, нужно быть тихим». «Чтобы меня любили, я должен быть идеальным»</a:t>
            </a:r>
            <a:endParaRPr lang="ru-RU" sz="1600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80BF545-55DB-BFDE-42BB-31115FD96B74}"/>
              </a:ext>
            </a:extLst>
          </p:cNvPr>
          <p:cNvCxnSpPr>
            <a:cxnSpLocks/>
          </p:cNvCxnSpPr>
          <p:nvPr/>
        </p:nvCxnSpPr>
        <p:spPr>
          <a:xfrm>
            <a:off x="590088" y="908720"/>
            <a:ext cx="8386232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321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41601A-87FC-C388-9535-77C7E3ED6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484" y="450855"/>
            <a:ext cx="9462750" cy="1231106"/>
          </a:xfrm>
        </p:spPr>
        <p:txBody>
          <a:bodyPr/>
          <a:lstStyle/>
          <a:p>
            <a:r>
              <a:rPr lang="ru-RU" sz="3100" b="1" dirty="0"/>
              <a:t>Три фундаментальных вывода для нашей работы</a:t>
            </a:r>
            <a:br>
              <a:rPr lang="ru-RU" sz="2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8B1BB5-6210-9C06-2C7D-53B0177B5C21}"/>
              </a:ext>
            </a:extLst>
          </p:cNvPr>
          <p:cNvSpPr txBox="1"/>
          <p:nvPr/>
        </p:nvSpPr>
        <p:spPr>
          <a:xfrm>
            <a:off x="550863" y="1538322"/>
            <a:ext cx="10729192" cy="3781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Чтобы изменить устойчивый жизненный паттерн, нужно обращаться к «автопилоту» (бессознательному).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Убеждения сознанием («Я должен быть увереннее») бесполезны против глубоко укорененных программ. Это как пытаться перепрошить автопилот, разговаривая с ним через переговорное устройство. Нужен </a:t>
            </a:r>
            <a:r>
              <a:rPr lang="ru-RU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другой язык — </a:t>
            </a:r>
            <a:r>
              <a:rPr lang="ru-RU" sz="1800" b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язык образов, метафор, состояний, повторяющихся новых действий.</a:t>
            </a:r>
            <a:endParaRPr lang="ru-RU" sz="2800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Многие наши проблемы — не «дефекты характера», а следствие работы древней, но усердной охранной системы.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ru-RU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Ваша тревога или прокрастинация — не враг, а искаженная попытка старой программы защитить вас. 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Коучинг помогает «переупаковать» этот ресурс.</a:t>
            </a:r>
            <a:endParaRPr lang="ru-RU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Осознанность — это не контроль над мыслями. Это навык замечать идущие в фоне процессы.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ru-RU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Цель — не выключить автопилот, а наладить с ним диалог, стать мудрым капитаном, который понимает, как работает его корабль.</a:t>
            </a:r>
            <a:endParaRPr lang="ru-RU" sz="2800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23F9356-6C47-FC19-F3D9-97E12C9A7EF5}"/>
              </a:ext>
            </a:extLst>
          </p:cNvPr>
          <p:cNvCxnSpPr>
            <a:cxnSpLocks/>
          </p:cNvCxnSpPr>
          <p:nvPr/>
        </p:nvCxnSpPr>
        <p:spPr>
          <a:xfrm>
            <a:off x="550863" y="980728"/>
            <a:ext cx="8713489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87077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F1A795-5863-A485-2DB1-F8A76D315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401878"/>
            <a:ext cx="7955555" cy="492443"/>
          </a:xfrm>
        </p:spPr>
        <p:txBody>
          <a:bodyPr/>
          <a:lstStyle/>
          <a:p>
            <a:pPr algn="l"/>
            <a:r>
              <a:rPr lang="ru-RU" sz="3200" dirty="0">
                <a:solidFill>
                  <a:schemeClr val="tx1"/>
                </a:solidFill>
              </a:rPr>
              <a:t>Вмешательство. Виды</a:t>
            </a:r>
            <a:endParaRPr lang="ru-RU" sz="3100" kern="1200" dirty="0">
              <a:solidFill>
                <a:schemeClr val="tx1"/>
              </a:solidFill>
            </a:endParaRPr>
          </a:p>
        </p:txBody>
      </p:sp>
      <p:pic>
        <p:nvPicPr>
          <p:cNvPr id="5" name="Рисунок 4" descr="Изображение выглядит как диаграмма, зарисовка, рисунок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FC56075-1973-FCF9-8E7E-BB88C5548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1462" y="836719"/>
            <a:ext cx="7178605" cy="5619403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25C27731-C534-D02E-7E64-7683AE7756F4}"/>
              </a:ext>
            </a:extLst>
          </p:cNvPr>
          <p:cNvCxnSpPr>
            <a:cxnSpLocks/>
          </p:cNvCxnSpPr>
          <p:nvPr/>
        </p:nvCxnSpPr>
        <p:spPr>
          <a:xfrm>
            <a:off x="263352" y="980727"/>
            <a:ext cx="4032448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02085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, Шрифт, докумен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428915F-5F6A-D604-E78A-BE1CFDACE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1251995"/>
            <a:ext cx="7776864" cy="4337245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1BE7919B-9DDB-7AE5-D6DB-3F46836E0BE0}"/>
              </a:ext>
            </a:extLst>
          </p:cNvPr>
          <p:cNvSpPr txBox="1">
            <a:spLocks/>
          </p:cNvSpPr>
          <p:nvPr/>
        </p:nvSpPr>
        <p:spPr>
          <a:xfrm>
            <a:off x="257016" y="345030"/>
            <a:ext cx="7955555" cy="430887"/>
          </a:xfrm>
          <a:prstGeom prst="rect">
            <a:avLst/>
          </a:prstGeom>
          <a:effectLst/>
        </p:spPr>
        <p:txBody>
          <a:bodyPr wrap="square" lIns="0" tIns="0" rIns="0" bIns="0" anchor="b">
            <a:spAutoFit/>
          </a:bodyPr>
          <a:lstStyle>
            <a:lvl1pPr algn="r">
              <a:defRPr sz="4600" b="1" cap="none" baseline="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800" dirty="0"/>
              <a:t>Вмешательство. Виды</a:t>
            </a:r>
            <a:endParaRPr lang="ru-RU" sz="3100" kern="1200" dirty="0">
              <a:solidFill>
                <a:schemeClr val="tx1"/>
              </a:solidFill>
            </a:endParaRP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729E4AD2-C164-559F-FF71-43B02B9C127B}"/>
              </a:ext>
            </a:extLst>
          </p:cNvPr>
          <p:cNvCxnSpPr>
            <a:cxnSpLocks/>
          </p:cNvCxnSpPr>
          <p:nvPr/>
        </p:nvCxnSpPr>
        <p:spPr>
          <a:xfrm>
            <a:off x="257016" y="908720"/>
            <a:ext cx="3462720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1265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F5DAAA5-B29F-B485-2AB7-27688F202D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3352" y="465779"/>
            <a:ext cx="7954963" cy="430887"/>
          </a:xfrm>
          <a:prstGeom prst="rect">
            <a:avLst/>
          </a:prstGeom>
          <a:effectLst/>
        </p:spPr>
        <p:txBody>
          <a:bodyPr wrap="square" lIns="0" tIns="0" rIns="0" bIns="0" anchor="b">
            <a:spAutoFit/>
          </a:bodyPr>
          <a:lstStyle>
            <a:lvl1pPr algn="r">
              <a:defRPr sz="4600" b="1" cap="none" baseline="0"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2800" dirty="0">
                <a:solidFill>
                  <a:schemeClr val="tx1"/>
                </a:solidFill>
              </a:rPr>
              <a:t>Вмешательство. Виды</a:t>
            </a:r>
            <a:endParaRPr lang="ru-RU" sz="3100" kern="1200" dirty="0">
              <a:solidFill>
                <a:schemeClr val="tx1"/>
              </a:solidFill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143D78F0-46E7-3F60-0B04-022D63055F62}"/>
              </a:ext>
            </a:extLst>
          </p:cNvPr>
          <p:cNvCxnSpPr>
            <a:cxnSpLocks/>
          </p:cNvCxnSpPr>
          <p:nvPr/>
        </p:nvCxnSpPr>
        <p:spPr>
          <a:xfrm>
            <a:off x="263352" y="980727"/>
            <a:ext cx="3528392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 descr="Изображение выглядит как текст, снимок экрана, Шрифт, докумен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AC8E4B7-1AFA-0AF9-C957-CBAA2EAC9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45" y="1247749"/>
            <a:ext cx="7001018" cy="517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7328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24D7A68F-E5D1-415F-8E73-60C289F746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747617"/>
              </p:ext>
            </p:extLst>
          </p:nvPr>
        </p:nvGraphicFramePr>
        <p:xfrm>
          <a:off x="407368" y="1268760"/>
          <a:ext cx="11233247" cy="50405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33937">
                  <a:extLst>
                    <a:ext uri="{9D8B030D-6E8A-4147-A177-3AD203B41FA5}">
                      <a16:colId xmlns:a16="http://schemas.microsoft.com/office/drawing/2014/main" val="3781324074"/>
                    </a:ext>
                  </a:extLst>
                </a:gridCol>
                <a:gridCol w="2699770">
                  <a:extLst>
                    <a:ext uri="{9D8B030D-6E8A-4147-A177-3AD203B41FA5}">
                      <a16:colId xmlns:a16="http://schemas.microsoft.com/office/drawing/2014/main" val="3075779988"/>
                    </a:ext>
                  </a:extLst>
                </a:gridCol>
                <a:gridCol w="2699770">
                  <a:extLst>
                    <a:ext uri="{9D8B030D-6E8A-4147-A177-3AD203B41FA5}">
                      <a16:colId xmlns:a16="http://schemas.microsoft.com/office/drawing/2014/main" val="1090354992"/>
                    </a:ext>
                  </a:extLst>
                </a:gridCol>
                <a:gridCol w="2699770">
                  <a:extLst>
                    <a:ext uri="{9D8B030D-6E8A-4147-A177-3AD203B41FA5}">
                      <a16:colId xmlns:a16="http://schemas.microsoft.com/office/drawing/2014/main" val="934423583"/>
                    </a:ext>
                  </a:extLst>
                </a:gridCol>
              </a:tblGrid>
              <a:tr h="6968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</a:rPr>
                        <a:t>Вмешательство</a:t>
                      </a:r>
                      <a:endParaRPr lang="ru-RU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</a:rPr>
                        <a:t>Время</a:t>
                      </a:r>
                      <a:endParaRPr lang="ru-RU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</a:rPr>
                        <a:t>Суть</a:t>
                      </a:r>
                      <a:endParaRPr lang="ru-RU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</a:rPr>
                        <a:t>Пример-фраза</a:t>
                      </a:r>
                      <a:endParaRPr lang="ru-RU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684642"/>
                  </a:ext>
                </a:extLst>
              </a:tr>
              <a:tr h="14693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</a:rPr>
                        <a:t>Ожидание</a:t>
                      </a:r>
                      <a:endParaRPr lang="ru-RU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solidFill>
                            <a:schemeClr val="tx1"/>
                          </a:solidFill>
                          <a:effectLst/>
                        </a:rPr>
                        <a:t>Будущее</a:t>
                      </a:r>
                      <a:endParaRPr lang="ru-RU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solidFill>
                            <a:schemeClr val="tx1"/>
                          </a:solidFill>
                          <a:effectLst/>
                        </a:rPr>
                        <a:t>Проекция негативного/идеального сценария</a:t>
                      </a:r>
                      <a:endParaRPr lang="ru-RU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</a:rPr>
                        <a:t>«Это будет катастрофа»</a:t>
                      </a:r>
                      <a:endParaRPr lang="ru-RU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469556"/>
                  </a:ext>
                </a:extLst>
              </a:tr>
              <a:tr h="14371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</a:rPr>
                        <a:t>Воспоминание</a:t>
                      </a:r>
                      <a:endParaRPr lang="ru-RU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solidFill>
                            <a:schemeClr val="tx1"/>
                          </a:solidFill>
                          <a:effectLst/>
                        </a:rPr>
                        <a:t>Прошлое</a:t>
                      </a:r>
                      <a:endParaRPr lang="ru-RU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solidFill>
                            <a:schemeClr val="tx1"/>
                          </a:solidFill>
                          <a:effectLst/>
                        </a:rPr>
                        <a:t>Проекция старой боли/вывода</a:t>
                      </a:r>
                      <a:endParaRPr lang="ru-RU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</a:rPr>
                        <a:t>«У меня никогда не получается»</a:t>
                      </a:r>
                      <a:endParaRPr lang="ru-RU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448355"/>
                  </a:ext>
                </a:extLst>
              </a:tr>
              <a:tr h="14371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solidFill>
                            <a:schemeClr val="tx1"/>
                          </a:solidFill>
                          <a:effectLst/>
                        </a:rPr>
                        <a:t>Интерпретация</a:t>
                      </a:r>
                      <a:endParaRPr lang="ru-RU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solidFill>
                            <a:schemeClr val="tx1"/>
                          </a:solidFill>
                          <a:effectLst/>
                        </a:rPr>
                        <a:t>Настоящее</a:t>
                      </a:r>
                      <a:endParaRPr lang="ru-RU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>
                          <a:solidFill>
                            <a:schemeClr val="tx1"/>
                          </a:solidFill>
                          <a:effectLst/>
                        </a:rPr>
                        <a:t>Подмена факта личной историей</a:t>
                      </a:r>
                      <a:endParaRPr lang="ru-RU" sz="18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800" kern="100" dirty="0">
                          <a:solidFill>
                            <a:schemeClr val="tx1"/>
                          </a:solidFill>
                          <a:effectLst/>
                        </a:rPr>
                        <a:t>«Он так посмотрел — меня не уважает»</a:t>
                      </a:r>
                      <a:endParaRPr lang="ru-RU" sz="18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194602"/>
                  </a:ext>
                </a:extLst>
              </a:tr>
            </a:tbl>
          </a:graphicData>
        </a:graphic>
      </p:graphicFrame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594D06D0-27A9-68B7-6723-9D93F0FD0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0"/>
            <a:ext cx="7954963" cy="708025"/>
          </a:xfrm>
        </p:spPr>
        <p:txBody>
          <a:bodyPr/>
          <a:lstStyle/>
          <a:p>
            <a:pPr algn="l"/>
            <a:r>
              <a:rPr lang="ru-RU" sz="3200" dirty="0">
                <a:solidFill>
                  <a:schemeClr val="tx1"/>
                </a:solidFill>
              </a:rPr>
              <a:t>Вмешательство. Виды</a:t>
            </a:r>
            <a:endParaRPr lang="ru-RU" sz="3100" kern="1200" dirty="0">
              <a:solidFill>
                <a:schemeClr val="tx1"/>
              </a:solidFill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7350A937-B51B-27DA-DC4B-1EAA56EE2B19}"/>
              </a:ext>
            </a:extLst>
          </p:cNvPr>
          <p:cNvCxnSpPr>
            <a:cxnSpLocks/>
          </p:cNvCxnSpPr>
          <p:nvPr/>
        </p:nvCxnSpPr>
        <p:spPr>
          <a:xfrm>
            <a:off x="263352" y="836712"/>
            <a:ext cx="4032448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76857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57A442A6-2BC7-394D-13E4-54117A31E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9913" y="1245947"/>
            <a:ext cx="10321883" cy="4366105"/>
          </a:xfrm>
        </p:spPr>
        <p:txBody>
          <a:bodyPr/>
          <a:lstStyle/>
          <a:p>
            <a:pPr algn="l"/>
            <a:r>
              <a:rPr lang="ru-RU" b="1" u="sng" dirty="0">
                <a:solidFill>
                  <a:schemeClr val="tx1"/>
                </a:solidFill>
              </a:rPr>
              <a:t>Убеждение</a:t>
            </a:r>
            <a:r>
              <a:rPr lang="ru-RU" dirty="0">
                <a:solidFill>
                  <a:schemeClr val="tx1"/>
                </a:solidFill>
              </a:rPr>
              <a:t> — элемент (качество) мировоззрения, придающий личности уверенность в своих взглядах на мир, оценках реальной действительности. Убеждения направляют поведение и волевые действия. </a:t>
            </a:r>
          </a:p>
          <a:p>
            <a:pPr marL="45720" algn="l"/>
            <a:r>
              <a:rPr lang="ru-RU" dirty="0">
                <a:solidFill>
                  <a:schemeClr val="tx1"/>
                </a:solidFill>
              </a:rPr>
              <a:t>   Высшую (абсолютную) степень убеждённости у многих      олицетворяет </a:t>
            </a:r>
            <a:r>
              <a:rPr lang="ru-RU" b="1" u="sng" dirty="0">
                <a:solidFill>
                  <a:schemeClr val="tx1"/>
                </a:solidFill>
                <a:hlinkClick r:id="rId2" tooltip="Вер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вера</a:t>
            </a:r>
            <a:r>
              <a:rPr lang="ru-RU" dirty="0">
                <a:solidFill>
                  <a:schemeClr val="tx1"/>
                </a:solidFill>
              </a:rPr>
              <a:t> (уверенность).</a:t>
            </a:r>
          </a:p>
          <a:p>
            <a:pPr algn="l"/>
            <a:r>
              <a:rPr lang="ru-RU" b="1" u="sng" dirty="0">
                <a:solidFill>
                  <a:schemeClr val="tx1"/>
                </a:solidFill>
              </a:rPr>
              <a:t>Убеждение</a:t>
            </a:r>
            <a:r>
              <a:rPr lang="ru-RU" dirty="0">
                <a:solidFill>
                  <a:schemeClr val="tx1"/>
                </a:solidFill>
              </a:rPr>
              <a:t> – </a:t>
            </a:r>
            <a:r>
              <a:rPr lang="ru-RU" b="1" dirty="0">
                <a:solidFill>
                  <a:schemeClr val="tx1"/>
                </a:solidFill>
              </a:rPr>
              <a:t>это</a:t>
            </a:r>
            <a:r>
              <a:rPr lang="ru-RU" dirty="0">
                <a:solidFill>
                  <a:schemeClr val="tx1"/>
                </a:solidFill>
              </a:rPr>
              <a:t> устойчивая система взглядов человека, которая основана на его знаниях, жизненном опыте, вере, отношении к чему бы то ни было.</a:t>
            </a:r>
          </a:p>
          <a:p>
            <a:pPr algn="l"/>
            <a:r>
              <a:rPr lang="ru-RU" b="1" u="sng" dirty="0">
                <a:solidFill>
                  <a:schemeClr val="tx1"/>
                </a:solidFill>
              </a:rPr>
              <a:t>Убеждение</a:t>
            </a:r>
            <a:r>
              <a:rPr lang="ru-RU" dirty="0">
                <a:solidFill>
                  <a:schemeClr val="tx1"/>
                </a:solidFill>
              </a:rPr>
              <a:t> - </a:t>
            </a:r>
            <a:r>
              <a:rPr lang="ru-RU" b="1" dirty="0">
                <a:solidFill>
                  <a:schemeClr val="tx1"/>
                </a:solidFill>
              </a:rPr>
              <a:t>это</a:t>
            </a:r>
            <a:r>
              <a:rPr lang="ru-RU" dirty="0">
                <a:solidFill>
                  <a:schemeClr val="tx1"/>
                </a:solidFill>
              </a:rPr>
              <a:t> твердые, осознанные и обдуманные верования, выполняющие роль подсказок либо жизненного ориентира для человека. </a:t>
            </a:r>
          </a:p>
          <a:p>
            <a:pPr marL="45720" algn="l"/>
            <a:endParaRPr lang="ru-RU" dirty="0">
              <a:solidFill>
                <a:schemeClr val="tx1"/>
              </a:solidFill>
            </a:endParaRPr>
          </a:p>
          <a:p>
            <a:pPr lvl="0" algn="l"/>
            <a:r>
              <a:rPr lang="ru-RU" b="1" u="sng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Верования</a:t>
            </a:r>
            <a:r>
              <a:rPr lang="ru-RU" dirty="0">
                <a:solidFill>
                  <a:schemeClr val="tx1"/>
                </a:solidFill>
              </a:rPr>
              <a:t> — убежденность, эмоциональная приверженность какой либо идее, реальной или иллюзорной …   </a:t>
            </a:r>
            <a:r>
              <a:rPr lang="ru-RU" i="1" dirty="0">
                <a:solidFill>
                  <a:schemeClr val="tx1"/>
                </a:solidFill>
              </a:rPr>
              <a:t>Этнопсихологический словарь</a:t>
            </a:r>
            <a:endParaRPr lang="ru-RU" dirty="0">
              <a:solidFill>
                <a:schemeClr val="tx1"/>
              </a:solidFill>
            </a:endParaRPr>
          </a:p>
          <a:p>
            <a:pPr lvl="0" algn="l"/>
            <a:r>
              <a:rPr lang="ru-RU" b="1" u="sng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Верования</a:t>
            </a:r>
            <a:r>
              <a:rPr lang="ru-RU" dirty="0">
                <a:solidFill>
                  <a:schemeClr val="tx1"/>
                </a:solidFill>
              </a:rPr>
              <a:t> — религиозные представления, постулаты какой л. религии, веры. </a:t>
            </a:r>
          </a:p>
          <a:p>
            <a:pPr algn="l"/>
            <a:r>
              <a:rPr lang="ru-RU" b="1" u="sng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Верования</a:t>
            </a:r>
            <a:r>
              <a:rPr lang="ru-RU" dirty="0">
                <a:solidFill>
                  <a:schemeClr val="tx1"/>
                </a:solidFill>
              </a:rPr>
              <a:t> - некритически усвоенные и не подвергающиеся критике вербально сформулированные представлениях о себе, людях и мире.</a:t>
            </a:r>
          </a:p>
          <a:p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2A6A0CD-4CEE-D400-52FF-FE87CE2BE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485" y="44624"/>
            <a:ext cx="7954963" cy="708025"/>
          </a:xfrm>
        </p:spPr>
        <p:txBody>
          <a:bodyPr/>
          <a:lstStyle/>
          <a:p>
            <a:pPr algn="l"/>
            <a:r>
              <a:rPr lang="ru-RU" sz="3100" kern="1200" dirty="0">
                <a:solidFill>
                  <a:schemeClr val="tx1"/>
                </a:solidFill>
              </a:rPr>
              <a:t>Система взглядов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3F04912B-CBBA-4CE4-0BC4-5EA7485751B2}"/>
              </a:ext>
            </a:extLst>
          </p:cNvPr>
          <p:cNvCxnSpPr>
            <a:cxnSpLocks/>
          </p:cNvCxnSpPr>
          <p:nvPr/>
        </p:nvCxnSpPr>
        <p:spPr>
          <a:xfrm>
            <a:off x="407368" y="789793"/>
            <a:ext cx="3024336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0767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F2D2FB5E-6D0D-D14A-DBF3-F9FD6D2EA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1344" y="980729"/>
            <a:ext cx="11521279" cy="256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l">
              <a:lnSpc>
                <a:spcPts val="197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chemeClr val="tx1"/>
                </a:solidFill>
                <a:latin typeface="PFGSMB+TrebuchetMS"/>
                <a:cs typeface="PFGSMB+TrebuchetMS"/>
              </a:rPr>
              <a:t>1. </a:t>
            </a:r>
            <a:r>
              <a:rPr sz="1700" dirty="0">
                <a:solidFill>
                  <a:schemeClr val="tx1"/>
                </a:solidFill>
                <a:latin typeface="PERUNF+TrebuchetMS-Bold"/>
                <a:cs typeface="PERUNF+TrebuchetMS-Bold"/>
              </a:rPr>
              <a:t>Меня</a:t>
            </a:r>
            <a:r>
              <a:rPr sz="1700" spc="81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chemeClr val="tx1"/>
                </a:solidFill>
                <a:latin typeface="PERUNF+TrebuchetMS-Bold"/>
                <a:cs typeface="PERUNF+TrebuchetMS-Bold"/>
              </a:rPr>
              <a:t>должны</a:t>
            </a:r>
            <a:r>
              <a:rPr sz="1700" spc="82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chemeClr val="tx1"/>
                </a:solidFill>
                <a:latin typeface="PERUNF+TrebuchetMS-Bold"/>
                <a:cs typeface="PERUNF+TrebuchetMS-Bold"/>
              </a:rPr>
              <a:t>любить</a:t>
            </a:r>
            <a:r>
              <a:rPr sz="1700" spc="84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chemeClr val="tx1"/>
                </a:solidFill>
                <a:latin typeface="PERUNF+TrebuchetMS-Bold"/>
                <a:cs typeface="PERUNF+TrebuchetMS-Bold"/>
              </a:rPr>
              <a:t>все</a:t>
            </a:r>
            <a:r>
              <a:rPr sz="1700" dirty="0">
                <a:solidFill>
                  <a:schemeClr val="tx1"/>
                </a:solidFill>
                <a:latin typeface="MOCBGU+TrebuchetMS-Bold"/>
                <a:cs typeface="MOCBGU+TrebuchetMS-Bold"/>
              </a:rPr>
              <a:t>.</a:t>
            </a:r>
            <a:r>
              <a:rPr sz="1700" spc="88" dirty="0">
                <a:solidFill>
                  <a:schemeClr val="tx1"/>
                </a:solidFill>
                <a:latin typeface="MOCBGU+TrebuchetMS-Bold"/>
                <a:cs typeface="MOCBGU+TrebuchetMS-Bold"/>
              </a:rPr>
              <a:t> </a:t>
            </a:r>
            <a:r>
              <a:rPr sz="1700" dirty="0">
                <a:solidFill>
                  <a:schemeClr val="tx1"/>
                </a:solidFill>
                <a:latin typeface="PFGSMB+TrebuchetMS"/>
                <a:cs typeface="PFGSMB+TrebuchetMS"/>
              </a:rPr>
              <a:t>(</a:t>
            </a:r>
            <a:r>
              <a:rPr sz="1700" dirty="0">
                <a:solidFill>
                  <a:schemeClr val="tx1"/>
                </a:solidFill>
                <a:latin typeface="EWIGLV+TrebuchetMS"/>
                <a:cs typeface="EWIGLV+TrebuchetMS"/>
              </a:rPr>
              <a:t>Следствие</a:t>
            </a:r>
            <a:r>
              <a:rPr sz="1700" spc="8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chemeClr val="tx1"/>
                </a:solidFill>
                <a:latin typeface="EWIGLV+TrebuchetMS"/>
                <a:cs typeface="EWIGLV+TrebuchetMS"/>
              </a:rPr>
              <a:t>слишком</a:t>
            </a:r>
            <a:r>
              <a:rPr sz="1700" spc="89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chemeClr val="tx1"/>
                </a:solidFill>
                <a:latin typeface="EWIGLV+TrebuchetMS"/>
                <a:cs typeface="EWIGLV+TrebuchetMS"/>
              </a:rPr>
              <a:t>сильного</a:t>
            </a:r>
            <a:r>
              <a:rPr sz="1700" spc="8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700" dirty="0" err="1">
                <a:solidFill>
                  <a:schemeClr val="tx1"/>
                </a:solidFill>
                <a:latin typeface="EWIGLV+TrebuchetMS"/>
                <a:cs typeface="EWIGLV+TrebuchetMS"/>
              </a:rPr>
              <a:t>беспокойства</a:t>
            </a:r>
            <a:r>
              <a:rPr sz="1700" spc="9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700" dirty="0" err="1">
                <a:solidFill>
                  <a:schemeClr val="tx1"/>
                </a:solidFill>
                <a:latin typeface="EWIGLV+TrebuchetMS"/>
                <a:cs typeface="EWIGLV+TrebuchetMS"/>
              </a:rPr>
              <a:t>по</a:t>
            </a:r>
            <a:r>
              <a:rPr lang="ru-RU" sz="1700" dirty="0">
                <a:solidFill>
                  <a:schemeClr val="tx1"/>
                </a:solidFill>
                <a:latin typeface="EWIGLV+TrebuchetMS"/>
                <a:cs typeface="EWIGLV+TrebuchetMS"/>
              </a:rPr>
              <a:t> </a:t>
            </a:r>
            <a:r>
              <a:rPr sz="1700" dirty="0" err="1">
                <a:solidFill>
                  <a:schemeClr val="tx1"/>
                </a:solidFill>
                <a:latin typeface="EWIGLV+TrebuchetMS"/>
                <a:cs typeface="EWIGLV+TrebuchetMS"/>
              </a:rPr>
              <a:t>поводу</a:t>
            </a:r>
            <a:r>
              <a:rPr sz="1700" spc="92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chemeClr val="tx1"/>
                </a:solidFill>
                <a:latin typeface="EWIGLV+TrebuchetMS"/>
                <a:cs typeface="EWIGLV+TrebuchetMS"/>
              </a:rPr>
              <a:t>мнения</a:t>
            </a:r>
            <a:r>
              <a:rPr sz="1700" spc="84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chemeClr val="tx1"/>
                </a:solidFill>
                <a:latin typeface="EWIGLV+TrebuchetMS"/>
                <a:cs typeface="EWIGLV+TrebuchetMS"/>
              </a:rPr>
              <a:t>окружающих</a:t>
            </a:r>
            <a:r>
              <a:rPr sz="1700" dirty="0">
                <a:solidFill>
                  <a:schemeClr val="tx1"/>
                </a:solidFill>
                <a:latin typeface="PFGSMB+TrebuchetMS"/>
                <a:cs typeface="PFGSMB+TrebuchetMS"/>
              </a:rPr>
              <a:t>).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AE213128-D8C2-491D-024A-91D1DE1456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955" y="286048"/>
            <a:ext cx="7954963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l">
              <a:lnSpc>
                <a:spcPts val="3367"/>
              </a:lnSpc>
              <a:spcBef>
                <a:spcPts val="0"/>
              </a:spcBef>
              <a:spcAft>
                <a:spcPts val="0"/>
              </a:spcAft>
            </a:pPr>
            <a:r>
              <a:rPr sz="3100" kern="1200" dirty="0">
                <a:solidFill>
                  <a:schemeClr val="tx1"/>
                </a:solidFill>
              </a:rPr>
              <a:t>Наиболее распространенные убеждения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5C9637BB-9073-3F76-9715-C4F46228A1D1}"/>
              </a:ext>
            </a:extLst>
          </p:cNvPr>
          <p:cNvSpPr txBox="1"/>
          <p:nvPr/>
        </p:nvSpPr>
        <p:spPr>
          <a:xfrm>
            <a:off x="191344" y="1393281"/>
            <a:ext cx="11305256" cy="12824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73"/>
              </a:lnSpc>
            </a:pPr>
            <a:r>
              <a:rPr sz="1700" dirty="0">
                <a:latin typeface="MOCBGU+TrebuchetMS-Bold"/>
                <a:cs typeface="MOCBGU+TrebuchetMS-Bold"/>
              </a:rPr>
              <a:t>2.</a:t>
            </a:r>
            <a:r>
              <a:rPr sz="1700" spc="647" dirty="0">
                <a:latin typeface="MOCBGU+TrebuchetMS-Bold"/>
                <a:cs typeface="MOCBGU+TrebuchetMS-Bold"/>
              </a:rPr>
              <a:t> </a:t>
            </a:r>
            <a:r>
              <a:rPr sz="1700" dirty="0">
                <a:latin typeface="PERUNF+TrebuchetMS-Bold"/>
                <a:cs typeface="PERUNF+TrebuchetMS-Bold"/>
              </a:rPr>
              <a:t>Никогда</a:t>
            </a:r>
            <a:r>
              <a:rPr sz="1700" spc="9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PERUNF+TrebuchetMS-Bold"/>
                <a:cs typeface="PERUNF+TrebuchetMS-Bold"/>
              </a:rPr>
              <a:t>нельзя</a:t>
            </a:r>
            <a:r>
              <a:rPr sz="1700" spc="8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PERUNF+TrebuchetMS-Bold"/>
                <a:cs typeface="PERUNF+TrebuchetMS-Bold"/>
              </a:rPr>
              <a:t>терпеть</a:t>
            </a:r>
            <a:r>
              <a:rPr sz="1700" spc="7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PERUNF+TrebuchetMS-Bold"/>
                <a:cs typeface="PERUNF+TrebuchetMS-Bold"/>
              </a:rPr>
              <a:t>неудачу</a:t>
            </a:r>
            <a:r>
              <a:rPr sz="1700" dirty="0">
                <a:latin typeface="MOCBGU+TrebuchetMS-Bold"/>
                <a:cs typeface="MOCBGU+TrebuchetMS-Bold"/>
              </a:rPr>
              <a:t>,</a:t>
            </a:r>
            <a:r>
              <a:rPr sz="1700" spc="88" dirty="0">
                <a:latin typeface="MOCBGU+TrebuchetMS-Bold"/>
                <a:cs typeface="MOCBGU+TrebuchetMS-Bold"/>
              </a:rPr>
              <a:t> </a:t>
            </a:r>
            <a:r>
              <a:rPr sz="1700" dirty="0">
                <a:latin typeface="PERUNF+TrebuchetMS-Bold"/>
                <a:cs typeface="PERUNF+TrebuchetMS-Bold"/>
              </a:rPr>
              <a:t>нужно</a:t>
            </a:r>
            <a:r>
              <a:rPr sz="1700" spc="7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PERUNF+TrebuchetMS-Bold"/>
                <a:cs typeface="PERUNF+TrebuchetMS-Bold"/>
              </a:rPr>
              <a:t>делать</a:t>
            </a:r>
            <a:r>
              <a:rPr sz="1700" spc="8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PERUNF+TrebuchetMS-Bold"/>
                <a:cs typeface="PERUNF+TrebuchetMS-Bold"/>
              </a:rPr>
              <a:t>все</a:t>
            </a:r>
            <a:r>
              <a:rPr sz="1700" spc="9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PERUNF+TrebuchetMS-Bold"/>
                <a:cs typeface="PERUNF+TrebuchetMS-Bold"/>
              </a:rPr>
              <a:t>на</a:t>
            </a:r>
            <a:r>
              <a:rPr sz="1700" spc="8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MOCBGU+TrebuchetMS-Bold"/>
                <a:cs typeface="MOCBGU+TrebuchetMS-Bold"/>
              </a:rPr>
              <a:t>«5</a:t>
            </a:r>
            <a:r>
              <a:rPr sz="1700" spc="87" dirty="0">
                <a:latin typeface="MOCBGU+TrebuchetMS-Bold"/>
                <a:cs typeface="MOCBGU+TrebuchetMS-Bold"/>
              </a:rPr>
              <a:t> </a:t>
            </a:r>
            <a:r>
              <a:rPr sz="1700" dirty="0">
                <a:latin typeface="MOCBGU+TrebuchetMS-Bold"/>
                <a:cs typeface="MOCBGU+TrebuchetMS-Bold"/>
              </a:rPr>
              <a:t>»</a:t>
            </a:r>
            <a:r>
              <a:rPr lang="ru-RU" sz="1700" dirty="0">
                <a:latin typeface="MOCBGU+TrebuchetMS-Bold"/>
                <a:cs typeface="MOCBGU+TrebuchetMS-Bold"/>
              </a:rPr>
              <a:t>. </a:t>
            </a:r>
            <a:r>
              <a:rPr lang="ru-RU" sz="1700" dirty="0">
                <a:latin typeface="PFGSMB+TrebuchetMS"/>
                <a:cs typeface="PFGSMB+TrebuchetMS"/>
              </a:rPr>
              <a:t>(</a:t>
            </a:r>
            <a:r>
              <a:rPr lang="ru-RU" sz="1700" dirty="0" err="1">
                <a:latin typeface="EWIGLV+TrebuchetMS"/>
                <a:cs typeface="EWIGLV+TrebuchetMS"/>
              </a:rPr>
              <a:t>перфекционистские</a:t>
            </a:r>
            <a:r>
              <a:rPr lang="ru-RU" sz="1700" spc="82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тенденции</a:t>
            </a:r>
            <a:r>
              <a:rPr lang="ru-RU" sz="1700" dirty="0">
                <a:latin typeface="PFGSMB+TrebuchetMS"/>
                <a:cs typeface="PFGSMB+TrebuchetMS"/>
              </a:rPr>
              <a:t>: </a:t>
            </a:r>
            <a:r>
              <a:rPr lang="ru-RU" sz="1700" dirty="0">
                <a:latin typeface="EWIGLV+TrebuchetMS"/>
                <a:cs typeface="EWIGLV+TrebuchetMS"/>
              </a:rPr>
              <a:t>чрезмерно</a:t>
            </a:r>
            <a:r>
              <a:rPr lang="ru-RU" sz="1700" spc="88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высокие</a:t>
            </a:r>
            <a:r>
              <a:rPr lang="ru-RU" sz="1700" spc="83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требования</a:t>
            </a:r>
            <a:r>
              <a:rPr lang="ru-RU" sz="1700" spc="84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к</a:t>
            </a:r>
            <a:r>
              <a:rPr lang="ru-RU" sz="1700" spc="86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себе</a:t>
            </a:r>
          </a:p>
          <a:p>
            <a:pPr>
              <a:lnSpc>
                <a:spcPts val="1973"/>
              </a:lnSpc>
            </a:pPr>
            <a:endParaRPr lang="ru-RU" sz="1700" dirty="0">
              <a:solidFill>
                <a:srgbClr val="3F7718"/>
              </a:solidFill>
              <a:latin typeface="EWIGLV+TrebuchetMS"/>
              <a:cs typeface="EWIGLV+TrebuchetMS"/>
            </a:endParaRPr>
          </a:p>
          <a:p>
            <a:pPr>
              <a:lnSpc>
                <a:spcPts val="1973"/>
              </a:lnSpc>
            </a:pPr>
            <a:endParaRPr lang="ru-RU" sz="1700" dirty="0">
              <a:solidFill>
                <a:srgbClr val="3F7718"/>
              </a:solidFill>
              <a:latin typeface="EWIGLV+TrebuchetMS"/>
              <a:cs typeface="EWIGLV+TrebuchetMS"/>
            </a:endParaRPr>
          </a:p>
          <a:p>
            <a:pPr marL="0" marR="0">
              <a:lnSpc>
                <a:spcPts val="1973"/>
              </a:lnSpc>
              <a:spcBef>
                <a:spcPts val="0"/>
              </a:spcBef>
              <a:spcAft>
                <a:spcPts val="0"/>
              </a:spcAft>
            </a:pPr>
            <a:endParaRPr sz="1700" dirty="0">
              <a:solidFill>
                <a:srgbClr val="3F7718"/>
              </a:solidFill>
              <a:latin typeface="MOCBGU+TrebuchetMS-Bold"/>
              <a:cs typeface="MOCBGU+TrebuchetMS-Bold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05103152-6D9F-E423-1C1D-AF92E4C46D06}"/>
              </a:ext>
            </a:extLst>
          </p:cNvPr>
          <p:cNvSpPr txBox="1"/>
          <p:nvPr/>
        </p:nvSpPr>
        <p:spPr>
          <a:xfrm>
            <a:off x="209955" y="2034482"/>
            <a:ext cx="11502668" cy="64248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73"/>
              </a:lnSpc>
            </a:pPr>
            <a:r>
              <a:rPr sz="1700" dirty="0">
                <a:latin typeface="MOCBGU+TrebuchetMS-Bold"/>
                <a:cs typeface="MOCBGU+TrebuchetMS-Bold"/>
              </a:rPr>
              <a:t>3.</a:t>
            </a:r>
            <a:r>
              <a:rPr sz="1700" spc="647" dirty="0">
                <a:latin typeface="MOCBGU+TrebuchetMS-Bold"/>
                <a:cs typeface="MOCBGU+TrebuchetMS-Bold"/>
              </a:rPr>
              <a:t> </a:t>
            </a:r>
            <a:r>
              <a:rPr sz="1700" dirty="0">
                <a:latin typeface="PERUNF+TrebuchetMS-Bold"/>
                <a:cs typeface="PERUNF+TrebuchetMS-Bold"/>
              </a:rPr>
              <a:t>Все</a:t>
            </a:r>
            <a:r>
              <a:rPr sz="1700" spc="9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PERUNF+TrebuchetMS-Bold"/>
                <a:cs typeface="PERUNF+TrebuchetMS-Bold"/>
              </a:rPr>
              <a:t>должно</a:t>
            </a:r>
            <a:r>
              <a:rPr sz="1700" spc="8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PERUNF+TrebuchetMS-Bold"/>
                <a:cs typeface="PERUNF+TrebuchetMS-Bold"/>
              </a:rPr>
              <a:t>быть</a:t>
            </a:r>
            <a:r>
              <a:rPr sz="1700" spc="8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PERUNF+TrebuchetMS-Bold"/>
                <a:cs typeface="PERUNF+TrebuchetMS-Bold"/>
              </a:rPr>
              <a:t>таким</a:t>
            </a:r>
            <a:r>
              <a:rPr sz="1700" dirty="0">
                <a:latin typeface="MOCBGU+TrebuchetMS-Bold"/>
                <a:cs typeface="MOCBGU+TrebuchetMS-Bold"/>
              </a:rPr>
              <a:t>,</a:t>
            </a:r>
            <a:r>
              <a:rPr sz="1700" spc="88" dirty="0">
                <a:latin typeface="MOCBGU+TrebuchetMS-Bold"/>
                <a:cs typeface="MOCBGU+TrebuchetMS-Bold"/>
              </a:rPr>
              <a:t> </a:t>
            </a:r>
            <a:r>
              <a:rPr sz="1700" dirty="0">
                <a:latin typeface="PERUNF+TrebuchetMS-Bold"/>
                <a:cs typeface="PERUNF+TrebuchetMS-Bold"/>
              </a:rPr>
              <a:t>как</a:t>
            </a:r>
            <a:r>
              <a:rPr sz="1700" spc="8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PERUNF+TrebuchetMS-Bold"/>
                <a:cs typeface="PERUNF+TrebuchetMS-Bold"/>
              </a:rPr>
              <a:t>мне</a:t>
            </a:r>
            <a:r>
              <a:rPr sz="1700" spc="9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PERUNF+TrebuchetMS-Bold"/>
                <a:cs typeface="PERUNF+TrebuchetMS-Bold"/>
              </a:rPr>
              <a:t>хочется</a:t>
            </a:r>
            <a:r>
              <a:rPr sz="1700" dirty="0">
                <a:latin typeface="MOCBGU+TrebuchetMS-Bold"/>
                <a:cs typeface="MOCBGU+TrebuchetMS-Bold"/>
              </a:rPr>
              <a:t>.</a:t>
            </a:r>
            <a:r>
              <a:rPr sz="1700" spc="88" dirty="0">
                <a:latin typeface="MOCBGU+TrebuchetMS-Bold"/>
                <a:cs typeface="MOCBGU+TrebuchetMS-Bold"/>
              </a:rPr>
              <a:t> </a:t>
            </a:r>
            <a:r>
              <a:rPr sz="1700" dirty="0">
                <a:latin typeface="PFGSMB+TrebuchetMS"/>
                <a:cs typeface="PFGSMB+TrebuchetMS"/>
              </a:rPr>
              <a:t>(</a:t>
            </a:r>
            <a:r>
              <a:rPr sz="1700" dirty="0">
                <a:latin typeface="EWIGLV+TrebuchetMS"/>
                <a:cs typeface="EWIGLV+TrebuchetMS"/>
              </a:rPr>
              <a:t>инфантильные</a:t>
            </a:r>
            <a:r>
              <a:rPr sz="1700" spc="80" dirty="0">
                <a:latin typeface="Times New Roman"/>
                <a:cs typeface="Times New Roman"/>
              </a:rPr>
              <a:t> </a:t>
            </a:r>
            <a:r>
              <a:rPr sz="1700" dirty="0" err="1">
                <a:latin typeface="EWIGLV+TrebuchetMS"/>
                <a:cs typeface="EWIGLV+TrebuchetMS"/>
              </a:rPr>
              <a:t>ожидания</a:t>
            </a:r>
            <a:r>
              <a:rPr sz="1700" dirty="0">
                <a:latin typeface="PFGSMB+TrebuchetMS"/>
                <a:cs typeface="PFGSMB+TrebuchetMS"/>
              </a:rPr>
              <a:t>,</a:t>
            </a:r>
            <a:r>
              <a:rPr lang="ru-RU" sz="1700" dirty="0">
                <a:latin typeface="PFGSMB+TrebuchetMS"/>
                <a:cs typeface="PFGSMB+TrebuchetMS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основанные</a:t>
            </a:r>
            <a:r>
              <a:rPr lang="ru-RU" sz="1700" spc="83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на</a:t>
            </a:r>
            <a:r>
              <a:rPr lang="ru-RU" sz="1700" spc="91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FGSMB+TrebuchetMS"/>
                <a:cs typeface="PFGSMB+TrebuchetMS"/>
              </a:rPr>
              <a:t>«</a:t>
            </a:r>
            <a:r>
              <a:rPr lang="ru-RU" sz="1700" dirty="0">
                <a:latin typeface="EWIGLV+TrebuchetMS"/>
                <a:cs typeface="EWIGLV+TrebuchetMS"/>
              </a:rPr>
              <a:t>принципе</a:t>
            </a:r>
            <a:r>
              <a:rPr lang="ru-RU" sz="1700" spc="82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удовольствия</a:t>
            </a:r>
            <a:r>
              <a:rPr lang="ru-RU" sz="1700" dirty="0">
                <a:latin typeface="PFGSMB+TrebuchetMS"/>
                <a:cs typeface="PFGSMB+TrebuchetMS"/>
              </a:rPr>
              <a:t>»).</a:t>
            </a:r>
          </a:p>
          <a:p>
            <a:pPr>
              <a:lnSpc>
                <a:spcPts val="1973"/>
              </a:lnSpc>
            </a:pPr>
            <a:r>
              <a:rPr lang="ru-RU" sz="1700" dirty="0">
                <a:latin typeface="PFGSMB+TrebuchetMS"/>
                <a:cs typeface="PFGSMB+TrebuchetMS"/>
              </a:rPr>
              <a:t>4.</a:t>
            </a:r>
            <a:r>
              <a:rPr lang="ru-RU" sz="1700" spc="517" dirty="0">
                <a:latin typeface="PFGSMB+TrebuchetMS"/>
                <a:cs typeface="PFGSMB+TrebuchetMS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Все</a:t>
            </a:r>
            <a:r>
              <a:rPr lang="ru-RU" sz="1700" spc="95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мои</a:t>
            </a:r>
            <a:r>
              <a:rPr lang="ru-RU" sz="1700" spc="93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неприятности</a:t>
            </a:r>
            <a:r>
              <a:rPr lang="ru-RU" sz="1700" spc="90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из</a:t>
            </a:r>
            <a:r>
              <a:rPr lang="ru-RU" sz="1700" dirty="0">
                <a:latin typeface="MOCBGU+TrebuchetMS-Bold"/>
                <a:cs typeface="MOCBGU+TrebuchetMS-Bold"/>
              </a:rPr>
              <a:t>-</a:t>
            </a:r>
            <a:r>
              <a:rPr lang="ru-RU" sz="1700" dirty="0">
                <a:latin typeface="PERUNF+TrebuchetMS-Bold"/>
                <a:cs typeface="PERUNF+TrebuchetMS-Bold"/>
              </a:rPr>
              <a:t>за</a:t>
            </a:r>
            <a:r>
              <a:rPr lang="ru-RU" sz="1700" spc="88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плохих</a:t>
            </a:r>
            <a:r>
              <a:rPr lang="ru-RU" sz="1700" spc="88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людей</a:t>
            </a:r>
            <a:r>
              <a:rPr lang="ru-RU" sz="1700" dirty="0">
                <a:latin typeface="MOCBGU+TrebuchetMS-Bold"/>
                <a:cs typeface="MOCBGU+TrebuchetMS-Bold"/>
              </a:rPr>
              <a:t>.</a:t>
            </a:r>
            <a:r>
              <a:rPr lang="ru-RU" sz="1700" spc="88" dirty="0">
                <a:latin typeface="MOCBGU+TrebuchetMS-Bold"/>
                <a:cs typeface="MOCBGU+TrebuchetMS-Bold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Если</a:t>
            </a:r>
            <a:r>
              <a:rPr lang="ru-RU" sz="1700" spc="85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со</a:t>
            </a:r>
            <a:r>
              <a:rPr lang="ru-RU" sz="1700" spc="82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мной</a:t>
            </a:r>
            <a:r>
              <a:rPr lang="ru-RU" sz="1700" spc="88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произошло</a:t>
            </a:r>
            <a:r>
              <a:rPr lang="ru-RU" sz="1700" spc="86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что</a:t>
            </a:r>
            <a:r>
              <a:rPr lang="ru-RU" sz="1700" dirty="0">
                <a:latin typeface="PFGSMB+TrebuchetMS"/>
                <a:cs typeface="PFGSMB+TrebuchetMS"/>
              </a:rPr>
              <a:t>-</a:t>
            </a:r>
            <a:r>
              <a:rPr lang="ru-RU" sz="1700" dirty="0">
                <a:latin typeface="EWIGLV+TrebuchetMS"/>
                <a:cs typeface="EWIGLV+TrebuchetMS"/>
              </a:rPr>
              <a:t>то неприятное</a:t>
            </a:r>
            <a:r>
              <a:rPr lang="ru-RU" sz="1700" dirty="0">
                <a:latin typeface="PFGSMB+TrebuchetMS"/>
                <a:cs typeface="PFGSMB+TrebuchetMS"/>
              </a:rPr>
              <a:t>, </a:t>
            </a:r>
            <a:r>
              <a:rPr lang="ru-RU" sz="1700" dirty="0">
                <a:latin typeface="EWIGLV+TrebuchetMS"/>
                <a:cs typeface="EWIGLV+TrebuchetMS"/>
              </a:rPr>
              <a:t>я</a:t>
            </a:r>
            <a:r>
              <a:rPr lang="ru-RU" sz="1700" spc="84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всегда</a:t>
            </a:r>
            <a:r>
              <a:rPr lang="ru-RU" sz="1700" spc="90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буду</a:t>
            </a:r>
            <a:r>
              <a:rPr lang="ru-RU" sz="1700" spc="89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сваливать</a:t>
            </a:r>
            <a:r>
              <a:rPr lang="ru-RU" sz="1700" spc="89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вину</a:t>
            </a:r>
            <a:r>
              <a:rPr lang="ru-RU" sz="1700" spc="92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на</a:t>
            </a:r>
            <a:r>
              <a:rPr lang="ru-RU" sz="1700" spc="91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кого</a:t>
            </a:r>
            <a:r>
              <a:rPr lang="ru-RU" sz="1700" dirty="0">
                <a:latin typeface="PFGSMB+TrebuchetMS"/>
                <a:cs typeface="PFGSMB+TrebuchetMS"/>
              </a:rPr>
              <a:t>-</a:t>
            </a:r>
            <a:r>
              <a:rPr lang="ru-RU" sz="1700" dirty="0">
                <a:latin typeface="EWIGLV+TrebuchetMS"/>
                <a:cs typeface="EWIGLV+TrebuchetMS"/>
              </a:rPr>
              <a:t>то</a:t>
            </a:r>
            <a:r>
              <a:rPr lang="ru-RU" sz="1700" spc="83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другого</a:t>
            </a:r>
            <a:r>
              <a:rPr lang="ru-RU" sz="1700" spc="85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FGSMB+TrebuchetMS"/>
                <a:cs typeface="PFGSMB+TrebuchetMS"/>
              </a:rPr>
              <a:t>(</a:t>
            </a:r>
            <a:r>
              <a:rPr lang="ru-RU" sz="1700" dirty="0">
                <a:latin typeface="EWIGLV+TrebuchetMS"/>
                <a:cs typeface="EWIGLV+TrebuchetMS"/>
              </a:rPr>
              <a:t>тенденции обвинять</a:t>
            </a:r>
            <a:r>
              <a:rPr lang="ru-RU" sz="1700" spc="91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других</a:t>
            </a:r>
            <a:r>
              <a:rPr lang="ru-RU" sz="1700" dirty="0">
                <a:latin typeface="PFGSMB+TrebuchetMS"/>
                <a:cs typeface="PFGSMB+TrebuchetMS"/>
              </a:rPr>
              <a:t>, </a:t>
            </a:r>
            <a:r>
              <a:rPr lang="ru-RU" sz="1700" dirty="0">
                <a:latin typeface="EWIGLV+TrebuchetMS"/>
                <a:cs typeface="EWIGLV+TrebuchetMS"/>
              </a:rPr>
              <a:t>предъявляя</a:t>
            </a:r>
            <a:r>
              <a:rPr lang="ru-RU" sz="1700" spc="85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к</a:t>
            </a:r>
            <a:r>
              <a:rPr lang="ru-RU" sz="1700" spc="86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ним</a:t>
            </a:r>
            <a:r>
              <a:rPr lang="ru-RU" sz="1700" spc="89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завышенные</a:t>
            </a:r>
            <a:r>
              <a:rPr lang="ru-RU" sz="1700" spc="84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требования</a:t>
            </a:r>
            <a:r>
              <a:rPr lang="ru-RU" sz="1700" dirty="0">
                <a:latin typeface="PFGSMB+TrebuchetMS"/>
                <a:cs typeface="PFGSMB+TrebuchetMS"/>
              </a:rPr>
              <a:t>).</a:t>
            </a:r>
          </a:p>
          <a:p>
            <a:pPr>
              <a:lnSpc>
                <a:spcPts val="1973"/>
              </a:lnSpc>
            </a:pPr>
            <a:r>
              <a:rPr lang="ru-RU" sz="1700" dirty="0">
                <a:latin typeface="PFGSMB+TrebuchetMS"/>
                <a:cs typeface="PFGSMB+TrebuchetMS"/>
              </a:rPr>
              <a:t>5.</a:t>
            </a:r>
            <a:r>
              <a:rPr lang="ru-RU" sz="1700" spc="517" dirty="0">
                <a:latin typeface="PFGSMB+TrebuchetMS"/>
                <a:cs typeface="PFGSMB+TrebuchetMS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Если</a:t>
            </a:r>
            <a:r>
              <a:rPr lang="ru-RU" sz="1700" spc="94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я</a:t>
            </a:r>
            <a:r>
              <a:rPr lang="ru-RU" sz="1700" spc="85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сильно</a:t>
            </a:r>
            <a:r>
              <a:rPr lang="ru-RU" sz="1700" spc="83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поволнуюсь</a:t>
            </a:r>
            <a:r>
              <a:rPr lang="ru-RU" sz="1700" spc="83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из</a:t>
            </a:r>
            <a:r>
              <a:rPr lang="ru-RU" sz="1700" dirty="0">
                <a:latin typeface="MOCBGU+TrebuchetMS-Bold"/>
                <a:cs typeface="MOCBGU+TrebuchetMS-Bold"/>
              </a:rPr>
              <a:t>-</a:t>
            </a:r>
            <a:r>
              <a:rPr lang="ru-RU" sz="1700" dirty="0">
                <a:latin typeface="PERUNF+TrebuchetMS-Bold"/>
                <a:cs typeface="PERUNF+TrebuchetMS-Bold"/>
              </a:rPr>
              <a:t>за</a:t>
            </a:r>
            <a:r>
              <a:rPr lang="ru-RU" sz="1700" spc="88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предстоящего</a:t>
            </a:r>
            <a:r>
              <a:rPr lang="ru-RU" sz="1700" spc="82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события</a:t>
            </a:r>
            <a:r>
              <a:rPr lang="ru-RU" sz="1700" spc="89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или</a:t>
            </a:r>
            <a:r>
              <a:rPr lang="ru-RU" sz="1700" spc="91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того</a:t>
            </a:r>
            <a:r>
              <a:rPr lang="ru-RU" sz="1700" dirty="0">
                <a:latin typeface="MOCBGU+TrebuchetMS-Bold"/>
                <a:cs typeface="MOCBGU+TrebuchetMS-Bold"/>
              </a:rPr>
              <a:t>,</a:t>
            </a:r>
            <a:r>
              <a:rPr lang="ru-RU" sz="1700" spc="88" dirty="0">
                <a:latin typeface="MOCBGU+TrebuchetMS-Bold"/>
                <a:cs typeface="MOCBGU+TrebuchetMS-Bold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как</a:t>
            </a:r>
            <a:r>
              <a:rPr lang="ru-RU" sz="1700" spc="83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кто</a:t>
            </a:r>
            <a:r>
              <a:rPr lang="ru-RU" sz="1700" dirty="0">
                <a:latin typeface="MOCBGU+TrebuchetMS-Bold"/>
                <a:cs typeface="MOCBGU+TrebuchetMS-Bold"/>
              </a:rPr>
              <a:t>-</a:t>
            </a:r>
            <a:r>
              <a:rPr lang="ru-RU" sz="1700" dirty="0">
                <a:latin typeface="PERUNF+TrebuchetMS-Bold"/>
                <a:cs typeface="PERUNF+TrebuchetMS-Bold"/>
              </a:rPr>
              <a:t>то</a:t>
            </a:r>
            <a:r>
              <a:rPr lang="ru-RU" sz="1700" spc="84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воспримет</a:t>
            </a:r>
            <a:r>
              <a:rPr lang="ru-RU" sz="1700" spc="83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меня</a:t>
            </a:r>
            <a:r>
              <a:rPr lang="ru-RU" sz="1700" dirty="0">
                <a:latin typeface="MOCBGU+TrebuchetMS-Bold"/>
                <a:cs typeface="MOCBGU+TrebuchetMS-Bold"/>
              </a:rPr>
              <a:t>,</a:t>
            </a:r>
            <a:r>
              <a:rPr lang="ru-RU" sz="1700" spc="88" dirty="0">
                <a:latin typeface="MOCBGU+TrebuchetMS-Bold"/>
                <a:cs typeface="MOCBGU+TrebuchetMS-Bold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дела</a:t>
            </a:r>
            <a:r>
              <a:rPr lang="ru-RU" sz="1700" spc="94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пойдут</a:t>
            </a:r>
            <a:r>
              <a:rPr lang="ru-RU" sz="1700" spc="86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лучше</a:t>
            </a:r>
            <a:r>
              <a:rPr lang="ru-RU" sz="1700" spc="90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FGSMB+TrebuchetMS"/>
                <a:cs typeface="PFGSMB+TrebuchetMS"/>
              </a:rPr>
              <a:t>(</a:t>
            </a:r>
            <a:r>
              <a:rPr lang="ru-RU" sz="1700" dirty="0">
                <a:latin typeface="EWIGLV+TrebuchetMS"/>
                <a:cs typeface="EWIGLV+TrebuchetMS"/>
              </a:rPr>
              <a:t>чрезмерная</a:t>
            </a:r>
            <a:r>
              <a:rPr lang="ru-RU" sz="1700" spc="84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тревога</a:t>
            </a:r>
            <a:r>
              <a:rPr lang="ru-RU" sz="1700" spc="90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в</a:t>
            </a:r>
            <a:r>
              <a:rPr lang="ru-RU" sz="1700" spc="85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ситуациях</a:t>
            </a:r>
            <a:r>
              <a:rPr lang="ru-RU" sz="1700" dirty="0">
                <a:latin typeface="PFGSMB+TrebuchetMS"/>
                <a:cs typeface="PFGSMB+TrebuchetMS"/>
              </a:rPr>
              <a:t>, </a:t>
            </a:r>
            <a:r>
              <a:rPr lang="ru-RU" sz="1700" dirty="0">
                <a:latin typeface="EWIGLV+TrebuchetMS"/>
                <a:cs typeface="EWIGLV+TrebuchetMS"/>
              </a:rPr>
              <a:t>на которые</a:t>
            </a:r>
            <a:r>
              <a:rPr lang="ru-RU" sz="1700" spc="82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невозможно</a:t>
            </a:r>
            <a:r>
              <a:rPr lang="ru-RU" sz="1700" spc="88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повлиять</a:t>
            </a:r>
            <a:r>
              <a:rPr lang="ru-RU" sz="1700" dirty="0">
                <a:latin typeface="PFGSMB+TrebuchetMS"/>
                <a:cs typeface="PFGSMB+TrebuchetMS"/>
              </a:rPr>
              <a:t>).</a:t>
            </a:r>
          </a:p>
          <a:p>
            <a:pPr>
              <a:lnSpc>
                <a:spcPts val="1973"/>
              </a:lnSpc>
            </a:pPr>
            <a:r>
              <a:rPr lang="ru-RU" sz="1700" dirty="0">
                <a:latin typeface="PFGSMB+TrebuchetMS"/>
                <a:cs typeface="PFGSMB+TrebuchetMS"/>
              </a:rPr>
              <a:t>6.</a:t>
            </a:r>
            <a:r>
              <a:rPr lang="ru-RU" sz="1700" spc="517" dirty="0">
                <a:latin typeface="PFGSMB+TrebuchetMS"/>
                <a:cs typeface="PFGSMB+TrebuchetMS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У</a:t>
            </a:r>
            <a:r>
              <a:rPr lang="ru-RU" sz="1700" spc="82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каждой</a:t>
            </a:r>
            <a:r>
              <a:rPr lang="ru-RU" sz="1700" spc="90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проблемы</a:t>
            </a:r>
            <a:r>
              <a:rPr lang="ru-RU" sz="1700" spc="83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есть</a:t>
            </a:r>
            <a:r>
              <a:rPr lang="ru-RU" sz="1700" spc="83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единственное</a:t>
            </a:r>
            <a:r>
              <a:rPr lang="ru-RU" sz="1700" spc="94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наилучшее</a:t>
            </a:r>
            <a:r>
              <a:rPr lang="ru-RU" sz="1700" spc="91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решение</a:t>
            </a:r>
            <a:r>
              <a:rPr lang="ru-RU" sz="1700" dirty="0">
                <a:latin typeface="MOCBGU+TrebuchetMS-Bold"/>
                <a:cs typeface="MOCBGU+TrebuchetMS-Bold"/>
              </a:rPr>
              <a:t>,</a:t>
            </a:r>
            <a:r>
              <a:rPr lang="ru-RU" sz="1700" spc="88" dirty="0">
                <a:latin typeface="MOCBGU+TrebuchetMS-Bold"/>
                <a:cs typeface="MOCBGU+TrebuchetMS-Bold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и</a:t>
            </a:r>
            <a:r>
              <a:rPr lang="ru-RU" sz="1700" spc="90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мне</a:t>
            </a:r>
            <a:r>
              <a:rPr lang="ru-RU" sz="1700" spc="89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нужно</a:t>
            </a:r>
          </a:p>
          <a:p>
            <a:pPr>
              <a:lnSpc>
                <a:spcPts val="1680"/>
              </a:lnSpc>
            </a:pPr>
            <a:r>
              <a:rPr lang="ru-RU" sz="1700" dirty="0">
                <a:latin typeface="PERUNF+TrebuchetMS-Bold"/>
                <a:cs typeface="PERUNF+TrebuchetMS-Bold"/>
              </a:rPr>
              <a:t>его</a:t>
            </a:r>
            <a:r>
              <a:rPr lang="ru-RU" sz="1700" spc="78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найти</a:t>
            </a:r>
            <a:r>
              <a:rPr lang="ru-RU" sz="1700" spc="88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MOCBGU+TrebuchetMS-Bold"/>
                <a:cs typeface="MOCBGU+TrebuchetMS-Bold"/>
              </a:rPr>
              <a:t>—</a:t>
            </a:r>
            <a:r>
              <a:rPr lang="ru-RU" sz="1700" spc="89" dirty="0">
                <a:latin typeface="MOCBGU+TrebuchetMS-Bold"/>
                <a:cs typeface="MOCBGU+TrebuchetMS-Bold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и</a:t>
            </a:r>
            <a:r>
              <a:rPr lang="ru-RU" sz="1700" spc="91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немедленно</a:t>
            </a:r>
            <a:r>
              <a:rPr lang="ru-RU" sz="1700" dirty="0">
                <a:latin typeface="MOCBGU+TrebuchetMS-Bold"/>
                <a:cs typeface="MOCBGU+TrebuchetMS-Bold"/>
              </a:rPr>
              <a:t>!</a:t>
            </a:r>
            <a:r>
              <a:rPr lang="ru-RU" sz="1700" spc="88" dirty="0">
                <a:latin typeface="MOCBGU+TrebuchetMS-Bold"/>
                <a:cs typeface="MOCBGU+TrebuchetMS-Bold"/>
              </a:rPr>
              <a:t> </a:t>
            </a:r>
            <a:r>
              <a:rPr lang="ru-RU" sz="1700" dirty="0">
                <a:latin typeface="PFGSMB+TrebuchetMS"/>
                <a:cs typeface="PFGSMB+TrebuchetMS"/>
              </a:rPr>
              <a:t>(</a:t>
            </a:r>
            <a:r>
              <a:rPr lang="ru-RU" sz="1700" dirty="0">
                <a:latin typeface="EWIGLV+TrebuchetMS"/>
                <a:cs typeface="EWIGLV+TrebuchetMS"/>
              </a:rPr>
              <a:t>могут</a:t>
            </a:r>
            <a:r>
              <a:rPr lang="ru-RU" sz="1700" spc="90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отвергаться</a:t>
            </a:r>
            <a:r>
              <a:rPr lang="ru-RU" sz="1700" spc="83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FGSMB+TrebuchetMS"/>
                <a:cs typeface="PFGSMB+TrebuchetMS"/>
              </a:rPr>
              <a:t>«</a:t>
            </a:r>
            <a:r>
              <a:rPr lang="ru-RU" sz="1700" dirty="0">
                <a:latin typeface="EWIGLV+TrebuchetMS"/>
                <a:cs typeface="EWIGLV+TrebuchetMS"/>
              </a:rPr>
              <a:t>не</a:t>
            </a:r>
            <a:r>
              <a:rPr lang="ru-RU" sz="1700" spc="83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идеальные</a:t>
            </a:r>
            <a:r>
              <a:rPr lang="ru-RU" sz="1700" dirty="0">
                <a:latin typeface="PFGSMB+TrebuchetMS"/>
                <a:cs typeface="PFGSMB+TrebuchetMS"/>
              </a:rPr>
              <a:t>» </a:t>
            </a:r>
            <a:r>
              <a:rPr lang="ru-RU" sz="1700" dirty="0">
                <a:latin typeface="EWIGLV+TrebuchetMS"/>
                <a:cs typeface="EWIGLV+TrebuchetMS"/>
              </a:rPr>
              <a:t>решения</a:t>
            </a:r>
            <a:r>
              <a:rPr lang="ru-RU" sz="1700" dirty="0">
                <a:latin typeface="PFGSMB+TrebuchetMS"/>
                <a:cs typeface="PFGSMB+TrebuchetMS"/>
              </a:rPr>
              <a:t>).</a:t>
            </a:r>
          </a:p>
          <a:p>
            <a:pPr>
              <a:lnSpc>
                <a:spcPts val="1919"/>
              </a:lnSpc>
            </a:pPr>
            <a:r>
              <a:rPr lang="ru-RU" sz="1700" dirty="0">
                <a:latin typeface="PFGSMB+TrebuchetMS"/>
                <a:cs typeface="PFGSMB+TrebuchetMS"/>
              </a:rPr>
              <a:t>7.</a:t>
            </a:r>
            <a:r>
              <a:rPr lang="ru-RU" sz="1700" spc="517" dirty="0">
                <a:latin typeface="PFGSMB+TrebuchetMS"/>
                <a:cs typeface="PFGSMB+TrebuchetMS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Легче</a:t>
            </a:r>
            <a:r>
              <a:rPr lang="ru-RU" sz="1700" spc="90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избежать</a:t>
            </a:r>
            <a:r>
              <a:rPr lang="ru-RU" sz="1700" spc="83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трудной</a:t>
            </a:r>
            <a:r>
              <a:rPr lang="ru-RU" sz="1700" spc="88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ситуации</a:t>
            </a:r>
            <a:r>
              <a:rPr lang="ru-RU" sz="1700" spc="90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и</a:t>
            </a:r>
            <a:r>
              <a:rPr lang="ru-RU" sz="1700" spc="91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ответственности</a:t>
            </a:r>
            <a:r>
              <a:rPr lang="ru-RU" sz="1700" spc="90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за</a:t>
            </a:r>
            <a:r>
              <a:rPr lang="ru-RU" sz="1700" spc="88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нее</a:t>
            </a:r>
            <a:r>
              <a:rPr lang="ru-RU" sz="1700" dirty="0">
                <a:latin typeface="MOCBGU+TrebuchetMS-Bold"/>
                <a:cs typeface="MOCBGU+TrebuchetMS-Bold"/>
              </a:rPr>
              <a:t>,</a:t>
            </a:r>
            <a:r>
              <a:rPr lang="ru-RU" sz="1700" spc="88" dirty="0">
                <a:latin typeface="MOCBGU+TrebuchetMS-Bold"/>
                <a:cs typeface="MOCBGU+TrebuchetMS-Bold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чем</a:t>
            </a:r>
            <a:r>
              <a:rPr lang="ru-RU" sz="1700" spc="86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потом разбираться</a:t>
            </a:r>
            <a:r>
              <a:rPr lang="ru-RU" sz="1700" spc="84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с</a:t>
            </a:r>
            <a:r>
              <a:rPr lang="ru-RU" sz="1700" spc="84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ней</a:t>
            </a:r>
            <a:r>
              <a:rPr lang="ru-RU" sz="1700" spc="85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FGSMB+TrebuchetMS"/>
                <a:cs typeface="PFGSMB+TrebuchetMS"/>
              </a:rPr>
              <a:t>(</a:t>
            </a:r>
            <a:r>
              <a:rPr lang="ru-RU" sz="1700" dirty="0">
                <a:latin typeface="EWIGLV+TrebuchetMS"/>
                <a:cs typeface="EWIGLV+TrebuchetMS"/>
              </a:rPr>
              <a:t>проявление</a:t>
            </a:r>
            <a:r>
              <a:rPr lang="ru-RU" sz="1700" spc="83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чрезмерной</a:t>
            </a:r>
            <a:r>
              <a:rPr lang="ru-RU" sz="1700" spc="91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пассивности</a:t>
            </a:r>
            <a:r>
              <a:rPr lang="ru-RU" sz="1700" dirty="0">
                <a:latin typeface="PFGSMB+TrebuchetMS"/>
                <a:cs typeface="PFGSMB+TrebuchetMS"/>
              </a:rPr>
              <a:t>, </a:t>
            </a:r>
            <a:r>
              <a:rPr lang="ru-RU" sz="1700" dirty="0">
                <a:latin typeface="EWIGLV+TrebuchetMS"/>
                <a:cs typeface="EWIGLV+TrebuchetMS"/>
              </a:rPr>
              <a:t>избегание рискованных</a:t>
            </a:r>
            <a:r>
              <a:rPr lang="ru-RU" sz="1700" spc="86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шагов</a:t>
            </a:r>
            <a:r>
              <a:rPr lang="ru-RU" sz="1700" dirty="0">
                <a:latin typeface="PFGSMB+TrebuchetMS"/>
                <a:cs typeface="PFGSMB+TrebuchetMS"/>
              </a:rPr>
              <a:t>).</a:t>
            </a:r>
          </a:p>
          <a:p>
            <a:pPr>
              <a:lnSpc>
                <a:spcPts val="1973"/>
              </a:lnSpc>
            </a:pPr>
            <a:r>
              <a:rPr lang="ru-RU" sz="1700" dirty="0">
                <a:latin typeface="PFGSMB+TrebuchetMS"/>
                <a:cs typeface="PFGSMB+TrebuchetMS"/>
              </a:rPr>
              <a:t>8.</a:t>
            </a:r>
            <a:r>
              <a:rPr lang="ru-RU" sz="1700" spc="517" dirty="0">
                <a:latin typeface="PFGSMB+TrebuchetMS"/>
                <a:cs typeface="PFGSMB+TrebuchetMS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Если</a:t>
            </a:r>
            <a:r>
              <a:rPr lang="ru-RU" sz="1700" spc="96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ни</a:t>
            </a:r>
            <a:r>
              <a:rPr lang="ru-RU" sz="1700" spc="86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к</a:t>
            </a:r>
            <a:r>
              <a:rPr lang="ru-RU" sz="1700" spc="84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чему</a:t>
            </a:r>
            <a:r>
              <a:rPr lang="ru-RU" sz="1700" spc="92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не</a:t>
            </a:r>
            <a:r>
              <a:rPr lang="ru-RU" sz="1700" spc="87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относиться</a:t>
            </a:r>
            <a:r>
              <a:rPr lang="ru-RU" sz="1700" spc="86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серьезно</a:t>
            </a:r>
            <a:r>
              <a:rPr lang="ru-RU" sz="1700" dirty="0">
                <a:latin typeface="MOCBGU+TrebuchetMS-Bold"/>
                <a:cs typeface="MOCBGU+TrebuchetMS-Bold"/>
              </a:rPr>
              <a:t>,</a:t>
            </a:r>
            <a:r>
              <a:rPr lang="ru-RU" sz="1700" spc="88" dirty="0">
                <a:latin typeface="MOCBGU+TrebuchetMS-Bold"/>
                <a:cs typeface="MOCBGU+TrebuchetMS-Bold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не</a:t>
            </a:r>
            <a:r>
              <a:rPr lang="ru-RU" sz="1700" spc="87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придется</a:t>
            </a:r>
            <a:r>
              <a:rPr lang="ru-RU" sz="1700" spc="87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огорчаться </a:t>
            </a:r>
            <a:r>
              <a:rPr lang="ru-RU" sz="1700" dirty="0">
                <a:latin typeface="PFGSMB+TrebuchetMS"/>
                <a:cs typeface="PFGSMB+TrebuchetMS"/>
              </a:rPr>
              <a:t>(</a:t>
            </a:r>
            <a:r>
              <a:rPr lang="ru-RU" sz="1700" dirty="0">
                <a:latin typeface="EWIGLV+TrebuchetMS"/>
                <a:cs typeface="EWIGLV+TrebuchetMS"/>
              </a:rPr>
              <a:t>постоянное</a:t>
            </a:r>
            <a:r>
              <a:rPr lang="ru-RU" sz="1700" spc="83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обесценивание</a:t>
            </a:r>
            <a:r>
              <a:rPr lang="ru-RU" sz="1700" spc="82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происходящего</a:t>
            </a:r>
            <a:r>
              <a:rPr lang="ru-RU" sz="1700" dirty="0">
                <a:latin typeface="PFGSMB+TrebuchetMS"/>
                <a:cs typeface="PFGSMB+TrebuchetMS"/>
              </a:rPr>
              <a:t>).</a:t>
            </a:r>
          </a:p>
          <a:p>
            <a:pPr>
              <a:lnSpc>
                <a:spcPts val="1973"/>
              </a:lnSpc>
              <a:spcBef>
                <a:spcPts val="18"/>
              </a:spcBef>
            </a:pPr>
            <a:r>
              <a:rPr lang="ru-RU" sz="1700" dirty="0">
                <a:latin typeface="PFGSMB+TrebuchetMS"/>
                <a:cs typeface="PFGSMB+TrebuchetMS"/>
              </a:rPr>
              <a:t>9.</a:t>
            </a:r>
            <a:r>
              <a:rPr lang="ru-RU" sz="1700" spc="517" dirty="0">
                <a:latin typeface="PFGSMB+TrebuchetMS"/>
                <a:cs typeface="PFGSMB+TrebuchetMS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Причина</a:t>
            </a:r>
            <a:r>
              <a:rPr lang="ru-RU" sz="1700" spc="92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всего</a:t>
            </a:r>
            <a:r>
              <a:rPr lang="ru-RU" sz="1700" dirty="0">
                <a:latin typeface="MOCBGU+TrebuchetMS-Bold"/>
                <a:cs typeface="MOCBGU+TrebuchetMS-Bold"/>
              </a:rPr>
              <a:t>,</a:t>
            </a:r>
            <a:r>
              <a:rPr lang="ru-RU" sz="1700" spc="88" dirty="0">
                <a:latin typeface="MOCBGU+TrebuchetMS-Bold"/>
                <a:cs typeface="MOCBGU+TrebuchetMS-Bold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происходящего</a:t>
            </a:r>
            <a:r>
              <a:rPr lang="ru-RU" sz="1700" spc="82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со</a:t>
            </a:r>
            <a:r>
              <a:rPr lang="ru-RU" sz="1700" spc="84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мной</a:t>
            </a:r>
            <a:r>
              <a:rPr lang="ru-RU" sz="1700" spc="90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в</a:t>
            </a:r>
            <a:r>
              <a:rPr lang="ru-RU" sz="1700" spc="86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моем</a:t>
            </a:r>
            <a:r>
              <a:rPr lang="ru-RU" sz="1700" spc="88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ужасном</a:t>
            </a:r>
            <a:r>
              <a:rPr lang="ru-RU" sz="1700" spc="87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прошлом </a:t>
            </a:r>
            <a:r>
              <a:rPr lang="ru-RU" sz="1700" dirty="0">
                <a:latin typeface="PFGSMB+TrebuchetMS"/>
                <a:cs typeface="PFGSMB+TrebuchetMS"/>
              </a:rPr>
              <a:t>(</a:t>
            </a:r>
            <a:r>
              <a:rPr lang="ru-RU" sz="1700" dirty="0">
                <a:latin typeface="EWIGLV+TrebuchetMS"/>
                <a:cs typeface="EWIGLV+TrebuchetMS"/>
              </a:rPr>
              <a:t>объяснение</a:t>
            </a:r>
            <a:r>
              <a:rPr lang="ru-RU" sz="1700" spc="82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неудач</a:t>
            </a:r>
            <a:r>
              <a:rPr lang="ru-RU" sz="1700" spc="85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событиями</a:t>
            </a:r>
            <a:r>
              <a:rPr lang="ru-RU" sz="1700" spc="90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прошлого</a:t>
            </a:r>
            <a:r>
              <a:rPr lang="ru-RU" sz="1700" dirty="0">
                <a:latin typeface="PFGSMB+TrebuchetMS"/>
                <a:cs typeface="PFGSMB+TrebuchetMS"/>
              </a:rPr>
              <a:t>, </a:t>
            </a:r>
            <a:r>
              <a:rPr lang="ru-RU" sz="1700" dirty="0">
                <a:latin typeface="EWIGLV+TrebuchetMS"/>
                <a:cs typeface="EWIGLV+TrebuchetMS"/>
              </a:rPr>
              <a:t>не</a:t>
            </a:r>
            <a:r>
              <a:rPr lang="ru-RU" sz="1700" spc="83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оказывающими</a:t>
            </a:r>
            <a:r>
              <a:rPr lang="ru-RU" sz="1700" spc="91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реального</a:t>
            </a:r>
            <a:r>
              <a:rPr lang="ru-RU" sz="1700" spc="87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влияния на</a:t>
            </a:r>
            <a:r>
              <a:rPr lang="ru-RU" sz="1700" spc="91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данный</a:t>
            </a:r>
            <a:r>
              <a:rPr lang="ru-RU" sz="1700" spc="91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момент</a:t>
            </a:r>
            <a:r>
              <a:rPr lang="ru-RU" sz="1700" dirty="0">
                <a:latin typeface="PFGSMB+TrebuchetMS"/>
                <a:cs typeface="PFGSMB+TrebuchetMS"/>
              </a:rPr>
              <a:t>).</a:t>
            </a:r>
          </a:p>
          <a:p>
            <a:pPr>
              <a:lnSpc>
                <a:spcPts val="1973"/>
              </a:lnSpc>
            </a:pPr>
            <a:r>
              <a:rPr lang="ru-RU" sz="1700" dirty="0">
                <a:latin typeface="PFGSMB+TrebuchetMS"/>
                <a:cs typeface="PFGSMB+TrebuchetMS"/>
              </a:rPr>
              <a:t>10.</a:t>
            </a:r>
            <a:r>
              <a:rPr lang="ru-RU" sz="1700" spc="517" dirty="0">
                <a:latin typeface="PFGSMB+TrebuchetMS"/>
                <a:cs typeface="PFGSMB+TrebuchetMS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На</a:t>
            </a:r>
            <a:r>
              <a:rPr lang="ru-RU" sz="1700" spc="92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свете</a:t>
            </a:r>
            <a:r>
              <a:rPr lang="ru-RU" sz="1700" spc="93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не</a:t>
            </a:r>
            <a:r>
              <a:rPr lang="ru-RU" sz="1700" spc="87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должно</a:t>
            </a:r>
            <a:r>
              <a:rPr lang="ru-RU" sz="1700" spc="82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быть</a:t>
            </a:r>
            <a:r>
              <a:rPr lang="ru-RU" sz="1700" spc="86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плохих</a:t>
            </a:r>
            <a:r>
              <a:rPr lang="ru-RU" sz="1700" spc="88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людей</a:t>
            </a:r>
            <a:r>
              <a:rPr lang="ru-RU" sz="1700" spc="93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и</a:t>
            </a:r>
            <a:r>
              <a:rPr lang="ru-RU" sz="1700" spc="91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ERUNF+TrebuchetMS-Bold"/>
                <a:cs typeface="PERUNF+TrebuchetMS-Bold"/>
              </a:rPr>
              <a:t>обстоятельств</a:t>
            </a:r>
            <a:r>
              <a:rPr lang="ru-RU" sz="1700" dirty="0">
                <a:latin typeface="MOCBGU+TrebuchetMS-Bold"/>
                <a:cs typeface="MOCBGU+TrebuchetMS-Bold"/>
              </a:rPr>
              <a:t>.</a:t>
            </a:r>
            <a:r>
              <a:rPr lang="ru-RU" sz="1700" spc="88" dirty="0">
                <a:latin typeface="MOCBGU+TrebuchetMS-Bold"/>
                <a:cs typeface="MOCBGU+TrebuchetMS-Bold"/>
              </a:rPr>
              <a:t> </a:t>
            </a:r>
            <a:r>
              <a:rPr lang="ru-RU" sz="1700" dirty="0">
                <a:latin typeface="PFGSMB+TrebuchetMS"/>
                <a:cs typeface="PFGSMB+TrebuchetMS"/>
              </a:rPr>
              <a:t>(</a:t>
            </a:r>
            <a:r>
              <a:rPr lang="ru-RU" sz="1700" dirty="0">
                <a:latin typeface="EWIGLV+TrebuchetMS"/>
                <a:cs typeface="EWIGLV+TrebuchetMS"/>
              </a:rPr>
              <a:t>например</a:t>
            </a:r>
            <a:r>
              <a:rPr lang="ru-RU" sz="1700" dirty="0">
                <a:latin typeface="PFGSMB+TrebuchetMS"/>
                <a:cs typeface="PFGSMB+TrebuchetMS"/>
              </a:rPr>
              <a:t>, </a:t>
            </a:r>
            <a:r>
              <a:rPr lang="ru-RU" sz="1700" dirty="0">
                <a:latin typeface="EWIGLV+TrebuchetMS"/>
                <a:cs typeface="EWIGLV+TrebuchetMS"/>
              </a:rPr>
              <a:t>возмущение</a:t>
            </a:r>
            <a:r>
              <a:rPr lang="ru-RU" sz="1700" spc="82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по</a:t>
            </a:r>
            <a:r>
              <a:rPr lang="ru-RU" sz="1700" spc="91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поводу</a:t>
            </a:r>
            <a:r>
              <a:rPr lang="ru-RU" sz="1700" spc="93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EWIGLV+TrebuchetMS"/>
                <a:cs typeface="EWIGLV+TrebuchetMS"/>
              </a:rPr>
              <a:t>чьего</a:t>
            </a:r>
            <a:r>
              <a:rPr lang="ru-RU" sz="1700" dirty="0">
                <a:latin typeface="PFGSMB+TrebuchetMS"/>
                <a:cs typeface="PFGSMB+TrebuchetMS"/>
              </a:rPr>
              <a:t>-</a:t>
            </a:r>
            <a:r>
              <a:rPr lang="ru-RU" sz="1700" dirty="0">
                <a:latin typeface="EWIGLV+TrebuchetMS"/>
                <a:cs typeface="EWIGLV+TrebuchetMS"/>
              </a:rPr>
              <a:t>то</a:t>
            </a:r>
            <a:r>
              <a:rPr lang="ru-RU" sz="1700" spc="83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FGSMB+TrebuchetMS"/>
                <a:cs typeface="PFGSMB+TrebuchetMS"/>
              </a:rPr>
              <a:t>«</a:t>
            </a:r>
            <a:r>
              <a:rPr lang="ru-RU" sz="1700" dirty="0">
                <a:latin typeface="EWIGLV+TrebuchetMS"/>
                <a:cs typeface="EWIGLV+TrebuchetMS"/>
              </a:rPr>
              <a:t>неправильного</a:t>
            </a:r>
            <a:r>
              <a:rPr lang="ru-RU" sz="1700" spc="86" dirty="0">
                <a:latin typeface="Times New Roman"/>
                <a:cs typeface="Times New Roman"/>
              </a:rPr>
              <a:t> </a:t>
            </a:r>
            <a:r>
              <a:rPr lang="ru-RU" sz="1700" dirty="0">
                <a:latin typeface="PFGSMB+TrebuchetMS"/>
                <a:cs typeface="PFGSMB+TrebuchetMS"/>
              </a:rPr>
              <a:t>» </a:t>
            </a:r>
            <a:r>
              <a:rPr lang="ru-RU" sz="1700" dirty="0">
                <a:latin typeface="EWIGLV+TrebuchetMS"/>
                <a:cs typeface="EWIGLV+TrebuchetMS"/>
              </a:rPr>
              <a:t>поведения</a:t>
            </a:r>
            <a:r>
              <a:rPr lang="ru-RU" sz="1700" dirty="0">
                <a:latin typeface="PFGSMB+TrebuchetMS"/>
                <a:cs typeface="PFGSMB+TrebuchetMS"/>
              </a:rPr>
              <a:t>)</a:t>
            </a:r>
          </a:p>
          <a:p>
            <a:pPr>
              <a:lnSpc>
                <a:spcPts val="1607"/>
              </a:lnSpc>
            </a:pPr>
            <a:endParaRPr lang="ru-RU" sz="1700" dirty="0">
              <a:solidFill>
                <a:srgbClr val="3F7718"/>
              </a:solidFill>
              <a:latin typeface="PFGSMB+TrebuchetMS"/>
              <a:cs typeface="PFGSMB+TrebuchetMS"/>
            </a:endParaRPr>
          </a:p>
          <a:p>
            <a:pPr>
              <a:lnSpc>
                <a:spcPts val="1919"/>
              </a:lnSpc>
            </a:pPr>
            <a:endParaRPr lang="ru-RU" sz="1700" dirty="0">
              <a:latin typeface="PFGSMB+TrebuchetMS"/>
              <a:cs typeface="PFGSMB+TrebuchetMS"/>
            </a:endParaRPr>
          </a:p>
          <a:p>
            <a:pPr>
              <a:lnSpc>
                <a:spcPts val="1919"/>
              </a:lnSpc>
            </a:pPr>
            <a:endParaRPr lang="ru-RU" sz="1700" dirty="0">
              <a:solidFill>
                <a:srgbClr val="3F7718"/>
              </a:solidFill>
              <a:latin typeface="EWIGLV+TrebuchetMS"/>
              <a:cs typeface="EWIGLV+TrebuchetMS"/>
            </a:endParaRPr>
          </a:p>
          <a:p>
            <a:pPr>
              <a:lnSpc>
                <a:spcPts val="1919"/>
              </a:lnSpc>
            </a:pPr>
            <a:endParaRPr lang="ru-RU" sz="1700" dirty="0">
              <a:solidFill>
                <a:srgbClr val="3F7718"/>
              </a:solidFill>
              <a:latin typeface="PERUNF+TrebuchetMS-Bold"/>
              <a:cs typeface="PERUNF+TrebuchetMS-Bold"/>
            </a:endParaRPr>
          </a:p>
          <a:p>
            <a:pPr>
              <a:lnSpc>
                <a:spcPts val="1973"/>
              </a:lnSpc>
            </a:pPr>
            <a:endParaRPr lang="ru-RU" sz="1700" dirty="0">
              <a:latin typeface="PFGSMB+TrebuchetMS"/>
              <a:cs typeface="PFGSMB+TrebuchetMS"/>
            </a:endParaRPr>
          </a:p>
          <a:p>
            <a:pPr>
              <a:lnSpc>
                <a:spcPts val="1973"/>
              </a:lnSpc>
            </a:pPr>
            <a:endParaRPr lang="ru-RU" sz="1700" dirty="0">
              <a:solidFill>
                <a:srgbClr val="3F7718"/>
              </a:solidFill>
              <a:latin typeface="EWIGLV+TrebuchetMS"/>
              <a:cs typeface="EWIGLV+TrebuchetMS"/>
            </a:endParaRPr>
          </a:p>
          <a:p>
            <a:pPr>
              <a:lnSpc>
                <a:spcPts val="1973"/>
              </a:lnSpc>
            </a:pPr>
            <a:endParaRPr lang="ru-RU" sz="1700" dirty="0">
              <a:latin typeface="PFGSMB+TrebuchetMS"/>
              <a:cs typeface="PFGSMB+TrebuchetMS"/>
            </a:endParaRPr>
          </a:p>
          <a:p>
            <a:pPr>
              <a:lnSpc>
                <a:spcPts val="1973"/>
              </a:lnSpc>
            </a:pPr>
            <a:endParaRPr lang="ru-RU" sz="1700" dirty="0">
              <a:latin typeface="PFGSMB+TrebuchetMS"/>
              <a:cs typeface="PFGSMB+TrebuchetMS"/>
            </a:endParaRPr>
          </a:p>
          <a:p>
            <a:pPr marL="0" marR="0">
              <a:lnSpc>
                <a:spcPts val="1973"/>
              </a:lnSpc>
              <a:spcBef>
                <a:spcPts val="0"/>
              </a:spcBef>
              <a:spcAft>
                <a:spcPts val="0"/>
              </a:spcAft>
            </a:pPr>
            <a:endParaRPr sz="1700" dirty="0">
              <a:solidFill>
                <a:srgbClr val="3F7718"/>
              </a:solidFill>
              <a:latin typeface="PFGSMB+TrebuchetMS"/>
              <a:cs typeface="PFGSMB+TrebuchetMS"/>
            </a:endParaRP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9D98622C-683A-4DB7-4B4F-38C9B40E807A}"/>
              </a:ext>
            </a:extLst>
          </p:cNvPr>
          <p:cNvCxnSpPr>
            <a:cxnSpLocks/>
          </p:cNvCxnSpPr>
          <p:nvPr/>
        </p:nvCxnSpPr>
        <p:spPr>
          <a:xfrm>
            <a:off x="191344" y="824657"/>
            <a:ext cx="6984776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27630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7368" y="172999"/>
            <a:ext cx="8229600" cy="648072"/>
          </a:xfrm>
        </p:spPr>
        <p:txBody>
          <a:bodyPr>
            <a:noAutofit/>
          </a:bodyPr>
          <a:lstStyle/>
          <a:p>
            <a:pPr algn="l"/>
            <a:r>
              <a:rPr lang="ru-RU" sz="3100" b="1" kern="1200" dirty="0">
                <a:solidFill>
                  <a:schemeClr val="tx1"/>
                </a:solidFill>
              </a:rPr>
              <a:t>Основные приемы в работе с убеждениями</a:t>
            </a:r>
            <a:br>
              <a:rPr lang="ru-RU" sz="2400" dirty="0">
                <a:solidFill>
                  <a:schemeClr val="accent1"/>
                </a:solidFill>
              </a:rPr>
            </a:br>
            <a:endParaRPr lang="ru-RU" sz="2400" dirty="0">
              <a:solidFill>
                <a:schemeClr val="accent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407368" y="3007923"/>
            <a:ext cx="11513185" cy="3843808"/>
          </a:xfrm>
        </p:spPr>
        <p:txBody>
          <a:bodyPr>
            <a:noAutofit/>
          </a:bodyPr>
          <a:lstStyle/>
          <a:p>
            <a:pPr marL="457200" indent="-342900">
              <a:buAutoNum type="arabicPeriod"/>
            </a:pPr>
            <a:r>
              <a:rPr lang="ru-RU" b="1" dirty="0">
                <a:solidFill>
                  <a:schemeClr val="tx1"/>
                </a:solidFill>
              </a:rPr>
              <a:t>Идентифицировать абсолютистские, неэффективные, мешающие убеждения</a:t>
            </a:r>
            <a:r>
              <a:rPr lang="ru-RU" dirty="0">
                <a:solidFill>
                  <a:schemeClr val="tx1"/>
                </a:solidFill>
              </a:rPr>
              <a:t>.</a:t>
            </a:r>
          </a:p>
          <a:p>
            <a:pPr marL="114300"/>
            <a:r>
              <a:rPr lang="ru-RU" dirty="0">
                <a:solidFill>
                  <a:schemeClr val="tx1"/>
                </a:solidFill>
              </a:rPr>
              <a:t>Какие убеждения стоят за неэффективным отношением/поведением?»</a:t>
            </a:r>
          </a:p>
          <a:p>
            <a:pPr marL="45720"/>
            <a:r>
              <a:rPr lang="ru-RU" dirty="0">
                <a:solidFill>
                  <a:schemeClr val="tx1"/>
                </a:solidFill>
              </a:rPr>
              <a:t>Способствует ли это убеждение достижению цели/мечты? Моему росту? здоровью?</a:t>
            </a:r>
          </a:p>
          <a:p>
            <a:pPr marL="45720"/>
            <a:r>
              <a:rPr lang="ru-RU" dirty="0">
                <a:solidFill>
                  <a:schemeClr val="tx1"/>
                </a:solidFill>
              </a:rPr>
              <a:t>Что можно сделать с этим убеждением (просто поисследовать, оставить как есть, трансформировать…)? Что вы выбираете?</a:t>
            </a:r>
          </a:p>
          <a:p>
            <a:pPr marL="45720"/>
            <a:endParaRPr lang="ru-RU" dirty="0">
              <a:solidFill>
                <a:schemeClr val="tx1"/>
              </a:solidFill>
            </a:endParaRPr>
          </a:p>
          <a:p>
            <a:pPr marL="114300"/>
            <a:r>
              <a:rPr lang="ru-RU" b="1" dirty="0">
                <a:solidFill>
                  <a:schemeClr val="tx1"/>
                </a:solidFill>
              </a:rPr>
              <a:t>2. Проверка на объективность </a:t>
            </a:r>
          </a:p>
          <a:p>
            <a:pPr marL="114300"/>
            <a:r>
              <a:rPr lang="ru-RU" dirty="0">
                <a:solidFill>
                  <a:schemeClr val="tx1"/>
                </a:solidFill>
              </a:rPr>
              <a:t>Базируется ли этот взгляд на объективной реальности? Уверены ли вы на 100% в том, что….?</a:t>
            </a:r>
          </a:p>
          <a:p>
            <a:pPr marL="114300"/>
            <a:r>
              <a:rPr lang="ru-RU" dirty="0">
                <a:solidFill>
                  <a:schemeClr val="tx1"/>
                </a:solidFill>
              </a:rPr>
              <a:t>Какие есть реальные подтверждения/доказательства? Сколько  было этих подтверждений в прошлом? Есть ли они сейчас? Насколько их много? А есть ли доказательства противоположного?</a:t>
            </a:r>
          </a:p>
          <a:p>
            <a:pPr marL="114300"/>
            <a:endParaRPr lang="ru-RU" dirty="0">
              <a:solidFill>
                <a:schemeClr val="tx1"/>
              </a:solidFill>
            </a:endParaRPr>
          </a:p>
          <a:p>
            <a:pPr marL="45720"/>
            <a:r>
              <a:rPr lang="ru-RU" dirty="0">
                <a:solidFill>
                  <a:schemeClr val="tx1"/>
                </a:solidFill>
              </a:rPr>
              <a:t>!!! Задача - снизить абсолютизацию данного убеждения.</a:t>
            </a:r>
          </a:p>
          <a:p>
            <a:endParaRPr lang="ru-RU" dirty="0"/>
          </a:p>
          <a:p>
            <a:pPr marL="45720"/>
            <a:endParaRPr lang="ru-RU" dirty="0"/>
          </a:p>
          <a:p>
            <a:endParaRPr lang="ru-RU" sz="2000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3D61D0C2-213D-7B30-4B2B-C47CCE31795F}"/>
              </a:ext>
            </a:extLst>
          </p:cNvPr>
          <p:cNvCxnSpPr>
            <a:cxnSpLocks/>
          </p:cNvCxnSpPr>
          <p:nvPr/>
        </p:nvCxnSpPr>
        <p:spPr>
          <a:xfrm>
            <a:off x="407368" y="809149"/>
            <a:ext cx="7560840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38208AC-929E-0200-CF69-6923A1EDEB5F}"/>
              </a:ext>
            </a:extLst>
          </p:cNvPr>
          <p:cNvSpPr txBox="1"/>
          <p:nvPr/>
        </p:nvSpPr>
        <p:spPr>
          <a:xfrm>
            <a:off x="987479" y="1432360"/>
            <a:ext cx="103691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FF0000"/>
                </a:solidFill>
              </a:rPr>
              <a:t>Часто— это замена абсолютистских требований («все…»,«должен» и «обязан») на рациональные относительные предпочтения в данной конкретной ситуации. </a:t>
            </a:r>
          </a:p>
          <a:p>
            <a:r>
              <a:rPr lang="ru-RU" sz="2000" dirty="0">
                <a:solidFill>
                  <a:srgbClr val="FF0000"/>
                </a:solidFill>
              </a:rPr>
              <a:t>В общем — это принятие гибкой установки по отношению к жизненным событиям в целом.</a:t>
            </a:r>
          </a:p>
        </p:txBody>
      </p:sp>
    </p:spTree>
    <p:extLst>
      <p:ext uri="{BB962C8B-B14F-4D97-AF65-F5344CB8AC3E}">
        <p14:creationId xmlns:p14="http://schemas.microsoft.com/office/powerpoint/2010/main" val="27701435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1344" y="182384"/>
            <a:ext cx="8229600" cy="57606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400" b="1" kern="1200" dirty="0">
                <a:solidFill>
                  <a:schemeClr val="tx1"/>
                </a:solidFill>
              </a:rPr>
              <a:t>Основные приемы в работе с убеждениями</a:t>
            </a:r>
            <a:br>
              <a:rPr lang="ru-RU" sz="2800" dirty="0">
                <a:solidFill>
                  <a:schemeClr val="accent1"/>
                </a:solidFill>
              </a:rPr>
            </a:br>
            <a:endParaRPr lang="ru-RU" sz="2800" dirty="0">
              <a:solidFill>
                <a:schemeClr val="accent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551384" y="910552"/>
            <a:ext cx="10873208" cy="5976664"/>
          </a:xfrm>
        </p:spPr>
        <p:txBody>
          <a:bodyPr>
            <a:normAutofit/>
          </a:bodyPr>
          <a:lstStyle/>
          <a:p>
            <a:pPr marL="114300"/>
            <a:r>
              <a:rPr lang="ru-RU" b="1" dirty="0">
                <a:solidFill>
                  <a:schemeClr val="tx1"/>
                </a:solidFill>
              </a:rPr>
              <a:t>3. Произвести </a:t>
            </a:r>
            <a:r>
              <a:rPr lang="ru-RU" b="1" dirty="0" err="1">
                <a:solidFill>
                  <a:schemeClr val="tx1"/>
                </a:solidFill>
              </a:rPr>
              <a:t>декатастрофизацию</a:t>
            </a:r>
            <a:r>
              <a:rPr lang="ru-RU" b="1" dirty="0">
                <a:solidFill>
                  <a:schemeClr val="tx1"/>
                </a:solidFill>
              </a:rPr>
              <a:t> – </a:t>
            </a:r>
            <a:r>
              <a:rPr lang="ru-RU" dirty="0">
                <a:solidFill>
                  <a:schemeClr val="tx1"/>
                </a:solidFill>
              </a:rPr>
              <a:t>представить</a:t>
            </a:r>
            <a:r>
              <a:rPr lang="ru-RU" b="1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самое худшее последствие. </a:t>
            </a:r>
          </a:p>
          <a:p>
            <a:pPr marL="45720"/>
            <a:endParaRPr lang="ru-RU" b="1" u="sng" dirty="0">
              <a:solidFill>
                <a:schemeClr val="tx1"/>
              </a:solidFill>
            </a:endParaRPr>
          </a:p>
          <a:p>
            <a:pPr marL="45720"/>
            <a:r>
              <a:rPr lang="ru-RU" b="1" u="sng" dirty="0">
                <a:solidFill>
                  <a:schemeClr val="tx1"/>
                </a:solidFill>
              </a:rPr>
              <a:t>!!! Задача - снизить абсолютизацию данного убеждения</a:t>
            </a:r>
          </a:p>
          <a:p>
            <a:pPr marL="45720"/>
            <a:endParaRPr lang="ru-RU" b="1" u="sng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Представьте себе самый ужасный вариант развития событий</a:t>
            </a:r>
          </a:p>
          <a:p>
            <a:r>
              <a:rPr lang="ru-RU" dirty="0">
                <a:solidFill>
                  <a:schemeClr val="tx1"/>
                </a:solidFill>
              </a:rPr>
              <a:t>Примеры: потеря работы, репутации, развод, смерть и т.д. Насколько это плохо? Что самое худшее может произойти? Как мне с этим справиться?</a:t>
            </a:r>
          </a:p>
          <a:p>
            <a:pPr marL="45720"/>
            <a:r>
              <a:rPr lang="ru-RU" dirty="0">
                <a:solidFill>
                  <a:schemeClr val="tx1"/>
                </a:solidFill>
              </a:rPr>
              <a:t>Можно ли иначе взглянуть на ситуацию? ЧТО В ЭТОМ ЕСТЬ ХОРОШЕГО? </a:t>
            </a:r>
          </a:p>
          <a:p>
            <a:endParaRPr lang="ru-RU" b="1" dirty="0">
              <a:solidFill>
                <a:schemeClr val="tx1"/>
              </a:solidFill>
            </a:endParaRPr>
          </a:p>
          <a:p>
            <a:pPr marL="114300"/>
            <a:r>
              <a:rPr lang="ru-RU" b="1" dirty="0">
                <a:solidFill>
                  <a:schemeClr val="tx1"/>
                </a:solidFill>
              </a:rPr>
              <a:t>4. Произвести трансформацию убеждений</a:t>
            </a:r>
          </a:p>
          <a:p>
            <a:pPr marL="45720"/>
            <a:r>
              <a:rPr lang="ru-RU" dirty="0">
                <a:solidFill>
                  <a:schemeClr val="tx1"/>
                </a:solidFill>
              </a:rPr>
              <a:t>И тогда какие новые убеждения можно сформировать? Как они будут звучать? </a:t>
            </a:r>
          </a:p>
          <a:p>
            <a:endParaRPr lang="ru-RU" dirty="0">
              <a:solidFill>
                <a:schemeClr val="tx1"/>
              </a:solidFill>
            </a:endParaRPr>
          </a:p>
          <a:p>
            <a:pPr marL="114300"/>
            <a:r>
              <a:rPr lang="ru-RU" b="1" dirty="0">
                <a:solidFill>
                  <a:schemeClr val="tx1"/>
                </a:solidFill>
              </a:rPr>
              <a:t>5. Произвести проверку убеждения на эффективность</a:t>
            </a:r>
            <a:endParaRPr lang="ru-RU" dirty="0">
              <a:solidFill>
                <a:schemeClr val="tx1"/>
              </a:solidFill>
            </a:endParaRPr>
          </a:p>
          <a:p>
            <a:pPr marL="45720"/>
            <a:r>
              <a:rPr lang="ru-RU" dirty="0">
                <a:solidFill>
                  <a:schemeClr val="tx1"/>
                </a:solidFill>
              </a:rPr>
              <a:t>Насколько новые убеждения вам помогут? </a:t>
            </a:r>
          </a:p>
          <a:p>
            <a:pPr marL="45720"/>
            <a:r>
              <a:rPr lang="ru-RU" dirty="0">
                <a:solidFill>
                  <a:schemeClr val="tx1"/>
                </a:solidFill>
              </a:rPr>
              <a:t>Способствует ли этот взгляд духовному росту, физическому и эмоциональному здоровью?</a:t>
            </a:r>
          </a:p>
          <a:p>
            <a:pPr marL="45720"/>
            <a:r>
              <a:rPr lang="ru-RU" dirty="0">
                <a:solidFill>
                  <a:schemeClr val="tx1"/>
                </a:solidFill>
              </a:rPr>
              <a:t>Как вы можете их поддерживать, не терять из виду, опираться на них каждый день?</a:t>
            </a:r>
          </a:p>
          <a:p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86C39B9-1066-3E26-7F80-07DFDD76EFEF}"/>
              </a:ext>
            </a:extLst>
          </p:cNvPr>
          <p:cNvCxnSpPr>
            <a:cxnSpLocks/>
          </p:cNvCxnSpPr>
          <p:nvPr/>
        </p:nvCxnSpPr>
        <p:spPr>
          <a:xfrm>
            <a:off x="551384" y="758448"/>
            <a:ext cx="7560840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7854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1703512" y="1988840"/>
            <a:ext cx="8640960" cy="1521296"/>
          </a:xfrm>
        </p:spPr>
        <p:txBody>
          <a:bodyPr>
            <a:noAutofit/>
          </a:bodyPr>
          <a:lstStyle/>
          <a:p>
            <a:pPr marL="114300" algn="ctr"/>
            <a:r>
              <a:rPr lang="ru-RU" sz="2400" dirty="0">
                <a:solidFill>
                  <a:srgbClr val="FF0000"/>
                </a:solidFill>
              </a:rPr>
              <a:t>Важно! </a:t>
            </a:r>
          </a:p>
          <a:p>
            <a:pPr marL="114300" algn="ctr"/>
            <a:r>
              <a:rPr lang="ru-RU" sz="2400" dirty="0">
                <a:solidFill>
                  <a:srgbClr val="FF0000"/>
                </a:solidFill>
              </a:rPr>
              <a:t>В трансформационном подходе с убеждениями </a:t>
            </a:r>
          </a:p>
          <a:p>
            <a:pPr marL="114300" algn="ctr"/>
            <a:r>
              <a:rPr lang="ru-RU" sz="2400" dirty="0">
                <a:solidFill>
                  <a:srgbClr val="FF0000"/>
                </a:solidFill>
              </a:rPr>
              <a:t>мы работаем всегда! </a:t>
            </a:r>
          </a:p>
          <a:p>
            <a:pPr marL="45720" algn="ctr"/>
            <a:r>
              <a:rPr lang="ru-RU" sz="2400" dirty="0">
                <a:solidFill>
                  <a:srgbClr val="FF0000"/>
                </a:solidFill>
              </a:rPr>
              <a:t> В процессе работы с любой техникой </a:t>
            </a:r>
          </a:p>
          <a:p>
            <a:pPr marL="45720" algn="ctr"/>
            <a:r>
              <a:rPr lang="ru-RU" sz="2400" dirty="0">
                <a:solidFill>
                  <a:srgbClr val="FF0000"/>
                </a:solidFill>
              </a:rPr>
              <a:t>(через тело, через   визуальный канал, через «голову»)</a:t>
            </a:r>
          </a:p>
        </p:txBody>
      </p:sp>
    </p:spTree>
    <p:extLst>
      <p:ext uri="{BB962C8B-B14F-4D97-AF65-F5344CB8AC3E}">
        <p14:creationId xmlns:p14="http://schemas.microsoft.com/office/powerpoint/2010/main" val="30258337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40A6E1-FB01-3F27-4999-940EBE5A4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078" y="229005"/>
            <a:ext cx="9678774" cy="477054"/>
          </a:xfrm>
        </p:spPr>
        <p:txBody>
          <a:bodyPr/>
          <a:lstStyle/>
          <a:p>
            <a:r>
              <a:rPr lang="ru-RU" sz="3100" b="1" kern="1200" dirty="0" err="1">
                <a:solidFill>
                  <a:schemeClr val="tx1"/>
                </a:solidFill>
              </a:rPr>
              <a:t>Декатастрофизация</a:t>
            </a:r>
            <a:r>
              <a:rPr lang="ru-RU" sz="3100" b="1" kern="1200" dirty="0">
                <a:solidFill>
                  <a:schemeClr val="tx1"/>
                </a:solidFill>
              </a:rPr>
              <a:t>. Экспресс-тест приема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43136B-B4B2-9CF4-697B-EFC9525379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090" y="937345"/>
            <a:ext cx="9780357" cy="5804023"/>
          </a:xfrm>
        </p:spPr>
        <p:txBody>
          <a:bodyPr/>
          <a:lstStyle/>
          <a:p>
            <a:r>
              <a:rPr lang="ru-RU" dirty="0"/>
              <a:t>1</a:t>
            </a:r>
            <a:r>
              <a:rPr lang="ru-RU" sz="1600" dirty="0"/>
              <a:t>) </a:t>
            </a:r>
            <a:r>
              <a:rPr lang="ru-RU" sz="1600" b="1" dirty="0"/>
              <a:t>Выберите одно значимое, но «устаревшее» убеждение</a:t>
            </a:r>
            <a:r>
              <a:rPr lang="ru-RU" sz="1600" dirty="0"/>
              <a:t>, которое, как вам кажется, вас ограничивает. Сформулируйте его коротко и ясно.</a:t>
            </a:r>
          </a:p>
          <a:p>
            <a:r>
              <a:rPr lang="ru-RU" sz="1600" u="sng" dirty="0"/>
              <a:t>Пример</a:t>
            </a:r>
            <a:r>
              <a:rPr lang="ru-RU" sz="1600" dirty="0"/>
              <a:t>: «Чтобы мужчина меня любил и не ушёл, я должна быть удобной, милой и не создавать проблем»</a:t>
            </a:r>
          </a:p>
          <a:p>
            <a:r>
              <a:rPr lang="ru-RU" sz="1600" b="1" dirty="0"/>
              <a:t>2) Фаза исследования «рисков» (3 итерации)</a:t>
            </a:r>
          </a:p>
          <a:p>
            <a:r>
              <a:rPr lang="ru-RU" sz="1600" b="1" dirty="0"/>
              <a:t>Задача:</a:t>
            </a:r>
            <a:r>
              <a:rPr lang="ru-RU" sz="1600" dirty="0"/>
              <a:t> Последовательно «накрутить» пессимистичный сценарий, развивая цепочку последствий от нарушения этого убеждения. На «дно» не спускаемся!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Представьте, что вы поступили ровно противоположно вашему убеждению. Что вы конкретно сделали?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Что самого неприятного, страшного или «неправильного» может произойти сразу после этого поступка? Опишите эту ситуацию. Что в этом плохого лично для вас? К каким дальнейшим последствиям это может привести? (Продвиньте цепочку дальше).</a:t>
            </a:r>
          </a:p>
          <a:p>
            <a:pPr lvl="1"/>
            <a:endParaRPr lang="ru-RU" sz="1600" dirty="0"/>
          </a:p>
          <a:p>
            <a:r>
              <a:rPr lang="ru-RU" sz="1600" b="1" dirty="0"/>
              <a:t>3) Фаза поиска «возможностей» (Переворот)</a:t>
            </a:r>
          </a:p>
          <a:p>
            <a:r>
              <a:rPr lang="ru-RU" sz="1600" b="1" dirty="0"/>
              <a:t>Задача:</a:t>
            </a:r>
            <a:r>
              <a:rPr lang="ru-RU" sz="1600" dirty="0"/>
              <a:t> Резко сменить угол зрения. Исходя из той же самой цепочки событий, найти в ней скрытые плюсы, уроки и возможности: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Что в самом этом действии (нарушении убеждения) может быть хорошего, правильного или полезного для вас?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Какие позитивные стороны можно найти в неприятных последствиях?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Какие новые возможности для вас могли бы открыться в этой ситуации?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Что бы вы смогли делать в этой новой реальности, чего не делали раньше?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К каким позитивным итогам это, в конечном счете, могло бы привести?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/>
          </a:p>
          <a:p>
            <a:r>
              <a:rPr lang="ru-RU" sz="1600" dirty="0"/>
              <a:t>Важно! Нет задачи трансформировать убеждение, поменять на противоположное! Цель: протестировать прием на практике                                    </a:t>
            </a:r>
            <a:r>
              <a:rPr lang="ru-RU" dirty="0">
                <a:solidFill>
                  <a:srgbClr val="FF0000"/>
                </a:solidFill>
              </a:rPr>
              <a:t>Работа в парах: по 10 мин в одну сторону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FD0D3134-2572-3C7C-CB21-04275510879E}"/>
              </a:ext>
            </a:extLst>
          </p:cNvPr>
          <p:cNvCxnSpPr>
            <a:cxnSpLocks/>
          </p:cNvCxnSpPr>
          <p:nvPr/>
        </p:nvCxnSpPr>
        <p:spPr>
          <a:xfrm>
            <a:off x="550863" y="836712"/>
            <a:ext cx="7560840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35973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09C84C-D8B4-B65A-1284-70FC7ED2B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B79EF0-FB2D-E109-1922-40CAB62E797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538" y="1412776"/>
            <a:ext cx="11161086" cy="2215991"/>
          </a:xfrm>
        </p:spPr>
        <p:txBody>
          <a:bodyPr/>
          <a:lstStyle/>
          <a:p>
            <a:r>
              <a:rPr lang="ru-RU" b="1" dirty="0"/>
              <a:t>Цель:</a:t>
            </a:r>
            <a:r>
              <a:rPr lang="ru-RU" dirty="0"/>
              <a:t> Не изменить убеждение, а исследовать его «прочность» и скрытые функции, осознанно протестировав возможные последствия его нарушения, в т. ч. позитивные.</a:t>
            </a:r>
          </a:p>
          <a:p>
            <a:endParaRPr lang="ru-RU" dirty="0"/>
          </a:p>
          <a:p>
            <a:r>
              <a:rPr lang="ru-RU" dirty="0"/>
              <a:t>Прием не заставляет клиента сразу менять поведение, но показывает, что даже в самом страшном исходе есть </a:t>
            </a:r>
            <a:r>
              <a:rPr lang="ru-RU" b="1" dirty="0"/>
              <a:t>зерно свободы и роста</a:t>
            </a:r>
            <a:r>
              <a:rPr lang="ru-RU" dirty="0"/>
              <a:t>. Это снижает панический страх перед нарушением старого правила и делает его менее абсолютным. </a:t>
            </a:r>
          </a:p>
          <a:p>
            <a:r>
              <a:rPr lang="ru-RU" dirty="0"/>
              <a:t>Прием работает как «прививка»: смоделировав худшее и найдя в нём возможности, психика получает ресурс для реальных, более мягких изменений.</a:t>
            </a:r>
          </a:p>
        </p:txBody>
      </p:sp>
    </p:spTree>
    <p:extLst>
      <p:ext uri="{BB962C8B-B14F-4D97-AF65-F5344CB8AC3E}">
        <p14:creationId xmlns:p14="http://schemas.microsoft.com/office/powerpoint/2010/main" val="4279902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EA215B-568C-607D-178B-AA515EC18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08" y="61587"/>
            <a:ext cx="6797992" cy="477054"/>
          </a:xfrm>
        </p:spPr>
        <p:txBody>
          <a:bodyPr/>
          <a:lstStyle/>
          <a:p>
            <a:pPr algn="ctr"/>
            <a:r>
              <a:rPr lang="ru-RU" sz="3100" b="1" kern="1200" dirty="0">
                <a:solidFill>
                  <a:schemeClr val="tx1"/>
                </a:solidFill>
              </a:rPr>
              <a:t>Техника «Музей старых убеждений»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5E9C1D-1255-F7F0-87D9-9B9ADE04A5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3352" y="731520"/>
            <a:ext cx="11305256" cy="6093976"/>
          </a:xfrm>
        </p:spPr>
        <p:txBody>
          <a:bodyPr/>
          <a:lstStyle/>
          <a:p>
            <a:pPr marL="45720" indent="0">
              <a:buNone/>
            </a:pPr>
            <a:r>
              <a:rPr lang="ru-RU" dirty="0"/>
              <a:t>1. Найти неэффективное убеждение.  Например, это могут быть: </a:t>
            </a:r>
          </a:p>
          <a:p>
            <a:pPr marL="45720" indent="0">
              <a:buNone/>
            </a:pPr>
            <a:r>
              <a:rPr lang="ru-RU" dirty="0"/>
              <a:t> Я не достоин любви.  Мне трудно найти хорошую работу.  Меня никто не уважает.</a:t>
            </a:r>
            <a:br>
              <a:rPr lang="ru-RU" dirty="0"/>
            </a:br>
            <a:r>
              <a:rPr lang="ru-RU" dirty="0"/>
              <a:t>2. Найдите место на полу рядом с собой, где бы вы хотели разместить Музей Старых Убеждений. Поместите в эту область те старые убеждения, которые вы нашли на предыдущем шаге. </a:t>
            </a:r>
          </a:p>
          <a:p>
            <a:pPr marL="45720" indent="0">
              <a:buNone/>
            </a:pPr>
            <a:r>
              <a:rPr lang="ru-RU" dirty="0"/>
              <a:t>Посмотрите на это место со стороны. Что в вас откликается, какие чувства? Есть ли чувство сожаления? Готовы ли вы расстаться со старым убеждением/убеждениями?</a:t>
            </a:r>
            <a:br>
              <a:rPr lang="ru-RU" dirty="0"/>
            </a:br>
            <a:r>
              <a:rPr lang="ru-RU" dirty="0"/>
              <a:t>3. Подумайте о каком-то полезном для вас убеждении, в которое вы верите совершенно твердо. Может быть, это вера в то, что " все будет хорошо" или что вы "сможете справиться с любой проблемой".</a:t>
            </a:r>
            <a:br>
              <a:rPr lang="ru-RU" dirty="0"/>
            </a:br>
            <a:r>
              <a:rPr lang="ru-RU" dirty="0"/>
              <a:t>4. Место Новых Убеждений.</a:t>
            </a:r>
            <a:br>
              <a:rPr lang="ru-RU" dirty="0"/>
            </a:br>
            <a:r>
              <a:rPr lang="ru-RU" dirty="0"/>
              <a:t>Определите место на полу перед собой, где Вам удобнее расположить место Новых Убеждений. Положите туда свою твердую веру, а так же те новые убеждения, которые вы считаете для себя полезными (и хотите, чтобы они у вас были). Например, это могут быть: </a:t>
            </a:r>
          </a:p>
          <a:p>
            <a:pPr marL="45720" indent="0">
              <a:buNone/>
            </a:pPr>
            <a:r>
              <a:rPr lang="ru-RU" dirty="0"/>
              <a:t>1. Я способен справиться с любой трудностью. 2. Я могу быть таким, каким захочу. 3. Я могу сам менять собственную жизнь.</a:t>
            </a:r>
            <a:br>
              <a:rPr lang="ru-RU" dirty="0"/>
            </a:br>
            <a:r>
              <a:rPr lang="ru-RU" dirty="0"/>
              <a:t>5. Принятие новых убеждений. Войдите в область, где находятся новые убеждения и представьте, что они "втекают" в ваше тело. Подождите, пока процесс закончится.</a:t>
            </a:r>
            <a:br>
              <a:rPr lang="ru-RU" dirty="0"/>
            </a:br>
            <a:r>
              <a:rPr lang="ru-RU" dirty="0"/>
              <a:t>6. Сохранение Музея. Музей Старых Убеждений разместите где-то в пространстве рядом с собой (но только не внутри вас): это место, куда вы можете сходить, посмотреть ваши старые убеждения, если вам какие-то нужны – взять их обратно, а так же добавить в Музей те, от которых вы решили отказаться. Поблагодарите свои старые убеждения за то, что они так верно служили и помогали вам.</a:t>
            </a:r>
            <a:br>
              <a:rPr lang="ru-RU" dirty="0"/>
            </a:br>
            <a:r>
              <a:rPr lang="ru-RU" dirty="0"/>
              <a:t>7. Привязка к будущему. Отойдите в сторону и посмотрите в свое будущее. Что там изменилось, как конкретно эти изменения проявятся в вашей жизни?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03428A6-3BD0-0C09-E5F5-786B9E92517B}"/>
              </a:ext>
            </a:extLst>
          </p:cNvPr>
          <p:cNvCxnSpPr>
            <a:cxnSpLocks/>
          </p:cNvCxnSpPr>
          <p:nvPr/>
        </p:nvCxnSpPr>
        <p:spPr>
          <a:xfrm>
            <a:off x="263352" y="620688"/>
            <a:ext cx="6408712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9617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5D1C4C-D8A8-4811-34F5-2EC8C8661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66" y="260648"/>
            <a:ext cx="6797992" cy="477054"/>
          </a:xfrm>
        </p:spPr>
        <p:txBody>
          <a:bodyPr/>
          <a:lstStyle/>
          <a:p>
            <a:r>
              <a:rPr lang="ru-RU" sz="3100" b="1" kern="1200" dirty="0">
                <a:solidFill>
                  <a:schemeClr val="tx1"/>
                </a:solidFill>
              </a:rPr>
              <a:t>Техника «Экран» (работа с образами)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11116B-B9BD-0C34-DF04-748D2205FC9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7666" y="935723"/>
            <a:ext cx="10470862" cy="5805645"/>
          </a:xfrm>
        </p:spPr>
        <p:txBody>
          <a:bodyPr/>
          <a:lstStyle/>
          <a:p>
            <a:r>
              <a:rPr lang="ru-RU" b="1" dirty="0"/>
              <a:t>Цель:</a:t>
            </a:r>
            <a:r>
              <a:rPr lang="ru-RU" dirty="0"/>
              <a:t> Трансформация негативного опыта и создание желаемого сценария.</a:t>
            </a:r>
          </a:p>
          <a:p>
            <a:r>
              <a:rPr lang="ru-RU" b="1" dirty="0"/>
              <a:t>Этап 1. Работа с негативным образом </a:t>
            </a:r>
          </a:p>
          <a:p>
            <a:r>
              <a:rPr lang="ru-RU" b="1" dirty="0"/>
              <a:t>Проецируем</a:t>
            </a:r>
            <a:r>
              <a:rPr lang="ru-RU" dirty="0"/>
              <a:t> неприятную ситуацию на «внутренний экран» как фильм. </a:t>
            </a:r>
            <a:r>
              <a:rPr lang="ru-RU" b="1" dirty="0"/>
              <a:t>Дистанцируемся:</a:t>
            </a:r>
            <a:r>
              <a:rPr lang="ru-RU" dirty="0"/>
              <a:t> Наблюдаем со стороны, держа в руке «пульт управления».</a:t>
            </a:r>
          </a:p>
          <a:p>
            <a:r>
              <a:rPr lang="ru-RU" b="1" dirty="0"/>
              <a:t>Обесцениванием (ухудшение картинки): </a:t>
            </a:r>
            <a:r>
              <a:rPr lang="ru-RU" dirty="0"/>
              <a:t>Быстрая перемотка вперед-назад (до состояния «надоело»). Включение замедленного воспроизведения. Убираем цвет и объем (черно-белое плоское изображение). Доводим картинку до полного «выцветания» и размытия.</a:t>
            </a:r>
          </a:p>
          <a:p>
            <a:r>
              <a:rPr lang="ru-RU" b="1" dirty="0"/>
              <a:t>Стираем:</a:t>
            </a:r>
            <a:r>
              <a:rPr lang="ru-RU" dirty="0"/>
              <a:t> Закрашиваем экран белой краской.</a:t>
            </a:r>
          </a:p>
          <a:p>
            <a:endParaRPr lang="ru-RU" dirty="0"/>
          </a:p>
          <a:p>
            <a:r>
              <a:rPr lang="ru-RU" b="1" dirty="0"/>
              <a:t>Этап 2. Создание нового сценария</a:t>
            </a:r>
            <a:endParaRPr lang="ru-RU" dirty="0"/>
          </a:p>
          <a:p>
            <a:r>
              <a:rPr lang="ru-RU" b="1" dirty="0"/>
              <a:t>Включаем</a:t>
            </a:r>
            <a:r>
              <a:rPr lang="ru-RU" dirty="0"/>
              <a:t> чистый экран новой, «ресурсной» кнопкой.</a:t>
            </a:r>
          </a:p>
          <a:p>
            <a:r>
              <a:rPr lang="ru-RU" b="1" dirty="0"/>
              <a:t>Создаем фильм:</a:t>
            </a:r>
            <a:r>
              <a:rPr lang="ru-RU" dirty="0"/>
              <a:t> Как режиссер и сценарист, формируем желаемый образ: Добавляем яркие краски, объем, звук, детали. Прокручиваем сюжет вперед, добавляем ресурсы.</a:t>
            </a:r>
          </a:p>
          <a:p>
            <a:r>
              <a:rPr lang="ru-RU" b="1" dirty="0"/>
              <a:t>Входим в образ:</a:t>
            </a:r>
            <a:r>
              <a:rPr lang="ru-RU" dirty="0"/>
              <a:t> Встаем и «входим» в экран, проживая ситуацию от первого лица, усиливая ощущения.</a:t>
            </a:r>
          </a:p>
          <a:p>
            <a:endParaRPr lang="ru-RU" dirty="0"/>
          </a:p>
          <a:p>
            <a:r>
              <a:rPr lang="ru-RU" b="1" dirty="0"/>
              <a:t>Этап 3. Интеграция и завершение</a:t>
            </a:r>
            <a:endParaRPr lang="ru-RU" dirty="0"/>
          </a:p>
          <a:p>
            <a:r>
              <a:rPr lang="ru-RU" b="1" dirty="0"/>
              <a:t>Выходим</a:t>
            </a:r>
            <a:r>
              <a:rPr lang="ru-RU" dirty="0"/>
              <a:t> из экрана, оставляя новый сценарий развиваться. </a:t>
            </a:r>
            <a:r>
              <a:rPr lang="ru-RU" b="1" dirty="0"/>
              <a:t>Берем «сувенир»</a:t>
            </a:r>
            <a:r>
              <a:rPr lang="ru-RU" dirty="0"/>
              <a:t> — якорь из нового образа.</a:t>
            </a:r>
          </a:p>
          <a:p>
            <a:r>
              <a:rPr lang="ru-RU" b="1" dirty="0"/>
              <a:t>Осознаем:</a:t>
            </a:r>
            <a:r>
              <a:rPr lang="ru-RU" dirty="0"/>
              <a:t> Пульт управления всегда в ваших руках. Вы — автор своей реальности.</a:t>
            </a:r>
          </a:p>
          <a:p>
            <a:r>
              <a:rPr lang="ru-RU" b="1" dirty="0"/>
              <a:t>Возвращаемся</a:t>
            </a:r>
            <a:r>
              <a:rPr lang="ru-RU" dirty="0"/>
              <a:t> в здесь-и-сейчас через фокус на дыхании.</a:t>
            </a:r>
          </a:p>
          <a:p>
            <a:endParaRPr lang="ru-RU" dirty="0"/>
          </a:p>
          <a:p>
            <a:pPr algn="ctr"/>
            <a:r>
              <a:rPr lang="ru-RU" b="1" dirty="0">
                <a:solidFill>
                  <a:srgbClr val="FF0000"/>
                </a:solidFill>
              </a:rPr>
              <a:t>Ключевой принцип: Наблюдение → Обесценивание → Стирание → Творчество → Встраивание.</a:t>
            </a:r>
            <a:endParaRPr lang="ru-RU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endParaRPr lang="ru-RU" dirty="0"/>
          </a:p>
          <a:p>
            <a:pPr marL="342900" indent="-342900">
              <a:buAutoNum type="arabicPeriod"/>
            </a:pPr>
            <a:endParaRPr lang="ru-RU" dirty="0"/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1B31BC7A-EFD7-B544-C27D-C0C896BD1FD2}"/>
              </a:ext>
            </a:extLst>
          </p:cNvPr>
          <p:cNvCxnSpPr>
            <a:cxnSpLocks/>
          </p:cNvCxnSpPr>
          <p:nvPr/>
        </p:nvCxnSpPr>
        <p:spPr>
          <a:xfrm>
            <a:off x="377666" y="836712"/>
            <a:ext cx="6438414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3354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EA1FA6-8908-C832-3FCA-592624148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 descr="Изображение выглядит как текст, Человеческое лицо, человек, одеж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A685C18-1669-70E0-9921-3A55BA8A003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03502" y="427735"/>
            <a:ext cx="7936714" cy="5073426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39FAEC86-7C18-714A-DBCF-0EC92F4689B5}"/>
              </a:ext>
            </a:extLst>
          </p:cNvPr>
          <p:cNvCxnSpPr>
            <a:cxnSpLocks/>
          </p:cNvCxnSpPr>
          <p:nvPr/>
        </p:nvCxnSpPr>
        <p:spPr>
          <a:xfrm>
            <a:off x="572306" y="1196752"/>
            <a:ext cx="7035862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8565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4167FD-3AA4-0453-B121-500E4342D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477054"/>
          </a:xfrm>
        </p:spPr>
        <p:txBody>
          <a:bodyPr/>
          <a:lstStyle/>
          <a:p>
            <a:r>
              <a:rPr lang="ru-RU" sz="3100" b="1" kern="1200" dirty="0">
                <a:solidFill>
                  <a:schemeClr val="tx1"/>
                </a:solidFill>
              </a:rPr>
              <a:t>Состояние высокой продуктивности</a:t>
            </a:r>
          </a:p>
        </p:txBody>
      </p:sp>
      <p:pic>
        <p:nvPicPr>
          <p:cNvPr id="5" name="Объект 4" descr="Изображение выглядит как текст, снимок экрана, Шрифт, докумен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164DDF3-3AE9-40CE-7914-111D745C4E0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68935" y="1196751"/>
            <a:ext cx="9643489" cy="5232105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70409FBA-ABBC-9FD7-0480-CE44F3721900}"/>
              </a:ext>
            </a:extLst>
          </p:cNvPr>
          <p:cNvCxnSpPr>
            <a:cxnSpLocks/>
          </p:cNvCxnSpPr>
          <p:nvPr/>
        </p:nvCxnSpPr>
        <p:spPr>
          <a:xfrm>
            <a:off x="377666" y="943950"/>
            <a:ext cx="6222390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8615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4436AE-CFAB-43E2-B90F-60A42A288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476672"/>
            <a:ext cx="7955555" cy="477054"/>
          </a:xfrm>
        </p:spPr>
        <p:txBody>
          <a:bodyPr/>
          <a:lstStyle/>
          <a:p>
            <a:pPr algn="l"/>
            <a:r>
              <a:rPr lang="ru-RU" sz="3100" kern="1200" dirty="0">
                <a:solidFill>
                  <a:schemeClr val="tx1"/>
                </a:solidFill>
              </a:rPr>
              <a:t>Тренировка </a:t>
            </a:r>
            <a:r>
              <a:rPr lang="en-US" sz="3100" kern="1200" dirty="0">
                <a:solidFill>
                  <a:schemeClr val="tx1"/>
                </a:solidFill>
              </a:rPr>
              <a:t>HPS</a:t>
            </a:r>
            <a:endParaRPr lang="ru-RU" sz="3100" kern="1200" dirty="0">
              <a:solidFill>
                <a:schemeClr val="tx1"/>
              </a:solidFill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4D2C754-A03C-9253-71EB-65D51F66BC76}"/>
              </a:ext>
            </a:extLst>
          </p:cNvPr>
          <p:cNvCxnSpPr>
            <a:cxnSpLocks/>
          </p:cNvCxnSpPr>
          <p:nvPr/>
        </p:nvCxnSpPr>
        <p:spPr>
          <a:xfrm>
            <a:off x="407368" y="1052736"/>
            <a:ext cx="2736304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Рисунок 7" descr="Изображение выглядит как текст, Шрифт, белый, типограф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940FDAA-7D41-8EFF-58F7-E2A3C63AD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1" y="1628800"/>
            <a:ext cx="5904656" cy="895752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Шрифт, белый, алгебр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6B07454-4E39-F1BC-18AE-0D232BEA0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687" y="3501008"/>
            <a:ext cx="5189055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7376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816AC3-9CDE-BEEB-A0DD-1A7CEDCD8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 descr="Изображение выглядит как текст, Шрифт, снимок экрана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EF3344A-51EC-131C-7CC0-188ED43100D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77666" y="1556792"/>
            <a:ext cx="9030702" cy="256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4789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1384" y="332656"/>
            <a:ext cx="10729192" cy="648072"/>
          </a:xfrm>
        </p:spPr>
        <p:txBody>
          <a:bodyPr>
            <a:noAutofit/>
          </a:bodyPr>
          <a:lstStyle/>
          <a:p>
            <a:pPr algn="l"/>
            <a:r>
              <a:rPr lang="ru-RU" sz="3100" b="1" kern="1200" dirty="0">
                <a:solidFill>
                  <a:schemeClr val="tx1"/>
                </a:solidFill>
              </a:rPr>
              <a:t>Система «Аутогенной тренировки» (АТ) по Шульцу</a:t>
            </a:r>
            <a:br>
              <a:rPr lang="ru-RU" sz="2400" dirty="0">
                <a:solidFill>
                  <a:schemeClr val="tx1"/>
                </a:solidFill>
              </a:rPr>
            </a:b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523620" y="1196752"/>
            <a:ext cx="11116996" cy="5544616"/>
          </a:xfrm>
        </p:spPr>
        <p:txBody>
          <a:bodyPr>
            <a:normAutofit fontScale="55000" lnSpcReduction="20000"/>
          </a:bodyPr>
          <a:lstStyle/>
          <a:p>
            <a:pPr algn="ctr" fontAlgn="base"/>
            <a:r>
              <a:rPr lang="ru-RU" sz="3400" i="1" dirty="0">
                <a:solidFill>
                  <a:schemeClr val="tx1"/>
                </a:solidFill>
              </a:rPr>
              <a:t>Слово «аутогенный» состоит из двух греческих корней «</a:t>
            </a:r>
            <a:r>
              <a:rPr lang="ru-RU" sz="3400" i="1" dirty="0" err="1">
                <a:solidFill>
                  <a:schemeClr val="tx1"/>
                </a:solidFill>
              </a:rPr>
              <a:t>аутос</a:t>
            </a:r>
            <a:r>
              <a:rPr lang="ru-RU" sz="3400" i="1" dirty="0">
                <a:solidFill>
                  <a:schemeClr val="tx1"/>
                </a:solidFill>
              </a:rPr>
              <a:t>» — сам, и «</a:t>
            </a:r>
            <a:r>
              <a:rPr lang="ru-RU" sz="3400" i="1" dirty="0" err="1">
                <a:solidFill>
                  <a:schemeClr val="tx1"/>
                </a:solidFill>
              </a:rPr>
              <a:t>генос</a:t>
            </a:r>
            <a:r>
              <a:rPr lang="ru-RU" sz="3400" i="1" dirty="0">
                <a:solidFill>
                  <a:schemeClr val="tx1"/>
                </a:solidFill>
              </a:rPr>
              <a:t>» — род, и означает «</a:t>
            </a:r>
            <a:r>
              <a:rPr lang="ru-RU" sz="3400" i="1" dirty="0" err="1">
                <a:solidFill>
                  <a:schemeClr val="tx1"/>
                </a:solidFill>
              </a:rPr>
              <a:t>самопорождающая</a:t>
            </a:r>
            <a:r>
              <a:rPr lang="ru-RU" sz="3400" i="1" dirty="0">
                <a:solidFill>
                  <a:schemeClr val="tx1"/>
                </a:solidFill>
              </a:rPr>
              <a:t>»</a:t>
            </a:r>
          </a:p>
          <a:p>
            <a:pPr algn="ctr" fontAlgn="base"/>
            <a:endParaRPr lang="ru-RU" sz="3400" i="1" dirty="0">
              <a:solidFill>
                <a:schemeClr val="tx1"/>
              </a:solidFill>
            </a:endParaRPr>
          </a:p>
          <a:p>
            <a:pPr algn="ctr" fontAlgn="base"/>
            <a:endParaRPr lang="ru-RU" sz="3400" i="1" dirty="0">
              <a:solidFill>
                <a:schemeClr val="tx1"/>
              </a:solidFill>
            </a:endParaRPr>
          </a:p>
          <a:p>
            <a:r>
              <a:rPr lang="ru-RU" sz="3600" dirty="0"/>
              <a:t>История аутогенной тренировки начинается с 1932 года, когда немецкий психиатр </a:t>
            </a:r>
            <a:r>
              <a:rPr lang="ru-RU" sz="3600" b="1" dirty="0"/>
              <a:t>Иоганн Генрих Шульц</a:t>
            </a:r>
            <a:r>
              <a:rPr lang="ru-RU" sz="3600" dirty="0"/>
              <a:t> опубликовал книгу с одноименным названием. </a:t>
            </a:r>
          </a:p>
          <a:p>
            <a:endParaRPr lang="ru-RU" sz="3600" dirty="0"/>
          </a:p>
          <a:p>
            <a:r>
              <a:rPr lang="ru-RU" sz="3600" dirty="0"/>
              <a:t>Написанию книги предшествовала его </a:t>
            </a:r>
          </a:p>
          <a:p>
            <a:r>
              <a:rPr lang="ru-RU" sz="3600" dirty="0"/>
              <a:t>1. практика врача. Он обнаружил, что пациенты, которых он гипнотизировал, испытывали два основных ощущения: тепло, разливающееся по всему телу  и тяжесть в конечностях и теле, т е  расширение кровеносных сосудов и расслабление мышц   - являются компонентами реакции релаксации. </a:t>
            </a:r>
          </a:p>
          <a:p>
            <a:r>
              <a:rPr lang="ru-RU" sz="3600" dirty="0"/>
              <a:t>2. Поездка в Индию</a:t>
            </a:r>
          </a:p>
          <a:p>
            <a:endParaRPr lang="ru-RU" sz="3600" dirty="0"/>
          </a:p>
          <a:p>
            <a:r>
              <a:rPr lang="ru-RU" sz="3600" dirty="0"/>
              <a:t>В итоге им был предложен метод вызывания физиологического сдвига путем концентрации внимания на ощущениях, вызывающих этот сдвиг. Так, концентрация внимания на реальной тяжести тела способствует углублению расслабления мышц, а концентрация на реальном тепле тела — притоку крови в капилляры кожи. </a:t>
            </a:r>
          </a:p>
          <a:p>
            <a:endParaRPr lang="ru-RU" sz="3600" dirty="0"/>
          </a:p>
          <a:p>
            <a:pPr algn="ctr" fontAlgn="base"/>
            <a:endParaRPr lang="ru-RU" sz="3400" dirty="0">
              <a:solidFill>
                <a:schemeClr val="accent1"/>
              </a:solidFill>
            </a:endParaRPr>
          </a:p>
          <a:p>
            <a:pPr fontAlgn="base"/>
            <a:r>
              <a:rPr lang="ru-RU" dirty="0"/>
              <a:t> </a:t>
            </a:r>
            <a:endParaRPr lang="ru-RU" sz="3400" dirty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A641F51E-BE94-AA28-643D-A768145E8894}"/>
              </a:ext>
            </a:extLst>
          </p:cNvPr>
          <p:cNvCxnSpPr>
            <a:cxnSpLocks/>
          </p:cNvCxnSpPr>
          <p:nvPr/>
        </p:nvCxnSpPr>
        <p:spPr>
          <a:xfrm>
            <a:off x="551384" y="980728"/>
            <a:ext cx="8712968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41835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">
            <a:extLst>
              <a:ext uri="{FF2B5EF4-FFF2-40B4-BE49-F238E27FC236}">
                <a16:creationId xmlns:a16="http://schemas.microsoft.com/office/drawing/2014/main" id="{70F835B5-EFD2-8FA2-6A05-2DFFDC0087FC}"/>
              </a:ext>
            </a:extLst>
          </p:cNvPr>
          <p:cNvSpPr/>
          <p:nvPr/>
        </p:nvSpPr>
        <p:spPr>
          <a:xfrm>
            <a:off x="-456728" y="0"/>
            <a:ext cx="12648728" cy="71734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BD7E1F-945B-F80F-B81C-0D2E792EB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32389"/>
            <a:ext cx="6797992" cy="477054"/>
          </a:xfrm>
        </p:spPr>
        <p:txBody>
          <a:bodyPr/>
          <a:lstStyle/>
          <a:p>
            <a:r>
              <a:rPr lang="ru-RU" sz="3100" b="1" kern="1200" dirty="0">
                <a:solidFill>
                  <a:schemeClr val="tx1"/>
                </a:solidFill>
              </a:rPr>
              <a:t>Позы для релаксации</a:t>
            </a:r>
          </a:p>
        </p:txBody>
      </p:sp>
      <p:pic>
        <p:nvPicPr>
          <p:cNvPr id="5" name="Объект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B3FD070-1254-6A17-3769-9718FB1ABD8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377667" y="1268760"/>
            <a:ext cx="5092702" cy="2520280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AE825843-5AB8-8B82-4B7F-690BBC714F57}"/>
              </a:ext>
            </a:extLst>
          </p:cNvPr>
          <p:cNvCxnSpPr>
            <a:cxnSpLocks/>
          </p:cNvCxnSpPr>
          <p:nvPr/>
        </p:nvCxnSpPr>
        <p:spPr>
          <a:xfrm>
            <a:off x="550863" y="980728"/>
            <a:ext cx="3672408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03892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4870" y="294221"/>
            <a:ext cx="11343777" cy="652934"/>
          </a:xfrm>
        </p:spPr>
        <p:txBody>
          <a:bodyPr>
            <a:noAutofit/>
          </a:bodyPr>
          <a:lstStyle/>
          <a:p>
            <a:pPr algn="l"/>
            <a:r>
              <a:rPr lang="ru-RU" sz="3100" b="1" kern="1200" dirty="0">
                <a:solidFill>
                  <a:schemeClr val="tx1"/>
                </a:solidFill>
              </a:rPr>
              <a:t>Шесть стадий аутогенной релаксации </a:t>
            </a:r>
            <a:r>
              <a:rPr lang="ru-RU" sz="2400" dirty="0">
                <a:solidFill>
                  <a:schemeClr val="tx1"/>
                </a:solidFill>
              </a:rPr>
              <a:t>(по классике жанра)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576082" y="1044419"/>
            <a:ext cx="10860680" cy="2376264"/>
          </a:xfrm>
        </p:spPr>
        <p:txBody>
          <a:bodyPr>
            <a:noAutofit/>
          </a:bodyPr>
          <a:lstStyle/>
          <a:p>
            <a:r>
              <a:rPr lang="ru-RU" sz="1600" i="1" dirty="0"/>
              <a:t>Стадия 1: </a:t>
            </a:r>
            <a:r>
              <a:rPr lang="ru-RU" sz="1600" i="1" dirty="0">
                <a:solidFill>
                  <a:srgbClr val="FF0000"/>
                </a:solidFill>
              </a:rPr>
              <a:t>Тяжесть</a:t>
            </a:r>
            <a:r>
              <a:rPr lang="ru-RU" sz="1600" i="1" dirty="0"/>
              <a:t>. </a:t>
            </a:r>
            <a:r>
              <a:rPr lang="ru-RU" sz="1600" dirty="0"/>
              <a:t>Моя правая рука тяжелеет...Моя левая рука тяжелеет... Мои руки стали тяжелыми. Моя правая нога тяжелеет... Моя левая нога тяжелеет... Мои ноги стали тяжелыми. Мои руки и ноги стали тяжелыми.</a:t>
            </a:r>
          </a:p>
          <a:p>
            <a:r>
              <a:rPr lang="ru-RU" sz="1600" i="1" dirty="0"/>
              <a:t>Стадия 2: </a:t>
            </a:r>
            <a:r>
              <a:rPr lang="ru-RU" sz="1600" i="1" dirty="0">
                <a:solidFill>
                  <a:srgbClr val="FF0000"/>
                </a:solidFill>
              </a:rPr>
              <a:t>Тепло</a:t>
            </a:r>
            <a:r>
              <a:rPr lang="ru-RU" sz="1600" i="1" dirty="0"/>
              <a:t>.</a:t>
            </a:r>
            <a:endParaRPr lang="ru-RU" sz="1600" dirty="0"/>
          </a:p>
          <a:p>
            <a:r>
              <a:rPr lang="ru-RU" sz="1600" dirty="0"/>
              <a:t>По моей правой руке разливается тепло... По моей левой руке разливается тепло... По моим рукам разливается тепло... .  По моей правой ноге разливается тепло... По моей левой ноге разливается тепло... По моим ногам разливается тепло... </a:t>
            </a:r>
            <a:br>
              <a:rPr lang="ru-RU" sz="1600" dirty="0"/>
            </a:br>
            <a:r>
              <a:rPr lang="ru-RU" sz="1600" dirty="0"/>
              <a:t>По моим рукам и ногам разливается тепло.</a:t>
            </a:r>
          </a:p>
          <a:p>
            <a:r>
              <a:rPr lang="ru-RU" sz="1600" i="1" dirty="0"/>
              <a:t>Стадия 3: </a:t>
            </a:r>
            <a:r>
              <a:rPr lang="ru-RU" sz="1600" i="1" dirty="0">
                <a:solidFill>
                  <a:srgbClr val="FF0000"/>
                </a:solidFill>
              </a:rPr>
              <a:t>Сердце</a:t>
            </a:r>
            <a:r>
              <a:rPr lang="ru-RU" sz="1600" i="1" dirty="0"/>
              <a:t>, </a:t>
            </a:r>
            <a:r>
              <a:rPr lang="ru-RU" sz="1600" dirty="0"/>
              <a:t>Мое сердце бьется ровно и спокойно </a:t>
            </a:r>
          </a:p>
          <a:p>
            <a:r>
              <a:rPr lang="ru-RU" sz="1600" i="1" dirty="0"/>
              <a:t>Стадия 4: </a:t>
            </a:r>
            <a:r>
              <a:rPr lang="ru-RU" sz="1600" i="1" dirty="0">
                <a:solidFill>
                  <a:srgbClr val="FF0000"/>
                </a:solidFill>
              </a:rPr>
              <a:t>Дыхание</a:t>
            </a:r>
            <a:r>
              <a:rPr lang="ru-RU" sz="1600" i="1" dirty="0"/>
              <a:t>. </a:t>
            </a:r>
            <a:r>
              <a:rPr lang="ru-RU" sz="1600" dirty="0"/>
              <a:t>Мое дыхание спокойно и ровно. Я дышу абсолютно легко </a:t>
            </a:r>
          </a:p>
          <a:p>
            <a:r>
              <a:rPr lang="ru-RU" sz="1600" i="1" dirty="0"/>
              <a:t>Стадия 5: </a:t>
            </a:r>
            <a:r>
              <a:rPr lang="ru-RU" sz="1600" i="1" dirty="0">
                <a:solidFill>
                  <a:srgbClr val="FF0000"/>
                </a:solidFill>
              </a:rPr>
              <a:t>Солнечное сплетение</a:t>
            </a:r>
            <a:r>
              <a:rPr lang="ru-RU" sz="1600" i="1" dirty="0"/>
              <a:t>. </a:t>
            </a:r>
            <a:r>
              <a:rPr lang="ru-RU" sz="1600" dirty="0"/>
              <a:t>В области солнечного сплетения разливается тепло </a:t>
            </a:r>
          </a:p>
          <a:p>
            <a:r>
              <a:rPr lang="ru-RU" sz="1600" i="1" dirty="0"/>
              <a:t>Стадия 6: </a:t>
            </a:r>
            <a:r>
              <a:rPr lang="ru-RU" sz="1600" i="1" dirty="0">
                <a:solidFill>
                  <a:srgbClr val="FF0000"/>
                </a:solidFill>
              </a:rPr>
              <a:t>Лоб</a:t>
            </a:r>
            <a:r>
              <a:rPr lang="ru-RU" sz="1600" i="1" dirty="0"/>
              <a:t>. </a:t>
            </a:r>
            <a:r>
              <a:rPr lang="ru-RU" sz="1600" dirty="0"/>
              <a:t>Мой лоб прохладен </a:t>
            </a:r>
          </a:p>
          <a:p>
            <a:endParaRPr lang="ru-RU" sz="1600" dirty="0"/>
          </a:p>
          <a:p>
            <a:endParaRPr lang="ru-RU" sz="1600" dirty="0"/>
          </a:p>
          <a:p>
            <a:pPr marL="45720" algn="ctr"/>
            <a:endParaRPr lang="ru-RU" sz="1600" dirty="0">
              <a:solidFill>
                <a:schemeClr val="tx1"/>
              </a:solidFill>
            </a:endParaRPr>
          </a:p>
        </p:txBody>
      </p:sp>
      <p:pic>
        <p:nvPicPr>
          <p:cNvPr id="5" name="Объект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0EACD8E-B18F-C142-F071-B7B2D6637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005" y="3949080"/>
            <a:ext cx="4781506" cy="2160240"/>
          </a:xfrm>
          <a:prstGeom prst="rect">
            <a:avLst/>
          </a:prstGeom>
        </p:spPr>
      </p:pic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F4C0EE0C-CEA3-C950-2379-C229F6A73B36}"/>
              </a:ext>
            </a:extLst>
          </p:cNvPr>
          <p:cNvCxnSpPr>
            <a:cxnSpLocks/>
          </p:cNvCxnSpPr>
          <p:nvPr/>
        </p:nvCxnSpPr>
        <p:spPr>
          <a:xfrm>
            <a:off x="576082" y="836712"/>
            <a:ext cx="9192326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86039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19FAD3-538D-14AF-10EC-4EB5BE2D3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260648"/>
            <a:ext cx="10585176" cy="477054"/>
          </a:xfrm>
        </p:spPr>
        <p:txBody>
          <a:bodyPr/>
          <a:lstStyle/>
          <a:p>
            <a:r>
              <a:rPr lang="ru-RU" sz="3100" b="1" kern="1200" dirty="0">
                <a:solidFill>
                  <a:schemeClr val="tx1"/>
                </a:solidFill>
              </a:rPr>
              <a:t>«Место силы» + Центрирование/«Ось»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8D3D6868-3B91-3382-61B6-D605CCF2FC26}"/>
              </a:ext>
            </a:extLst>
          </p:cNvPr>
          <p:cNvCxnSpPr>
            <a:cxnSpLocks/>
          </p:cNvCxnSpPr>
          <p:nvPr/>
        </p:nvCxnSpPr>
        <p:spPr>
          <a:xfrm>
            <a:off x="576082" y="836712"/>
            <a:ext cx="7104094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0460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2634" y="116632"/>
            <a:ext cx="11619366" cy="648072"/>
          </a:xfrm>
        </p:spPr>
        <p:txBody>
          <a:bodyPr>
            <a:noAutofit/>
          </a:bodyPr>
          <a:lstStyle/>
          <a:p>
            <a:pPr algn="l"/>
            <a:r>
              <a:rPr lang="ru-RU" sz="2800" b="1" kern="1200" dirty="0">
                <a:solidFill>
                  <a:schemeClr val="tx1"/>
                </a:solidFill>
              </a:rPr>
              <a:t>Ключевые приемы при техниках и приемах для снятия напряжения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quarter" idx="13"/>
          </p:nvPr>
        </p:nvSpPr>
        <p:spPr>
          <a:xfrm>
            <a:off x="584128" y="908720"/>
            <a:ext cx="11112011" cy="5040560"/>
          </a:xfrm>
        </p:spPr>
        <p:txBody>
          <a:bodyPr>
            <a:noAutofit/>
          </a:bodyPr>
          <a:lstStyle/>
          <a:p>
            <a:pPr marL="45720"/>
            <a:r>
              <a:rPr lang="ru-RU" sz="1600" dirty="0"/>
              <a:t>1</a:t>
            </a:r>
            <a:r>
              <a:rPr lang="ru-RU" dirty="0"/>
              <a:t>. СОСТОЯНИЕ! Сам </a:t>
            </a:r>
            <a:r>
              <a:rPr lang="ru-RU" dirty="0" err="1"/>
              <a:t>коуч</a:t>
            </a:r>
            <a:r>
              <a:rPr lang="ru-RU" dirty="0"/>
              <a:t> находится в спокойном состоянии. </a:t>
            </a:r>
          </a:p>
          <a:p>
            <a:pPr marL="45720"/>
            <a:r>
              <a:rPr lang="ru-RU" dirty="0"/>
              <a:t>Одна его часть сопровождает процесс, делает заметки,  говорит/задает вопросы. Она сфокусирована</a:t>
            </a:r>
          </a:p>
          <a:p>
            <a:pPr marL="45720"/>
            <a:r>
              <a:rPr lang="ru-RU" dirty="0"/>
              <a:t>Другая – расфокусирована, в состоянии потока</a:t>
            </a:r>
          </a:p>
          <a:p>
            <a:pPr marL="45720"/>
            <a:endParaRPr lang="ru-RU" dirty="0"/>
          </a:p>
          <a:p>
            <a:pPr marL="45720"/>
            <a:r>
              <a:rPr lang="ru-RU" dirty="0"/>
              <a:t>2. </a:t>
            </a:r>
            <a:r>
              <a:rPr lang="ru-RU" dirty="0" err="1"/>
              <a:t>Коуч</a:t>
            </a:r>
            <a:r>
              <a:rPr lang="ru-RU" dirty="0"/>
              <a:t> не создает «шум» и не мешает своей буйной энергией клиенту соединиться с собой (не бежит, не тараторит, не частит вопросами)</a:t>
            </a:r>
          </a:p>
          <a:p>
            <a:pPr marL="45720"/>
            <a:r>
              <a:rPr lang="ru-RU" dirty="0"/>
              <a:t>- </a:t>
            </a:r>
            <a:r>
              <a:rPr lang="ru-RU" dirty="0" err="1"/>
              <a:t>Коуч</a:t>
            </a:r>
            <a:r>
              <a:rPr lang="ru-RU" dirty="0"/>
              <a:t> говорит замедленно. Есть паузы</a:t>
            </a:r>
          </a:p>
          <a:p>
            <a:pPr>
              <a:buFontTx/>
              <a:buChar char="-"/>
            </a:pPr>
            <a:r>
              <a:rPr lang="ru-RU" dirty="0"/>
              <a:t>Голос более тихий и более низкий, чем обычно</a:t>
            </a:r>
          </a:p>
          <a:p>
            <a:pPr>
              <a:buFontTx/>
              <a:buChar char="-"/>
            </a:pPr>
            <a:r>
              <a:rPr lang="ru-RU" dirty="0"/>
              <a:t>Формулировки максимально эластичные </a:t>
            </a:r>
          </a:p>
          <a:p>
            <a:pPr marL="45720"/>
            <a:r>
              <a:rPr lang="ru-RU" dirty="0"/>
              <a:t>(много слов с неопределенным значением, дающие возможность клиенту создать свою внутреннюю реальность): </a:t>
            </a:r>
          </a:p>
          <a:p>
            <a:pPr marL="45720"/>
            <a:r>
              <a:rPr lang="ru-RU" dirty="0"/>
              <a:t>возможно, может быть,  сейчас может </a:t>
            </a:r>
            <a:r>
              <a:rPr lang="ru-RU" dirty="0" err="1"/>
              <a:t>придти</a:t>
            </a:r>
            <a:r>
              <a:rPr lang="ru-RU" dirty="0"/>
              <a:t> все что угодно, потому что это ваш мир, дайте себе столько времени, сколько вам нужно, Найдите возможность завершить этот процесс </a:t>
            </a:r>
          </a:p>
          <a:p>
            <a:pPr marL="45720"/>
            <a:endParaRPr lang="ru-RU" dirty="0"/>
          </a:p>
          <a:p>
            <a:pPr marL="45720"/>
            <a:r>
              <a:rPr lang="ru-RU" dirty="0"/>
              <a:t>!!! Фокус внимания </a:t>
            </a:r>
            <a:r>
              <a:rPr lang="ru-RU" dirty="0" err="1"/>
              <a:t>коуча</a:t>
            </a:r>
            <a:r>
              <a:rPr lang="ru-RU" dirty="0"/>
              <a:t> на дыхании, </a:t>
            </a:r>
            <a:r>
              <a:rPr lang="ru-RU" dirty="0" err="1"/>
              <a:t>микродвижениях</a:t>
            </a:r>
            <a:r>
              <a:rPr lang="ru-RU" dirty="0"/>
              <a:t>, мимике</a:t>
            </a:r>
          </a:p>
          <a:p>
            <a:pPr marL="45720"/>
            <a:r>
              <a:rPr lang="ru-RU" dirty="0"/>
              <a:t>!!! </a:t>
            </a:r>
            <a:r>
              <a:rPr lang="ru-RU" dirty="0" err="1"/>
              <a:t>Коуч</a:t>
            </a:r>
            <a:r>
              <a:rPr lang="ru-RU" dirty="0"/>
              <a:t> дает возможность наполниться клиенту нужным состоянием</a:t>
            </a:r>
          </a:p>
          <a:p>
            <a:pPr marL="45720"/>
            <a:endParaRPr lang="ru-RU" dirty="0"/>
          </a:p>
          <a:p>
            <a:pPr marL="45720"/>
            <a:r>
              <a:rPr lang="ru-RU" dirty="0"/>
              <a:t>3. «Заземление» в конце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90061F86-01C0-4218-3FFB-5E1B605FEE06}"/>
              </a:ext>
            </a:extLst>
          </p:cNvPr>
          <p:cNvCxnSpPr>
            <a:cxnSpLocks/>
          </p:cNvCxnSpPr>
          <p:nvPr/>
        </p:nvCxnSpPr>
        <p:spPr>
          <a:xfrm>
            <a:off x="572093" y="548680"/>
            <a:ext cx="10564467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45603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2E8A98-3DA0-64BD-1A2B-0D77F6A78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621" y="98629"/>
            <a:ext cx="6797992" cy="954107"/>
          </a:xfrm>
        </p:spPr>
        <p:txBody>
          <a:bodyPr/>
          <a:lstStyle/>
          <a:p>
            <a:r>
              <a:rPr lang="ru-RU" sz="3100" b="1" kern="1200" dirty="0">
                <a:solidFill>
                  <a:schemeClr val="tx1"/>
                </a:solidFill>
              </a:rPr>
              <a:t>Ресурсные медитации</a:t>
            </a:r>
            <a:br>
              <a:rPr lang="ru-RU" sz="3100" b="1" kern="1200" dirty="0">
                <a:solidFill>
                  <a:schemeClr val="tx1"/>
                </a:solidFill>
              </a:rPr>
            </a:br>
            <a:endParaRPr lang="ru-RU" sz="3100" b="1" kern="1200" dirty="0">
              <a:solidFill>
                <a:schemeClr val="tx1"/>
              </a:solidFill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E2C3AA09-38A7-EA6B-FBFA-15FE05B24A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76301"/>
              </p:ext>
            </p:extLst>
          </p:nvPr>
        </p:nvGraphicFramePr>
        <p:xfrm>
          <a:off x="550863" y="985147"/>
          <a:ext cx="11428631" cy="48877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03695">
                  <a:extLst>
                    <a:ext uri="{9D8B030D-6E8A-4147-A177-3AD203B41FA5}">
                      <a16:colId xmlns:a16="http://schemas.microsoft.com/office/drawing/2014/main" val="1201053775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3919514834"/>
                    </a:ext>
                  </a:extLst>
                </a:gridCol>
                <a:gridCol w="5040560">
                  <a:extLst>
                    <a:ext uri="{9D8B030D-6E8A-4147-A177-3AD203B41FA5}">
                      <a16:colId xmlns:a16="http://schemas.microsoft.com/office/drawing/2014/main" val="4216386257"/>
                    </a:ext>
                  </a:extLst>
                </a:gridCol>
              </a:tblGrid>
              <a:tr h="1656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 dirty="0">
                          <a:solidFill>
                            <a:schemeClr val="tx1"/>
                          </a:solidFill>
                          <a:effectLst/>
                        </a:rPr>
                        <a:t>Категория медитации</a:t>
                      </a:r>
                      <a:endParaRPr lang="ru-RU" sz="13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>
                          <a:solidFill>
                            <a:schemeClr val="tx1"/>
                          </a:solidFill>
                          <a:effectLst/>
                        </a:rPr>
                        <a:t>Основная цель</a:t>
                      </a:r>
                      <a:endParaRPr lang="ru-RU" sz="13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>
                          <a:solidFill>
                            <a:schemeClr val="tx1"/>
                          </a:solidFill>
                          <a:effectLst/>
                        </a:rPr>
                        <a:t>Примеры медитаций</a:t>
                      </a:r>
                      <a:endParaRPr lang="ru-RU" sz="13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28274"/>
                  </a:ext>
                </a:extLst>
              </a:tr>
              <a:tr h="89021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 dirty="0">
                          <a:solidFill>
                            <a:schemeClr val="tx1"/>
                          </a:solidFill>
                          <a:effectLst/>
                        </a:rPr>
                        <a:t>Для стабилизации и заземления</a:t>
                      </a:r>
                      <a:endParaRPr lang="ru-RU" sz="13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 dirty="0">
                          <a:solidFill>
                            <a:schemeClr val="tx1"/>
                          </a:solidFill>
                          <a:effectLst/>
                        </a:rPr>
                        <a:t>Снизить тревогу, вернуться в «здесь и сейчас», укрепить опору.</a:t>
                      </a:r>
                      <a:endParaRPr lang="ru-RU" sz="13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 dirty="0">
                          <a:solidFill>
                            <a:schemeClr val="tx1"/>
                          </a:solidFill>
                          <a:effectLst/>
                        </a:rPr>
                        <a:t>• «Заземление» (связь с землёй, ощущение устойчивости).</a:t>
                      </a:r>
                      <a:br>
                        <a:rPr lang="ru-RU" sz="1300" kern="1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1300" kern="100" dirty="0">
                          <a:solidFill>
                            <a:schemeClr val="tx1"/>
                          </a:solidFill>
                          <a:effectLst/>
                        </a:rPr>
                        <a:t>• «Дыхание якорь» (фокус на цикле вдоха-выдоха).</a:t>
                      </a:r>
                      <a:br>
                        <a:rPr lang="ru-RU" sz="1300" kern="1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1300" kern="100" dirty="0">
                          <a:solidFill>
                            <a:schemeClr val="tx1"/>
                          </a:solidFill>
                          <a:effectLst/>
                        </a:rPr>
                        <a:t>• «Сканирование тела» (последовательное расслабление частей тела).</a:t>
                      </a:r>
                      <a:endParaRPr lang="ru-RU" sz="13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181733"/>
                  </a:ext>
                </a:extLst>
              </a:tr>
              <a:tr h="12749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 dirty="0">
                          <a:solidFill>
                            <a:schemeClr val="tx1"/>
                          </a:solidFill>
                          <a:effectLst/>
                        </a:rPr>
                        <a:t>Для диалога и интеграции </a:t>
                      </a:r>
                      <a:r>
                        <a:rPr lang="ru-RU" sz="1300" kern="100" dirty="0" err="1">
                          <a:solidFill>
                            <a:schemeClr val="tx1"/>
                          </a:solidFill>
                          <a:effectLst/>
                        </a:rPr>
                        <a:t>субличностей</a:t>
                      </a:r>
                      <a:endParaRPr lang="ru-RU" sz="13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 dirty="0">
                          <a:solidFill>
                            <a:schemeClr val="tx1"/>
                          </a:solidFill>
                          <a:effectLst/>
                        </a:rPr>
                        <a:t>Наладить контакт с внутренними частями, понять их потребности, интегрировать их энергию.</a:t>
                      </a:r>
                      <a:endParaRPr lang="ru-RU" sz="13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 dirty="0">
                          <a:solidFill>
                            <a:schemeClr val="tx1"/>
                          </a:solidFill>
                          <a:effectLst/>
                        </a:rPr>
                        <a:t>• «Встреча с Внутренним Ребёнком» (утешение, забота о своей уязвимой части).</a:t>
                      </a:r>
                      <a:br>
                        <a:rPr lang="ru-RU" sz="1300" kern="1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1300" kern="100" dirty="0">
                          <a:solidFill>
                            <a:schemeClr val="tx1"/>
                          </a:solidFill>
                          <a:effectLst/>
                        </a:rPr>
                        <a:t>• «Благодарность Внутреннему Критику» (распознание его скрытого позитивного намерения).</a:t>
                      </a:r>
                      <a:br>
                        <a:rPr lang="ru-RU" sz="1300" kern="1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1300" kern="100" dirty="0">
                          <a:solidFill>
                            <a:schemeClr val="tx1"/>
                          </a:solidFill>
                          <a:effectLst/>
                        </a:rPr>
                        <a:t>• «Круг </a:t>
                      </a:r>
                      <a:r>
                        <a:rPr lang="ru-RU" sz="1300" kern="100" dirty="0" err="1">
                          <a:solidFill>
                            <a:schemeClr val="tx1"/>
                          </a:solidFill>
                          <a:effectLst/>
                        </a:rPr>
                        <a:t>субличностей</a:t>
                      </a:r>
                      <a:r>
                        <a:rPr lang="ru-RU" sz="1300" kern="100" dirty="0">
                          <a:solidFill>
                            <a:schemeClr val="tx1"/>
                          </a:solidFill>
                          <a:effectLst/>
                        </a:rPr>
                        <a:t>» (визуализация и налаживание диалога между разными частями).</a:t>
                      </a:r>
                      <a:endParaRPr lang="ru-RU" sz="13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396442"/>
                  </a:ext>
                </a:extLst>
              </a:tr>
              <a:tr h="14032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>
                          <a:solidFill>
                            <a:schemeClr val="tx1"/>
                          </a:solidFill>
                          <a:effectLst/>
                        </a:rPr>
                        <a:t>Для активации ресурсных состояний и качеств</a:t>
                      </a:r>
                      <a:endParaRPr lang="ru-RU" sz="13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 dirty="0">
                          <a:solidFill>
                            <a:schemeClr val="tx1"/>
                          </a:solidFill>
                          <a:effectLst/>
                        </a:rPr>
                        <a:t>Сознательно вызвать и усилить нужное состояние (уверенность, покой, смелость).</a:t>
                      </a:r>
                      <a:endParaRPr lang="ru-RU" sz="13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 dirty="0">
                          <a:solidFill>
                            <a:schemeClr val="tx1"/>
                          </a:solidFill>
                          <a:effectLst/>
                        </a:rPr>
                        <a:t>• «Безопасное место», «Ресурсное место» (создание в воображении места абсолютного покоя).</a:t>
                      </a:r>
                      <a:br>
                        <a:rPr lang="ru-RU" sz="1300" kern="1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1300" kern="100" dirty="0">
                          <a:solidFill>
                            <a:schemeClr val="tx1"/>
                          </a:solidFill>
                          <a:effectLst/>
                        </a:rPr>
                        <a:t>• «Активация внутреннего Воина/Защитника» (образ, дающий силу для отстаивания границ).</a:t>
                      </a:r>
                      <a:br>
                        <a:rPr lang="ru-RU" sz="1300" kern="1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1300" kern="100" dirty="0">
                          <a:solidFill>
                            <a:schemeClr val="tx1"/>
                          </a:solidFill>
                          <a:effectLst/>
                        </a:rPr>
                        <a:t>• «Поток благодарности» (направление чувства благодарности к себе, другим, миру).</a:t>
                      </a:r>
                      <a:endParaRPr lang="ru-RU" sz="13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1756"/>
                  </a:ext>
                </a:extLst>
              </a:tr>
              <a:tr h="10184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>
                          <a:solidFill>
                            <a:schemeClr val="tx1"/>
                          </a:solidFill>
                          <a:effectLst/>
                        </a:rPr>
                        <a:t>Для подключения к трансперсональному (доступ к Мудрецу, Высшему Я)</a:t>
                      </a:r>
                      <a:endParaRPr lang="ru-RU" sz="13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 dirty="0">
                          <a:solidFill>
                            <a:schemeClr val="tx1"/>
                          </a:solidFill>
                          <a:effectLst/>
                        </a:rPr>
                        <a:t>Выйти за пределы личности, получить доступ к мудрости, интуиции, состоянию целостности.</a:t>
                      </a:r>
                      <a:endParaRPr lang="ru-RU" sz="13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300" kern="100" dirty="0">
                          <a:solidFill>
                            <a:schemeClr val="tx1"/>
                          </a:solidFill>
                          <a:effectLst/>
                        </a:rPr>
                        <a:t>• «Диалог с Внутренним Мудрецом/Наставником» (задать вопрос и получить ответ из глубин).</a:t>
                      </a:r>
                      <a:br>
                        <a:rPr lang="ru-RU" sz="1300" kern="1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1300" kern="100" dirty="0">
                          <a:solidFill>
                            <a:schemeClr val="tx1"/>
                          </a:solidFill>
                          <a:effectLst/>
                        </a:rPr>
                        <a:t>• «Сердечный центр» (сосредоточение в области сердца, созерцание чувства всеобъемлющей любви).</a:t>
                      </a:r>
                      <a:endParaRPr lang="ru-RU" sz="13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8519354"/>
                  </a:ext>
                </a:extLst>
              </a:tr>
            </a:tbl>
          </a:graphicData>
        </a:graphic>
      </p:graphicFrame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A99D6CE1-1D4E-8F6F-E391-C44C7CD891DD}"/>
              </a:ext>
            </a:extLst>
          </p:cNvPr>
          <p:cNvCxnSpPr>
            <a:cxnSpLocks/>
          </p:cNvCxnSpPr>
          <p:nvPr/>
        </p:nvCxnSpPr>
        <p:spPr>
          <a:xfrm>
            <a:off x="572025" y="575682"/>
            <a:ext cx="3960961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97864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399D23-10F5-5425-354B-2D7021852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332656"/>
            <a:ext cx="7955555" cy="477054"/>
          </a:xfrm>
        </p:spPr>
        <p:txBody>
          <a:bodyPr/>
          <a:lstStyle/>
          <a:p>
            <a:pPr algn="l"/>
            <a:r>
              <a:rPr lang="ru-RU" sz="3100" kern="1200" dirty="0">
                <a:solidFill>
                  <a:schemeClr val="tx1"/>
                </a:solidFill>
              </a:rPr>
              <a:t>«Мудрец»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B6CE5E0-B891-233A-0D1B-4C83834C7811}"/>
              </a:ext>
            </a:extLst>
          </p:cNvPr>
          <p:cNvCxnSpPr>
            <a:cxnSpLocks/>
          </p:cNvCxnSpPr>
          <p:nvPr/>
        </p:nvCxnSpPr>
        <p:spPr>
          <a:xfrm>
            <a:off x="550863" y="846221"/>
            <a:ext cx="1944737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5264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0863" y="207070"/>
            <a:ext cx="11360800" cy="763600"/>
          </a:xfrm>
        </p:spPr>
        <p:txBody>
          <a:bodyPr>
            <a:normAutofit/>
          </a:bodyPr>
          <a:lstStyle/>
          <a:p>
            <a:r>
              <a:rPr lang="ru-RU" sz="2400" b="1" kern="1200" dirty="0">
                <a:solidFill>
                  <a:schemeClr val="tx1"/>
                </a:solidFill>
              </a:rPr>
              <a:t>АТКИНСОН «ПРОГУЛКА К МАСТЕРСТВУ»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192565" y="1023660"/>
            <a:ext cx="6832783" cy="5519672"/>
          </a:xfrm>
        </p:spPr>
        <p:txBody>
          <a:bodyPr>
            <a:noAutofit/>
          </a:bodyPr>
          <a:lstStyle/>
          <a:p>
            <a:r>
              <a:rPr lang="ru-RU" sz="1400" dirty="0">
                <a:solidFill>
                  <a:srgbClr val="FF0000"/>
                </a:solidFill>
              </a:rPr>
              <a:t>На стадии </a:t>
            </a:r>
            <a:r>
              <a:rPr lang="ru-RU" sz="1400" b="1" dirty="0">
                <a:solidFill>
                  <a:srgbClr val="FF0000"/>
                </a:solidFill>
              </a:rPr>
              <a:t>формулирования/вдохновения </a:t>
            </a:r>
            <a:r>
              <a:rPr lang="ru-RU" sz="1400" dirty="0"/>
              <a:t>внутри загорается искорка, возникает идея изменений в жизни. Создание привлекательного видения. Вы можете быть «бессознательно некомпетентны» относительно того, как это будет. То есть не осознавать, какие потенциальные трудности встретятся вам на пути к цели</a:t>
            </a:r>
          </a:p>
          <a:p>
            <a:r>
              <a:rPr lang="ru-RU" sz="1400" dirty="0"/>
              <a:t>По мере того как вы начнете воплощать свои идеи в жизнь, наступит момент, когда возникшие серьезные трудности заставят вас усомниться в себе или в правильности сделанного выбора. Вы признаете, что процесс достижения намеченной цели нелегок. Или даже можете начать искать причины, по которым вам стоит все бросить. </a:t>
            </a:r>
          </a:p>
          <a:p>
            <a:r>
              <a:rPr lang="ru-RU" sz="1400" dirty="0"/>
              <a:t>Это верные признаки того, что вы перешли на вторую стадию – </a:t>
            </a:r>
            <a:r>
              <a:rPr lang="ru-RU" sz="1400" dirty="0">
                <a:solidFill>
                  <a:srgbClr val="FF0000"/>
                </a:solidFill>
              </a:rPr>
              <a:t>стадию </a:t>
            </a:r>
            <a:r>
              <a:rPr lang="ru-RU" sz="1400" b="1" dirty="0">
                <a:solidFill>
                  <a:srgbClr val="FF0000"/>
                </a:solidFill>
              </a:rPr>
              <a:t>концентрации</a:t>
            </a:r>
            <a:r>
              <a:rPr lang="ru-RU" sz="1400" dirty="0">
                <a:solidFill>
                  <a:srgbClr val="FF0000"/>
                </a:solidFill>
              </a:rPr>
              <a:t>. </a:t>
            </a:r>
            <a:r>
              <a:rPr lang="ru-RU" sz="1400" dirty="0"/>
              <a:t>На стадии концентрации вы начинаете осознавать, </a:t>
            </a:r>
            <a:r>
              <a:rPr lang="ru-RU" sz="1400" i="1" dirty="0"/>
              <a:t>насколько вы некомпетентны</a:t>
            </a:r>
            <a:r>
              <a:rPr lang="ru-RU" sz="1400" dirty="0"/>
              <a:t>  или насколько будет нелегко сделать ваше видение реальностью. Именно на этом этапе многие отказываются от задачи, поскольку чувство, что ситуация выходит из-под контроля, сильнее ожидания удовлетворения от достигнутого. Те же, кому удается успешно пройти этот этап, овладевают умением концентрироваться и полностью сосредотачиваться на воплощении своего видения цели. </a:t>
            </a:r>
          </a:p>
          <a:p>
            <a:r>
              <a:rPr lang="ru-RU" sz="1400" dirty="0"/>
              <a:t>Достижение третьей </a:t>
            </a:r>
            <a:r>
              <a:rPr lang="ru-RU" sz="1400" dirty="0">
                <a:solidFill>
                  <a:srgbClr val="FF0000"/>
                </a:solidFill>
              </a:rPr>
              <a:t>стадии</a:t>
            </a:r>
            <a:r>
              <a:rPr lang="ru-RU" sz="1400" dirty="0"/>
              <a:t> – </a:t>
            </a:r>
            <a:r>
              <a:rPr lang="ru-RU" sz="1400" b="1" dirty="0">
                <a:solidFill>
                  <a:srgbClr val="FF0000"/>
                </a:solidFill>
              </a:rPr>
              <a:t>движени</a:t>
            </a:r>
            <a:r>
              <a:rPr lang="ru-RU" sz="1400" dirty="0">
                <a:solidFill>
                  <a:srgbClr val="FF0000"/>
                </a:solidFill>
              </a:rPr>
              <a:t>я</a:t>
            </a:r>
            <a:r>
              <a:rPr lang="ru-RU" sz="1400" dirty="0"/>
              <a:t> – означает, что вам удалось сфокусировать внимание на цели, удержать состояние концентрации, а также предпринять все, что было необходимо, чтобы запустить ваш проект, и сделать большой шаг вперед. Вам удалось создать и поддерживать новые навыки и поведение. Оказавшись на этой стадии, вы вдруг обнаруживаете, что решение задач на пути к поставленной цели представляется гораздо более легким, чем в начале. Вы «сознательно компетентны»</a:t>
            </a:r>
          </a:p>
          <a:p>
            <a:r>
              <a:rPr lang="ru-RU" sz="1400" dirty="0"/>
              <a:t>На </a:t>
            </a:r>
            <a:r>
              <a:rPr lang="ru-RU" sz="1400" dirty="0">
                <a:solidFill>
                  <a:srgbClr val="FF0000"/>
                </a:solidFill>
              </a:rPr>
              <a:t>стадии </a:t>
            </a:r>
            <a:r>
              <a:rPr lang="ru-RU" sz="1400" b="1" dirty="0">
                <a:solidFill>
                  <a:srgbClr val="FF0000"/>
                </a:solidFill>
              </a:rPr>
              <a:t>мастерства</a:t>
            </a:r>
            <a:r>
              <a:rPr lang="ru-RU" sz="1400" dirty="0">
                <a:solidFill>
                  <a:srgbClr val="FF0000"/>
                </a:solidFill>
              </a:rPr>
              <a:t> </a:t>
            </a:r>
            <a:r>
              <a:rPr lang="ru-RU" sz="1400" dirty="0"/>
              <a:t>мысли, навыки и действия согласованны и интегрируются. Они становятся привычными и легко применяются на практике. Эти навыки и привычки становятся полностью вашими. Вы не только делаете совершенно новое дело, но становитесь другим человеком и ваша жизнь меняется.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685" y="1095117"/>
            <a:ext cx="4602764" cy="5376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87967061-109B-F333-BE65-AC1944BF13AD}"/>
              </a:ext>
            </a:extLst>
          </p:cNvPr>
          <p:cNvCxnSpPr>
            <a:cxnSpLocks/>
          </p:cNvCxnSpPr>
          <p:nvPr/>
        </p:nvCxnSpPr>
        <p:spPr>
          <a:xfrm>
            <a:off x="550863" y="692696"/>
            <a:ext cx="5185097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04824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50863" y="692696"/>
            <a:ext cx="11849923" cy="6059819"/>
          </a:xfrm>
        </p:spPr>
        <p:txBody>
          <a:bodyPr>
            <a:noAutofit/>
          </a:bodyPr>
          <a:lstStyle/>
          <a:p>
            <a:r>
              <a:rPr lang="ru-RU" sz="1200" b="1" dirty="0"/>
              <a:t>Формулирование</a:t>
            </a:r>
          </a:p>
          <a:p>
            <a:pPr marL="152396"/>
            <a:r>
              <a:rPr lang="ru-RU" sz="1200" dirty="0"/>
              <a:t>На этой стадии вы ясно объявили свою позицию и намерение. Когда вы твердо </a:t>
            </a:r>
            <a:r>
              <a:rPr lang="ru-RU" sz="1200" i="1" dirty="0"/>
              <a:t>решили</a:t>
            </a:r>
            <a:r>
              <a:rPr lang="ru-RU" sz="1200" dirty="0"/>
              <a:t>  двигаться к цели, что вы себе сказали?</a:t>
            </a:r>
          </a:p>
          <a:p>
            <a:pPr marL="152396"/>
            <a:r>
              <a:rPr lang="ru-RU" sz="1200" dirty="0"/>
              <a:t>• Повторите кое-что из тех слов прямо сейчас: «Я являюсь…», «Я ценю…», «Я могу…», «Я буду…».</a:t>
            </a:r>
          </a:p>
          <a:p>
            <a:pPr marL="152396"/>
            <a:r>
              <a:rPr lang="ru-RU" sz="1200" dirty="0"/>
              <a:t>• Как вы чувствовали себя на этой стадии? Какие действия вы предпринимали, чтобы поддержать себя? Что помогло перейти к следующей стадии?</a:t>
            </a:r>
          </a:p>
          <a:p>
            <a:pPr marL="152396"/>
            <a:r>
              <a:rPr lang="ru-RU" sz="1200" dirty="0">
                <a:solidFill>
                  <a:srgbClr val="FF0000"/>
                </a:solidFill>
              </a:rPr>
              <a:t>Нарисуйте символ/выберите карту этого этапа</a:t>
            </a:r>
          </a:p>
          <a:p>
            <a:pPr marL="152396"/>
            <a:r>
              <a:rPr lang="ru-RU" sz="1200" dirty="0"/>
              <a:t> </a:t>
            </a:r>
          </a:p>
          <a:p>
            <a:r>
              <a:rPr lang="ru-RU" sz="1200" b="1" dirty="0"/>
              <a:t>Концентрация</a:t>
            </a:r>
          </a:p>
          <a:p>
            <a:pPr marL="152396"/>
            <a:r>
              <a:rPr lang="ru-RU" sz="1200" dirty="0"/>
              <a:t>На данной стадии вы двигаетесь вперед даже под давлением, развивая навыки, необходимые, чтобы держаться выбранного курса. Вы продолжали движение, даже если не всегда могли быть уверены, что именно вы делаете.</a:t>
            </a:r>
          </a:p>
          <a:p>
            <a:pPr marL="152396"/>
            <a:r>
              <a:rPr lang="ru-RU" sz="1200" dirty="0"/>
              <a:t>Ответьте для себя на вопросы:</a:t>
            </a:r>
          </a:p>
          <a:p>
            <a:pPr marL="152396"/>
            <a:r>
              <a:rPr lang="ru-RU" sz="1200" dirty="0"/>
              <a:t>• Что было важно на этой стадии?</a:t>
            </a:r>
          </a:p>
          <a:p>
            <a:pPr marL="152396"/>
            <a:r>
              <a:rPr lang="ru-RU" sz="1200" dirty="0"/>
              <a:t>• Как удавалось поддерживать концентрацию на данной стадии?</a:t>
            </a:r>
          </a:p>
          <a:p>
            <a:pPr marL="152396"/>
            <a:r>
              <a:rPr lang="ru-RU" sz="1200" dirty="0"/>
              <a:t>• Какие действия вы предпринимали, чтобы себя поддержать?</a:t>
            </a:r>
          </a:p>
          <a:p>
            <a:pPr marL="152396"/>
            <a:r>
              <a:rPr lang="ru-RU" sz="1200" dirty="0"/>
              <a:t>• Что помогло вам перейти на следующую стадию?</a:t>
            </a:r>
          </a:p>
          <a:p>
            <a:pPr marL="152396"/>
            <a:r>
              <a:rPr lang="ru-RU" sz="1200" dirty="0">
                <a:solidFill>
                  <a:srgbClr val="FF0000"/>
                </a:solidFill>
              </a:rPr>
              <a:t>Нарисуйте символ/выберите карту этого этапа</a:t>
            </a:r>
          </a:p>
          <a:p>
            <a:pPr marL="152396"/>
            <a:r>
              <a:rPr lang="ru-RU" sz="1200" dirty="0"/>
              <a:t> </a:t>
            </a:r>
          </a:p>
          <a:p>
            <a:r>
              <a:rPr lang="ru-RU" sz="1200" b="1" dirty="0"/>
              <a:t>Движение</a:t>
            </a:r>
          </a:p>
          <a:p>
            <a:pPr marL="152396"/>
            <a:r>
              <a:rPr lang="ru-RU" sz="1200" dirty="0"/>
              <a:t> На этой стадии все стало легче и интереснее. Вы начали импровизировать и показали, что способны создавать новые модели поведения и осваивать новые навыки в данной области. Вы последовательно демонстрировали окружающим, что со временем сможете брать на себя серьезные обязательства.</a:t>
            </a:r>
          </a:p>
          <a:p>
            <a:pPr marL="152396"/>
            <a:r>
              <a:rPr lang="ru-RU" sz="1200" dirty="0"/>
              <a:t>• Как вам удавалось оставаться сильным и продвигаться на этой стадии?</a:t>
            </a:r>
          </a:p>
          <a:p>
            <a:pPr marL="152396"/>
            <a:r>
              <a:rPr lang="ru-RU" sz="1200" dirty="0"/>
              <a:t>• Что вы предпринимали, чтобы себя поддержать?</a:t>
            </a:r>
          </a:p>
          <a:p>
            <a:pPr marL="152396"/>
            <a:r>
              <a:rPr lang="ru-RU" sz="1200" dirty="0"/>
              <a:t>• Как вы поняли, что уже готовы перейти на следующую стадию?</a:t>
            </a:r>
          </a:p>
          <a:p>
            <a:pPr marL="152396"/>
            <a:r>
              <a:rPr lang="ru-RU" sz="1200" dirty="0">
                <a:solidFill>
                  <a:srgbClr val="FF0000"/>
                </a:solidFill>
              </a:rPr>
              <a:t>Нарисуйте символ/выберите карту этого этапа</a:t>
            </a:r>
          </a:p>
          <a:p>
            <a:pPr marL="152396"/>
            <a:r>
              <a:rPr lang="ru-RU" sz="1200" dirty="0"/>
              <a:t> </a:t>
            </a:r>
          </a:p>
          <a:p>
            <a:r>
              <a:rPr lang="ru-RU" sz="1200" b="1" dirty="0"/>
              <a:t>Мастерство</a:t>
            </a:r>
          </a:p>
          <a:p>
            <a:pPr marL="152396"/>
            <a:r>
              <a:rPr lang="ru-RU" sz="1200" dirty="0"/>
              <a:t> В этой фазе вы с легкостью демонстрируете устойчивость. Вы смогли расслабиться, и теперь для вас больше значат не сами свершения и преодоление трудностей, а то, кем вы были раньше и кем становитесь теперь. Это территория интеграции мудрости, естественности бытия и мастерства.</a:t>
            </a:r>
          </a:p>
          <a:p>
            <a:pPr marL="152396"/>
            <a:r>
              <a:rPr lang="ru-RU" sz="1200" dirty="0"/>
              <a:t>• Как вы себя чувствуете на данной стадии?</a:t>
            </a:r>
          </a:p>
          <a:p>
            <a:pPr marL="152396"/>
            <a:r>
              <a:rPr lang="ru-RU" sz="1200" dirty="0"/>
              <a:t>• Какие действия вы предпринимаете, чтобы поддержать мастерство?</a:t>
            </a:r>
          </a:p>
          <a:p>
            <a:pPr marL="152396"/>
            <a:r>
              <a:rPr lang="ru-RU" sz="1200" dirty="0"/>
              <a:t>• Кем вы становитесь сейчас, что поддерживает мастерское состояние разума?</a:t>
            </a:r>
            <a:r>
              <a:rPr lang="ru-RU" sz="1200" dirty="0">
                <a:solidFill>
                  <a:srgbClr val="0070C0"/>
                </a:solidFill>
              </a:rPr>
              <a:t> </a:t>
            </a:r>
          </a:p>
          <a:p>
            <a:pPr marL="152396"/>
            <a:r>
              <a:rPr lang="ru-RU" sz="1200" dirty="0">
                <a:solidFill>
                  <a:srgbClr val="FF0000"/>
                </a:solidFill>
              </a:rPr>
              <a:t>Нарисуйте символ/выберите карту этого этапа</a:t>
            </a: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550524" y="0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АТКИНСОН. ПРОГУЛКА К МАСТЕРСТВУ. АЛГОРИТМ ТЕХНИКИ</a:t>
            </a: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67DB1018-EA60-4A49-1934-6666318F96F2}"/>
              </a:ext>
            </a:extLst>
          </p:cNvPr>
          <p:cNvCxnSpPr>
            <a:cxnSpLocks/>
          </p:cNvCxnSpPr>
          <p:nvPr/>
        </p:nvCxnSpPr>
        <p:spPr>
          <a:xfrm>
            <a:off x="695400" y="548680"/>
            <a:ext cx="7561361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1331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573058" y="328502"/>
            <a:ext cx="10182830" cy="1710943"/>
          </a:xfrm>
        </p:spPr>
        <p:txBody>
          <a:bodyPr>
            <a:normAutofit/>
          </a:bodyPr>
          <a:lstStyle/>
          <a:p>
            <a:r>
              <a:rPr lang="ru-RU" sz="2400" b="1" kern="1200" dirty="0">
                <a:solidFill>
                  <a:schemeClr val="tx1"/>
                </a:solidFill>
              </a:rPr>
              <a:t>АТКИНСОН. ПРОГУЛКА К МАСТЕРСТВУ. АЛГОРИТМ ТЕХНИКИ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4845" y="1106951"/>
            <a:ext cx="11377785" cy="3745276"/>
          </a:xfrm>
        </p:spPr>
        <p:txBody>
          <a:bodyPr>
            <a:normAutofit lnSpcReduction="10000"/>
          </a:bodyPr>
          <a:lstStyle/>
          <a:p>
            <a:pPr>
              <a:buFont typeface="+mj-lt"/>
              <a:buAutoNum type="arabicParenR"/>
            </a:pPr>
            <a:endParaRPr lang="ru-RU" dirty="0"/>
          </a:p>
          <a:p>
            <a:pPr>
              <a:buFont typeface="+mj-lt"/>
              <a:buAutoNum type="arabicParenR"/>
            </a:pPr>
            <a:r>
              <a:rPr lang="ru-RU" dirty="0"/>
              <a:t>Выберите важную для себя цель, над достижением которой вы будете работать следующие …  месяцев.</a:t>
            </a:r>
          </a:p>
          <a:p>
            <a:pPr>
              <a:buFont typeface="+mj-lt"/>
              <a:buAutoNum type="arabicParenR"/>
            </a:pPr>
            <a:r>
              <a:rPr lang="ru-RU" dirty="0"/>
              <a:t>Представьте, что вы прошли через все четыре стадии. Создайте образ  ситуации/того себя, который всего этого достиг! Используйте столько времени, сколько вам нужно, чтобы продумать этот образ ярко и в деталях:</a:t>
            </a:r>
          </a:p>
          <a:p>
            <a:pPr marL="152396"/>
            <a:r>
              <a:rPr lang="ru-RU" dirty="0"/>
              <a:t>• Как вы выглядите?</a:t>
            </a:r>
          </a:p>
          <a:p>
            <a:pPr marL="152396"/>
            <a:r>
              <a:rPr lang="ru-RU" dirty="0"/>
              <a:t>• Что вы себе говорите?</a:t>
            </a:r>
          </a:p>
          <a:p>
            <a:pPr marL="152396"/>
            <a:r>
              <a:rPr lang="ru-RU" dirty="0"/>
              <a:t>• Что ваши друзья или члены семьи говорят о вас?</a:t>
            </a:r>
          </a:p>
          <a:p>
            <a:pPr marL="152396"/>
            <a:r>
              <a:rPr lang="ru-RU" dirty="0"/>
              <a:t>• Как вы себя чувствуете?</a:t>
            </a:r>
          </a:p>
          <a:p>
            <a:pPr marL="152396"/>
            <a:endParaRPr lang="ru-RU" dirty="0"/>
          </a:p>
          <a:p>
            <a:pPr marL="152396"/>
            <a:r>
              <a:rPr lang="ru-RU" dirty="0"/>
              <a:t>Нарисуйте образ себя, достигшего цели.</a:t>
            </a:r>
          </a:p>
          <a:p>
            <a:pPr marL="152396"/>
            <a:r>
              <a:rPr lang="ru-RU" dirty="0"/>
              <a:t> </a:t>
            </a:r>
          </a:p>
          <a:p>
            <a:pPr marL="152396"/>
            <a:r>
              <a:rPr lang="ru-RU" dirty="0"/>
              <a:t>3) Теперь, оглядываясь назад из будущего состояния мастерства, где вам уже удалось всего достичь, задержитесь, «оглянитесь» по очереди на каждую стадию продвижения к мастерству. Вы визуализируете свой образ и то, как вы развивали необходимые внутренние навыки, которые помогли пройти каждую из стадий и даже получить от этого удовольствие.</a:t>
            </a: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4D4BC8B2-EB39-5C94-B4E7-111009D05344}"/>
              </a:ext>
            </a:extLst>
          </p:cNvPr>
          <p:cNvCxnSpPr>
            <a:cxnSpLocks/>
          </p:cNvCxnSpPr>
          <p:nvPr/>
        </p:nvCxnSpPr>
        <p:spPr>
          <a:xfrm>
            <a:off x="573058" y="764704"/>
            <a:ext cx="7899206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5494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2"/>
          <p:cNvSpPr txBox="1">
            <a:spLocks noGrp="1"/>
          </p:cNvSpPr>
          <p:nvPr>
            <p:ph type="title"/>
          </p:nvPr>
        </p:nvSpPr>
        <p:spPr>
          <a:xfrm>
            <a:off x="415600" y="195804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algn="l" rtl="0"/>
            <a:r>
              <a:rPr lang="ru" sz="2400" b="1" kern="1200" dirty="0">
                <a:solidFill>
                  <a:schemeClr val="tx1"/>
                </a:solidFill>
              </a:rPr>
              <a:t>«ЛИНИЯ ВРЕМЕНИ» (похожая техника)</a:t>
            </a:r>
            <a:endParaRPr sz="2400" b="1" kern="1200" dirty="0">
              <a:solidFill>
                <a:schemeClr val="tx1"/>
              </a:solidFill>
            </a:endParaRPr>
          </a:p>
        </p:txBody>
      </p:sp>
      <p:sp>
        <p:nvSpPr>
          <p:cNvPr id="355" name="Google Shape;355;p62"/>
          <p:cNvSpPr txBox="1">
            <a:spLocks noGrp="1"/>
          </p:cNvSpPr>
          <p:nvPr>
            <p:ph type="body" idx="1"/>
          </p:nvPr>
        </p:nvSpPr>
        <p:spPr>
          <a:xfrm>
            <a:off x="550863" y="989221"/>
            <a:ext cx="11360800" cy="579777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 lnSpcReduction="20000"/>
          </a:bodyPr>
          <a:lstStyle/>
          <a:p>
            <a:pPr marL="67732" algn="l" rtl="0">
              <a:spcBef>
                <a:spcPts val="400"/>
              </a:spcBef>
              <a:buClr>
                <a:schemeClr val="dk1"/>
              </a:buClr>
              <a:buSzPct val="61111"/>
            </a:pPr>
            <a:r>
              <a:rPr lang="ru" dirty="0"/>
              <a:t>Шаг 1. Начертите на листе отрезок. Левый конец отрезка сегодняшнее число, правый конец – дата достижения цели</a:t>
            </a:r>
            <a:endParaRPr dirty="0"/>
          </a:p>
          <a:p>
            <a:pPr marL="67732" algn="l" rtl="0">
              <a:spcBef>
                <a:spcPts val="400"/>
              </a:spcBef>
              <a:buClr>
                <a:schemeClr val="dk1"/>
              </a:buClr>
              <a:buSzPct val="61111"/>
            </a:pPr>
            <a:br>
              <a:rPr lang="ru" dirty="0"/>
            </a:br>
            <a:r>
              <a:rPr lang="ru" dirty="0"/>
              <a:t> Шаг 2. Представьте, что вы уже находитесь в точке, когда цель достигнута. Ощутите всем телом, что на календаре уже то самое число и у вас все получилось на отлично.</a:t>
            </a:r>
            <a:br>
              <a:rPr lang="ru" dirty="0"/>
            </a:br>
            <a:r>
              <a:rPr lang="ru" dirty="0"/>
              <a:t>Опишите, что вы видите. Что вы видите? Что вас окружает? Что за люди рядом с вами? Что вам говорят? Что вы себе говорите? Как вы себя чувствуете, когда цель достигнута. Опишите как можно больше деталей</a:t>
            </a:r>
            <a:br>
              <a:rPr lang="ru" dirty="0"/>
            </a:br>
            <a:r>
              <a:rPr lang="ru" dirty="0"/>
              <a:t> Ассоциация</a:t>
            </a:r>
            <a:endParaRPr dirty="0"/>
          </a:p>
          <a:p>
            <a:pPr algn="l" rtl="0">
              <a:spcBef>
                <a:spcPts val="400"/>
              </a:spcBef>
              <a:buClr>
                <a:schemeClr val="dk1"/>
              </a:buClr>
              <a:buSzPct val="61111"/>
            </a:pPr>
            <a:endParaRPr dirty="0"/>
          </a:p>
          <a:p>
            <a:pPr algn="l" rtl="0">
              <a:spcAft>
                <a:spcPts val="1600"/>
              </a:spcAft>
            </a:pPr>
            <a:r>
              <a:rPr lang="ru" dirty="0"/>
              <a:t>Шаг 3. Теперь вам необходимо выйти в состояние диссоциации. Т.е. посмотреть на вашу линию как бы сверху, со стороны. Есть сегодняшний день и конечная точка. Какие этапы должны быть между ними? Самыми большими мазками. Отметьте эти этапы на линии времени черточками и также поставьте для них даты. Если этапы не придумываются, можете просто поделить свою линию пополам и поставить число, соответствующее половине пути</a:t>
            </a:r>
          </a:p>
          <a:p>
            <a:r>
              <a:rPr lang="ru-RU" dirty="0"/>
              <a:t>Шаг 4. Снова ассоциация. Но на этот раз ассоциируемся с одним из выбранных этапов. Представьте, что половина пути пройдена. Посмотрите вокруг, что вы видите? Что уже сделано? На что важно обратить внимание на этом этапе? Что важно сделать в первую очередь</a:t>
            </a:r>
          </a:p>
          <a:p>
            <a:pPr>
              <a:spcBef>
                <a:spcPts val="1600"/>
              </a:spcBef>
            </a:pPr>
            <a:r>
              <a:rPr lang="ru-RU" dirty="0"/>
              <a:t>Шаг 5 и далее</a:t>
            </a:r>
          </a:p>
          <a:p>
            <a:pPr>
              <a:spcBef>
                <a:spcPts val="1600"/>
              </a:spcBef>
            </a:pPr>
            <a:r>
              <a:rPr lang="ru-RU" dirty="0"/>
              <a:t>Дальше мы продолжаем чередовать ассоциацию и диссоциацию: погружаемся и визуализируем каждый этап, а потом выходим из картинки и смотрим на свой план целиком</a:t>
            </a:r>
          </a:p>
          <a:p>
            <a:pPr>
              <a:spcBef>
                <a:spcPts val="1600"/>
              </a:spcBef>
              <a:spcAft>
                <a:spcPts val="1600"/>
              </a:spcAft>
            </a:pPr>
            <a:r>
              <a:rPr lang="ru-RU" dirty="0"/>
              <a:t>Начинать путь ассоциация/диссоциация по этапам можно как от текущей даты, так и от конечной точки – как вам удобнее</a:t>
            </a:r>
          </a:p>
          <a:p>
            <a:pPr algn="l" rtl="0">
              <a:spcAft>
                <a:spcPts val="1600"/>
              </a:spcAft>
            </a:pPr>
            <a:endParaRPr lang="ru" dirty="0"/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43D4D6A8-C5E3-9194-A385-EBD3F95D0463}"/>
              </a:ext>
            </a:extLst>
          </p:cNvPr>
          <p:cNvCxnSpPr>
            <a:cxnSpLocks/>
          </p:cNvCxnSpPr>
          <p:nvPr/>
        </p:nvCxnSpPr>
        <p:spPr>
          <a:xfrm>
            <a:off x="550863" y="824495"/>
            <a:ext cx="5041081" cy="0"/>
          </a:xfrm>
          <a:prstGeom prst="line">
            <a:avLst/>
          </a:prstGeom>
          <a:ln w="41275" cmpd="sng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79775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537</TotalTime>
  <Words>6006</Words>
  <Application>Microsoft Office PowerPoint</Application>
  <PresentationFormat>Широкоэкранный</PresentationFormat>
  <Paragraphs>489</Paragraphs>
  <Slides>52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52</vt:i4>
      </vt:variant>
    </vt:vector>
  </HeadingPairs>
  <TitlesOfParts>
    <vt:vector size="65" baseType="lpstr">
      <vt:lpstr>KRNNCM+SegoeUISymbol</vt:lpstr>
      <vt:lpstr>Arial</vt:lpstr>
      <vt:lpstr>PFGSMB+TrebuchetMS</vt:lpstr>
      <vt:lpstr>Calibri</vt:lpstr>
      <vt:lpstr>EWIGLV+TrebuchetMS</vt:lpstr>
      <vt:lpstr>PERUNF+TrebuchetMS-Bold</vt:lpstr>
      <vt:lpstr>Times New Roman</vt:lpstr>
      <vt:lpstr>HMFSJP+TrebuchetMS</vt:lpstr>
      <vt:lpstr>Verdana</vt:lpstr>
      <vt:lpstr>MOCBGU+TrebuchetMS-Bold</vt:lpstr>
      <vt:lpstr>BBJHQW+TrebuchetMS</vt:lpstr>
      <vt:lpstr>FQEICP+Verdana-Italic</vt:lpstr>
      <vt:lpstr>Theme Office</vt:lpstr>
      <vt:lpstr>Модуль Трансформационные подходы  в консультировании и коучинге</vt:lpstr>
      <vt:lpstr>Презентация PowerPoint</vt:lpstr>
      <vt:lpstr>Список литературы</vt:lpstr>
      <vt:lpstr>Трансформация</vt:lpstr>
      <vt:lpstr>Два подхода к изменениям </vt:lpstr>
      <vt:lpstr>Презентация PowerPoint</vt:lpstr>
      <vt:lpstr>Презентация PowerPoint</vt:lpstr>
      <vt:lpstr>Презентация PowerPoint</vt:lpstr>
      <vt:lpstr>Презентация PowerPoint</vt:lpstr>
      <vt:lpstr>Этапы развития своего Я Джеймс Холлис «Перевал в середине пути» </vt:lpstr>
      <vt:lpstr>Накануне внутренней трансформации могут появиться:  </vt:lpstr>
      <vt:lpstr>Часто бывает, что выскакивает черт из табакерки</vt:lpstr>
      <vt:lpstr>Презентация PowerPoint</vt:lpstr>
      <vt:lpstr>Презентация PowerPoint</vt:lpstr>
      <vt:lpstr>Выбор. «Декартовы координаты». Классика</vt:lpstr>
      <vt:lpstr>Презентация PowerPoint</vt:lpstr>
      <vt:lpstr>БАЗОВЫЕ вопросы для работы с рисунком</vt:lpstr>
      <vt:lpstr>Компоненты трансформации</vt:lpstr>
      <vt:lpstr>Результативность по Дауни</vt:lpstr>
      <vt:lpstr>Презентация PowerPoint</vt:lpstr>
      <vt:lpstr>Сущность сознания и бессознательного:  кто стоит за штурвалом на самом деле</vt:lpstr>
      <vt:lpstr>Сущность сознания и бессознательного:  кто стоит за штурвалом на самом деле</vt:lpstr>
      <vt:lpstr>Четыре ключевых проявлений бессознательного</vt:lpstr>
      <vt:lpstr>Три фундаментальных вывода для нашей работы </vt:lpstr>
      <vt:lpstr>Вмешательство. Виды</vt:lpstr>
      <vt:lpstr>Презентация PowerPoint</vt:lpstr>
      <vt:lpstr>Вмешательство. Виды</vt:lpstr>
      <vt:lpstr>Вмешательство. Виды</vt:lpstr>
      <vt:lpstr>Система взглядов</vt:lpstr>
      <vt:lpstr>Наиболее распространенные убеждения</vt:lpstr>
      <vt:lpstr>Основные приемы в работе с убеждениями </vt:lpstr>
      <vt:lpstr>Основные приемы в работе с убеждениями </vt:lpstr>
      <vt:lpstr>Презентация PowerPoint</vt:lpstr>
      <vt:lpstr>Декатастрофизация. Экспресс-тест приема</vt:lpstr>
      <vt:lpstr>Презентация PowerPoint</vt:lpstr>
      <vt:lpstr>Техника «Музей старых убеждений»</vt:lpstr>
      <vt:lpstr>Техника «Экран» (работа с образами)</vt:lpstr>
      <vt:lpstr>Презентация PowerPoint</vt:lpstr>
      <vt:lpstr>Состояние высокой продуктивности</vt:lpstr>
      <vt:lpstr>Тренировка HPS</vt:lpstr>
      <vt:lpstr>Презентация PowerPoint</vt:lpstr>
      <vt:lpstr>Система «Аутогенной тренировки» (АТ) по Шульцу </vt:lpstr>
      <vt:lpstr>Позы для релаксации</vt:lpstr>
      <vt:lpstr>Шесть стадий аутогенной релаксации (по классике жанра)</vt:lpstr>
      <vt:lpstr>«Место силы» + Центрирование/«Ось»</vt:lpstr>
      <vt:lpstr>Ключевые приемы при техниках и приемах для снятия напряжения</vt:lpstr>
      <vt:lpstr>Ресурсные медитации </vt:lpstr>
      <vt:lpstr>«Мудрец»</vt:lpstr>
      <vt:lpstr>АТКИНСОН «ПРОГУЛКА К МАСТЕРСТВУ»</vt:lpstr>
      <vt:lpstr>Презентация PowerPoint</vt:lpstr>
      <vt:lpstr>АТКИНСОН. ПРОГУЛКА К МАСТЕРСТВУ. АЛГОРИТМ ТЕХНИКИ</vt:lpstr>
      <vt:lpstr>«ЛИНИЯ ВРЕМЕНИ» (похожая техника)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ITrimaskina</dc:creator>
  <cp:lastModifiedBy>Тримаскина Ирина Витальевна</cp:lastModifiedBy>
  <cp:revision>19</cp:revision>
  <dcterms:modified xsi:type="dcterms:W3CDTF">2026-02-02T05:56:49Z</dcterms:modified>
</cp:coreProperties>
</file>