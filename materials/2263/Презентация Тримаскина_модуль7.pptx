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4"/>
  </p:notesMasterIdLst>
  <p:sldIdLst>
    <p:sldId id="404" r:id="rId2"/>
    <p:sldId id="638" r:id="rId3"/>
    <p:sldId id="751" r:id="rId4"/>
    <p:sldId id="789" r:id="rId5"/>
    <p:sldId id="853" r:id="rId6"/>
    <p:sldId id="922" r:id="rId7"/>
    <p:sldId id="921" r:id="rId8"/>
    <p:sldId id="923" r:id="rId9"/>
    <p:sldId id="933" r:id="rId10"/>
    <p:sldId id="924" r:id="rId11"/>
    <p:sldId id="1076" r:id="rId12"/>
    <p:sldId id="799" r:id="rId13"/>
    <p:sldId id="872" r:id="rId14"/>
    <p:sldId id="873" r:id="rId15"/>
    <p:sldId id="926" r:id="rId16"/>
    <p:sldId id="874" r:id="rId17"/>
    <p:sldId id="875" r:id="rId18"/>
    <p:sldId id="733" r:id="rId19"/>
    <p:sldId id="934" r:id="rId20"/>
    <p:sldId id="935" r:id="rId21"/>
    <p:sldId id="792" r:id="rId22"/>
    <p:sldId id="734" r:id="rId23"/>
    <p:sldId id="793" r:id="rId24"/>
    <p:sldId id="795" r:id="rId25"/>
    <p:sldId id="800" r:id="rId26"/>
    <p:sldId id="798" r:id="rId27"/>
    <p:sldId id="803" r:id="rId28"/>
    <p:sldId id="801" r:id="rId29"/>
    <p:sldId id="804" r:id="rId30"/>
    <p:sldId id="805" r:id="rId31"/>
    <p:sldId id="737" r:id="rId32"/>
    <p:sldId id="797" r:id="rId33"/>
    <p:sldId id="816" r:id="rId34"/>
    <p:sldId id="806" r:id="rId35"/>
    <p:sldId id="807" r:id="rId36"/>
    <p:sldId id="808" r:id="rId37"/>
    <p:sldId id="809" r:id="rId38"/>
    <p:sldId id="810" r:id="rId39"/>
    <p:sldId id="839" r:id="rId40"/>
    <p:sldId id="854" r:id="rId41"/>
    <p:sldId id="838" r:id="rId42"/>
    <p:sldId id="848" r:id="rId43"/>
    <p:sldId id="936" r:id="rId44"/>
    <p:sldId id="937" r:id="rId45"/>
    <p:sldId id="1034" r:id="rId46"/>
    <p:sldId id="944" r:id="rId47"/>
    <p:sldId id="1036" r:id="rId48"/>
    <p:sldId id="1037" r:id="rId49"/>
    <p:sldId id="906" r:id="rId50"/>
    <p:sldId id="907" r:id="rId51"/>
    <p:sldId id="951" r:id="rId52"/>
    <p:sldId id="952" r:id="rId53"/>
    <p:sldId id="953" r:id="rId54"/>
    <p:sldId id="954" r:id="rId55"/>
    <p:sldId id="955" r:id="rId56"/>
    <p:sldId id="956" r:id="rId57"/>
    <p:sldId id="957" r:id="rId58"/>
    <p:sldId id="974" r:id="rId59"/>
    <p:sldId id="972" r:id="rId60"/>
    <p:sldId id="973" r:id="rId61"/>
    <p:sldId id="1026" r:id="rId62"/>
    <p:sldId id="970" r:id="rId63"/>
    <p:sldId id="960" r:id="rId64"/>
    <p:sldId id="961" r:id="rId65"/>
    <p:sldId id="962" r:id="rId66"/>
    <p:sldId id="976" r:id="rId67"/>
    <p:sldId id="963" r:id="rId68"/>
    <p:sldId id="964" r:id="rId69"/>
    <p:sldId id="965" r:id="rId70"/>
    <p:sldId id="977" r:id="rId71"/>
    <p:sldId id="967" r:id="rId72"/>
    <p:sldId id="968" r:id="rId73"/>
    <p:sldId id="946" r:id="rId74"/>
    <p:sldId id="947" r:id="rId75"/>
    <p:sldId id="948" r:id="rId76"/>
    <p:sldId id="949" r:id="rId77"/>
    <p:sldId id="959" r:id="rId78"/>
    <p:sldId id="980" r:id="rId79"/>
    <p:sldId id="631" r:id="rId80"/>
    <p:sldId id="632" r:id="rId81"/>
    <p:sldId id="633" r:id="rId82"/>
    <p:sldId id="883" r:id="rId83"/>
    <p:sldId id="890" r:id="rId84"/>
    <p:sldId id="919" r:id="rId85"/>
    <p:sldId id="1052" r:id="rId86"/>
    <p:sldId id="1044" r:id="rId87"/>
    <p:sldId id="1045" r:id="rId88"/>
    <p:sldId id="1046" r:id="rId89"/>
    <p:sldId id="1047" r:id="rId90"/>
    <p:sldId id="1048" r:id="rId91"/>
    <p:sldId id="1049" r:id="rId92"/>
    <p:sldId id="1050" r:id="rId93"/>
    <p:sldId id="1051" r:id="rId94"/>
    <p:sldId id="913" r:id="rId95"/>
    <p:sldId id="914" r:id="rId96"/>
    <p:sldId id="917" r:id="rId97"/>
    <p:sldId id="918" r:id="rId98"/>
    <p:sldId id="983" r:id="rId99"/>
    <p:sldId id="982" r:id="rId100"/>
    <p:sldId id="880" r:id="rId101"/>
    <p:sldId id="1053" r:id="rId102"/>
    <p:sldId id="984" r:id="rId103"/>
    <p:sldId id="1071" r:id="rId104"/>
    <p:sldId id="492" r:id="rId105"/>
    <p:sldId id="1054" r:id="rId106"/>
    <p:sldId id="889" r:id="rId107"/>
    <p:sldId id="985" r:id="rId108"/>
    <p:sldId id="986" r:id="rId109"/>
    <p:sldId id="987" r:id="rId110"/>
    <p:sldId id="988" r:id="rId111"/>
    <p:sldId id="891" r:id="rId112"/>
    <p:sldId id="895" r:id="rId113"/>
    <p:sldId id="896" r:id="rId114"/>
    <p:sldId id="897" r:id="rId115"/>
    <p:sldId id="899" r:id="rId116"/>
    <p:sldId id="898" r:id="rId117"/>
    <p:sldId id="900" r:id="rId118"/>
    <p:sldId id="1056" r:id="rId119"/>
    <p:sldId id="892" r:id="rId120"/>
    <p:sldId id="893" r:id="rId121"/>
    <p:sldId id="894" r:id="rId122"/>
    <p:sldId id="991" r:id="rId123"/>
    <p:sldId id="1070" r:id="rId124"/>
    <p:sldId id="1068" r:id="rId125"/>
    <p:sldId id="990" r:id="rId126"/>
    <p:sldId id="1018" r:id="rId127"/>
    <p:sldId id="1074" r:id="rId128"/>
    <p:sldId id="1016" r:id="rId129"/>
    <p:sldId id="1019" r:id="rId130"/>
    <p:sldId id="1020" r:id="rId131"/>
    <p:sldId id="1021" r:id="rId132"/>
    <p:sldId id="1022" r:id="rId133"/>
    <p:sldId id="1023" r:id="rId134"/>
    <p:sldId id="1024" r:id="rId135"/>
    <p:sldId id="1025" r:id="rId136"/>
    <p:sldId id="1060" r:id="rId137"/>
    <p:sldId id="995" r:id="rId138"/>
    <p:sldId id="1038" r:id="rId139"/>
    <p:sldId id="996" r:id="rId140"/>
    <p:sldId id="1039" r:id="rId141"/>
    <p:sldId id="1040" r:id="rId142"/>
    <p:sldId id="1041" r:id="rId143"/>
    <p:sldId id="1042" r:id="rId144"/>
    <p:sldId id="1043" r:id="rId145"/>
    <p:sldId id="997" r:id="rId146"/>
    <p:sldId id="992" r:id="rId147"/>
    <p:sldId id="993" r:id="rId148"/>
    <p:sldId id="1010" r:id="rId149"/>
    <p:sldId id="1009" r:id="rId150"/>
    <p:sldId id="1011" r:id="rId151"/>
    <p:sldId id="1012" r:id="rId152"/>
    <p:sldId id="1013" r:id="rId153"/>
    <p:sldId id="1014" r:id="rId154"/>
    <p:sldId id="1003" r:id="rId155"/>
    <p:sldId id="1004" r:id="rId156"/>
    <p:sldId id="1005" r:id="rId157"/>
    <p:sldId id="1006" r:id="rId158"/>
    <p:sldId id="1007" r:id="rId159"/>
    <p:sldId id="1008" r:id="rId160"/>
    <p:sldId id="1075" r:id="rId161"/>
    <p:sldId id="1072" r:id="rId162"/>
    <p:sldId id="1073" r:id="rId163"/>
    <p:sldId id="1063" r:id="rId164"/>
    <p:sldId id="1065" r:id="rId165"/>
    <p:sldId id="886" r:id="rId166"/>
    <p:sldId id="754" r:id="rId167"/>
    <p:sldId id="869" r:id="rId168"/>
    <p:sldId id="756" r:id="rId169"/>
    <p:sldId id="758" r:id="rId170"/>
    <p:sldId id="1029" r:id="rId171"/>
    <p:sldId id="1030" r:id="rId172"/>
    <p:sldId id="1028" r:id="rId173"/>
    <p:sldId id="866" r:id="rId174"/>
    <p:sldId id="867" r:id="rId175"/>
    <p:sldId id="868" r:id="rId176"/>
    <p:sldId id="558" r:id="rId177"/>
    <p:sldId id="559" r:id="rId178"/>
    <p:sldId id="699" r:id="rId179"/>
    <p:sldId id="493" r:id="rId180"/>
    <p:sldId id="635" r:id="rId181"/>
    <p:sldId id="636" r:id="rId182"/>
    <p:sldId id="637" r:id="rId183"/>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94660"/>
  </p:normalViewPr>
  <p:slideViewPr>
    <p:cSldViewPr>
      <p:cViewPr varScale="1">
        <p:scale>
          <a:sx n="83" d="100"/>
          <a:sy n="83" d="100"/>
        </p:scale>
        <p:origin x="1474" y="6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5" Type="http://schemas.openxmlformats.org/officeDocument/2006/relationships/slide" Target="slides/slide174.xml"/><Relationship Id="rId170" Type="http://schemas.openxmlformats.org/officeDocument/2006/relationships/slide" Target="slides/slide169.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slide" Target="slides/slide180.xml"/><Relationship Id="rId186"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C1F1139-45D4-4E4F-A555-78EF28174F08}" type="doc">
      <dgm:prSet loTypeId="urn:microsoft.com/office/officeart/2005/8/layout/radial4" loCatId="" qsTypeId="urn:microsoft.com/office/officeart/2005/8/quickstyle/simple4" qsCatId="simple" csTypeId="urn:microsoft.com/office/officeart/2005/8/colors/accent1_2" csCatId="accent1" phldr="1"/>
      <dgm:spPr/>
      <dgm:t>
        <a:bodyPr/>
        <a:lstStyle/>
        <a:p>
          <a:endParaRPr lang="ru-RU"/>
        </a:p>
      </dgm:t>
    </dgm:pt>
    <dgm:pt modelId="{607D2F90-0A2A-E84B-A74A-8B0D25DA84C8}">
      <dgm:prSet phldrT="[Текст]"/>
      <dgm:spPr/>
      <dgm:t>
        <a:bodyPr/>
        <a:lstStyle/>
        <a:p>
          <a:r>
            <a:rPr lang="ru-RU" dirty="0"/>
            <a:t>Личность</a:t>
          </a:r>
        </a:p>
      </dgm:t>
    </dgm:pt>
    <dgm:pt modelId="{D72587BA-E455-254C-8245-8BF58DEBA4C3}" type="parTrans" cxnId="{78A0D734-32F3-A84C-ADB8-46908552FE23}">
      <dgm:prSet/>
      <dgm:spPr/>
      <dgm:t>
        <a:bodyPr/>
        <a:lstStyle/>
        <a:p>
          <a:endParaRPr lang="ru-RU"/>
        </a:p>
      </dgm:t>
    </dgm:pt>
    <dgm:pt modelId="{199FA517-EA98-124B-84C7-A0467F4D815B}" type="sibTrans" cxnId="{78A0D734-32F3-A84C-ADB8-46908552FE23}">
      <dgm:prSet/>
      <dgm:spPr/>
      <dgm:t>
        <a:bodyPr/>
        <a:lstStyle/>
        <a:p>
          <a:endParaRPr lang="ru-RU"/>
        </a:p>
      </dgm:t>
    </dgm:pt>
    <dgm:pt modelId="{76062B28-6D26-6443-9041-F3E4BBDB1FDC}">
      <dgm:prSet phldrT="[Текст]"/>
      <dgm:spPr/>
      <dgm:t>
        <a:bodyPr/>
        <a:lstStyle/>
        <a:p>
          <a:r>
            <a:rPr lang="ru-RU" dirty="0"/>
            <a:t>Окружение</a:t>
          </a:r>
        </a:p>
      </dgm:t>
    </dgm:pt>
    <dgm:pt modelId="{478688F3-AB3A-3145-B7C9-6DB01D06DA12}" type="parTrans" cxnId="{61CB2BA1-0DCD-3041-9E88-346F83942781}">
      <dgm:prSet/>
      <dgm:spPr/>
      <dgm:t>
        <a:bodyPr/>
        <a:lstStyle/>
        <a:p>
          <a:endParaRPr lang="ru-RU"/>
        </a:p>
      </dgm:t>
    </dgm:pt>
    <dgm:pt modelId="{92E590BA-C195-5C41-BF2C-8A94B9B4F511}" type="sibTrans" cxnId="{61CB2BA1-0DCD-3041-9E88-346F83942781}">
      <dgm:prSet/>
      <dgm:spPr/>
      <dgm:t>
        <a:bodyPr/>
        <a:lstStyle/>
        <a:p>
          <a:endParaRPr lang="ru-RU"/>
        </a:p>
      </dgm:t>
    </dgm:pt>
    <dgm:pt modelId="{5C8DB17E-9A21-D446-B55D-E5FF93265C30}">
      <dgm:prSet phldrT="[Текст]"/>
      <dgm:spPr/>
      <dgm:t>
        <a:bodyPr/>
        <a:lstStyle/>
        <a:p>
          <a:r>
            <a:rPr lang="ru-RU" dirty="0"/>
            <a:t>КОУЧ</a:t>
          </a:r>
        </a:p>
      </dgm:t>
    </dgm:pt>
    <dgm:pt modelId="{A2BDA594-877B-A442-BCA9-5B859FC13B68}" type="parTrans" cxnId="{477D8302-5A62-F449-A799-67AD9FD493AC}">
      <dgm:prSet/>
      <dgm:spPr/>
      <dgm:t>
        <a:bodyPr/>
        <a:lstStyle/>
        <a:p>
          <a:endParaRPr lang="ru-RU"/>
        </a:p>
      </dgm:t>
    </dgm:pt>
    <dgm:pt modelId="{EB65AB96-C365-1748-9C52-9F8CA7E706CB}" type="sibTrans" cxnId="{477D8302-5A62-F449-A799-67AD9FD493AC}">
      <dgm:prSet/>
      <dgm:spPr/>
      <dgm:t>
        <a:bodyPr/>
        <a:lstStyle/>
        <a:p>
          <a:endParaRPr lang="ru-RU"/>
        </a:p>
      </dgm:t>
    </dgm:pt>
    <dgm:pt modelId="{5B81D22E-6429-8A41-82D7-337227195A5A}">
      <dgm:prSet phldrT="[Текст]"/>
      <dgm:spPr/>
      <dgm:t>
        <a:bodyPr/>
        <a:lstStyle/>
        <a:p>
          <a:r>
            <a:rPr lang="ru-RU" dirty="0"/>
            <a:t>СЕМЬЯ</a:t>
          </a:r>
        </a:p>
      </dgm:t>
    </dgm:pt>
    <dgm:pt modelId="{7AB5F9C4-5F62-AD43-865B-08A983133E0B}" type="parTrans" cxnId="{145318C8-2494-7742-BD5D-31C7FB933297}">
      <dgm:prSet/>
      <dgm:spPr/>
      <dgm:t>
        <a:bodyPr/>
        <a:lstStyle/>
        <a:p>
          <a:endParaRPr lang="ru-RU"/>
        </a:p>
      </dgm:t>
    </dgm:pt>
    <dgm:pt modelId="{4388C5B7-15BF-454A-BBA6-D23758B6C6C7}" type="sibTrans" cxnId="{145318C8-2494-7742-BD5D-31C7FB933297}">
      <dgm:prSet/>
      <dgm:spPr/>
      <dgm:t>
        <a:bodyPr/>
        <a:lstStyle/>
        <a:p>
          <a:endParaRPr lang="ru-RU"/>
        </a:p>
      </dgm:t>
    </dgm:pt>
    <dgm:pt modelId="{EACB8A96-5631-E345-ADE6-C7ADEA43FD4A}" type="pres">
      <dgm:prSet presAssocID="{6C1F1139-45D4-4E4F-A555-78EF28174F08}" presName="cycle" presStyleCnt="0">
        <dgm:presLayoutVars>
          <dgm:chMax val="1"/>
          <dgm:dir/>
          <dgm:animLvl val="ctr"/>
          <dgm:resizeHandles val="exact"/>
        </dgm:presLayoutVars>
      </dgm:prSet>
      <dgm:spPr/>
      <dgm:t>
        <a:bodyPr/>
        <a:lstStyle/>
        <a:p>
          <a:endParaRPr lang="ru-RU"/>
        </a:p>
      </dgm:t>
    </dgm:pt>
    <dgm:pt modelId="{5E8B6C30-7D62-C24F-84AA-7B018B296470}" type="pres">
      <dgm:prSet presAssocID="{607D2F90-0A2A-E84B-A74A-8B0D25DA84C8}" presName="centerShape" presStyleLbl="node0" presStyleIdx="0" presStyleCnt="1"/>
      <dgm:spPr/>
      <dgm:t>
        <a:bodyPr/>
        <a:lstStyle/>
        <a:p>
          <a:endParaRPr lang="ru-RU"/>
        </a:p>
      </dgm:t>
    </dgm:pt>
    <dgm:pt modelId="{CD967DCF-A35F-A649-B00E-779CAF3CC396}" type="pres">
      <dgm:prSet presAssocID="{478688F3-AB3A-3145-B7C9-6DB01D06DA12}" presName="parTrans" presStyleLbl="bgSibTrans2D1" presStyleIdx="0" presStyleCnt="3"/>
      <dgm:spPr/>
      <dgm:t>
        <a:bodyPr/>
        <a:lstStyle/>
        <a:p>
          <a:endParaRPr lang="ru-RU"/>
        </a:p>
      </dgm:t>
    </dgm:pt>
    <dgm:pt modelId="{6B9FB1A5-0548-1C46-A5BA-CDD314C712A3}" type="pres">
      <dgm:prSet presAssocID="{76062B28-6D26-6443-9041-F3E4BBDB1FDC}" presName="node" presStyleLbl="node1" presStyleIdx="0" presStyleCnt="3">
        <dgm:presLayoutVars>
          <dgm:bulletEnabled val="1"/>
        </dgm:presLayoutVars>
      </dgm:prSet>
      <dgm:spPr/>
      <dgm:t>
        <a:bodyPr/>
        <a:lstStyle/>
        <a:p>
          <a:endParaRPr lang="ru-RU"/>
        </a:p>
      </dgm:t>
    </dgm:pt>
    <dgm:pt modelId="{C94B4186-F556-A04D-8E0C-C91A81C88C78}" type="pres">
      <dgm:prSet presAssocID="{A2BDA594-877B-A442-BCA9-5B859FC13B68}" presName="parTrans" presStyleLbl="bgSibTrans2D1" presStyleIdx="1" presStyleCnt="3"/>
      <dgm:spPr/>
      <dgm:t>
        <a:bodyPr/>
        <a:lstStyle/>
        <a:p>
          <a:endParaRPr lang="ru-RU"/>
        </a:p>
      </dgm:t>
    </dgm:pt>
    <dgm:pt modelId="{1E77F8E0-06D3-8043-A931-C49B1220EBB7}" type="pres">
      <dgm:prSet presAssocID="{5C8DB17E-9A21-D446-B55D-E5FF93265C30}" presName="node" presStyleLbl="node1" presStyleIdx="1" presStyleCnt="3">
        <dgm:presLayoutVars>
          <dgm:bulletEnabled val="1"/>
        </dgm:presLayoutVars>
      </dgm:prSet>
      <dgm:spPr/>
      <dgm:t>
        <a:bodyPr/>
        <a:lstStyle/>
        <a:p>
          <a:endParaRPr lang="ru-RU"/>
        </a:p>
      </dgm:t>
    </dgm:pt>
    <dgm:pt modelId="{99B9DF9E-BEEF-754B-9634-3BAB64CC48A9}" type="pres">
      <dgm:prSet presAssocID="{7AB5F9C4-5F62-AD43-865B-08A983133E0B}" presName="parTrans" presStyleLbl="bgSibTrans2D1" presStyleIdx="2" presStyleCnt="3"/>
      <dgm:spPr/>
      <dgm:t>
        <a:bodyPr/>
        <a:lstStyle/>
        <a:p>
          <a:endParaRPr lang="ru-RU"/>
        </a:p>
      </dgm:t>
    </dgm:pt>
    <dgm:pt modelId="{34EE9E36-3947-4B40-A9E7-EB4125EE777C}" type="pres">
      <dgm:prSet presAssocID="{5B81D22E-6429-8A41-82D7-337227195A5A}" presName="node" presStyleLbl="node1" presStyleIdx="2" presStyleCnt="3">
        <dgm:presLayoutVars>
          <dgm:bulletEnabled val="1"/>
        </dgm:presLayoutVars>
      </dgm:prSet>
      <dgm:spPr/>
      <dgm:t>
        <a:bodyPr/>
        <a:lstStyle/>
        <a:p>
          <a:endParaRPr lang="ru-RU"/>
        </a:p>
      </dgm:t>
    </dgm:pt>
  </dgm:ptLst>
  <dgm:cxnLst>
    <dgm:cxn modelId="{2236C9F4-08BC-4842-A274-40A5C45AFFF4}" type="presOf" srcId="{5C8DB17E-9A21-D446-B55D-E5FF93265C30}" destId="{1E77F8E0-06D3-8043-A931-C49B1220EBB7}" srcOrd="0" destOrd="0" presId="urn:microsoft.com/office/officeart/2005/8/layout/radial4"/>
    <dgm:cxn modelId="{92CE6070-9FDE-064E-A58E-5E7D57F6BB35}" type="presOf" srcId="{6C1F1139-45D4-4E4F-A555-78EF28174F08}" destId="{EACB8A96-5631-E345-ADE6-C7ADEA43FD4A}" srcOrd="0" destOrd="0" presId="urn:microsoft.com/office/officeart/2005/8/layout/radial4"/>
    <dgm:cxn modelId="{954DF1D9-762E-6346-8198-D9F89ABD3833}" type="presOf" srcId="{76062B28-6D26-6443-9041-F3E4BBDB1FDC}" destId="{6B9FB1A5-0548-1C46-A5BA-CDD314C712A3}" srcOrd="0" destOrd="0" presId="urn:microsoft.com/office/officeart/2005/8/layout/radial4"/>
    <dgm:cxn modelId="{477D8302-5A62-F449-A799-67AD9FD493AC}" srcId="{607D2F90-0A2A-E84B-A74A-8B0D25DA84C8}" destId="{5C8DB17E-9A21-D446-B55D-E5FF93265C30}" srcOrd="1" destOrd="0" parTransId="{A2BDA594-877B-A442-BCA9-5B859FC13B68}" sibTransId="{EB65AB96-C365-1748-9C52-9F8CA7E706CB}"/>
    <dgm:cxn modelId="{145318C8-2494-7742-BD5D-31C7FB933297}" srcId="{607D2F90-0A2A-E84B-A74A-8B0D25DA84C8}" destId="{5B81D22E-6429-8A41-82D7-337227195A5A}" srcOrd="2" destOrd="0" parTransId="{7AB5F9C4-5F62-AD43-865B-08A983133E0B}" sibTransId="{4388C5B7-15BF-454A-BBA6-D23758B6C6C7}"/>
    <dgm:cxn modelId="{61CB2BA1-0DCD-3041-9E88-346F83942781}" srcId="{607D2F90-0A2A-E84B-A74A-8B0D25DA84C8}" destId="{76062B28-6D26-6443-9041-F3E4BBDB1FDC}" srcOrd="0" destOrd="0" parTransId="{478688F3-AB3A-3145-B7C9-6DB01D06DA12}" sibTransId="{92E590BA-C195-5C41-BF2C-8A94B9B4F511}"/>
    <dgm:cxn modelId="{AAF31EAD-093B-F741-9030-F99E02E6FA76}" type="presOf" srcId="{5B81D22E-6429-8A41-82D7-337227195A5A}" destId="{34EE9E36-3947-4B40-A9E7-EB4125EE777C}" srcOrd="0" destOrd="0" presId="urn:microsoft.com/office/officeart/2005/8/layout/radial4"/>
    <dgm:cxn modelId="{F4ADD5A6-0894-E445-864A-F6B8E3983E78}" type="presOf" srcId="{A2BDA594-877B-A442-BCA9-5B859FC13B68}" destId="{C94B4186-F556-A04D-8E0C-C91A81C88C78}" srcOrd="0" destOrd="0" presId="urn:microsoft.com/office/officeart/2005/8/layout/radial4"/>
    <dgm:cxn modelId="{78A0D734-32F3-A84C-ADB8-46908552FE23}" srcId="{6C1F1139-45D4-4E4F-A555-78EF28174F08}" destId="{607D2F90-0A2A-E84B-A74A-8B0D25DA84C8}" srcOrd="0" destOrd="0" parTransId="{D72587BA-E455-254C-8245-8BF58DEBA4C3}" sibTransId="{199FA517-EA98-124B-84C7-A0467F4D815B}"/>
    <dgm:cxn modelId="{5F3291F1-5B44-3046-AD8B-FD1018F0C023}" type="presOf" srcId="{607D2F90-0A2A-E84B-A74A-8B0D25DA84C8}" destId="{5E8B6C30-7D62-C24F-84AA-7B018B296470}" srcOrd="0" destOrd="0" presId="urn:microsoft.com/office/officeart/2005/8/layout/radial4"/>
    <dgm:cxn modelId="{9659E3DC-49BC-1E49-9D94-7F5D8C8140E5}" type="presOf" srcId="{478688F3-AB3A-3145-B7C9-6DB01D06DA12}" destId="{CD967DCF-A35F-A649-B00E-779CAF3CC396}" srcOrd="0" destOrd="0" presId="urn:microsoft.com/office/officeart/2005/8/layout/radial4"/>
    <dgm:cxn modelId="{B0417382-C127-0142-8E40-A7172323AF86}" type="presOf" srcId="{7AB5F9C4-5F62-AD43-865B-08A983133E0B}" destId="{99B9DF9E-BEEF-754B-9634-3BAB64CC48A9}" srcOrd="0" destOrd="0" presId="urn:microsoft.com/office/officeart/2005/8/layout/radial4"/>
    <dgm:cxn modelId="{EC81E0DE-EC0C-EA45-ABB1-5349FA9851AA}" type="presParOf" srcId="{EACB8A96-5631-E345-ADE6-C7ADEA43FD4A}" destId="{5E8B6C30-7D62-C24F-84AA-7B018B296470}" srcOrd="0" destOrd="0" presId="urn:microsoft.com/office/officeart/2005/8/layout/radial4"/>
    <dgm:cxn modelId="{EB9BC5DA-BD41-BF42-8287-F78F353605C2}" type="presParOf" srcId="{EACB8A96-5631-E345-ADE6-C7ADEA43FD4A}" destId="{CD967DCF-A35F-A649-B00E-779CAF3CC396}" srcOrd="1" destOrd="0" presId="urn:microsoft.com/office/officeart/2005/8/layout/radial4"/>
    <dgm:cxn modelId="{37AF26C6-33AE-D741-89DF-DA32F7316064}" type="presParOf" srcId="{EACB8A96-5631-E345-ADE6-C7ADEA43FD4A}" destId="{6B9FB1A5-0548-1C46-A5BA-CDD314C712A3}" srcOrd="2" destOrd="0" presId="urn:microsoft.com/office/officeart/2005/8/layout/radial4"/>
    <dgm:cxn modelId="{8191A1E5-4B43-3148-B6E6-1F42AD5CE00C}" type="presParOf" srcId="{EACB8A96-5631-E345-ADE6-C7ADEA43FD4A}" destId="{C94B4186-F556-A04D-8E0C-C91A81C88C78}" srcOrd="3" destOrd="0" presId="urn:microsoft.com/office/officeart/2005/8/layout/radial4"/>
    <dgm:cxn modelId="{A8E6A266-9EEA-5B45-9EC8-63D23FC1D96E}" type="presParOf" srcId="{EACB8A96-5631-E345-ADE6-C7ADEA43FD4A}" destId="{1E77F8E0-06D3-8043-A931-C49B1220EBB7}" srcOrd="4" destOrd="0" presId="urn:microsoft.com/office/officeart/2005/8/layout/radial4"/>
    <dgm:cxn modelId="{1EADC08A-6975-B743-A70B-F0DDA90E4991}" type="presParOf" srcId="{EACB8A96-5631-E345-ADE6-C7ADEA43FD4A}" destId="{99B9DF9E-BEEF-754B-9634-3BAB64CC48A9}" srcOrd="5" destOrd="0" presId="urn:microsoft.com/office/officeart/2005/8/layout/radial4"/>
    <dgm:cxn modelId="{C09C5F79-167A-9047-87AC-E1BC932F626E}" type="presParOf" srcId="{EACB8A96-5631-E345-ADE6-C7ADEA43FD4A}" destId="{34EE9E36-3947-4B40-A9E7-EB4125EE777C}" srcOrd="6" destOrd="0" presId="urn:microsoft.com/office/officeart/2005/8/layout/radial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8B6C30-7D62-C24F-84AA-7B018B296470}">
      <dsp:nvSpPr>
        <dsp:cNvPr id="0" name=""/>
        <dsp:cNvSpPr/>
      </dsp:nvSpPr>
      <dsp:spPr>
        <a:xfrm>
          <a:off x="2273140" y="1771410"/>
          <a:ext cx="1485425" cy="1485425"/>
        </a:xfrm>
        <a:prstGeom prst="ellipse">
          <a:avLst/>
        </a:prstGeom>
        <a:gradFill rotWithShape="0">
          <a:gsLst>
            <a:gs pos="0">
              <a:schemeClr val="accent1">
                <a:hueOff val="0"/>
                <a:satOff val="0"/>
                <a:lumOff val="0"/>
                <a:alphaOff val="0"/>
                <a:lumMod val="95000"/>
              </a:schemeClr>
            </a:gs>
            <a:gs pos="100000">
              <a:schemeClr val="accent1">
                <a:hueOff val="0"/>
                <a:satOff val="0"/>
                <a:lumOff val="0"/>
                <a:alphaOff val="0"/>
                <a:shade val="82000"/>
                <a:satMod val="125000"/>
                <a:lumMod val="74000"/>
              </a:schemeClr>
            </a:gs>
          </a:gsLst>
          <a:lin ang="5400000" scaled="0"/>
        </a:gradFill>
        <a:ln>
          <a:noFill/>
        </a:ln>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ru-RU" sz="1800" kern="1200" dirty="0"/>
            <a:t>Личность</a:t>
          </a:r>
        </a:p>
      </dsp:txBody>
      <dsp:txXfrm>
        <a:off x="2490675" y="1988945"/>
        <a:ext cx="1050355" cy="1050355"/>
      </dsp:txXfrm>
    </dsp:sp>
    <dsp:sp modelId="{CD967DCF-A35F-A649-B00E-779CAF3CC396}">
      <dsp:nvSpPr>
        <dsp:cNvPr id="0" name=""/>
        <dsp:cNvSpPr/>
      </dsp:nvSpPr>
      <dsp:spPr>
        <a:xfrm rot="12900000">
          <a:off x="1316294" y="1511487"/>
          <a:ext cx="1139892" cy="423346"/>
        </a:xfrm>
        <a:prstGeom prst="leftArrow">
          <a:avLst>
            <a:gd name="adj1" fmla="val 60000"/>
            <a:gd name="adj2" fmla="val 50000"/>
          </a:avLst>
        </a:prstGeom>
        <a:gradFill rotWithShape="0">
          <a:gsLst>
            <a:gs pos="0">
              <a:schemeClr val="accent1">
                <a:tint val="60000"/>
                <a:hueOff val="0"/>
                <a:satOff val="0"/>
                <a:lumOff val="0"/>
                <a:alphaOff val="0"/>
                <a:lumMod val="95000"/>
              </a:schemeClr>
            </a:gs>
            <a:gs pos="100000">
              <a:schemeClr val="accent1">
                <a:tint val="60000"/>
                <a:hueOff val="0"/>
                <a:satOff val="0"/>
                <a:lumOff val="0"/>
                <a:alphaOff val="0"/>
                <a:shade val="82000"/>
                <a:satMod val="125000"/>
                <a:lumMod val="74000"/>
              </a:schemeClr>
            </a:gs>
          </a:gsLst>
          <a:lin ang="5400000" scaled="0"/>
        </a:gradFill>
        <a:ln>
          <a:noFill/>
        </a:ln>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dsp:spPr>
      <dsp:style>
        <a:lnRef idx="0">
          <a:scrgbClr r="0" g="0" b="0"/>
        </a:lnRef>
        <a:fillRef idx="3">
          <a:scrgbClr r="0" g="0" b="0"/>
        </a:fillRef>
        <a:effectRef idx="2">
          <a:scrgbClr r="0" g="0" b="0"/>
        </a:effectRef>
        <a:fontRef idx="minor">
          <a:schemeClr val="lt1"/>
        </a:fontRef>
      </dsp:style>
    </dsp:sp>
    <dsp:sp modelId="{6B9FB1A5-0548-1C46-A5BA-CDD314C712A3}">
      <dsp:nvSpPr>
        <dsp:cNvPr id="0" name=""/>
        <dsp:cNvSpPr/>
      </dsp:nvSpPr>
      <dsp:spPr>
        <a:xfrm>
          <a:off x="713791" y="831791"/>
          <a:ext cx="1411154" cy="1128923"/>
        </a:xfrm>
        <a:prstGeom prst="roundRect">
          <a:avLst>
            <a:gd name="adj" fmla="val 10000"/>
          </a:avLst>
        </a:prstGeom>
        <a:gradFill rotWithShape="0">
          <a:gsLst>
            <a:gs pos="0">
              <a:schemeClr val="accent1">
                <a:hueOff val="0"/>
                <a:satOff val="0"/>
                <a:lumOff val="0"/>
                <a:alphaOff val="0"/>
                <a:lumMod val="95000"/>
              </a:schemeClr>
            </a:gs>
            <a:gs pos="100000">
              <a:schemeClr val="accent1">
                <a:hueOff val="0"/>
                <a:satOff val="0"/>
                <a:lumOff val="0"/>
                <a:alphaOff val="0"/>
                <a:shade val="82000"/>
                <a:satMod val="125000"/>
                <a:lumMod val="74000"/>
              </a:schemeClr>
            </a:gs>
          </a:gsLst>
          <a:lin ang="5400000" scaled="0"/>
        </a:gradFill>
        <a:ln>
          <a:noFill/>
        </a:ln>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dsp:spPr>
      <dsp:style>
        <a:lnRef idx="0">
          <a:scrgbClr r="0" g="0" b="0"/>
        </a:lnRef>
        <a:fillRef idx="3">
          <a:scrgbClr r="0" g="0" b="0"/>
        </a:fillRef>
        <a:effectRef idx="2">
          <a:scrgbClr r="0" g="0" b="0"/>
        </a:effectRef>
        <a:fontRef idx="minor">
          <a:schemeClr val="lt1"/>
        </a:fontRef>
      </dsp:style>
      <dsp:txBody>
        <a:bodyPr spcFirstLastPara="0" vert="horz" wrap="square" lIns="36195" tIns="36195" rIns="36195" bIns="36195" numCol="1" spcCol="1270" anchor="ctr" anchorCtr="0">
          <a:noAutofit/>
        </a:bodyPr>
        <a:lstStyle/>
        <a:p>
          <a:pPr lvl="0" algn="ctr" defTabSz="844550">
            <a:lnSpc>
              <a:spcPct val="90000"/>
            </a:lnSpc>
            <a:spcBef>
              <a:spcPct val="0"/>
            </a:spcBef>
            <a:spcAft>
              <a:spcPct val="35000"/>
            </a:spcAft>
          </a:pPr>
          <a:r>
            <a:rPr lang="ru-RU" sz="1900" kern="1200" dirty="0"/>
            <a:t>Окружение</a:t>
          </a:r>
        </a:p>
      </dsp:txBody>
      <dsp:txXfrm>
        <a:off x="746856" y="864856"/>
        <a:ext cx="1345024" cy="1062793"/>
      </dsp:txXfrm>
    </dsp:sp>
    <dsp:sp modelId="{C94B4186-F556-A04D-8E0C-C91A81C88C78}">
      <dsp:nvSpPr>
        <dsp:cNvPr id="0" name=""/>
        <dsp:cNvSpPr/>
      </dsp:nvSpPr>
      <dsp:spPr>
        <a:xfrm rot="16200000">
          <a:off x="2445907" y="923448"/>
          <a:ext cx="1139892" cy="423346"/>
        </a:xfrm>
        <a:prstGeom prst="leftArrow">
          <a:avLst>
            <a:gd name="adj1" fmla="val 60000"/>
            <a:gd name="adj2" fmla="val 50000"/>
          </a:avLst>
        </a:prstGeom>
        <a:gradFill rotWithShape="0">
          <a:gsLst>
            <a:gs pos="0">
              <a:schemeClr val="accent1">
                <a:tint val="60000"/>
                <a:hueOff val="0"/>
                <a:satOff val="0"/>
                <a:lumOff val="0"/>
                <a:alphaOff val="0"/>
                <a:lumMod val="95000"/>
              </a:schemeClr>
            </a:gs>
            <a:gs pos="100000">
              <a:schemeClr val="accent1">
                <a:tint val="60000"/>
                <a:hueOff val="0"/>
                <a:satOff val="0"/>
                <a:lumOff val="0"/>
                <a:alphaOff val="0"/>
                <a:shade val="82000"/>
                <a:satMod val="125000"/>
                <a:lumMod val="74000"/>
              </a:schemeClr>
            </a:gs>
          </a:gsLst>
          <a:lin ang="5400000" scaled="0"/>
        </a:gradFill>
        <a:ln>
          <a:noFill/>
        </a:ln>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dsp:spPr>
      <dsp:style>
        <a:lnRef idx="0">
          <a:scrgbClr r="0" g="0" b="0"/>
        </a:lnRef>
        <a:fillRef idx="3">
          <a:scrgbClr r="0" g="0" b="0"/>
        </a:fillRef>
        <a:effectRef idx="2">
          <a:scrgbClr r="0" g="0" b="0"/>
        </a:effectRef>
        <a:fontRef idx="minor">
          <a:schemeClr val="lt1"/>
        </a:fontRef>
      </dsp:style>
    </dsp:sp>
    <dsp:sp modelId="{1E77F8E0-06D3-8043-A931-C49B1220EBB7}">
      <dsp:nvSpPr>
        <dsp:cNvPr id="0" name=""/>
        <dsp:cNvSpPr/>
      </dsp:nvSpPr>
      <dsp:spPr>
        <a:xfrm>
          <a:off x="2310276" y="713"/>
          <a:ext cx="1411154" cy="1128923"/>
        </a:xfrm>
        <a:prstGeom prst="roundRect">
          <a:avLst>
            <a:gd name="adj" fmla="val 10000"/>
          </a:avLst>
        </a:prstGeom>
        <a:gradFill rotWithShape="0">
          <a:gsLst>
            <a:gs pos="0">
              <a:schemeClr val="accent1">
                <a:hueOff val="0"/>
                <a:satOff val="0"/>
                <a:lumOff val="0"/>
                <a:alphaOff val="0"/>
                <a:lumMod val="95000"/>
              </a:schemeClr>
            </a:gs>
            <a:gs pos="100000">
              <a:schemeClr val="accent1">
                <a:hueOff val="0"/>
                <a:satOff val="0"/>
                <a:lumOff val="0"/>
                <a:alphaOff val="0"/>
                <a:shade val="82000"/>
                <a:satMod val="125000"/>
                <a:lumMod val="74000"/>
              </a:schemeClr>
            </a:gs>
          </a:gsLst>
          <a:lin ang="5400000" scaled="0"/>
        </a:gradFill>
        <a:ln>
          <a:noFill/>
        </a:ln>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dsp:spPr>
      <dsp:style>
        <a:lnRef idx="0">
          <a:scrgbClr r="0" g="0" b="0"/>
        </a:lnRef>
        <a:fillRef idx="3">
          <a:scrgbClr r="0" g="0" b="0"/>
        </a:fillRef>
        <a:effectRef idx="2">
          <a:scrgbClr r="0" g="0" b="0"/>
        </a:effectRef>
        <a:fontRef idx="minor">
          <a:schemeClr val="lt1"/>
        </a:fontRef>
      </dsp:style>
      <dsp:txBody>
        <a:bodyPr spcFirstLastPara="0" vert="horz" wrap="square" lIns="36195" tIns="36195" rIns="36195" bIns="36195" numCol="1" spcCol="1270" anchor="ctr" anchorCtr="0">
          <a:noAutofit/>
        </a:bodyPr>
        <a:lstStyle/>
        <a:p>
          <a:pPr lvl="0" algn="ctr" defTabSz="844550">
            <a:lnSpc>
              <a:spcPct val="90000"/>
            </a:lnSpc>
            <a:spcBef>
              <a:spcPct val="0"/>
            </a:spcBef>
            <a:spcAft>
              <a:spcPct val="35000"/>
            </a:spcAft>
          </a:pPr>
          <a:r>
            <a:rPr lang="ru-RU" sz="1900" kern="1200" dirty="0"/>
            <a:t>КОУЧ</a:t>
          </a:r>
        </a:p>
      </dsp:txBody>
      <dsp:txXfrm>
        <a:off x="2343341" y="33778"/>
        <a:ext cx="1345024" cy="1062793"/>
      </dsp:txXfrm>
    </dsp:sp>
    <dsp:sp modelId="{99B9DF9E-BEEF-754B-9634-3BAB64CC48A9}">
      <dsp:nvSpPr>
        <dsp:cNvPr id="0" name=""/>
        <dsp:cNvSpPr/>
      </dsp:nvSpPr>
      <dsp:spPr>
        <a:xfrm rot="19500000">
          <a:off x="3575519" y="1511487"/>
          <a:ext cx="1139892" cy="423346"/>
        </a:xfrm>
        <a:prstGeom prst="leftArrow">
          <a:avLst>
            <a:gd name="adj1" fmla="val 60000"/>
            <a:gd name="adj2" fmla="val 50000"/>
          </a:avLst>
        </a:prstGeom>
        <a:gradFill rotWithShape="0">
          <a:gsLst>
            <a:gs pos="0">
              <a:schemeClr val="accent1">
                <a:tint val="60000"/>
                <a:hueOff val="0"/>
                <a:satOff val="0"/>
                <a:lumOff val="0"/>
                <a:alphaOff val="0"/>
                <a:lumMod val="95000"/>
              </a:schemeClr>
            </a:gs>
            <a:gs pos="100000">
              <a:schemeClr val="accent1">
                <a:tint val="60000"/>
                <a:hueOff val="0"/>
                <a:satOff val="0"/>
                <a:lumOff val="0"/>
                <a:alphaOff val="0"/>
                <a:shade val="82000"/>
                <a:satMod val="125000"/>
                <a:lumMod val="74000"/>
              </a:schemeClr>
            </a:gs>
          </a:gsLst>
          <a:lin ang="5400000" scaled="0"/>
        </a:gradFill>
        <a:ln>
          <a:noFill/>
        </a:ln>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dsp:spPr>
      <dsp:style>
        <a:lnRef idx="0">
          <a:scrgbClr r="0" g="0" b="0"/>
        </a:lnRef>
        <a:fillRef idx="3">
          <a:scrgbClr r="0" g="0" b="0"/>
        </a:fillRef>
        <a:effectRef idx="2">
          <a:scrgbClr r="0" g="0" b="0"/>
        </a:effectRef>
        <a:fontRef idx="minor">
          <a:schemeClr val="lt1"/>
        </a:fontRef>
      </dsp:style>
    </dsp:sp>
    <dsp:sp modelId="{34EE9E36-3947-4B40-A9E7-EB4125EE777C}">
      <dsp:nvSpPr>
        <dsp:cNvPr id="0" name=""/>
        <dsp:cNvSpPr/>
      </dsp:nvSpPr>
      <dsp:spPr>
        <a:xfrm>
          <a:off x="3906761" y="831791"/>
          <a:ext cx="1411154" cy="1128923"/>
        </a:xfrm>
        <a:prstGeom prst="roundRect">
          <a:avLst>
            <a:gd name="adj" fmla="val 10000"/>
          </a:avLst>
        </a:prstGeom>
        <a:gradFill rotWithShape="0">
          <a:gsLst>
            <a:gs pos="0">
              <a:schemeClr val="accent1">
                <a:hueOff val="0"/>
                <a:satOff val="0"/>
                <a:lumOff val="0"/>
                <a:alphaOff val="0"/>
                <a:lumMod val="95000"/>
              </a:schemeClr>
            </a:gs>
            <a:gs pos="100000">
              <a:schemeClr val="accent1">
                <a:hueOff val="0"/>
                <a:satOff val="0"/>
                <a:lumOff val="0"/>
                <a:alphaOff val="0"/>
                <a:shade val="82000"/>
                <a:satMod val="125000"/>
                <a:lumMod val="74000"/>
              </a:schemeClr>
            </a:gs>
          </a:gsLst>
          <a:lin ang="5400000" scaled="0"/>
        </a:gradFill>
        <a:ln>
          <a:noFill/>
        </a:ln>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dsp:spPr>
      <dsp:style>
        <a:lnRef idx="0">
          <a:scrgbClr r="0" g="0" b="0"/>
        </a:lnRef>
        <a:fillRef idx="3">
          <a:scrgbClr r="0" g="0" b="0"/>
        </a:fillRef>
        <a:effectRef idx="2">
          <a:scrgbClr r="0" g="0" b="0"/>
        </a:effectRef>
        <a:fontRef idx="minor">
          <a:schemeClr val="lt1"/>
        </a:fontRef>
      </dsp:style>
      <dsp:txBody>
        <a:bodyPr spcFirstLastPara="0" vert="horz" wrap="square" lIns="36195" tIns="36195" rIns="36195" bIns="36195" numCol="1" spcCol="1270" anchor="ctr" anchorCtr="0">
          <a:noAutofit/>
        </a:bodyPr>
        <a:lstStyle/>
        <a:p>
          <a:pPr lvl="0" algn="ctr" defTabSz="844550">
            <a:lnSpc>
              <a:spcPct val="90000"/>
            </a:lnSpc>
            <a:spcBef>
              <a:spcPct val="0"/>
            </a:spcBef>
            <a:spcAft>
              <a:spcPct val="35000"/>
            </a:spcAft>
          </a:pPr>
          <a:r>
            <a:rPr lang="ru-RU" sz="1900" kern="1200" dirty="0"/>
            <a:t>СЕМЬЯ</a:t>
          </a:r>
        </a:p>
      </dsp:txBody>
      <dsp:txXfrm>
        <a:off x="3939826" y="864856"/>
        <a:ext cx="1345024" cy="1062793"/>
      </dsp:txXfrm>
    </dsp:sp>
  </dsp:spTree>
</dsp:drawing>
</file>

<file path=ppt/diagrams/layout1.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28E5F9-D66C-4970-8358-7AC2EDE771B6}" type="datetimeFigureOut">
              <a:rPr lang="ru-RU" smtClean="0"/>
              <a:pPr/>
              <a:t>17.10.2023</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96FE9FB-D96C-4F28-A695-9677BB0755D6}" type="slidenum">
              <a:rPr lang="ru-RU" smtClean="0"/>
              <a:pPr/>
              <a:t>‹#›</a:t>
            </a:fld>
            <a:endParaRPr lang="ru-RU"/>
          </a:p>
        </p:txBody>
      </p:sp>
    </p:spTree>
    <p:extLst>
      <p:ext uri="{BB962C8B-B14F-4D97-AF65-F5344CB8AC3E}">
        <p14:creationId xmlns:p14="http://schemas.microsoft.com/office/powerpoint/2010/main" val="1427765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F5262C55-2D24-8347-8957-80F4188C8A5F}" type="slidenum">
              <a:rPr lang="ru-RU" smtClean="0"/>
              <a:t>59</a:t>
            </a:fld>
            <a:endParaRPr lang="ru-RU"/>
          </a:p>
        </p:txBody>
      </p:sp>
    </p:spTree>
    <p:extLst>
      <p:ext uri="{BB962C8B-B14F-4D97-AF65-F5344CB8AC3E}">
        <p14:creationId xmlns:p14="http://schemas.microsoft.com/office/powerpoint/2010/main" val="21887767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E96FE9FB-D96C-4F28-A695-9677BB0755D6}" type="slidenum">
              <a:rPr lang="ru-RU" smtClean="0"/>
              <a:pPr/>
              <a:t>69</a:t>
            </a:fld>
            <a:endParaRPr lang="ru-RU"/>
          </a:p>
        </p:txBody>
      </p:sp>
    </p:spTree>
    <p:extLst>
      <p:ext uri="{BB962C8B-B14F-4D97-AF65-F5344CB8AC3E}">
        <p14:creationId xmlns:p14="http://schemas.microsoft.com/office/powerpoint/2010/main" val="11232647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11" name="Rectangle 10"/>
          <p:cNvSpPr/>
          <p:nvPr/>
        </p:nvSpPr>
        <p:spPr>
          <a:xfrm>
            <a:off x="0" y="3866920"/>
            <a:ext cx="9144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0" y="0"/>
            <a:ext cx="9144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473795" y="5052545"/>
            <a:ext cx="5637010"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pPr/>
              <a:t>17.10.2023</a:t>
            </a:fld>
            <a:endParaRPr lang="ru-RU" dirty="0"/>
          </a:p>
        </p:txBody>
      </p:sp>
      <p:sp>
        <p:nvSpPr>
          <p:cNvPr id="5" name="Footer Placeholder 4"/>
          <p:cNvSpPr>
            <a:spLocks noGrp="1"/>
          </p:cNvSpPr>
          <p:nvPr>
            <p:ph type="ftr" sz="quarter" idx="11"/>
          </p:nvPr>
        </p:nvSpPr>
        <p:spPr/>
        <p:txBody>
          <a:bodyPr/>
          <a:lstStyle/>
          <a:p>
            <a:endParaRPr lang="ru-RU" dirty="0"/>
          </a:p>
        </p:txBody>
      </p:sp>
      <p:sp>
        <p:nvSpPr>
          <p:cNvPr id="6" name="Slide Number Placeholder 5"/>
          <p:cNvSpPr>
            <a:spLocks noGrp="1"/>
          </p:cNvSpPr>
          <p:nvPr>
            <p:ph type="sldNum" sz="quarter" idx="12"/>
          </p:nvPr>
        </p:nvSpPr>
        <p:spPr/>
        <p:txBody>
          <a:bodyPr/>
          <a:lstStyle/>
          <a:p>
            <a:fld id="{B19B0651-EE4F-4900-A07F-96A6BFA9D0F0}" type="slidenum">
              <a:rPr lang="ru-RU" smtClean="0"/>
              <a:pPr/>
              <a:t>‹#›</a:t>
            </a:fld>
            <a:endParaRPr lang="ru-RU" dirty="0"/>
          </a:p>
        </p:txBody>
      </p:sp>
      <p:sp>
        <p:nvSpPr>
          <p:cNvPr id="2" name="Title 1"/>
          <p:cNvSpPr>
            <a:spLocks noGrp="1"/>
          </p:cNvSpPr>
          <p:nvPr>
            <p:ph type="ctrTitle"/>
          </p:nvPr>
        </p:nvSpPr>
        <p:spPr>
          <a:xfrm>
            <a:off x="817581" y="3132290"/>
            <a:ext cx="7175351" cy="1793167"/>
          </a:xfrm>
          <a:effectLst/>
        </p:spPr>
        <p:txBody>
          <a:bodyPr>
            <a:noAutofit/>
          </a:bodyPr>
          <a:lstStyle>
            <a:lvl1pPr marL="640080" indent="-457200" algn="l">
              <a:defRPr sz="5400"/>
            </a:lvl1pPr>
          </a:lstStyle>
          <a:p>
            <a:r>
              <a:rPr lang="ru-RU"/>
              <a:t>Образец заголовка</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4C71EC6-210F-42DE-9C53-41977AD35B3D}" type="datetimeFigureOut">
              <a:rPr lang="ru-RU" smtClean="0"/>
              <a:pPr/>
              <a:t>17.10.2023</a:t>
            </a:fld>
            <a:endParaRPr lang="ru-RU" dirty="0"/>
          </a:p>
        </p:txBody>
      </p:sp>
      <p:sp>
        <p:nvSpPr>
          <p:cNvPr id="5" name="Footer Placeholder 4"/>
          <p:cNvSpPr>
            <a:spLocks noGrp="1"/>
          </p:cNvSpPr>
          <p:nvPr>
            <p:ph type="ftr" sz="quarter" idx="11"/>
          </p:nvPr>
        </p:nvSpPr>
        <p:spPr/>
        <p:txBody>
          <a:bodyPr/>
          <a:lstStyle/>
          <a:p>
            <a:endParaRPr lang="ru-RU" dirty="0"/>
          </a:p>
        </p:txBody>
      </p:sp>
      <p:sp>
        <p:nvSpPr>
          <p:cNvPr id="6" name="Slide Number Placeholder 5"/>
          <p:cNvSpPr>
            <a:spLocks noGrp="1"/>
          </p:cNvSpPr>
          <p:nvPr>
            <p:ph type="sldNum" sz="quarter" idx="12"/>
          </p:nvPr>
        </p:nvSpPr>
        <p:spPr/>
        <p:txBody>
          <a:bodyPr/>
          <a:lstStyle/>
          <a:p>
            <a:fld id="{B19B0651-EE4F-4900-A07F-96A6BFA9D0F0}" type="slidenum">
              <a:rPr lang="ru-RU" smtClean="0"/>
              <a:pPr/>
              <a:t>‹#›</a:t>
            </a:fld>
            <a:endParaRPr lang="ru-RU" dirty="0"/>
          </a:p>
        </p:txBody>
      </p:sp>
      <p:sp>
        <p:nvSpPr>
          <p:cNvPr id="8" name="Title 7"/>
          <p:cNvSpPr>
            <a:spLocks noGrp="1"/>
          </p:cNvSpPr>
          <p:nvPr>
            <p:ph type="title"/>
          </p:nvPr>
        </p:nvSpPr>
        <p:spPr/>
        <p:txBody>
          <a:bodyPr/>
          <a:lstStyle/>
          <a:p>
            <a:r>
              <a:rPr lang="ru-RU"/>
              <a:t>Образец заголовка</a:t>
            </a:r>
            <a:endParaRPr lang="en-US"/>
          </a:p>
        </p:txBody>
      </p:sp>
      <p:sp>
        <p:nvSpPr>
          <p:cNvPr id="10" name="Content Placeholder 9"/>
          <p:cNvSpPr>
            <a:spLocks noGrp="1"/>
          </p:cNvSpPr>
          <p:nvPr>
            <p:ph sz="quarter" idx="13"/>
          </p:nvPr>
        </p:nvSpPr>
        <p:spPr>
          <a:xfrm>
            <a:off x="1143000" y="731520"/>
            <a:ext cx="6400800" cy="347472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7" name="Rectangle 6"/>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033195" y="2172648"/>
            <a:ext cx="5966666" cy="2423346"/>
          </a:xfrm>
          <a:effectLst/>
        </p:spPr>
        <p:txBody>
          <a:bodyPr anchor="b"/>
          <a:lstStyle>
            <a:lvl1pPr algn="r">
              <a:defRPr sz="4600" b="1" cap="none" baseline="0"/>
            </a:lvl1pPr>
          </a:lstStyle>
          <a:p>
            <a:r>
              <a:rPr lang="ru-RU"/>
              <a:t>Образец заголовка</a:t>
            </a:r>
            <a:endParaRPr lang="en-US" dirty="0"/>
          </a:p>
        </p:txBody>
      </p:sp>
      <p:sp>
        <p:nvSpPr>
          <p:cNvPr id="3" name="Text Placeholder 2"/>
          <p:cNvSpPr>
            <a:spLocks noGrp="1"/>
          </p:cNvSpPr>
          <p:nvPr>
            <p:ph type="body" idx="1"/>
          </p:nvPr>
        </p:nvSpPr>
        <p:spPr>
          <a:xfrm>
            <a:off x="2022438" y="4607511"/>
            <a:ext cx="5970494" cy="835460"/>
          </a:xfrm>
        </p:spPr>
        <p:txBody>
          <a:bodyPr anchor="t"/>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B4C71EC6-210F-42DE-9C53-41977AD35B3D}" type="datetimeFigureOut">
              <a:rPr lang="ru-RU" smtClean="0"/>
              <a:pPr/>
              <a:t>17.10.2023</a:t>
            </a:fld>
            <a:endParaRPr lang="ru-RU" dirty="0"/>
          </a:p>
        </p:txBody>
      </p:sp>
      <p:sp>
        <p:nvSpPr>
          <p:cNvPr id="5" name="Footer Placeholder 4"/>
          <p:cNvSpPr>
            <a:spLocks noGrp="1"/>
          </p:cNvSpPr>
          <p:nvPr>
            <p:ph type="ftr" sz="quarter" idx="11"/>
          </p:nvPr>
        </p:nvSpPr>
        <p:spPr/>
        <p:txBody>
          <a:bodyPr/>
          <a:lstStyle/>
          <a:p>
            <a:endParaRPr lang="ru-RU" dirty="0"/>
          </a:p>
        </p:txBody>
      </p:sp>
      <p:sp>
        <p:nvSpPr>
          <p:cNvPr id="6" name="Slide Number Placeholder 5"/>
          <p:cNvSpPr>
            <a:spLocks noGrp="1"/>
          </p:cNvSpPr>
          <p:nvPr>
            <p:ph type="sldNum" sz="quarter" idx="12"/>
          </p:nvPr>
        </p:nvSpPr>
        <p:spPr/>
        <p:txBody>
          <a:bodyPr/>
          <a:lstStyle/>
          <a:p>
            <a:fld id="{B19B0651-EE4F-4900-A07F-96A6BFA9D0F0}" type="slidenum">
              <a:rPr lang="ru-RU" smtClean="0"/>
              <a:pPr/>
              <a:t>‹#›</a:t>
            </a:fld>
            <a:endParaRPr lang="ru-RU"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B4C71EC6-210F-42DE-9C53-41977AD35B3D}" type="datetimeFigureOut">
              <a:rPr lang="ru-RU" smtClean="0"/>
              <a:pPr/>
              <a:t>17.10.2023</a:t>
            </a:fld>
            <a:endParaRPr lang="ru-RU" dirty="0"/>
          </a:p>
        </p:txBody>
      </p:sp>
      <p:sp>
        <p:nvSpPr>
          <p:cNvPr id="6" name="Footer Placeholder 5"/>
          <p:cNvSpPr>
            <a:spLocks noGrp="1"/>
          </p:cNvSpPr>
          <p:nvPr>
            <p:ph type="ftr" sz="quarter" idx="11"/>
          </p:nvPr>
        </p:nvSpPr>
        <p:spPr/>
        <p:txBody>
          <a:bodyPr/>
          <a:lstStyle/>
          <a:p>
            <a:endParaRPr lang="ru-RU" dirty="0"/>
          </a:p>
        </p:txBody>
      </p:sp>
      <p:sp>
        <p:nvSpPr>
          <p:cNvPr id="7" name="Slide Number Placeholder 6"/>
          <p:cNvSpPr>
            <a:spLocks noGrp="1"/>
          </p:cNvSpPr>
          <p:nvPr>
            <p:ph type="sldNum" sz="quarter" idx="12"/>
          </p:nvPr>
        </p:nvSpPr>
        <p:spPr/>
        <p:txBody>
          <a:bodyPr/>
          <a:lstStyle/>
          <a:p>
            <a:fld id="{B19B0651-EE4F-4900-A07F-96A6BFA9D0F0}" type="slidenum">
              <a:rPr lang="ru-RU" smtClean="0"/>
              <a:pPr/>
              <a:t>‹#›</a:t>
            </a:fld>
            <a:endParaRPr lang="ru-RU" dirty="0"/>
          </a:p>
        </p:txBody>
      </p:sp>
      <p:sp>
        <p:nvSpPr>
          <p:cNvPr id="8" name="Title 7"/>
          <p:cNvSpPr>
            <a:spLocks noGrp="1"/>
          </p:cNvSpPr>
          <p:nvPr>
            <p:ph type="title"/>
          </p:nvPr>
        </p:nvSpPr>
        <p:spPr/>
        <p:txBody>
          <a:bodyPr/>
          <a:lstStyle/>
          <a:p>
            <a:r>
              <a:rPr lang="ru-RU"/>
              <a:t>Образец заголовка</a:t>
            </a:r>
            <a:endParaRPr lang="en-US"/>
          </a:p>
        </p:txBody>
      </p:sp>
      <p:sp>
        <p:nvSpPr>
          <p:cNvPr id="9" name="Content Placeholder 8"/>
          <p:cNvSpPr>
            <a:spLocks noGrp="1"/>
          </p:cNvSpPr>
          <p:nvPr>
            <p:ph sz="quarter" idx="13"/>
          </p:nvPr>
        </p:nvSpPr>
        <p:spPr>
          <a:xfrm>
            <a:off x="1142999" y="731519"/>
            <a:ext cx="3346704" cy="347472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11" name="Content Placeholder 10"/>
          <p:cNvSpPr>
            <a:spLocks noGrp="1"/>
          </p:cNvSpPr>
          <p:nvPr>
            <p:ph sz="quarter" idx="14"/>
          </p:nvPr>
        </p:nvSpPr>
        <p:spPr>
          <a:xfrm>
            <a:off x="4645152" y="731520"/>
            <a:ext cx="3346704" cy="347472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43000"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1156447" y="1400327"/>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4647302"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ctr" defTabSz="914400" rtl="0" eaLnBrk="1" latinLnBrk="0" hangingPunct="1">
              <a:spcBef>
                <a:spcPct val="20000"/>
              </a:spcBef>
              <a:spcAft>
                <a:spcPts val="300"/>
              </a:spcAft>
              <a:buClr>
                <a:schemeClr val="accent6">
                  <a:lumMod val="75000"/>
                </a:schemeClr>
              </a:buClr>
              <a:buSzPct val="130000"/>
              <a:buFont typeface="Georgia" pitchFamily="18" charset="0"/>
              <a:buNone/>
            </a:pPr>
            <a:r>
              <a:rPr lang="ru-RU"/>
              <a:t>Образец текста</a:t>
            </a:r>
          </a:p>
        </p:txBody>
      </p:sp>
      <p:sp>
        <p:nvSpPr>
          <p:cNvPr id="6" name="Content Placeholder 5"/>
          <p:cNvSpPr>
            <a:spLocks noGrp="1"/>
          </p:cNvSpPr>
          <p:nvPr>
            <p:ph sz="quarter" idx="4"/>
          </p:nvPr>
        </p:nvSpPr>
        <p:spPr>
          <a:xfrm>
            <a:off x="4645025" y="1399032"/>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B4C71EC6-210F-42DE-9C53-41977AD35B3D}" type="datetimeFigureOut">
              <a:rPr lang="ru-RU" smtClean="0"/>
              <a:pPr/>
              <a:t>17.10.2023</a:t>
            </a:fld>
            <a:endParaRPr lang="ru-RU" dirty="0"/>
          </a:p>
        </p:txBody>
      </p:sp>
      <p:sp>
        <p:nvSpPr>
          <p:cNvPr id="8" name="Footer Placeholder 7"/>
          <p:cNvSpPr>
            <a:spLocks noGrp="1"/>
          </p:cNvSpPr>
          <p:nvPr>
            <p:ph type="ftr" sz="quarter" idx="11"/>
          </p:nvPr>
        </p:nvSpPr>
        <p:spPr/>
        <p:txBody>
          <a:bodyPr/>
          <a:lstStyle/>
          <a:p>
            <a:endParaRPr lang="ru-RU" dirty="0"/>
          </a:p>
        </p:txBody>
      </p:sp>
      <p:sp>
        <p:nvSpPr>
          <p:cNvPr id="9" name="Slide Number Placeholder 8"/>
          <p:cNvSpPr>
            <a:spLocks noGrp="1"/>
          </p:cNvSpPr>
          <p:nvPr>
            <p:ph type="sldNum" sz="quarter" idx="12"/>
          </p:nvPr>
        </p:nvSpPr>
        <p:spPr/>
        <p:txBody>
          <a:bodyPr/>
          <a:lstStyle/>
          <a:p>
            <a:fld id="{B19B0651-EE4F-4900-A07F-96A6BFA9D0F0}" type="slidenum">
              <a:rPr lang="ru-RU" smtClean="0"/>
              <a:pPr/>
              <a:t>‹#›</a:t>
            </a:fld>
            <a:endParaRPr lang="ru-RU" dirty="0"/>
          </a:p>
        </p:txBody>
      </p:sp>
      <p:sp>
        <p:nvSpPr>
          <p:cNvPr id="10" name="Title 9"/>
          <p:cNvSpPr>
            <a:spLocks noGrp="1"/>
          </p:cNvSpPr>
          <p:nvPr>
            <p:ph type="title"/>
          </p:nvPr>
        </p:nvSpPr>
        <p:spPr/>
        <p:txBody>
          <a:bodyPr/>
          <a:lstStyle/>
          <a:p>
            <a:r>
              <a:rPr lang="ru-RU"/>
              <a:t>Образец заголовка</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B4C71EC6-210F-42DE-9C53-41977AD35B3D}" type="datetimeFigureOut">
              <a:rPr lang="ru-RU" smtClean="0"/>
              <a:pPr/>
              <a:t>17.10.2023</a:t>
            </a:fld>
            <a:endParaRPr lang="ru-RU" dirty="0"/>
          </a:p>
        </p:txBody>
      </p:sp>
      <p:sp>
        <p:nvSpPr>
          <p:cNvPr id="4" name="Footer Placeholder 3"/>
          <p:cNvSpPr>
            <a:spLocks noGrp="1"/>
          </p:cNvSpPr>
          <p:nvPr>
            <p:ph type="ftr" sz="quarter" idx="11"/>
          </p:nvPr>
        </p:nvSpPr>
        <p:spPr/>
        <p:txBody>
          <a:bodyPr/>
          <a:lstStyle/>
          <a:p>
            <a:endParaRPr lang="ru-RU" dirty="0"/>
          </a:p>
        </p:txBody>
      </p:sp>
      <p:sp>
        <p:nvSpPr>
          <p:cNvPr id="5" name="Slide Number Placeholder 4"/>
          <p:cNvSpPr>
            <a:spLocks noGrp="1"/>
          </p:cNvSpPr>
          <p:nvPr>
            <p:ph type="sldNum" sz="quarter" idx="12"/>
          </p:nvPr>
        </p:nvSpPr>
        <p:spPr/>
        <p:txBody>
          <a:bodyPr/>
          <a:lstStyle/>
          <a:p>
            <a:fld id="{B19B0651-EE4F-4900-A07F-96A6BFA9D0F0}" type="slidenum">
              <a:rPr lang="ru-RU" smtClean="0"/>
              <a:pPr/>
              <a:t>‹#›</a:t>
            </a:fld>
            <a:endParaRPr lang="ru-RU"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C71EC6-210F-42DE-9C53-41977AD35B3D}" type="datetimeFigureOut">
              <a:rPr lang="ru-RU" smtClean="0"/>
              <a:pPr/>
              <a:t>17.10.2023</a:t>
            </a:fld>
            <a:endParaRPr lang="ru-RU" dirty="0"/>
          </a:p>
        </p:txBody>
      </p:sp>
      <p:sp>
        <p:nvSpPr>
          <p:cNvPr id="3" name="Footer Placeholder 2"/>
          <p:cNvSpPr>
            <a:spLocks noGrp="1"/>
          </p:cNvSpPr>
          <p:nvPr>
            <p:ph type="ftr" sz="quarter" idx="11"/>
          </p:nvPr>
        </p:nvSpPr>
        <p:spPr/>
        <p:txBody>
          <a:bodyPr/>
          <a:lstStyle/>
          <a:p>
            <a:endParaRPr lang="ru-RU" dirty="0"/>
          </a:p>
        </p:txBody>
      </p:sp>
      <p:sp>
        <p:nvSpPr>
          <p:cNvPr id="4" name="Slide Number Placeholder 3"/>
          <p:cNvSpPr>
            <a:spLocks noGrp="1"/>
          </p:cNvSpPr>
          <p:nvPr>
            <p:ph type="sldNum" sz="quarter" idx="12"/>
          </p:nvPr>
        </p:nvSpPr>
        <p:spPr/>
        <p:txBody>
          <a:bodyPr/>
          <a:lstStyle/>
          <a:p>
            <a:fld id="{B19B0651-EE4F-4900-A07F-96A6BFA9D0F0}" type="slidenum">
              <a:rPr lang="ru-RU" smtClean="0"/>
              <a:pPr/>
              <a:t>‹#›</a:t>
            </a:fld>
            <a:endParaRPr lang="ru-RU"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095" y="2209800"/>
            <a:ext cx="3636085" cy="1258493"/>
          </a:xfrm>
          <a:effectLst/>
        </p:spPr>
        <p:txBody>
          <a:bodyPr anchor="b">
            <a:noAutofit/>
          </a:bodyPr>
          <a:lstStyle>
            <a:lvl1pPr marL="228600" indent="-228600" algn="l">
              <a:defRPr sz="2800" b="1">
                <a:effectLst/>
              </a:defRPr>
            </a:lvl1pPr>
          </a:lstStyle>
          <a:p>
            <a:r>
              <a:rPr lang="ru-RU"/>
              <a:t>Образец заголовка</a:t>
            </a:r>
            <a:endParaRPr lang="en-US" dirty="0"/>
          </a:p>
        </p:txBody>
      </p:sp>
      <p:sp>
        <p:nvSpPr>
          <p:cNvPr id="3" name="Content Placeholder 2"/>
          <p:cNvSpPr>
            <a:spLocks noGrp="1"/>
          </p:cNvSpPr>
          <p:nvPr>
            <p:ph idx="1"/>
          </p:nvPr>
        </p:nvSpPr>
        <p:spPr>
          <a:xfrm>
            <a:off x="4593515" y="731520"/>
            <a:ext cx="4017085"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1075765" y="3497802"/>
            <a:ext cx="3388660"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pPr/>
              <a:t>17.10.2023</a:t>
            </a:fld>
            <a:endParaRPr lang="ru-RU" dirty="0"/>
          </a:p>
        </p:txBody>
      </p:sp>
      <p:sp>
        <p:nvSpPr>
          <p:cNvPr id="6" name="Footer Placeholder 5"/>
          <p:cNvSpPr>
            <a:spLocks noGrp="1"/>
          </p:cNvSpPr>
          <p:nvPr>
            <p:ph type="ftr" sz="quarter" idx="11"/>
          </p:nvPr>
        </p:nvSpPr>
        <p:spPr/>
        <p:txBody>
          <a:bodyPr/>
          <a:lstStyle/>
          <a:p>
            <a:endParaRPr lang="ru-RU" dirty="0"/>
          </a:p>
        </p:txBody>
      </p:sp>
      <p:sp>
        <p:nvSpPr>
          <p:cNvPr id="7" name="Slide Number Placeholder 6"/>
          <p:cNvSpPr>
            <a:spLocks noGrp="1"/>
          </p:cNvSpPr>
          <p:nvPr>
            <p:ph type="sldNum" sz="quarter" idx="12"/>
          </p:nvPr>
        </p:nvSpPr>
        <p:spPr/>
        <p:txBody>
          <a:bodyPr/>
          <a:lstStyle/>
          <a:p>
            <a:fld id="{B19B0651-EE4F-4900-A07F-96A6BFA9D0F0}" type="slidenum">
              <a:rPr lang="ru-RU" smtClean="0"/>
              <a:pPr/>
              <a:t>‹#›</a:t>
            </a:fld>
            <a:endParaRPr lang="ru-RU"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8" name="Rectangle 7"/>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4475175" y="1143000"/>
            <a:ext cx="41148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877887" y="1010486"/>
            <a:ext cx="3694114" cy="2163020"/>
          </a:xfrm>
        </p:spPr>
        <p:txBody>
          <a:bodyPr anchor="b"/>
          <a:lstStyle>
            <a:lvl1pPr marL="182880" indent="-182880">
              <a:buFont typeface="Georgia"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pPr/>
              <a:t>17.10.2023</a:t>
            </a:fld>
            <a:endParaRPr lang="ru-RU" dirty="0"/>
          </a:p>
        </p:txBody>
      </p:sp>
      <p:sp>
        <p:nvSpPr>
          <p:cNvPr id="6" name="Footer Placeholder 5"/>
          <p:cNvSpPr>
            <a:spLocks noGrp="1"/>
          </p:cNvSpPr>
          <p:nvPr>
            <p:ph type="ftr" sz="quarter" idx="11"/>
          </p:nvPr>
        </p:nvSpPr>
        <p:spPr/>
        <p:txBody>
          <a:bodyPr/>
          <a:lstStyle/>
          <a:p>
            <a:endParaRPr lang="ru-RU" dirty="0"/>
          </a:p>
        </p:txBody>
      </p:sp>
      <p:sp>
        <p:nvSpPr>
          <p:cNvPr id="7" name="Slide Number Placeholder 6"/>
          <p:cNvSpPr>
            <a:spLocks noGrp="1"/>
          </p:cNvSpPr>
          <p:nvPr>
            <p:ph type="sldNum" sz="quarter" idx="12"/>
          </p:nvPr>
        </p:nvSpPr>
        <p:spPr/>
        <p:txBody>
          <a:bodyPr/>
          <a:lstStyle/>
          <a:p>
            <a:fld id="{B19B0651-EE4F-4900-A07F-96A6BFA9D0F0}" type="slidenum">
              <a:rPr lang="ru-RU" smtClean="0"/>
              <a:pPr/>
              <a:t>‹#›</a:t>
            </a:fld>
            <a:endParaRPr lang="ru-RU" dirty="0"/>
          </a:p>
        </p:txBody>
      </p:sp>
      <p:sp>
        <p:nvSpPr>
          <p:cNvPr id="2" name="Title 1"/>
          <p:cNvSpPr>
            <a:spLocks noGrp="1"/>
          </p:cNvSpPr>
          <p:nvPr>
            <p:ph type="title"/>
          </p:nvPr>
        </p:nvSpPr>
        <p:spPr>
          <a:xfrm>
            <a:off x="727268" y="4464421"/>
            <a:ext cx="6383538" cy="1143000"/>
          </a:xfrm>
        </p:spPr>
        <p:txBody>
          <a:bodyPr anchor="b">
            <a:noAutofit/>
          </a:bodyPr>
          <a:lstStyle>
            <a:lvl1pPr algn="l">
              <a:defRPr sz="4600" b="1"/>
            </a:lvl1pPr>
          </a:lstStyle>
          <a:p>
            <a:r>
              <a:rPr lang="ru-RU"/>
              <a:t>Образец заголовка</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a:p>
        </p:txBody>
      </p:sp>
      <p:sp>
        <p:nvSpPr>
          <p:cNvPr id="3" name="Vertical Text Placeholder 2"/>
          <p:cNvSpPr>
            <a:spLocks noGrp="1"/>
          </p:cNvSpPr>
          <p:nvPr>
            <p:ph type="body" orient="vert" idx="1"/>
          </p:nvPr>
        </p:nvSpPr>
        <p:spPr>
          <a:xfrm>
            <a:off x="1905000" y="731519"/>
            <a:ext cx="6400800" cy="3474720"/>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pPr/>
              <a:t>17.10.2023</a:t>
            </a:fld>
            <a:endParaRPr lang="ru-RU" dirty="0"/>
          </a:p>
        </p:txBody>
      </p:sp>
      <p:sp>
        <p:nvSpPr>
          <p:cNvPr id="5" name="Footer Placeholder 4"/>
          <p:cNvSpPr>
            <a:spLocks noGrp="1"/>
          </p:cNvSpPr>
          <p:nvPr>
            <p:ph type="ftr" sz="quarter" idx="11"/>
          </p:nvPr>
        </p:nvSpPr>
        <p:spPr/>
        <p:txBody>
          <a:bodyPr/>
          <a:lstStyle/>
          <a:p>
            <a:endParaRPr lang="ru-RU" dirty="0"/>
          </a:p>
        </p:txBody>
      </p:sp>
      <p:sp>
        <p:nvSpPr>
          <p:cNvPr id="6" name="Slide Number Placeholder 5"/>
          <p:cNvSpPr>
            <a:spLocks noGrp="1"/>
          </p:cNvSpPr>
          <p:nvPr>
            <p:ph type="sldNum" sz="quarter" idx="12"/>
          </p:nvPr>
        </p:nvSpPr>
        <p:spPr/>
        <p:txBody>
          <a:bodyPr/>
          <a:lstStyle/>
          <a:p>
            <a:fld id="{B19B0651-EE4F-4900-A07F-96A6BFA9D0F0}" type="slidenum">
              <a:rPr lang="ru-RU" smtClean="0"/>
              <a:pPr/>
              <a:t>‹#›</a:t>
            </a:fld>
            <a:endParaRPr lang="ru-RU"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53758" y="376517"/>
            <a:ext cx="2057400" cy="5238339"/>
          </a:xfrm>
          <a:effectLst/>
        </p:spPr>
        <p:txBody>
          <a:bodyPr vert="eaVert"/>
          <a:lstStyle>
            <a:lvl1pPr algn="l">
              <a:defRPr/>
            </a:lvl1pPr>
          </a:lstStyle>
          <a:p>
            <a:r>
              <a:rPr lang="ru-RU"/>
              <a:t>Образец заголовка</a:t>
            </a:r>
            <a:endParaRPr lang="en-US"/>
          </a:p>
        </p:txBody>
      </p:sp>
      <p:sp>
        <p:nvSpPr>
          <p:cNvPr id="3" name="Vertical Text Placeholder 2"/>
          <p:cNvSpPr>
            <a:spLocks noGrp="1"/>
          </p:cNvSpPr>
          <p:nvPr>
            <p:ph type="body" orient="vert" idx="1"/>
          </p:nvPr>
        </p:nvSpPr>
        <p:spPr>
          <a:xfrm>
            <a:off x="3324113" y="731519"/>
            <a:ext cx="4829287" cy="4894729"/>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pPr/>
              <a:t>17.10.2023</a:t>
            </a:fld>
            <a:endParaRPr lang="ru-RU" dirty="0"/>
          </a:p>
        </p:txBody>
      </p:sp>
      <p:sp>
        <p:nvSpPr>
          <p:cNvPr id="5" name="Footer Placeholder 4"/>
          <p:cNvSpPr>
            <a:spLocks noGrp="1"/>
          </p:cNvSpPr>
          <p:nvPr>
            <p:ph type="ftr" sz="quarter" idx="11"/>
          </p:nvPr>
        </p:nvSpPr>
        <p:spPr/>
        <p:txBody>
          <a:bodyPr/>
          <a:lstStyle/>
          <a:p>
            <a:endParaRPr lang="ru-RU" dirty="0"/>
          </a:p>
        </p:txBody>
      </p:sp>
      <p:sp>
        <p:nvSpPr>
          <p:cNvPr id="6" name="Slide Number Placeholder 5"/>
          <p:cNvSpPr>
            <a:spLocks noGrp="1"/>
          </p:cNvSpPr>
          <p:nvPr>
            <p:ph type="sldNum" sz="quarter" idx="12"/>
          </p:nvPr>
        </p:nvSpPr>
        <p:spPr/>
        <p:txBody>
          <a:bodyPr/>
          <a:lstStyle/>
          <a:p>
            <a:fld id="{B19B0651-EE4F-4900-A07F-96A6BFA9D0F0}" type="slidenum">
              <a:rPr lang="ru-RU" smtClean="0"/>
              <a:pPr/>
              <a:t>‹#›</a:t>
            </a:fld>
            <a:endParaRPr lang="ru-RU"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5105400"/>
            <a:ext cx="9144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9144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3768304"/>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9144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793289" y="4372168"/>
            <a:ext cx="6512511" cy="1143000"/>
          </a:xfrm>
          <a:prstGeom prst="rect">
            <a:avLst/>
          </a:prstGeom>
          <a:effectLst/>
        </p:spPr>
        <p:txBody>
          <a:bodyPr vert="horz" lIns="91440" tIns="45720" rIns="91440" bIns="45720" rtlCol="0" anchor="t" anchorCtr="0">
            <a:noAutofit/>
          </a:bodyPr>
          <a:lstStyle/>
          <a:p>
            <a:r>
              <a:rPr lang="ru-RU"/>
              <a:t>Образец заголовка</a:t>
            </a:r>
            <a:endParaRPr lang="en-US" dirty="0"/>
          </a:p>
        </p:txBody>
      </p:sp>
      <p:sp>
        <p:nvSpPr>
          <p:cNvPr id="3" name="Text Placeholder 2"/>
          <p:cNvSpPr>
            <a:spLocks noGrp="1"/>
          </p:cNvSpPr>
          <p:nvPr>
            <p:ph type="body" idx="1"/>
          </p:nvPr>
        </p:nvSpPr>
        <p:spPr>
          <a:xfrm>
            <a:off x="1143000" y="732260"/>
            <a:ext cx="6400800" cy="3474720"/>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6172200" y="6172200"/>
            <a:ext cx="25146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fld id="{B4C71EC6-210F-42DE-9C53-41977AD35B3D}" type="datetimeFigureOut">
              <a:rPr lang="ru-RU" smtClean="0"/>
              <a:pPr/>
              <a:t>17.10.2023</a:t>
            </a:fld>
            <a:endParaRPr lang="ru-RU" dirty="0"/>
          </a:p>
        </p:txBody>
      </p:sp>
      <p:sp>
        <p:nvSpPr>
          <p:cNvPr id="5" name="Footer Placeholder 4"/>
          <p:cNvSpPr>
            <a:spLocks noGrp="1"/>
          </p:cNvSpPr>
          <p:nvPr>
            <p:ph type="ftr" sz="quarter" idx="3"/>
          </p:nvPr>
        </p:nvSpPr>
        <p:spPr>
          <a:xfrm>
            <a:off x="457199" y="6172200"/>
            <a:ext cx="3352801"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endParaRPr lang="ru-RU" dirty="0"/>
          </a:p>
        </p:txBody>
      </p:sp>
      <p:sp>
        <p:nvSpPr>
          <p:cNvPr id="6" name="Slide Number Placeholder 5"/>
          <p:cNvSpPr>
            <a:spLocks noGrp="1"/>
          </p:cNvSpPr>
          <p:nvPr>
            <p:ph type="sldNum" sz="quarter" idx="4"/>
          </p:nvPr>
        </p:nvSpPr>
        <p:spPr>
          <a:xfrm>
            <a:off x="3810000" y="6172200"/>
            <a:ext cx="18288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fld id="{B19B0651-EE4F-4900-A07F-96A6BFA9D0F0}" type="slidenum">
              <a:rPr lang="ru-RU" smtClean="0"/>
              <a:pPr/>
              <a:t>‹#›</a:t>
            </a:fld>
            <a:endParaRPr lang="ru-RU"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marL="320040" indent="-320040" algn="r" defTabSz="914400" rtl="0" eaLnBrk="1" latinLnBrk="0" hangingPunct="1">
        <a:spcBef>
          <a:spcPct val="0"/>
        </a:spcBef>
        <a:buClr>
          <a:schemeClr val="accent6">
            <a:lumMod val="75000"/>
          </a:schemeClr>
        </a:buClr>
        <a:buSzPct val="128000"/>
        <a:buFont typeface="Georgia"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600" kern="1200">
          <a:solidFill>
            <a:schemeClr val="tx1">
              <a:lumMod val="75000"/>
              <a:lumOff val="25000"/>
            </a:schemeClr>
          </a:solidFill>
          <a:latin typeface="+mn-lt"/>
          <a:ea typeface="+mn-ea"/>
          <a:cs typeface="+mn-cs"/>
        </a:defRPr>
      </a:lvl4pPr>
      <a:lvl5pPr marL="138988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5pPr>
      <a:lvl6pPr marL="166420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8pPr>
      <a:lvl9pPr marL="2587752"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ru.wikipedia.org/wiki/%D0%94%D1%80%D0%B5%D0%B2%D0%BD%D0%B5%D0%B3%D1%80%D0%B5%D1%87%D0%B5%D1%81%D0%BA%D0%B8%D0%B9_%D1%8F%D0%B7%D1%8B%D0%BA" TargetMode="External"/><Relationship Id="rId2" Type="http://schemas.openxmlformats.org/officeDocument/2006/relationships/hyperlink" Target="https://kartaslov.ru/%D0%B7%D0%BD%D0%B0%D1%87%D0%B5%D0%BD%D0%B8%D0%B5-%D1%81%D0%BB%D0%BE%D0%B2%D0%B0/%D1%82%D1%80%D0%B0%D0%BD%D1%81%D1%84%D0%BE%D1%80%D0%BC%D0%B0%D1%82%D0%BE%D1%80"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dic.academic.ru/dic.nsf/enc_philosophy/4064/s"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hyperlink" Target="https://ethnopsychology.academic.ru/43/%D0%B2%D0%B5%D1%80%D0%BE%D0%B2%D0%B0%D0%BD%D0%B8%D1%8F" TargetMode="External"/><Relationship Id="rId2" Type="http://schemas.openxmlformats.org/officeDocument/2006/relationships/hyperlink" Target="https://ru.wikipedia.org/wiki/%D0%92%D0%B5%D1%80%D0%B0" TargetMode="External"/><Relationship Id="rId1" Type="http://schemas.openxmlformats.org/officeDocument/2006/relationships/slideLayout" Target="../slideLayouts/slideLayout2.xml"/><Relationship Id="rId4" Type="http://schemas.openxmlformats.org/officeDocument/2006/relationships/hyperlink" Target="https://all_words.academic.ru/8314/%D0%B2%D0%B5%D1%80%D0%BE%D0%B2%D0%B0%D0%BD%D0%B8%D1%8F" TargetMode="External"/></Relationships>
</file>

<file path=ppt/slides/_rels/slide168.xml.rels><?xml version="1.0" encoding="UTF-8" standalone="yes"?>
<Relationships xmlns="http://schemas.openxmlformats.org/package/2006/relationships"><Relationship Id="rId2" Type="http://schemas.openxmlformats.org/officeDocument/2006/relationships/hyperlink" Target="https://ru.wikipedia.org/wiki/%D0%90%D0%BD%D0%B3%D0%BB%D0%B8%D0%B9%D1%81%D0%BA%D0%B8%D0%B9_%D1%8F%D0%B7%D1%8B%D0%BA" TargetMode="Externa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287016" y="476672"/>
            <a:ext cx="8856984" cy="4536504"/>
          </a:xfrm>
        </p:spPr>
        <p:txBody>
          <a:bodyPr>
            <a:normAutofit/>
          </a:bodyPr>
          <a:lstStyle/>
          <a:p>
            <a:pPr marL="0" indent="0" algn="ctr">
              <a:buNone/>
            </a:pPr>
            <a:endParaRPr lang="ru-RU" sz="6000" b="1" dirty="0">
              <a:solidFill>
                <a:schemeClr val="accent1"/>
              </a:solidFill>
            </a:endParaRPr>
          </a:p>
          <a:p>
            <a:pPr marL="0" indent="0" algn="ctr">
              <a:buNone/>
            </a:pPr>
            <a:r>
              <a:rPr lang="ru-RU" sz="2800" b="1" dirty="0">
                <a:solidFill>
                  <a:schemeClr val="accent1"/>
                </a:solidFill>
              </a:rPr>
              <a:t>Добро пожаловать </a:t>
            </a:r>
          </a:p>
          <a:p>
            <a:pPr marL="0" indent="0" algn="ctr">
              <a:buNone/>
            </a:pPr>
            <a:r>
              <a:rPr lang="ru-RU" sz="2800" b="1" dirty="0">
                <a:solidFill>
                  <a:schemeClr val="accent1"/>
                </a:solidFill>
              </a:rPr>
              <a:t>на </a:t>
            </a:r>
            <a:r>
              <a:rPr lang="ru-RU" sz="2800" b="1" dirty="0" smtClean="0">
                <a:solidFill>
                  <a:schemeClr val="accent1"/>
                </a:solidFill>
              </a:rPr>
              <a:t>7-й </a:t>
            </a:r>
            <a:r>
              <a:rPr lang="ru-RU" sz="2800" b="1" dirty="0">
                <a:solidFill>
                  <a:schemeClr val="accent1"/>
                </a:solidFill>
              </a:rPr>
              <a:t>модуль</a:t>
            </a:r>
            <a:r>
              <a:rPr lang="ru-RU" sz="2800" b="1" dirty="0">
                <a:solidFill>
                  <a:schemeClr val="accent1"/>
                </a:solidFill>
                <a:sym typeface="Wingdings" panose="05000000000000000000" pitchFamily="2" charset="2"/>
              </a:rPr>
              <a:t></a:t>
            </a:r>
          </a:p>
          <a:p>
            <a:pPr marL="45720" indent="0" algn="ctr">
              <a:buNone/>
            </a:pPr>
            <a:r>
              <a:rPr lang="ru-RU" sz="3600" b="1" dirty="0" smtClean="0">
                <a:solidFill>
                  <a:srgbClr val="FF0000"/>
                </a:solidFill>
              </a:rPr>
              <a:t>«</a:t>
            </a:r>
            <a:r>
              <a:rPr lang="ru-RU" sz="3600" b="1" dirty="0">
                <a:solidFill>
                  <a:srgbClr val="FF0000"/>
                </a:solidFill>
              </a:rPr>
              <a:t>Трансформационные подходы </a:t>
            </a:r>
            <a:endParaRPr lang="ru-RU" sz="3600" b="1" dirty="0" smtClean="0">
              <a:solidFill>
                <a:srgbClr val="FF0000"/>
              </a:solidFill>
            </a:endParaRPr>
          </a:p>
          <a:p>
            <a:pPr marL="45720" indent="0" algn="ctr">
              <a:buNone/>
            </a:pPr>
            <a:r>
              <a:rPr lang="ru-RU" sz="3600" b="1" dirty="0" smtClean="0">
                <a:solidFill>
                  <a:srgbClr val="FF0000"/>
                </a:solidFill>
              </a:rPr>
              <a:t>в </a:t>
            </a:r>
            <a:r>
              <a:rPr lang="ru-RU" sz="3600" b="1" dirty="0">
                <a:solidFill>
                  <a:srgbClr val="FF0000"/>
                </a:solidFill>
              </a:rPr>
              <a:t>консультировании и </a:t>
            </a:r>
            <a:r>
              <a:rPr lang="ru-RU" sz="3600" b="1" dirty="0" err="1">
                <a:solidFill>
                  <a:srgbClr val="FF0000"/>
                </a:solidFill>
              </a:rPr>
              <a:t>коучинге</a:t>
            </a:r>
            <a:r>
              <a:rPr lang="ru-RU" sz="3600" b="1" dirty="0">
                <a:solidFill>
                  <a:srgbClr val="FF0000"/>
                </a:solidFill>
              </a:rPr>
              <a:t>. </a:t>
            </a:r>
            <a:endParaRPr lang="ru-RU" sz="3600" b="1" dirty="0" smtClean="0">
              <a:solidFill>
                <a:srgbClr val="FF0000"/>
              </a:solidFill>
            </a:endParaRPr>
          </a:p>
          <a:p>
            <a:pPr marL="45720" indent="0" algn="ctr">
              <a:buNone/>
            </a:pPr>
            <a:r>
              <a:rPr lang="ru-RU" sz="3600" b="1" dirty="0" smtClean="0">
                <a:solidFill>
                  <a:srgbClr val="FF0000"/>
                </a:solidFill>
              </a:rPr>
              <a:t>Метафорические карты»</a:t>
            </a:r>
            <a:endParaRPr lang="ru-RU" sz="3600" b="1" dirty="0">
              <a:solidFill>
                <a:srgbClr val="FF0000"/>
              </a:solidFill>
            </a:endParaRPr>
          </a:p>
          <a:p>
            <a:pPr marL="0" indent="0" algn="ctr">
              <a:buNone/>
            </a:pPr>
            <a:endParaRPr lang="ru-RU" sz="3600" b="1" dirty="0">
              <a:solidFill>
                <a:schemeClr val="accent1"/>
              </a:solidFill>
            </a:endParaRPr>
          </a:p>
        </p:txBody>
      </p:sp>
    </p:spTree>
    <p:extLst>
      <p:ext uri="{BB962C8B-B14F-4D97-AF65-F5344CB8AC3E}">
        <p14:creationId xmlns:p14="http://schemas.microsoft.com/office/powerpoint/2010/main" val="770852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395536" y="188640"/>
            <a:ext cx="8460432" cy="6336704"/>
          </a:xfrm>
        </p:spPr>
        <p:txBody>
          <a:bodyPr>
            <a:normAutofit fontScale="92500" lnSpcReduction="20000"/>
          </a:bodyPr>
          <a:lstStyle/>
          <a:p>
            <a:pPr marL="45720" indent="0">
              <a:buNone/>
            </a:pPr>
            <a:endParaRPr lang="ru-RU" dirty="0"/>
          </a:p>
          <a:p>
            <a:pPr marL="45720" indent="0" algn="ctr">
              <a:buNone/>
            </a:pPr>
            <a:r>
              <a:rPr lang="ru-RU" b="1" dirty="0" smtClean="0">
                <a:solidFill>
                  <a:srgbClr val="FF0000"/>
                </a:solidFill>
              </a:rPr>
              <a:t>В программе:</a:t>
            </a:r>
            <a:endParaRPr lang="ru-RU" b="1" dirty="0">
              <a:solidFill>
                <a:srgbClr val="FF0000"/>
              </a:solidFill>
            </a:endParaRPr>
          </a:p>
          <a:p>
            <a:r>
              <a:rPr lang="ru-RU" dirty="0" smtClean="0"/>
              <a:t>Два </a:t>
            </a:r>
            <a:r>
              <a:rPr lang="ru-RU" dirty="0"/>
              <a:t>подхода к </a:t>
            </a:r>
            <a:r>
              <a:rPr lang="ru-RU" dirty="0" err="1"/>
              <a:t>транформации</a:t>
            </a:r>
            <a:r>
              <a:rPr lang="ru-RU" dirty="0"/>
              <a:t>: внутренний и внешний. «Иметь – делать – быть» или «Быть - делать - иметь»? </a:t>
            </a:r>
            <a:endParaRPr lang="ru-RU" dirty="0" smtClean="0"/>
          </a:p>
          <a:p>
            <a:r>
              <a:rPr lang="ru-RU" dirty="0" smtClean="0"/>
              <a:t>Работа </a:t>
            </a:r>
            <a:r>
              <a:rPr lang="ru-RU" dirty="0"/>
              <a:t>с убеждениями  и разрушительными установками. </a:t>
            </a:r>
            <a:endParaRPr lang="ru-RU" dirty="0" smtClean="0"/>
          </a:p>
          <a:p>
            <a:r>
              <a:rPr lang="ru-RU" dirty="0" err="1"/>
              <a:t>С</a:t>
            </a:r>
            <a:r>
              <a:rPr lang="ru-RU" dirty="0" err="1" smtClean="0"/>
              <a:t>амотрансформация</a:t>
            </a:r>
            <a:r>
              <a:rPr lang="ru-RU" dirty="0" smtClean="0"/>
              <a:t> </a:t>
            </a:r>
            <a:r>
              <a:rPr lang="ru-RU" dirty="0"/>
              <a:t>– методы изменения состояний. Подсознательные ассоциации и искаженное мышление – работа с ними. </a:t>
            </a:r>
            <a:endParaRPr lang="ru-RU" dirty="0" smtClean="0"/>
          </a:p>
          <a:p>
            <a:r>
              <a:rPr lang="ru-RU" dirty="0" smtClean="0"/>
              <a:t>Где </a:t>
            </a:r>
            <a:r>
              <a:rPr lang="ru-RU" dirty="0"/>
              <a:t>брать энергию для радости и эффективного существования. Работа с чувствами и контроль мыслей. Трансформационные методики. «Экран», «Мудрец», «План от Мечты», «Выбор» и др</a:t>
            </a:r>
            <a:r>
              <a:rPr lang="ru-RU" dirty="0" smtClean="0"/>
              <a:t>.</a:t>
            </a:r>
            <a:endParaRPr lang="ru-RU" dirty="0"/>
          </a:p>
          <a:p>
            <a:r>
              <a:rPr lang="ru-RU" dirty="0"/>
              <a:t>Возможности МАК при гендерном консультировании. </a:t>
            </a:r>
            <a:endParaRPr lang="ru-RU" dirty="0" smtClean="0"/>
          </a:p>
          <a:p>
            <a:r>
              <a:rPr lang="ru-RU" dirty="0" smtClean="0"/>
              <a:t>Типология </a:t>
            </a:r>
            <a:r>
              <a:rPr lang="ru-RU" dirty="0"/>
              <a:t>семейных отношений. </a:t>
            </a:r>
            <a:r>
              <a:rPr lang="ru-RU" dirty="0" smtClean="0"/>
              <a:t>Современное </a:t>
            </a:r>
            <a:r>
              <a:rPr lang="ru-RU" dirty="0"/>
              <a:t>распределение семейных ролей. </a:t>
            </a:r>
            <a:endParaRPr lang="ru-RU" dirty="0" smtClean="0"/>
          </a:p>
          <a:p>
            <a:endParaRPr lang="ru-RU" dirty="0"/>
          </a:p>
          <a:p>
            <a:r>
              <a:rPr lang="ru-RU" dirty="0" smtClean="0"/>
              <a:t>Семь </a:t>
            </a:r>
            <a:r>
              <a:rPr lang="ru-RU" dirty="0"/>
              <a:t>стадий отношений. Семейные ссоры и супружеские конфликты. </a:t>
            </a:r>
            <a:endParaRPr lang="ru-RU" dirty="0" smtClean="0"/>
          </a:p>
          <a:p>
            <a:r>
              <a:rPr lang="ru-RU" dirty="0" smtClean="0"/>
              <a:t>Возможности </a:t>
            </a:r>
            <a:r>
              <a:rPr lang="ru-RU" dirty="0"/>
              <a:t>МАК и техники. "Мои отношения"; "Замужем - не замужем"; "Я в моей семье"; "Выбор партнера»; "Анализ отношений"; "Почему я одинок (а");  "Где ты"; "Идеальный брак"; "Брак на ладони"</a:t>
            </a:r>
          </a:p>
        </p:txBody>
      </p:sp>
    </p:spTree>
    <p:extLst>
      <p:ext uri="{BB962C8B-B14F-4D97-AF65-F5344CB8AC3E}">
        <p14:creationId xmlns:p14="http://schemas.microsoft.com/office/powerpoint/2010/main" val="36995004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683568" y="476672"/>
            <a:ext cx="8136904" cy="5616624"/>
          </a:xfrm>
        </p:spPr>
        <p:txBody>
          <a:bodyPr>
            <a:normAutofit fontScale="85000" lnSpcReduction="20000"/>
          </a:bodyPr>
          <a:lstStyle/>
          <a:p>
            <a:pPr marL="45720" indent="0" algn="ctr">
              <a:buNone/>
            </a:pPr>
            <a:r>
              <a:rPr lang="ru-RU" sz="2800" dirty="0" err="1">
                <a:solidFill>
                  <a:srgbClr val="0070C0"/>
                </a:solidFill>
              </a:rPr>
              <a:t>Оргмоменты</a:t>
            </a:r>
            <a:r>
              <a:rPr lang="ru-RU" sz="2800" dirty="0">
                <a:solidFill>
                  <a:srgbClr val="0070C0"/>
                </a:solidFill>
              </a:rPr>
              <a:t>:</a:t>
            </a:r>
          </a:p>
          <a:p>
            <a:pPr marL="45720" indent="0">
              <a:buNone/>
            </a:pPr>
            <a:r>
              <a:rPr lang="ru-RU" dirty="0"/>
              <a:t>1) </a:t>
            </a:r>
            <a:r>
              <a:rPr lang="ru-RU" dirty="0" smtClean="0"/>
              <a:t>Сначала </a:t>
            </a:r>
            <a:r>
              <a:rPr lang="ru-RU" dirty="0"/>
              <a:t>у нас фундамент, НЕОБХОДИМАЯ с</a:t>
            </a:r>
            <a:r>
              <a:rPr lang="ru-RU" dirty="0">
                <a:solidFill>
                  <a:schemeClr val="tx1"/>
                </a:solidFill>
              </a:rPr>
              <a:t>жатая компактная теория как научная база, источник</a:t>
            </a:r>
          </a:p>
          <a:p>
            <a:pPr>
              <a:buFont typeface="Arial" panose="020B0604020202020204" pitchFamily="34" charset="0"/>
              <a:buChar char="•"/>
            </a:pPr>
            <a:r>
              <a:rPr lang="ru-RU" dirty="0"/>
              <a:t>что такое трансформационный </a:t>
            </a:r>
            <a:r>
              <a:rPr lang="ru-RU" dirty="0" err="1"/>
              <a:t>коучинг</a:t>
            </a:r>
            <a:r>
              <a:rPr lang="ru-RU" dirty="0"/>
              <a:t>, </a:t>
            </a:r>
          </a:p>
          <a:p>
            <a:pPr>
              <a:buFont typeface="Arial" panose="020B0604020202020204" pitchFamily="34" charset="0"/>
              <a:buChar char="•"/>
            </a:pPr>
            <a:r>
              <a:rPr lang="ru-RU" dirty="0"/>
              <a:t>когда он применяется, </a:t>
            </a:r>
          </a:p>
          <a:p>
            <a:pPr>
              <a:buFont typeface="Arial" panose="020B0604020202020204" pitchFamily="34" charset="0"/>
              <a:buChar char="•"/>
            </a:pPr>
            <a:r>
              <a:rPr lang="ru-RU" dirty="0"/>
              <a:t>общие подходы к работе </a:t>
            </a:r>
            <a:endParaRPr lang="ru-RU" dirty="0" smtClean="0"/>
          </a:p>
          <a:p>
            <a:pPr marL="45720" indent="0">
              <a:buNone/>
            </a:pPr>
            <a:r>
              <a:rPr lang="ru-RU" dirty="0" smtClean="0"/>
              <a:t>2) после 1-го перерыва </a:t>
            </a:r>
            <a:r>
              <a:rPr lang="ru-RU" dirty="0" err="1" smtClean="0"/>
              <a:t>мини-теория+практика</a:t>
            </a:r>
            <a:r>
              <a:rPr lang="ru-RU" dirty="0" smtClean="0"/>
              <a:t> по каждой теме</a:t>
            </a:r>
          </a:p>
          <a:p>
            <a:pPr marL="45720" indent="0">
              <a:buNone/>
            </a:pPr>
            <a:r>
              <a:rPr lang="ru-RU" dirty="0" smtClean="0"/>
              <a:t>______________________________________________</a:t>
            </a:r>
          </a:p>
          <a:p>
            <a:pPr marL="45720" indent="0">
              <a:buNone/>
            </a:pPr>
            <a:r>
              <a:rPr lang="ru-RU" dirty="0" smtClean="0"/>
              <a:t>3) Обучение с 10 до 19</a:t>
            </a:r>
          </a:p>
          <a:p>
            <a:pPr marL="45720" indent="0">
              <a:buNone/>
            </a:pPr>
            <a:r>
              <a:rPr lang="ru-RU" dirty="0" smtClean="0"/>
              <a:t>4) Обед (примерно в 13+) </a:t>
            </a:r>
            <a:r>
              <a:rPr lang="ru-RU" dirty="0" smtClean="0"/>
              <a:t>+ </a:t>
            </a:r>
            <a:r>
              <a:rPr lang="ru-RU" dirty="0" smtClean="0"/>
              <a:t>1 перерыв до обеда + 1-2 перерыва после обеда</a:t>
            </a:r>
          </a:p>
          <a:p>
            <a:pPr marL="45720" indent="0">
              <a:buNone/>
            </a:pPr>
            <a:r>
              <a:rPr lang="ru-RU" dirty="0" smtClean="0"/>
              <a:t>5) Слайдов много. Я не зачитываю/комментирую ВСЕ слайды, подробнее – посмотрите сами. Есть отдельная </a:t>
            </a:r>
            <a:r>
              <a:rPr lang="ru-RU" dirty="0" err="1" smtClean="0"/>
              <a:t>раздатка</a:t>
            </a:r>
            <a:r>
              <a:rPr lang="ru-RU" dirty="0" smtClean="0"/>
              <a:t>! Практически это ДВЕ </a:t>
            </a:r>
            <a:r>
              <a:rPr lang="ru-RU" dirty="0" err="1" smtClean="0"/>
              <a:t>раздатки</a:t>
            </a:r>
            <a:r>
              <a:rPr lang="ru-RU" dirty="0" smtClean="0">
                <a:sym typeface="Wingdings" panose="05000000000000000000" pitchFamily="2" charset="2"/>
              </a:rPr>
              <a:t></a:t>
            </a:r>
            <a:endParaRPr lang="ru-RU" dirty="0" smtClean="0"/>
          </a:p>
          <a:p>
            <a:pPr marL="45720" indent="0">
              <a:buNone/>
            </a:pPr>
            <a:r>
              <a:rPr lang="ru-RU" sz="2400" dirty="0" smtClean="0">
                <a:solidFill>
                  <a:srgbClr val="FF0000"/>
                </a:solidFill>
              </a:rPr>
              <a:t>6) Некоторые </a:t>
            </a:r>
            <a:r>
              <a:rPr lang="ru-RU" sz="2400" dirty="0" smtClean="0">
                <a:solidFill>
                  <a:srgbClr val="FF0000"/>
                </a:solidFill>
              </a:rPr>
              <a:t>темы/техники/слайды </a:t>
            </a:r>
            <a:r>
              <a:rPr lang="ru-RU" sz="2400" dirty="0" smtClean="0">
                <a:solidFill>
                  <a:srgbClr val="FF0000"/>
                </a:solidFill>
              </a:rPr>
              <a:t>– на самостоятельное изучение</a:t>
            </a:r>
            <a:r>
              <a:rPr lang="ru-RU" sz="2400" dirty="0" smtClean="0">
                <a:solidFill>
                  <a:srgbClr val="FF0000"/>
                </a:solidFill>
              </a:rPr>
              <a:t>. </a:t>
            </a:r>
            <a:r>
              <a:rPr lang="ru-RU" sz="2400" b="1" dirty="0" smtClean="0">
                <a:solidFill>
                  <a:srgbClr val="FF0000"/>
                </a:solidFill>
              </a:rPr>
              <a:t>На модуле мы разберем САМОЕ СЛОЖНОЕ!!!</a:t>
            </a:r>
          </a:p>
          <a:p>
            <a:pPr marL="45720" indent="0">
              <a:buNone/>
            </a:pPr>
            <a:r>
              <a:rPr lang="ru-RU" sz="2400" dirty="0" smtClean="0">
                <a:solidFill>
                  <a:srgbClr val="FF0000"/>
                </a:solidFill>
              </a:rPr>
              <a:t>То, что </a:t>
            </a:r>
            <a:r>
              <a:rPr lang="ru-RU" sz="2400" dirty="0" smtClean="0">
                <a:solidFill>
                  <a:srgbClr val="FF0000"/>
                </a:solidFill>
              </a:rPr>
              <a:t>попроще, вы сможете изучить и </a:t>
            </a:r>
            <a:r>
              <a:rPr lang="ru-RU" sz="2400" dirty="0" err="1" smtClean="0">
                <a:solidFill>
                  <a:srgbClr val="FF0000"/>
                </a:solidFill>
              </a:rPr>
              <a:t>отпрактиковать</a:t>
            </a:r>
            <a:r>
              <a:rPr lang="ru-RU" sz="2400" dirty="0" smtClean="0">
                <a:solidFill>
                  <a:srgbClr val="FF0000"/>
                </a:solidFill>
              </a:rPr>
              <a:t> самостоятельно</a:t>
            </a:r>
            <a:endParaRPr lang="ru-RU" sz="2400" dirty="0">
              <a:solidFill>
                <a:srgbClr val="FF0000"/>
              </a:solidFill>
            </a:endParaRPr>
          </a:p>
          <a:p>
            <a:pPr marL="45720" indent="0">
              <a:buNone/>
            </a:pPr>
            <a:endParaRPr lang="ru-RU" dirty="0"/>
          </a:p>
        </p:txBody>
      </p:sp>
    </p:spTree>
    <p:extLst>
      <p:ext uri="{BB962C8B-B14F-4D97-AF65-F5344CB8AC3E}">
        <p14:creationId xmlns:p14="http://schemas.microsoft.com/office/powerpoint/2010/main" val="22896273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395536" y="260648"/>
            <a:ext cx="8352928" cy="6336704"/>
          </a:xfrm>
        </p:spPr>
        <p:txBody>
          <a:bodyPr>
            <a:normAutofit fontScale="25000" lnSpcReduction="20000"/>
          </a:bodyPr>
          <a:lstStyle/>
          <a:p>
            <a:pPr marL="45720" indent="0" algn="ctr">
              <a:buNone/>
            </a:pPr>
            <a:r>
              <a:rPr lang="ru-RU" sz="6400" b="1" dirty="0">
                <a:solidFill>
                  <a:srgbClr val="0070C0"/>
                </a:solidFill>
              </a:rPr>
              <a:t>Ирина </a:t>
            </a:r>
            <a:r>
              <a:rPr lang="ru-RU" sz="6400" b="1" dirty="0" err="1">
                <a:solidFill>
                  <a:srgbClr val="0070C0"/>
                </a:solidFill>
              </a:rPr>
              <a:t>Тримаскина-Рамирес</a:t>
            </a:r>
            <a:endParaRPr lang="ru-RU" sz="6400" b="1" dirty="0">
              <a:solidFill>
                <a:srgbClr val="0070C0"/>
              </a:solidFill>
            </a:endParaRPr>
          </a:p>
          <a:p>
            <a:r>
              <a:rPr lang="ru-RU" sz="5600" b="1" dirty="0" err="1" smtClean="0">
                <a:solidFill>
                  <a:srgbClr val="FF0000"/>
                </a:solidFill>
              </a:rPr>
              <a:t>Коуч</a:t>
            </a:r>
            <a:r>
              <a:rPr lang="ru-RU" sz="5600" b="1" dirty="0" smtClean="0">
                <a:solidFill>
                  <a:srgbClr val="FF0000"/>
                </a:solidFill>
              </a:rPr>
              <a:t> </a:t>
            </a:r>
            <a:r>
              <a:rPr lang="ru-RU" sz="5600" b="1" dirty="0">
                <a:solidFill>
                  <a:srgbClr val="FF0000"/>
                </a:solidFill>
              </a:rPr>
              <a:t>по сопровождению </a:t>
            </a:r>
            <a:r>
              <a:rPr lang="ru-RU" sz="5600" b="1" dirty="0" smtClean="0">
                <a:solidFill>
                  <a:srgbClr val="FF0000"/>
                </a:solidFill>
              </a:rPr>
              <a:t>изменений</a:t>
            </a:r>
            <a:endParaRPr lang="ru-RU" sz="5600" b="1" dirty="0">
              <a:solidFill>
                <a:srgbClr val="FF0000"/>
              </a:solidFill>
            </a:endParaRPr>
          </a:p>
          <a:p>
            <a:r>
              <a:rPr lang="ru-RU" sz="5600" b="1" dirty="0" smtClean="0">
                <a:solidFill>
                  <a:srgbClr val="FF0000"/>
                </a:solidFill>
              </a:rPr>
              <a:t>Эксперт </a:t>
            </a:r>
            <a:r>
              <a:rPr lang="ru-RU" sz="5600" b="1" dirty="0">
                <a:solidFill>
                  <a:srgbClr val="FF0000"/>
                </a:solidFill>
              </a:rPr>
              <a:t>по профессиональной самореализации. </a:t>
            </a:r>
            <a:r>
              <a:rPr lang="ru-RU" sz="5600" b="1" dirty="0" err="1" smtClean="0">
                <a:solidFill>
                  <a:srgbClr val="FF0000"/>
                </a:solidFill>
              </a:rPr>
              <a:t>Профориентолог</a:t>
            </a:r>
            <a:endParaRPr lang="ru-RU" sz="5600" b="1" dirty="0" smtClean="0">
              <a:solidFill>
                <a:srgbClr val="FF0000"/>
              </a:solidFill>
            </a:endParaRPr>
          </a:p>
          <a:p>
            <a:r>
              <a:rPr lang="ru-RU" sz="5600" b="1" dirty="0" smtClean="0">
                <a:solidFill>
                  <a:srgbClr val="FF0000"/>
                </a:solidFill>
              </a:rPr>
              <a:t>Психолог</a:t>
            </a:r>
            <a:r>
              <a:rPr lang="ru-RU" sz="5600" b="1" dirty="0">
                <a:solidFill>
                  <a:srgbClr val="FF0000"/>
                </a:solidFill>
              </a:rPr>
              <a:t>. Системный семейный психотерапевт</a:t>
            </a:r>
            <a:endParaRPr lang="ru-RU" sz="5600" dirty="0">
              <a:solidFill>
                <a:srgbClr val="FF0000"/>
              </a:solidFill>
            </a:endParaRPr>
          </a:p>
          <a:p>
            <a:pPr marL="45720" indent="0">
              <a:buNone/>
            </a:pPr>
            <a:endParaRPr lang="ru-RU" sz="5600" dirty="0"/>
          </a:p>
          <a:p>
            <a:pPr marL="45720" indent="0">
              <a:buNone/>
            </a:pPr>
            <a:r>
              <a:rPr lang="ru-RU" sz="5600" b="1" dirty="0" smtClean="0"/>
              <a:t>Темы</a:t>
            </a:r>
            <a:r>
              <a:rPr lang="ru-RU" sz="5600" b="1" dirty="0"/>
              <a:t>, с которыми я работаю:</a:t>
            </a:r>
          </a:p>
          <a:p>
            <a:pPr marL="45720" indent="0">
              <a:buNone/>
            </a:pPr>
            <a:r>
              <a:rPr lang="ru-RU" sz="5600" dirty="0" smtClean="0"/>
              <a:t>1) Профессиональные </a:t>
            </a:r>
            <a:r>
              <a:rPr lang="ru-RU" sz="5600" dirty="0"/>
              <a:t>задачи: </a:t>
            </a:r>
          </a:p>
          <a:p>
            <a:r>
              <a:rPr lang="ru-RU" sz="5600" dirty="0"/>
              <a:t>Распаковка потенциала и сильных сторон</a:t>
            </a:r>
          </a:p>
          <a:p>
            <a:r>
              <a:rPr lang="ru-RU" sz="5600" dirty="0" smtClean="0"/>
              <a:t>Профессиональное </a:t>
            </a:r>
            <a:r>
              <a:rPr lang="ru-RU" sz="5600" dirty="0"/>
              <a:t>самоопределение и постановка карьерных целей</a:t>
            </a:r>
          </a:p>
          <a:p>
            <a:r>
              <a:rPr lang="ru-RU" sz="5600" dirty="0" smtClean="0"/>
              <a:t>Выбор </a:t>
            </a:r>
            <a:r>
              <a:rPr lang="ru-RU" sz="5600" dirty="0"/>
              <a:t>новой профессии и/или нового формата работы</a:t>
            </a:r>
          </a:p>
          <a:p>
            <a:r>
              <a:rPr lang="ru-RU" sz="5600" dirty="0" smtClean="0"/>
              <a:t>Работа </a:t>
            </a:r>
            <a:r>
              <a:rPr lang="ru-RU" sz="5600" dirty="0"/>
              <a:t>со страхами и барьерами в карьерных </a:t>
            </a:r>
            <a:r>
              <a:rPr lang="ru-RU" sz="5600" dirty="0" smtClean="0"/>
              <a:t>переходах</a:t>
            </a:r>
            <a:endParaRPr lang="ru-RU" sz="5600" dirty="0"/>
          </a:p>
          <a:p>
            <a:endParaRPr lang="ru-RU" sz="5600" dirty="0"/>
          </a:p>
          <a:p>
            <a:pPr marL="45720" indent="0">
              <a:buNone/>
            </a:pPr>
            <a:r>
              <a:rPr lang="ru-RU" sz="5600" dirty="0"/>
              <a:t>2) </a:t>
            </a:r>
            <a:r>
              <a:rPr lang="ru-RU" sz="5600" dirty="0" smtClean="0"/>
              <a:t>Личные задачи:</a:t>
            </a:r>
          </a:p>
          <a:p>
            <a:r>
              <a:rPr lang="ru-RU" sz="5600" dirty="0" smtClean="0"/>
              <a:t>Работа со всем спектром задач: «Меня не устраивают отношения с моим партнером» (отношений нет, они не устраивают)</a:t>
            </a:r>
          </a:p>
          <a:p>
            <a:r>
              <a:rPr lang="ru-RU" sz="5600" dirty="0" smtClean="0"/>
              <a:t>Работа с отношениями и ролями в социальной системе (семья, организация)</a:t>
            </a:r>
          </a:p>
          <a:p>
            <a:r>
              <a:rPr lang="ru-RU" sz="5600" dirty="0" smtClean="0"/>
              <a:t>Работа с женской идентичностью (психологический уровень)</a:t>
            </a:r>
          </a:p>
          <a:p>
            <a:pPr marL="45720" indent="0">
              <a:buNone/>
            </a:pPr>
            <a:endParaRPr lang="ru-RU" sz="5600" dirty="0"/>
          </a:p>
          <a:p>
            <a:pPr marL="45720" indent="0">
              <a:buNone/>
            </a:pPr>
            <a:r>
              <a:rPr lang="ru-RU" sz="5600" dirty="0" smtClean="0"/>
              <a:t>3) Жизненные </a:t>
            </a:r>
            <a:r>
              <a:rPr lang="ru-RU" sz="5600" dirty="0"/>
              <a:t>задачи:</a:t>
            </a:r>
          </a:p>
          <a:p>
            <a:r>
              <a:rPr lang="ru-RU" sz="5600" dirty="0"/>
              <a:t>Гибкая адаптация к вызовам времени </a:t>
            </a:r>
          </a:p>
          <a:p>
            <a:r>
              <a:rPr lang="ru-RU" sz="5600" dirty="0"/>
              <a:t>Снижение страха изменений</a:t>
            </a:r>
          </a:p>
          <a:p>
            <a:r>
              <a:rPr lang="ru-RU" sz="5600" dirty="0"/>
              <a:t>Выстраивание жизненных </a:t>
            </a:r>
            <a:r>
              <a:rPr lang="ru-RU" sz="5600" dirty="0" smtClean="0"/>
              <a:t>ориентиров</a:t>
            </a:r>
          </a:p>
          <a:p>
            <a:pPr marL="45720" indent="0" algn="ctr">
              <a:buNone/>
            </a:pPr>
            <a:endParaRPr lang="ru-RU" sz="7200" b="1" dirty="0" smtClean="0">
              <a:solidFill>
                <a:srgbClr val="FF0000"/>
              </a:solidFill>
            </a:endParaRPr>
          </a:p>
          <a:p>
            <a:pPr marL="45720" indent="0" algn="ctr">
              <a:buNone/>
            </a:pPr>
            <a:r>
              <a:rPr lang="ru-RU" sz="7200" b="1" dirty="0" smtClean="0">
                <a:solidFill>
                  <a:srgbClr val="FF0000"/>
                </a:solidFill>
              </a:rPr>
              <a:t>8-916-965-88-49</a:t>
            </a:r>
            <a:r>
              <a:rPr lang="en-US" sz="7200" b="1" dirty="0" smtClean="0">
                <a:solidFill>
                  <a:srgbClr val="FF0000"/>
                </a:solidFill>
              </a:rPr>
              <a:t> </a:t>
            </a:r>
            <a:r>
              <a:rPr lang="ru-RU" sz="7200" b="1" dirty="0">
                <a:solidFill>
                  <a:srgbClr val="FF0000"/>
                </a:solidFill>
              </a:rPr>
              <a:t>(</a:t>
            </a:r>
            <a:r>
              <a:rPr lang="en-US" sz="7200" b="1" dirty="0">
                <a:solidFill>
                  <a:srgbClr val="FF0000"/>
                </a:solidFill>
              </a:rPr>
              <a:t>WhatsApp</a:t>
            </a:r>
            <a:r>
              <a:rPr lang="ru-RU" sz="7200" b="1" dirty="0">
                <a:solidFill>
                  <a:srgbClr val="FF0000"/>
                </a:solidFill>
              </a:rPr>
              <a:t>)</a:t>
            </a:r>
          </a:p>
          <a:p>
            <a:pPr marL="45720" indent="0" algn="ctr">
              <a:buNone/>
            </a:pPr>
            <a:r>
              <a:rPr lang="en-US" sz="7200" b="1" dirty="0" smtClean="0">
                <a:solidFill>
                  <a:srgbClr val="FF0000"/>
                </a:solidFill>
              </a:rPr>
              <a:t>VK</a:t>
            </a:r>
            <a:r>
              <a:rPr lang="ru-RU" sz="7200" b="1" dirty="0" smtClean="0">
                <a:solidFill>
                  <a:srgbClr val="FF0000"/>
                </a:solidFill>
              </a:rPr>
              <a:t>, ТГ</a:t>
            </a:r>
            <a:endParaRPr lang="ru-RU" sz="7200" b="1" dirty="0">
              <a:solidFill>
                <a:srgbClr val="FF0000"/>
              </a:solidFill>
            </a:endParaRPr>
          </a:p>
          <a:p>
            <a:pPr marL="45720" indent="0" algn="ctr">
              <a:buNone/>
            </a:pPr>
            <a:endParaRPr lang="ru-RU" dirty="0">
              <a:solidFill>
                <a:schemeClr val="tx1"/>
              </a:solidFill>
            </a:endParaRPr>
          </a:p>
        </p:txBody>
      </p:sp>
    </p:spTree>
    <p:extLst>
      <p:ext uri="{BB962C8B-B14F-4D97-AF65-F5344CB8AC3E}">
        <p14:creationId xmlns:p14="http://schemas.microsoft.com/office/powerpoint/2010/main" val="32700541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331640" y="404664"/>
            <a:ext cx="6512511" cy="934040"/>
          </a:xfrm>
        </p:spPr>
        <p:txBody>
          <a:bodyPr/>
          <a:lstStyle/>
          <a:p>
            <a:pPr marL="0" indent="0" algn="ctr">
              <a:buNone/>
            </a:pPr>
            <a:r>
              <a:rPr lang="ru-RU" sz="3200" dirty="0">
                <a:solidFill>
                  <a:srgbClr val="0070C0"/>
                </a:solidFill>
              </a:rPr>
              <a:t>Список литературы</a:t>
            </a:r>
            <a:br>
              <a:rPr lang="ru-RU" sz="3200" dirty="0">
                <a:solidFill>
                  <a:srgbClr val="0070C0"/>
                </a:solidFill>
              </a:rPr>
            </a:br>
            <a:endParaRPr lang="ru-RU" sz="3200" dirty="0">
              <a:solidFill>
                <a:srgbClr val="0070C0"/>
              </a:solidFill>
            </a:endParaRPr>
          </a:p>
        </p:txBody>
      </p:sp>
      <p:sp>
        <p:nvSpPr>
          <p:cNvPr id="3" name="Объект 2"/>
          <p:cNvSpPr>
            <a:spLocks noGrp="1"/>
          </p:cNvSpPr>
          <p:nvPr>
            <p:ph sz="quarter" idx="13"/>
          </p:nvPr>
        </p:nvSpPr>
        <p:spPr>
          <a:xfrm>
            <a:off x="611560" y="1338704"/>
            <a:ext cx="7776864" cy="4826600"/>
          </a:xfrm>
        </p:spPr>
        <p:txBody>
          <a:bodyPr>
            <a:normAutofit fontScale="77500" lnSpcReduction="20000"/>
          </a:bodyPr>
          <a:lstStyle/>
          <a:p>
            <a:r>
              <a:rPr lang="ru-RU" dirty="0" err="1"/>
              <a:t>Маслоу</a:t>
            </a:r>
            <a:r>
              <a:rPr lang="ru-RU" dirty="0"/>
              <a:t> А. "Мотивация и личность«, «Дальние пределы человеческой психики» </a:t>
            </a:r>
          </a:p>
          <a:p>
            <a:r>
              <a:rPr lang="ru-RU" dirty="0"/>
              <a:t>Виктор </a:t>
            </a:r>
            <a:r>
              <a:rPr lang="ru-RU" dirty="0" err="1"/>
              <a:t>Франкл</a:t>
            </a:r>
            <a:r>
              <a:rPr lang="ru-RU" dirty="0"/>
              <a:t> «Скажи жизни Да!» «Человек в поисках смысла», «В борьбе за смысл»</a:t>
            </a:r>
          </a:p>
          <a:p>
            <a:r>
              <a:rPr lang="ru-RU" dirty="0"/>
              <a:t>Джеймс </a:t>
            </a:r>
            <a:r>
              <a:rPr lang="ru-RU" dirty="0" err="1"/>
              <a:t>Холлис</a:t>
            </a:r>
            <a:r>
              <a:rPr lang="ru-RU" dirty="0"/>
              <a:t> «Перевал в середине пути»</a:t>
            </a:r>
          </a:p>
          <a:p>
            <a:r>
              <a:rPr lang="ru-RU" dirty="0"/>
              <a:t>Ирвин Ялом «Экзистенциальная психотерапия»</a:t>
            </a:r>
          </a:p>
          <a:p>
            <a:r>
              <a:rPr lang="ru-RU" dirty="0"/>
              <a:t>Иоганн Шульц «Аутогенная тренировка»</a:t>
            </a:r>
          </a:p>
          <a:p>
            <a:r>
              <a:rPr lang="ru-RU" dirty="0"/>
              <a:t>Бек А., </a:t>
            </a:r>
            <a:r>
              <a:rPr lang="ru-RU" dirty="0" err="1"/>
              <a:t>Фримен</a:t>
            </a:r>
            <a:r>
              <a:rPr lang="ru-RU" dirty="0"/>
              <a:t> А. «Когнитивная психотерапия расстройств личности. Практикум по психотерапии» </a:t>
            </a:r>
            <a:endParaRPr lang="ru-RU" b="1" dirty="0"/>
          </a:p>
          <a:p>
            <a:r>
              <a:rPr lang="ru-RU" b="1" dirty="0">
                <a:solidFill>
                  <a:srgbClr val="FF0000"/>
                </a:solidFill>
              </a:rPr>
              <a:t>Роберто </a:t>
            </a:r>
            <a:r>
              <a:rPr lang="ru-RU" b="1" dirty="0" err="1">
                <a:solidFill>
                  <a:srgbClr val="FF0000"/>
                </a:solidFill>
              </a:rPr>
              <a:t>Ассаджиоли</a:t>
            </a:r>
            <a:r>
              <a:rPr lang="ru-RU" b="1" dirty="0">
                <a:solidFill>
                  <a:srgbClr val="FF0000"/>
                </a:solidFill>
              </a:rPr>
              <a:t> «</a:t>
            </a:r>
            <a:r>
              <a:rPr lang="ru-RU" b="1" dirty="0" err="1">
                <a:solidFill>
                  <a:srgbClr val="FF0000"/>
                </a:solidFill>
              </a:rPr>
              <a:t>Психосинтез</a:t>
            </a:r>
            <a:r>
              <a:rPr lang="ru-RU" b="1" dirty="0">
                <a:solidFill>
                  <a:srgbClr val="FF0000"/>
                </a:solidFill>
              </a:rPr>
              <a:t>. Принципы и техники»</a:t>
            </a:r>
          </a:p>
          <a:p>
            <a:r>
              <a:rPr lang="ru-RU" b="1" dirty="0">
                <a:solidFill>
                  <a:srgbClr val="FF0000"/>
                </a:solidFill>
              </a:rPr>
              <a:t>Пьеро </a:t>
            </a:r>
            <a:r>
              <a:rPr lang="ru-RU" b="1" dirty="0" err="1">
                <a:solidFill>
                  <a:srgbClr val="FF0000"/>
                </a:solidFill>
              </a:rPr>
              <a:t>Феруччи</a:t>
            </a:r>
            <a:r>
              <a:rPr lang="ru-RU" b="1" dirty="0">
                <a:solidFill>
                  <a:srgbClr val="FF0000"/>
                </a:solidFill>
              </a:rPr>
              <a:t> «Кем мы можем быть»</a:t>
            </a:r>
            <a:endParaRPr lang="ru-RU" dirty="0">
              <a:solidFill>
                <a:srgbClr val="FF0000"/>
              </a:solidFill>
            </a:endParaRPr>
          </a:p>
          <a:p>
            <a:r>
              <a:rPr lang="ru-RU" b="1" dirty="0" err="1">
                <a:solidFill>
                  <a:srgbClr val="FF0000"/>
                </a:solidFill>
              </a:rPr>
              <a:t>Шейла</a:t>
            </a:r>
            <a:r>
              <a:rPr lang="ru-RU" b="1" dirty="0">
                <a:solidFill>
                  <a:srgbClr val="FF0000"/>
                </a:solidFill>
              </a:rPr>
              <a:t> </a:t>
            </a:r>
            <a:r>
              <a:rPr lang="ru-RU" b="1" dirty="0" err="1">
                <a:solidFill>
                  <a:srgbClr val="FF0000"/>
                </a:solidFill>
              </a:rPr>
              <a:t>Дэйноу</a:t>
            </a:r>
            <a:r>
              <a:rPr lang="ru-RU" b="1" dirty="0">
                <a:solidFill>
                  <a:srgbClr val="FF0000"/>
                </a:solidFill>
              </a:rPr>
              <a:t>. Сам себе психотерапевт (самоучитель по психотерапии). </a:t>
            </a:r>
            <a:endParaRPr lang="ru-RU" dirty="0">
              <a:solidFill>
                <a:srgbClr val="FF0000"/>
              </a:solidFill>
            </a:endParaRPr>
          </a:p>
          <a:p>
            <a:r>
              <a:rPr lang="ru-RU" b="1" dirty="0" err="1">
                <a:solidFill>
                  <a:srgbClr val="FF0000"/>
                </a:solidFill>
              </a:rPr>
              <a:t>Джанетт</a:t>
            </a:r>
            <a:r>
              <a:rPr lang="ru-RU" b="1" dirty="0">
                <a:solidFill>
                  <a:srgbClr val="FF0000"/>
                </a:solidFill>
              </a:rPr>
              <a:t> </a:t>
            </a:r>
            <a:r>
              <a:rPr lang="ru-RU" b="1" dirty="0" err="1">
                <a:solidFill>
                  <a:srgbClr val="FF0000"/>
                </a:solidFill>
              </a:rPr>
              <a:t>Рейнуотер</a:t>
            </a:r>
            <a:r>
              <a:rPr lang="ru-RU" b="1" dirty="0">
                <a:solidFill>
                  <a:srgbClr val="FF0000"/>
                </a:solidFill>
              </a:rPr>
              <a:t>. Это в ваших силах. Как стать собственным психотерапевтом. </a:t>
            </a:r>
            <a:endParaRPr lang="ru-RU" b="1" dirty="0" smtClean="0">
              <a:solidFill>
                <a:srgbClr val="FF0000"/>
              </a:solidFill>
            </a:endParaRPr>
          </a:p>
          <a:p>
            <a:pPr marL="45720" indent="0">
              <a:buNone/>
            </a:pPr>
            <a:r>
              <a:rPr lang="ru-RU" sz="2400" dirty="0" smtClean="0">
                <a:solidFill>
                  <a:srgbClr val="C00000"/>
                </a:solidFill>
              </a:rPr>
              <a:t>!!! Обратите </a:t>
            </a:r>
            <a:r>
              <a:rPr lang="ru-RU" sz="2400" dirty="0">
                <a:solidFill>
                  <a:srgbClr val="C00000"/>
                </a:solidFill>
              </a:rPr>
              <a:t>внимание: в списке лит-</a:t>
            </a:r>
            <a:r>
              <a:rPr lang="ru-RU" sz="2400" dirty="0" err="1">
                <a:solidFill>
                  <a:srgbClr val="C00000"/>
                </a:solidFill>
              </a:rPr>
              <a:t>ры</a:t>
            </a:r>
            <a:r>
              <a:rPr lang="ru-RU" sz="2400" dirty="0">
                <a:solidFill>
                  <a:srgbClr val="C00000"/>
                </a:solidFill>
              </a:rPr>
              <a:t> </a:t>
            </a:r>
            <a:r>
              <a:rPr lang="ru-RU" sz="2400" dirty="0" smtClean="0">
                <a:solidFill>
                  <a:srgbClr val="C00000"/>
                </a:solidFill>
              </a:rPr>
              <a:t>красным цветом отмечены книги-СБОРНИКИ </a:t>
            </a:r>
            <a:r>
              <a:rPr lang="ru-RU" sz="2400" dirty="0">
                <a:solidFill>
                  <a:srgbClr val="C00000"/>
                </a:solidFill>
              </a:rPr>
              <a:t>ТЕХНИК, УПРАЖНЕНИЙ!!!</a:t>
            </a:r>
          </a:p>
          <a:p>
            <a:endParaRPr lang="ru-RU" dirty="0">
              <a:solidFill>
                <a:srgbClr val="FF0000"/>
              </a:solidFill>
            </a:endParaRPr>
          </a:p>
          <a:p>
            <a:endParaRPr lang="ru-RU" dirty="0"/>
          </a:p>
        </p:txBody>
      </p:sp>
    </p:spTree>
    <p:extLst>
      <p:ext uri="{BB962C8B-B14F-4D97-AF65-F5344CB8AC3E}">
        <p14:creationId xmlns:p14="http://schemas.microsoft.com/office/powerpoint/2010/main" val="38091168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1547664" y="1412776"/>
            <a:ext cx="6400800" cy="3474720"/>
          </a:xfrm>
        </p:spPr>
        <p:txBody>
          <a:bodyPr/>
          <a:lstStyle/>
          <a:p>
            <a:pPr marL="45720" indent="0">
              <a:buNone/>
            </a:pPr>
            <a:endParaRPr lang="ru-RU" dirty="0" smtClean="0"/>
          </a:p>
          <a:p>
            <a:pPr marL="45720" indent="0">
              <a:buNone/>
            </a:pPr>
            <a:endParaRPr lang="ru-RU" dirty="0"/>
          </a:p>
          <a:p>
            <a:pPr marL="45720" indent="0">
              <a:buNone/>
            </a:pPr>
            <a:r>
              <a:rPr lang="ru-RU" dirty="0" smtClean="0"/>
              <a:t>Сначала вспомним вместе, что такое </a:t>
            </a:r>
            <a:r>
              <a:rPr lang="ru-RU" dirty="0" err="1" smtClean="0"/>
              <a:t>коучинг</a:t>
            </a:r>
            <a:r>
              <a:rPr lang="ru-RU" dirty="0" smtClean="0"/>
              <a:t> </a:t>
            </a:r>
          </a:p>
          <a:p>
            <a:pPr marL="45720" indent="0">
              <a:buNone/>
            </a:pPr>
            <a:r>
              <a:rPr lang="ru-RU" dirty="0" smtClean="0"/>
              <a:t>в целом, прежде чем будем говорить про трансформационный подход в </a:t>
            </a:r>
            <a:r>
              <a:rPr lang="ru-RU" dirty="0" err="1" smtClean="0"/>
              <a:t>коучинге</a:t>
            </a:r>
            <a:endParaRPr lang="ru-RU" dirty="0"/>
          </a:p>
        </p:txBody>
      </p:sp>
    </p:spTree>
    <p:extLst>
      <p:ext uri="{BB962C8B-B14F-4D97-AF65-F5344CB8AC3E}">
        <p14:creationId xmlns:p14="http://schemas.microsoft.com/office/powerpoint/2010/main" val="29755820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1403648" y="731520"/>
            <a:ext cx="7416824" cy="5361776"/>
          </a:xfrm>
        </p:spPr>
        <p:txBody>
          <a:bodyPr/>
          <a:lstStyle/>
          <a:p>
            <a:pPr marL="45720" indent="0">
              <a:buNone/>
            </a:pPr>
            <a:r>
              <a:rPr lang="ru-RU" dirty="0" smtClean="0"/>
              <a:t>1) </a:t>
            </a:r>
            <a:r>
              <a:rPr lang="ru-RU" dirty="0" err="1" smtClean="0"/>
              <a:t>Коучинг</a:t>
            </a:r>
            <a:r>
              <a:rPr lang="ru-RU" dirty="0" smtClean="0"/>
              <a:t> – </a:t>
            </a:r>
          </a:p>
          <a:p>
            <a:pPr marL="45720" indent="0">
              <a:buNone/>
            </a:pPr>
            <a:r>
              <a:rPr lang="ru-RU" dirty="0"/>
              <a:t>э</a:t>
            </a:r>
            <a:r>
              <a:rPr lang="ru-RU" dirty="0" smtClean="0"/>
              <a:t>то работа с целями человека, личности. Пол человека вторичен!</a:t>
            </a:r>
          </a:p>
          <a:p>
            <a:pPr marL="45720" indent="0">
              <a:buNone/>
            </a:pPr>
            <a:endParaRPr lang="ru-RU" dirty="0"/>
          </a:p>
        </p:txBody>
      </p:sp>
      <p:pic>
        <p:nvPicPr>
          <p:cNvPr id="7170" name="Picture 2" descr="https://sun9-81.userapi.com/impg/nQZ_qtWJohNxLmrxeKpxO7EmlmuEQDQIrOuw7w/NE_NNo6zUS4.jpg?size=1074x800&amp;quality=95&amp;sign=bf1473f26fc815cd9fb7b8dbe1485559&amp;c_uniq_tag=054Gs8DoyKWyVI277XnHavPpHgXcEzx3us3pO71BrSQ&amp;type=alb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696" y="2060848"/>
            <a:ext cx="6209589" cy="37465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3179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1143000" y="731520"/>
            <a:ext cx="7533456" cy="5505792"/>
          </a:xfrm>
        </p:spPr>
        <p:txBody>
          <a:bodyPr>
            <a:normAutofit fontScale="62500" lnSpcReduction="20000"/>
          </a:bodyPr>
          <a:lstStyle/>
          <a:p>
            <a:pPr marL="45720" indent="0">
              <a:buNone/>
            </a:pPr>
            <a:r>
              <a:rPr lang="ru-RU" dirty="0" smtClean="0"/>
              <a:t>2) Чтобы достичь цели, человеку важно находиться в ресурсном состоянии, или в состоянии </a:t>
            </a:r>
            <a:r>
              <a:rPr lang="ru-RU" dirty="0"/>
              <a:t>высокой продуктивности «HPS» </a:t>
            </a:r>
            <a:r>
              <a:rPr lang="ru-RU" dirty="0" smtClean="0"/>
              <a:t>(</a:t>
            </a:r>
            <a:r>
              <a:rPr lang="ru-RU" dirty="0" err="1"/>
              <a:t>High</a:t>
            </a:r>
            <a:r>
              <a:rPr lang="ru-RU" dirty="0"/>
              <a:t> </a:t>
            </a:r>
            <a:r>
              <a:rPr lang="ru-RU" dirty="0" err="1"/>
              <a:t>Performance</a:t>
            </a:r>
            <a:r>
              <a:rPr lang="ru-RU" dirty="0"/>
              <a:t> </a:t>
            </a:r>
            <a:r>
              <a:rPr lang="ru-RU" dirty="0" err="1"/>
              <a:t>State</a:t>
            </a:r>
            <a:r>
              <a:rPr lang="ru-RU" dirty="0" smtClean="0"/>
              <a:t>), когда </a:t>
            </a:r>
            <a:r>
              <a:rPr lang="ru-RU" dirty="0"/>
              <a:t>активность обоих полушарий мозга становится более равномерной, их работа - более слаженной, а взаимосвязь между ними значительно усиливается. Устанавливается внутренний </a:t>
            </a:r>
            <a:r>
              <a:rPr lang="ru-RU" dirty="0" smtClean="0"/>
              <a:t>баланс </a:t>
            </a:r>
            <a:r>
              <a:rPr lang="ru-RU" dirty="0"/>
              <a:t>сознательного и бессознательного. </a:t>
            </a:r>
            <a:endParaRPr lang="ru-RU" dirty="0" smtClean="0"/>
          </a:p>
          <a:p>
            <a:pPr marL="45720" indent="0">
              <a:buNone/>
            </a:pPr>
            <a:r>
              <a:rPr lang="ru-RU" dirty="0" smtClean="0"/>
              <a:t>Автор данного термина Джон </a:t>
            </a:r>
            <a:r>
              <a:rPr lang="ru-RU" dirty="0" err="1" smtClean="0"/>
              <a:t>Гриндер</a:t>
            </a:r>
            <a:endParaRPr lang="ru-RU" dirty="0" smtClean="0"/>
          </a:p>
          <a:p>
            <a:pPr marL="45720" indent="0">
              <a:buNone/>
            </a:pPr>
            <a:endParaRPr lang="ru-RU" dirty="0" smtClean="0"/>
          </a:p>
          <a:p>
            <a:pPr marL="45720" indent="0">
              <a:buNone/>
            </a:pPr>
            <a:r>
              <a:rPr lang="ru-RU" dirty="0" smtClean="0"/>
              <a:t>КРИТЕРИИ</a:t>
            </a:r>
            <a:r>
              <a:rPr lang="ru-RU" dirty="0"/>
              <a:t>, которые помогают определить появление СОСТОЯНИЯ ВЫСОКОЙ ПРОДУКТИВНОСТИ: </a:t>
            </a:r>
            <a:endParaRPr lang="ru-RU" dirty="0" smtClean="0"/>
          </a:p>
          <a:p>
            <a:pPr marL="502920" indent="-457200">
              <a:buAutoNum type="arabicPeriod"/>
            </a:pPr>
            <a:r>
              <a:rPr lang="ru-RU" dirty="0" smtClean="0"/>
              <a:t>СОСТОЯНИЕ </a:t>
            </a:r>
            <a:r>
              <a:rPr lang="ru-RU" dirty="0"/>
              <a:t>ИГРЫ (Ощущение полной вовлеченности, в котором играть становится легче и интереснее) КУРАЖ, АЗАРТ, ДРАЙВ (Желание продолжать игру. Когда не хочется останавливаться)</a:t>
            </a:r>
            <a:endParaRPr lang="ru-RU" dirty="0" smtClean="0"/>
          </a:p>
          <a:p>
            <a:pPr marL="502920" indent="-457200">
              <a:buAutoNum type="arabicPeriod"/>
            </a:pPr>
            <a:r>
              <a:rPr lang="ru-RU" dirty="0"/>
              <a:t>ФОКУС НА РЕЗУЛЬТАТ (Довольно долгая продолжительность игры без ошибок в совершенно расслабленном состоянии) </a:t>
            </a:r>
          </a:p>
          <a:p>
            <a:pPr marL="502920" indent="-457200">
              <a:buFont typeface="Georgia" pitchFamily="18" charset="0"/>
              <a:buAutoNum type="arabicPeriod"/>
            </a:pPr>
            <a:r>
              <a:rPr lang="ru-RU" dirty="0"/>
              <a:t>СОСТОЯНИЕ АЛЕРТНОСТИ или «расслабленной мягкой готовности» (Одновременно расслабленность и упругая, живая, мягкая готовность мгновенно реагировать): ПРЯМАЯ ОСАНКА (Естественное выпрямление осанки), РИТМ, ГРАЦИЯ (Появление "танцевальной" плавности, грации в движениях)</a:t>
            </a:r>
          </a:p>
          <a:p>
            <a:pPr marL="502920" indent="-457200">
              <a:buFont typeface="Georgia" pitchFamily="18" charset="0"/>
              <a:buAutoNum type="arabicPeriod"/>
            </a:pPr>
            <a:r>
              <a:rPr lang="ru-RU" dirty="0" smtClean="0"/>
              <a:t>ЛЕГКОЕ </a:t>
            </a:r>
            <a:r>
              <a:rPr lang="ru-RU" dirty="0"/>
              <a:t>ОТНОШЕНИЕ К ОШИБКЕ (Появление естественного смеха или улыбки при ошибках) </a:t>
            </a:r>
          </a:p>
          <a:p>
            <a:pPr marL="502920" indent="-457200">
              <a:buAutoNum type="arabicPeriod"/>
            </a:pPr>
            <a:r>
              <a:rPr lang="ru-RU" dirty="0" smtClean="0"/>
              <a:t>ПОЯВЛЕНИЕ </a:t>
            </a:r>
            <a:r>
              <a:rPr lang="ru-RU" dirty="0"/>
              <a:t>В</a:t>
            </a:r>
            <a:r>
              <a:rPr lang="ru-RU" dirty="0" smtClean="0"/>
              <a:t>НУТРЕННЕГО СВИДЕТЕЛЯ, или Наблюдателя</a:t>
            </a:r>
          </a:p>
          <a:p>
            <a:pPr marL="502920" indent="-457200">
              <a:buAutoNum type="arabicPeriod"/>
            </a:pPr>
            <a:endParaRPr lang="ru-RU" dirty="0"/>
          </a:p>
          <a:p>
            <a:pPr marL="45720" indent="0">
              <a:buNone/>
            </a:pPr>
            <a:r>
              <a:rPr lang="ru-RU" dirty="0" smtClean="0"/>
              <a:t>Здесь нет эмоций тревожного ряда: </a:t>
            </a:r>
            <a:r>
              <a:rPr lang="ru-RU" dirty="0"/>
              <a:t>волнение, </a:t>
            </a:r>
            <a:r>
              <a:rPr lang="ru-RU" dirty="0" smtClean="0"/>
              <a:t>беспокойство, нервозность, взбудораженность, тревога, страх, паника</a:t>
            </a:r>
          </a:p>
          <a:p>
            <a:pPr marL="45720" indent="0">
              <a:buNone/>
            </a:pPr>
            <a:endParaRPr lang="ru-RU" dirty="0"/>
          </a:p>
          <a:p>
            <a:pPr marL="45720" indent="0">
              <a:buNone/>
            </a:pPr>
            <a:endParaRPr lang="ru-RU" dirty="0" smtClean="0"/>
          </a:p>
          <a:p>
            <a:pPr marL="502920" indent="-457200">
              <a:buAutoNum type="arabicPeriod"/>
            </a:pPr>
            <a:endParaRPr lang="ru-RU" dirty="0"/>
          </a:p>
        </p:txBody>
      </p:sp>
    </p:spTree>
    <p:extLst>
      <p:ext uri="{BB962C8B-B14F-4D97-AF65-F5344CB8AC3E}">
        <p14:creationId xmlns:p14="http://schemas.microsoft.com/office/powerpoint/2010/main" val="33641361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Shape 109"/>
          <p:cNvSpPr>
            <a:spLocks noGrp="1"/>
          </p:cNvSpPr>
          <p:nvPr>
            <p:ph sz="quarter" idx="13"/>
          </p:nvPr>
        </p:nvSpPr>
        <p:spPr>
          <a:xfrm>
            <a:off x="1221233" y="1860368"/>
            <a:ext cx="1374876" cy="1256191"/>
          </a:xfrm>
          <a:prstGeom prst="rect">
            <a:avLst/>
          </a:prstGeom>
          <a:solidFill>
            <a:srgbClr val="CBCBCB"/>
          </a:solidFill>
          <a:ln w="9525">
            <a:solidFill>
              <a:srgbClr val="3366FF"/>
            </a:solidFill>
            <a:bevel/>
          </a:ln>
        </p:spPr>
        <p:txBody>
          <a:bodyPr lIns="0" tIns="0" rIns="0" bIns="0"/>
          <a:lstStyle>
            <a:lvl1pPr marL="0" indent="0" algn="ctr">
              <a:spcBef>
                <a:spcPts val="1200"/>
              </a:spcBef>
              <a:buSzTx/>
              <a:buNone/>
              <a:defRPr sz="5400"/>
            </a:lvl1pPr>
          </a:lstStyle>
          <a:p>
            <a:pPr lvl="0">
              <a:defRPr sz="1800">
                <a:solidFill>
                  <a:srgbClr val="000000"/>
                </a:solidFill>
              </a:defRPr>
            </a:pPr>
            <a:r>
              <a:rPr sz="5400">
                <a:solidFill>
                  <a:srgbClr val="303030"/>
                </a:solidFill>
              </a:rPr>
              <a:t>Я1</a:t>
            </a:r>
          </a:p>
        </p:txBody>
      </p:sp>
      <p:sp>
        <p:nvSpPr>
          <p:cNvPr id="110" name="Shape 110"/>
          <p:cNvSpPr/>
          <p:nvPr/>
        </p:nvSpPr>
        <p:spPr>
          <a:xfrm>
            <a:off x="6624222" y="1860368"/>
            <a:ext cx="1374875" cy="1256191"/>
          </a:xfrm>
          <a:prstGeom prst="rect">
            <a:avLst/>
          </a:prstGeom>
          <a:solidFill>
            <a:srgbClr val="8494A6"/>
          </a:solidFill>
          <a:ln>
            <a:solidFill>
              <a:srgbClr val="D6DBE1"/>
            </a:solidFill>
          </a:ln>
          <a:extLst>
            <a:ext uri="{C572A759-6A51-4108-AA02-DFA0A04FC94B}">
              <ma14:wrappingTextBoxFlag xmlns:ma14="http://schemas.microsoft.com/office/mac/drawingml/2011/main" xmlns="" val="1"/>
            </a:ext>
          </a:extLst>
        </p:spPr>
        <p:txBody>
          <a:bodyPr lIns="0" tIns="0" rIns="0" bIns="0">
            <a:normAutofit/>
          </a:bodyPr>
          <a:lstStyle>
            <a:lvl1pPr algn="ctr">
              <a:spcBef>
                <a:spcPts val="2000"/>
              </a:spcBef>
              <a:defRPr sz="5400">
                <a:solidFill>
                  <a:srgbClr val="595959"/>
                </a:solidFill>
              </a:defRPr>
            </a:lvl1pPr>
          </a:lstStyle>
          <a:p>
            <a:pPr lvl="0">
              <a:defRPr sz="1800">
                <a:solidFill>
                  <a:srgbClr val="000000"/>
                </a:solidFill>
              </a:defRPr>
            </a:pPr>
            <a:r>
              <a:rPr sz="5400">
                <a:solidFill>
                  <a:srgbClr val="595959"/>
                </a:solidFill>
              </a:rPr>
              <a:t>Я2</a:t>
            </a:r>
          </a:p>
        </p:txBody>
      </p:sp>
      <p:sp>
        <p:nvSpPr>
          <p:cNvPr id="111" name="Shape 111"/>
          <p:cNvSpPr/>
          <p:nvPr/>
        </p:nvSpPr>
        <p:spPr>
          <a:xfrm>
            <a:off x="3546857" y="1982663"/>
            <a:ext cx="2307781" cy="1068780"/>
          </a:xfrm>
          <a:prstGeom prst="rightArrow">
            <a:avLst>
              <a:gd name="adj1" fmla="val 50000"/>
              <a:gd name="adj2" fmla="val 50000"/>
            </a:avLst>
          </a:prstGeom>
          <a:solidFill>
            <a:srgbClr val="FF0000"/>
          </a:solidFill>
          <a:ln w="12700">
            <a:miter lim="400000"/>
          </a:ln>
        </p:spPr>
        <p:txBody>
          <a:bodyPr lIns="0" tIns="0" rIns="0" bIns="0"/>
          <a:lstStyle/>
          <a:p>
            <a:pPr lvl="0"/>
            <a:endParaRPr/>
          </a:p>
        </p:txBody>
      </p:sp>
      <p:sp>
        <p:nvSpPr>
          <p:cNvPr id="112" name="Shape 112"/>
          <p:cNvSpPr/>
          <p:nvPr/>
        </p:nvSpPr>
        <p:spPr>
          <a:xfrm>
            <a:off x="936487" y="3509805"/>
            <a:ext cx="3128671" cy="1767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p>
            <a:pPr marL="285750" lvl="0" indent="-285750">
              <a:buSzPct val="100000"/>
              <a:buFont typeface="Wingdings"/>
              <a:buChar char="➢"/>
            </a:pPr>
            <a:r>
              <a:rPr dirty="0" err="1" smtClean="0">
                <a:latin typeface="Verdana"/>
                <a:ea typeface="Verdana"/>
                <a:cs typeface="Verdana"/>
                <a:sym typeface="Verdana"/>
              </a:rPr>
              <a:t>Внутренний</a:t>
            </a:r>
            <a:r>
              <a:rPr dirty="0" smtClean="0">
                <a:latin typeface="Verdana"/>
                <a:ea typeface="Verdana"/>
                <a:cs typeface="Verdana"/>
                <a:sym typeface="Verdana"/>
              </a:rPr>
              <a:t> </a:t>
            </a:r>
            <a:r>
              <a:rPr dirty="0" err="1" smtClean="0">
                <a:latin typeface="Verdana"/>
                <a:ea typeface="Verdana"/>
                <a:cs typeface="Verdana"/>
                <a:sym typeface="Verdana"/>
              </a:rPr>
              <a:t>голос</a:t>
            </a:r>
            <a:r>
              <a:rPr dirty="0" smtClean="0">
                <a:latin typeface="Verdana"/>
                <a:ea typeface="Verdana"/>
                <a:cs typeface="Verdana"/>
                <a:sym typeface="Verdana"/>
              </a:rPr>
              <a:t>, </a:t>
            </a:r>
            <a:r>
              <a:rPr dirty="0" err="1" smtClean="0">
                <a:latin typeface="Verdana"/>
                <a:ea typeface="Verdana"/>
                <a:cs typeface="Verdana"/>
                <a:sym typeface="Verdana"/>
              </a:rPr>
              <a:t>подающий</a:t>
            </a:r>
            <a:r>
              <a:rPr dirty="0" smtClean="0">
                <a:latin typeface="Verdana"/>
                <a:ea typeface="Verdana"/>
                <a:cs typeface="Verdana"/>
                <a:sym typeface="Verdana"/>
              </a:rPr>
              <a:t> </a:t>
            </a:r>
            <a:r>
              <a:rPr dirty="0" err="1" smtClean="0">
                <a:latin typeface="Verdana"/>
                <a:ea typeface="Verdana"/>
                <a:cs typeface="Verdana"/>
                <a:sym typeface="Verdana"/>
              </a:rPr>
              <a:t>команды</a:t>
            </a:r>
            <a:r>
              <a:rPr dirty="0" smtClean="0">
                <a:latin typeface="Verdana"/>
                <a:ea typeface="Verdana"/>
                <a:cs typeface="Verdana"/>
                <a:sym typeface="Verdana"/>
              </a:rPr>
              <a:t> и </a:t>
            </a:r>
            <a:r>
              <a:rPr dirty="0" err="1" smtClean="0">
                <a:latin typeface="Verdana"/>
                <a:ea typeface="Verdana"/>
                <a:cs typeface="Verdana"/>
                <a:sym typeface="Verdana"/>
              </a:rPr>
              <a:t>оценки</a:t>
            </a:r>
            <a:r>
              <a:rPr dirty="0" smtClean="0">
                <a:latin typeface="Verdana"/>
                <a:ea typeface="Verdana"/>
                <a:cs typeface="Verdana"/>
                <a:sym typeface="Verdana"/>
              </a:rPr>
              <a:t>.</a:t>
            </a:r>
          </a:p>
          <a:p>
            <a:pPr marL="285750" lvl="0" indent="-285750">
              <a:buSzPct val="100000"/>
              <a:buFont typeface="Wingdings"/>
              <a:buChar char="➢"/>
            </a:pPr>
            <a:r>
              <a:rPr dirty="0" err="1" smtClean="0">
                <a:latin typeface="Verdana"/>
                <a:ea typeface="Verdana"/>
                <a:cs typeface="Verdana"/>
                <a:sym typeface="Verdana"/>
              </a:rPr>
              <a:t>Вн</a:t>
            </a:r>
            <a:r>
              <a:rPr dirty="0" smtClean="0">
                <a:latin typeface="Verdana"/>
                <a:ea typeface="Verdana"/>
                <a:cs typeface="Verdana"/>
                <a:sym typeface="Verdana"/>
              </a:rPr>
              <a:t>. </a:t>
            </a:r>
            <a:r>
              <a:rPr dirty="0" err="1" smtClean="0">
                <a:latin typeface="Verdana"/>
                <a:ea typeface="Verdana"/>
                <a:cs typeface="Verdana"/>
                <a:sym typeface="Verdana"/>
              </a:rPr>
              <a:t>критик</a:t>
            </a:r>
            <a:r>
              <a:rPr dirty="0" smtClean="0">
                <a:latin typeface="Verdana"/>
                <a:ea typeface="Verdana"/>
                <a:cs typeface="Verdana"/>
                <a:sym typeface="Verdana"/>
              </a:rPr>
              <a:t> и </a:t>
            </a:r>
            <a:r>
              <a:rPr dirty="0" err="1" smtClean="0">
                <a:latin typeface="Verdana"/>
                <a:ea typeface="Verdana"/>
                <a:cs typeface="Verdana"/>
                <a:sym typeface="Verdana"/>
              </a:rPr>
              <a:t>всезнайка</a:t>
            </a:r>
            <a:endParaRPr dirty="0" smtClean="0">
              <a:latin typeface="Verdana"/>
              <a:ea typeface="Verdana"/>
              <a:cs typeface="Verdana"/>
              <a:sym typeface="Verdana"/>
            </a:endParaRPr>
          </a:p>
          <a:p>
            <a:pPr marL="285750" lvl="0" indent="-285750">
              <a:buSzPct val="100000"/>
              <a:buFont typeface="Wingdings"/>
              <a:buChar char="➢"/>
            </a:pPr>
            <a:r>
              <a:rPr dirty="0" err="1" smtClean="0">
                <a:latin typeface="Verdana"/>
                <a:ea typeface="Verdana"/>
                <a:cs typeface="Verdana"/>
                <a:sym typeface="Verdana"/>
              </a:rPr>
              <a:t>Привычки</a:t>
            </a:r>
            <a:r>
              <a:rPr dirty="0" smtClean="0">
                <a:latin typeface="Verdana"/>
                <a:ea typeface="Verdana"/>
                <a:cs typeface="Verdana"/>
                <a:sym typeface="Verdana"/>
              </a:rPr>
              <a:t> и</a:t>
            </a:r>
            <a:endParaRPr dirty="0">
              <a:latin typeface="Verdana"/>
              <a:ea typeface="Verdana"/>
              <a:cs typeface="Verdana"/>
              <a:sym typeface="Verdana"/>
            </a:endParaRPr>
          </a:p>
        </p:txBody>
      </p:sp>
      <p:sp>
        <p:nvSpPr>
          <p:cNvPr id="113" name="Shape 113"/>
          <p:cNvSpPr/>
          <p:nvPr/>
        </p:nvSpPr>
        <p:spPr>
          <a:xfrm>
            <a:off x="5155332" y="3763960"/>
            <a:ext cx="3871353" cy="1488441"/>
          </a:xfrm>
          <a:prstGeom prst="rect">
            <a:avLst/>
          </a:prstGeom>
          <a:ln w="12700">
            <a:miter lim="400000"/>
          </a:ln>
          <a:extLst>
            <a:ext uri="{C572A759-6A51-4108-AA02-DFA0A04FC94B}">
              <ma14:wrappingTextBoxFlag xmlns:ma14="http://schemas.microsoft.com/office/mac/drawingml/2011/main" xmlns="" val="1"/>
            </a:ext>
          </a:extLst>
        </p:spPr>
        <p:txBody>
          <a:bodyPr wrap="none" lIns="45719" rIns="45719">
            <a:spAutoFit/>
          </a:bodyPr>
          <a:lstStyle/>
          <a:p>
            <a:pPr marL="285750" lvl="0" indent="-285750">
              <a:buSzPct val="100000"/>
              <a:buFont typeface="Wingdings"/>
              <a:buChar char="➢"/>
            </a:pPr>
            <a:r>
              <a:rPr>
                <a:latin typeface="Verdana"/>
                <a:ea typeface="Verdana"/>
                <a:cs typeface="Verdana"/>
                <a:sym typeface="Verdana"/>
              </a:rPr>
              <a:t>Подлинное, истинное Я.</a:t>
            </a:r>
          </a:p>
          <a:p>
            <a:pPr marL="285750" lvl="0" indent="-285750">
              <a:buSzPct val="100000"/>
              <a:buFont typeface="Wingdings"/>
              <a:buChar char="➢"/>
            </a:pPr>
            <a:r>
              <a:rPr>
                <a:latin typeface="Verdana"/>
                <a:ea typeface="Verdana"/>
                <a:cs typeface="Verdana"/>
                <a:sym typeface="Verdana"/>
              </a:rPr>
              <a:t>Внутренний потенциал, </a:t>
            </a:r>
          </a:p>
          <a:p>
            <a:pPr lvl="0"/>
            <a:r>
              <a:rPr>
                <a:latin typeface="Verdana"/>
                <a:ea typeface="Verdana"/>
                <a:cs typeface="Verdana"/>
                <a:sym typeface="Verdana"/>
              </a:rPr>
              <a:t>   способности и ресурсы</a:t>
            </a:r>
          </a:p>
          <a:p>
            <a:pPr marL="285750" lvl="0" indent="-285750">
              <a:buSzPct val="100000"/>
              <a:buFont typeface="Wingdings"/>
              <a:buChar char="➢"/>
            </a:pPr>
            <a:r>
              <a:rPr>
                <a:latin typeface="Verdana"/>
                <a:ea typeface="Verdana"/>
                <a:cs typeface="Verdana"/>
                <a:sym typeface="Verdana"/>
              </a:rPr>
              <a:t>Стремление и способность </a:t>
            </a:r>
          </a:p>
          <a:p>
            <a:pPr lvl="0"/>
            <a:r>
              <a:rPr>
                <a:latin typeface="Verdana"/>
                <a:ea typeface="Verdana"/>
                <a:cs typeface="Verdana"/>
                <a:sym typeface="Verdana"/>
              </a:rPr>
              <a:t>   к развитию и самораскрытию</a:t>
            </a:r>
          </a:p>
        </p:txBody>
      </p:sp>
      <p:pic>
        <p:nvPicPr>
          <p:cNvPr id="114" name="image17.jpg" descr="счаст-жен-150x150.jpg"/>
          <p:cNvPicPr/>
          <p:nvPr/>
        </p:nvPicPr>
        <p:blipFill>
          <a:blip r:embed="rId2" cstate="print">
            <a:extLst/>
          </a:blip>
          <a:stretch>
            <a:fillRect/>
          </a:stretch>
        </p:blipFill>
        <p:spPr>
          <a:xfrm>
            <a:off x="6477000" y="5207000"/>
            <a:ext cx="1651000" cy="1651000"/>
          </a:xfrm>
          <a:prstGeom prst="rect">
            <a:avLst/>
          </a:prstGeom>
          <a:ln w="12700">
            <a:miter lim="400000"/>
          </a:ln>
        </p:spPr>
      </p:pic>
      <p:pic>
        <p:nvPicPr>
          <p:cNvPr id="115" name="image18.jpg" descr="1342596611_images.jpg"/>
          <p:cNvPicPr/>
          <p:nvPr/>
        </p:nvPicPr>
        <p:blipFill>
          <a:blip r:embed="rId3" cstate="print">
            <a:extLst/>
          </a:blip>
          <a:stretch>
            <a:fillRect/>
          </a:stretch>
        </p:blipFill>
        <p:spPr>
          <a:xfrm>
            <a:off x="144607" y="5247568"/>
            <a:ext cx="1702440" cy="1162524"/>
          </a:xfrm>
          <a:prstGeom prst="rect">
            <a:avLst/>
          </a:prstGeom>
          <a:ln w="12700">
            <a:miter lim="400000"/>
          </a:ln>
        </p:spPr>
      </p:pic>
      <p:sp>
        <p:nvSpPr>
          <p:cNvPr id="116" name="Shape 116"/>
          <p:cNvSpPr/>
          <p:nvPr/>
        </p:nvSpPr>
        <p:spPr>
          <a:xfrm>
            <a:off x="2026186" y="5247568"/>
            <a:ext cx="1709336" cy="12090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a:latin typeface="Verdana"/>
                <a:ea typeface="Verdana"/>
                <a:cs typeface="Verdana"/>
                <a:sym typeface="Verdana"/>
              </a:defRPr>
            </a:lvl1pPr>
          </a:lstStyle>
          <a:p>
            <a:pPr lvl="0"/>
            <a:r>
              <a:rPr dirty="0" err="1"/>
              <a:t>стереотипы</a:t>
            </a:r>
            <a:r>
              <a:rPr dirty="0"/>
              <a:t> </a:t>
            </a:r>
            <a:r>
              <a:rPr dirty="0" err="1"/>
              <a:t>мышления</a:t>
            </a:r>
            <a:r>
              <a:rPr dirty="0"/>
              <a:t> и </a:t>
            </a:r>
            <a:r>
              <a:rPr dirty="0" err="1"/>
              <a:t>поведения</a:t>
            </a:r>
            <a:endParaRPr dirty="0"/>
          </a:p>
        </p:txBody>
      </p:sp>
      <p:sp>
        <p:nvSpPr>
          <p:cNvPr id="117" name="Shape 117"/>
          <p:cNvSpPr/>
          <p:nvPr/>
        </p:nvSpPr>
        <p:spPr>
          <a:xfrm>
            <a:off x="1807648" y="1081893"/>
            <a:ext cx="5786197" cy="338554"/>
          </a:xfrm>
          <a:prstGeom prst="rect">
            <a:avLst/>
          </a:prstGeom>
          <a:ln w="12700">
            <a:miter lim="400000"/>
          </a:ln>
          <a:extLst>
            <a:ext uri="{C572A759-6A51-4108-AA02-DFA0A04FC94B}">
              <ma14:wrappingTextBoxFlag xmlns:ma14="http://schemas.microsoft.com/office/mac/drawingml/2011/main" xmlns="" val="1"/>
            </a:ext>
          </a:extLst>
        </p:spPr>
        <p:txBody>
          <a:bodyPr wrap="none" lIns="45719" rIns="45719">
            <a:spAutoFit/>
          </a:bodyPr>
          <a:lstStyle>
            <a:lvl1pPr>
              <a:defRPr sz="2800">
                <a:solidFill>
                  <a:srgbClr val="FF0000"/>
                </a:solidFill>
                <a:latin typeface="Verdana"/>
                <a:ea typeface="Verdana"/>
                <a:cs typeface="Verdana"/>
                <a:sym typeface="Verdana"/>
              </a:defRPr>
            </a:lvl1pPr>
          </a:lstStyle>
          <a:p>
            <a:pPr lvl="0">
              <a:defRPr sz="1800">
                <a:solidFill>
                  <a:srgbClr val="000000"/>
                </a:solidFill>
              </a:defRPr>
            </a:pPr>
            <a:r>
              <a:rPr sz="1600" dirty="0" err="1" smtClean="0">
                <a:solidFill>
                  <a:schemeClr val="tx1"/>
                </a:solidFill>
              </a:rPr>
              <a:t>Т.Голви</a:t>
            </a:r>
            <a:r>
              <a:rPr lang="ru-RU" sz="1600" dirty="0">
                <a:solidFill>
                  <a:schemeClr val="tx1"/>
                </a:solidFill>
              </a:rPr>
              <a:t> </a:t>
            </a:r>
            <a:r>
              <a:rPr lang="ru-RU" sz="1600" dirty="0" smtClean="0">
                <a:solidFill>
                  <a:schemeClr val="tx1"/>
                </a:solidFill>
              </a:rPr>
              <a:t>также говорил о внутренней игре и Я1 и Я2</a:t>
            </a:r>
            <a:r>
              <a:rPr sz="1600" dirty="0" smtClean="0">
                <a:solidFill>
                  <a:schemeClr val="tx1"/>
                </a:solidFill>
              </a:rPr>
              <a:t>.</a:t>
            </a:r>
            <a:endParaRPr sz="1600" dirty="0">
              <a:solidFill>
                <a:schemeClr val="tx1"/>
              </a:solidFill>
            </a:endParaRPr>
          </a:p>
        </p:txBody>
      </p:sp>
    </p:spTree>
    <p:extLst>
      <p:ext uri="{BB962C8B-B14F-4D97-AF65-F5344CB8AC3E}">
        <p14:creationId xmlns:p14="http://schemas.microsoft.com/office/powerpoint/2010/main" val="38197319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iterate>
                                    <p:tmAbs val="0"/>
                                  </p:iterate>
                                  <p:childTnLst>
                                    <p:set>
                                      <p:cBhvr>
                                        <p:cTn id="6" fill="hold"/>
                                        <p:tgtEl>
                                          <p:spTgt spid="109">
                                            <p:bg/>
                                          </p:spTgt>
                                        </p:tgtEl>
                                        <p:attrNameLst>
                                          <p:attrName>style.visibility</p:attrName>
                                        </p:attrNameLst>
                                      </p:cBhvr>
                                      <p:to>
                                        <p:strVal val="visible"/>
                                      </p:to>
                                    </p:set>
                                    <p:anim calcmode="lin" valueType="num">
                                      <p:cBhvr>
                                        <p:cTn id="7" dur="1000" fill="hold"/>
                                        <p:tgtEl>
                                          <p:spTgt spid="109">
                                            <p:bg/>
                                          </p:spTgt>
                                        </p:tgtEl>
                                        <p:attrNameLst>
                                          <p:attrName>ppt_x</p:attrName>
                                        </p:attrNameLst>
                                      </p:cBhvr>
                                      <p:tavLst>
                                        <p:tav tm="0">
                                          <p:val>
                                            <p:strVal val="#ppt_x"/>
                                          </p:val>
                                        </p:tav>
                                        <p:tav tm="100000">
                                          <p:val>
                                            <p:strVal val="#ppt_x"/>
                                          </p:val>
                                        </p:tav>
                                      </p:tavLst>
                                    </p:anim>
                                    <p:anim calcmode="lin" valueType="num">
                                      <p:cBhvr>
                                        <p:cTn id="8" dur="1000" fill="hold"/>
                                        <p:tgtEl>
                                          <p:spTgt spid="109">
                                            <p:bg/>
                                          </p:spTgt>
                                        </p:tgtEl>
                                        <p:attrNameLst>
                                          <p:attrName>ppt_y</p:attrName>
                                        </p:attrNameLst>
                                      </p:cBhvr>
                                      <p:tavLst>
                                        <p:tav tm="0">
                                          <p:val>
                                            <p:strVal val="1+#ppt_h/2"/>
                                          </p:val>
                                        </p:tav>
                                        <p:tav tm="100000">
                                          <p:val>
                                            <p:strVal val="#ppt_y"/>
                                          </p:val>
                                        </p:tav>
                                      </p:tavLst>
                                    </p:anim>
                                  </p:childTnLst>
                                </p:cTn>
                              </p:par>
                              <p:par>
                                <p:cTn id="9" presetID="2" presetClass="entr" presetSubtype="4" fill="hold" grpId="0">
                                  <p:stCondLst>
                                    <p:cond delay="0"/>
                                  </p:stCondLst>
                                  <p:iterate>
                                    <p:tmAbs val="0"/>
                                  </p:iterate>
                                  <p:childTnLst>
                                    <p:set>
                                      <p:cBhvr>
                                        <p:cTn id="10" fill="hold"/>
                                        <p:tgtEl>
                                          <p:spTgt spid="109">
                                            <p:txEl>
                                              <p:pRg st="0" end="0"/>
                                            </p:txEl>
                                          </p:spTgt>
                                        </p:tgtEl>
                                        <p:attrNameLst>
                                          <p:attrName>style.visibility</p:attrName>
                                        </p:attrNameLst>
                                      </p:cBhvr>
                                      <p:to>
                                        <p:strVal val="visible"/>
                                      </p:to>
                                    </p:set>
                                    <p:anim calcmode="lin" valueType="num">
                                      <p:cBhvr>
                                        <p:cTn id="11" dur="1000" fill="hold"/>
                                        <p:tgtEl>
                                          <p:spTgt spid="109">
                                            <p:txEl>
                                              <p:pRg st="0" end="0"/>
                                            </p:txEl>
                                          </p:spTgt>
                                        </p:tgtEl>
                                        <p:attrNameLst>
                                          <p:attrName>ppt_x</p:attrName>
                                        </p:attrNameLst>
                                      </p:cBhvr>
                                      <p:tavLst>
                                        <p:tav tm="0">
                                          <p:val>
                                            <p:strVal val="#ppt_x"/>
                                          </p:val>
                                        </p:tav>
                                        <p:tav tm="100000">
                                          <p:val>
                                            <p:strVal val="#ppt_x"/>
                                          </p:val>
                                        </p:tav>
                                      </p:tavLst>
                                    </p:anim>
                                    <p:anim calcmode="lin" valueType="num">
                                      <p:cBhvr>
                                        <p:cTn id="12" dur="1000" fill="hold"/>
                                        <p:tgtEl>
                                          <p:spTgt spid="109">
                                            <p:txEl>
                                              <p:pRg st="0" end="0"/>
                                            </p:txEl>
                                          </p:spTgt>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iterate>
                                    <p:tmAbs val="0"/>
                                  </p:iterate>
                                  <p:childTnLst>
                                    <p:set>
                                      <p:cBhvr>
                                        <p:cTn id="15" fill="hold"/>
                                        <p:tgtEl>
                                          <p:spTgt spid="112"/>
                                        </p:tgtEl>
                                        <p:attrNameLst>
                                          <p:attrName>style.visibility</p:attrName>
                                        </p:attrNameLst>
                                      </p:cBhvr>
                                      <p:to>
                                        <p:strVal val="visible"/>
                                      </p:to>
                                    </p:set>
                                    <p:anim calcmode="lin" valueType="num">
                                      <p:cBhvr>
                                        <p:cTn id="16" dur="1000" fill="hold"/>
                                        <p:tgtEl>
                                          <p:spTgt spid="112"/>
                                        </p:tgtEl>
                                        <p:attrNameLst>
                                          <p:attrName>ppt_x</p:attrName>
                                        </p:attrNameLst>
                                      </p:cBhvr>
                                      <p:tavLst>
                                        <p:tav tm="0">
                                          <p:val>
                                            <p:strVal val="#ppt_x"/>
                                          </p:val>
                                        </p:tav>
                                        <p:tav tm="100000">
                                          <p:val>
                                            <p:strVal val="#ppt_x"/>
                                          </p:val>
                                        </p:tav>
                                      </p:tavLst>
                                    </p:anim>
                                    <p:anim calcmode="lin" valueType="num">
                                      <p:cBhvr>
                                        <p:cTn id="17" dur="1000" fill="hold"/>
                                        <p:tgtEl>
                                          <p:spTgt spid="112"/>
                                        </p:tgtEl>
                                        <p:attrNameLst>
                                          <p:attrName>ppt_y</p:attrName>
                                        </p:attrNameLst>
                                      </p:cBhvr>
                                      <p:tavLst>
                                        <p:tav tm="0">
                                          <p:val>
                                            <p:strVal val="1+#ppt_h/2"/>
                                          </p:val>
                                        </p:tav>
                                        <p:tav tm="100000">
                                          <p:val>
                                            <p:strVal val="#ppt_y"/>
                                          </p:val>
                                        </p:tav>
                                      </p:tavLst>
                                    </p:anim>
                                  </p:childTnLst>
                                </p:cTn>
                              </p:par>
                            </p:childTnLst>
                          </p:cTn>
                        </p:par>
                        <p:par>
                          <p:cTn id="18" fill="hold">
                            <p:stCondLst>
                              <p:cond delay="2000"/>
                            </p:stCondLst>
                            <p:childTnLst>
                              <p:par>
                                <p:cTn id="19" presetID="2" presetClass="entr" presetSubtype="4" fill="hold" grpId="0" nodeType="afterEffect">
                                  <p:stCondLst>
                                    <p:cond delay="0"/>
                                  </p:stCondLst>
                                  <p:iterate>
                                    <p:tmAbs val="0"/>
                                  </p:iterate>
                                  <p:childTnLst>
                                    <p:set>
                                      <p:cBhvr>
                                        <p:cTn id="20" fill="hold"/>
                                        <p:tgtEl>
                                          <p:spTgt spid="115"/>
                                        </p:tgtEl>
                                        <p:attrNameLst>
                                          <p:attrName>style.visibility</p:attrName>
                                        </p:attrNameLst>
                                      </p:cBhvr>
                                      <p:to>
                                        <p:strVal val="visible"/>
                                      </p:to>
                                    </p:set>
                                    <p:anim calcmode="lin" valueType="num">
                                      <p:cBhvr>
                                        <p:cTn id="21" dur="1000" fill="hold"/>
                                        <p:tgtEl>
                                          <p:spTgt spid="115"/>
                                        </p:tgtEl>
                                        <p:attrNameLst>
                                          <p:attrName>ppt_x</p:attrName>
                                        </p:attrNameLst>
                                      </p:cBhvr>
                                      <p:tavLst>
                                        <p:tav tm="0">
                                          <p:val>
                                            <p:strVal val="#ppt_x"/>
                                          </p:val>
                                        </p:tav>
                                        <p:tav tm="100000">
                                          <p:val>
                                            <p:strVal val="#ppt_x"/>
                                          </p:val>
                                        </p:tav>
                                      </p:tavLst>
                                    </p:anim>
                                    <p:anim calcmode="lin" valueType="num">
                                      <p:cBhvr>
                                        <p:cTn id="22" dur="1000" fill="hold"/>
                                        <p:tgtEl>
                                          <p:spTgt spid="115"/>
                                        </p:tgtEl>
                                        <p:attrNameLst>
                                          <p:attrName>ppt_y</p:attrName>
                                        </p:attrNameLst>
                                      </p:cBhvr>
                                      <p:tavLst>
                                        <p:tav tm="0">
                                          <p:val>
                                            <p:strVal val="1+#ppt_h/2"/>
                                          </p:val>
                                        </p:tav>
                                        <p:tav tm="100000">
                                          <p:val>
                                            <p:strVal val="#ppt_y"/>
                                          </p:val>
                                        </p:tav>
                                      </p:tavLst>
                                    </p:anim>
                                  </p:childTnLst>
                                </p:cTn>
                              </p:par>
                            </p:childTnLst>
                          </p:cTn>
                        </p:par>
                        <p:par>
                          <p:cTn id="23" fill="hold">
                            <p:stCondLst>
                              <p:cond delay="3000"/>
                            </p:stCondLst>
                            <p:childTnLst>
                              <p:par>
                                <p:cTn id="24" presetID="2" presetClass="entr" presetSubtype="4" fill="hold" grpId="0" nodeType="afterEffect">
                                  <p:stCondLst>
                                    <p:cond delay="0"/>
                                  </p:stCondLst>
                                  <p:iterate>
                                    <p:tmAbs val="0"/>
                                  </p:iterate>
                                  <p:childTnLst>
                                    <p:set>
                                      <p:cBhvr>
                                        <p:cTn id="25" fill="hold"/>
                                        <p:tgtEl>
                                          <p:spTgt spid="116"/>
                                        </p:tgtEl>
                                        <p:attrNameLst>
                                          <p:attrName>style.visibility</p:attrName>
                                        </p:attrNameLst>
                                      </p:cBhvr>
                                      <p:to>
                                        <p:strVal val="visible"/>
                                      </p:to>
                                    </p:set>
                                    <p:anim calcmode="lin" valueType="num">
                                      <p:cBhvr>
                                        <p:cTn id="26" dur="1000" fill="hold"/>
                                        <p:tgtEl>
                                          <p:spTgt spid="116"/>
                                        </p:tgtEl>
                                        <p:attrNameLst>
                                          <p:attrName>ppt_x</p:attrName>
                                        </p:attrNameLst>
                                      </p:cBhvr>
                                      <p:tavLst>
                                        <p:tav tm="0">
                                          <p:val>
                                            <p:strVal val="#ppt_x"/>
                                          </p:val>
                                        </p:tav>
                                        <p:tav tm="100000">
                                          <p:val>
                                            <p:strVal val="#ppt_x"/>
                                          </p:val>
                                        </p:tav>
                                      </p:tavLst>
                                    </p:anim>
                                    <p:anim calcmode="lin" valueType="num">
                                      <p:cBhvr>
                                        <p:cTn id="27" dur="1000" fill="hold"/>
                                        <p:tgtEl>
                                          <p:spTgt spid="116"/>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3" presetClass="entr" presetSubtype="32" fill="hold" grpId="0" nodeType="clickEffect">
                                  <p:stCondLst>
                                    <p:cond delay="0"/>
                                  </p:stCondLst>
                                  <p:iterate>
                                    <p:tmAbs val="0"/>
                                  </p:iterate>
                                  <p:childTnLst>
                                    <p:set>
                                      <p:cBhvr>
                                        <p:cTn id="31" fill="hold"/>
                                        <p:tgtEl>
                                          <p:spTgt spid="111"/>
                                        </p:tgtEl>
                                        <p:attrNameLst>
                                          <p:attrName>style.visibility</p:attrName>
                                        </p:attrNameLst>
                                      </p:cBhvr>
                                      <p:to>
                                        <p:strVal val="visible"/>
                                      </p:to>
                                    </p:set>
                                    <p:anim calcmode="lin" valueType="num">
                                      <p:cBhvr>
                                        <p:cTn id="32" dur="500" fill="hold"/>
                                        <p:tgtEl>
                                          <p:spTgt spid="111"/>
                                        </p:tgtEl>
                                        <p:attrNameLst>
                                          <p:attrName>ppt_w</p:attrName>
                                        </p:attrNameLst>
                                      </p:cBhvr>
                                      <p:tavLst>
                                        <p:tav tm="0">
                                          <p:val>
                                            <p:fltVal val="0"/>
                                          </p:val>
                                        </p:tav>
                                        <p:tav tm="100000">
                                          <p:val>
                                            <p:strVal val="#ppt_w"/>
                                          </p:val>
                                        </p:tav>
                                      </p:tavLst>
                                    </p:anim>
                                    <p:anim calcmode="lin" valueType="num">
                                      <p:cBhvr>
                                        <p:cTn id="33" dur="500" fill="hold"/>
                                        <p:tgtEl>
                                          <p:spTgt spid="111"/>
                                        </p:tgtEl>
                                        <p:attrNameLst>
                                          <p:attrName>ppt_h</p:attrName>
                                        </p:attrNameLst>
                                      </p:cBhvr>
                                      <p:tavLst>
                                        <p:tav tm="0">
                                          <p:val>
                                            <p:fltVal val="0"/>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iterate>
                                    <p:tmAbs val="0"/>
                                  </p:iterate>
                                  <p:childTnLst>
                                    <p:set>
                                      <p:cBhvr>
                                        <p:cTn id="37" fill="hold"/>
                                        <p:tgtEl>
                                          <p:spTgt spid="110"/>
                                        </p:tgtEl>
                                        <p:attrNameLst>
                                          <p:attrName>style.visibility</p:attrName>
                                        </p:attrNameLst>
                                      </p:cBhvr>
                                      <p:to>
                                        <p:strVal val="visible"/>
                                      </p:to>
                                    </p:set>
                                    <p:anim calcmode="lin" valueType="num">
                                      <p:cBhvr>
                                        <p:cTn id="38" dur="1000" fill="hold"/>
                                        <p:tgtEl>
                                          <p:spTgt spid="110"/>
                                        </p:tgtEl>
                                        <p:attrNameLst>
                                          <p:attrName>ppt_x</p:attrName>
                                        </p:attrNameLst>
                                      </p:cBhvr>
                                      <p:tavLst>
                                        <p:tav tm="0">
                                          <p:val>
                                            <p:strVal val="#ppt_x"/>
                                          </p:val>
                                        </p:tav>
                                        <p:tav tm="100000">
                                          <p:val>
                                            <p:strVal val="#ppt_x"/>
                                          </p:val>
                                        </p:tav>
                                      </p:tavLst>
                                    </p:anim>
                                    <p:anim calcmode="lin" valueType="num">
                                      <p:cBhvr>
                                        <p:cTn id="39" dur="1000" fill="hold"/>
                                        <p:tgtEl>
                                          <p:spTgt spid="110"/>
                                        </p:tgtEl>
                                        <p:attrNameLst>
                                          <p:attrName>ppt_y</p:attrName>
                                        </p:attrNameLst>
                                      </p:cBhvr>
                                      <p:tavLst>
                                        <p:tav tm="0">
                                          <p:val>
                                            <p:strVal val="1+#ppt_h/2"/>
                                          </p:val>
                                        </p:tav>
                                        <p:tav tm="100000">
                                          <p:val>
                                            <p:strVal val="#ppt_y"/>
                                          </p:val>
                                        </p:tav>
                                      </p:tavLst>
                                    </p:anim>
                                  </p:childTnLst>
                                </p:cTn>
                              </p:par>
                            </p:childTnLst>
                          </p:cTn>
                        </p:par>
                        <p:par>
                          <p:cTn id="40" fill="hold">
                            <p:stCondLst>
                              <p:cond delay="1000"/>
                            </p:stCondLst>
                            <p:childTnLst>
                              <p:par>
                                <p:cTn id="41" presetID="2" presetClass="entr" presetSubtype="4" fill="hold" grpId="0" nodeType="afterEffect">
                                  <p:stCondLst>
                                    <p:cond delay="0"/>
                                  </p:stCondLst>
                                  <p:iterate>
                                    <p:tmAbs val="0"/>
                                  </p:iterate>
                                  <p:childTnLst>
                                    <p:set>
                                      <p:cBhvr>
                                        <p:cTn id="42" fill="hold"/>
                                        <p:tgtEl>
                                          <p:spTgt spid="113"/>
                                        </p:tgtEl>
                                        <p:attrNameLst>
                                          <p:attrName>style.visibility</p:attrName>
                                        </p:attrNameLst>
                                      </p:cBhvr>
                                      <p:to>
                                        <p:strVal val="visible"/>
                                      </p:to>
                                    </p:set>
                                    <p:anim calcmode="lin" valueType="num">
                                      <p:cBhvr>
                                        <p:cTn id="43" dur="1000" fill="hold"/>
                                        <p:tgtEl>
                                          <p:spTgt spid="113"/>
                                        </p:tgtEl>
                                        <p:attrNameLst>
                                          <p:attrName>ppt_x</p:attrName>
                                        </p:attrNameLst>
                                      </p:cBhvr>
                                      <p:tavLst>
                                        <p:tav tm="0">
                                          <p:val>
                                            <p:strVal val="#ppt_x"/>
                                          </p:val>
                                        </p:tav>
                                        <p:tav tm="100000">
                                          <p:val>
                                            <p:strVal val="#ppt_x"/>
                                          </p:val>
                                        </p:tav>
                                      </p:tavLst>
                                    </p:anim>
                                    <p:anim calcmode="lin" valueType="num">
                                      <p:cBhvr>
                                        <p:cTn id="44" dur="1000" fill="hold"/>
                                        <p:tgtEl>
                                          <p:spTgt spid="113"/>
                                        </p:tgtEl>
                                        <p:attrNameLst>
                                          <p:attrName>ppt_y</p:attrName>
                                        </p:attrNameLst>
                                      </p:cBhvr>
                                      <p:tavLst>
                                        <p:tav tm="0">
                                          <p:val>
                                            <p:strVal val="1+#ppt_h/2"/>
                                          </p:val>
                                        </p:tav>
                                        <p:tav tm="100000">
                                          <p:val>
                                            <p:strVal val="#ppt_y"/>
                                          </p:val>
                                        </p:tav>
                                      </p:tavLst>
                                    </p:anim>
                                  </p:childTnLst>
                                </p:cTn>
                              </p:par>
                            </p:childTnLst>
                          </p:cTn>
                        </p:par>
                        <p:par>
                          <p:cTn id="45" fill="hold">
                            <p:stCondLst>
                              <p:cond delay="2000"/>
                            </p:stCondLst>
                            <p:childTnLst>
                              <p:par>
                                <p:cTn id="46" presetID="2" presetClass="entr" presetSubtype="4" fill="hold" grpId="0" nodeType="afterEffect">
                                  <p:stCondLst>
                                    <p:cond delay="0"/>
                                  </p:stCondLst>
                                  <p:iterate>
                                    <p:tmAbs val="0"/>
                                  </p:iterate>
                                  <p:childTnLst>
                                    <p:set>
                                      <p:cBhvr>
                                        <p:cTn id="47" fill="hold"/>
                                        <p:tgtEl>
                                          <p:spTgt spid="114"/>
                                        </p:tgtEl>
                                        <p:attrNameLst>
                                          <p:attrName>style.visibility</p:attrName>
                                        </p:attrNameLst>
                                      </p:cBhvr>
                                      <p:to>
                                        <p:strVal val="visible"/>
                                      </p:to>
                                    </p:set>
                                    <p:anim calcmode="lin" valueType="num">
                                      <p:cBhvr>
                                        <p:cTn id="48" dur="1000" fill="hold"/>
                                        <p:tgtEl>
                                          <p:spTgt spid="114"/>
                                        </p:tgtEl>
                                        <p:attrNameLst>
                                          <p:attrName>ppt_x</p:attrName>
                                        </p:attrNameLst>
                                      </p:cBhvr>
                                      <p:tavLst>
                                        <p:tav tm="0">
                                          <p:val>
                                            <p:strVal val="#ppt_x"/>
                                          </p:val>
                                        </p:tav>
                                        <p:tav tm="100000">
                                          <p:val>
                                            <p:strVal val="#ppt_x"/>
                                          </p:val>
                                        </p:tav>
                                      </p:tavLst>
                                    </p:anim>
                                    <p:anim calcmode="lin" valueType="num">
                                      <p:cBhvr>
                                        <p:cTn id="49" dur="1000" fill="hold"/>
                                        <p:tgtEl>
                                          <p:spTgt spid="1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 grpId="0" build="p" animBg="1" advAuto="0"/>
      <p:bldP spid="110" grpId="0" animBg="1" advAuto="0"/>
      <p:bldP spid="111" grpId="0" animBg="1" advAuto="0"/>
      <p:bldP spid="112" grpId="0" animBg="1" advAuto="0"/>
      <p:bldP spid="113" grpId="0" animBg="1" advAuto="0"/>
      <p:bldP spid="114" grpId="0" animBg="1" advAuto="0"/>
      <p:bldP spid="115" grpId="0" animBg="1" advAuto="0"/>
      <p:bldP spid="116" grpId="0" animBg="1" advAuto="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p:txBody>
          <a:bodyPr/>
          <a:lstStyle/>
          <a:p>
            <a:pPr marL="45720" indent="0">
              <a:buNone/>
            </a:pPr>
            <a:r>
              <a:rPr lang="ru-RU" dirty="0" smtClean="0"/>
              <a:t>3) Для </a:t>
            </a:r>
            <a:r>
              <a:rPr lang="ru-RU" dirty="0" err="1" smtClean="0"/>
              <a:t>коучинга</a:t>
            </a:r>
            <a:r>
              <a:rPr lang="ru-RU" dirty="0" smtClean="0"/>
              <a:t> характерна некая степень технологичности, </a:t>
            </a:r>
            <a:r>
              <a:rPr lang="ru-RU" dirty="0" err="1" smtClean="0"/>
              <a:t>инструментальности</a:t>
            </a:r>
            <a:r>
              <a:rPr lang="ru-RU" dirty="0" smtClean="0"/>
              <a:t>: </a:t>
            </a:r>
            <a:r>
              <a:rPr lang="ru-RU" dirty="0" smtClean="0"/>
              <a:t>есть макромодели, есть техники (микромодели), где присутствует есть некая последовательность </a:t>
            </a:r>
            <a:r>
              <a:rPr lang="ru-RU" dirty="0"/>
              <a:t>шагов, </a:t>
            </a:r>
            <a:r>
              <a:rPr lang="ru-RU" dirty="0" err="1" smtClean="0"/>
              <a:t>алгоритмичность</a:t>
            </a:r>
            <a:r>
              <a:rPr lang="ru-RU" dirty="0" smtClean="0"/>
              <a:t>.</a:t>
            </a:r>
          </a:p>
          <a:p>
            <a:pPr marL="45720" indent="0">
              <a:buNone/>
            </a:pPr>
            <a:r>
              <a:rPr lang="ru-RU" dirty="0" smtClean="0"/>
              <a:t>В этом заключается одно из принципиальных отличий от психотерапии и консультирования</a:t>
            </a:r>
            <a:endParaRPr lang="ru-RU" dirty="0"/>
          </a:p>
        </p:txBody>
      </p:sp>
    </p:spTree>
    <p:extLst>
      <p:ext uri="{BB962C8B-B14F-4D97-AF65-F5344CB8AC3E}">
        <p14:creationId xmlns:p14="http://schemas.microsoft.com/office/powerpoint/2010/main" val="2128376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971600" y="2492896"/>
            <a:ext cx="7992888" cy="1113304"/>
          </a:xfrm>
        </p:spPr>
        <p:txBody>
          <a:bodyPr/>
          <a:lstStyle/>
          <a:p>
            <a:pPr marL="45720" indent="0">
              <a:buNone/>
            </a:pPr>
            <a:r>
              <a:rPr lang="ru-RU" dirty="0" smtClean="0"/>
              <a:t>А теперь про трансформационный подход в </a:t>
            </a:r>
            <a:r>
              <a:rPr lang="ru-RU" dirty="0" err="1" smtClean="0"/>
              <a:t>коучинге</a:t>
            </a:r>
            <a:r>
              <a:rPr lang="ru-RU" dirty="0" smtClean="0"/>
              <a:t>…</a:t>
            </a:r>
            <a:endParaRPr lang="ru-RU" dirty="0"/>
          </a:p>
        </p:txBody>
      </p:sp>
    </p:spTree>
    <p:extLst>
      <p:ext uri="{BB962C8B-B14F-4D97-AF65-F5344CB8AC3E}">
        <p14:creationId xmlns:p14="http://schemas.microsoft.com/office/powerpoint/2010/main" val="20631856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611560" y="731520"/>
            <a:ext cx="8136904" cy="5361776"/>
          </a:xfrm>
        </p:spPr>
        <p:txBody>
          <a:bodyPr>
            <a:normAutofit fontScale="85000" lnSpcReduction="20000"/>
          </a:bodyPr>
          <a:lstStyle/>
          <a:p>
            <a:pPr marL="45720" indent="0" algn="ctr">
              <a:buNone/>
            </a:pPr>
            <a:r>
              <a:rPr lang="ru-RU" sz="2800" b="1" dirty="0">
                <a:solidFill>
                  <a:schemeClr val="accent1"/>
                </a:solidFill>
              </a:rPr>
              <a:t>Трансформация</a:t>
            </a:r>
          </a:p>
          <a:p>
            <a:pPr marL="45720" indent="0">
              <a:buNone/>
            </a:pPr>
            <a:r>
              <a:rPr lang="ru-RU" sz="2400" dirty="0"/>
              <a:t>(</a:t>
            </a:r>
            <a:r>
              <a:rPr lang="ru-RU" sz="2400" dirty="0" err="1"/>
              <a:t>латин</a:t>
            </a:r>
            <a:r>
              <a:rPr lang="ru-RU" sz="2400" dirty="0"/>
              <a:t>. </a:t>
            </a:r>
            <a:r>
              <a:rPr lang="en-US" sz="2400" dirty="0"/>
              <a:t>T</a:t>
            </a:r>
            <a:r>
              <a:rPr lang="ru-RU" sz="2400" dirty="0" err="1"/>
              <a:t>ransformatio</a:t>
            </a:r>
            <a:r>
              <a:rPr lang="ru-RU" sz="2400" dirty="0"/>
              <a:t>)</a:t>
            </a:r>
          </a:p>
          <a:p>
            <a:pPr marL="45720" indent="0">
              <a:buNone/>
            </a:pPr>
            <a:r>
              <a:rPr lang="ru-RU" sz="2400" b="1" dirty="0">
                <a:solidFill>
                  <a:srgbClr val="FF0000"/>
                </a:solidFill>
              </a:rPr>
              <a:t>1.</a:t>
            </a:r>
            <a:r>
              <a:rPr lang="ru-RU" sz="2400" dirty="0">
                <a:solidFill>
                  <a:srgbClr val="FF0000"/>
                </a:solidFill>
              </a:rPr>
              <a:t> Перемена вида, формы чего-н., ПРЕОБРАЗОВАНИЕ, превращение (книжн.). </a:t>
            </a:r>
          </a:p>
          <a:p>
            <a:pPr marL="45720" indent="0">
              <a:buNone/>
            </a:pPr>
            <a:r>
              <a:rPr lang="ru-RU" sz="2400" b="1" dirty="0"/>
              <a:t>2.</a:t>
            </a:r>
            <a:r>
              <a:rPr lang="ru-RU" sz="2400" dirty="0"/>
              <a:t> </a:t>
            </a:r>
            <a:r>
              <a:rPr lang="ru-RU" sz="2400" i="1" dirty="0"/>
              <a:t>только ед.</a:t>
            </a:r>
            <a:r>
              <a:rPr lang="ru-RU" sz="2400" dirty="0"/>
              <a:t> Преобразование переменного тока при помощи трансформатора (см. </a:t>
            </a:r>
            <a:r>
              <a:rPr lang="ru-RU" sz="2400" dirty="0">
                <a:hlinkClick r:id="rId2"/>
              </a:rPr>
              <a:t>трансформатор</a:t>
            </a:r>
            <a:r>
              <a:rPr lang="ru-RU" sz="2400" dirty="0"/>
              <a:t> во 2 знач.; физ., тех.). </a:t>
            </a:r>
          </a:p>
          <a:p>
            <a:pPr marL="45720" indent="0">
              <a:buNone/>
            </a:pPr>
            <a:r>
              <a:rPr lang="ru-RU" sz="2400" b="1" dirty="0"/>
              <a:t>3.</a:t>
            </a:r>
            <a:r>
              <a:rPr lang="ru-RU" sz="2400" dirty="0"/>
              <a:t> </a:t>
            </a:r>
            <a:r>
              <a:rPr lang="ru-RU" sz="2400" i="1" dirty="0"/>
              <a:t>только ед.</a:t>
            </a:r>
            <a:r>
              <a:rPr lang="ru-RU" sz="2400" dirty="0"/>
              <a:t> Искусство трансформатора (см. </a:t>
            </a:r>
            <a:r>
              <a:rPr lang="ru-RU" sz="2400" dirty="0">
                <a:hlinkClick r:id="rId2"/>
              </a:rPr>
              <a:t>трансформатор</a:t>
            </a:r>
            <a:r>
              <a:rPr lang="ru-RU" sz="2400" dirty="0"/>
              <a:t> в 3 знач.; театр.). </a:t>
            </a:r>
            <a:r>
              <a:rPr lang="ru-RU" sz="2400" i="1" dirty="0"/>
              <a:t>Приемы трансформации.</a:t>
            </a:r>
            <a:endParaRPr lang="ru-RU" sz="2400" dirty="0"/>
          </a:p>
          <a:p>
            <a:pPr marL="45720" indent="0">
              <a:buNone/>
            </a:pPr>
            <a:r>
              <a:rPr lang="ru-RU" sz="2400" dirty="0"/>
              <a:t>Толковый словарь русского языка» под редакцией Д. Н. Ушакова</a:t>
            </a:r>
          </a:p>
          <a:p>
            <a:pPr marL="45720" indent="0" algn="ctr">
              <a:buNone/>
            </a:pPr>
            <a:endParaRPr lang="ru-RU" sz="2400" b="1" dirty="0">
              <a:solidFill>
                <a:schemeClr val="accent1"/>
              </a:solidFill>
            </a:endParaRPr>
          </a:p>
          <a:p>
            <a:pPr marL="45720" indent="0" algn="ctr">
              <a:buNone/>
            </a:pPr>
            <a:r>
              <a:rPr lang="ru-RU" sz="2400" b="1" dirty="0" err="1">
                <a:solidFill>
                  <a:schemeClr val="accent1"/>
                </a:solidFill>
              </a:rPr>
              <a:t>Кри́зис</a:t>
            </a:r>
            <a:r>
              <a:rPr lang="ru-RU" sz="2400" dirty="0">
                <a:solidFill>
                  <a:schemeClr val="accent1"/>
                </a:solidFill>
              </a:rPr>
              <a:t> </a:t>
            </a:r>
          </a:p>
          <a:p>
            <a:pPr marL="45720" indent="0">
              <a:buNone/>
            </a:pPr>
            <a:r>
              <a:rPr lang="ru-RU" dirty="0"/>
              <a:t>(</a:t>
            </a:r>
            <a:r>
              <a:rPr lang="ru-RU" dirty="0">
                <a:hlinkClick r:id="rId3" tooltip="Древнегреческий язык"/>
              </a:rPr>
              <a:t>др.-греч.</a:t>
            </a:r>
            <a:r>
              <a:rPr lang="ru-RU" dirty="0"/>
              <a:t> </a:t>
            </a:r>
            <a:r>
              <a:rPr lang="ru-RU" dirty="0" err="1"/>
              <a:t>κρίσις</a:t>
            </a:r>
            <a:r>
              <a:rPr lang="ru-RU" dirty="0"/>
              <a:t> – суд, приговор, решение; поворотный пункт) </a:t>
            </a:r>
          </a:p>
          <a:p>
            <a:pPr marL="45720" indent="0">
              <a:buNone/>
            </a:pPr>
            <a:r>
              <a:rPr lang="ru-RU" dirty="0">
                <a:solidFill>
                  <a:srgbClr val="FF0000"/>
                </a:solidFill>
              </a:rPr>
              <a:t>— переворот, пора переходного состояния, перелом</a:t>
            </a:r>
            <a:r>
              <a:rPr lang="ru-RU" dirty="0"/>
              <a:t>, состояние, при котором существующие средства достижения целей становятся неадекватными</a:t>
            </a:r>
          </a:p>
          <a:p>
            <a:pPr marL="45720" indent="0" algn="r">
              <a:buNone/>
            </a:pPr>
            <a:r>
              <a:rPr lang="ru-RU" dirty="0"/>
              <a:t>Википедия</a:t>
            </a:r>
          </a:p>
          <a:p>
            <a:pPr marL="45720" indent="0" algn="ctr">
              <a:buNone/>
            </a:pPr>
            <a:endParaRPr lang="ru-RU" sz="2400" b="1" dirty="0">
              <a:solidFill>
                <a:schemeClr val="accent1"/>
              </a:solidFill>
            </a:endParaRPr>
          </a:p>
        </p:txBody>
      </p:sp>
    </p:spTree>
    <p:extLst>
      <p:ext uri="{BB962C8B-B14F-4D97-AF65-F5344CB8AC3E}">
        <p14:creationId xmlns:p14="http://schemas.microsoft.com/office/powerpoint/2010/main" val="32026701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619672" y="3789040"/>
            <a:ext cx="6512511" cy="1143000"/>
          </a:xfrm>
        </p:spPr>
        <p:txBody>
          <a:bodyPr/>
          <a:lstStyle/>
          <a:p>
            <a:pPr marL="0" indent="0" algn="ctr">
              <a:buNone/>
            </a:pPr>
            <a:r>
              <a:rPr lang="ru-RU" sz="1800" dirty="0"/>
              <a:t>Кризис – это что-то выходящее за рамки, за пределы обычного уклада жизни. Это синоним слова «изменения»</a:t>
            </a:r>
            <a:br>
              <a:rPr lang="ru-RU" sz="1800" dirty="0"/>
            </a:br>
            <a:r>
              <a:rPr lang="ru-RU" sz="1800" dirty="0"/>
              <a:t>Это ответ на внешние или внутренние обстоятельства</a:t>
            </a:r>
            <a:br>
              <a:rPr lang="ru-RU" sz="1800" dirty="0"/>
            </a:br>
            <a:r>
              <a:rPr lang="ru-RU" sz="1800" dirty="0"/>
              <a:t>Возникают в жизни каждого человека</a:t>
            </a:r>
            <a:br>
              <a:rPr lang="ru-RU" sz="1800" dirty="0"/>
            </a:br>
            <a:r>
              <a:rPr lang="ru-RU" sz="1800" dirty="0"/>
              <a:t>Связаны с выбором </a:t>
            </a:r>
            <a:br>
              <a:rPr lang="ru-RU" sz="1800" dirty="0"/>
            </a:br>
            <a:r>
              <a:rPr lang="ru-RU" sz="1800" dirty="0"/>
              <a:t/>
            </a:r>
            <a:br>
              <a:rPr lang="ru-RU" sz="1800" dirty="0"/>
            </a:br>
            <a:r>
              <a:rPr lang="ru-RU" sz="1800" dirty="0">
                <a:solidFill>
                  <a:srgbClr val="FF0000"/>
                </a:solidFill>
              </a:rPr>
              <a:t>КРИЗИС - ЭТО ТОЧКА, ГДЕ У ЧЕЛОВЕКА МЕНЯЕТСЯ ВЕКТОР НАПРАВЛЕНИЯ, </a:t>
            </a:r>
            <a:br>
              <a:rPr lang="ru-RU" sz="1800" dirty="0">
                <a:solidFill>
                  <a:srgbClr val="FF0000"/>
                </a:solidFill>
              </a:rPr>
            </a:br>
            <a:r>
              <a:rPr lang="ru-RU" sz="1800" dirty="0">
                <a:solidFill>
                  <a:srgbClr val="FF0000"/>
                </a:solidFill>
              </a:rPr>
              <a:t>ЖИЗНЕННЫЕ и ПРОФЕССИОНАЛЬНЫЕ СТРАТЕГИИ</a:t>
            </a:r>
          </a:p>
        </p:txBody>
      </p:sp>
      <p:pic>
        <p:nvPicPr>
          <p:cNvPr id="6" name="Объект 5"/>
          <p:cNvPicPr>
            <a:picLocks noGrp="1" noChangeAspect="1"/>
          </p:cNvPicPr>
          <p:nvPr>
            <p:ph sz="quarter" idx="13"/>
          </p:nvPr>
        </p:nvPicPr>
        <p:blipFill>
          <a:blip r:embed="rId2" cstate="print">
            <a:extLst>
              <a:ext uri="{28A0092B-C50C-407E-A947-70E740481C1C}">
                <a14:useLocalDpi xmlns:a14="http://schemas.microsoft.com/office/drawing/2010/main" val="0"/>
              </a:ext>
            </a:extLst>
          </a:blip>
          <a:stretch>
            <a:fillRect/>
          </a:stretch>
        </p:blipFill>
        <p:spPr>
          <a:xfrm>
            <a:off x="1979712" y="116632"/>
            <a:ext cx="5040560" cy="3456384"/>
          </a:xfrm>
        </p:spPr>
      </p:pic>
    </p:spTree>
    <p:extLst>
      <p:ext uri="{BB962C8B-B14F-4D97-AF65-F5344CB8AC3E}">
        <p14:creationId xmlns:p14="http://schemas.microsoft.com/office/powerpoint/2010/main" val="13708332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331640" y="332656"/>
            <a:ext cx="6512511" cy="569000"/>
          </a:xfrm>
        </p:spPr>
        <p:txBody>
          <a:bodyPr/>
          <a:lstStyle/>
          <a:p>
            <a:pPr marL="0" indent="0" algn="ctr">
              <a:buNone/>
            </a:pPr>
            <a:r>
              <a:rPr lang="ru-RU" sz="2800" dirty="0">
                <a:solidFill>
                  <a:srgbClr val="0070C0"/>
                </a:solidFill>
              </a:rPr>
              <a:t>Кризисные ситуации</a:t>
            </a:r>
          </a:p>
        </p:txBody>
      </p:sp>
      <p:sp>
        <p:nvSpPr>
          <p:cNvPr id="3" name="Объект 2"/>
          <p:cNvSpPr>
            <a:spLocks noGrp="1"/>
          </p:cNvSpPr>
          <p:nvPr>
            <p:ph sz="quarter" idx="13"/>
          </p:nvPr>
        </p:nvSpPr>
        <p:spPr>
          <a:xfrm>
            <a:off x="899592" y="1196752"/>
            <a:ext cx="7488832" cy="4680520"/>
          </a:xfrm>
        </p:spPr>
        <p:txBody>
          <a:bodyPr>
            <a:normAutofit fontScale="70000" lnSpcReduction="20000"/>
          </a:bodyPr>
          <a:lstStyle/>
          <a:p>
            <a:pPr marL="45720" indent="0">
              <a:buNone/>
            </a:pPr>
            <a:r>
              <a:rPr lang="ru-RU" dirty="0">
                <a:solidFill>
                  <a:srgbClr val="FF0000"/>
                </a:solidFill>
              </a:rPr>
              <a:t>Индивидуальные, личные, личностные:</a:t>
            </a:r>
          </a:p>
          <a:p>
            <a:r>
              <a:rPr lang="ru-RU" dirty="0"/>
              <a:t>Возрастные, экзистенциальные (изменение смысла, ценностей)</a:t>
            </a:r>
          </a:p>
          <a:p>
            <a:r>
              <a:rPr lang="ru-RU" dirty="0"/>
              <a:t>Связанные со здоровьем (изменения в физиологии)</a:t>
            </a:r>
          </a:p>
          <a:p>
            <a:r>
              <a:rPr lang="ru-RU" dirty="0"/>
              <a:t>Потери, </a:t>
            </a:r>
            <a:r>
              <a:rPr lang="ru-RU" dirty="0" err="1"/>
              <a:t>горевание</a:t>
            </a:r>
            <a:r>
              <a:rPr lang="ru-RU" dirty="0"/>
              <a:t> (потеря работы, отношений, человека)</a:t>
            </a:r>
          </a:p>
          <a:p>
            <a:pPr marL="45720" indent="0">
              <a:buNone/>
            </a:pPr>
            <a:endParaRPr lang="ru-RU" dirty="0"/>
          </a:p>
          <a:p>
            <a:pPr marL="45720" indent="0">
              <a:buNone/>
            </a:pPr>
            <a:r>
              <a:rPr lang="ru-RU" dirty="0">
                <a:solidFill>
                  <a:srgbClr val="FF0000"/>
                </a:solidFill>
              </a:rPr>
              <a:t>Масштабные:</a:t>
            </a:r>
          </a:p>
          <a:p>
            <a:r>
              <a:rPr lang="ru-RU" dirty="0"/>
              <a:t>Социальные (войны, эпидемии)</a:t>
            </a:r>
          </a:p>
          <a:p>
            <a:r>
              <a:rPr lang="ru-RU" dirty="0"/>
              <a:t>Экономические</a:t>
            </a:r>
          </a:p>
          <a:p>
            <a:r>
              <a:rPr lang="ru-RU" dirty="0"/>
              <a:t>Экологические (землетрясения)</a:t>
            </a:r>
          </a:p>
          <a:p>
            <a:r>
              <a:rPr lang="ru-RU" dirty="0"/>
              <a:t>Техногенные (Чернобыль) </a:t>
            </a:r>
          </a:p>
          <a:p>
            <a:pPr marL="45720" indent="0">
              <a:buNone/>
            </a:pPr>
            <a:endParaRPr lang="ru-RU" dirty="0"/>
          </a:p>
          <a:p>
            <a:pPr marL="45720" indent="0" algn="ctr">
              <a:buNone/>
            </a:pPr>
            <a:r>
              <a:rPr lang="ru-RU" dirty="0">
                <a:solidFill>
                  <a:srgbClr val="FF0000"/>
                </a:solidFill>
              </a:rPr>
              <a:t>Что общего во всех ситуациях: </a:t>
            </a:r>
          </a:p>
          <a:p>
            <a:pPr algn="ctr"/>
            <a:r>
              <a:rPr lang="ru-RU" dirty="0">
                <a:solidFill>
                  <a:srgbClr val="FF0000"/>
                </a:solidFill>
              </a:rPr>
              <a:t>Нарушают привычный уклад жизни</a:t>
            </a:r>
          </a:p>
          <a:p>
            <a:pPr algn="ctr"/>
            <a:r>
              <a:rPr lang="ru-RU" dirty="0">
                <a:solidFill>
                  <a:srgbClr val="FF0000"/>
                </a:solidFill>
              </a:rPr>
              <a:t>Дезориентация на внешнем уровне (не понимаю, что происходит, непонятны внешние ориентиры)</a:t>
            </a:r>
          </a:p>
          <a:p>
            <a:pPr algn="ctr"/>
            <a:r>
              <a:rPr lang="ru-RU" dirty="0">
                <a:solidFill>
                  <a:srgbClr val="FF0000"/>
                </a:solidFill>
              </a:rPr>
              <a:t>Дезорганизация на внутреннем уровне (не знаю, куда идти, что делать. </a:t>
            </a:r>
          </a:p>
          <a:p>
            <a:pPr marL="45720" indent="0" algn="ctr">
              <a:buNone/>
            </a:pPr>
            <a:r>
              <a:rPr lang="ru-RU" dirty="0">
                <a:solidFill>
                  <a:srgbClr val="FF0000"/>
                </a:solidFill>
              </a:rPr>
              <a:t>Часто </a:t>
            </a:r>
            <a:r>
              <a:rPr lang="ru-RU" dirty="0" err="1">
                <a:solidFill>
                  <a:srgbClr val="FF0000"/>
                </a:solidFill>
              </a:rPr>
              <a:t>внутриличностный</a:t>
            </a:r>
            <a:r>
              <a:rPr lang="ru-RU" dirty="0">
                <a:solidFill>
                  <a:srgbClr val="FF0000"/>
                </a:solidFill>
              </a:rPr>
              <a:t> конфликт)</a:t>
            </a:r>
          </a:p>
          <a:p>
            <a:pPr marL="45720" indent="0">
              <a:buNone/>
            </a:pPr>
            <a:endParaRPr lang="ru-RU" dirty="0"/>
          </a:p>
        </p:txBody>
      </p:sp>
    </p:spTree>
    <p:extLst>
      <p:ext uri="{BB962C8B-B14F-4D97-AF65-F5344CB8AC3E}">
        <p14:creationId xmlns:p14="http://schemas.microsoft.com/office/powerpoint/2010/main" val="18877447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539552" y="1556792"/>
            <a:ext cx="7992888" cy="3474720"/>
          </a:xfrm>
        </p:spPr>
        <p:txBody>
          <a:bodyPr>
            <a:normAutofit/>
          </a:bodyPr>
          <a:lstStyle/>
          <a:p>
            <a:pPr marL="45720" indent="0">
              <a:buNone/>
            </a:pPr>
            <a:r>
              <a:rPr lang="ru-RU" dirty="0" smtClean="0"/>
              <a:t>Если обобщить, то есть </a:t>
            </a:r>
            <a:r>
              <a:rPr lang="ru-RU" dirty="0"/>
              <a:t>2 </a:t>
            </a:r>
            <a:r>
              <a:rPr lang="ru-RU" dirty="0" smtClean="0"/>
              <a:t>вида трансформации</a:t>
            </a:r>
            <a:r>
              <a:rPr lang="ru-RU" dirty="0"/>
              <a:t>: </a:t>
            </a:r>
            <a:r>
              <a:rPr lang="ru-RU" dirty="0" smtClean="0"/>
              <a:t>внешняя </a:t>
            </a:r>
            <a:r>
              <a:rPr lang="ru-RU" dirty="0"/>
              <a:t>и </a:t>
            </a:r>
            <a:r>
              <a:rPr lang="ru-RU" dirty="0" smtClean="0"/>
              <a:t>внутренняя. </a:t>
            </a:r>
          </a:p>
          <a:p>
            <a:pPr marL="45720" indent="0">
              <a:buNone/>
            </a:pPr>
            <a:r>
              <a:rPr lang="ru-RU" dirty="0" smtClean="0"/>
              <a:t>Внутренняя </a:t>
            </a:r>
            <a:r>
              <a:rPr lang="ru-RU" dirty="0"/>
              <a:t>- </a:t>
            </a:r>
            <a:r>
              <a:rPr lang="ru-RU" dirty="0">
                <a:solidFill>
                  <a:srgbClr val="C00000"/>
                </a:solidFill>
              </a:rPr>
              <a:t>изменения произошли в</a:t>
            </a:r>
            <a:r>
              <a:rPr lang="ru-RU" dirty="0"/>
              <a:t>нутри и человек изменил свое </a:t>
            </a:r>
            <a:r>
              <a:rPr lang="ru-RU" dirty="0" smtClean="0"/>
              <a:t>поведение</a:t>
            </a:r>
          </a:p>
          <a:p>
            <a:pPr marL="45720" indent="0">
              <a:buNone/>
            </a:pPr>
            <a:r>
              <a:rPr lang="ru-RU" dirty="0" smtClean="0"/>
              <a:t>Внешняя </a:t>
            </a:r>
            <a:r>
              <a:rPr lang="ru-RU" dirty="0"/>
              <a:t>– </a:t>
            </a:r>
            <a:r>
              <a:rPr lang="ru-RU" dirty="0" smtClean="0">
                <a:solidFill>
                  <a:srgbClr val="C00000"/>
                </a:solidFill>
              </a:rPr>
              <a:t>изменились </a:t>
            </a:r>
            <a:r>
              <a:rPr lang="ru-RU" dirty="0">
                <a:solidFill>
                  <a:srgbClr val="C00000"/>
                </a:solidFill>
              </a:rPr>
              <a:t>условия среды </a:t>
            </a:r>
            <a:r>
              <a:rPr lang="ru-RU" dirty="0"/>
              <a:t>и человеку приходится трансформироваться (например, рождение ребенка</a:t>
            </a:r>
            <a:r>
              <a:rPr lang="ru-RU" dirty="0" smtClean="0"/>
              <a:t>, </a:t>
            </a:r>
            <a:r>
              <a:rPr lang="ru-RU" dirty="0"/>
              <a:t>обучение, АА, армия)</a:t>
            </a:r>
          </a:p>
        </p:txBody>
      </p:sp>
    </p:spTree>
    <p:extLst>
      <p:ext uri="{BB962C8B-B14F-4D97-AF65-F5344CB8AC3E}">
        <p14:creationId xmlns:p14="http://schemas.microsoft.com/office/powerpoint/2010/main" val="6233712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6" name="Picture 12" descr="https://4.bp.blogspot.com/-QQLJQqE5v3I/XeUri9XI5_I/AAAAAAAAG0Y/VmjM2TfVFPUxRVzCyA6lZyk4rEmjNG6dACLcBGAsYHQ/s1600/6.jpg"/>
          <p:cNvPicPr>
            <a:picLocks noGrp="1" noChangeAspect="1" noChangeArrowheads="1"/>
          </p:cNvPicPr>
          <p:nvPr>
            <p:ph sz="quarter" idx="13"/>
          </p:nvPr>
        </p:nvPicPr>
        <p:blipFill>
          <a:blip r:embed="rId2">
            <a:extLst>
              <a:ext uri="{28A0092B-C50C-407E-A947-70E740481C1C}">
                <a14:useLocalDpi xmlns:a14="http://schemas.microsoft.com/office/drawing/2010/main" val="0"/>
              </a:ext>
            </a:extLst>
          </a:blip>
          <a:srcRect/>
          <a:stretch>
            <a:fillRect/>
          </a:stretch>
        </p:blipFill>
        <p:spPr bwMode="auto">
          <a:xfrm>
            <a:off x="251520" y="758002"/>
            <a:ext cx="8568952" cy="47592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49124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251520" y="1628800"/>
            <a:ext cx="8784976" cy="3474720"/>
          </a:xfrm>
        </p:spPr>
        <p:txBody>
          <a:bodyPr/>
          <a:lstStyle/>
          <a:p>
            <a:pPr marL="45720" indent="0">
              <a:buNone/>
            </a:pPr>
            <a:endParaRPr lang="ru-RU" dirty="0">
              <a:solidFill>
                <a:srgbClr val="FF0000"/>
              </a:solidFill>
            </a:endParaRPr>
          </a:p>
          <a:p>
            <a:pPr marL="45720" indent="0">
              <a:buNone/>
            </a:pPr>
            <a:endParaRPr lang="ru-RU" dirty="0">
              <a:solidFill>
                <a:srgbClr val="FF0000"/>
              </a:solidFill>
            </a:endParaRPr>
          </a:p>
          <a:p>
            <a:pPr marL="45720" indent="0" algn="ctr">
              <a:buNone/>
            </a:pPr>
            <a:r>
              <a:rPr lang="ru-RU" dirty="0">
                <a:solidFill>
                  <a:srgbClr val="FF0000"/>
                </a:solidFill>
              </a:rPr>
              <a:t>Далее на модуле – про зону развития/обучения/дискомфорта и личные трансформации!!!</a:t>
            </a:r>
          </a:p>
        </p:txBody>
      </p:sp>
    </p:spTree>
    <p:extLst>
      <p:ext uri="{BB962C8B-B14F-4D97-AF65-F5344CB8AC3E}">
        <p14:creationId xmlns:p14="http://schemas.microsoft.com/office/powerpoint/2010/main" val="23485427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 2"/>
          <p:cNvSpPr>
            <a:spLocks noGrp="1"/>
          </p:cNvSpPr>
          <p:nvPr>
            <p:ph type="body" idx="1"/>
          </p:nvPr>
        </p:nvSpPr>
        <p:spPr>
          <a:xfrm>
            <a:off x="611560" y="260648"/>
            <a:ext cx="8424936" cy="6408712"/>
          </a:xfrm>
        </p:spPr>
        <p:txBody>
          <a:bodyPr>
            <a:normAutofit fontScale="55000" lnSpcReduction="20000"/>
          </a:bodyPr>
          <a:lstStyle/>
          <a:p>
            <a:pPr algn="ctr"/>
            <a:r>
              <a:rPr lang="ru-RU" sz="2400" dirty="0">
                <a:solidFill>
                  <a:schemeClr val="accent1"/>
                </a:solidFill>
              </a:rPr>
              <a:t> </a:t>
            </a:r>
            <a:r>
              <a:rPr lang="ru-RU" sz="3400" dirty="0">
                <a:solidFill>
                  <a:schemeClr val="accent1"/>
                </a:solidFill>
              </a:rPr>
              <a:t>Трансформационный (стратегический) </a:t>
            </a:r>
            <a:r>
              <a:rPr lang="ru-RU" sz="3400" dirty="0" err="1">
                <a:solidFill>
                  <a:schemeClr val="accent1"/>
                </a:solidFill>
              </a:rPr>
              <a:t>коучинг</a:t>
            </a:r>
            <a:r>
              <a:rPr lang="ru-RU" sz="3400" dirty="0">
                <a:solidFill>
                  <a:schemeClr val="accent1"/>
                </a:solidFill>
              </a:rPr>
              <a:t> </a:t>
            </a:r>
            <a:r>
              <a:rPr lang="ru-RU" sz="3400" dirty="0"/>
              <a:t>–</a:t>
            </a:r>
          </a:p>
          <a:p>
            <a:pPr algn="l"/>
            <a:endParaRPr lang="ru-RU" sz="2400" dirty="0"/>
          </a:p>
          <a:p>
            <a:pPr marL="342900" indent="-342900" algn="l">
              <a:buFont typeface="Arial" charset="0"/>
              <a:buChar char="•"/>
            </a:pPr>
            <a:r>
              <a:rPr lang="ru-RU" sz="2600" dirty="0"/>
              <a:t>Это уровень </a:t>
            </a:r>
            <a:r>
              <a:rPr lang="ru-RU" sz="2600" b="1" dirty="0">
                <a:solidFill>
                  <a:srgbClr val="FF0000"/>
                </a:solidFill>
              </a:rPr>
              <a:t>ТРАНСФОРМАЦИОННЫХ, СТРАТЕГИЧЕСКИХ, ГЛУБИННЫХ ЛИЧНОСТНЫХ, т. е. ПСИХОЛОГИЧЕСКИХ ИЗМЕНЕНИЙ </a:t>
            </a:r>
          </a:p>
          <a:p>
            <a:pPr algn="l"/>
            <a:r>
              <a:rPr lang="ru-RU" sz="2600" b="1" dirty="0">
                <a:solidFill>
                  <a:srgbClr val="FF0000"/>
                </a:solidFill>
              </a:rPr>
              <a:t>     </a:t>
            </a:r>
          </a:p>
          <a:p>
            <a:pPr algn="l"/>
            <a:r>
              <a:rPr lang="ru-RU" sz="2600" b="1" dirty="0">
                <a:solidFill>
                  <a:srgbClr val="FF0000"/>
                </a:solidFill>
              </a:rPr>
              <a:t>     !!! Здесь </a:t>
            </a:r>
            <a:r>
              <a:rPr lang="ru-RU" sz="2600" b="1" dirty="0" err="1">
                <a:solidFill>
                  <a:srgbClr val="FF0000"/>
                </a:solidFill>
              </a:rPr>
              <a:t>коучинг</a:t>
            </a:r>
            <a:r>
              <a:rPr lang="ru-RU" sz="2600" b="1" dirty="0">
                <a:solidFill>
                  <a:srgbClr val="FF0000"/>
                </a:solidFill>
              </a:rPr>
              <a:t> максимально соприкасается с ПСИХОЛОГИЕЙ!</a:t>
            </a:r>
          </a:p>
          <a:p>
            <a:pPr algn="l"/>
            <a:r>
              <a:rPr lang="ru-RU" sz="2600" dirty="0"/>
              <a:t>     </a:t>
            </a:r>
          </a:p>
          <a:p>
            <a:pPr marL="342900" indent="-342900" algn="l">
              <a:buFont typeface="Arial" panose="020B0604020202020204" pitchFamily="34" charset="0"/>
              <a:buChar char="•"/>
            </a:pPr>
            <a:r>
              <a:rPr lang="ru-RU" sz="2600" dirty="0"/>
              <a:t>Если говорить на </a:t>
            </a:r>
            <a:r>
              <a:rPr lang="ru-RU" sz="2600" dirty="0" err="1"/>
              <a:t>коучинговом</a:t>
            </a:r>
            <a:r>
              <a:rPr lang="ru-RU" sz="2600" dirty="0"/>
              <a:t> языке, то в трансформационном </a:t>
            </a:r>
            <a:r>
              <a:rPr lang="ru-RU" sz="2600" dirty="0" err="1"/>
              <a:t>коучинге</a:t>
            </a:r>
            <a:r>
              <a:rPr lang="ru-RU" sz="2600" dirty="0"/>
              <a:t> мы работаем на  ВСЕХ уровнях, в т. ч. высших уровнях НЛУ</a:t>
            </a:r>
          </a:p>
          <a:p>
            <a:pPr marL="342900" indent="-342900" algn="l">
              <a:buFont typeface="Arial" panose="020B0604020202020204" pitchFamily="34" charset="0"/>
              <a:buChar char="•"/>
            </a:pPr>
            <a:endParaRPr lang="ru-RU" sz="2600" dirty="0"/>
          </a:p>
          <a:p>
            <a:pPr marL="457200" indent="-457200" algn="l">
              <a:buFont typeface="Arial" panose="020B0604020202020204" pitchFamily="34" charset="0"/>
              <a:buChar char="•"/>
            </a:pPr>
            <a:r>
              <a:rPr lang="ru-RU" sz="2800" dirty="0">
                <a:solidFill>
                  <a:srgbClr val="FF0000"/>
                </a:solidFill>
              </a:rPr>
              <a:t>!!! Часто эта задача имеет срок давности, у нее есть «возраст» . Запрос на работу может звучать достаточно неопределенно-размыто-витиевато.  Запрос может звучать глобально-масштабно-высоко</a:t>
            </a:r>
          </a:p>
          <a:p>
            <a:pPr marL="342900" indent="-342900" algn="l">
              <a:buFont typeface="Arial" panose="020B0604020202020204" pitchFamily="34" charset="0"/>
              <a:buChar char="•"/>
            </a:pPr>
            <a:endParaRPr lang="ru-RU" sz="2600" dirty="0"/>
          </a:p>
          <a:p>
            <a:pPr marL="342900" indent="-342900" algn="l">
              <a:buFont typeface="Arial" panose="020B0604020202020204" pitchFamily="34" charset="0"/>
              <a:buChar char="•"/>
            </a:pPr>
            <a:r>
              <a:rPr lang="ru-RU" sz="2600" dirty="0"/>
              <a:t>Очень часто запрос на работу трансформируется в процессе работы!</a:t>
            </a:r>
          </a:p>
          <a:p>
            <a:pPr marL="342900" indent="-342900" algn="l">
              <a:buFont typeface="Arial" panose="020B0604020202020204" pitchFamily="34" charset="0"/>
              <a:buChar char="•"/>
            </a:pPr>
            <a:endParaRPr lang="ru-RU" sz="2600" dirty="0"/>
          </a:p>
          <a:p>
            <a:pPr marL="342900" indent="-342900" algn="l">
              <a:buFont typeface="Arial" panose="020B0604020202020204" pitchFamily="34" charset="0"/>
              <a:buChar char="•"/>
            </a:pPr>
            <a:r>
              <a:rPr lang="ru-RU" sz="2600" dirty="0"/>
              <a:t>Это (почти) всегда цикл сессий!!!</a:t>
            </a:r>
            <a:r>
              <a:rPr lang="ru-RU" sz="2600" dirty="0">
                <a:solidFill>
                  <a:srgbClr val="FF0000"/>
                </a:solidFill>
              </a:rPr>
              <a:t> </a:t>
            </a:r>
            <a:endParaRPr lang="ru-RU" sz="2600" dirty="0" smtClean="0">
              <a:solidFill>
                <a:srgbClr val="FF0000"/>
              </a:solidFill>
            </a:endParaRPr>
          </a:p>
          <a:p>
            <a:pPr marL="342900" indent="-342900" algn="l">
              <a:buFont typeface="Arial" panose="020B0604020202020204" pitchFamily="34" charset="0"/>
              <a:buChar char="•"/>
            </a:pPr>
            <a:endParaRPr lang="ru-RU" sz="2600" dirty="0" smtClean="0">
              <a:solidFill>
                <a:srgbClr val="FF0000"/>
              </a:solidFill>
            </a:endParaRPr>
          </a:p>
          <a:p>
            <a:pPr marL="342900" indent="-342900" algn="l">
              <a:buFont typeface="Arial" panose="020B0604020202020204" pitchFamily="34" charset="0"/>
              <a:buChar char="•"/>
            </a:pPr>
            <a:r>
              <a:rPr lang="ru-RU" sz="2600" dirty="0" err="1" smtClean="0">
                <a:solidFill>
                  <a:srgbClr val="FF0000"/>
                </a:solidFill>
              </a:rPr>
              <a:t>Переплетенность</a:t>
            </a:r>
            <a:r>
              <a:rPr lang="ru-RU" sz="2600" dirty="0" smtClean="0">
                <a:solidFill>
                  <a:srgbClr val="FF0000"/>
                </a:solidFill>
              </a:rPr>
              <a:t> запросов «Карьера» и «Личная жизнь»</a:t>
            </a:r>
          </a:p>
          <a:p>
            <a:pPr marL="342900" indent="-342900" algn="l">
              <a:buFont typeface="Arial" panose="020B0604020202020204" pitchFamily="34" charset="0"/>
              <a:buChar char="•"/>
            </a:pPr>
            <a:endParaRPr lang="ru-RU" sz="2600" dirty="0">
              <a:solidFill>
                <a:srgbClr val="FF0000"/>
              </a:solidFill>
            </a:endParaRPr>
          </a:p>
          <a:p>
            <a:pPr marL="342900" indent="-342900" algn="l">
              <a:buFont typeface="Arial" panose="020B0604020202020204" pitchFamily="34" charset="0"/>
              <a:buChar char="•"/>
            </a:pPr>
            <a:r>
              <a:rPr lang="ru-RU" sz="2600" dirty="0" smtClean="0">
                <a:solidFill>
                  <a:srgbClr val="FF0000"/>
                </a:solidFill>
              </a:rPr>
              <a:t>И </a:t>
            </a:r>
            <a:r>
              <a:rPr lang="ru-RU" sz="2600" dirty="0">
                <a:solidFill>
                  <a:srgbClr val="FF0000"/>
                </a:solidFill>
              </a:rPr>
              <a:t>жизнь человека начинает меняться – сначала незаметно для него самого</a:t>
            </a:r>
          </a:p>
          <a:p>
            <a:pPr marL="342900" indent="-342900" algn="l">
              <a:buFont typeface="Arial" panose="020B0604020202020204" pitchFamily="34" charset="0"/>
              <a:buChar char="•"/>
            </a:pPr>
            <a:endParaRPr lang="ru-RU" sz="2600" dirty="0"/>
          </a:p>
          <a:p>
            <a:pPr marL="342900" indent="-342900" algn="l">
              <a:buFont typeface="Arial" panose="020B0604020202020204" pitchFamily="34" charset="0"/>
              <a:buChar char="•"/>
            </a:pPr>
            <a:r>
              <a:rPr lang="ru-RU" sz="2600" dirty="0"/>
              <a:t>Это часто работа с физлицом, который сам за себя платит.</a:t>
            </a:r>
          </a:p>
          <a:p>
            <a:pPr algn="l"/>
            <a:r>
              <a:rPr lang="ru-RU" sz="2600" dirty="0"/>
              <a:t>Но в некоем усеченном формате трансформационный подход возможен при работе с сотрудниками компании</a:t>
            </a:r>
          </a:p>
          <a:p>
            <a:pPr algn="l"/>
            <a:endParaRPr lang="ru-RU" sz="2400" dirty="0"/>
          </a:p>
          <a:p>
            <a:pPr marL="342900" indent="-342900" algn="l">
              <a:buFont typeface="Arial" charset="0"/>
              <a:buChar char="•"/>
            </a:pPr>
            <a:endParaRPr lang="ru-RU" sz="2400" dirty="0"/>
          </a:p>
          <a:p>
            <a:pPr marL="342900" indent="-342900" algn="l">
              <a:buFontTx/>
              <a:buChar char="-"/>
            </a:pPr>
            <a:endParaRPr lang="ru-RU" sz="2400" dirty="0"/>
          </a:p>
          <a:p>
            <a:pPr algn="ctr"/>
            <a:endParaRPr lang="ru-RU" sz="2400" dirty="0"/>
          </a:p>
        </p:txBody>
      </p:sp>
    </p:spTree>
    <p:extLst>
      <p:ext uri="{BB962C8B-B14F-4D97-AF65-F5344CB8AC3E}">
        <p14:creationId xmlns:p14="http://schemas.microsoft.com/office/powerpoint/2010/main" val="1046465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a:xfrm>
            <a:off x="1013519" y="301532"/>
            <a:ext cx="7590929" cy="1143000"/>
          </a:xfrm>
        </p:spPr>
        <p:txBody>
          <a:bodyPr>
            <a:noAutofit/>
          </a:bodyPr>
          <a:lstStyle/>
          <a:p>
            <a:pPr marL="0" indent="0" algn="ctr">
              <a:buNone/>
            </a:pPr>
            <a:r>
              <a:rPr lang="ru-RU" sz="2800" b="1" dirty="0" smtClean="0">
                <a:latin typeface="Verdana"/>
                <a:cs typeface="Verdana"/>
              </a:rPr>
              <a:t>«</a:t>
            </a:r>
            <a:r>
              <a:rPr lang="ru-RU" sz="2800" b="1" dirty="0" smtClean="0">
                <a:solidFill>
                  <a:schemeClr val="accent1"/>
                </a:solidFill>
                <a:latin typeface="Verdana"/>
                <a:cs typeface="Verdana"/>
              </a:rPr>
              <a:t>Классическая»</a:t>
            </a:r>
            <a:br>
              <a:rPr lang="ru-RU" sz="2800" b="1" dirty="0" smtClean="0">
                <a:solidFill>
                  <a:schemeClr val="accent1"/>
                </a:solidFill>
                <a:latin typeface="Verdana"/>
                <a:cs typeface="Verdana"/>
              </a:rPr>
            </a:br>
            <a:r>
              <a:rPr lang="ru-RU" sz="2800" b="1" dirty="0" smtClean="0">
                <a:solidFill>
                  <a:schemeClr val="accent1"/>
                </a:solidFill>
                <a:latin typeface="Verdana"/>
                <a:cs typeface="Verdana"/>
              </a:rPr>
              <a:t>формула ожиданий от жизни.</a:t>
            </a:r>
            <a:br>
              <a:rPr lang="ru-RU" sz="2800" b="1" dirty="0" smtClean="0">
                <a:solidFill>
                  <a:schemeClr val="accent1"/>
                </a:solidFill>
                <a:latin typeface="Verdana"/>
                <a:cs typeface="Verdana"/>
              </a:rPr>
            </a:br>
            <a:r>
              <a:rPr lang="ru-RU" sz="2800" dirty="0" smtClean="0">
                <a:solidFill>
                  <a:schemeClr val="accent1"/>
                </a:solidFill>
                <a:latin typeface="Verdana"/>
                <a:cs typeface="Verdana"/>
              </a:rPr>
              <a:t>И «классический», линейный </a:t>
            </a:r>
            <a:r>
              <a:rPr lang="ru-RU" sz="2800" dirty="0" err="1" smtClean="0">
                <a:solidFill>
                  <a:schemeClr val="accent1"/>
                </a:solidFill>
                <a:latin typeface="Verdana"/>
                <a:cs typeface="Verdana"/>
              </a:rPr>
              <a:t>коучинг</a:t>
            </a:r>
            <a:r>
              <a:rPr lang="ru-RU" sz="2800" dirty="0" smtClean="0">
                <a:solidFill>
                  <a:schemeClr val="accent1"/>
                </a:solidFill>
                <a:latin typeface="Verdana"/>
                <a:cs typeface="Verdana"/>
              </a:rPr>
              <a:t> также  идет от внешнего к внутреннему</a:t>
            </a:r>
            <a:endParaRPr lang="ru-RU" sz="2800" b="1" dirty="0">
              <a:solidFill>
                <a:schemeClr val="accent1"/>
              </a:solidFill>
              <a:latin typeface="Verdana"/>
              <a:cs typeface="Verdana"/>
            </a:endParaRPr>
          </a:p>
        </p:txBody>
      </p:sp>
      <p:sp>
        <p:nvSpPr>
          <p:cNvPr id="3" name="Содержимое 2"/>
          <p:cNvSpPr>
            <a:spLocks noGrp="1"/>
          </p:cNvSpPr>
          <p:nvPr>
            <p:ph sz="quarter" idx="13"/>
          </p:nvPr>
        </p:nvSpPr>
        <p:spPr>
          <a:xfrm>
            <a:off x="683568" y="2708920"/>
            <a:ext cx="8042276" cy="4752528"/>
          </a:xfrm>
        </p:spPr>
        <p:txBody>
          <a:bodyPr>
            <a:noAutofit/>
          </a:bodyPr>
          <a:lstStyle/>
          <a:p>
            <a:pPr marL="0" indent="0" algn="ctr">
              <a:buNone/>
            </a:pPr>
            <a:r>
              <a:rPr lang="ru-RU" sz="2800" b="1" dirty="0" smtClean="0">
                <a:solidFill>
                  <a:schemeClr val="tx1"/>
                </a:solidFill>
                <a:latin typeface="Verdana"/>
                <a:cs typeface="Verdana"/>
              </a:rPr>
              <a:t>Иметь </a:t>
            </a:r>
            <a:r>
              <a:rPr lang="ru-RU" sz="2800" b="1" dirty="0" smtClean="0">
                <a:solidFill>
                  <a:schemeClr val="tx1"/>
                </a:solidFill>
                <a:latin typeface="Verdana"/>
                <a:cs typeface="Verdana"/>
                <a:sym typeface="Wingdings"/>
              </a:rPr>
              <a:t></a:t>
            </a:r>
            <a:r>
              <a:rPr lang="en-US" sz="2800" b="1" dirty="0" smtClean="0">
                <a:solidFill>
                  <a:schemeClr val="tx1"/>
                </a:solidFill>
                <a:latin typeface="Verdana"/>
                <a:cs typeface="Verdana"/>
                <a:sym typeface="Wingdings"/>
              </a:rPr>
              <a:t> </a:t>
            </a:r>
            <a:r>
              <a:rPr lang="ru-RU" sz="2800" b="1" dirty="0" smtClean="0">
                <a:solidFill>
                  <a:schemeClr val="tx1"/>
                </a:solidFill>
                <a:latin typeface="Verdana"/>
                <a:cs typeface="Verdana"/>
              </a:rPr>
              <a:t>Делать</a:t>
            </a:r>
            <a:r>
              <a:rPr lang="en-US" sz="2800" b="1" dirty="0" smtClean="0">
                <a:solidFill>
                  <a:schemeClr val="tx1"/>
                </a:solidFill>
                <a:latin typeface="Verdana"/>
                <a:cs typeface="Verdana"/>
              </a:rPr>
              <a:t> </a:t>
            </a:r>
            <a:r>
              <a:rPr lang="ru-RU" sz="2800" b="1" dirty="0">
                <a:solidFill>
                  <a:schemeClr val="tx1"/>
                </a:solidFill>
                <a:latin typeface="Verdana"/>
                <a:cs typeface="Verdana"/>
                <a:sym typeface="Wingdings"/>
              </a:rPr>
              <a:t></a:t>
            </a:r>
            <a:r>
              <a:rPr lang="en-US" sz="2800" b="1" dirty="0" smtClean="0">
                <a:solidFill>
                  <a:schemeClr val="tx1"/>
                </a:solidFill>
                <a:latin typeface="Verdana"/>
                <a:cs typeface="Verdana"/>
              </a:rPr>
              <a:t> </a:t>
            </a:r>
            <a:r>
              <a:rPr lang="ru-RU" sz="2800" b="1" dirty="0" smtClean="0">
                <a:solidFill>
                  <a:schemeClr val="tx1"/>
                </a:solidFill>
                <a:latin typeface="Verdana"/>
                <a:cs typeface="Verdana"/>
              </a:rPr>
              <a:t>Быть</a:t>
            </a:r>
          </a:p>
          <a:p>
            <a:pPr marL="0" indent="0">
              <a:buNone/>
            </a:pPr>
            <a:r>
              <a:rPr lang="ru-RU" sz="2400" i="1" dirty="0" smtClean="0">
                <a:solidFill>
                  <a:schemeClr val="accent1"/>
                </a:solidFill>
                <a:latin typeface="Verdana"/>
                <a:cs typeface="Verdana"/>
              </a:rPr>
              <a:t>          </a:t>
            </a:r>
          </a:p>
          <a:p>
            <a:pPr marL="0" indent="0">
              <a:buNone/>
            </a:pPr>
            <a:r>
              <a:rPr lang="ru-RU" sz="2400" i="1" dirty="0" smtClean="0">
                <a:solidFill>
                  <a:schemeClr val="accent1"/>
                </a:solidFill>
                <a:latin typeface="Verdana"/>
                <a:cs typeface="Verdana"/>
              </a:rPr>
              <a:t>Мечты</a:t>
            </a:r>
            <a:r>
              <a:rPr lang="ru-RU" sz="2400" i="1" dirty="0" smtClean="0">
                <a:solidFill>
                  <a:srgbClr val="2C7C9F"/>
                </a:solidFill>
                <a:latin typeface="Verdana"/>
                <a:cs typeface="Verdana"/>
              </a:rPr>
              <a:t>:</a:t>
            </a:r>
            <a:r>
              <a:rPr lang="ru-RU" sz="2400" i="1" dirty="0" smtClean="0">
                <a:solidFill>
                  <a:schemeClr val="tx1"/>
                </a:solidFill>
                <a:latin typeface="Verdana"/>
                <a:cs typeface="Verdana"/>
              </a:rPr>
              <a:t> </a:t>
            </a:r>
            <a:r>
              <a:rPr lang="ru-RU" sz="2400" dirty="0" smtClean="0">
                <a:solidFill>
                  <a:schemeClr val="tx1"/>
                </a:solidFill>
                <a:latin typeface="Verdana"/>
                <a:cs typeface="Verdana"/>
              </a:rPr>
              <a:t>Буду иметь 1 000 000 евро, куплю дом, буду много путешествовать и стану счастливым человеком.</a:t>
            </a:r>
          </a:p>
          <a:p>
            <a:pPr marL="0" indent="0">
              <a:buNone/>
            </a:pPr>
            <a:r>
              <a:rPr lang="ru-RU" sz="2400" i="1" dirty="0" smtClean="0">
                <a:solidFill>
                  <a:srgbClr val="2C7C9F"/>
                </a:solidFill>
                <a:latin typeface="Verdana"/>
                <a:cs typeface="Verdana"/>
              </a:rPr>
              <a:t>Реклама:</a:t>
            </a:r>
            <a:r>
              <a:rPr lang="ru-RU" sz="2400" dirty="0" smtClean="0">
                <a:solidFill>
                  <a:srgbClr val="2C7C9F"/>
                </a:solidFill>
                <a:latin typeface="Verdana"/>
                <a:cs typeface="Verdana"/>
              </a:rPr>
              <a:t> </a:t>
            </a:r>
            <a:r>
              <a:rPr lang="ru-RU" sz="2400" dirty="0" smtClean="0">
                <a:solidFill>
                  <a:schemeClr val="tx1"/>
                </a:solidFill>
                <a:latin typeface="Verdana"/>
                <a:cs typeface="Verdana"/>
              </a:rPr>
              <a:t>Купите машину Порше </a:t>
            </a:r>
            <a:r>
              <a:rPr lang="ru-RU" sz="2400" dirty="0" err="1" smtClean="0">
                <a:solidFill>
                  <a:schemeClr val="tx1"/>
                </a:solidFill>
                <a:latin typeface="Verdana"/>
                <a:cs typeface="Verdana"/>
              </a:rPr>
              <a:t>Кайен</a:t>
            </a:r>
            <a:r>
              <a:rPr lang="ru-RU" sz="2400" dirty="0" smtClean="0">
                <a:solidFill>
                  <a:schemeClr val="tx1"/>
                </a:solidFill>
                <a:latin typeface="Verdana"/>
                <a:cs typeface="Verdana"/>
              </a:rPr>
              <a:t>/ Тойота, вы попадаете в общество успешных людей и сможете управлять своей жизнью</a:t>
            </a:r>
          </a:p>
          <a:p>
            <a:pPr marL="0" indent="0">
              <a:buNone/>
            </a:pPr>
            <a:r>
              <a:rPr lang="ru-RU" sz="2400" dirty="0" smtClean="0">
                <a:solidFill>
                  <a:schemeClr val="tx1"/>
                </a:solidFill>
                <a:latin typeface="Verdana"/>
                <a:cs typeface="Verdana"/>
              </a:rPr>
              <a:t>Реклама Тойоты: «Тойота, управляй мечтой»</a:t>
            </a:r>
            <a:endParaRPr lang="ru-RU" sz="2400" dirty="0">
              <a:solidFill>
                <a:schemeClr val="tx1"/>
              </a:solidFill>
              <a:latin typeface="Verdana"/>
              <a:cs typeface="Verdana"/>
            </a:endParaRPr>
          </a:p>
        </p:txBody>
      </p:sp>
    </p:spTree>
    <p:extLst>
      <p:ext uri="{BB962C8B-B14F-4D97-AF65-F5344CB8AC3E}">
        <p14:creationId xmlns:p14="http://schemas.microsoft.com/office/powerpoint/2010/main" val="178874418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a:xfrm>
            <a:off x="549276" y="107576"/>
            <a:ext cx="7839148" cy="1233192"/>
          </a:xfrm>
        </p:spPr>
        <p:txBody>
          <a:bodyPr>
            <a:normAutofit fontScale="90000"/>
          </a:bodyPr>
          <a:lstStyle/>
          <a:p>
            <a:pPr marL="0" indent="0" algn="ctr">
              <a:buNone/>
            </a:pPr>
            <a:r>
              <a:rPr lang="ru-RU" sz="2800" b="1" dirty="0" smtClean="0">
                <a:solidFill>
                  <a:schemeClr val="accent1"/>
                </a:solidFill>
                <a:latin typeface="Verdana"/>
                <a:cs typeface="Verdana"/>
              </a:rPr>
              <a:t>Другой подход в трансформационном </a:t>
            </a:r>
            <a:r>
              <a:rPr lang="ru-RU" sz="2800" b="1" dirty="0" err="1" smtClean="0">
                <a:solidFill>
                  <a:schemeClr val="accent1"/>
                </a:solidFill>
                <a:latin typeface="Verdana"/>
                <a:cs typeface="Verdana"/>
              </a:rPr>
              <a:t>коучинге</a:t>
            </a:r>
            <a:r>
              <a:rPr lang="ru-RU" sz="2800" b="1" dirty="0" smtClean="0">
                <a:solidFill>
                  <a:schemeClr val="accent1"/>
                </a:solidFill>
                <a:latin typeface="Verdana"/>
                <a:cs typeface="Verdana"/>
              </a:rPr>
              <a:t>: от  внутреннего к внешнему</a:t>
            </a:r>
            <a:endParaRPr lang="ru-RU" sz="2800" b="1" dirty="0">
              <a:solidFill>
                <a:schemeClr val="accent1"/>
              </a:solidFill>
              <a:latin typeface="Verdana"/>
              <a:cs typeface="Verdana"/>
            </a:endParaRPr>
          </a:p>
        </p:txBody>
      </p:sp>
      <p:sp>
        <p:nvSpPr>
          <p:cNvPr id="3" name="Содержимое 2"/>
          <p:cNvSpPr>
            <a:spLocks noGrp="1"/>
          </p:cNvSpPr>
          <p:nvPr>
            <p:ph sz="quarter" idx="13"/>
          </p:nvPr>
        </p:nvSpPr>
        <p:spPr>
          <a:xfrm>
            <a:off x="755576" y="1340768"/>
            <a:ext cx="7769225" cy="4343400"/>
          </a:xfrm>
        </p:spPr>
        <p:txBody>
          <a:bodyPr>
            <a:normAutofit/>
          </a:bodyPr>
          <a:lstStyle/>
          <a:p>
            <a:pPr marL="0" indent="0">
              <a:buNone/>
            </a:pPr>
            <a:r>
              <a:rPr lang="ru-RU" sz="3200" b="1" dirty="0" smtClean="0">
                <a:solidFill>
                  <a:schemeClr val="tx1"/>
                </a:solidFill>
                <a:latin typeface="Verdana"/>
                <a:cs typeface="Verdana"/>
              </a:rPr>
              <a:t>Быть </a:t>
            </a:r>
            <a:r>
              <a:rPr lang="ru-RU" sz="3200" b="1" dirty="0" smtClean="0">
                <a:solidFill>
                  <a:schemeClr val="tx1"/>
                </a:solidFill>
                <a:latin typeface="Verdana"/>
                <a:cs typeface="Verdana"/>
                <a:sym typeface="Wingdings"/>
              </a:rPr>
              <a:t></a:t>
            </a:r>
            <a:r>
              <a:rPr lang="en-US" sz="3200" b="1" dirty="0" smtClean="0">
                <a:solidFill>
                  <a:schemeClr val="tx1"/>
                </a:solidFill>
                <a:latin typeface="Verdana"/>
                <a:cs typeface="Verdana"/>
                <a:sym typeface="Wingdings"/>
              </a:rPr>
              <a:t> </a:t>
            </a:r>
            <a:r>
              <a:rPr lang="ru-RU" sz="3200" b="1" dirty="0">
                <a:solidFill>
                  <a:schemeClr val="tx1"/>
                </a:solidFill>
                <a:latin typeface="Verdana"/>
                <a:cs typeface="Verdana"/>
              </a:rPr>
              <a:t>Делать</a:t>
            </a:r>
            <a:r>
              <a:rPr lang="en-US" sz="3200" b="1" dirty="0">
                <a:solidFill>
                  <a:schemeClr val="tx1"/>
                </a:solidFill>
                <a:latin typeface="Verdana"/>
                <a:cs typeface="Verdana"/>
              </a:rPr>
              <a:t> </a:t>
            </a:r>
            <a:r>
              <a:rPr lang="ru-RU" sz="3200" b="1" dirty="0" smtClean="0">
                <a:solidFill>
                  <a:schemeClr val="tx1"/>
                </a:solidFill>
                <a:latin typeface="Verdana"/>
                <a:cs typeface="Verdana"/>
                <a:sym typeface="Wingdings"/>
              </a:rPr>
              <a:t> </a:t>
            </a:r>
            <a:r>
              <a:rPr lang="ru-RU" sz="3200" b="1" dirty="0" smtClean="0">
                <a:solidFill>
                  <a:schemeClr val="tx1"/>
                </a:solidFill>
                <a:latin typeface="Verdana"/>
                <a:cs typeface="Verdana"/>
              </a:rPr>
              <a:t>Иметь</a:t>
            </a:r>
            <a:endParaRPr lang="ru-RU" sz="3200" dirty="0"/>
          </a:p>
          <a:p>
            <a:pPr marL="0" indent="0">
              <a:buNone/>
            </a:pPr>
            <a:r>
              <a:rPr lang="ru-RU" i="1" dirty="0" smtClean="0">
                <a:solidFill>
                  <a:srgbClr val="2C7C9F"/>
                </a:solidFill>
                <a:latin typeface="Verdana"/>
                <a:cs typeface="Verdana"/>
              </a:rPr>
              <a:t>Вопрос самому себе: </a:t>
            </a:r>
          </a:p>
          <a:p>
            <a:pPr marL="0" indent="0">
              <a:buNone/>
            </a:pPr>
            <a:r>
              <a:rPr lang="ru-RU" dirty="0" smtClean="0">
                <a:solidFill>
                  <a:schemeClr val="tx1"/>
                </a:solidFill>
                <a:latin typeface="Verdana"/>
                <a:cs typeface="Verdana"/>
              </a:rPr>
              <a:t>«</a:t>
            </a:r>
            <a:r>
              <a:rPr lang="ru-RU" dirty="0" smtClean="0">
                <a:solidFill>
                  <a:srgbClr val="FF0000"/>
                </a:solidFill>
                <a:latin typeface="Verdana"/>
                <a:cs typeface="Verdana"/>
              </a:rPr>
              <a:t>Каким мне следует быть, чтобы качественно жить свою жизнь </a:t>
            </a:r>
            <a:r>
              <a:rPr lang="ru-RU" dirty="0" smtClean="0">
                <a:solidFill>
                  <a:schemeClr val="tx1"/>
                </a:solidFill>
                <a:latin typeface="Verdana"/>
                <a:cs typeface="Verdana"/>
              </a:rPr>
              <a:t>и иметь то, что мне важно (счастье, любовь, гармонию, достаток…)?»</a:t>
            </a:r>
          </a:p>
          <a:p>
            <a:pPr marL="0" indent="0">
              <a:buNone/>
            </a:pPr>
            <a:r>
              <a:rPr lang="ru-RU" i="1" dirty="0">
                <a:solidFill>
                  <a:srgbClr val="2C7C9F"/>
                </a:solidFill>
                <a:latin typeface="Verdana"/>
                <a:cs typeface="Verdana"/>
              </a:rPr>
              <a:t>Вопрос самому </a:t>
            </a:r>
            <a:r>
              <a:rPr lang="ru-RU" i="1" dirty="0" smtClean="0">
                <a:solidFill>
                  <a:srgbClr val="2C7C9F"/>
                </a:solidFill>
                <a:latin typeface="Verdana"/>
                <a:cs typeface="Verdana"/>
              </a:rPr>
              <a:t>себе как </a:t>
            </a:r>
            <a:r>
              <a:rPr lang="ru-RU" i="1" dirty="0" err="1" smtClean="0">
                <a:solidFill>
                  <a:srgbClr val="2C7C9F"/>
                </a:solidFill>
                <a:latin typeface="Verdana"/>
                <a:cs typeface="Verdana"/>
              </a:rPr>
              <a:t>коучу</a:t>
            </a:r>
            <a:r>
              <a:rPr lang="ru-RU" i="1" dirty="0" smtClean="0">
                <a:solidFill>
                  <a:srgbClr val="2C7C9F"/>
                </a:solidFill>
                <a:latin typeface="Verdana"/>
                <a:cs typeface="Verdana"/>
              </a:rPr>
              <a:t>: </a:t>
            </a:r>
            <a:r>
              <a:rPr lang="ru-RU" dirty="0" smtClean="0">
                <a:solidFill>
                  <a:schemeClr val="tx1"/>
                </a:solidFill>
                <a:latin typeface="Verdana"/>
                <a:cs typeface="Verdana"/>
              </a:rPr>
              <a:t>«</a:t>
            </a:r>
            <a:r>
              <a:rPr lang="ru-RU" dirty="0">
                <a:solidFill>
                  <a:schemeClr val="tx1"/>
                </a:solidFill>
                <a:latin typeface="Verdana"/>
                <a:cs typeface="Verdana"/>
              </a:rPr>
              <a:t>Каким мне следует быть, чтобы качественно делать свою </a:t>
            </a:r>
            <a:r>
              <a:rPr lang="ru-RU" dirty="0" smtClean="0">
                <a:solidFill>
                  <a:schemeClr val="tx1"/>
                </a:solidFill>
                <a:latin typeface="Verdana"/>
                <a:cs typeface="Verdana"/>
              </a:rPr>
              <a:t>работу </a:t>
            </a:r>
            <a:r>
              <a:rPr lang="ru-RU" dirty="0">
                <a:solidFill>
                  <a:schemeClr val="tx1"/>
                </a:solidFill>
                <a:latin typeface="Verdana"/>
                <a:cs typeface="Verdana"/>
              </a:rPr>
              <a:t>и клиенты </a:t>
            </a:r>
            <a:r>
              <a:rPr lang="ru-RU" dirty="0" smtClean="0">
                <a:solidFill>
                  <a:schemeClr val="tx1"/>
                </a:solidFill>
                <a:latin typeface="Verdana"/>
                <a:cs typeface="Verdana"/>
              </a:rPr>
              <a:t>получали </a:t>
            </a:r>
            <a:r>
              <a:rPr lang="ru-RU" dirty="0">
                <a:solidFill>
                  <a:schemeClr val="tx1"/>
                </a:solidFill>
                <a:latin typeface="Verdana"/>
                <a:cs typeface="Verdana"/>
              </a:rPr>
              <a:t>свой </a:t>
            </a:r>
            <a:r>
              <a:rPr lang="ru-RU" dirty="0" smtClean="0">
                <a:solidFill>
                  <a:schemeClr val="tx1"/>
                </a:solidFill>
                <a:latin typeface="Verdana"/>
                <a:cs typeface="Verdana"/>
              </a:rPr>
              <a:t>результат?»</a:t>
            </a:r>
            <a:endParaRPr lang="ru-RU" dirty="0">
              <a:solidFill>
                <a:schemeClr val="tx1"/>
              </a:solidFill>
              <a:latin typeface="Verdana"/>
              <a:cs typeface="Verdana"/>
            </a:endParaRPr>
          </a:p>
          <a:p>
            <a:pPr marL="0" indent="0">
              <a:buNone/>
            </a:pPr>
            <a:endParaRPr lang="ru-RU" dirty="0">
              <a:solidFill>
                <a:schemeClr val="tx1"/>
              </a:solidFill>
              <a:latin typeface="Verdana"/>
              <a:cs typeface="Verdana"/>
            </a:endParaRPr>
          </a:p>
        </p:txBody>
      </p:sp>
    </p:spTree>
    <p:extLst>
      <p:ext uri="{BB962C8B-B14F-4D97-AF65-F5344CB8AC3E}">
        <p14:creationId xmlns:p14="http://schemas.microsoft.com/office/powerpoint/2010/main" val="8241278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47664" y="1196752"/>
            <a:ext cx="5966666" cy="2423346"/>
          </a:xfrm>
        </p:spPr>
        <p:txBody>
          <a:bodyPr/>
          <a:lstStyle/>
          <a:p>
            <a:pPr marL="0" indent="0">
              <a:buNone/>
            </a:pPr>
            <a:r>
              <a:rPr lang="ru-RU" sz="9600" b="0" dirty="0"/>
              <a:t/>
            </a:r>
            <a:br>
              <a:rPr lang="ru-RU" sz="9600" b="0" dirty="0"/>
            </a:br>
            <a:r>
              <a:rPr lang="ru-RU" sz="4800" dirty="0"/>
              <a:t/>
            </a:r>
            <a:br>
              <a:rPr lang="ru-RU" sz="4800" dirty="0"/>
            </a:br>
            <a:endParaRPr lang="ru-RU" dirty="0"/>
          </a:p>
        </p:txBody>
      </p:sp>
      <p:sp>
        <p:nvSpPr>
          <p:cNvPr id="3" name="Текст 2"/>
          <p:cNvSpPr>
            <a:spLocks noGrp="1"/>
          </p:cNvSpPr>
          <p:nvPr>
            <p:ph type="body" idx="1"/>
          </p:nvPr>
        </p:nvSpPr>
        <p:spPr>
          <a:xfrm>
            <a:off x="683568" y="332656"/>
            <a:ext cx="7920880" cy="5976664"/>
          </a:xfrm>
        </p:spPr>
        <p:txBody>
          <a:bodyPr>
            <a:normAutofit/>
          </a:bodyPr>
          <a:lstStyle/>
          <a:p>
            <a:pPr algn="ctr"/>
            <a:r>
              <a:rPr lang="ru-RU" sz="2800" dirty="0">
                <a:solidFill>
                  <a:schemeClr val="accent1"/>
                </a:solidFill>
              </a:rPr>
              <a:t>Трансформационные техники</a:t>
            </a:r>
          </a:p>
          <a:p>
            <a:pPr algn="l"/>
            <a:r>
              <a:rPr lang="ru-RU" dirty="0"/>
              <a:t>Многие техники в </a:t>
            </a:r>
            <a:r>
              <a:rPr lang="ru-RU" dirty="0" err="1"/>
              <a:t>коучинг</a:t>
            </a:r>
            <a:r>
              <a:rPr lang="ru-RU" dirty="0"/>
              <a:t> пришли из психологии и психотерапии. </a:t>
            </a:r>
          </a:p>
          <a:p>
            <a:pPr algn="l"/>
            <a:endParaRPr lang="ru-RU" dirty="0"/>
          </a:p>
          <a:p>
            <a:pPr algn="l"/>
            <a:r>
              <a:rPr lang="ru-RU" dirty="0"/>
              <a:t>Мы берем эти техники за основу, но работаем в </a:t>
            </a:r>
            <a:r>
              <a:rPr lang="ru-RU" dirty="0" err="1"/>
              <a:t>коучинговом</a:t>
            </a:r>
            <a:r>
              <a:rPr lang="ru-RU" dirty="0"/>
              <a:t> подходе, не идя в терапию (психоаналитический подход). А работаем в ГУМАНИСТИЧЕСКОМ  подходе (</a:t>
            </a:r>
            <a:r>
              <a:rPr lang="ru-RU" dirty="0" err="1"/>
              <a:t>Маслоу</a:t>
            </a:r>
            <a:r>
              <a:rPr lang="ru-RU" dirty="0"/>
              <a:t>, </a:t>
            </a:r>
            <a:r>
              <a:rPr lang="ru-RU" dirty="0" err="1"/>
              <a:t>Роджерс</a:t>
            </a:r>
            <a:r>
              <a:rPr lang="ru-RU" dirty="0"/>
              <a:t>, </a:t>
            </a:r>
            <a:r>
              <a:rPr lang="ru-RU" dirty="0" err="1"/>
              <a:t>Франкл</a:t>
            </a:r>
            <a:r>
              <a:rPr lang="ru-RU" dirty="0"/>
              <a:t>)</a:t>
            </a:r>
            <a:br>
              <a:rPr lang="ru-RU" dirty="0"/>
            </a:br>
            <a:r>
              <a:rPr lang="ru-RU" dirty="0"/>
              <a:t>     </a:t>
            </a:r>
            <a:br>
              <a:rPr lang="ru-RU" dirty="0"/>
            </a:br>
            <a:r>
              <a:rPr lang="ru-RU" dirty="0"/>
              <a:t/>
            </a:r>
            <a:br>
              <a:rPr lang="ru-RU" dirty="0"/>
            </a:br>
            <a:r>
              <a:rPr lang="ru-RU" dirty="0"/>
              <a:t>Мы часто работаем с бессознательным человека, используя техники релаксации, визуализации, медитации и арт-техники, рисунки, МАК и т п</a:t>
            </a:r>
            <a:endParaRPr lang="ru-RU" dirty="0">
              <a:solidFill>
                <a:schemeClr val="accent1"/>
              </a:solidFill>
            </a:endParaRPr>
          </a:p>
          <a:p>
            <a:pPr algn="ctr"/>
            <a:endParaRPr lang="ru-RU" sz="2800" dirty="0"/>
          </a:p>
        </p:txBody>
      </p:sp>
    </p:spTree>
    <p:extLst>
      <p:ext uri="{BB962C8B-B14F-4D97-AF65-F5344CB8AC3E}">
        <p14:creationId xmlns:p14="http://schemas.microsoft.com/office/powerpoint/2010/main" val="37532692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 2"/>
          <p:cNvSpPr>
            <a:spLocks noGrp="1"/>
          </p:cNvSpPr>
          <p:nvPr>
            <p:ph type="body" idx="1"/>
          </p:nvPr>
        </p:nvSpPr>
        <p:spPr>
          <a:xfrm>
            <a:off x="323528" y="332656"/>
            <a:ext cx="8640960" cy="6408712"/>
          </a:xfrm>
        </p:spPr>
        <p:txBody>
          <a:bodyPr>
            <a:normAutofit/>
          </a:bodyPr>
          <a:lstStyle/>
          <a:p>
            <a:pPr algn="ctr"/>
            <a:r>
              <a:rPr lang="ru-RU" sz="2400" b="1" dirty="0">
                <a:solidFill>
                  <a:schemeClr val="accent1"/>
                </a:solidFill>
              </a:rPr>
              <a:t>Когда мы используем трансформационный подход?</a:t>
            </a:r>
          </a:p>
          <a:p>
            <a:pPr marL="457200" indent="-457200" algn="l">
              <a:buAutoNum type="arabicParenR"/>
            </a:pPr>
            <a:endParaRPr lang="ru-RU" dirty="0"/>
          </a:p>
          <a:p>
            <a:pPr marL="457200" indent="-457200" algn="l">
              <a:buAutoNum type="arabicParenR"/>
            </a:pPr>
            <a:r>
              <a:rPr lang="ru-RU" dirty="0">
                <a:solidFill>
                  <a:srgbClr val="FF0000"/>
                </a:solidFill>
              </a:rPr>
              <a:t>КРИЗИС РОСТА</a:t>
            </a:r>
          </a:p>
          <a:p>
            <a:pPr algn="l"/>
            <a:r>
              <a:rPr lang="ru-RU" dirty="0"/>
              <a:t>Клиент «приносит» объемную задачу, связанную с </a:t>
            </a:r>
            <a:r>
              <a:rPr lang="ru-RU" dirty="0">
                <a:solidFill>
                  <a:srgbClr val="FF0000"/>
                </a:solidFill>
              </a:rPr>
              <a:t>качественными</a:t>
            </a:r>
            <a:r>
              <a:rPr lang="ru-RU" dirty="0"/>
              <a:t> </a:t>
            </a:r>
            <a:r>
              <a:rPr lang="ru-RU" dirty="0">
                <a:solidFill>
                  <a:srgbClr val="FF0000"/>
                </a:solidFill>
              </a:rPr>
              <a:t>изменениями вверх</a:t>
            </a:r>
            <a:r>
              <a:rPr lang="ru-RU" dirty="0"/>
              <a:t>:</a:t>
            </a:r>
          </a:p>
          <a:p>
            <a:pPr marL="342900" indent="-342900" algn="l">
              <a:buFont typeface="Arial" panose="020B0604020202020204" pitchFamily="34" charset="0"/>
              <a:buChar char="•"/>
            </a:pPr>
            <a:r>
              <a:rPr lang="ru-RU" dirty="0"/>
              <a:t>смена профессиональной деятельности, </a:t>
            </a:r>
          </a:p>
          <a:p>
            <a:pPr marL="342900" indent="-342900" algn="l">
              <a:buFont typeface="Arial" panose="020B0604020202020204" pitchFamily="34" charset="0"/>
              <a:buChar char="•"/>
            </a:pPr>
            <a:r>
              <a:rPr lang="ru-RU" dirty="0"/>
              <a:t>переход из найма во </a:t>
            </a:r>
            <a:r>
              <a:rPr lang="ru-RU" dirty="0" err="1"/>
              <a:t>фриланс</a:t>
            </a:r>
            <a:r>
              <a:rPr lang="ru-RU" dirty="0"/>
              <a:t>, </a:t>
            </a:r>
          </a:p>
          <a:p>
            <a:pPr marL="342900" indent="-342900" algn="l">
              <a:buFont typeface="Arial" panose="020B0604020202020204" pitchFamily="34" charset="0"/>
              <a:buChar char="•"/>
            </a:pPr>
            <a:r>
              <a:rPr lang="ru-RU" dirty="0"/>
              <a:t>начало/перезагрузка своего бизнеса</a:t>
            </a:r>
          </a:p>
          <a:p>
            <a:pPr marL="342900" indent="-342900" algn="l">
              <a:buFont typeface="Arial" panose="020B0604020202020204" pitchFamily="34" charset="0"/>
              <a:buChar char="•"/>
            </a:pPr>
            <a:r>
              <a:rPr lang="ru-RU" dirty="0"/>
              <a:t>улучшение  отношений</a:t>
            </a:r>
          </a:p>
          <a:p>
            <a:pPr algn="l"/>
            <a:endParaRPr lang="ru-RU" dirty="0">
              <a:solidFill>
                <a:srgbClr val="FF0000"/>
              </a:solidFill>
            </a:endParaRPr>
          </a:p>
          <a:p>
            <a:pPr algn="l"/>
            <a:r>
              <a:rPr lang="ru-RU" dirty="0">
                <a:solidFill>
                  <a:srgbClr val="FF0000"/>
                </a:solidFill>
              </a:rPr>
              <a:t>И все эти ВНЕШНИЕ изменения требуют изменений ВНУТРЕННИХ!</a:t>
            </a:r>
          </a:p>
          <a:p>
            <a:pPr algn="l"/>
            <a:r>
              <a:rPr lang="ru-RU" dirty="0">
                <a:solidFill>
                  <a:srgbClr val="FF0000"/>
                </a:solidFill>
              </a:rPr>
              <a:t>Часто это связано с изменением идентичности (клиент так не </a:t>
            </a:r>
            <a:endParaRPr lang="ru-RU" dirty="0"/>
          </a:p>
          <a:p>
            <a:pPr algn="l"/>
            <a:r>
              <a:rPr lang="ru-RU" dirty="0">
                <a:solidFill>
                  <a:srgbClr val="FF0000"/>
                </a:solidFill>
              </a:rPr>
              <a:t>говорит, конечно)</a:t>
            </a:r>
          </a:p>
          <a:p>
            <a:pPr algn="ctr"/>
            <a:endParaRPr lang="ru-RU" dirty="0"/>
          </a:p>
          <a:p>
            <a:pPr algn="l"/>
            <a:endParaRPr lang="ru-RU" dirty="0">
              <a:solidFill>
                <a:srgbClr val="FF0000"/>
              </a:solidFill>
            </a:endParaRPr>
          </a:p>
          <a:p>
            <a:pPr algn="l"/>
            <a:endParaRPr lang="ru-RU" dirty="0"/>
          </a:p>
        </p:txBody>
      </p:sp>
    </p:spTree>
    <p:extLst>
      <p:ext uri="{BB962C8B-B14F-4D97-AF65-F5344CB8AC3E}">
        <p14:creationId xmlns:p14="http://schemas.microsoft.com/office/powerpoint/2010/main" val="6706871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99592" y="476672"/>
            <a:ext cx="7200800" cy="1143000"/>
          </a:xfrm>
        </p:spPr>
        <p:txBody>
          <a:bodyPr/>
          <a:lstStyle/>
          <a:p>
            <a:pPr marL="0" indent="0" algn="ctr">
              <a:buNone/>
            </a:pPr>
            <a:r>
              <a:rPr lang="ru-RU" sz="2400" dirty="0">
                <a:solidFill>
                  <a:schemeClr val="accent1"/>
                </a:solidFill>
              </a:rPr>
              <a:t>Пример запроса перехода во </a:t>
            </a:r>
            <a:r>
              <a:rPr lang="ru-RU" sz="2400" dirty="0" err="1">
                <a:solidFill>
                  <a:schemeClr val="accent1"/>
                </a:solidFill>
              </a:rPr>
              <a:t>фриланс</a:t>
            </a:r>
            <a:endParaRPr lang="ru-RU" sz="2400" dirty="0">
              <a:solidFill>
                <a:schemeClr val="accent1"/>
              </a:solidFill>
            </a:endParaRPr>
          </a:p>
        </p:txBody>
      </p:sp>
      <p:sp>
        <p:nvSpPr>
          <p:cNvPr id="3" name="Объект 2"/>
          <p:cNvSpPr>
            <a:spLocks noGrp="1"/>
          </p:cNvSpPr>
          <p:nvPr>
            <p:ph sz="quarter" idx="13"/>
          </p:nvPr>
        </p:nvSpPr>
        <p:spPr>
          <a:xfrm>
            <a:off x="755576" y="1340768"/>
            <a:ext cx="7344816" cy="4608512"/>
          </a:xfrm>
        </p:spPr>
        <p:txBody>
          <a:bodyPr>
            <a:normAutofit lnSpcReduction="10000"/>
          </a:bodyPr>
          <a:lstStyle/>
          <a:p>
            <a:pPr marL="45720" indent="0">
              <a:buNone/>
            </a:pPr>
            <a:r>
              <a:rPr lang="ru-RU" dirty="0"/>
              <a:t>«Конкретного запроса нет.</a:t>
            </a:r>
          </a:p>
          <a:p>
            <a:pPr marL="45720" indent="0">
              <a:buNone/>
            </a:pPr>
            <a:r>
              <a:rPr lang="ru-RU" dirty="0"/>
              <a:t>Но есть много тем, которые крутятся в голове.</a:t>
            </a:r>
          </a:p>
          <a:p>
            <a:pPr marL="45720" indent="0">
              <a:buNone/>
            </a:pPr>
            <a:r>
              <a:rPr lang="ru-RU" dirty="0"/>
              <a:t>Есть белые пятна в системе координат. Мне важно с этим разобраться, чтобы понять, куда двигаться в профессиональном плане. </a:t>
            </a:r>
          </a:p>
          <a:p>
            <a:pPr marL="45720" indent="0">
              <a:buNone/>
            </a:pPr>
            <a:r>
              <a:rPr lang="ru-RU" dirty="0"/>
              <a:t>Хочу уйти (начать хотя бы) в свободное плавание, есть идеи, проекты. Но есть страх, что мне придется уйти с работы и не будет денег.</a:t>
            </a:r>
          </a:p>
          <a:p>
            <a:pPr marL="45720" indent="0">
              <a:buNone/>
            </a:pPr>
            <a:r>
              <a:rPr lang="ru-RU" dirty="0"/>
              <a:t>Я хочу понять, готова ли я проявить свои знания и  свою внутреннюю суть.</a:t>
            </a:r>
          </a:p>
          <a:p>
            <a:pPr marL="45720" indent="0">
              <a:buNone/>
            </a:pPr>
            <a:r>
              <a:rPr lang="ru-RU" dirty="0"/>
              <a:t>Но тогда появляется вопрос – а что это за суть такая, какую я хочу проявить? И насколько я готова ее проявлять вовне»</a:t>
            </a:r>
          </a:p>
          <a:p>
            <a:pPr marL="45720" indent="0">
              <a:buNone/>
            </a:pPr>
            <a:endParaRPr lang="ru-RU" dirty="0"/>
          </a:p>
        </p:txBody>
      </p:sp>
    </p:spTree>
    <p:extLst>
      <p:ext uri="{BB962C8B-B14F-4D97-AF65-F5344CB8AC3E}">
        <p14:creationId xmlns:p14="http://schemas.microsoft.com/office/powerpoint/2010/main" val="7959320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755576" y="731520"/>
            <a:ext cx="7776864" cy="5649808"/>
          </a:xfrm>
        </p:spPr>
        <p:txBody>
          <a:bodyPr>
            <a:normAutofit/>
          </a:bodyPr>
          <a:lstStyle/>
          <a:p>
            <a:pPr marL="45720" indent="0" algn="ctr">
              <a:buNone/>
            </a:pPr>
            <a:r>
              <a:rPr lang="ru-RU" sz="2400" dirty="0">
                <a:solidFill>
                  <a:srgbClr val="0070C0"/>
                </a:solidFill>
              </a:rPr>
              <a:t>Запрос на построение своего персонального бренда</a:t>
            </a:r>
          </a:p>
          <a:p>
            <a:pPr marL="45720" indent="0">
              <a:buNone/>
            </a:pPr>
            <a:endParaRPr lang="ru-RU" dirty="0"/>
          </a:p>
          <a:p>
            <a:pPr marL="45720" indent="0">
              <a:buNone/>
            </a:pPr>
            <a:r>
              <a:rPr lang="ru-RU" dirty="0"/>
              <a:t>«Ира, привет. Я к тебе с запросом: хочу сформулировать свою уникальность. Для себя, чтобы взращивать ее по жизни и для бизнеса, чтобы через свой продукт транслировать во вне. </a:t>
            </a:r>
          </a:p>
          <a:p>
            <a:pPr marL="45720" indent="0">
              <a:buNone/>
            </a:pPr>
            <a:r>
              <a:rPr lang="ru-RU" dirty="0"/>
              <a:t>В общем, если говорить про профессию, то хочу построить свой персональный бренд на основе своей осознанной уникальности, а не от технологий тупо идти. Чтобы идти от себя!</a:t>
            </a:r>
          </a:p>
          <a:p>
            <a:pPr marL="45720" indent="0">
              <a:buNone/>
            </a:pPr>
            <a:r>
              <a:rPr lang="ru-RU" dirty="0"/>
              <a:t>Можешь помочь?»</a:t>
            </a:r>
          </a:p>
          <a:p>
            <a:endParaRPr lang="ru-RU" dirty="0"/>
          </a:p>
          <a:p>
            <a:endParaRPr lang="ru-RU" dirty="0"/>
          </a:p>
        </p:txBody>
      </p:sp>
    </p:spTree>
    <p:extLst>
      <p:ext uri="{BB962C8B-B14F-4D97-AF65-F5344CB8AC3E}">
        <p14:creationId xmlns:p14="http://schemas.microsoft.com/office/powerpoint/2010/main" val="42471987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83568" y="404664"/>
            <a:ext cx="7992887" cy="1143000"/>
          </a:xfrm>
        </p:spPr>
        <p:txBody>
          <a:bodyPr/>
          <a:lstStyle/>
          <a:p>
            <a:pPr marL="0" indent="0" algn="ctr">
              <a:buNone/>
            </a:pPr>
            <a:r>
              <a:rPr lang="ru-RU" sz="2400" dirty="0">
                <a:solidFill>
                  <a:srgbClr val="0070C0"/>
                </a:solidFill>
              </a:rPr>
              <a:t>Пример запроса: открытие своего бизнеса</a:t>
            </a:r>
          </a:p>
        </p:txBody>
      </p:sp>
      <p:sp>
        <p:nvSpPr>
          <p:cNvPr id="3" name="Объект 2"/>
          <p:cNvSpPr>
            <a:spLocks noGrp="1"/>
          </p:cNvSpPr>
          <p:nvPr>
            <p:ph sz="quarter" idx="13"/>
          </p:nvPr>
        </p:nvSpPr>
        <p:spPr>
          <a:xfrm>
            <a:off x="467545" y="1340768"/>
            <a:ext cx="8208910" cy="4752528"/>
          </a:xfrm>
        </p:spPr>
        <p:txBody>
          <a:bodyPr>
            <a:normAutofit fontScale="92500" lnSpcReduction="10000"/>
          </a:bodyPr>
          <a:lstStyle/>
          <a:p>
            <a:pPr marL="45720" indent="0">
              <a:buNone/>
            </a:pPr>
            <a:r>
              <a:rPr lang="ru-RU" dirty="0"/>
              <a:t>Я хочу понять, как мне совместить несколько рабочих направлений и расставить приоритеты.</a:t>
            </a:r>
          </a:p>
          <a:p>
            <a:pPr marL="45720" indent="0">
              <a:buNone/>
            </a:pPr>
            <a:endParaRPr lang="ru-RU" dirty="0"/>
          </a:p>
          <a:p>
            <a:pPr marL="45720" indent="0">
              <a:buNone/>
            </a:pPr>
            <a:r>
              <a:rPr lang="ru-RU" dirty="0"/>
              <a:t>Коротко: мы с мужем решили делать семейный бизнес. </a:t>
            </a:r>
          </a:p>
          <a:p>
            <a:pPr marL="45720" indent="0">
              <a:buNone/>
            </a:pPr>
            <a:r>
              <a:rPr lang="ru-RU" dirty="0"/>
              <a:t>По задачам на мне больше продвижения и продаж, на нём - производство, все технические вопросы.</a:t>
            </a:r>
          </a:p>
          <a:p>
            <a:pPr marL="45720" indent="0">
              <a:buNone/>
            </a:pPr>
            <a:r>
              <a:rPr lang="ru-RU" dirty="0"/>
              <a:t>До лета нам придётся дополнительно зарабатывать на других работах.</a:t>
            </a:r>
          </a:p>
          <a:p>
            <a:pPr marL="45720" indent="0">
              <a:buNone/>
            </a:pPr>
            <a:endParaRPr lang="ru-RU" dirty="0"/>
          </a:p>
          <a:p>
            <a:pPr marL="45720" indent="0">
              <a:buNone/>
            </a:pPr>
            <a:r>
              <a:rPr lang="ru-RU" dirty="0"/>
              <a:t>И вот, наверное, первое, что мне сейчас нужно от нашей сессии, это понять, как мне всё это уложить в свою жизнь ежедневную</a:t>
            </a:r>
            <a:r>
              <a:rPr lang="ru-RU" dirty="0" smtClean="0"/>
              <a:t>.</a:t>
            </a:r>
          </a:p>
          <a:p>
            <a:pPr marL="45720" indent="0">
              <a:buNone/>
            </a:pPr>
            <a:endParaRPr lang="ru-RU" dirty="0" smtClean="0"/>
          </a:p>
          <a:p>
            <a:pPr marL="45720" indent="0">
              <a:buNone/>
            </a:pPr>
            <a:r>
              <a:rPr lang="ru-RU" dirty="0" smtClean="0">
                <a:solidFill>
                  <a:srgbClr val="C00000"/>
                </a:solidFill>
              </a:rPr>
              <a:t>И еще сохранить женско-мужские отношения с мужем! Остаться женщиной и матерью!!!</a:t>
            </a:r>
            <a:endParaRPr lang="ru-RU" dirty="0">
              <a:solidFill>
                <a:srgbClr val="C00000"/>
              </a:solidFill>
            </a:endParaRPr>
          </a:p>
        </p:txBody>
      </p:sp>
    </p:spTree>
    <p:extLst>
      <p:ext uri="{BB962C8B-B14F-4D97-AF65-F5344CB8AC3E}">
        <p14:creationId xmlns:p14="http://schemas.microsoft.com/office/powerpoint/2010/main" val="28015245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683568" y="731520"/>
            <a:ext cx="7848872" cy="4281656"/>
          </a:xfrm>
        </p:spPr>
        <p:txBody>
          <a:bodyPr>
            <a:normAutofit fontScale="92500" lnSpcReduction="10000"/>
          </a:bodyPr>
          <a:lstStyle/>
          <a:p>
            <a:pPr marL="45720" indent="0" algn="ctr">
              <a:buNone/>
            </a:pPr>
            <a:r>
              <a:rPr lang="ru-RU" sz="2000" b="1" dirty="0">
                <a:solidFill>
                  <a:schemeClr val="accent1"/>
                </a:solidFill>
              </a:rPr>
              <a:t>Когда мы используем трансформационный подход?</a:t>
            </a:r>
          </a:p>
          <a:p>
            <a:pPr marL="0" indent="0">
              <a:buNone/>
            </a:pPr>
            <a:r>
              <a:rPr lang="ru-RU" sz="2000" b="1" dirty="0">
                <a:solidFill>
                  <a:srgbClr val="FF0000"/>
                </a:solidFill>
              </a:rPr>
              <a:t>2) </a:t>
            </a:r>
            <a:r>
              <a:rPr lang="ru-RU" sz="2000" dirty="0">
                <a:solidFill>
                  <a:srgbClr val="FF0000"/>
                </a:solidFill>
              </a:rPr>
              <a:t>КРИЗИС ПАДЕНИЯ</a:t>
            </a:r>
          </a:p>
          <a:p>
            <a:pPr marL="0" indent="0">
              <a:buNone/>
            </a:pPr>
            <a:endParaRPr lang="ru-RU" sz="2000" dirty="0">
              <a:solidFill>
                <a:srgbClr val="FF0000"/>
              </a:solidFill>
            </a:endParaRPr>
          </a:p>
          <a:p>
            <a:pPr marL="0" indent="0">
              <a:buNone/>
            </a:pPr>
            <a:r>
              <a:rPr lang="ru-RU" sz="2000" dirty="0">
                <a:solidFill>
                  <a:srgbClr val="FF0000"/>
                </a:solidFill>
              </a:rPr>
              <a:t>Клиент приносит проблему:</a:t>
            </a:r>
          </a:p>
          <a:p>
            <a:pPr marL="342900" indent="-342900"/>
            <a:r>
              <a:rPr lang="ru-RU" sz="2000" dirty="0">
                <a:solidFill>
                  <a:schemeClr val="tx1"/>
                </a:solidFill>
              </a:rPr>
              <a:t>проблема в карьере, в бизнесе</a:t>
            </a:r>
          </a:p>
          <a:p>
            <a:pPr marL="342900" indent="-342900"/>
            <a:r>
              <a:rPr lang="ru-RU" sz="2000" dirty="0">
                <a:solidFill>
                  <a:schemeClr val="tx1"/>
                </a:solidFill>
              </a:rPr>
              <a:t>проблема в отношениях</a:t>
            </a:r>
          </a:p>
          <a:p>
            <a:pPr marL="45720" indent="0">
              <a:buNone/>
            </a:pPr>
            <a:endParaRPr lang="ru-RU" sz="2000" b="1" dirty="0">
              <a:solidFill>
                <a:schemeClr val="accent1"/>
              </a:solidFill>
            </a:endParaRPr>
          </a:p>
          <a:p>
            <a:pPr marL="45720" indent="0">
              <a:buNone/>
            </a:pPr>
            <a:r>
              <a:rPr lang="ru-RU" sz="2000" dirty="0">
                <a:solidFill>
                  <a:srgbClr val="FF0000"/>
                </a:solidFill>
              </a:rPr>
              <a:t>запрос часто озвучивается через «не могу» (не-достижение, не-реализация, отсутствие чего-либо или кого-либо) </a:t>
            </a:r>
          </a:p>
          <a:p>
            <a:pPr marL="45720" indent="0">
              <a:buNone/>
            </a:pPr>
            <a:endParaRPr lang="ru-RU" sz="2000" dirty="0">
              <a:solidFill>
                <a:srgbClr val="FF0000"/>
              </a:solidFill>
            </a:endParaRPr>
          </a:p>
          <a:p>
            <a:pPr marL="45720" indent="0">
              <a:buNone/>
            </a:pPr>
            <a:r>
              <a:rPr lang="ru-RU" sz="2000" dirty="0">
                <a:solidFill>
                  <a:srgbClr val="FF0000"/>
                </a:solidFill>
              </a:rPr>
              <a:t>Клиент воспринимает это как ситуацию тупика, он сам не видит явных возможностей решения. </a:t>
            </a:r>
          </a:p>
          <a:p>
            <a:pPr marL="45720" indent="0">
              <a:buNone/>
            </a:pPr>
            <a:endParaRPr lang="ru-RU" sz="2000" b="1" dirty="0">
              <a:solidFill>
                <a:schemeClr val="accent1"/>
              </a:solidFill>
            </a:endParaRPr>
          </a:p>
          <a:p>
            <a:pPr marL="45720" indent="0">
              <a:buNone/>
            </a:pPr>
            <a:endParaRPr lang="ru-RU" dirty="0"/>
          </a:p>
        </p:txBody>
      </p:sp>
    </p:spTree>
    <p:extLst>
      <p:ext uri="{BB962C8B-B14F-4D97-AF65-F5344CB8AC3E}">
        <p14:creationId xmlns:p14="http://schemas.microsoft.com/office/powerpoint/2010/main" val="12214311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683568" y="731520"/>
            <a:ext cx="7416824" cy="5217760"/>
          </a:xfrm>
        </p:spPr>
        <p:txBody>
          <a:bodyPr>
            <a:normAutofit fontScale="77500" lnSpcReduction="20000"/>
          </a:bodyPr>
          <a:lstStyle/>
          <a:p>
            <a:pPr marL="45720" indent="0">
              <a:buNone/>
            </a:pPr>
            <a:r>
              <a:rPr lang="ru-RU" sz="3100" dirty="0">
                <a:solidFill>
                  <a:srgbClr val="0070C0"/>
                </a:solidFill>
              </a:rPr>
              <a:t>Примеры запросов на кризис падения</a:t>
            </a:r>
            <a:r>
              <a:rPr lang="ru-RU" sz="2400" dirty="0">
                <a:solidFill>
                  <a:srgbClr val="0070C0"/>
                </a:solidFill>
              </a:rPr>
              <a:t/>
            </a:r>
            <a:br>
              <a:rPr lang="ru-RU" sz="2400" dirty="0">
                <a:solidFill>
                  <a:srgbClr val="0070C0"/>
                </a:solidFill>
              </a:rPr>
            </a:br>
            <a:r>
              <a:rPr lang="ru-RU" sz="2400" dirty="0"/>
              <a:t/>
            </a:r>
            <a:br>
              <a:rPr lang="ru-RU" sz="2400" dirty="0"/>
            </a:br>
            <a:r>
              <a:rPr lang="ru-RU" sz="2400" dirty="0"/>
              <a:t/>
            </a:r>
            <a:br>
              <a:rPr lang="ru-RU" sz="2400" dirty="0"/>
            </a:br>
            <a:r>
              <a:rPr lang="ru-RU" sz="2400" dirty="0"/>
              <a:t>Бывший топ-менеджер, Ж, 38 лет. </a:t>
            </a:r>
          </a:p>
          <a:p>
            <a:pPr marL="45720" indent="0">
              <a:buNone/>
            </a:pPr>
            <a:r>
              <a:rPr lang="ru-RU" sz="2400" dirty="0"/>
              <a:t>«Сейчас я никто – ушла с работы, проблемы по здоровью (куча операций), </a:t>
            </a:r>
            <a:r>
              <a:rPr lang="ru-RU" sz="2400" dirty="0">
                <a:solidFill>
                  <a:srgbClr val="C00000"/>
                </a:solidFill>
              </a:rPr>
              <a:t>у меня проблемы в семье</a:t>
            </a:r>
            <a:r>
              <a:rPr lang="ru-RU" sz="2400" dirty="0"/>
              <a:t>. </a:t>
            </a:r>
            <a:endParaRPr lang="ru-RU" sz="2400" dirty="0" smtClean="0"/>
          </a:p>
          <a:p>
            <a:pPr marL="45720" indent="0">
              <a:buNone/>
            </a:pPr>
            <a:r>
              <a:rPr lang="ru-RU" sz="2400" dirty="0" smtClean="0">
                <a:solidFill>
                  <a:srgbClr val="C00000"/>
                </a:solidFill>
              </a:rPr>
              <a:t>Меня не радуют отношения с мужем. Нет радости! Есть привычка, но нет душевности, близости, бабочек в животе. И секса тоже особо нет.</a:t>
            </a:r>
            <a:endParaRPr lang="ru-RU" sz="2400" dirty="0">
              <a:solidFill>
                <a:srgbClr val="C00000"/>
              </a:solidFill>
            </a:endParaRPr>
          </a:p>
          <a:p>
            <a:pPr marL="45720" indent="0">
              <a:buNone/>
            </a:pPr>
            <a:r>
              <a:rPr lang="ru-RU" sz="2400" dirty="0"/>
              <a:t>Мне не на что и не на кого опереться. </a:t>
            </a:r>
          </a:p>
          <a:p>
            <a:pPr marL="45720" indent="0">
              <a:buNone/>
            </a:pPr>
            <a:r>
              <a:rPr lang="ru-RU" sz="2400" dirty="0"/>
              <a:t>Я всегда была человеком цели, результата, пробивная. Сейчас я ощущаю себя человеком процесса, и меня это бесит. </a:t>
            </a:r>
          </a:p>
          <a:p>
            <a:pPr marL="45720" indent="0">
              <a:buNone/>
            </a:pPr>
            <a:endParaRPr lang="ru-RU" sz="2400" dirty="0"/>
          </a:p>
          <a:p>
            <a:pPr marL="45720" indent="0">
              <a:buNone/>
            </a:pPr>
            <a:r>
              <a:rPr lang="ru-RU" sz="2400" dirty="0"/>
              <a:t>Задача: пересмотреть свое устройство мозга, свое отношение, чтобы построить более счастливую и здоровую жизнь»</a:t>
            </a:r>
            <a:br>
              <a:rPr lang="ru-RU" sz="2400" dirty="0"/>
            </a:br>
            <a:r>
              <a:rPr lang="ru-RU" sz="2400" dirty="0"/>
              <a:t/>
            </a:r>
            <a:br>
              <a:rPr lang="ru-RU" sz="2400" dirty="0"/>
            </a:br>
            <a:r>
              <a:rPr lang="ru-RU" sz="2400" dirty="0"/>
              <a:t/>
            </a:r>
            <a:br>
              <a:rPr lang="ru-RU" sz="2400" dirty="0"/>
            </a:br>
            <a:endParaRPr lang="ru-RU" dirty="0"/>
          </a:p>
        </p:txBody>
      </p:sp>
    </p:spTree>
    <p:extLst>
      <p:ext uri="{BB962C8B-B14F-4D97-AF65-F5344CB8AC3E}">
        <p14:creationId xmlns:p14="http://schemas.microsoft.com/office/powerpoint/2010/main" val="5781110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p:txBody>
          <a:bodyPr/>
          <a:lstStyle/>
          <a:p>
            <a:pPr marL="45720" indent="0" algn="ctr">
              <a:buNone/>
            </a:pPr>
            <a:r>
              <a:rPr lang="ru-RU" sz="2400" b="1" dirty="0">
                <a:solidFill>
                  <a:schemeClr val="accent1"/>
                </a:solidFill>
              </a:rPr>
              <a:t>Когда мы используем трансформационный подход?</a:t>
            </a:r>
          </a:p>
          <a:p>
            <a:pPr marL="0" indent="0">
              <a:buNone/>
            </a:pPr>
            <a:r>
              <a:rPr lang="ru-RU" sz="2400" b="1" dirty="0">
                <a:solidFill>
                  <a:srgbClr val="FF0000"/>
                </a:solidFill>
              </a:rPr>
              <a:t>3) ЛИЧНОСТНЫЙ </a:t>
            </a:r>
            <a:r>
              <a:rPr lang="ru-RU" sz="2400" dirty="0">
                <a:solidFill>
                  <a:srgbClr val="FF0000"/>
                </a:solidFill>
              </a:rPr>
              <a:t>КРИЗИС,   ЭКЗИСТЕНЦИАЛЬНЫЙ КРИЗИС,</a:t>
            </a:r>
          </a:p>
          <a:p>
            <a:pPr marL="0" indent="0">
              <a:buNone/>
            </a:pPr>
            <a:r>
              <a:rPr lang="ru-RU" sz="2400" dirty="0">
                <a:solidFill>
                  <a:srgbClr val="FF0000"/>
                </a:solidFill>
              </a:rPr>
              <a:t>ВОЗРАСТНОЙ КРИЗИС (КРИЗИС СРЕДНЕГО ВОЗРАСТА)</a:t>
            </a:r>
          </a:p>
          <a:p>
            <a:pPr marL="45720" indent="0">
              <a:buNone/>
            </a:pPr>
            <a:endParaRPr lang="ru-RU" dirty="0"/>
          </a:p>
        </p:txBody>
      </p:sp>
    </p:spTree>
    <p:extLst>
      <p:ext uri="{BB962C8B-B14F-4D97-AF65-F5344CB8AC3E}">
        <p14:creationId xmlns:p14="http://schemas.microsoft.com/office/powerpoint/2010/main" val="2616288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1143000" y="731520"/>
            <a:ext cx="7317432" cy="4281656"/>
          </a:xfrm>
        </p:spPr>
        <p:txBody>
          <a:bodyPr>
            <a:normAutofit fontScale="92500" lnSpcReduction="10000"/>
          </a:bodyPr>
          <a:lstStyle/>
          <a:p>
            <a:pPr marL="45720" indent="0">
              <a:buNone/>
            </a:pPr>
            <a:r>
              <a:rPr lang="ru-RU" sz="2000" dirty="0"/>
              <a:t>Топ-менеджер, Ж, 34 года. </a:t>
            </a:r>
          </a:p>
          <a:p>
            <a:pPr marL="45720" indent="0">
              <a:buNone/>
            </a:pPr>
            <a:endParaRPr lang="ru-RU" sz="2000" dirty="0"/>
          </a:p>
          <a:p>
            <a:pPr marL="45720" indent="0">
              <a:buNone/>
            </a:pPr>
            <a:r>
              <a:rPr lang="ru-RU" sz="2000" dirty="0">
                <a:solidFill>
                  <a:srgbClr val="C00000"/>
                </a:solidFill>
              </a:rPr>
              <a:t>«У меня есть все, кроме отношений</a:t>
            </a:r>
            <a:r>
              <a:rPr lang="ru-RU" sz="2000" dirty="0"/>
              <a:t>. </a:t>
            </a:r>
          </a:p>
          <a:p>
            <a:pPr marL="45720" indent="0">
              <a:buNone/>
            </a:pPr>
            <a:endParaRPr lang="ru-RU" sz="2000" dirty="0"/>
          </a:p>
          <a:p>
            <a:pPr marL="45720" indent="0">
              <a:buNone/>
            </a:pPr>
            <a:r>
              <a:rPr lang="ru-RU" sz="2000" dirty="0"/>
              <a:t>Цель: найти вектор, который поможет мне построить отношения – какие они должны быть. И не только отношения с мужчинами, но и собой, с социумом. </a:t>
            </a:r>
          </a:p>
          <a:p>
            <a:pPr marL="45720" indent="0">
              <a:buNone/>
            </a:pPr>
            <a:endParaRPr lang="ru-RU" sz="2000" dirty="0"/>
          </a:p>
          <a:p>
            <a:pPr marL="45720" indent="0">
              <a:buNone/>
            </a:pPr>
            <a:r>
              <a:rPr lang="ru-RU" sz="2000" dirty="0">
                <a:solidFill>
                  <a:srgbClr val="C00000"/>
                </a:solidFill>
              </a:rPr>
              <a:t>Первичны отношения с собой – у меня нет согласия с собой. Хочу наладить внутренний диалог с собой</a:t>
            </a:r>
            <a:r>
              <a:rPr lang="ru-RU" sz="2000" dirty="0"/>
              <a:t>. У меня сейчас страх, неуверенность, хочется плакать. Я теряю свою привычную защищенность, и мне страшно. Я не могу сейчас жить, как жила раньше»</a:t>
            </a:r>
            <a:endParaRPr lang="ru-RU" dirty="0"/>
          </a:p>
          <a:p>
            <a:pPr marL="45720" indent="0">
              <a:buNone/>
            </a:pPr>
            <a:endParaRPr lang="ru-RU" dirty="0"/>
          </a:p>
        </p:txBody>
      </p:sp>
    </p:spTree>
    <p:extLst>
      <p:ext uri="{BB962C8B-B14F-4D97-AF65-F5344CB8AC3E}">
        <p14:creationId xmlns:p14="http://schemas.microsoft.com/office/powerpoint/2010/main" val="19518973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p:txBody>
          <a:bodyPr/>
          <a:lstStyle/>
          <a:p>
            <a:pPr marL="45720" indent="0">
              <a:buNone/>
            </a:pPr>
            <a:r>
              <a:rPr lang="ru-RU" dirty="0"/>
              <a:t>Ж, 30 лет</a:t>
            </a:r>
          </a:p>
          <a:p>
            <a:pPr marL="45720" indent="0">
              <a:buNone/>
            </a:pPr>
            <a:r>
              <a:rPr lang="ru-RU" dirty="0"/>
              <a:t>«Я не знаю, чего хочу. Не вижу перспектив в </a:t>
            </a:r>
            <a:r>
              <a:rPr lang="ru-RU" dirty="0" smtClean="0"/>
              <a:t>будущем. </a:t>
            </a:r>
            <a:r>
              <a:rPr lang="ru-RU" dirty="0" smtClean="0">
                <a:solidFill>
                  <a:srgbClr val="C00000"/>
                </a:solidFill>
              </a:rPr>
              <a:t>И я не понимаю: нужны ли мне отношения с моим мужчиной – такие, какие они сейчас</a:t>
            </a:r>
            <a:r>
              <a:rPr lang="ru-RU" dirty="0" smtClean="0"/>
              <a:t>.</a:t>
            </a:r>
          </a:p>
          <a:p>
            <a:pPr marL="45720" indent="0">
              <a:buNone/>
            </a:pPr>
            <a:r>
              <a:rPr lang="ru-RU" dirty="0" smtClean="0"/>
              <a:t>В общем, я ничего не знаю! – ни про карьеру, ни про отношения»</a:t>
            </a:r>
            <a:endParaRPr lang="ru-RU" dirty="0"/>
          </a:p>
        </p:txBody>
      </p:sp>
    </p:spTree>
    <p:extLst>
      <p:ext uri="{BB962C8B-B14F-4D97-AF65-F5344CB8AC3E}">
        <p14:creationId xmlns:p14="http://schemas.microsoft.com/office/powerpoint/2010/main" val="7305983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39552" y="404664"/>
            <a:ext cx="8352928" cy="1143000"/>
          </a:xfrm>
        </p:spPr>
        <p:txBody>
          <a:bodyPr/>
          <a:lstStyle/>
          <a:p>
            <a:pPr marL="0" indent="0" algn="ctr">
              <a:buNone/>
            </a:pPr>
            <a:r>
              <a:rPr lang="ru-RU" sz="2400" dirty="0">
                <a:solidFill>
                  <a:schemeClr val="accent1"/>
                </a:solidFill>
              </a:rPr>
              <a:t>Ну и часто бывает, что выскакивает черт из табакерки</a:t>
            </a:r>
            <a:endParaRPr lang="ru-RU" sz="2400" dirty="0"/>
          </a:p>
        </p:txBody>
      </p:sp>
      <p:sp>
        <p:nvSpPr>
          <p:cNvPr id="3" name="Объект 2"/>
          <p:cNvSpPr>
            <a:spLocks noGrp="1"/>
          </p:cNvSpPr>
          <p:nvPr>
            <p:ph sz="quarter" idx="13"/>
          </p:nvPr>
        </p:nvSpPr>
        <p:spPr>
          <a:xfrm>
            <a:off x="827584" y="1835696"/>
            <a:ext cx="7488832" cy="4329608"/>
          </a:xfrm>
        </p:spPr>
        <p:txBody>
          <a:bodyPr>
            <a:normAutofit fontScale="92500" lnSpcReduction="10000"/>
          </a:bodyPr>
          <a:lstStyle/>
          <a:p>
            <a:pPr marL="0" indent="0">
              <a:buNone/>
            </a:pPr>
            <a:r>
              <a:rPr lang="ru-RU" dirty="0"/>
              <a:t>Клиент «приносит» УСЛОВНО линейную задачу </a:t>
            </a:r>
          </a:p>
          <a:p>
            <a:pPr marL="342900" indent="-342900"/>
            <a:r>
              <a:rPr lang="ru-RU" dirty="0"/>
              <a:t>устройство на работу, </a:t>
            </a:r>
          </a:p>
          <a:p>
            <a:pPr marL="342900" indent="-342900"/>
            <a:r>
              <a:rPr lang="ru-RU" dirty="0"/>
              <a:t>повышение в должности, </a:t>
            </a:r>
          </a:p>
          <a:p>
            <a:pPr marL="342900" indent="-342900"/>
            <a:r>
              <a:rPr lang="ru-RU" dirty="0"/>
              <a:t>переход в более крупную компанию,</a:t>
            </a:r>
          </a:p>
          <a:p>
            <a:pPr marL="342900" indent="-342900"/>
            <a:r>
              <a:rPr lang="ru-RU" dirty="0"/>
              <a:t>спланировать шаги в проекте</a:t>
            </a:r>
          </a:p>
          <a:p>
            <a:pPr marL="0" indent="0">
              <a:buNone/>
            </a:pPr>
            <a:endParaRPr lang="ru-RU" dirty="0"/>
          </a:p>
          <a:p>
            <a:pPr marL="45720" indent="0">
              <a:buNone/>
            </a:pPr>
            <a:r>
              <a:rPr lang="ru-RU" dirty="0">
                <a:solidFill>
                  <a:srgbClr val="FF0000"/>
                </a:solidFill>
              </a:rPr>
              <a:t>И в процессе работы над казалось бы изначально линейной задачей мы можем выйти на уровень трансформационных изменений.</a:t>
            </a:r>
          </a:p>
          <a:p>
            <a:pPr marL="45720" indent="0">
              <a:buNone/>
            </a:pPr>
            <a:endParaRPr lang="ru-RU" dirty="0">
              <a:solidFill>
                <a:srgbClr val="FF0000"/>
              </a:solidFill>
            </a:endParaRPr>
          </a:p>
          <a:p>
            <a:pPr marL="45720" indent="0">
              <a:buNone/>
            </a:pPr>
            <a:r>
              <a:rPr lang="ru-RU" dirty="0">
                <a:solidFill>
                  <a:srgbClr val="FF0000"/>
                </a:solidFill>
              </a:rPr>
              <a:t>Более того, мы вообще можем выйти на личностный и экзистенциально-возрастной кризис клиента</a:t>
            </a:r>
            <a:endParaRPr lang="ru-RU" dirty="0"/>
          </a:p>
          <a:p>
            <a:pPr marL="45720" indent="0">
              <a:buNone/>
            </a:pPr>
            <a:endParaRPr lang="ru-RU" dirty="0"/>
          </a:p>
        </p:txBody>
      </p:sp>
    </p:spTree>
    <p:extLst>
      <p:ext uri="{BB962C8B-B14F-4D97-AF65-F5344CB8AC3E}">
        <p14:creationId xmlns:p14="http://schemas.microsoft.com/office/powerpoint/2010/main" val="7738659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424936" cy="1143000"/>
          </a:xfrm>
        </p:spPr>
        <p:txBody>
          <a:bodyPr/>
          <a:lstStyle/>
          <a:p>
            <a:pPr marL="0" indent="0" algn="ctr">
              <a:buNone/>
            </a:pPr>
            <a:r>
              <a:rPr lang="ru-RU" sz="2000" dirty="0">
                <a:solidFill>
                  <a:srgbClr val="0070C0"/>
                </a:solidFill>
              </a:rPr>
              <a:t>Пример запроса  «Поиск работы с повышением в должности и переходом в более крупную компанию»</a:t>
            </a:r>
          </a:p>
        </p:txBody>
      </p:sp>
      <p:sp>
        <p:nvSpPr>
          <p:cNvPr id="3" name="Объект 2"/>
          <p:cNvSpPr>
            <a:spLocks noGrp="1"/>
          </p:cNvSpPr>
          <p:nvPr>
            <p:ph sz="quarter" idx="13"/>
          </p:nvPr>
        </p:nvSpPr>
        <p:spPr>
          <a:xfrm>
            <a:off x="467544" y="1340768"/>
            <a:ext cx="8208912" cy="5184576"/>
          </a:xfrm>
        </p:spPr>
        <p:txBody>
          <a:bodyPr>
            <a:normAutofit fontScale="77500" lnSpcReduction="20000"/>
          </a:bodyPr>
          <a:lstStyle/>
          <a:p>
            <a:pPr marL="45720" indent="0">
              <a:buNone/>
            </a:pPr>
            <a:r>
              <a:rPr lang="ru-RU" dirty="0"/>
              <a:t>«</a:t>
            </a:r>
            <a:r>
              <a:rPr lang="ru-RU" sz="2400" dirty="0"/>
              <a:t>Хожу на собеседования, ищу работу.</a:t>
            </a:r>
          </a:p>
          <a:p>
            <a:pPr marL="45720" indent="0">
              <a:buNone/>
            </a:pPr>
            <a:r>
              <a:rPr lang="ru-RU" sz="2400" dirty="0"/>
              <a:t>Но!!! У меня нет уверенности. Ощущение, я – ни на что негодная.</a:t>
            </a:r>
          </a:p>
          <a:p>
            <a:pPr marL="45720" indent="0">
              <a:buNone/>
            </a:pPr>
            <a:r>
              <a:rPr lang="ru-RU" sz="2400" dirty="0"/>
              <a:t>Хочу стать более уверенной, научиться плевать на мнения окружающих.</a:t>
            </a:r>
          </a:p>
          <a:p>
            <a:pPr marL="45720" indent="0">
              <a:buNone/>
            </a:pPr>
            <a:endParaRPr lang="ru-RU" dirty="0"/>
          </a:p>
          <a:p>
            <a:pPr marL="45720" indent="0">
              <a:buNone/>
            </a:pPr>
            <a:r>
              <a:rPr lang="ru-RU" sz="2400" dirty="0"/>
              <a:t>(Проходит время, и на этой же сессии мы выходим)</a:t>
            </a:r>
          </a:p>
          <a:p>
            <a:pPr marL="45720" indent="0">
              <a:buNone/>
            </a:pPr>
            <a:endParaRPr lang="ru-RU" sz="2400" dirty="0"/>
          </a:p>
          <a:p>
            <a:pPr marL="45720" indent="0">
              <a:buNone/>
            </a:pPr>
            <a:r>
              <a:rPr lang="ru-RU" sz="2400" dirty="0"/>
              <a:t>Самое актуальное сейчас: освободиться от стресса неопределенности/непонятности. </a:t>
            </a:r>
          </a:p>
          <a:p>
            <a:pPr marL="45720" indent="0">
              <a:buNone/>
            </a:pPr>
            <a:r>
              <a:rPr lang="ru-RU" sz="2400" dirty="0"/>
              <a:t>Сформировать взрослую позицию. </a:t>
            </a:r>
          </a:p>
          <a:p>
            <a:pPr marL="45720" indent="0">
              <a:buNone/>
            </a:pPr>
            <a:r>
              <a:rPr lang="ru-RU" sz="2400" dirty="0"/>
              <a:t>Повысить самооценку. </a:t>
            </a:r>
          </a:p>
          <a:p>
            <a:pPr marL="45720" indent="0">
              <a:buNone/>
            </a:pPr>
            <a:r>
              <a:rPr lang="ru-RU" sz="2400" dirty="0"/>
              <a:t>Быть уверенной в своих способностях. </a:t>
            </a:r>
          </a:p>
          <a:p>
            <a:pPr marL="45720" indent="0">
              <a:buNone/>
            </a:pPr>
            <a:r>
              <a:rPr lang="ru-RU" sz="2400" dirty="0"/>
              <a:t>Перестать беспокоиться, что думают другие. </a:t>
            </a:r>
          </a:p>
          <a:p>
            <a:pPr marL="45720" indent="0">
              <a:buNone/>
            </a:pPr>
            <a:r>
              <a:rPr lang="ru-RU" sz="2400" dirty="0"/>
              <a:t>Перестать беспокоиться о том, что еще не наступило, что  будет «там», жить настоящим моментом. </a:t>
            </a:r>
          </a:p>
          <a:p>
            <a:pPr marL="45720" indent="0">
              <a:buNone/>
            </a:pPr>
            <a:r>
              <a:rPr lang="ru-RU" sz="2400" dirty="0"/>
              <a:t>Стать автором событий своей жизни. Да, стать автором!»</a:t>
            </a:r>
            <a:br>
              <a:rPr lang="ru-RU" sz="2400" dirty="0"/>
            </a:br>
            <a:endParaRPr lang="ru-RU" dirty="0"/>
          </a:p>
          <a:p>
            <a:pPr marL="45720" indent="0">
              <a:buNone/>
            </a:pPr>
            <a:endParaRPr lang="ru-RU" dirty="0"/>
          </a:p>
        </p:txBody>
      </p:sp>
    </p:spTree>
    <p:extLst>
      <p:ext uri="{BB962C8B-B14F-4D97-AF65-F5344CB8AC3E}">
        <p14:creationId xmlns:p14="http://schemas.microsoft.com/office/powerpoint/2010/main" val="35730204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бъект 3"/>
          <p:cNvSpPr>
            <a:spLocks noGrp="1"/>
          </p:cNvSpPr>
          <p:nvPr>
            <p:ph sz="quarter" idx="13"/>
          </p:nvPr>
        </p:nvSpPr>
        <p:spPr>
          <a:xfrm>
            <a:off x="395536" y="731520"/>
            <a:ext cx="8496944" cy="4641696"/>
          </a:xfrm>
        </p:spPr>
        <p:txBody>
          <a:bodyPr>
            <a:normAutofit/>
          </a:bodyPr>
          <a:lstStyle/>
          <a:p>
            <a:pPr marL="45720" indent="0" algn="ctr">
              <a:buNone/>
            </a:pPr>
            <a:endParaRPr lang="ru-RU" sz="3200" dirty="0">
              <a:solidFill>
                <a:srgbClr val="0070C0"/>
              </a:solidFill>
            </a:endParaRPr>
          </a:p>
          <a:p>
            <a:pPr marL="45720" indent="0" algn="ctr">
              <a:buNone/>
            </a:pPr>
            <a:r>
              <a:rPr lang="ru-RU" sz="3200" dirty="0">
                <a:solidFill>
                  <a:srgbClr val="0070C0"/>
                </a:solidFill>
              </a:rPr>
              <a:t>Сделаем небольшой акцент на теме:</a:t>
            </a:r>
          </a:p>
          <a:p>
            <a:pPr marL="45720" indent="0" algn="ctr">
              <a:buNone/>
            </a:pPr>
            <a:r>
              <a:rPr lang="ru-RU" sz="3200" dirty="0">
                <a:solidFill>
                  <a:srgbClr val="0070C0"/>
                </a:solidFill>
              </a:rPr>
              <a:t>«Работа с личностными и возрастными кризисами»</a:t>
            </a:r>
          </a:p>
        </p:txBody>
      </p:sp>
    </p:spTree>
    <p:extLst>
      <p:ext uri="{BB962C8B-B14F-4D97-AF65-F5344CB8AC3E}">
        <p14:creationId xmlns:p14="http://schemas.microsoft.com/office/powerpoint/2010/main" val="7949750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475656" y="104602"/>
            <a:ext cx="6512511" cy="604684"/>
          </a:xfrm>
        </p:spPr>
        <p:txBody>
          <a:bodyPr/>
          <a:lstStyle/>
          <a:p>
            <a:pPr marL="0" indent="0" algn="ctr">
              <a:buNone/>
            </a:pPr>
            <a:r>
              <a:rPr lang="ru-RU" sz="2800" dirty="0">
                <a:solidFill>
                  <a:srgbClr val="0070C0"/>
                </a:solidFill>
              </a:rPr>
              <a:t>Этапы развития своего Я</a:t>
            </a:r>
            <a:br>
              <a:rPr lang="ru-RU" sz="2800" dirty="0">
                <a:solidFill>
                  <a:srgbClr val="0070C0"/>
                </a:solidFill>
              </a:rPr>
            </a:br>
            <a:r>
              <a:rPr lang="ru-RU" sz="2000" dirty="0">
                <a:solidFill>
                  <a:srgbClr val="0070C0"/>
                </a:solidFill>
              </a:rPr>
              <a:t>Джеймс </a:t>
            </a:r>
            <a:r>
              <a:rPr lang="ru-RU" sz="2000" dirty="0" err="1">
                <a:solidFill>
                  <a:srgbClr val="0070C0"/>
                </a:solidFill>
              </a:rPr>
              <a:t>Холлис</a:t>
            </a:r>
            <a:r>
              <a:rPr lang="ru-RU" sz="2000" dirty="0">
                <a:solidFill>
                  <a:srgbClr val="0070C0"/>
                </a:solidFill>
              </a:rPr>
              <a:t> «Перевал в середине пути» </a:t>
            </a:r>
            <a:r>
              <a:rPr lang="ru-RU" sz="2800" dirty="0">
                <a:solidFill>
                  <a:srgbClr val="0070C0"/>
                </a:solidFill>
              </a:rPr>
              <a:t>середине пути»</a:t>
            </a:r>
          </a:p>
        </p:txBody>
      </p:sp>
      <p:graphicFrame>
        <p:nvGraphicFramePr>
          <p:cNvPr id="4" name="Объект 3"/>
          <p:cNvGraphicFramePr>
            <a:graphicFrameLocks noGrp="1"/>
          </p:cNvGraphicFramePr>
          <p:nvPr>
            <p:ph sz="quarter" idx="13"/>
            <p:extLst>
              <p:ext uri="{D42A27DB-BD31-4B8C-83A1-F6EECF244321}">
                <p14:modId xmlns:p14="http://schemas.microsoft.com/office/powerpoint/2010/main" val="1432089034"/>
              </p:ext>
            </p:extLst>
          </p:nvPr>
        </p:nvGraphicFramePr>
        <p:xfrm>
          <a:off x="323526" y="1052736"/>
          <a:ext cx="8424940" cy="5922992"/>
        </p:xfrm>
        <a:graphic>
          <a:graphicData uri="http://schemas.openxmlformats.org/drawingml/2006/table">
            <a:tbl>
              <a:tblPr firstRow="1" bandRow="1">
                <a:tableStyleId>{5C22544A-7EE6-4342-B048-85BDC9FD1C3A}</a:tableStyleId>
              </a:tblPr>
              <a:tblGrid>
                <a:gridCol w="2106235">
                  <a:extLst>
                    <a:ext uri="{9D8B030D-6E8A-4147-A177-3AD203B41FA5}">
                      <a16:colId xmlns:a16="http://schemas.microsoft.com/office/drawing/2014/main" val="1613372227"/>
                    </a:ext>
                  </a:extLst>
                </a:gridCol>
                <a:gridCol w="2106235">
                  <a:extLst>
                    <a:ext uri="{9D8B030D-6E8A-4147-A177-3AD203B41FA5}">
                      <a16:colId xmlns:a16="http://schemas.microsoft.com/office/drawing/2014/main" val="1777570929"/>
                    </a:ext>
                  </a:extLst>
                </a:gridCol>
                <a:gridCol w="2106235">
                  <a:extLst>
                    <a:ext uri="{9D8B030D-6E8A-4147-A177-3AD203B41FA5}">
                      <a16:colId xmlns:a16="http://schemas.microsoft.com/office/drawing/2014/main" val="417988058"/>
                    </a:ext>
                  </a:extLst>
                </a:gridCol>
                <a:gridCol w="2106235">
                  <a:extLst>
                    <a:ext uri="{9D8B030D-6E8A-4147-A177-3AD203B41FA5}">
                      <a16:colId xmlns:a16="http://schemas.microsoft.com/office/drawing/2014/main" val="3158948373"/>
                    </a:ext>
                  </a:extLst>
                </a:gridCol>
              </a:tblGrid>
              <a:tr h="1224136">
                <a:tc>
                  <a:txBody>
                    <a:bodyPr/>
                    <a:lstStyle/>
                    <a:p>
                      <a:endParaRPr lang="ru-RU" dirty="0"/>
                    </a:p>
                  </a:txBody>
                  <a:tcPr/>
                </a:tc>
                <a:tc>
                  <a:txBody>
                    <a:bodyPr/>
                    <a:lstStyle/>
                    <a:p>
                      <a:r>
                        <a:rPr lang="ru-RU" dirty="0"/>
                        <a:t>Детство</a:t>
                      </a:r>
                    </a:p>
                    <a:p>
                      <a:r>
                        <a:rPr lang="ru-RU" dirty="0"/>
                        <a:t>ПРИМЕРНО до 12-18/21</a:t>
                      </a:r>
                    </a:p>
                  </a:txBody>
                  <a:tcPr/>
                </a:tc>
                <a:tc>
                  <a:txBody>
                    <a:bodyPr/>
                    <a:lstStyle/>
                    <a:p>
                      <a:r>
                        <a:rPr lang="ru-RU" dirty="0"/>
                        <a:t>1-ая взрослость</a:t>
                      </a:r>
                    </a:p>
                    <a:p>
                      <a:pPr marL="0" marR="0" indent="0" algn="l" defTabSz="914400" rtl="0" eaLnBrk="1" fontAlgn="auto" latinLnBrk="0" hangingPunct="1">
                        <a:lnSpc>
                          <a:spcPct val="100000"/>
                        </a:lnSpc>
                        <a:spcBef>
                          <a:spcPts val="0"/>
                        </a:spcBef>
                        <a:spcAft>
                          <a:spcPts val="0"/>
                        </a:spcAft>
                        <a:buClrTx/>
                        <a:buSzTx/>
                        <a:buFontTx/>
                        <a:buNone/>
                        <a:tabLst/>
                        <a:defRPr/>
                      </a:pPr>
                      <a:r>
                        <a:rPr lang="ru-RU" dirty="0"/>
                        <a:t>ПРИМЕРНО до 40</a:t>
                      </a:r>
                    </a:p>
                    <a:p>
                      <a:endParaRPr lang="ru-RU" dirty="0"/>
                    </a:p>
                  </a:txBody>
                  <a:tcPr/>
                </a:tc>
                <a:tc>
                  <a:txBody>
                    <a:bodyPr/>
                    <a:lstStyle/>
                    <a:p>
                      <a:r>
                        <a:rPr lang="ru-RU" dirty="0"/>
                        <a:t>2-ая взрослость</a:t>
                      </a:r>
                    </a:p>
                    <a:p>
                      <a:r>
                        <a:rPr lang="ru-RU" dirty="0"/>
                        <a:t>До бесконечности</a:t>
                      </a:r>
                    </a:p>
                  </a:txBody>
                  <a:tcPr/>
                </a:tc>
                <a:extLst>
                  <a:ext uri="{0D108BD9-81ED-4DB2-BD59-A6C34878D82A}">
                    <a16:rowId xmlns:a16="http://schemas.microsoft.com/office/drawing/2014/main" val="1187425640"/>
                  </a:ext>
                </a:extLst>
              </a:tr>
              <a:tr h="1224136">
                <a:tc>
                  <a:txBody>
                    <a:bodyPr/>
                    <a:lstStyle/>
                    <a:p>
                      <a:r>
                        <a:rPr lang="ru-RU" dirty="0"/>
                        <a:t>Фокус внимания.</a:t>
                      </a:r>
                    </a:p>
                    <a:p>
                      <a:endParaRPr lang="ru-RU" dirty="0"/>
                    </a:p>
                    <a:p>
                      <a:endParaRPr lang="ru-RU" dirty="0"/>
                    </a:p>
                    <a:p>
                      <a:r>
                        <a:rPr lang="ru-RU" dirty="0">
                          <a:solidFill>
                            <a:srgbClr val="FF0000"/>
                          </a:solidFill>
                        </a:rPr>
                        <a:t>Ведущая потребность</a:t>
                      </a:r>
                    </a:p>
                  </a:txBody>
                  <a:tcPr/>
                </a:tc>
                <a:tc>
                  <a:txBody>
                    <a:bodyPr/>
                    <a:lstStyle/>
                    <a:p>
                      <a:r>
                        <a:rPr lang="ru-RU" dirty="0"/>
                        <a:t>Я и семья/родители</a:t>
                      </a:r>
                    </a:p>
                    <a:p>
                      <a:endParaRPr lang="ru-RU" dirty="0"/>
                    </a:p>
                    <a:p>
                      <a:r>
                        <a:rPr lang="ru-RU" dirty="0">
                          <a:solidFill>
                            <a:srgbClr val="FF0000"/>
                          </a:solidFill>
                        </a:rPr>
                        <a:t>Стремление к удовольствию</a:t>
                      </a:r>
                    </a:p>
                  </a:txBody>
                  <a:tcPr/>
                </a:tc>
                <a:tc>
                  <a:txBody>
                    <a:bodyPr/>
                    <a:lstStyle/>
                    <a:p>
                      <a:r>
                        <a:rPr lang="ru-RU" dirty="0"/>
                        <a:t>Я и внешний мир</a:t>
                      </a:r>
                    </a:p>
                    <a:p>
                      <a:endParaRPr lang="ru-RU" dirty="0"/>
                    </a:p>
                    <a:p>
                      <a:endParaRPr lang="ru-RU" dirty="0"/>
                    </a:p>
                    <a:p>
                      <a:r>
                        <a:rPr lang="ru-RU" dirty="0">
                          <a:solidFill>
                            <a:srgbClr val="FF0000"/>
                          </a:solidFill>
                        </a:rPr>
                        <a:t>Стремление к власти</a:t>
                      </a:r>
                    </a:p>
                  </a:txBody>
                  <a:tcPr/>
                </a:tc>
                <a:tc>
                  <a:txBody>
                    <a:bodyPr/>
                    <a:lstStyle/>
                    <a:p>
                      <a:r>
                        <a:rPr lang="ru-RU" dirty="0"/>
                        <a:t>Я и я (+я и Бог)</a:t>
                      </a:r>
                    </a:p>
                    <a:p>
                      <a:endParaRPr lang="ru-RU" dirty="0"/>
                    </a:p>
                    <a:p>
                      <a:endParaRPr lang="ru-RU" dirty="0"/>
                    </a:p>
                    <a:p>
                      <a:r>
                        <a:rPr lang="ru-RU" dirty="0">
                          <a:solidFill>
                            <a:srgbClr val="FF0000"/>
                          </a:solidFill>
                        </a:rPr>
                        <a:t>Стремление к смыслу</a:t>
                      </a:r>
                    </a:p>
                  </a:txBody>
                  <a:tcPr/>
                </a:tc>
                <a:extLst>
                  <a:ext uri="{0D108BD9-81ED-4DB2-BD59-A6C34878D82A}">
                    <a16:rowId xmlns:a16="http://schemas.microsoft.com/office/drawing/2014/main" val="248921930"/>
                  </a:ext>
                </a:extLst>
              </a:tr>
              <a:tr h="1224136">
                <a:tc>
                  <a:txBody>
                    <a:bodyPr/>
                    <a:lstStyle/>
                    <a:p>
                      <a:r>
                        <a:rPr lang="ru-RU" dirty="0"/>
                        <a:t>Тип мышления</a:t>
                      </a:r>
                    </a:p>
                  </a:txBody>
                  <a:tcPr/>
                </a:tc>
                <a:tc>
                  <a:txBody>
                    <a:bodyPr/>
                    <a:lstStyle/>
                    <a:p>
                      <a:r>
                        <a:rPr lang="ru-RU" dirty="0"/>
                        <a:t>Магическое</a:t>
                      </a:r>
                    </a:p>
                    <a:p>
                      <a:r>
                        <a:rPr lang="ru-RU" dirty="0"/>
                        <a:t>«Я хочу!»</a:t>
                      </a:r>
                    </a:p>
                    <a:p>
                      <a:endParaRPr lang="ru-RU" dirty="0"/>
                    </a:p>
                    <a:p>
                      <a:r>
                        <a:rPr lang="ru-RU" dirty="0"/>
                        <a:t>Архетип</a:t>
                      </a:r>
                      <a:r>
                        <a:rPr lang="ru-RU" baseline="0" dirty="0"/>
                        <a:t> Ребенка</a:t>
                      </a:r>
                      <a:endParaRPr lang="ru-RU" dirty="0"/>
                    </a:p>
                  </a:txBody>
                  <a:tcPr/>
                </a:tc>
                <a:tc>
                  <a:txBody>
                    <a:bodyPr/>
                    <a:lstStyle/>
                    <a:p>
                      <a:r>
                        <a:rPr lang="ru-RU" dirty="0"/>
                        <a:t>Героическое</a:t>
                      </a:r>
                    </a:p>
                    <a:p>
                      <a:r>
                        <a:rPr lang="ru-RU" dirty="0"/>
                        <a:t>«Я могу!»</a:t>
                      </a:r>
                    </a:p>
                    <a:p>
                      <a:endParaRPr lang="ru-RU" dirty="0"/>
                    </a:p>
                    <a:p>
                      <a:r>
                        <a:rPr lang="ru-RU" dirty="0"/>
                        <a:t>Архетип Героя</a:t>
                      </a:r>
                    </a:p>
                  </a:txBody>
                  <a:tcPr/>
                </a:tc>
                <a:tc>
                  <a:txBody>
                    <a:bodyPr/>
                    <a:lstStyle/>
                    <a:p>
                      <a:r>
                        <a:rPr lang="ru-RU" dirty="0"/>
                        <a:t>Реалистическое</a:t>
                      </a:r>
                    </a:p>
                    <a:p>
                      <a:r>
                        <a:rPr lang="ru-RU" dirty="0"/>
                        <a:t>«Я понимаю и принимаю!»</a:t>
                      </a:r>
                    </a:p>
                    <a:p>
                      <a:r>
                        <a:rPr lang="ru-RU" dirty="0"/>
                        <a:t>Архетип Мудреца</a:t>
                      </a:r>
                    </a:p>
                  </a:txBody>
                  <a:tcPr/>
                </a:tc>
                <a:extLst>
                  <a:ext uri="{0D108BD9-81ED-4DB2-BD59-A6C34878D82A}">
                    <a16:rowId xmlns:a16="http://schemas.microsoft.com/office/drawing/2014/main" val="836957820"/>
                  </a:ext>
                </a:extLst>
              </a:tr>
              <a:tr h="1224136">
                <a:tc>
                  <a:txBody>
                    <a:bodyPr/>
                    <a:lstStyle/>
                    <a:p>
                      <a:r>
                        <a:rPr lang="ru-RU" dirty="0"/>
                        <a:t>Что происходит</a:t>
                      </a:r>
                      <a:r>
                        <a:rPr lang="ru-RU" baseline="0" dirty="0"/>
                        <a:t> + </a:t>
                      </a:r>
                      <a:r>
                        <a:rPr lang="ru-RU" dirty="0"/>
                        <a:t>продукт личностного развития</a:t>
                      </a:r>
                    </a:p>
                  </a:txBody>
                  <a:tcPr/>
                </a:tc>
                <a:tc>
                  <a:txBody>
                    <a:bodyPr/>
                    <a:lstStyle/>
                    <a:p>
                      <a:r>
                        <a:rPr lang="ru-RU" dirty="0"/>
                        <a:t>Первичная самоидентификация:</a:t>
                      </a:r>
                    </a:p>
                    <a:p>
                      <a:r>
                        <a:rPr lang="ru-RU" dirty="0"/>
                        <a:t>1. личностная (</a:t>
                      </a:r>
                      <a:r>
                        <a:rPr lang="ru-RU" dirty="0" err="1"/>
                        <a:t>Я+Мир</a:t>
                      </a:r>
                      <a:r>
                        <a:rPr lang="ru-RU" dirty="0"/>
                        <a:t>+, с/о), </a:t>
                      </a:r>
                    </a:p>
                    <a:p>
                      <a:r>
                        <a:rPr lang="ru-RU" dirty="0"/>
                        <a:t>2. половая, </a:t>
                      </a:r>
                    </a:p>
                    <a:p>
                      <a:r>
                        <a:rPr lang="ru-RU" dirty="0"/>
                        <a:t>3. социальная</a:t>
                      </a:r>
                    </a:p>
                  </a:txBody>
                  <a:tcPr/>
                </a:tc>
                <a:tc>
                  <a:txBody>
                    <a:bodyPr/>
                    <a:lstStyle/>
                    <a:p>
                      <a:r>
                        <a:rPr lang="ru-RU" dirty="0"/>
                        <a:t>Укрепление социальной и половой идентичности</a:t>
                      </a:r>
                    </a:p>
                  </a:txBody>
                  <a:tcPr/>
                </a:tc>
                <a:tc>
                  <a:txBody>
                    <a:bodyPr/>
                    <a:lstStyle/>
                    <a:p>
                      <a:r>
                        <a:rPr lang="ru-RU" dirty="0"/>
                        <a:t>Трансформация личностного</a:t>
                      </a:r>
                      <a:r>
                        <a:rPr lang="ru-RU" baseline="0" dirty="0"/>
                        <a:t> самоопределения</a:t>
                      </a:r>
                    </a:p>
                    <a:p>
                      <a:pPr marL="0" marR="0" indent="0" algn="l" defTabSz="914400" rtl="0" eaLnBrk="1" fontAlgn="auto" latinLnBrk="0" hangingPunct="1">
                        <a:lnSpc>
                          <a:spcPct val="100000"/>
                        </a:lnSpc>
                        <a:spcBef>
                          <a:spcPts val="0"/>
                        </a:spcBef>
                        <a:spcAft>
                          <a:spcPts val="0"/>
                        </a:spcAft>
                        <a:buClrTx/>
                        <a:buSzTx/>
                        <a:buFontTx/>
                        <a:buNone/>
                        <a:tabLst/>
                        <a:defRPr/>
                      </a:pPr>
                      <a:r>
                        <a:rPr lang="ru-RU" dirty="0"/>
                        <a:t>Вторичная самоидентификация</a:t>
                      </a:r>
                    </a:p>
                    <a:p>
                      <a:endParaRPr lang="ru-RU" dirty="0"/>
                    </a:p>
                  </a:txBody>
                  <a:tcPr/>
                </a:tc>
                <a:extLst>
                  <a:ext uri="{0D108BD9-81ED-4DB2-BD59-A6C34878D82A}">
                    <a16:rowId xmlns:a16="http://schemas.microsoft.com/office/drawing/2014/main" val="102460700"/>
                  </a:ext>
                </a:extLst>
              </a:tr>
            </a:tbl>
          </a:graphicData>
        </a:graphic>
      </p:graphicFrame>
    </p:spTree>
    <p:extLst>
      <p:ext uri="{BB962C8B-B14F-4D97-AF65-F5344CB8AC3E}">
        <p14:creationId xmlns:p14="http://schemas.microsoft.com/office/powerpoint/2010/main" val="30120536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1143000" y="731520"/>
            <a:ext cx="7245424" cy="4065632"/>
          </a:xfrm>
        </p:spPr>
        <p:txBody>
          <a:bodyPr>
            <a:normAutofit fontScale="47500" lnSpcReduction="20000"/>
          </a:bodyPr>
          <a:lstStyle/>
          <a:p>
            <a:pPr marL="45720" indent="0" algn="ctr">
              <a:buNone/>
            </a:pPr>
            <a:r>
              <a:rPr lang="ru-RU" sz="4000" dirty="0">
                <a:solidFill>
                  <a:srgbClr val="0070C0"/>
                </a:solidFill>
              </a:rPr>
              <a:t>   </a:t>
            </a:r>
          </a:p>
          <a:p>
            <a:pPr marL="45720" indent="0" algn="ctr">
              <a:buNone/>
            </a:pPr>
            <a:r>
              <a:rPr lang="ru-RU" sz="4000" dirty="0">
                <a:solidFill>
                  <a:srgbClr val="0070C0"/>
                </a:solidFill>
              </a:rPr>
              <a:t>Первую и вторую взрослость отделяет (соединяет?)</a:t>
            </a:r>
          </a:p>
          <a:p>
            <a:pPr marL="45720" indent="0" algn="ctr">
              <a:buNone/>
            </a:pPr>
            <a:r>
              <a:rPr lang="ru-RU" sz="4000" dirty="0">
                <a:solidFill>
                  <a:srgbClr val="0070C0"/>
                </a:solidFill>
              </a:rPr>
              <a:t>Кризис идентичности/</a:t>
            </a:r>
          </a:p>
          <a:p>
            <a:pPr marL="45720" indent="0" algn="ctr">
              <a:buNone/>
            </a:pPr>
            <a:r>
              <a:rPr lang="ru-RU" sz="4000" dirty="0">
                <a:solidFill>
                  <a:srgbClr val="0070C0"/>
                </a:solidFill>
              </a:rPr>
              <a:t>Экзистенциальный кризис/</a:t>
            </a:r>
          </a:p>
          <a:p>
            <a:pPr marL="45720" indent="0" algn="ctr">
              <a:buNone/>
            </a:pPr>
            <a:r>
              <a:rPr lang="ru-RU" sz="4000" dirty="0">
                <a:solidFill>
                  <a:srgbClr val="0070C0"/>
                </a:solidFill>
              </a:rPr>
              <a:t>Кризис среднего возраста/</a:t>
            </a:r>
          </a:p>
          <a:p>
            <a:pPr marL="45720" indent="0" algn="ctr">
              <a:buNone/>
            </a:pPr>
            <a:r>
              <a:rPr lang="ru-RU" sz="4000" dirty="0">
                <a:solidFill>
                  <a:srgbClr val="0070C0"/>
                </a:solidFill>
              </a:rPr>
              <a:t>Внутренняя трансформация/</a:t>
            </a:r>
          </a:p>
          <a:p>
            <a:pPr marL="45720" indent="0" algn="ctr">
              <a:buNone/>
            </a:pPr>
            <a:r>
              <a:rPr lang="ru-RU" sz="4000" dirty="0">
                <a:solidFill>
                  <a:srgbClr val="0070C0"/>
                </a:solidFill>
              </a:rPr>
              <a:t>личностный рост</a:t>
            </a:r>
          </a:p>
          <a:p>
            <a:pPr marL="45720" indent="0" algn="ctr">
              <a:buNone/>
            </a:pPr>
            <a:endParaRPr lang="ru-RU" sz="4000" dirty="0">
              <a:solidFill>
                <a:srgbClr val="0070C0"/>
              </a:solidFill>
            </a:endParaRPr>
          </a:p>
          <a:p>
            <a:pPr marL="45720" indent="0" algn="ctr">
              <a:buNone/>
            </a:pPr>
            <a:r>
              <a:rPr lang="ru-RU" sz="4000" dirty="0">
                <a:solidFill>
                  <a:srgbClr val="0070C0"/>
                </a:solidFill>
              </a:rPr>
              <a:t>ЭКЗИСТЕНЦИЯ -</a:t>
            </a:r>
          </a:p>
          <a:p>
            <a:pPr marL="45720" indent="0" algn="ctr">
              <a:buNone/>
            </a:pPr>
            <a:r>
              <a:rPr lang="ru-RU" sz="4000" dirty="0">
                <a:solidFill>
                  <a:srgbClr val="FF0000"/>
                </a:solidFill>
              </a:rPr>
              <a:t>(от лат. </a:t>
            </a:r>
            <a:r>
              <a:rPr lang="ru-RU" sz="4000" dirty="0" err="1">
                <a:solidFill>
                  <a:srgbClr val="FF0000"/>
                </a:solidFill>
              </a:rPr>
              <a:t>ex</a:t>
            </a:r>
            <a:r>
              <a:rPr lang="ru-RU" sz="4000" dirty="0">
                <a:solidFill>
                  <a:srgbClr val="FF0000"/>
                </a:solidFill>
              </a:rPr>
              <a:t>(</a:t>
            </a:r>
            <a:r>
              <a:rPr lang="ru-RU" sz="4000" dirty="0">
                <a:solidFill>
                  <a:srgbClr val="FF0000"/>
                </a:solidFill>
                <a:hlinkClick r:id="rId2"/>
              </a:rPr>
              <a:t>s</a:t>
            </a:r>
            <a:r>
              <a:rPr lang="ru-RU" sz="4000" dirty="0">
                <a:solidFill>
                  <a:srgbClr val="FF0000"/>
                </a:solidFill>
              </a:rPr>
              <a:t>)</a:t>
            </a:r>
            <a:r>
              <a:rPr lang="ru-RU" sz="4000" dirty="0" err="1">
                <a:solidFill>
                  <a:srgbClr val="FF0000"/>
                </a:solidFill>
              </a:rPr>
              <a:t>isto</a:t>
            </a:r>
            <a:r>
              <a:rPr lang="ru-RU" sz="4000" dirty="0">
                <a:solidFill>
                  <a:srgbClr val="FF0000"/>
                </a:solidFill>
              </a:rPr>
              <a:t> — существую) </a:t>
            </a:r>
          </a:p>
          <a:p>
            <a:pPr marL="45720" indent="0" algn="ctr">
              <a:buNone/>
            </a:pPr>
            <a:r>
              <a:rPr lang="ru-RU" sz="4000" dirty="0"/>
              <a:t> бытие, существование в его простой фактичности</a:t>
            </a:r>
          </a:p>
          <a:p>
            <a:pPr marL="45720" indent="0" algn="ctr">
              <a:buNone/>
            </a:pPr>
            <a:endParaRPr lang="ru-RU" sz="4000" dirty="0">
              <a:solidFill>
                <a:srgbClr val="0070C0"/>
              </a:solidFill>
            </a:endParaRPr>
          </a:p>
          <a:p>
            <a:endParaRPr lang="ru-RU" dirty="0"/>
          </a:p>
        </p:txBody>
      </p:sp>
    </p:spTree>
    <p:extLst>
      <p:ext uri="{BB962C8B-B14F-4D97-AF65-F5344CB8AC3E}">
        <p14:creationId xmlns:p14="http://schemas.microsoft.com/office/powerpoint/2010/main" val="27370618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467544" y="260648"/>
            <a:ext cx="8280920" cy="6120680"/>
          </a:xfrm>
        </p:spPr>
        <p:txBody>
          <a:bodyPr>
            <a:normAutofit/>
          </a:bodyPr>
          <a:lstStyle/>
          <a:p>
            <a:pPr marL="45720" indent="0">
              <a:buNone/>
            </a:pPr>
            <a:r>
              <a:rPr lang="ru-RU" dirty="0"/>
              <a:t>Накануне внутренней трансформации могут появиться: </a:t>
            </a:r>
          </a:p>
          <a:p>
            <a:pPr marL="45720" indent="0">
              <a:buNone/>
            </a:pPr>
            <a:endParaRPr lang="ru-RU" dirty="0"/>
          </a:p>
          <a:p>
            <a:r>
              <a:rPr lang="ru-RU" dirty="0"/>
              <a:t>Апатия (</a:t>
            </a:r>
            <a:r>
              <a:rPr lang="ru-RU" dirty="0" err="1"/>
              <a:t>прокрастинация</a:t>
            </a:r>
            <a:r>
              <a:rPr lang="ru-RU" dirty="0"/>
              <a:t>), которую человек старается превозмочь</a:t>
            </a:r>
          </a:p>
          <a:p>
            <a:r>
              <a:rPr lang="ru-RU" dirty="0"/>
              <a:t>чрезмерное пристрастие к работе (убегание в работу) или постоянная смена места работы </a:t>
            </a:r>
          </a:p>
          <a:p>
            <a:r>
              <a:rPr lang="ru-RU" dirty="0"/>
              <a:t>употребление алкоголя</a:t>
            </a:r>
          </a:p>
          <a:p>
            <a:r>
              <a:rPr lang="ru-RU" dirty="0"/>
              <a:t>связи на стороне</a:t>
            </a:r>
          </a:p>
          <a:p>
            <a:r>
              <a:rPr lang="ru-RU" dirty="0"/>
              <a:t>посещение тренингов, обучение на различных курсах</a:t>
            </a:r>
          </a:p>
          <a:p>
            <a:r>
              <a:rPr lang="ru-RU" dirty="0"/>
              <a:t>и так далее </a:t>
            </a:r>
          </a:p>
          <a:p>
            <a:endParaRPr lang="ru-RU" dirty="0"/>
          </a:p>
          <a:p>
            <a:pPr marL="45720" indent="0">
              <a:buNone/>
            </a:pPr>
            <a:endParaRPr lang="ru-RU" dirty="0">
              <a:solidFill>
                <a:srgbClr val="FF0000"/>
              </a:solidFill>
            </a:endParaRPr>
          </a:p>
        </p:txBody>
      </p:sp>
    </p:spTree>
    <p:extLst>
      <p:ext uri="{BB962C8B-B14F-4D97-AF65-F5344CB8AC3E}">
        <p14:creationId xmlns:p14="http://schemas.microsoft.com/office/powerpoint/2010/main" val="38389720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539552" y="692696"/>
            <a:ext cx="7992888" cy="5184576"/>
          </a:xfrm>
        </p:spPr>
        <p:txBody>
          <a:bodyPr>
            <a:normAutofit fontScale="62500" lnSpcReduction="20000"/>
          </a:bodyPr>
          <a:lstStyle/>
          <a:p>
            <a:pPr marL="45720" indent="0">
              <a:buNone/>
            </a:pPr>
            <a:endParaRPr lang="ru-RU" dirty="0"/>
          </a:p>
          <a:p>
            <a:pPr marL="45720" indent="0">
              <a:buNone/>
            </a:pPr>
            <a:r>
              <a:rPr lang="ru-RU" sz="2800" dirty="0">
                <a:solidFill>
                  <a:srgbClr val="0070C0"/>
                </a:solidFill>
              </a:rPr>
              <a:t>Как правило, здесь нет никаких внешних стимулов, внешних изменений. Все, как обычно.</a:t>
            </a:r>
          </a:p>
          <a:p>
            <a:pPr marL="45720" indent="0">
              <a:buNone/>
            </a:pPr>
            <a:r>
              <a:rPr lang="ru-RU" sz="2800" dirty="0">
                <a:solidFill>
                  <a:srgbClr val="0070C0"/>
                </a:solidFill>
              </a:rPr>
              <a:t>А ощущение потери чего-то, что внутри меня что-то происходит есть. </a:t>
            </a:r>
          </a:p>
          <a:p>
            <a:pPr marL="45720" indent="0">
              <a:buNone/>
            </a:pPr>
            <a:r>
              <a:rPr lang="ru-RU" sz="2800" dirty="0">
                <a:solidFill>
                  <a:srgbClr val="0070C0"/>
                </a:solidFill>
              </a:rPr>
              <a:t>И это «что-то» меня куда-то зовет, иногда мучает</a:t>
            </a:r>
          </a:p>
          <a:p>
            <a:pPr marL="45720" indent="0" algn="ctr">
              <a:buNone/>
            </a:pPr>
            <a:endParaRPr lang="ru-RU" sz="2800" dirty="0">
              <a:solidFill>
                <a:srgbClr val="FF0000"/>
              </a:solidFill>
            </a:endParaRPr>
          </a:p>
          <a:p>
            <a:pPr marL="45720" indent="0" algn="ctr">
              <a:buNone/>
            </a:pPr>
            <a:r>
              <a:rPr lang="ru-RU" sz="2800" dirty="0">
                <a:solidFill>
                  <a:srgbClr val="FF0000"/>
                </a:solidFill>
              </a:rPr>
              <a:t>!!!ПРИ ОТСУТСТВИИ ВНЕШНИХ ИЗМЕНЕНИЙ ЕСТЬ ИЗМЕНЕНИЯ ВНУТРЕННИЕ. </a:t>
            </a:r>
          </a:p>
          <a:p>
            <a:pPr marL="45720" indent="0" algn="ctr">
              <a:buNone/>
            </a:pPr>
            <a:r>
              <a:rPr lang="ru-RU" sz="2800" dirty="0">
                <a:solidFill>
                  <a:srgbClr val="FF0000"/>
                </a:solidFill>
              </a:rPr>
              <a:t>И желание изменить свою жизнь на внешнем уровне</a:t>
            </a:r>
          </a:p>
          <a:p>
            <a:pPr marL="45720" indent="0" algn="ctr">
              <a:buNone/>
            </a:pPr>
            <a:endParaRPr lang="ru-RU" sz="2800" dirty="0">
              <a:solidFill>
                <a:srgbClr val="FF0000"/>
              </a:solidFill>
            </a:endParaRPr>
          </a:p>
          <a:p>
            <a:pPr marL="45720" indent="0" algn="ctr">
              <a:buNone/>
            </a:pPr>
            <a:r>
              <a:rPr lang="ru-RU" sz="2800" dirty="0">
                <a:solidFill>
                  <a:srgbClr val="FF0000"/>
                </a:solidFill>
              </a:rPr>
              <a:t>Очень часто здесь есть внутренний конфликт!</a:t>
            </a:r>
          </a:p>
          <a:p>
            <a:pPr marL="45720" indent="0" algn="ctr">
              <a:buNone/>
            </a:pPr>
            <a:r>
              <a:rPr lang="ru-RU" sz="2800" dirty="0">
                <a:solidFill>
                  <a:srgbClr val="FF0000"/>
                </a:solidFill>
              </a:rPr>
              <a:t>Человек теряет свою целостность!</a:t>
            </a:r>
          </a:p>
          <a:p>
            <a:pPr marL="45720" indent="0">
              <a:buNone/>
            </a:pPr>
            <a:endParaRPr lang="ru-RU" sz="2800" dirty="0">
              <a:solidFill>
                <a:srgbClr val="0070C0"/>
              </a:solidFill>
            </a:endParaRPr>
          </a:p>
          <a:p>
            <a:pPr marL="45720" indent="0">
              <a:buNone/>
            </a:pPr>
            <a:r>
              <a:rPr lang="ru-RU" sz="2800" dirty="0">
                <a:solidFill>
                  <a:srgbClr val="0070C0"/>
                </a:solidFill>
              </a:rPr>
              <a:t>Как правило изменения затрагивают ту сторону личности, с которой мы себя идентифицируем. </a:t>
            </a:r>
          </a:p>
          <a:p>
            <a:pPr marL="45720" indent="0">
              <a:buNone/>
            </a:pPr>
            <a:r>
              <a:rPr lang="ru-RU" sz="2800" dirty="0">
                <a:solidFill>
                  <a:srgbClr val="0070C0"/>
                </a:solidFill>
              </a:rPr>
              <a:t>Или в нем начинает просыпаться та роль, которую он не реализовал.</a:t>
            </a:r>
          </a:p>
          <a:p>
            <a:pPr marL="45720" indent="0">
              <a:buNone/>
            </a:pPr>
            <a:r>
              <a:rPr lang="ru-RU" sz="2800" dirty="0">
                <a:solidFill>
                  <a:srgbClr val="0070C0"/>
                </a:solidFill>
              </a:rPr>
              <a:t>И именно этот запрос клиент и приносит на сессию.</a:t>
            </a:r>
          </a:p>
          <a:p>
            <a:pPr marL="45720" indent="0">
              <a:buNone/>
            </a:pPr>
            <a:endParaRPr lang="ru-RU" sz="2800" dirty="0">
              <a:solidFill>
                <a:srgbClr val="0070C0"/>
              </a:solidFill>
            </a:endParaRPr>
          </a:p>
        </p:txBody>
      </p:sp>
    </p:spTree>
    <p:extLst>
      <p:ext uri="{BB962C8B-B14F-4D97-AF65-F5344CB8AC3E}">
        <p14:creationId xmlns:p14="http://schemas.microsoft.com/office/powerpoint/2010/main" val="11926975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323528" y="731520"/>
            <a:ext cx="8496944" cy="5217760"/>
          </a:xfrm>
        </p:spPr>
        <p:txBody>
          <a:bodyPr>
            <a:normAutofit fontScale="92500"/>
          </a:bodyPr>
          <a:lstStyle/>
          <a:p>
            <a:endParaRPr lang="ru-RU" dirty="0"/>
          </a:p>
          <a:p>
            <a:pPr marL="45720" indent="0" algn="ctr">
              <a:buNone/>
            </a:pPr>
            <a:r>
              <a:rPr lang="ru-RU" b="1" dirty="0"/>
              <a:t>Вторая взрослость</a:t>
            </a:r>
            <a:endParaRPr lang="ru-RU" dirty="0"/>
          </a:p>
          <a:p>
            <a:r>
              <a:rPr lang="ru-RU" dirty="0">
                <a:solidFill>
                  <a:srgbClr val="0070C0"/>
                </a:solidFill>
              </a:rPr>
              <a:t>ПРИМЕРНО 40+ лет</a:t>
            </a:r>
          </a:p>
          <a:p>
            <a:r>
              <a:rPr lang="ru-RU" dirty="0">
                <a:solidFill>
                  <a:srgbClr val="0070C0"/>
                </a:solidFill>
              </a:rPr>
              <a:t>Это ось «Я и Я», «Я и Бог»</a:t>
            </a:r>
          </a:p>
          <a:p>
            <a:r>
              <a:rPr lang="ru-RU" dirty="0">
                <a:solidFill>
                  <a:srgbClr val="0070C0"/>
                </a:solidFill>
              </a:rPr>
              <a:t>Реалистическое мышление</a:t>
            </a:r>
          </a:p>
          <a:p>
            <a:r>
              <a:rPr lang="ru-RU" dirty="0">
                <a:solidFill>
                  <a:srgbClr val="0070C0"/>
                </a:solidFill>
              </a:rPr>
              <a:t>Знание и понимание</a:t>
            </a:r>
          </a:p>
          <a:p>
            <a:r>
              <a:rPr lang="ru-RU" dirty="0">
                <a:solidFill>
                  <a:srgbClr val="FF0000"/>
                </a:solidFill>
              </a:rPr>
              <a:t>ПОИСК СМЫСЛОВ</a:t>
            </a:r>
          </a:p>
          <a:p>
            <a:pPr marL="45720" indent="0">
              <a:buNone/>
            </a:pPr>
            <a:endParaRPr lang="ru-RU" dirty="0">
              <a:solidFill>
                <a:srgbClr val="0070C0"/>
              </a:solidFill>
            </a:endParaRPr>
          </a:p>
          <a:p>
            <a:pPr marL="45720" indent="0" algn="ctr">
              <a:buNone/>
            </a:pPr>
            <a:r>
              <a:rPr lang="ru-RU" b="1" dirty="0">
                <a:solidFill>
                  <a:srgbClr val="FF0000"/>
                </a:solidFill>
              </a:rPr>
              <a:t>!!!Здесь происходит формирование психологически взрослой личности, принимающей себя в своей уникальности </a:t>
            </a:r>
          </a:p>
          <a:p>
            <a:pPr marL="45720" indent="0" algn="ctr">
              <a:buNone/>
            </a:pPr>
            <a:r>
              <a:rPr lang="ru-RU" b="1" dirty="0">
                <a:solidFill>
                  <a:srgbClr val="FF0000"/>
                </a:solidFill>
              </a:rPr>
              <a:t>(принятие не только своих талантов, способностей, ресурсов, достижений, </a:t>
            </a:r>
          </a:p>
          <a:p>
            <a:pPr marL="45720" indent="0" algn="ctr">
              <a:buNone/>
            </a:pPr>
            <a:r>
              <a:rPr lang="ru-RU" b="1" dirty="0">
                <a:solidFill>
                  <a:srgbClr val="FF0000"/>
                </a:solidFill>
              </a:rPr>
              <a:t>но и своих ограничений, «тараканов» и прочих «изюминок»)</a:t>
            </a:r>
            <a:endParaRPr lang="ru-RU" dirty="0">
              <a:solidFill>
                <a:srgbClr val="0070C0"/>
              </a:solidFill>
            </a:endParaRPr>
          </a:p>
          <a:p>
            <a:endParaRPr lang="ru-RU" dirty="0"/>
          </a:p>
        </p:txBody>
      </p:sp>
    </p:spTree>
    <p:extLst>
      <p:ext uri="{BB962C8B-B14F-4D97-AF65-F5344CB8AC3E}">
        <p14:creationId xmlns:p14="http://schemas.microsoft.com/office/powerpoint/2010/main" val="33898420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395536" y="731520"/>
            <a:ext cx="8136904" cy="3474720"/>
          </a:xfrm>
        </p:spPr>
        <p:txBody>
          <a:bodyPr>
            <a:normAutofit/>
          </a:bodyPr>
          <a:lstStyle/>
          <a:p>
            <a:pPr marL="45720" indent="0">
              <a:buNone/>
            </a:pPr>
            <a:endParaRPr lang="ru-RU" sz="2800" dirty="0">
              <a:solidFill>
                <a:srgbClr val="FF0000"/>
              </a:solidFill>
            </a:endParaRPr>
          </a:p>
          <a:p>
            <a:pPr marL="45720" indent="0">
              <a:buNone/>
            </a:pPr>
            <a:r>
              <a:rPr lang="ru-RU" sz="2800" dirty="0">
                <a:solidFill>
                  <a:srgbClr val="FF0000"/>
                </a:solidFill>
              </a:rPr>
              <a:t>?????????????????????????????????????????????????????????</a:t>
            </a:r>
          </a:p>
          <a:p>
            <a:pPr marL="45720" indent="0">
              <a:buNone/>
            </a:pPr>
            <a:r>
              <a:rPr lang="ru-RU" sz="2800" dirty="0">
                <a:solidFill>
                  <a:srgbClr val="FF0000"/>
                </a:solidFill>
              </a:rPr>
              <a:t>Зачем нам </a:t>
            </a:r>
            <a:r>
              <a:rPr lang="ru-RU" sz="2800" dirty="0" smtClean="0">
                <a:solidFill>
                  <a:srgbClr val="FF0000"/>
                </a:solidFill>
              </a:rPr>
              <a:t>знать </a:t>
            </a:r>
            <a:r>
              <a:rPr lang="ru-RU" sz="2800" dirty="0">
                <a:solidFill>
                  <a:srgbClr val="FF0000"/>
                </a:solidFill>
              </a:rPr>
              <a:t>всю предыдущую информацию – про кризисы, периодизацию?</a:t>
            </a:r>
          </a:p>
        </p:txBody>
      </p:sp>
    </p:spTree>
    <p:extLst>
      <p:ext uri="{BB962C8B-B14F-4D97-AF65-F5344CB8AC3E}">
        <p14:creationId xmlns:p14="http://schemas.microsoft.com/office/powerpoint/2010/main" val="38421633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331640" y="1916832"/>
            <a:ext cx="6512511" cy="1143000"/>
          </a:xfrm>
        </p:spPr>
        <p:txBody>
          <a:bodyPr/>
          <a:lstStyle/>
          <a:p>
            <a:pPr marL="0" indent="0" algn="ctr">
              <a:buNone/>
            </a:pPr>
            <a:r>
              <a:rPr lang="ru-RU" sz="3600" dirty="0" err="1">
                <a:solidFill>
                  <a:srgbClr val="0070C0"/>
                </a:solidFill>
              </a:rPr>
              <a:t>Коучинг</a:t>
            </a:r>
            <a:r>
              <a:rPr lang="ru-RU" sz="3600" dirty="0">
                <a:solidFill>
                  <a:srgbClr val="0070C0"/>
                </a:solidFill>
              </a:rPr>
              <a:t> работает не с целями, а </a:t>
            </a:r>
            <a:r>
              <a:rPr lang="ru-RU" sz="3600" dirty="0">
                <a:solidFill>
                  <a:srgbClr val="FF0000"/>
                </a:solidFill>
              </a:rPr>
              <a:t>с человеком</a:t>
            </a:r>
            <a:r>
              <a:rPr lang="ru-RU" sz="3600" dirty="0">
                <a:solidFill>
                  <a:srgbClr val="0070C0"/>
                </a:solidFill>
              </a:rPr>
              <a:t>, который имеет эти цели!!!</a:t>
            </a:r>
          </a:p>
        </p:txBody>
      </p:sp>
    </p:spTree>
    <p:extLst>
      <p:ext uri="{BB962C8B-B14F-4D97-AF65-F5344CB8AC3E}">
        <p14:creationId xmlns:p14="http://schemas.microsoft.com/office/powerpoint/2010/main" val="32547019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59025" y="188640"/>
            <a:ext cx="8784975" cy="720080"/>
          </a:xfrm>
        </p:spPr>
        <p:txBody>
          <a:bodyPr/>
          <a:lstStyle/>
          <a:p>
            <a:pPr marL="0" indent="0" algn="ctr">
              <a:buNone/>
            </a:pPr>
            <a:r>
              <a:rPr lang="ru-RU" sz="2400" dirty="0">
                <a:solidFill>
                  <a:srgbClr val="0070C0"/>
                </a:solidFill>
              </a:rPr>
              <a:t>Основные принципы гуманистической психологии</a:t>
            </a:r>
            <a:r>
              <a:rPr lang="ru-RU" sz="2400" dirty="0"/>
              <a:t/>
            </a:r>
            <a:br>
              <a:rPr lang="ru-RU" sz="2400" dirty="0"/>
            </a:br>
            <a:endParaRPr lang="ru-RU" sz="2400" dirty="0"/>
          </a:p>
        </p:txBody>
      </p:sp>
      <p:sp>
        <p:nvSpPr>
          <p:cNvPr id="3" name="Объект 2"/>
          <p:cNvSpPr>
            <a:spLocks noGrp="1"/>
          </p:cNvSpPr>
          <p:nvPr>
            <p:ph sz="quarter" idx="13"/>
          </p:nvPr>
        </p:nvSpPr>
        <p:spPr>
          <a:xfrm>
            <a:off x="683060" y="908720"/>
            <a:ext cx="8136904" cy="5184576"/>
          </a:xfrm>
        </p:spPr>
        <p:txBody>
          <a:bodyPr>
            <a:normAutofit fontScale="92500" lnSpcReduction="20000"/>
          </a:bodyPr>
          <a:lstStyle/>
          <a:p>
            <a:r>
              <a:rPr lang="ru-RU" dirty="0">
                <a:solidFill>
                  <a:srgbClr val="FF0000"/>
                </a:solidFill>
              </a:rPr>
              <a:t>1) Человек целостен </a:t>
            </a:r>
            <a:r>
              <a:rPr lang="ru-RU" dirty="0">
                <a:solidFill>
                  <a:schemeClr val="tx1"/>
                </a:solidFill>
              </a:rPr>
              <a:t>(*и должен рассматриваться в его целостности из роли клиента. Мы не расщепляем его на цели и проблемы); </a:t>
            </a:r>
          </a:p>
          <a:p>
            <a:r>
              <a:rPr lang="ru-RU" dirty="0">
                <a:solidFill>
                  <a:srgbClr val="FF0000"/>
                </a:solidFill>
              </a:rPr>
              <a:t>2) Каждый человек уникален </a:t>
            </a:r>
            <a:r>
              <a:rPr lang="ru-RU" dirty="0"/>
              <a:t>(*нет типовой стратегии работы для ВСЕХ клиентов); </a:t>
            </a:r>
          </a:p>
          <a:p>
            <a:r>
              <a:rPr lang="ru-RU" dirty="0"/>
              <a:t>3) Человек открыт миру, переживание человеком мира и себя в мире является главной психологической реальностью; </a:t>
            </a:r>
          </a:p>
          <a:p>
            <a:r>
              <a:rPr lang="ru-RU" dirty="0"/>
              <a:t>4) Человеческая жизнь должна рассматриваться как единый процесс становления и бытия человека (*есть не только история/прошлое клиента, но и его устремленность в будущее – кем он хочет стать); </a:t>
            </a:r>
          </a:p>
          <a:p>
            <a:r>
              <a:rPr lang="ru-RU" dirty="0">
                <a:solidFill>
                  <a:srgbClr val="FF0000"/>
                </a:solidFill>
              </a:rPr>
              <a:t>5) Человек обладает потенциями к непрерывному развитию и самореализации, которые являются частью его природы; </a:t>
            </a:r>
          </a:p>
          <a:p>
            <a:r>
              <a:rPr lang="ru-RU" dirty="0">
                <a:solidFill>
                  <a:srgbClr val="FF0000"/>
                </a:solidFill>
              </a:rPr>
              <a:t>6) Человек обладает определенной степенью свободы от внешней детерминации благодаря смыслам и ценностям</a:t>
            </a:r>
            <a:r>
              <a:rPr lang="ru-RU" dirty="0"/>
              <a:t>, </a:t>
            </a:r>
            <a:r>
              <a:rPr lang="ru-RU" dirty="0">
                <a:solidFill>
                  <a:srgbClr val="FF0000"/>
                </a:solidFill>
              </a:rPr>
              <a:t>которыми он руководствуется в своем выборе</a:t>
            </a:r>
            <a:r>
              <a:rPr lang="ru-RU" dirty="0"/>
              <a:t>; </a:t>
            </a:r>
          </a:p>
          <a:p>
            <a:r>
              <a:rPr lang="ru-RU" dirty="0"/>
              <a:t>7) Человек есть активное, творческое существо</a:t>
            </a:r>
          </a:p>
        </p:txBody>
      </p:sp>
    </p:spTree>
    <p:extLst>
      <p:ext uri="{BB962C8B-B14F-4D97-AF65-F5344CB8AC3E}">
        <p14:creationId xmlns:p14="http://schemas.microsoft.com/office/powerpoint/2010/main" val="29063186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683568" y="731520"/>
            <a:ext cx="7992888" cy="4209648"/>
          </a:xfrm>
        </p:spPr>
        <p:txBody>
          <a:bodyPr>
            <a:normAutofit/>
          </a:bodyPr>
          <a:lstStyle/>
          <a:p>
            <a:pPr marL="45720" indent="0" algn="ctr">
              <a:buNone/>
            </a:pPr>
            <a:endParaRPr lang="ru-RU" sz="2800" dirty="0">
              <a:solidFill>
                <a:schemeClr val="accent1"/>
              </a:solidFill>
            </a:endParaRPr>
          </a:p>
          <a:p>
            <a:pPr marL="45720" indent="0" algn="ctr">
              <a:buNone/>
            </a:pPr>
            <a:r>
              <a:rPr lang="ru-RU" sz="2800" dirty="0">
                <a:solidFill>
                  <a:schemeClr val="accent1"/>
                </a:solidFill>
              </a:rPr>
              <a:t>Абрахам </a:t>
            </a:r>
            <a:r>
              <a:rPr lang="ru-RU" sz="2800" dirty="0" err="1">
                <a:solidFill>
                  <a:schemeClr val="accent1"/>
                </a:solidFill>
              </a:rPr>
              <a:t>Маслоу</a:t>
            </a:r>
            <a:endParaRPr lang="ru-RU" sz="2800" dirty="0">
              <a:solidFill>
                <a:schemeClr val="accent1"/>
              </a:solidFill>
            </a:endParaRPr>
          </a:p>
          <a:p>
            <a:pPr marL="45720" indent="0" algn="ctr">
              <a:buNone/>
            </a:pPr>
            <a:r>
              <a:rPr lang="ru-RU" sz="2800" dirty="0">
                <a:solidFill>
                  <a:schemeClr val="accent1"/>
                </a:solidFill>
              </a:rPr>
              <a:t>«Мотивация и личность», </a:t>
            </a:r>
            <a:r>
              <a:rPr lang="ru-RU" dirty="0">
                <a:solidFill>
                  <a:schemeClr val="accent1"/>
                </a:solidFill>
              </a:rPr>
              <a:t>1954</a:t>
            </a:r>
            <a:endParaRPr lang="ru-RU" sz="2800" dirty="0">
              <a:solidFill>
                <a:schemeClr val="accent1"/>
              </a:solidFill>
            </a:endParaRPr>
          </a:p>
          <a:p>
            <a:pPr marL="45720" indent="0" algn="ctr">
              <a:buNone/>
            </a:pPr>
            <a:r>
              <a:rPr lang="ru-RU" sz="2800" dirty="0">
                <a:solidFill>
                  <a:schemeClr val="accent1"/>
                </a:solidFill>
              </a:rPr>
              <a:t>«Дальние пределы человеческой психики» (</a:t>
            </a:r>
            <a:r>
              <a:rPr lang="ru-RU" dirty="0">
                <a:solidFill>
                  <a:schemeClr val="accent1"/>
                </a:solidFill>
              </a:rPr>
              <a:t>опубликована посмертно в 1971 году)</a:t>
            </a:r>
          </a:p>
        </p:txBody>
      </p:sp>
    </p:spTree>
    <p:extLst>
      <p:ext uri="{BB962C8B-B14F-4D97-AF65-F5344CB8AC3E}">
        <p14:creationId xmlns:p14="http://schemas.microsoft.com/office/powerpoint/2010/main" val="41988432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1619672" y="2204864"/>
            <a:ext cx="6400800" cy="3474720"/>
          </a:xfrm>
        </p:spPr>
        <p:txBody>
          <a:bodyPr/>
          <a:lstStyle/>
          <a:p>
            <a:pPr marL="45720" indent="0">
              <a:buNone/>
            </a:pPr>
            <a:r>
              <a:rPr lang="ru-RU" dirty="0" smtClean="0"/>
              <a:t>Когда есть место для трансформаций и, соответственно, для трансформационного подхода в гендерной психологии, когда мы работаем с М/Ж отношениями?</a:t>
            </a:r>
            <a:endParaRPr lang="ru-RU" dirty="0"/>
          </a:p>
        </p:txBody>
      </p:sp>
    </p:spTree>
    <p:extLst>
      <p:ext uri="{BB962C8B-B14F-4D97-AF65-F5344CB8AC3E}">
        <p14:creationId xmlns:p14="http://schemas.microsoft.com/office/powerpoint/2010/main" val="5407870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1619672" y="1844824"/>
            <a:ext cx="6400800" cy="3474720"/>
          </a:xfrm>
        </p:spPr>
        <p:txBody>
          <a:bodyPr/>
          <a:lstStyle/>
          <a:p>
            <a:pPr marL="45720" indent="0">
              <a:buNone/>
            </a:pPr>
            <a:r>
              <a:rPr lang="ru-RU" dirty="0" smtClean="0"/>
              <a:t>1) </a:t>
            </a:r>
            <a:r>
              <a:rPr lang="ru-RU" dirty="0"/>
              <a:t>Переход на </a:t>
            </a:r>
            <a:r>
              <a:rPr lang="ru-RU" dirty="0" smtClean="0"/>
              <a:t>другой этап ЖЦС - структурные изменения </a:t>
            </a:r>
            <a:endParaRPr lang="ru-RU" dirty="0"/>
          </a:p>
          <a:p>
            <a:pPr marL="45720" indent="0">
              <a:buNone/>
            </a:pPr>
            <a:r>
              <a:rPr lang="ru-RU" dirty="0" smtClean="0"/>
              <a:t>2) Переход на другую стадию влюбленности – эмоциональные изменения в привязанности </a:t>
            </a:r>
            <a:endParaRPr lang="ru-RU" dirty="0"/>
          </a:p>
        </p:txBody>
      </p:sp>
    </p:spTree>
    <p:extLst>
      <p:ext uri="{BB962C8B-B14F-4D97-AF65-F5344CB8AC3E}">
        <p14:creationId xmlns:p14="http://schemas.microsoft.com/office/powerpoint/2010/main" val="2979625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59632" y="260648"/>
            <a:ext cx="6512511" cy="569000"/>
          </a:xfrm>
        </p:spPr>
        <p:txBody>
          <a:bodyPr/>
          <a:lstStyle/>
          <a:p>
            <a:pPr marL="0" indent="0" algn="ctr">
              <a:buNone/>
            </a:pPr>
            <a:r>
              <a:rPr lang="ru-RU" sz="3200" dirty="0" err="1" smtClean="0">
                <a:solidFill>
                  <a:srgbClr val="0070C0"/>
                </a:solidFill>
              </a:rPr>
              <a:t>жцс</a:t>
            </a:r>
            <a:endParaRPr lang="ru-RU" sz="3200" dirty="0">
              <a:solidFill>
                <a:srgbClr val="0070C0"/>
              </a:solidFill>
            </a:endParaRPr>
          </a:p>
        </p:txBody>
      </p:sp>
      <p:sp>
        <p:nvSpPr>
          <p:cNvPr id="3" name="Объект 2"/>
          <p:cNvSpPr>
            <a:spLocks noGrp="1"/>
          </p:cNvSpPr>
          <p:nvPr>
            <p:ph sz="quarter" idx="13"/>
          </p:nvPr>
        </p:nvSpPr>
        <p:spPr>
          <a:xfrm>
            <a:off x="1259632" y="1177260"/>
            <a:ext cx="6400800" cy="3474720"/>
          </a:xfrm>
        </p:spPr>
        <p:txBody>
          <a:bodyPr>
            <a:normAutofit lnSpcReduction="10000"/>
          </a:bodyPr>
          <a:lstStyle/>
          <a:p>
            <a:r>
              <a:rPr lang="ru-RU" dirty="0" smtClean="0"/>
              <a:t>Монада</a:t>
            </a:r>
          </a:p>
          <a:p>
            <a:r>
              <a:rPr lang="ru-RU" dirty="0"/>
              <a:t>Диада (</a:t>
            </a:r>
            <a:r>
              <a:rPr lang="ru-RU" dirty="0" smtClean="0"/>
              <a:t>критический момент: </a:t>
            </a:r>
            <a:r>
              <a:rPr lang="ru-RU" dirty="0"/>
              <a:t>падение «розовой пелены» при окончании романтического </a:t>
            </a:r>
            <a:r>
              <a:rPr lang="ru-RU" dirty="0" smtClean="0"/>
              <a:t>периода)</a:t>
            </a:r>
          </a:p>
          <a:p>
            <a:r>
              <a:rPr lang="ru-RU" dirty="0" smtClean="0"/>
              <a:t>Триада, Семья с детьми (критические моменты: рождение ребенка, выход </a:t>
            </a:r>
            <a:r>
              <a:rPr lang="ru-RU" dirty="0"/>
              <a:t>ребенка в </a:t>
            </a:r>
            <a:r>
              <a:rPr lang="ru-RU" dirty="0" smtClean="0"/>
              <a:t>школу, подростковый период)</a:t>
            </a:r>
          </a:p>
          <a:p>
            <a:r>
              <a:rPr lang="ru-RU" dirty="0" smtClean="0"/>
              <a:t>Синдром пустого гнезда</a:t>
            </a:r>
          </a:p>
          <a:p>
            <a:r>
              <a:rPr lang="ru-RU" dirty="0" smtClean="0"/>
              <a:t>Опять монада</a:t>
            </a:r>
          </a:p>
          <a:p>
            <a:pPr marL="45720" indent="0">
              <a:buNone/>
            </a:pPr>
            <a:endParaRPr lang="ru-RU" dirty="0"/>
          </a:p>
        </p:txBody>
      </p:sp>
    </p:spTree>
    <p:extLst>
      <p:ext uri="{BB962C8B-B14F-4D97-AF65-F5344CB8AC3E}">
        <p14:creationId xmlns:p14="http://schemas.microsoft.com/office/powerpoint/2010/main" val="422681070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https://schoolgs.ru/800/600/http/cf2.ppt-online.org/files2/slide/q/qeEkSTIsR3KgfG1H0lj7WrZcDyb9hamOu8NiU2BQvn/slide-5.jpg"/>
          <p:cNvPicPr>
            <a:picLocks noGrp="1" noChangeAspect="1" noChangeArrowheads="1"/>
          </p:cNvPicPr>
          <p:nvPr>
            <p:ph sz="quarter" idx="13"/>
          </p:nvPr>
        </p:nvPicPr>
        <p:blipFill>
          <a:blip r:embed="rId2">
            <a:extLst>
              <a:ext uri="{28A0092B-C50C-407E-A947-70E740481C1C}">
                <a14:useLocalDpi xmlns:a14="http://schemas.microsoft.com/office/drawing/2010/main" val="0"/>
              </a:ext>
            </a:extLst>
          </a:blip>
          <a:srcRect/>
          <a:stretch>
            <a:fillRect/>
          </a:stretch>
        </p:blipFill>
        <p:spPr bwMode="auto">
          <a:xfrm>
            <a:off x="899592" y="332656"/>
            <a:ext cx="7272808" cy="56886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62187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p:txBody>
          <a:bodyPr/>
          <a:lstStyle/>
          <a:p>
            <a:pPr marL="45720" indent="0" algn="ctr">
              <a:buNone/>
            </a:pPr>
            <a:r>
              <a:rPr lang="ru-RU" sz="2400" b="1" dirty="0" smtClean="0">
                <a:solidFill>
                  <a:schemeClr val="accent1"/>
                </a:solidFill>
              </a:rPr>
              <a:t>Каждый этап ЖЦС характеризуется </a:t>
            </a:r>
          </a:p>
          <a:p>
            <a:pPr marL="45720" indent="0" algn="ctr">
              <a:buNone/>
            </a:pPr>
            <a:endParaRPr lang="ru-RU" sz="2400" b="1" dirty="0" smtClean="0">
              <a:solidFill>
                <a:schemeClr val="accent1"/>
              </a:solidFill>
            </a:endParaRPr>
          </a:p>
          <a:p>
            <a:r>
              <a:rPr lang="ru-RU" sz="2800" dirty="0" smtClean="0"/>
              <a:t>сменой идентичности</a:t>
            </a:r>
          </a:p>
          <a:p>
            <a:r>
              <a:rPr lang="ru-RU" sz="2800" dirty="0" smtClean="0"/>
              <a:t>перестройкой структуры системы </a:t>
            </a:r>
          </a:p>
          <a:p>
            <a:r>
              <a:rPr lang="ru-RU" sz="2800"/>
              <a:t>п</a:t>
            </a:r>
            <a:r>
              <a:rPr lang="ru-RU" sz="2800" smtClean="0"/>
              <a:t>ерераспределением </a:t>
            </a:r>
            <a:r>
              <a:rPr lang="ru-RU" sz="2800" dirty="0" smtClean="0"/>
              <a:t>ролей </a:t>
            </a:r>
          </a:p>
          <a:p>
            <a:r>
              <a:rPr lang="ru-RU" sz="2800" dirty="0"/>
              <a:t>п</a:t>
            </a:r>
            <a:r>
              <a:rPr lang="ru-RU" sz="2800" dirty="0" smtClean="0"/>
              <a:t>ересмотром правил</a:t>
            </a:r>
            <a:endParaRPr lang="ru-RU" sz="2800" dirty="0"/>
          </a:p>
        </p:txBody>
      </p:sp>
    </p:spTree>
    <p:extLst>
      <p:ext uri="{BB962C8B-B14F-4D97-AF65-F5344CB8AC3E}">
        <p14:creationId xmlns:p14="http://schemas.microsoft.com/office/powerpoint/2010/main" val="102555730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332656"/>
            <a:ext cx="8229600" cy="868958"/>
          </a:xfrm>
        </p:spPr>
        <p:txBody>
          <a:bodyPr>
            <a:normAutofit fontScale="90000"/>
          </a:bodyPr>
          <a:lstStyle/>
          <a:p>
            <a:pPr marL="0" indent="0" algn="ctr">
              <a:buNone/>
            </a:pPr>
            <a:r>
              <a:rPr lang="ru-RU" sz="2800" b="1" dirty="0" smtClean="0">
                <a:solidFill>
                  <a:schemeClr val="accent1"/>
                </a:solidFill>
              </a:rPr>
              <a:t>Функциональная, </a:t>
            </a:r>
            <a:r>
              <a:rPr lang="ru-RU" sz="2800" b="1" dirty="0" err="1" smtClean="0">
                <a:solidFill>
                  <a:schemeClr val="accent1"/>
                </a:solidFill>
              </a:rPr>
              <a:t>дисфункциональная</a:t>
            </a:r>
            <a:r>
              <a:rPr lang="ru-RU" sz="2800" b="1" dirty="0" smtClean="0">
                <a:solidFill>
                  <a:schemeClr val="accent1"/>
                </a:solidFill>
              </a:rPr>
              <a:t> семья </a:t>
            </a:r>
            <a:br>
              <a:rPr lang="ru-RU" sz="2800" b="1" dirty="0" smtClean="0">
                <a:solidFill>
                  <a:schemeClr val="accent1"/>
                </a:solidFill>
              </a:rPr>
            </a:br>
            <a:r>
              <a:rPr lang="ru-RU" sz="2800" dirty="0" smtClean="0">
                <a:solidFill>
                  <a:schemeClr val="accent1"/>
                </a:solidFill>
              </a:rPr>
              <a:t>в разрезе </a:t>
            </a:r>
            <a:r>
              <a:rPr lang="ru-RU" sz="2800" b="1" dirty="0" smtClean="0">
                <a:solidFill>
                  <a:schemeClr val="accent1"/>
                </a:solidFill>
              </a:rPr>
              <a:t> ЖЦС</a:t>
            </a:r>
            <a:endParaRPr lang="ru-RU" sz="2800" b="1" dirty="0">
              <a:solidFill>
                <a:schemeClr val="accent1"/>
              </a:solidFill>
            </a:endParaRPr>
          </a:p>
        </p:txBody>
      </p:sp>
      <p:sp>
        <p:nvSpPr>
          <p:cNvPr id="3" name="Объект 2"/>
          <p:cNvSpPr>
            <a:spLocks noGrp="1"/>
          </p:cNvSpPr>
          <p:nvPr>
            <p:ph sz="quarter" idx="13"/>
          </p:nvPr>
        </p:nvSpPr>
        <p:spPr>
          <a:xfrm>
            <a:off x="683568" y="1196752"/>
            <a:ext cx="7632848" cy="4824536"/>
          </a:xfrm>
        </p:spPr>
        <p:txBody>
          <a:bodyPr>
            <a:normAutofit/>
          </a:bodyPr>
          <a:lstStyle/>
          <a:p>
            <a:pPr marL="45720" indent="0" algn="ctr">
              <a:buNone/>
            </a:pPr>
            <a:r>
              <a:rPr lang="ru-RU" b="1" dirty="0" smtClean="0"/>
              <a:t>!!! Каждая </a:t>
            </a:r>
            <a:r>
              <a:rPr lang="ru-RU" b="1" dirty="0"/>
              <a:t>семья может оказаться </a:t>
            </a:r>
            <a:r>
              <a:rPr lang="ru-RU" b="1" dirty="0" err="1"/>
              <a:t>дисфункциональной</a:t>
            </a:r>
            <a:r>
              <a:rPr lang="ru-RU" b="1" dirty="0"/>
              <a:t> в какой-то момент своей </a:t>
            </a:r>
            <a:r>
              <a:rPr lang="ru-RU" b="1" dirty="0" smtClean="0"/>
              <a:t>жизни</a:t>
            </a:r>
          </a:p>
          <a:p>
            <a:pPr algn="ctr"/>
            <a:endParaRPr lang="ru-RU" dirty="0"/>
          </a:p>
          <a:p>
            <a:r>
              <a:rPr lang="ru-RU" b="1" dirty="0" smtClean="0">
                <a:solidFill>
                  <a:srgbClr val="FF0000"/>
                </a:solidFill>
              </a:rPr>
              <a:t>Функциональная </a:t>
            </a:r>
            <a:r>
              <a:rPr lang="ru-RU" b="1" dirty="0">
                <a:solidFill>
                  <a:srgbClr val="FF0000"/>
                </a:solidFill>
              </a:rPr>
              <a:t>семья - это та семья, которая справляется с поставленными перед ней </a:t>
            </a:r>
            <a:r>
              <a:rPr lang="ru-RU" b="1" dirty="0" smtClean="0">
                <a:solidFill>
                  <a:srgbClr val="FF0000"/>
                </a:solidFill>
              </a:rPr>
              <a:t>задачами на каждом этапе ЖЦС. </a:t>
            </a:r>
          </a:p>
          <a:p>
            <a:r>
              <a:rPr lang="ru-RU" b="1" dirty="0" err="1" smtClean="0">
                <a:solidFill>
                  <a:srgbClr val="FF0000"/>
                </a:solidFill>
              </a:rPr>
              <a:t>Дисфункциональная</a:t>
            </a:r>
            <a:r>
              <a:rPr lang="ru-RU" b="1" dirty="0" smtClean="0">
                <a:solidFill>
                  <a:srgbClr val="FF0000"/>
                </a:solidFill>
              </a:rPr>
              <a:t> </a:t>
            </a:r>
            <a:r>
              <a:rPr lang="ru-RU" b="1" dirty="0">
                <a:solidFill>
                  <a:srgbClr val="FF0000"/>
                </a:solidFill>
              </a:rPr>
              <a:t>семья, соответственно, - это та семья, которая с этими задачами не справляется.</a:t>
            </a:r>
            <a:r>
              <a:rPr lang="ru-RU" dirty="0">
                <a:solidFill>
                  <a:srgbClr val="FF0000"/>
                </a:solidFill>
              </a:rPr>
              <a:t> </a:t>
            </a:r>
            <a:endParaRPr lang="ru-RU" dirty="0" smtClean="0">
              <a:solidFill>
                <a:srgbClr val="FF0000"/>
              </a:solidFill>
            </a:endParaRPr>
          </a:p>
          <a:p>
            <a:pPr marL="45720" indent="0">
              <a:buNone/>
            </a:pPr>
            <a:endParaRPr lang="ru-RU" dirty="0">
              <a:solidFill>
                <a:srgbClr val="0070C0"/>
              </a:solidFill>
            </a:endParaRPr>
          </a:p>
          <a:p>
            <a:endParaRPr lang="ru-RU" dirty="0"/>
          </a:p>
        </p:txBody>
      </p:sp>
    </p:spTree>
    <p:extLst>
      <p:ext uri="{BB962C8B-B14F-4D97-AF65-F5344CB8AC3E}">
        <p14:creationId xmlns:p14="http://schemas.microsoft.com/office/powerpoint/2010/main" val="222582922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475656" y="548680"/>
            <a:ext cx="6512511" cy="569000"/>
          </a:xfrm>
        </p:spPr>
        <p:txBody>
          <a:bodyPr/>
          <a:lstStyle/>
          <a:p>
            <a:pPr marL="0" indent="0" algn="ctr">
              <a:buNone/>
            </a:pPr>
            <a:r>
              <a:rPr lang="ru-RU" sz="2800" b="0" dirty="0">
                <a:solidFill>
                  <a:srgbClr val="0070C0"/>
                </a:solidFill>
                <a:effectLst/>
              </a:rPr>
              <a:t>Семь стадий </a:t>
            </a:r>
            <a:r>
              <a:rPr lang="ru-RU" sz="2800" b="0" dirty="0" smtClean="0">
                <a:solidFill>
                  <a:srgbClr val="0070C0"/>
                </a:solidFill>
                <a:effectLst/>
              </a:rPr>
              <a:t>отношений</a:t>
            </a:r>
            <a:endParaRPr lang="ru-RU" sz="2800" dirty="0">
              <a:solidFill>
                <a:srgbClr val="0070C0"/>
              </a:solidFill>
            </a:endParaRPr>
          </a:p>
        </p:txBody>
      </p:sp>
      <p:pic>
        <p:nvPicPr>
          <p:cNvPr id="3074" name="Picture 2" descr="https://psiola-center.ru/wp-content/uploads/d/0/e/d0ee56500b87097714515b56e0e4a3a3.jpeg"/>
          <p:cNvPicPr>
            <a:picLocks noGrp="1" noChangeAspect="1" noChangeArrowheads="1"/>
          </p:cNvPicPr>
          <p:nvPr>
            <p:ph sz="quarter" idx="13"/>
          </p:nvPr>
        </p:nvPicPr>
        <p:blipFill>
          <a:blip r:embed="rId2">
            <a:extLst>
              <a:ext uri="{28A0092B-C50C-407E-A947-70E740481C1C}">
                <a14:useLocalDpi xmlns:a14="http://schemas.microsoft.com/office/drawing/2010/main" val="0"/>
              </a:ext>
            </a:extLst>
          </a:blip>
          <a:srcRect/>
          <a:stretch>
            <a:fillRect/>
          </a:stretch>
        </p:blipFill>
        <p:spPr bwMode="auto">
          <a:xfrm>
            <a:off x="1239523" y="1412776"/>
            <a:ext cx="6984776" cy="4104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9361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ttps://psiola-center.ru/wp-content/uploads/7/1/6/716e4724a7e9c3b797ae1b2f95eac12e.jpeg"/>
          <p:cNvPicPr>
            <a:picLocks noGrp="1" noChangeAspect="1" noChangeArrowheads="1"/>
          </p:cNvPicPr>
          <p:nvPr>
            <p:ph sz="quarter" idx="13"/>
          </p:nvPr>
        </p:nvPicPr>
        <p:blipFill>
          <a:blip r:embed="rId2">
            <a:extLst>
              <a:ext uri="{28A0092B-C50C-407E-A947-70E740481C1C}">
                <a14:useLocalDpi xmlns:a14="http://schemas.microsoft.com/office/drawing/2010/main" val="0"/>
              </a:ext>
            </a:extLst>
          </a:blip>
          <a:srcRect/>
          <a:stretch>
            <a:fillRect/>
          </a:stretch>
        </p:blipFill>
        <p:spPr bwMode="auto">
          <a:xfrm>
            <a:off x="611561" y="731838"/>
            <a:ext cx="7848872" cy="49294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43708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p:txBody>
          <a:bodyPr/>
          <a:lstStyle/>
          <a:p>
            <a:pPr marL="45720" indent="0" algn="ctr">
              <a:buNone/>
            </a:pPr>
            <a:endParaRPr lang="ru-RU" dirty="0">
              <a:solidFill>
                <a:srgbClr val="0070C0"/>
              </a:solidFill>
            </a:endParaRPr>
          </a:p>
          <a:p>
            <a:pPr marL="45720" indent="0" algn="ctr">
              <a:buNone/>
            </a:pPr>
            <a:endParaRPr lang="ru-RU" dirty="0">
              <a:solidFill>
                <a:srgbClr val="0070C0"/>
              </a:solidFill>
            </a:endParaRPr>
          </a:p>
          <a:p>
            <a:pPr marL="45720" indent="0" algn="ctr">
              <a:buNone/>
            </a:pPr>
            <a:endParaRPr lang="ru-RU" sz="3200" dirty="0">
              <a:solidFill>
                <a:srgbClr val="0070C0"/>
              </a:solidFill>
            </a:endParaRPr>
          </a:p>
          <a:p>
            <a:pPr marL="45720" indent="0" algn="ctr">
              <a:buNone/>
            </a:pPr>
            <a:r>
              <a:rPr lang="ru-RU" sz="3200" dirty="0" smtClean="0">
                <a:solidFill>
                  <a:srgbClr val="0070C0"/>
                </a:solidFill>
              </a:rPr>
              <a:t>Резюмируем!</a:t>
            </a:r>
            <a:endParaRPr lang="ru-RU" sz="3200" dirty="0">
              <a:solidFill>
                <a:srgbClr val="0070C0"/>
              </a:solidFill>
            </a:endParaRPr>
          </a:p>
        </p:txBody>
      </p:sp>
    </p:spTree>
    <p:extLst>
      <p:ext uri="{BB962C8B-B14F-4D97-AF65-F5344CB8AC3E}">
        <p14:creationId xmlns:p14="http://schemas.microsoft.com/office/powerpoint/2010/main" val="29308715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539552" y="620688"/>
            <a:ext cx="7776864" cy="5145752"/>
          </a:xfrm>
        </p:spPr>
        <p:txBody>
          <a:bodyPr>
            <a:noAutofit/>
          </a:bodyPr>
          <a:lstStyle/>
          <a:p>
            <a:pPr marL="45720" indent="0" algn="ctr">
              <a:buNone/>
            </a:pPr>
            <a:endParaRPr lang="ru-RU" sz="2800" dirty="0" smtClean="0">
              <a:solidFill>
                <a:srgbClr val="FF0000"/>
              </a:solidFill>
            </a:endParaRPr>
          </a:p>
          <a:p>
            <a:pPr marL="45720" indent="0" algn="ctr">
              <a:buNone/>
            </a:pPr>
            <a:endParaRPr lang="ru-RU" sz="2800" dirty="0">
              <a:solidFill>
                <a:srgbClr val="FF0000"/>
              </a:solidFill>
            </a:endParaRPr>
          </a:p>
          <a:p>
            <a:pPr marL="45720" indent="0" algn="ctr">
              <a:buNone/>
            </a:pPr>
            <a:r>
              <a:rPr lang="ru-RU" sz="2800" dirty="0" smtClean="0">
                <a:solidFill>
                  <a:srgbClr val="FF0000"/>
                </a:solidFill>
              </a:rPr>
              <a:t>Итак</a:t>
            </a:r>
            <a:r>
              <a:rPr lang="ru-RU" sz="2800" dirty="0">
                <a:solidFill>
                  <a:srgbClr val="FF0000"/>
                </a:solidFill>
              </a:rPr>
              <a:t>,</a:t>
            </a:r>
          </a:p>
          <a:p>
            <a:pPr marL="45720" indent="0" algn="ctr">
              <a:buNone/>
            </a:pPr>
            <a:r>
              <a:rPr lang="ru-RU" sz="2800" dirty="0">
                <a:solidFill>
                  <a:srgbClr val="FF0000"/>
                </a:solidFill>
              </a:rPr>
              <a:t>Что мы на самом деле чаще всего делаем в трансформационном </a:t>
            </a:r>
            <a:r>
              <a:rPr lang="ru-RU" sz="2800" dirty="0" err="1">
                <a:solidFill>
                  <a:srgbClr val="FF0000"/>
                </a:solidFill>
              </a:rPr>
              <a:t>коучинге</a:t>
            </a:r>
            <a:r>
              <a:rPr lang="ru-RU" sz="2800" dirty="0">
                <a:solidFill>
                  <a:srgbClr val="FF0000"/>
                </a:solidFill>
              </a:rPr>
              <a:t>?</a:t>
            </a:r>
          </a:p>
          <a:p>
            <a:pPr marL="45720" indent="0" algn="ctr">
              <a:buNone/>
            </a:pPr>
            <a:r>
              <a:rPr lang="ru-RU" sz="2800" dirty="0">
                <a:solidFill>
                  <a:srgbClr val="FF0000"/>
                </a:solidFill>
              </a:rPr>
              <a:t>И в чем наша основная задача как </a:t>
            </a:r>
            <a:r>
              <a:rPr lang="ru-RU" sz="2800" dirty="0" err="1">
                <a:solidFill>
                  <a:srgbClr val="FF0000"/>
                </a:solidFill>
              </a:rPr>
              <a:t>коучей</a:t>
            </a:r>
            <a:r>
              <a:rPr lang="ru-RU" sz="2800" dirty="0">
                <a:solidFill>
                  <a:srgbClr val="FF0000"/>
                </a:solidFill>
              </a:rPr>
              <a:t>?</a:t>
            </a:r>
          </a:p>
        </p:txBody>
      </p:sp>
    </p:spTree>
    <p:extLst>
      <p:ext uri="{BB962C8B-B14F-4D97-AF65-F5344CB8AC3E}">
        <p14:creationId xmlns:p14="http://schemas.microsoft.com/office/powerpoint/2010/main" val="332445708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899592" y="1196752"/>
            <a:ext cx="7245424" cy="3474720"/>
          </a:xfrm>
        </p:spPr>
        <p:txBody>
          <a:bodyPr>
            <a:normAutofit fontScale="92500"/>
          </a:bodyPr>
          <a:lstStyle/>
          <a:p>
            <a:pPr marL="45720" indent="0">
              <a:buNone/>
            </a:pPr>
            <a:r>
              <a:rPr lang="ru-RU" sz="2400" dirty="0">
                <a:solidFill>
                  <a:srgbClr val="FF0000"/>
                </a:solidFill>
                <a:latin typeface="Verdana" panose="020B0604030504040204" pitchFamily="34" charset="0"/>
                <a:ea typeface="Verdana" panose="020B0604030504040204" pitchFamily="34" charset="0"/>
                <a:cs typeface="Verdana" panose="020B0604030504040204" pitchFamily="34" charset="0"/>
              </a:rPr>
              <a:t>В трансформационном подходе </a:t>
            </a:r>
            <a:r>
              <a:rPr lang="ru-RU" sz="2400" dirty="0" err="1">
                <a:solidFill>
                  <a:srgbClr val="FF0000"/>
                </a:solidFill>
                <a:latin typeface="Verdana" panose="020B0604030504040204" pitchFamily="34" charset="0"/>
                <a:ea typeface="Verdana" panose="020B0604030504040204" pitchFamily="34" charset="0"/>
                <a:cs typeface="Verdana" panose="020B0604030504040204" pitchFamily="34" charset="0"/>
              </a:rPr>
              <a:t>коуч</a:t>
            </a:r>
            <a:r>
              <a:rPr lang="ru-RU" sz="2400" dirty="0">
                <a:solidFill>
                  <a:srgbClr val="FF0000"/>
                </a:solidFill>
                <a:latin typeface="Verdana" panose="020B0604030504040204" pitchFamily="34" charset="0"/>
                <a:ea typeface="Verdana" panose="020B0604030504040204" pitchFamily="34" charset="0"/>
                <a:cs typeface="Verdana" panose="020B0604030504040204" pitchFamily="34" charset="0"/>
              </a:rPr>
              <a:t> работает, по сути, с 2-мя темами:</a:t>
            </a:r>
            <a:br>
              <a:rPr lang="ru-RU" sz="2400" dirty="0">
                <a:solidFill>
                  <a:srgbClr val="FF0000"/>
                </a:solidFill>
                <a:latin typeface="Verdana" panose="020B0604030504040204" pitchFamily="34" charset="0"/>
                <a:ea typeface="Verdana" panose="020B0604030504040204" pitchFamily="34" charset="0"/>
                <a:cs typeface="Verdana" panose="020B0604030504040204" pitchFamily="34" charset="0"/>
              </a:rPr>
            </a:br>
            <a:r>
              <a:rPr lang="ru-RU" sz="2400" dirty="0">
                <a:solidFill>
                  <a:srgbClr val="FF0000"/>
                </a:solidFill>
                <a:latin typeface="Verdana" panose="020B0604030504040204" pitchFamily="34" charset="0"/>
                <a:ea typeface="Verdana" panose="020B0604030504040204" pitchFamily="34" charset="0"/>
                <a:cs typeface="Verdana" panose="020B0604030504040204" pitchFamily="34" charset="0"/>
              </a:rPr>
              <a:t>1) </a:t>
            </a:r>
            <a:r>
              <a:rPr lang="ru-RU" sz="2400" dirty="0" smtClean="0">
                <a:solidFill>
                  <a:srgbClr val="FF0000"/>
                </a:solidFill>
                <a:latin typeface="Verdana" panose="020B0604030504040204" pitchFamily="34" charset="0"/>
                <a:ea typeface="Verdana" panose="020B0604030504040204" pitchFamily="34" charset="0"/>
                <a:cs typeface="Verdana" panose="020B0604030504040204" pitchFamily="34" charset="0"/>
              </a:rPr>
              <a:t>Цели, потенциал, будущее </a:t>
            </a:r>
            <a:r>
              <a:rPr lang="ru-RU" sz="2400" dirty="0">
                <a:solidFill>
                  <a:srgbClr val="FF0000"/>
                </a:solidFill>
                <a:latin typeface="Verdana" panose="020B0604030504040204" pitchFamily="34" charset="0"/>
                <a:ea typeface="Verdana" panose="020B0604030504040204" pitchFamily="34" charset="0"/>
                <a:cs typeface="Verdana" panose="020B0604030504040204" pitchFamily="34" charset="0"/>
              </a:rPr>
              <a:t/>
            </a:r>
            <a:br>
              <a:rPr lang="ru-RU" sz="2400" dirty="0">
                <a:solidFill>
                  <a:srgbClr val="FF0000"/>
                </a:solidFill>
                <a:latin typeface="Verdana" panose="020B0604030504040204" pitchFamily="34" charset="0"/>
                <a:ea typeface="Verdana" panose="020B0604030504040204" pitchFamily="34" charset="0"/>
                <a:cs typeface="Verdana" panose="020B0604030504040204" pitchFamily="34" charset="0"/>
              </a:rPr>
            </a:br>
            <a:r>
              <a:rPr lang="ru-RU" sz="2400" dirty="0">
                <a:solidFill>
                  <a:srgbClr val="FF0000"/>
                </a:solidFill>
                <a:latin typeface="Verdana" panose="020B0604030504040204" pitchFamily="34" charset="0"/>
                <a:ea typeface="Verdana" panose="020B0604030504040204" pitchFamily="34" charset="0"/>
                <a:cs typeface="Verdana" panose="020B0604030504040204" pitchFamily="34" charset="0"/>
              </a:rPr>
              <a:t>2) Внутренние барьеры</a:t>
            </a:r>
            <a:br>
              <a:rPr lang="ru-RU" sz="2400" dirty="0">
                <a:solidFill>
                  <a:srgbClr val="FF0000"/>
                </a:solidFill>
                <a:latin typeface="Verdana" panose="020B0604030504040204" pitchFamily="34" charset="0"/>
                <a:ea typeface="Verdana" panose="020B0604030504040204" pitchFamily="34" charset="0"/>
                <a:cs typeface="Verdana" panose="020B0604030504040204" pitchFamily="34" charset="0"/>
              </a:rPr>
            </a:br>
            <a:r>
              <a:rPr lang="ru-RU" sz="2400" dirty="0">
                <a:solidFill>
                  <a:srgbClr val="FF0000"/>
                </a:solidFill>
                <a:latin typeface="Verdana" panose="020B0604030504040204" pitchFamily="34" charset="0"/>
                <a:ea typeface="Verdana" panose="020B0604030504040204" pitchFamily="34" charset="0"/>
                <a:cs typeface="Verdana" panose="020B0604030504040204" pitchFamily="34" charset="0"/>
              </a:rPr>
              <a:t/>
            </a:r>
            <a:br>
              <a:rPr lang="ru-RU" sz="2400" dirty="0">
                <a:solidFill>
                  <a:srgbClr val="FF0000"/>
                </a:solidFill>
                <a:latin typeface="Verdana" panose="020B0604030504040204" pitchFamily="34" charset="0"/>
                <a:ea typeface="Verdana" panose="020B0604030504040204" pitchFamily="34" charset="0"/>
                <a:cs typeface="Verdana" panose="020B0604030504040204" pitchFamily="34" charset="0"/>
              </a:rPr>
            </a:br>
            <a:r>
              <a:rPr lang="ru-RU" sz="2400" dirty="0">
                <a:solidFill>
                  <a:srgbClr val="FF0000"/>
                </a:solidFill>
                <a:latin typeface="Verdana" panose="020B0604030504040204" pitchFamily="34" charset="0"/>
                <a:ea typeface="Verdana" panose="020B0604030504040204" pitchFamily="34" charset="0"/>
                <a:cs typeface="Verdana" panose="020B0604030504040204" pitchFamily="34" charset="0"/>
              </a:rPr>
              <a:t>Важное отличие трансформационного подхода в </a:t>
            </a:r>
            <a:r>
              <a:rPr lang="ru-RU" sz="2400" dirty="0" err="1">
                <a:solidFill>
                  <a:srgbClr val="FF0000"/>
                </a:solidFill>
                <a:latin typeface="Verdana" panose="020B0604030504040204" pitchFamily="34" charset="0"/>
                <a:ea typeface="Verdana" panose="020B0604030504040204" pitchFamily="34" charset="0"/>
                <a:cs typeface="Verdana" panose="020B0604030504040204" pitchFamily="34" charset="0"/>
              </a:rPr>
              <a:t>коучинге</a:t>
            </a:r>
            <a:r>
              <a:rPr lang="ru-RU" sz="2400" dirty="0">
                <a:solidFill>
                  <a:srgbClr val="FF0000"/>
                </a:solidFill>
                <a:latin typeface="Verdana" panose="020B0604030504040204" pitchFamily="34" charset="0"/>
                <a:ea typeface="Verdana" panose="020B0604030504040204" pitchFamily="34" charset="0"/>
                <a:cs typeface="Verdana" panose="020B0604030504040204" pitchFamily="34" charset="0"/>
              </a:rPr>
              <a:t> от линейного заключается в том, что мы здесь работаем не с целями, а с человеком, который имеет эти цели!!!</a:t>
            </a:r>
            <a:r>
              <a:rPr lang="ru-RU" sz="3200" dirty="0">
                <a:solidFill>
                  <a:srgbClr val="FF0000"/>
                </a:solidFill>
              </a:rPr>
              <a:t/>
            </a:r>
            <a:br>
              <a:rPr lang="ru-RU" sz="3200" dirty="0">
                <a:solidFill>
                  <a:srgbClr val="FF0000"/>
                </a:solidFill>
              </a:rPr>
            </a:br>
            <a:endParaRPr lang="ru-RU" dirty="0"/>
          </a:p>
        </p:txBody>
      </p:sp>
    </p:spTree>
    <p:extLst>
      <p:ext uri="{BB962C8B-B14F-4D97-AF65-F5344CB8AC3E}">
        <p14:creationId xmlns:p14="http://schemas.microsoft.com/office/powerpoint/2010/main" val="34763584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755576" y="731520"/>
            <a:ext cx="7632848" cy="4929728"/>
          </a:xfrm>
        </p:spPr>
        <p:txBody>
          <a:bodyPr>
            <a:normAutofit fontScale="85000" lnSpcReduction="20000"/>
          </a:bodyPr>
          <a:lstStyle/>
          <a:p>
            <a:pPr marL="45720" indent="0">
              <a:buNone/>
            </a:pPr>
            <a:r>
              <a:rPr lang="ru-RU" sz="2400" dirty="0">
                <a:solidFill>
                  <a:srgbClr val="0070C0"/>
                </a:solidFill>
              </a:rPr>
              <a:t>В трансформационном </a:t>
            </a:r>
            <a:r>
              <a:rPr lang="ru-RU" sz="2400" dirty="0" err="1">
                <a:solidFill>
                  <a:srgbClr val="0070C0"/>
                </a:solidFill>
              </a:rPr>
              <a:t>коучинге</a:t>
            </a:r>
            <a:r>
              <a:rPr lang="ru-RU" sz="2400" dirty="0">
                <a:solidFill>
                  <a:srgbClr val="0070C0"/>
                </a:solidFill>
              </a:rPr>
              <a:t> мы работаем с человеком как с ЦЕЛОСТНОЙ личностью, которая имеет «объемность». Мы затрагиваем больше пластов личности.</a:t>
            </a:r>
          </a:p>
          <a:p>
            <a:pPr marL="45720" indent="0">
              <a:buNone/>
            </a:pPr>
            <a:endParaRPr lang="ru-RU" sz="2400" dirty="0">
              <a:solidFill>
                <a:srgbClr val="0070C0"/>
              </a:solidFill>
            </a:endParaRPr>
          </a:p>
          <a:p>
            <a:pPr marL="45720" indent="0">
              <a:buNone/>
            </a:pPr>
            <a:r>
              <a:rPr lang="ru-RU" sz="2400" dirty="0">
                <a:solidFill>
                  <a:srgbClr val="0070C0"/>
                </a:solidFill>
              </a:rPr>
              <a:t>У которой есть желания, цели, страхи, сомнения.</a:t>
            </a:r>
          </a:p>
          <a:p>
            <a:pPr marL="45720" indent="0">
              <a:buNone/>
            </a:pPr>
            <a:endParaRPr lang="ru-RU" sz="2400" dirty="0">
              <a:solidFill>
                <a:srgbClr val="0070C0"/>
              </a:solidFill>
            </a:endParaRPr>
          </a:p>
          <a:p>
            <a:pPr marL="45720" indent="0">
              <a:buNone/>
            </a:pPr>
            <a:r>
              <a:rPr lang="ru-RU" sz="2400" dirty="0">
                <a:solidFill>
                  <a:srgbClr val="0070C0"/>
                </a:solidFill>
              </a:rPr>
              <a:t>У которой часто бывает конфликт интересов (между низшим бессознательным и высшим «Я». Пример: «Хочу, но боюсь», «Хочу этого, а должен делать другое»,..)</a:t>
            </a:r>
          </a:p>
          <a:p>
            <a:pPr marL="45720" indent="0">
              <a:buNone/>
            </a:pPr>
            <a:endParaRPr lang="ru-RU" sz="2400" dirty="0"/>
          </a:p>
          <a:p>
            <a:pPr marL="45720" indent="0" algn="ctr">
              <a:buNone/>
            </a:pPr>
            <a:r>
              <a:rPr lang="ru-RU" sz="2400" dirty="0">
                <a:solidFill>
                  <a:srgbClr val="FF0000"/>
                </a:solidFill>
              </a:rPr>
              <a:t>СИСТЕМНЫЙ ПОДХОД!!!!!!!!!!!!!!!!!</a:t>
            </a:r>
          </a:p>
          <a:p>
            <a:pPr marL="45720" indent="0">
              <a:buNone/>
            </a:pPr>
            <a:endParaRPr lang="ru-RU" sz="2400" dirty="0"/>
          </a:p>
          <a:p>
            <a:pPr marL="45720" indent="0">
              <a:buNone/>
            </a:pPr>
            <a:r>
              <a:rPr lang="ru-RU" sz="2400" dirty="0">
                <a:solidFill>
                  <a:srgbClr val="0070C0"/>
                </a:solidFill>
              </a:rPr>
              <a:t>Как следствие – и навыки в ТК более широкие, более объемные и немного отличаются от тех, которые есть в линейном подходе</a:t>
            </a:r>
          </a:p>
          <a:p>
            <a:pPr marL="45720" indent="0">
              <a:buNone/>
            </a:pPr>
            <a:endParaRPr lang="ru-RU" sz="2400" dirty="0">
              <a:solidFill>
                <a:srgbClr val="FF0000"/>
              </a:solidFill>
            </a:endParaRPr>
          </a:p>
        </p:txBody>
      </p:sp>
    </p:spTree>
    <p:extLst>
      <p:ext uri="{BB962C8B-B14F-4D97-AF65-F5344CB8AC3E}">
        <p14:creationId xmlns:p14="http://schemas.microsoft.com/office/powerpoint/2010/main" val="29125711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683568" y="731520"/>
            <a:ext cx="7632848" cy="5145752"/>
          </a:xfrm>
        </p:spPr>
        <p:txBody>
          <a:bodyPr>
            <a:noAutofit/>
          </a:bodyPr>
          <a:lstStyle/>
          <a:p>
            <a:pPr marL="45720" indent="0">
              <a:buNone/>
            </a:pPr>
            <a:r>
              <a:rPr lang="ru-RU" sz="3200" dirty="0">
                <a:solidFill>
                  <a:srgbClr val="FF0000"/>
                </a:solidFill>
              </a:rPr>
              <a:t>Каждый раз с каждым клиентом </a:t>
            </a:r>
            <a:r>
              <a:rPr lang="ru-RU" sz="3200" dirty="0" err="1">
                <a:solidFill>
                  <a:srgbClr val="FF0000"/>
                </a:solidFill>
              </a:rPr>
              <a:t>коуч</a:t>
            </a:r>
            <a:r>
              <a:rPr lang="ru-RU" sz="3200" dirty="0">
                <a:solidFill>
                  <a:srgbClr val="FF0000"/>
                </a:solidFill>
              </a:rPr>
              <a:t> определяет стратегию работы с данным клиентом и подбирает/создает собственные техники решения задач клиента.</a:t>
            </a:r>
          </a:p>
          <a:p>
            <a:pPr marL="45720" indent="0">
              <a:buNone/>
            </a:pPr>
            <a:endParaRPr lang="ru-RU" sz="3200" dirty="0">
              <a:solidFill>
                <a:srgbClr val="FF0000"/>
              </a:solidFill>
            </a:endParaRPr>
          </a:p>
          <a:p>
            <a:pPr marL="45720" indent="0">
              <a:buNone/>
            </a:pPr>
            <a:r>
              <a:rPr lang="ru-RU" sz="3200" dirty="0">
                <a:solidFill>
                  <a:srgbClr val="FF0000"/>
                </a:solidFill>
              </a:rPr>
              <a:t>ЕДИНАЯ «ВОЛШЕБНАЯ» СТРАТЕГИЯ РАБОТЫ ОТСУТСТВУЕТ!!! ЕЕ НЕТ!!!</a:t>
            </a:r>
          </a:p>
        </p:txBody>
      </p:sp>
    </p:spTree>
    <p:extLst>
      <p:ext uri="{BB962C8B-B14F-4D97-AF65-F5344CB8AC3E}">
        <p14:creationId xmlns:p14="http://schemas.microsoft.com/office/powerpoint/2010/main" val="363658267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539552" y="731520"/>
            <a:ext cx="7632848" cy="5577800"/>
          </a:xfrm>
        </p:spPr>
        <p:txBody>
          <a:bodyPr>
            <a:normAutofit fontScale="92500"/>
          </a:bodyPr>
          <a:lstStyle/>
          <a:p>
            <a:pPr marL="45720" indent="0">
              <a:buNone/>
            </a:pPr>
            <a:r>
              <a:rPr lang="ru-RU" sz="2600" dirty="0">
                <a:solidFill>
                  <a:srgbClr val="FF0000"/>
                </a:solidFill>
              </a:rPr>
              <a:t>Основные этапы работы в трансформационном </a:t>
            </a:r>
            <a:r>
              <a:rPr lang="ru-RU" sz="2600" dirty="0" err="1">
                <a:solidFill>
                  <a:srgbClr val="FF0000"/>
                </a:solidFill>
              </a:rPr>
              <a:t>коучинге</a:t>
            </a:r>
            <a:r>
              <a:rPr lang="ru-RU" sz="2600" dirty="0">
                <a:solidFill>
                  <a:srgbClr val="FF0000"/>
                </a:solidFill>
              </a:rPr>
              <a:t>:</a:t>
            </a:r>
          </a:p>
          <a:p>
            <a:pPr marL="502920" indent="-457200">
              <a:buAutoNum type="arabicParenR"/>
            </a:pPr>
            <a:r>
              <a:rPr lang="ru-RU" sz="2600" dirty="0" err="1">
                <a:solidFill>
                  <a:srgbClr val="FF0000"/>
                </a:solidFill>
              </a:rPr>
              <a:t>Ресурсирование</a:t>
            </a:r>
            <a:r>
              <a:rPr lang="ru-RU" sz="2600" dirty="0">
                <a:solidFill>
                  <a:srgbClr val="FF0000"/>
                </a:solidFill>
              </a:rPr>
              <a:t> клиента (помним, что мы работаем, по сути, с потерей привычного образа жизни. И часто клиент в </a:t>
            </a:r>
            <a:r>
              <a:rPr lang="ru-RU" sz="2600" dirty="0" err="1">
                <a:solidFill>
                  <a:srgbClr val="FF0000"/>
                </a:solidFill>
              </a:rPr>
              <a:t>раздрайве</a:t>
            </a:r>
            <a:r>
              <a:rPr lang="ru-RU" sz="2600" dirty="0">
                <a:solidFill>
                  <a:srgbClr val="FF0000"/>
                </a:solidFill>
              </a:rPr>
              <a:t>)</a:t>
            </a:r>
          </a:p>
          <a:p>
            <a:pPr marL="502920" indent="-457200">
              <a:buAutoNum type="arabicParenR"/>
            </a:pPr>
            <a:r>
              <a:rPr lang="ru-RU" sz="2600" dirty="0">
                <a:solidFill>
                  <a:srgbClr val="FF0000"/>
                </a:solidFill>
              </a:rPr>
              <a:t>Помогаем «сбросить старую кожу» и соприкоснуться с новым ощущением/образом себя (своей уникальностью/личностным своеобразием, сильными сторонами, ценностями и т п), картиной будущего</a:t>
            </a:r>
          </a:p>
          <a:p>
            <a:pPr marL="502920" indent="-457200">
              <a:buAutoNum type="arabicParenR"/>
            </a:pPr>
            <a:r>
              <a:rPr lang="ru-RU" sz="2600" dirty="0">
                <a:solidFill>
                  <a:srgbClr val="FF0000"/>
                </a:solidFill>
              </a:rPr>
              <a:t>Работа с внутренними препятствиями, ограничивающими убеждениями</a:t>
            </a:r>
          </a:p>
          <a:p>
            <a:pPr marL="502920" indent="-457200">
              <a:buAutoNum type="arabicParenR"/>
            </a:pPr>
            <a:r>
              <a:rPr lang="ru-RU" sz="2600" dirty="0">
                <a:solidFill>
                  <a:srgbClr val="FF0000"/>
                </a:solidFill>
              </a:rPr>
              <a:t>Переход к конкретным шагам, действиям и т п</a:t>
            </a:r>
          </a:p>
          <a:p>
            <a:pPr marL="502920" indent="-457200">
              <a:buAutoNum type="arabicParenR"/>
            </a:pPr>
            <a:endParaRPr lang="ru-RU" dirty="0"/>
          </a:p>
          <a:p>
            <a:pPr marL="502920" indent="-457200">
              <a:buAutoNum type="arabicParenR"/>
            </a:pPr>
            <a:endParaRPr lang="ru-RU" dirty="0"/>
          </a:p>
        </p:txBody>
      </p:sp>
    </p:spTree>
    <p:extLst>
      <p:ext uri="{BB962C8B-B14F-4D97-AF65-F5344CB8AC3E}">
        <p14:creationId xmlns:p14="http://schemas.microsoft.com/office/powerpoint/2010/main" val="286141565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43608" y="341784"/>
            <a:ext cx="6800543" cy="1143000"/>
          </a:xfrm>
        </p:spPr>
        <p:txBody>
          <a:bodyPr/>
          <a:lstStyle/>
          <a:p>
            <a:pPr marL="0" indent="0" algn="ctr">
              <a:buNone/>
            </a:pPr>
            <a:r>
              <a:rPr lang="ru-RU" sz="2800" dirty="0">
                <a:solidFill>
                  <a:srgbClr val="0070C0"/>
                </a:solidFill>
              </a:rPr>
              <a:t>В чем заключается </a:t>
            </a:r>
            <a:r>
              <a:rPr lang="ru-RU" sz="2800" dirty="0" err="1">
                <a:solidFill>
                  <a:srgbClr val="0070C0"/>
                </a:solidFill>
              </a:rPr>
              <a:t>ресурсирование</a:t>
            </a:r>
            <a:r>
              <a:rPr lang="ru-RU" sz="2800" dirty="0">
                <a:solidFill>
                  <a:srgbClr val="0070C0"/>
                </a:solidFill>
              </a:rPr>
              <a:t>? Примеры</a:t>
            </a:r>
          </a:p>
        </p:txBody>
      </p:sp>
      <p:sp>
        <p:nvSpPr>
          <p:cNvPr id="3" name="Объект 2"/>
          <p:cNvSpPr>
            <a:spLocks noGrp="1"/>
          </p:cNvSpPr>
          <p:nvPr>
            <p:ph sz="quarter" idx="13"/>
          </p:nvPr>
        </p:nvSpPr>
        <p:spPr>
          <a:xfrm>
            <a:off x="323528" y="1484784"/>
            <a:ext cx="8640960" cy="4536504"/>
          </a:xfrm>
        </p:spPr>
        <p:txBody>
          <a:bodyPr>
            <a:normAutofit fontScale="92500" lnSpcReduction="20000"/>
          </a:bodyPr>
          <a:lstStyle/>
          <a:p>
            <a:r>
              <a:rPr lang="ru-RU" dirty="0"/>
              <a:t>Пауза, </a:t>
            </a:r>
            <a:r>
              <a:rPr lang="ru-RU" dirty="0" err="1"/>
              <a:t>сонастройка</a:t>
            </a:r>
            <a:r>
              <a:rPr lang="ru-RU" dirty="0"/>
              <a:t> на работу, «минута тишины». Когда клиент фокусируется на себе, а </a:t>
            </a:r>
            <a:r>
              <a:rPr lang="ru-RU" dirty="0" err="1"/>
              <a:t>коуч</a:t>
            </a:r>
            <a:r>
              <a:rPr lang="ru-RU" dirty="0"/>
              <a:t> – на клиенте и себе (Глобальное слушание по </a:t>
            </a:r>
            <a:r>
              <a:rPr lang="ru-RU" dirty="0" err="1"/>
              <a:t>Уитворт</a:t>
            </a:r>
            <a:r>
              <a:rPr lang="ru-RU" dirty="0"/>
              <a:t>)</a:t>
            </a:r>
          </a:p>
          <a:p>
            <a:r>
              <a:rPr lang="ru-RU" dirty="0"/>
              <a:t>Найти сначала ресурс спокойствия, уверенности (медитация, техника «Десенсибилизация </a:t>
            </a:r>
            <a:r>
              <a:rPr lang="ru-RU" dirty="0" err="1"/>
              <a:t>Вольпе</a:t>
            </a:r>
            <a:r>
              <a:rPr lang="ru-RU" dirty="0"/>
              <a:t>»)</a:t>
            </a:r>
          </a:p>
          <a:p>
            <a:r>
              <a:rPr lang="ru-RU" dirty="0"/>
              <a:t>Иногда прямо на 1-й сессии поработать с внутренним препятствием (техника «Миф»)</a:t>
            </a:r>
          </a:p>
          <a:p>
            <a:r>
              <a:rPr lang="ru-RU" dirty="0">
                <a:solidFill>
                  <a:srgbClr val="FF0000"/>
                </a:solidFill>
              </a:rPr>
              <a:t>Способность объяснять клиенту, что с ним происходит, с экспертной точки зрения и внутренним посланием «С тобой все нормально!»</a:t>
            </a:r>
          </a:p>
          <a:p>
            <a:r>
              <a:rPr lang="ru-RU" dirty="0"/>
              <a:t>Возможность поделиться своим опытом с внутренним посланием «Ты не одинок»</a:t>
            </a:r>
          </a:p>
          <a:p>
            <a:pPr marL="45720" indent="0">
              <a:buNone/>
            </a:pPr>
            <a:endParaRPr lang="ru-RU" dirty="0"/>
          </a:p>
          <a:p>
            <a:pPr marL="45720" indent="0" algn="ctr">
              <a:buNone/>
            </a:pPr>
            <a:r>
              <a:rPr lang="ru-RU" sz="2600" dirty="0">
                <a:solidFill>
                  <a:srgbClr val="FF0000"/>
                </a:solidFill>
              </a:rPr>
              <a:t>!!! Дисбаланс в сторону поддержки, минимум фрустрации</a:t>
            </a:r>
          </a:p>
          <a:p>
            <a:endParaRPr lang="ru-RU" dirty="0"/>
          </a:p>
          <a:p>
            <a:endParaRPr lang="ru-RU" dirty="0"/>
          </a:p>
        </p:txBody>
      </p:sp>
    </p:spTree>
    <p:extLst>
      <p:ext uri="{BB962C8B-B14F-4D97-AF65-F5344CB8AC3E}">
        <p14:creationId xmlns:p14="http://schemas.microsoft.com/office/powerpoint/2010/main" val="217942315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p:txBody>
          <a:bodyPr/>
          <a:lstStyle/>
          <a:p>
            <a:pPr marL="45720" indent="0">
              <a:buNone/>
            </a:pPr>
            <a:r>
              <a:rPr lang="ru-RU" dirty="0" smtClean="0"/>
              <a:t>                      </a:t>
            </a:r>
          </a:p>
          <a:p>
            <a:pPr marL="45720" indent="0">
              <a:buNone/>
            </a:pPr>
            <a:endParaRPr lang="ru-RU" dirty="0"/>
          </a:p>
          <a:p>
            <a:pPr marL="45720" indent="0">
              <a:buNone/>
            </a:pPr>
            <a:endParaRPr lang="ru-RU" dirty="0" smtClean="0"/>
          </a:p>
          <a:p>
            <a:pPr marL="45720" indent="0">
              <a:buNone/>
            </a:pPr>
            <a:endParaRPr lang="ru-RU" dirty="0"/>
          </a:p>
          <a:p>
            <a:pPr marL="45720" indent="0" algn="ctr">
              <a:buNone/>
            </a:pPr>
            <a:r>
              <a:rPr lang="ru-RU" sz="3200" b="1" dirty="0" smtClean="0">
                <a:solidFill>
                  <a:srgbClr val="C00000"/>
                </a:solidFill>
              </a:rPr>
              <a:t>И еще!</a:t>
            </a:r>
            <a:endParaRPr lang="ru-RU" sz="3200" b="1" dirty="0">
              <a:solidFill>
                <a:srgbClr val="C00000"/>
              </a:solidFill>
            </a:endParaRPr>
          </a:p>
        </p:txBody>
      </p:sp>
    </p:spTree>
    <p:extLst>
      <p:ext uri="{BB962C8B-B14F-4D97-AF65-F5344CB8AC3E}">
        <p14:creationId xmlns:p14="http://schemas.microsoft.com/office/powerpoint/2010/main" val="223077867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a:xfrm>
            <a:off x="827584" y="548680"/>
            <a:ext cx="7128792" cy="1143000"/>
          </a:xfrm>
        </p:spPr>
        <p:txBody>
          <a:bodyPr/>
          <a:lstStyle/>
          <a:p>
            <a:pPr marL="0" indent="0">
              <a:buNone/>
            </a:pPr>
            <a:r>
              <a:rPr lang="ru-RU" sz="2400" dirty="0">
                <a:solidFill>
                  <a:srgbClr val="0070C0"/>
                </a:solidFill>
              </a:rPr>
              <a:t>Целостное влияние как условие изменений</a:t>
            </a:r>
          </a:p>
        </p:txBody>
      </p:sp>
      <p:graphicFrame>
        <p:nvGraphicFramePr>
          <p:cNvPr id="4" name="Содержимое 3"/>
          <p:cNvGraphicFramePr>
            <a:graphicFrameLocks noGrp="1"/>
          </p:cNvGraphicFramePr>
          <p:nvPr>
            <p:ph idx="4294967295"/>
            <p:extLst>
              <p:ext uri="{D42A27DB-BD31-4B8C-83A1-F6EECF244321}">
                <p14:modId xmlns:p14="http://schemas.microsoft.com/office/powerpoint/2010/main" val="1327774492"/>
              </p:ext>
            </p:extLst>
          </p:nvPr>
        </p:nvGraphicFramePr>
        <p:xfrm>
          <a:off x="1619672" y="2060848"/>
          <a:ext cx="6031707" cy="32575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4748850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normAutofit/>
          </a:bodyPr>
          <a:lstStyle/>
          <a:p>
            <a:pPr marL="0" indent="0">
              <a:buNone/>
            </a:pPr>
            <a:r>
              <a:rPr lang="ru-RU" sz="2100" dirty="0" err="1">
                <a:solidFill>
                  <a:schemeClr val="accent1">
                    <a:lumMod val="75000"/>
                  </a:schemeClr>
                </a:solidFill>
              </a:rPr>
              <a:t>Коуч</a:t>
            </a:r>
            <a:r>
              <a:rPr lang="ru-RU" sz="2100" dirty="0">
                <a:solidFill>
                  <a:schemeClr val="accent1">
                    <a:lumMod val="75000"/>
                  </a:schemeClr>
                </a:solidFill>
              </a:rPr>
              <a:t> ищет ключи для создания поддерживающей </a:t>
            </a:r>
            <a:r>
              <a:rPr lang="ru-RU" sz="2100" dirty="0" smtClean="0">
                <a:solidFill>
                  <a:schemeClr val="accent1">
                    <a:lumMod val="75000"/>
                  </a:schemeClr>
                </a:solidFill>
              </a:rPr>
              <a:t>среды!!!</a:t>
            </a:r>
            <a:endParaRPr lang="ru-RU" sz="2100" dirty="0">
              <a:solidFill>
                <a:schemeClr val="accent1">
                  <a:lumMod val="75000"/>
                </a:schemeClr>
              </a:solidFill>
            </a:endParaRPr>
          </a:p>
        </p:txBody>
      </p:sp>
      <p:sp>
        <p:nvSpPr>
          <p:cNvPr id="4" name="Объект 3">
            <a:extLst>
              <a:ext uri="{FF2B5EF4-FFF2-40B4-BE49-F238E27FC236}">
                <a16:creationId xmlns:a16="http://schemas.microsoft.com/office/drawing/2014/main" id="{C4AAAC1F-4A2C-4B98-A187-384137F4D90D}"/>
              </a:ext>
            </a:extLst>
          </p:cNvPr>
          <p:cNvSpPr>
            <a:spLocks noGrp="1"/>
          </p:cNvSpPr>
          <p:nvPr>
            <p:ph idx="4294967295"/>
          </p:nvPr>
        </p:nvSpPr>
        <p:spPr/>
        <p:txBody>
          <a:bodyPr/>
          <a:lstStyle/>
          <a:p>
            <a:pPr marL="45720" indent="0">
              <a:buNone/>
            </a:pPr>
            <a:endParaRPr lang="ru-RU" dirty="0"/>
          </a:p>
        </p:txBody>
      </p:sp>
      <p:pic>
        <p:nvPicPr>
          <p:cNvPr id="64518" name="Picture 6" descr="ÐÐ°ÑÑÐ¸Ð½ÐºÐ¸ Ð¿Ð¾ Ð·Ð°Ð¿ÑÐ¾ÑÑ ÐºÐ»ÑÑÐ¸"/>
          <p:cNvPicPr>
            <a:picLocks noChangeAspect="1" noChangeArrowheads="1"/>
          </p:cNvPicPr>
          <p:nvPr/>
        </p:nvPicPr>
        <p:blipFill>
          <a:blip r:embed="rId2"/>
          <a:srcRect/>
          <a:stretch>
            <a:fillRect/>
          </a:stretch>
        </p:blipFill>
        <p:spPr bwMode="auto">
          <a:xfrm>
            <a:off x="1979712" y="1124744"/>
            <a:ext cx="2708066" cy="3096041"/>
          </a:xfrm>
          <a:prstGeom prst="rect">
            <a:avLst/>
          </a:prstGeom>
          <a:noFill/>
        </p:spPr>
      </p:pic>
    </p:spTree>
    <p:extLst>
      <p:ext uri="{BB962C8B-B14F-4D97-AF65-F5344CB8AC3E}">
        <p14:creationId xmlns:p14="http://schemas.microsoft.com/office/powerpoint/2010/main" val="60079365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71600" y="332656"/>
            <a:ext cx="6512511" cy="569000"/>
          </a:xfrm>
        </p:spPr>
        <p:txBody>
          <a:bodyPr/>
          <a:lstStyle/>
          <a:p>
            <a:pPr marL="0" indent="0" algn="ctr">
              <a:buNone/>
            </a:pPr>
            <a:r>
              <a:rPr lang="ru-RU" sz="2400" dirty="0" smtClean="0">
                <a:solidFill>
                  <a:srgbClr val="0070C0"/>
                </a:solidFill>
              </a:rPr>
              <a:t>Упражнение «Растение»</a:t>
            </a:r>
            <a:endParaRPr lang="ru-RU" sz="2400" dirty="0">
              <a:solidFill>
                <a:srgbClr val="0070C0"/>
              </a:solidFill>
            </a:endParaRPr>
          </a:p>
        </p:txBody>
      </p:sp>
      <p:sp>
        <p:nvSpPr>
          <p:cNvPr id="3" name="Объект 2"/>
          <p:cNvSpPr>
            <a:spLocks noGrp="1"/>
          </p:cNvSpPr>
          <p:nvPr>
            <p:ph sz="quarter" idx="13"/>
          </p:nvPr>
        </p:nvSpPr>
        <p:spPr>
          <a:xfrm>
            <a:off x="755576" y="980728"/>
            <a:ext cx="7488832" cy="4896544"/>
          </a:xfrm>
        </p:spPr>
        <p:txBody>
          <a:bodyPr>
            <a:normAutofit fontScale="85000" lnSpcReduction="10000"/>
          </a:bodyPr>
          <a:lstStyle/>
          <a:p>
            <a:r>
              <a:rPr lang="ru-RU" dirty="0" smtClean="0"/>
              <a:t>Нарисуйте себя в виде растения. Это может быть ЛЮБОЕ растение: цветок, дерево, куст, несуществующее растение.</a:t>
            </a:r>
          </a:p>
          <a:p>
            <a:pPr marL="45720" indent="0">
              <a:buNone/>
            </a:pPr>
            <a:r>
              <a:rPr lang="ru-RU" dirty="0" smtClean="0"/>
              <a:t>_____________</a:t>
            </a:r>
          </a:p>
          <a:p>
            <a:r>
              <a:rPr lang="ru-RU" dirty="0" smtClean="0"/>
              <a:t>Опишите его так, как будто оно обладает характером, мировоззрением и может говорить. Очеловечьте его.</a:t>
            </a:r>
          </a:p>
          <a:p>
            <a:r>
              <a:rPr lang="ru-RU" dirty="0" smtClean="0"/>
              <a:t>Опишите, что нужно этому растению, чтобы оно росло – какие условия ВНЕШНЕЙ среды? Составьте список из этих необходимых условий по пунктам. </a:t>
            </a:r>
            <a:r>
              <a:rPr lang="ru-RU" dirty="0" err="1" smtClean="0"/>
              <a:t>Проранжируйте</a:t>
            </a:r>
            <a:r>
              <a:rPr lang="ru-RU" dirty="0" smtClean="0"/>
              <a:t> по степени важности</a:t>
            </a:r>
          </a:p>
          <a:p>
            <a:r>
              <a:rPr lang="ru-RU" dirty="0" smtClean="0"/>
              <a:t>Теперь расшифруйте метафору, вставляя вместо «растение» в ваш рассказ слово «я». </a:t>
            </a:r>
            <a:r>
              <a:rPr lang="ru-RU" dirty="0" err="1" smtClean="0"/>
              <a:t>Полумайте</a:t>
            </a:r>
            <a:r>
              <a:rPr lang="ru-RU" dirty="0" smtClean="0"/>
              <a:t>, что эти условия значат в вашей РЕАЛЬНОЙ жизни для достижения ваших РЕАЛЬНЫХ ЦЕЛЕЙ и/или ЦЕЛЕЙ РАЗВИТИЯ – что вам необходимо, какие ресурсы, какое окружение.</a:t>
            </a:r>
          </a:p>
          <a:p>
            <a:r>
              <a:rPr lang="ru-RU" dirty="0" smtClean="0"/>
              <a:t>Например, если вы написали «солнце», то что/кто является таким солнцем и как вы можете реализовать этот ресурс</a:t>
            </a:r>
          </a:p>
          <a:p>
            <a:endParaRPr lang="ru-RU" dirty="0"/>
          </a:p>
        </p:txBody>
      </p:sp>
    </p:spTree>
    <p:extLst>
      <p:ext uri="{BB962C8B-B14F-4D97-AF65-F5344CB8AC3E}">
        <p14:creationId xmlns:p14="http://schemas.microsoft.com/office/powerpoint/2010/main" val="426522894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11560" y="269776"/>
            <a:ext cx="7838256" cy="782960"/>
          </a:xfrm>
        </p:spPr>
        <p:txBody>
          <a:bodyPr/>
          <a:lstStyle/>
          <a:p>
            <a:pPr marL="0" indent="0" algn="ctr">
              <a:buNone/>
            </a:pPr>
            <a:r>
              <a:rPr lang="ru-RU" sz="2400" dirty="0">
                <a:solidFill>
                  <a:srgbClr val="0070C0"/>
                </a:solidFill>
              </a:rPr>
              <a:t>Трансформационные </a:t>
            </a:r>
            <a:r>
              <a:rPr lang="ru-RU" sz="2400" dirty="0" smtClean="0">
                <a:solidFill>
                  <a:srgbClr val="0070C0"/>
                </a:solidFill>
              </a:rPr>
              <a:t>техники </a:t>
            </a:r>
            <a:r>
              <a:rPr lang="ru-RU" sz="2400" dirty="0">
                <a:solidFill>
                  <a:srgbClr val="0070C0"/>
                </a:solidFill>
              </a:rPr>
              <a:t>в </a:t>
            </a:r>
            <a:r>
              <a:rPr lang="ru-RU" sz="2400" dirty="0" err="1" smtClean="0">
                <a:solidFill>
                  <a:srgbClr val="0070C0"/>
                </a:solidFill>
              </a:rPr>
              <a:t>коучинге</a:t>
            </a:r>
            <a:r>
              <a:rPr lang="ru-RU" sz="2400" dirty="0" smtClean="0">
                <a:solidFill>
                  <a:srgbClr val="0070C0"/>
                </a:solidFill>
              </a:rPr>
              <a:t>: главное</a:t>
            </a:r>
            <a:endParaRPr lang="ru-RU" sz="2400" dirty="0">
              <a:solidFill>
                <a:srgbClr val="0070C0"/>
              </a:solidFill>
            </a:endParaRPr>
          </a:p>
        </p:txBody>
      </p:sp>
      <p:sp>
        <p:nvSpPr>
          <p:cNvPr id="3" name="Объект 2"/>
          <p:cNvSpPr>
            <a:spLocks noGrp="1"/>
          </p:cNvSpPr>
          <p:nvPr>
            <p:ph sz="quarter" idx="13"/>
          </p:nvPr>
        </p:nvSpPr>
        <p:spPr>
          <a:xfrm>
            <a:off x="467544" y="1412776"/>
            <a:ext cx="7776864" cy="4896544"/>
          </a:xfrm>
        </p:spPr>
        <p:txBody>
          <a:bodyPr>
            <a:normAutofit fontScale="77500" lnSpcReduction="20000"/>
          </a:bodyPr>
          <a:lstStyle/>
          <a:p>
            <a:r>
              <a:rPr lang="ru-RU" dirty="0"/>
              <a:t>Трансформационные методы в </a:t>
            </a:r>
            <a:r>
              <a:rPr lang="ru-RU" dirty="0" err="1"/>
              <a:t>коучинге</a:t>
            </a:r>
            <a:r>
              <a:rPr lang="ru-RU" dirty="0"/>
              <a:t> опираются на состояние релаксации клиента. </a:t>
            </a:r>
            <a:r>
              <a:rPr lang="ru-RU" dirty="0" smtClean="0"/>
              <a:t>Их цель: помочь клиенту соединяться </a:t>
            </a:r>
            <a:r>
              <a:rPr lang="ru-RU" dirty="0"/>
              <a:t>с РЕСУРСОМ – состоянием, необходимым для решения </a:t>
            </a:r>
            <a:r>
              <a:rPr lang="ru-RU" dirty="0" smtClean="0"/>
              <a:t>определенной </a:t>
            </a:r>
            <a:r>
              <a:rPr lang="ru-RU" dirty="0"/>
              <a:t>задачи </a:t>
            </a:r>
            <a:r>
              <a:rPr lang="ru-RU" dirty="0" smtClean="0"/>
              <a:t>клиента. Снимать </a:t>
            </a:r>
            <a:r>
              <a:rPr lang="ru-RU" dirty="0"/>
              <a:t>у клиента напряжение/волнение/страх/…, т. е. </a:t>
            </a:r>
            <a:r>
              <a:rPr lang="ru-RU" dirty="0" smtClean="0"/>
              <a:t>НЕРЕСУРС. Активно задействуется бессознательное. Работа часто происходит через телесный и визуальный канал. В общем, может быть непривычно</a:t>
            </a:r>
            <a:r>
              <a:rPr lang="ru-RU" dirty="0" smtClean="0">
                <a:sym typeface="Wingdings" panose="05000000000000000000" pitchFamily="2" charset="2"/>
              </a:rPr>
              <a:t></a:t>
            </a:r>
            <a:endParaRPr lang="ru-RU" dirty="0"/>
          </a:p>
          <a:p>
            <a:r>
              <a:rPr lang="ru-RU" dirty="0" smtClean="0"/>
              <a:t> </a:t>
            </a:r>
            <a:r>
              <a:rPr lang="ru-RU" dirty="0"/>
              <a:t>Поэтому, прежде всего,  для начала работы трансформационными методами мы должны укрепить доверие клиента к себе.</a:t>
            </a:r>
          </a:p>
          <a:p>
            <a:r>
              <a:rPr lang="ru-RU" dirty="0"/>
              <a:t> Трансформационные методы </a:t>
            </a:r>
            <a:r>
              <a:rPr lang="ru-RU" dirty="0" smtClean="0"/>
              <a:t>стоит аккуратно применять  </a:t>
            </a:r>
            <a:r>
              <a:rPr lang="ru-RU" dirty="0"/>
              <a:t>на первой встрече.</a:t>
            </a:r>
          </a:p>
          <a:p>
            <a:r>
              <a:rPr lang="ru-RU" dirty="0"/>
              <a:t> Работать важно в тихом </a:t>
            </a:r>
            <a:r>
              <a:rPr lang="ru-RU" dirty="0" smtClean="0"/>
              <a:t>помещении</a:t>
            </a:r>
            <a:endParaRPr lang="ru-RU" dirty="0"/>
          </a:p>
          <a:p>
            <a:r>
              <a:rPr lang="ru-RU" dirty="0"/>
              <a:t>Важно избегать любой терминологии, которая встревожила бы клиента, намекала бы на схожесть с эзотерическими методами. </a:t>
            </a:r>
          </a:p>
          <a:p>
            <a:r>
              <a:rPr lang="ru-RU" dirty="0"/>
              <a:t>Трансформационные методы опираются целиком на учение о бессознательном. </a:t>
            </a:r>
          </a:p>
          <a:p>
            <a:r>
              <a:rPr lang="ru-RU" dirty="0"/>
              <a:t>В </a:t>
            </a:r>
            <a:r>
              <a:rPr lang="ru-RU" dirty="0" err="1"/>
              <a:t>коучинге</a:t>
            </a:r>
            <a:r>
              <a:rPr lang="ru-RU" dirty="0"/>
              <a:t> мы не интерпретируем, высказываем предположения очень осторожно и аккуратно, только в позитивном формате. </a:t>
            </a:r>
          </a:p>
          <a:p>
            <a:pPr marL="45720" indent="0">
              <a:buNone/>
            </a:pPr>
            <a:endParaRPr lang="ru-RU" dirty="0"/>
          </a:p>
        </p:txBody>
      </p:sp>
    </p:spTree>
    <p:extLst>
      <p:ext uri="{BB962C8B-B14F-4D97-AF65-F5344CB8AC3E}">
        <p14:creationId xmlns:p14="http://schemas.microsoft.com/office/powerpoint/2010/main" val="410747717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835696" y="2636912"/>
            <a:ext cx="5966666" cy="1239002"/>
          </a:xfrm>
        </p:spPr>
        <p:txBody>
          <a:bodyPr/>
          <a:lstStyle/>
          <a:p>
            <a:pPr marL="0" indent="0" algn="ctr">
              <a:buNone/>
            </a:pPr>
            <a:r>
              <a:rPr lang="ru-RU" sz="3600" dirty="0">
                <a:solidFill>
                  <a:srgbClr val="C00000"/>
                </a:solidFill>
              </a:rPr>
              <a:t>Упражнение «Соединение с собой»</a:t>
            </a:r>
          </a:p>
        </p:txBody>
      </p:sp>
    </p:spTree>
    <p:extLst>
      <p:ext uri="{BB962C8B-B14F-4D97-AF65-F5344CB8AC3E}">
        <p14:creationId xmlns:p14="http://schemas.microsoft.com/office/powerpoint/2010/main" val="230334735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331640" y="260648"/>
            <a:ext cx="6512511" cy="1143000"/>
          </a:xfrm>
        </p:spPr>
        <p:txBody>
          <a:bodyPr>
            <a:noAutofit/>
          </a:bodyPr>
          <a:lstStyle/>
          <a:p>
            <a:pPr marL="0" indent="0" algn="ctr">
              <a:buNone/>
            </a:pPr>
            <a:r>
              <a:rPr lang="ru-RU" sz="2800" b="1" dirty="0">
                <a:solidFill>
                  <a:schemeClr val="accent1"/>
                </a:solidFill>
              </a:rPr>
              <a:t>Система</a:t>
            </a:r>
            <a:r>
              <a:rPr lang="ru-RU" sz="2800" dirty="0">
                <a:solidFill>
                  <a:schemeClr val="accent1"/>
                </a:solidFill>
              </a:rPr>
              <a:t> </a:t>
            </a:r>
            <a:r>
              <a:rPr lang="ru-RU" sz="2800" b="1" dirty="0">
                <a:solidFill>
                  <a:schemeClr val="accent1"/>
                </a:solidFill>
              </a:rPr>
              <a:t>«Аутогенной тренировки» (АТ) по Шульцу</a:t>
            </a:r>
            <a:r>
              <a:rPr lang="ru-RU" sz="2800" dirty="0">
                <a:solidFill>
                  <a:schemeClr val="accent1"/>
                </a:solidFill>
              </a:rPr>
              <a:t/>
            </a:r>
            <a:br>
              <a:rPr lang="ru-RU" sz="2800" dirty="0">
                <a:solidFill>
                  <a:schemeClr val="accent1"/>
                </a:solidFill>
              </a:rPr>
            </a:br>
            <a:endParaRPr lang="ru-RU" sz="2800" dirty="0">
              <a:solidFill>
                <a:schemeClr val="accent1"/>
              </a:solidFill>
            </a:endParaRPr>
          </a:p>
        </p:txBody>
      </p:sp>
      <p:sp>
        <p:nvSpPr>
          <p:cNvPr id="3" name="Объект 2"/>
          <p:cNvSpPr>
            <a:spLocks noGrp="1"/>
          </p:cNvSpPr>
          <p:nvPr>
            <p:ph sz="quarter" idx="13"/>
          </p:nvPr>
        </p:nvSpPr>
        <p:spPr>
          <a:xfrm>
            <a:off x="395536" y="1268760"/>
            <a:ext cx="8604448" cy="4752528"/>
          </a:xfrm>
        </p:spPr>
        <p:txBody>
          <a:bodyPr>
            <a:normAutofit fontScale="40000" lnSpcReduction="20000"/>
          </a:bodyPr>
          <a:lstStyle/>
          <a:p>
            <a:pPr marL="0" indent="0" algn="ctr" fontAlgn="base">
              <a:buNone/>
            </a:pPr>
            <a:r>
              <a:rPr lang="ru-RU" sz="3400" dirty="0">
                <a:solidFill>
                  <a:schemeClr val="accent1"/>
                </a:solidFill>
              </a:rPr>
              <a:t>Слово «аутогенный» состоит из двух греческих корней «</a:t>
            </a:r>
            <a:r>
              <a:rPr lang="ru-RU" sz="3400" dirty="0" err="1">
                <a:solidFill>
                  <a:schemeClr val="accent1"/>
                </a:solidFill>
              </a:rPr>
              <a:t>аутос</a:t>
            </a:r>
            <a:r>
              <a:rPr lang="ru-RU" sz="3400" dirty="0">
                <a:solidFill>
                  <a:schemeClr val="accent1"/>
                </a:solidFill>
              </a:rPr>
              <a:t>» — сам, и «</a:t>
            </a:r>
            <a:r>
              <a:rPr lang="ru-RU" sz="3400" dirty="0" err="1">
                <a:solidFill>
                  <a:schemeClr val="accent1"/>
                </a:solidFill>
              </a:rPr>
              <a:t>генос</a:t>
            </a:r>
            <a:r>
              <a:rPr lang="ru-RU" sz="3400" dirty="0">
                <a:solidFill>
                  <a:schemeClr val="accent1"/>
                </a:solidFill>
              </a:rPr>
              <a:t>» — род, и означает «</a:t>
            </a:r>
            <a:r>
              <a:rPr lang="ru-RU" sz="3400" dirty="0" err="1">
                <a:solidFill>
                  <a:schemeClr val="accent1"/>
                </a:solidFill>
              </a:rPr>
              <a:t>самопорождающая</a:t>
            </a:r>
            <a:r>
              <a:rPr lang="ru-RU" sz="3400" dirty="0">
                <a:solidFill>
                  <a:schemeClr val="accent1"/>
                </a:solidFill>
              </a:rPr>
              <a:t>»</a:t>
            </a:r>
          </a:p>
          <a:p>
            <a:r>
              <a:rPr lang="ru-RU" sz="3600" dirty="0"/>
              <a:t>История аутогенной тренировки начинается с 1932 года, когда немецкий психиатр </a:t>
            </a:r>
            <a:r>
              <a:rPr lang="ru-RU" sz="3600" b="1" dirty="0"/>
              <a:t>Иоганн Генрих Шульц</a:t>
            </a:r>
            <a:r>
              <a:rPr lang="ru-RU" sz="3600" dirty="0"/>
              <a:t> опубликовал книгу с одноименным названием. </a:t>
            </a:r>
          </a:p>
          <a:p>
            <a:endParaRPr lang="ru-RU" sz="3600" dirty="0"/>
          </a:p>
          <a:p>
            <a:r>
              <a:rPr lang="ru-RU" sz="3600" dirty="0"/>
              <a:t>Написанию книги предшествовала его </a:t>
            </a:r>
          </a:p>
          <a:p>
            <a:r>
              <a:rPr lang="ru-RU" sz="3600" dirty="0"/>
              <a:t>1. практика врача. Он обнаружил, что пациенты, которых он гипнотизировал, испытывали два основных ощущения: тепло, разливающееся по всему телу  и тяжесть в конечностях и теле, т е  расширение кровеносных сосудов и расслабление мышц   - являются компонентами реакции релаксации. </a:t>
            </a:r>
          </a:p>
          <a:p>
            <a:r>
              <a:rPr lang="ru-RU" sz="3600" dirty="0"/>
              <a:t>2. Поездка в Индию</a:t>
            </a:r>
          </a:p>
          <a:p>
            <a:endParaRPr lang="ru-RU" sz="3600" dirty="0"/>
          </a:p>
          <a:p>
            <a:r>
              <a:rPr lang="ru-RU" sz="3600" dirty="0"/>
              <a:t>В итоге им был предложен метод вызывания физиологического сдвига путем концентрации внимания на ощущениях, вызывающих этот сдвиг. Так, концентрация внимания на реальной тяжести тела способствует углублению расслабления мышц, а концентрация на реальном тепле тела — притоку крови в капилляры кожи. </a:t>
            </a:r>
          </a:p>
          <a:p>
            <a:endParaRPr lang="ru-RU" sz="3600" dirty="0"/>
          </a:p>
          <a:p>
            <a:pPr marL="0" indent="0" algn="ctr" fontAlgn="base">
              <a:buNone/>
            </a:pPr>
            <a:endParaRPr lang="ru-RU" sz="3400" dirty="0">
              <a:solidFill>
                <a:schemeClr val="accent1"/>
              </a:solidFill>
            </a:endParaRPr>
          </a:p>
          <a:p>
            <a:pPr marL="0" indent="0" fontAlgn="base">
              <a:buNone/>
            </a:pPr>
            <a:r>
              <a:rPr lang="ru-RU" dirty="0"/>
              <a:t> </a:t>
            </a:r>
            <a:endParaRPr lang="ru-RU" sz="3400" dirty="0"/>
          </a:p>
        </p:txBody>
      </p:sp>
    </p:spTree>
    <p:extLst>
      <p:ext uri="{BB962C8B-B14F-4D97-AF65-F5344CB8AC3E}">
        <p14:creationId xmlns:p14="http://schemas.microsoft.com/office/powerpoint/2010/main" val="245187802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1143000" y="731520"/>
            <a:ext cx="6400800" cy="4497680"/>
          </a:xfrm>
        </p:spPr>
        <p:txBody>
          <a:bodyPr>
            <a:normAutofit lnSpcReduction="10000"/>
          </a:bodyPr>
          <a:lstStyle/>
          <a:p>
            <a:pPr marL="45720" indent="0">
              <a:buNone/>
            </a:pPr>
            <a:r>
              <a:rPr lang="ru-RU" dirty="0"/>
              <a:t>Мы используем или целиком метод Шульца или </a:t>
            </a:r>
            <a:r>
              <a:rPr lang="ru-RU" dirty="0">
                <a:solidFill>
                  <a:srgbClr val="C00000"/>
                </a:solidFill>
              </a:rPr>
              <a:t>(ЧАЩЕ!) по частям/поэлементно </a:t>
            </a:r>
            <a:r>
              <a:rPr lang="ru-RU" dirty="0"/>
              <a:t>в зависимости от задачи и текущего процесса.</a:t>
            </a:r>
          </a:p>
          <a:p>
            <a:pPr marL="45720" indent="0">
              <a:buNone/>
            </a:pPr>
            <a:endParaRPr lang="ru-RU" dirty="0"/>
          </a:p>
          <a:p>
            <a:pPr marL="45720" indent="0">
              <a:buNone/>
            </a:pPr>
            <a:endParaRPr lang="ru-RU" dirty="0"/>
          </a:p>
          <a:p>
            <a:pPr marL="45720" indent="0">
              <a:buNone/>
            </a:pPr>
            <a:r>
              <a:rPr lang="ru-RU" dirty="0"/>
              <a:t>В любом случае нам надо понимать все фишки и детали: как же помочь клиенту расслабиться, а на самом деле отпустить </a:t>
            </a:r>
            <a:r>
              <a:rPr lang="ru-RU" dirty="0" err="1"/>
              <a:t>нересурсное</a:t>
            </a:r>
            <a:r>
              <a:rPr lang="ru-RU" dirty="0"/>
              <a:t> состояние – это как минимум.</a:t>
            </a:r>
          </a:p>
          <a:p>
            <a:pPr marL="45720" indent="0">
              <a:buNone/>
            </a:pPr>
            <a:r>
              <a:rPr lang="ru-RU" dirty="0"/>
              <a:t>А как максимум – помочь научиться регулировать свое эмоциональное состояние самостоятельно</a:t>
            </a:r>
          </a:p>
        </p:txBody>
      </p:sp>
    </p:spTree>
    <p:extLst>
      <p:ext uri="{BB962C8B-B14F-4D97-AF65-F5344CB8AC3E}">
        <p14:creationId xmlns:p14="http://schemas.microsoft.com/office/powerpoint/2010/main" val="237608655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43000" y="332656"/>
            <a:ext cx="7334200" cy="1143000"/>
          </a:xfrm>
        </p:spPr>
        <p:txBody>
          <a:bodyPr/>
          <a:lstStyle/>
          <a:p>
            <a:pPr marL="0" indent="0" algn="ctr">
              <a:buNone/>
            </a:pPr>
            <a:r>
              <a:rPr lang="ru-RU" sz="2400" dirty="0" smtClean="0">
                <a:solidFill>
                  <a:srgbClr val="0070C0"/>
                </a:solidFill>
              </a:rPr>
              <a:t>Поза во время упражнений на </a:t>
            </a:r>
            <a:r>
              <a:rPr lang="ru-RU" sz="2400" dirty="0" err="1" smtClean="0">
                <a:solidFill>
                  <a:srgbClr val="0070C0"/>
                </a:solidFill>
              </a:rPr>
              <a:t>реклаксацию</a:t>
            </a:r>
            <a:endParaRPr lang="ru-RU" sz="2400" dirty="0">
              <a:solidFill>
                <a:srgbClr val="0070C0"/>
              </a:solidFill>
            </a:endParaRPr>
          </a:p>
        </p:txBody>
      </p:sp>
      <p:sp>
        <p:nvSpPr>
          <p:cNvPr id="3" name="Объект 2"/>
          <p:cNvSpPr>
            <a:spLocks noGrp="1"/>
          </p:cNvSpPr>
          <p:nvPr>
            <p:ph sz="quarter" idx="13"/>
          </p:nvPr>
        </p:nvSpPr>
        <p:spPr>
          <a:xfrm>
            <a:off x="899592" y="1466388"/>
            <a:ext cx="7416824" cy="3474720"/>
          </a:xfrm>
        </p:spPr>
        <p:txBody>
          <a:bodyPr/>
          <a:lstStyle/>
          <a:p>
            <a:pPr marL="457200" indent="-457200">
              <a:buFont typeface="+mj-lt"/>
              <a:buAutoNum type="arabicPeriod"/>
            </a:pPr>
            <a:r>
              <a:rPr lang="ru-RU" sz="2000" dirty="0">
                <a:latin typeface="Verdana"/>
                <a:cs typeface="Verdana"/>
              </a:rPr>
              <a:t>Поза звезды. </a:t>
            </a:r>
          </a:p>
          <a:p>
            <a:pPr marL="457200" indent="-457200">
              <a:buFont typeface="+mj-lt"/>
              <a:buAutoNum type="arabicPeriod"/>
            </a:pPr>
            <a:r>
              <a:rPr lang="ru-RU" sz="2000" dirty="0">
                <a:latin typeface="Verdana"/>
                <a:cs typeface="Verdana"/>
              </a:rPr>
              <a:t>Сидя откидываем голову и откидываем голову и назад.</a:t>
            </a:r>
          </a:p>
          <a:p>
            <a:pPr marL="457200" indent="-457200">
              <a:buFont typeface="+mj-lt"/>
              <a:buAutoNum type="arabicPeriod"/>
            </a:pPr>
            <a:r>
              <a:rPr lang="ru-RU" sz="2000" dirty="0">
                <a:latin typeface="Verdana"/>
                <a:cs typeface="Verdana"/>
              </a:rPr>
              <a:t>Поза кучера. Руки на бедра. Поза сначала ровно и затем вперед. </a:t>
            </a:r>
            <a:r>
              <a:rPr lang="ru-RU" sz="2000" dirty="0" smtClean="0">
                <a:latin typeface="Verdana"/>
                <a:cs typeface="Verdana"/>
              </a:rPr>
              <a:t>Позвоночник вперед</a:t>
            </a:r>
            <a:r>
              <a:rPr lang="ru-RU" sz="2000" dirty="0">
                <a:latin typeface="Verdana"/>
                <a:cs typeface="Verdana"/>
              </a:rPr>
              <a:t>.</a:t>
            </a:r>
          </a:p>
          <a:p>
            <a:pPr marL="457200" indent="-457200">
              <a:buFont typeface="+mj-lt"/>
              <a:buAutoNum type="arabicPeriod"/>
            </a:pPr>
            <a:r>
              <a:rPr lang="ru-RU" sz="2000" dirty="0">
                <a:latin typeface="Verdana"/>
                <a:cs typeface="Verdana"/>
              </a:rPr>
              <a:t>Стоя опереться на стену.</a:t>
            </a:r>
          </a:p>
          <a:p>
            <a:pPr marL="45720" indent="0">
              <a:buNone/>
            </a:pPr>
            <a:endParaRPr lang="ru-RU" dirty="0"/>
          </a:p>
        </p:txBody>
      </p:sp>
    </p:spTree>
    <p:extLst>
      <p:ext uri="{BB962C8B-B14F-4D97-AF65-F5344CB8AC3E}">
        <p14:creationId xmlns:p14="http://schemas.microsoft.com/office/powerpoint/2010/main" val="260619720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1143000" y="731520"/>
            <a:ext cx="7461448" cy="5001736"/>
          </a:xfrm>
        </p:spPr>
        <p:txBody>
          <a:bodyPr>
            <a:normAutofit fontScale="70000" lnSpcReduction="20000"/>
          </a:bodyPr>
          <a:lstStyle/>
          <a:p>
            <a:pPr marL="0" indent="0" algn="ctr" fontAlgn="base">
              <a:buNone/>
            </a:pPr>
            <a:r>
              <a:rPr lang="ru-RU" sz="3600" dirty="0">
                <a:solidFill>
                  <a:srgbClr val="0070C0"/>
                </a:solidFill>
              </a:rPr>
              <a:t>Система АТ состоит из двух ступеней:</a:t>
            </a:r>
          </a:p>
          <a:p>
            <a:pPr fontAlgn="base"/>
            <a:r>
              <a:rPr lang="ru-RU" sz="3400" dirty="0"/>
              <a:t>    — </a:t>
            </a:r>
            <a:r>
              <a:rPr lang="ru-RU" sz="4000" b="1" dirty="0">
                <a:solidFill>
                  <a:srgbClr val="FF0000"/>
                </a:solidFill>
              </a:rPr>
              <a:t>аутогенная</a:t>
            </a:r>
            <a:r>
              <a:rPr lang="ru-RU" sz="3400" b="1" dirty="0"/>
              <a:t> релаксация</a:t>
            </a:r>
            <a:r>
              <a:rPr lang="ru-RU" sz="3400" dirty="0"/>
              <a:t> </a:t>
            </a:r>
          </a:p>
          <a:p>
            <a:pPr marL="45720" indent="0" fontAlgn="base">
              <a:buNone/>
            </a:pPr>
            <a:r>
              <a:rPr lang="ru-RU" sz="3400" dirty="0"/>
              <a:t>(«низшая» ступень, предназначенная </a:t>
            </a:r>
            <a:r>
              <a:rPr lang="ru-RU" sz="3400" b="1" dirty="0">
                <a:solidFill>
                  <a:srgbClr val="FF0000"/>
                </a:solidFill>
              </a:rPr>
              <a:t>для снятия нервного напряжения, успокоения организма</a:t>
            </a:r>
            <a:r>
              <a:rPr lang="ru-RU" sz="3400" dirty="0"/>
              <a:t> и нормализации его функционирования);</a:t>
            </a:r>
          </a:p>
          <a:p>
            <a:pPr fontAlgn="base"/>
            <a:r>
              <a:rPr lang="ru-RU" sz="3400" dirty="0"/>
              <a:t>    — </a:t>
            </a:r>
            <a:r>
              <a:rPr lang="ru-RU" sz="4000" b="1" dirty="0">
                <a:solidFill>
                  <a:srgbClr val="FF0000"/>
                </a:solidFill>
              </a:rPr>
              <a:t>аутогенная</a:t>
            </a:r>
            <a:r>
              <a:rPr lang="ru-RU" sz="3400" b="1" dirty="0"/>
              <a:t> медитация</a:t>
            </a:r>
            <a:r>
              <a:rPr lang="ru-RU" sz="3400" dirty="0"/>
              <a:t> </a:t>
            </a:r>
          </a:p>
          <a:p>
            <a:pPr marL="45720" indent="0" fontAlgn="base">
              <a:buNone/>
            </a:pPr>
            <a:r>
              <a:rPr lang="ru-RU" sz="3400" dirty="0"/>
              <a:t>(«высшая» ступень, предназначена </a:t>
            </a:r>
            <a:r>
              <a:rPr lang="ru-RU" sz="3400" b="1" dirty="0">
                <a:solidFill>
                  <a:srgbClr val="FF0000"/>
                </a:solidFill>
              </a:rPr>
              <a:t>для порождения психических состояний, ведущих в выздоровлению=ресурсных состояний</a:t>
            </a:r>
            <a:r>
              <a:rPr lang="ru-RU" sz="3400" dirty="0"/>
              <a:t>).</a:t>
            </a:r>
          </a:p>
          <a:p>
            <a:pPr marL="45720" indent="0" fontAlgn="base">
              <a:buNone/>
            </a:pPr>
            <a:endParaRPr lang="ru-RU" sz="2400" dirty="0"/>
          </a:p>
          <a:p>
            <a:r>
              <a:rPr lang="ru-RU" sz="2400" dirty="0"/>
              <a:t>    Аутогенная релаксация по Шульцу осваивается за 3 месяца, ежедневных 10-30 минутных занятий, на освоение стадии медитации уходит 8-12 месяцев. </a:t>
            </a:r>
          </a:p>
          <a:p>
            <a:endParaRPr lang="ru-RU" dirty="0"/>
          </a:p>
        </p:txBody>
      </p:sp>
    </p:spTree>
    <p:extLst>
      <p:ext uri="{BB962C8B-B14F-4D97-AF65-F5344CB8AC3E}">
        <p14:creationId xmlns:p14="http://schemas.microsoft.com/office/powerpoint/2010/main" val="260349372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59632" y="332656"/>
            <a:ext cx="7272808" cy="1143000"/>
          </a:xfrm>
        </p:spPr>
        <p:txBody>
          <a:bodyPr>
            <a:normAutofit/>
          </a:bodyPr>
          <a:lstStyle/>
          <a:p>
            <a:pPr marL="0" indent="0" algn="ctr">
              <a:buNone/>
            </a:pPr>
            <a:r>
              <a:rPr lang="ru-RU" sz="2800" b="1" dirty="0">
                <a:solidFill>
                  <a:schemeClr val="accent1"/>
                </a:solidFill>
              </a:rPr>
              <a:t>Шесть стадий аутогенной релаксации</a:t>
            </a:r>
          </a:p>
        </p:txBody>
      </p:sp>
      <p:sp>
        <p:nvSpPr>
          <p:cNvPr id="3" name="Объект 2"/>
          <p:cNvSpPr>
            <a:spLocks noGrp="1"/>
          </p:cNvSpPr>
          <p:nvPr>
            <p:ph sz="quarter" idx="13"/>
          </p:nvPr>
        </p:nvSpPr>
        <p:spPr>
          <a:xfrm>
            <a:off x="611560" y="1340768"/>
            <a:ext cx="8116804" cy="4752528"/>
          </a:xfrm>
        </p:spPr>
        <p:txBody>
          <a:bodyPr>
            <a:normAutofit/>
          </a:bodyPr>
          <a:lstStyle/>
          <a:p>
            <a:pPr marL="502920" lvl="0" indent="-457200">
              <a:buFont typeface="+mj-lt"/>
              <a:buAutoNum type="arabicPeriod"/>
            </a:pPr>
            <a:r>
              <a:rPr lang="ru-RU" dirty="0"/>
              <a:t>концентрация на ощущении </a:t>
            </a:r>
            <a:r>
              <a:rPr lang="ru-RU" b="1" dirty="0"/>
              <a:t>тяжести в руках и ногах</a:t>
            </a:r>
            <a:r>
              <a:rPr lang="ru-RU" dirty="0"/>
              <a:t> (начинайте с той руки или ноги, которая ощущается в данный момент более тяжелой);</a:t>
            </a:r>
          </a:p>
          <a:p>
            <a:pPr marL="502920" lvl="0" indent="-457200">
              <a:buFont typeface="+mj-lt"/>
              <a:buAutoNum type="arabicPeriod"/>
            </a:pPr>
            <a:r>
              <a:rPr lang="ru-RU" dirty="0"/>
              <a:t>концентрация на ощущении </a:t>
            </a:r>
            <a:r>
              <a:rPr lang="ru-RU" b="1" dirty="0"/>
              <a:t>тепла в руках и ногах</a:t>
            </a:r>
            <a:r>
              <a:rPr lang="ru-RU" dirty="0"/>
              <a:t> (начинайте с  той руки или ноги, которая ощущается в данный момент более тяжелой);</a:t>
            </a:r>
          </a:p>
          <a:p>
            <a:pPr marL="502920" lvl="0" indent="-457200">
              <a:buFont typeface="+mj-lt"/>
              <a:buAutoNum type="arabicPeriod"/>
            </a:pPr>
            <a:r>
              <a:rPr lang="ru-RU" dirty="0"/>
              <a:t>концентрация на ощущении </a:t>
            </a:r>
            <a:r>
              <a:rPr lang="ru-RU" b="1" dirty="0"/>
              <a:t>тепла в районе сердца</a:t>
            </a:r>
            <a:r>
              <a:rPr lang="ru-RU" dirty="0"/>
              <a:t>;</a:t>
            </a:r>
          </a:p>
          <a:p>
            <a:pPr marL="502920" lvl="0" indent="-457200">
              <a:buFont typeface="+mj-lt"/>
              <a:buAutoNum type="arabicPeriod"/>
            </a:pPr>
            <a:r>
              <a:rPr lang="ru-RU" b="1" dirty="0"/>
              <a:t>концентрация на дыхании</a:t>
            </a:r>
            <a:r>
              <a:rPr lang="ru-RU" dirty="0"/>
              <a:t>;</a:t>
            </a:r>
          </a:p>
          <a:p>
            <a:pPr marL="502920" lvl="0" indent="-457200">
              <a:buFont typeface="+mj-lt"/>
              <a:buAutoNum type="arabicPeriod"/>
            </a:pPr>
            <a:r>
              <a:rPr lang="ru-RU" dirty="0"/>
              <a:t>концентрация на ощущении </a:t>
            </a:r>
            <a:r>
              <a:rPr lang="ru-RU" b="1" dirty="0"/>
              <a:t>тепла в области живота</a:t>
            </a:r>
            <a:r>
              <a:rPr lang="ru-RU" dirty="0"/>
              <a:t>;</a:t>
            </a:r>
          </a:p>
          <a:p>
            <a:pPr marL="502920" indent="-457200">
              <a:buFont typeface="+mj-lt"/>
              <a:buAutoNum type="arabicPeriod"/>
            </a:pPr>
            <a:r>
              <a:rPr lang="ru-RU" dirty="0"/>
              <a:t>концентрация на ощущении </a:t>
            </a:r>
            <a:r>
              <a:rPr lang="ru-RU" b="1" dirty="0"/>
              <a:t>прохлады в области лба</a:t>
            </a:r>
            <a:endParaRPr lang="ru-RU" dirty="0"/>
          </a:p>
        </p:txBody>
      </p:sp>
    </p:spTree>
    <p:extLst>
      <p:ext uri="{BB962C8B-B14F-4D97-AF65-F5344CB8AC3E}">
        <p14:creationId xmlns:p14="http://schemas.microsoft.com/office/powerpoint/2010/main" val="18616355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95536" y="332656"/>
            <a:ext cx="8229600" cy="652934"/>
          </a:xfrm>
        </p:spPr>
        <p:txBody>
          <a:bodyPr>
            <a:normAutofit fontScale="90000"/>
          </a:bodyPr>
          <a:lstStyle/>
          <a:p>
            <a:pPr marL="0" indent="0" algn="ctr">
              <a:buNone/>
            </a:pPr>
            <a:r>
              <a:rPr lang="ru-RU" sz="2400" b="1" dirty="0">
                <a:solidFill>
                  <a:schemeClr val="accent1"/>
                </a:solidFill>
              </a:rPr>
              <a:t>Шесть стадий аутогенной релаксации</a:t>
            </a:r>
            <a:br>
              <a:rPr lang="ru-RU" sz="2400" b="1" dirty="0">
                <a:solidFill>
                  <a:schemeClr val="accent1"/>
                </a:solidFill>
              </a:rPr>
            </a:br>
            <a:r>
              <a:rPr lang="ru-RU" sz="2400" dirty="0">
                <a:solidFill>
                  <a:schemeClr val="accent1"/>
                </a:solidFill>
              </a:rPr>
              <a:t>(по классике жанра)</a:t>
            </a:r>
          </a:p>
        </p:txBody>
      </p:sp>
      <p:sp>
        <p:nvSpPr>
          <p:cNvPr id="3" name="Объект 2"/>
          <p:cNvSpPr>
            <a:spLocks noGrp="1"/>
          </p:cNvSpPr>
          <p:nvPr>
            <p:ph sz="quarter" idx="13"/>
          </p:nvPr>
        </p:nvSpPr>
        <p:spPr>
          <a:xfrm>
            <a:off x="457200" y="1124744"/>
            <a:ext cx="8229600" cy="5001419"/>
          </a:xfrm>
        </p:spPr>
        <p:txBody>
          <a:bodyPr>
            <a:normAutofit fontScale="62500" lnSpcReduction="20000"/>
          </a:bodyPr>
          <a:lstStyle/>
          <a:p>
            <a:r>
              <a:rPr lang="ru-RU" i="1" dirty="0"/>
              <a:t>Стадия 1: </a:t>
            </a:r>
            <a:r>
              <a:rPr lang="ru-RU" i="1" dirty="0">
                <a:solidFill>
                  <a:srgbClr val="FF0000"/>
                </a:solidFill>
              </a:rPr>
              <a:t>Тяжесть</a:t>
            </a:r>
            <a:r>
              <a:rPr lang="ru-RU" i="1" dirty="0"/>
              <a:t>. </a:t>
            </a:r>
            <a:r>
              <a:rPr lang="ru-RU" dirty="0"/>
              <a:t>Моя правая рука тяжелеет...Моя левая рука тяжелеет... Мои руки стали тяжелыми. Моя правая нога тяжелеет... Моя левая нога тяжелеет... Мои ноги стали тяжелыми. Мои руки и ноги стали тяжелыми.</a:t>
            </a:r>
          </a:p>
          <a:p>
            <a:r>
              <a:rPr lang="ru-RU" i="1" dirty="0"/>
              <a:t>Стадия 2: </a:t>
            </a:r>
            <a:r>
              <a:rPr lang="ru-RU" i="1" dirty="0">
                <a:solidFill>
                  <a:srgbClr val="FF0000"/>
                </a:solidFill>
              </a:rPr>
              <a:t>Тепло</a:t>
            </a:r>
            <a:r>
              <a:rPr lang="ru-RU" i="1" dirty="0"/>
              <a:t>.</a:t>
            </a:r>
            <a:endParaRPr lang="ru-RU" dirty="0"/>
          </a:p>
          <a:p>
            <a:r>
              <a:rPr lang="ru-RU" dirty="0"/>
              <a:t>По моей правой руке разливается тепло... По моей левой руке разливается тепло... По моим рукам разливается тепло... .  По моей правой ноге разливается тепло... По моей левой ноге разливается тепло... По моим ногам разливается тепло... </a:t>
            </a:r>
            <a:br>
              <a:rPr lang="ru-RU" dirty="0"/>
            </a:br>
            <a:r>
              <a:rPr lang="ru-RU" dirty="0"/>
              <a:t>По моим рукам и ногам разливается тепло.</a:t>
            </a:r>
          </a:p>
          <a:p>
            <a:r>
              <a:rPr lang="ru-RU" i="1" dirty="0"/>
              <a:t>Стадия 3: </a:t>
            </a:r>
            <a:r>
              <a:rPr lang="ru-RU" i="1" dirty="0">
                <a:solidFill>
                  <a:srgbClr val="FF0000"/>
                </a:solidFill>
              </a:rPr>
              <a:t>Сердце</a:t>
            </a:r>
            <a:r>
              <a:rPr lang="ru-RU" i="1" dirty="0"/>
              <a:t>, </a:t>
            </a:r>
            <a:r>
              <a:rPr lang="ru-RU" dirty="0"/>
              <a:t>Мое сердце бьется ровно и спокойно </a:t>
            </a:r>
          </a:p>
          <a:p>
            <a:r>
              <a:rPr lang="ru-RU" i="1" dirty="0"/>
              <a:t>Стадия 4: </a:t>
            </a:r>
            <a:r>
              <a:rPr lang="ru-RU" i="1" dirty="0">
                <a:solidFill>
                  <a:srgbClr val="FF0000"/>
                </a:solidFill>
              </a:rPr>
              <a:t>Дыхание</a:t>
            </a:r>
            <a:r>
              <a:rPr lang="ru-RU" i="1" dirty="0"/>
              <a:t>. </a:t>
            </a:r>
            <a:r>
              <a:rPr lang="ru-RU" dirty="0"/>
              <a:t>Мое дыхание спокойно и ровно. Я дышу абсолютно легко </a:t>
            </a:r>
          </a:p>
          <a:p>
            <a:r>
              <a:rPr lang="ru-RU" i="1" dirty="0"/>
              <a:t>Стадия 5: </a:t>
            </a:r>
            <a:r>
              <a:rPr lang="ru-RU" i="1" dirty="0">
                <a:solidFill>
                  <a:srgbClr val="FF0000"/>
                </a:solidFill>
              </a:rPr>
              <a:t>Солнечное сплетение</a:t>
            </a:r>
            <a:r>
              <a:rPr lang="ru-RU" i="1" dirty="0"/>
              <a:t>. </a:t>
            </a:r>
            <a:r>
              <a:rPr lang="ru-RU" dirty="0"/>
              <a:t>В области солнечного сплетения разливается тепло </a:t>
            </a:r>
          </a:p>
          <a:p>
            <a:r>
              <a:rPr lang="ru-RU" i="1" dirty="0"/>
              <a:t>Стадия 6: </a:t>
            </a:r>
            <a:r>
              <a:rPr lang="ru-RU" i="1" dirty="0">
                <a:solidFill>
                  <a:srgbClr val="FF0000"/>
                </a:solidFill>
              </a:rPr>
              <a:t>Лоб</a:t>
            </a:r>
            <a:r>
              <a:rPr lang="ru-RU" i="1" dirty="0"/>
              <a:t>. </a:t>
            </a:r>
            <a:r>
              <a:rPr lang="ru-RU" dirty="0"/>
              <a:t>Мой лоб прохладен </a:t>
            </a:r>
          </a:p>
          <a:p>
            <a:endParaRPr lang="ru-RU" dirty="0"/>
          </a:p>
          <a:p>
            <a:endParaRPr lang="ru-RU" dirty="0"/>
          </a:p>
          <a:p>
            <a:pPr marL="45720" indent="0" algn="ctr">
              <a:buNone/>
            </a:pPr>
            <a:r>
              <a:rPr lang="ru-RU" sz="3100" dirty="0">
                <a:solidFill>
                  <a:srgbClr val="0070C0"/>
                </a:solidFill>
              </a:rPr>
              <a:t>И после этого медитация/визуализация.</a:t>
            </a:r>
          </a:p>
          <a:p>
            <a:pPr marL="45720" indent="0" algn="ctr">
              <a:buNone/>
            </a:pPr>
            <a:endParaRPr lang="ru-RU" sz="3100" dirty="0">
              <a:solidFill>
                <a:srgbClr val="0070C0"/>
              </a:solidFill>
            </a:endParaRPr>
          </a:p>
          <a:p>
            <a:pPr marL="45720" indent="0" algn="ctr">
              <a:buNone/>
            </a:pPr>
            <a:r>
              <a:rPr lang="ru-RU" sz="3100" dirty="0">
                <a:solidFill>
                  <a:srgbClr val="0070C0"/>
                </a:solidFill>
              </a:rPr>
              <a:t>Здесь работа с ОБРАЗАМИ!</a:t>
            </a:r>
          </a:p>
          <a:p>
            <a:pPr marL="45720" indent="0" algn="ctr">
              <a:buNone/>
            </a:pPr>
            <a:endParaRPr lang="ru-RU" sz="3100" dirty="0">
              <a:solidFill>
                <a:srgbClr val="0070C0"/>
              </a:solidFill>
            </a:endParaRPr>
          </a:p>
          <a:p>
            <a:pPr marL="45720" indent="0" algn="ctr">
              <a:buNone/>
            </a:pPr>
            <a:r>
              <a:rPr lang="ru-RU" sz="3100" dirty="0">
                <a:solidFill>
                  <a:srgbClr val="0070C0"/>
                </a:solidFill>
              </a:rPr>
              <a:t>То есть у нас получается ДВА В ОДНОМ – релаксация и медитация!</a:t>
            </a:r>
          </a:p>
        </p:txBody>
      </p:sp>
    </p:spTree>
    <p:extLst>
      <p:ext uri="{BB962C8B-B14F-4D97-AF65-F5344CB8AC3E}">
        <p14:creationId xmlns:p14="http://schemas.microsoft.com/office/powerpoint/2010/main" val="70143313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39552" y="404664"/>
            <a:ext cx="8424935" cy="1143000"/>
          </a:xfrm>
        </p:spPr>
        <p:txBody>
          <a:bodyPr/>
          <a:lstStyle/>
          <a:p>
            <a:pPr marL="0" indent="0" algn="ctr">
              <a:buNone/>
            </a:pPr>
            <a:r>
              <a:rPr lang="ru-RU" sz="2000" dirty="0">
                <a:solidFill>
                  <a:srgbClr val="0070C0"/>
                </a:solidFill>
                <a:latin typeface="Verdana"/>
                <a:cs typeface="Verdana"/>
              </a:rPr>
              <a:t>Что испытывает человек, находящийся в релаксации?  </a:t>
            </a:r>
            <a:r>
              <a:rPr lang="ru-RU" sz="4800" dirty="0">
                <a:latin typeface="Verdana"/>
                <a:cs typeface="Verdana"/>
              </a:rPr>
              <a:t/>
            </a:r>
            <a:br>
              <a:rPr lang="ru-RU" sz="4800" dirty="0">
                <a:latin typeface="Verdana"/>
                <a:cs typeface="Verdana"/>
              </a:rPr>
            </a:br>
            <a:endParaRPr lang="ru-RU" dirty="0"/>
          </a:p>
        </p:txBody>
      </p:sp>
      <p:sp>
        <p:nvSpPr>
          <p:cNvPr id="3" name="Объект 2"/>
          <p:cNvSpPr>
            <a:spLocks noGrp="1"/>
          </p:cNvSpPr>
          <p:nvPr>
            <p:ph sz="quarter" idx="13"/>
          </p:nvPr>
        </p:nvSpPr>
        <p:spPr>
          <a:xfrm>
            <a:off x="1115616" y="1412776"/>
            <a:ext cx="6400800" cy="3474720"/>
          </a:xfrm>
        </p:spPr>
        <p:txBody>
          <a:bodyPr/>
          <a:lstStyle/>
          <a:p>
            <a:r>
              <a:rPr lang="ru-RU" sz="2000" b="1" dirty="0" smtClean="0">
                <a:latin typeface="Verdana"/>
                <a:cs typeface="Verdana"/>
              </a:rPr>
              <a:t>Тепло</a:t>
            </a:r>
            <a:r>
              <a:rPr lang="ru-RU" sz="2000" dirty="0" smtClean="0">
                <a:latin typeface="Verdana"/>
                <a:cs typeface="Verdana"/>
              </a:rPr>
              <a:t> </a:t>
            </a:r>
            <a:r>
              <a:rPr lang="ru-RU" sz="2000" dirty="0">
                <a:latin typeface="Verdana"/>
                <a:cs typeface="Verdana"/>
              </a:rPr>
              <a:t>(приливает кровь). </a:t>
            </a:r>
          </a:p>
          <a:p>
            <a:r>
              <a:rPr lang="ru-RU" sz="2000" b="1" dirty="0">
                <a:latin typeface="Verdana"/>
                <a:cs typeface="Verdana"/>
              </a:rPr>
              <a:t>Тяжесть. </a:t>
            </a:r>
          </a:p>
          <a:p>
            <a:r>
              <a:rPr lang="ru-RU" sz="2000" b="1" dirty="0">
                <a:latin typeface="Verdana"/>
                <a:cs typeface="Verdana"/>
              </a:rPr>
              <a:t>Легкость</a:t>
            </a:r>
            <a:r>
              <a:rPr lang="ru-RU" sz="2000" dirty="0">
                <a:latin typeface="Verdana"/>
                <a:cs typeface="Verdana"/>
              </a:rPr>
              <a:t> (отсутствие переживание тела). </a:t>
            </a:r>
            <a:r>
              <a:rPr lang="ru-RU" sz="2000" b="1" dirty="0">
                <a:latin typeface="Verdana"/>
                <a:cs typeface="Verdana"/>
              </a:rPr>
              <a:t>Расслабленность. </a:t>
            </a:r>
          </a:p>
          <a:p>
            <a:r>
              <a:rPr lang="ru-RU" sz="2000" b="1" dirty="0">
                <a:latin typeface="Verdana"/>
                <a:cs typeface="Verdana"/>
              </a:rPr>
              <a:t>Спокойствие.</a:t>
            </a:r>
            <a:endParaRPr lang="ru-RU" sz="2000" dirty="0">
              <a:latin typeface="Verdana"/>
              <a:cs typeface="Verdana"/>
            </a:endParaRPr>
          </a:p>
          <a:p>
            <a:pPr marL="45720" indent="0">
              <a:buNone/>
            </a:pPr>
            <a:endParaRPr lang="ru-RU" dirty="0"/>
          </a:p>
        </p:txBody>
      </p:sp>
    </p:spTree>
    <p:extLst>
      <p:ext uri="{BB962C8B-B14F-4D97-AF65-F5344CB8AC3E}">
        <p14:creationId xmlns:p14="http://schemas.microsoft.com/office/powerpoint/2010/main" val="360920720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619672" y="2348880"/>
            <a:ext cx="6512511" cy="1143000"/>
          </a:xfrm>
        </p:spPr>
        <p:txBody>
          <a:bodyPr/>
          <a:lstStyle/>
          <a:p>
            <a:pPr marL="0" indent="0" algn="ctr">
              <a:buNone/>
            </a:pPr>
            <a:r>
              <a:rPr lang="ru-RU" sz="3600" dirty="0">
                <a:solidFill>
                  <a:srgbClr val="C00000"/>
                </a:solidFill>
              </a:rPr>
              <a:t>«Спокойное место»</a:t>
            </a:r>
          </a:p>
        </p:txBody>
      </p:sp>
    </p:spTree>
    <p:extLst>
      <p:ext uri="{BB962C8B-B14F-4D97-AF65-F5344CB8AC3E}">
        <p14:creationId xmlns:p14="http://schemas.microsoft.com/office/powerpoint/2010/main" val="235175767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79740" y="188640"/>
            <a:ext cx="6512511" cy="648072"/>
          </a:xfrm>
        </p:spPr>
        <p:txBody>
          <a:bodyPr/>
          <a:lstStyle/>
          <a:p>
            <a:pPr marL="0" indent="0" algn="ctr">
              <a:buNone/>
            </a:pPr>
            <a:r>
              <a:rPr lang="ru-RU" sz="2400" dirty="0">
                <a:solidFill>
                  <a:srgbClr val="0070C0"/>
                </a:solidFill>
              </a:rPr>
              <a:t>Итак, ключевые </a:t>
            </a:r>
            <a:r>
              <a:rPr lang="ru-RU" sz="2400" dirty="0" smtClean="0">
                <a:solidFill>
                  <a:srgbClr val="0070C0"/>
                </a:solidFill>
              </a:rPr>
              <a:t>приемы при релаксации </a:t>
            </a:r>
            <a:endParaRPr lang="ru-RU" sz="2400" dirty="0">
              <a:solidFill>
                <a:srgbClr val="0070C0"/>
              </a:solidFill>
            </a:endParaRPr>
          </a:p>
        </p:txBody>
      </p:sp>
      <p:sp>
        <p:nvSpPr>
          <p:cNvPr id="3" name="Объект 2"/>
          <p:cNvSpPr>
            <a:spLocks noGrp="1"/>
          </p:cNvSpPr>
          <p:nvPr>
            <p:ph sz="quarter" idx="13"/>
          </p:nvPr>
        </p:nvSpPr>
        <p:spPr>
          <a:xfrm>
            <a:off x="395535" y="980728"/>
            <a:ext cx="8280920" cy="5040560"/>
          </a:xfrm>
        </p:spPr>
        <p:txBody>
          <a:bodyPr>
            <a:normAutofit fontScale="62500" lnSpcReduction="20000"/>
          </a:bodyPr>
          <a:lstStyle/>
          <a:p>
            <a:pPr marL="45720" indent="0">
              <a:buNone/>
            </a:pPr>
            <a:r>
              <a:rPr lang="ru-RU" dirty="0"/>
              <a:t>1. СОСТОЯНИЕ! Сам </a:t>
            </a:r>
            <a:r>
              <a:rPr lang="ru-RU" dirty="0" err="1"/>
              <a:t>коуч</a:t>
            </a:r>
            <a:r>
              <a:rPr lang="ru-RU" dirty="0"/>
              <a:t> находится в спокойном состоянии. </a:t>
            </a:r>
          </a:p>
          <a:p>
            <a:pPr marL="45720" indent="0">
              <a:buNone/>
            </a:pPr>
            <a:r>
              <a:rPr lang="ru-RU" dirty="0"/>
              <a:t>Одна его часть сопровождает процесс, делает заметки,  говорит/задает вопросы. Она сфокусирована</a:t>
            </a:r>
          </a:p>
          <a:p>
            <a:pPr marL="45720" indent="0">
              <a:buNone/>
            </a:pPr>
            <a:r>
              <a:rPr lang="ru-RU" dirty="0"/>
              <a:t>Другая – расфокусирована, в состоянии потока</a:t>
            </a:r>
          </a:p>
          <a:p>
            <a:pPr marL="45720" indent="0">
              <a:buNone/>
            </a:pPr>
            <a:endParaRPr lang="ru-RU" dirty="0"/>
          </a:p>
          <a:p>
            <a:pPr marL="45720" indent="0">
              <a:buNone/>
            </a:pPr>
            <a:r>
              <a:rPr lang="ru-RU" dirty="0"/>
              <a:t>2. </a:t>
            </a:r>
            <a:r>
              <a:rPr lang="ru-RU" dirty="0" err="1"/>
              <a:t>Коуч</a:t>
            </a:r>
            <a:r>
              <a:rPr lang="ru-RU" dirty="0"/>
              <a:t> не создает «шум» и не мешает своей буйной энергией клиенту соединиться с собой (не бежит, не тараторит, не частит вопросами)</a:t>
            </a:r>
          </a:p>
          <a:p>
            <a:pPr marL="45720" indent="0">
              <a:buNone/>
            </a:pPr>
            <a:r>
              <a:rPr lang="ru-RU" dirty="0"/>
              <a:t>- </a:t>
            </a:r>
            <a:r>
              <a:rPr lang="ru-RU" dirty="0" err="1"/>
              <a:t>Коуч</a:t>
            </a:r>
            <a:r>
              <a:rPr lang="ru-RU" dirty="0"/>
              <a:t> говорит замедленно. Есть паузы</a:t>
            </a:r>
          </a:p>
          <a:p>
            <a:pPr>
              <a:buFontTx/>
              <a:buChar char="-"/>
            </a:pPr>
            <a:r>
              <a:rPr lang="ru-RU" dirty="0"/>
              <a:t>Голос более тихий и более низкий, чем обычно</a:t>
            </a:r>
          </a:p>
          <a:p>
            <a:pPr>
              <a:buFontTx/>
              <a:buChar char="-"/>
            </a:pPr>
            <a:r>
              <a:rPr lang="ru-RU" dirty="0"/>
              <a:t>Формулировки максимально эластичные </a:t>
            </a:r>
          </a:p>
          <a:p>
            <a:pPr marL="45720" indent="0">
              <a:buNone/>
            </a:pPr>
            <a:r>
              <a:rPr lang="ru-RU" dirty="0"/>
              <a:t>(много слов с неопределенным значением, дающие возможность клиенту создать свою внутреннюю реальность): </a:t>
            </a:r>
          </a:p>
          <a:p>
            <a:pPr marL="45720" indent="0">
              <a:buNone/>
            </a:pPr>
            <a:r>
              <a:rPr lang="ru-RU" dirty="0"/>
              <a:t>возможно, может быть, </a:t>
            </a:r>
          </a:p>
          <a:p>
            <a:pPr marL="45720" indent="0">
              <a:buNone/>
            </a:pPr>
            <a:r>
              <a:rPr lang="ru-RU" dirty="0"/>
              <a:t>сейчас может </a:t>
            </a:r>
            <a:r>
              <a:rPr lang="ru-RU" dirty="0" err="1"/>
              <a:t>придти</a:t>
            </a:r>
            <a:r>
              <a:rPr lang="ru-RU" dirty="0"/>
              <a:t> все что угодно, потому что это ваш мир, дайте себе столько времени, сколько вам нужно,</a:t>
            </a:r>
          </a:p>
          <a:p>
            <a:pPr marL="45720" indent="0">
              <a:buNone/>
            </a:pPr>
            <a:r>
              <a:rPr lang="ru-RU" dirty="0"/>
              <a:t>Найдите возможность завершить этот процесс </a:t>
            </a:r>
          </a:p>
          <a:p>
            <a:pPr marL="45720" indent="0">
              <a:buNone/>
            </a:pPr>
            <a:endParaRPr lang="ru-RU" dirty="0"/>
          </a:p>
          <a:p>
            <a:pPr marL="45720" indent="0">
              <a:buNone/>
            </a:pPr>
            <a:r>
              <a:rPr lang="ru-RU" dirty="0"/>
              <a:t>!!! Фокус внимания </a:t>
            </a:r>
            <a:r>
              <a:rPr lang="ru-RU" dirty="0" err="1"/>
              <a:t>коуча</a:t>
            </a:r>
            <a:r>
              <a:rPr lang="ru-RU" dirty="0"/>
              <a:t> на дыхании, </a:t>
            </a:r>
            <a:r>
              <a:rPr lang="ru-RU" dirty="0" err="1"/>
              <a:t>микродвижениях</a:t>
            </a:r>
            <a:r>
              <a:rPr lang="ru-RU" dirty="0"/>
              <a:t>, мимике</a:t>
            </a:r>
          </a:p>
          <a:p>
            <a:pPr marL="45720" indent="0">
              <a:buNone/>
            </a:pPr>
            <a:r>
              <a:rPr lang="ru-RU" dirty="0"/>
              <a:t>!!! </a:t>
            </a:r>
            <a:r>
              <a:rPr lang="ru-RU" dirty="0" err="1"/>
              <a:t>Коуч</a:t>
            </a:r>
            <a:r>
              <a:rPr lang="ru-RU" dirty="0"/>
              <a:t> дает возможность наполниться клиенту нужным состоянием</a:t>
            </a:r>
          </a:p>
          <a:p>
            <a:pPr marL="45720" indent="0">
              <a:buNone/>
            </a:pPr>
            <a:endParaRPr lang="ru-RU" dirty="0"/>
          </a:p>
          <a:p>
            <a:pPr marL="45720" indent="0">
              <a:buNone/>
            </a:pPr>
            <a:r>
              <a:rPr lang="ru-RU" dirty="0"/>
              <a:t>3. «Заземление» в конце</a:t>
            </a:r>
          </a:p>
        </p:txBody>
      </p:sp>
    </p:spTree>
    <p:extLst>
      <p:ext uri="{BB962C8B-B14F-4D97-AF65-F5344CB8AC3E}">
        <p14:creationId xmlns:p14="http://schemas.microsoft.com/office/powerpoint/2010/main" val="47242539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87624" y="2564904"/>
            <a:ext cx="7232591" cy="1143000"/>
          </a:xfrm>
        </p:spPr>
        <p:txBody>
          <a:bodyPr/>
          <a:lstStyle/>
          <a:p>
            <a:pPr marL="0" indent="0" algn="ctr">
              <a:buNone/>
            </a:pPr>
            <a:r>
              <a:rPr lang="ru-RU" sz="3600" dirty="0">
                <a:solidFill>
                  <a:srgbClr val="C00000"/>
                </a:solidFill>
              </a:rPr>
              <a:t>Техника «План от мечты</a:t>
            </a:r>
            <a:r>
              <a:rPr lang="ru-RU" sz="3600" dirty="0" smtClean="0">
                <a:solidFill>
                  <a:srgbClr val="C00000"/>
                </a:solidFill>
              </a:rPr>
              <a:t>»</a:t>
            </a:r>
            <a:br>
              <a:rPr lang="ru-RU" sz="3600" dirty="0" smtClean="0">
                <a:solidFill>
                  <a:srgbClr val="C00000"/>
                </a:solidFill>
              </a:rPr>
            </a:br>
            <a:r>
              <a:rPr lang="ru-RU" sz="3600" dirty="0" smtClean="0">
                <a:solidFill>
                  <a:srgbClr val="C00000"/>
                </a:solidFill>
              </a:rPr>
              <a:t>(самостоятельное изучение)</a:t>
            </a:r>
            <a:endParaRPr lang="ru-RU" sz="3600" dirty="0">
              <a:solidFill>
                <a:srgbClr val="C00000"/>
              </a:solidFill>
            </a:endParaRPr>
          </a:p>
        </p:txBody>
      </p:sp>
    </p:spTree>
    <p:extLst>
      <p:ext uri="{BB962C8B-B14F-4D97-AF65-F5344CB8AC3E}">
        <p14:creationId xmlns:p14="http://schemas.microsoft.com/office/powerpoint/2010/main" val="138839820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403648" y="188640"/>
            <a:ext cx="6512511" cy="790024"/>
          </a:xfrm>
        </p:spPr>
        <p:txBody>
          <a:bodyPr/>
          <a:lstStyle/>
          <a:p>
            <a:pPr marL="0" indent="0" algn="ctr">
              <a:buNone/>
            </a:pPr>
            <a:r>
              <a:rPr lang="ru-RU" sz="2800" dirty="0" smtClean="0">
                <a:solidFill>
                  <a:srgbClr val="0070C0"/>
                </a:solidFill>
              </a:rPr>
              <a:t>План и мечта: отличие</a:t>
            </a:r>
            <a:endParaRPr lang="ru-RU" sz="2800" dirty="0">
              <a:solidFill>
                <a:srgbClr val="0070C0"/>
              </a:solidFill>
            </a:endParaRPr>
          </a:p>
        </p:txBody>
      </p:sp>
      <p:pic>
        <p:nvPicPr>
          <p:cNvPr id="5122" name="Picture 2" descr="Техника план от мечты"/>
          <p:cNvPicPr>
            <a:picLocks noGrp="1" noChangeAspect="1" noChangeArrowheads="1"/>
          </p:cNvPicPr>
          <p:nvPr>
            <p:ph sz="quarter" idx="13"/>
          </p:nvPr>
        </p:nvPicPr>
        <p:blipFill>
          <a:blip r:embed="rId2">
            <a:extLst>
              <a:ext uri="{28A0092B-C50C-407E-A947-70E740481C1C}">
                <a14:useLocalDpi xmlns:a14="http://schemas.microsoft.com/office/drawing/2010/main" val="0"/>
              </a:ext>
            </a:extLst>
          </a:blip>
          <a:srcRect/>
          <a:stretch>
            <a:fillRect/>
          </a:stretch>
        </p:blipFill>
        <p:spPr bwMode="auto">
          <a:xfrm>
            <a:off x="899592" y="978664"/>
            <a:ext cx="7730228" cy="49706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074326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Техника план от мечты"/>
          <p:cNvPicPr>
            <a:picLocks noGrp="1" noChangeAspect="1" noChangeArrowheads="1"/>
          </p:cNvPicPr>
          <p:nvPr>
            <p:ph sz="quarter" idx="13"/>
          </p:nvPr>
        </p:nvPicPr>
        <p:blipFill>
          <a:blip r:embed="rId2">
            <a:extLst>
              <a:ext uri="{28A0092B-C50C-407E-A947-70E740481C1C}">
                <a14:useLocalDpi xmlns:a14="http://schemas.microsoft.com/office/drawing/2010/main" val="0"/>
              </a:ext>
            </a:extLst>
          </a:blip>
          <a:srcRect/>
          <a:stretch>
            <a:fillRect/>
          </a:stretch>
        </p:blipFill>
        <p:spPr bwMode="auto">
          <a:xfrm>
            <a:off x="971600" y="731838"/>
            <a:ext cx="7550091" cy="50014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134964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55576" y="476672"/>
            <a:ext cx="8208911" cy="785024"/>
          </a:xfrm>
        </p:spPr>
        <p:txBody>
          <a:bodyPr/>
          <a:lstStyle/>
          <a:p>
            <a:pPr marL="0" indent="0" algn="ctr">
              <a:buNone/>
            </a:pPr>
            <a:r>
              <a:rPr lang="ru-RU" sz="2400" dirty="0" smtClean="0">
                <a:solidFill>
                  <a:srgbClr val="0070C0"/>
                </a:solidFill>
              </a:rPr>
              <a:t>Вариант</a:t>
            </a:r>
            <a:r>
              <a:rPr lang="ru-RU" sz="2400" dirty="0" smtClean="0">
                <a:solidFill>
                  <a:srgbClr val="0070C0"/>
                </a:solidFill>
              </a:rPr>
              <a:t> </a:t>
            </a:r>
            <a:r>
              <a:rPr lang="ru-RU" sz="2400" dirty="0" smtClean="0">
                <a:solidFill>
                  <a:srgbClr val="0070C0"/>
                </a:solidFill>
              </a:rPr>
              <a:t>№</a:t>
            </a:r>
            <a:r>
              <a:rPr lang="ru-RU" sz="2400" dirty="0" smtClean="0">
                <a:solidFill>
                  <a:srgbClr val="0070C0"/>
                </a:solidFill>
              </a:rPr>
              <a:t>1 (без релаксации). </a:t>
            </a:r>
            <a:r>
              <a:rPr lang="ru-RU" sz="2400" dirty="0" smtClean="0">
                <a:solidFill>
                  <a:srgbClr val="0070C0"/>
                </a:solidFill>
              </a:rPr>
              <a:t>«План от мечты»</a:t>
            </a:r>
            <a:endParaRPr lang="ru-RU" sz="2400" dirty="0">
              <a:solidFill>
                <a:srgbClr val="0070C0"/>
              </a:solidFill>
            </a:endParaRPr>
          </a:p>
        </p:txBody>
      </p:sp>
      <p:sp>
        <p:nvSpPr>
          <p:cNvPr id="3" name="Объект 2"/>
          <p:cNvSpPr>
            <a:spLocks noGrp="1"/>
          </p:cNvSpPr>
          <p:nvPr>
            <p:ph sz="quarter" idx="13"/>
          </p:nvPr>
        </p:nvSpPr>
        <p:spPr>
          <a:xfrm>
            <a:off x="755576" y="1124744"/>
            <a:ext cx="7776863" cy="4680520"/>
          </a:xfrm>
        </p:spPr>
        <p:txBody>
          <a:bodyPr>
            <a:normAutofit fontScale="92500" lnSpcReduction="10000"/>
          </a:bodyPr>
          <a:lstStyle/>
          <a:p>
            <a:r>
              <a:rPr lang="ru-RU" dirty="0"/>
              <a:t>1. </a:t>
            </a:r>
            <a:r>
              <a:rPr lang="ru-RU" dirty="0" smtClean="0"/>
              <a:t>Взять </a:t>
            </a:r>
            <a:r>
              <a:rPr lang="ru-RU" dirty="0"/>
              <a:t>свой проект и </a:t>
            </a:r>
            <a:r>
              <a:rPr lang="ru-RU" dirty="0" smtClean="0"/>
              <a:t>описать, </a:t>
            </a:r>
            <a:r>
              <a:rPr lang="ru-RU" dirty="0"/>
              <a:t>что там должно быть</a:t>
            </a:r>
          </a:p>
          <a:p>
            <a:r>
              <a:rPr lang="ru-RU" dirty="0"/>
              <a:t>2. Берете временной промежуток, например год</a:t>
            </a:r>
          </a:p>
          <a:p>
            <a:r>
              <a:rPr lang="ru-RU" dirty="0"/>
              <a:t>3. Нужно нарисовать таблицу, где в шапке будут интервалы в течение года (3 месяца, полгода, 9 </a:t>
            </a:r>
            <a:r>
              <a:rPr lang="ru-RU" dirty="0" smtClean="0"/>
              <a:t>месяцев, год, 3 года) В ЗАВИСИМОСТИ ОТ МАСШТАБА цели!!!</a:t>
            </a:r>
          </a:p>
          <a:p>
            <a:r>
              <a:rPr lang="ru-RU" dirty="0" smtClean="0"/>
              <a:t>4</a:t>
            </a:r>
            <a:r>
              <a:rPr lang="ru-RU" dirty="0"/>
              <a:t>. Сбоку (по вертикали) вы выписываете все критерии, по которым будет измеряться успех проекта. Качественные и количественные показатели</a:t>
            </a:r>
          </a:p>
          <a:p>
            <a:r>
              <a:rPr lang="ru-RU" dirty="0"/>
              <a:t>5. Далее вы задаёте себе вопрос: «Что в идеале я хочу получить через год от этого проекта?», - вы заполняете последний столбик «год», проходя по всем критериям, которые выписали</a:t>
            </a:r>
          </a:p>
          <a:p>
            <a:r>
              <a:rPr lang="ru-RU" dirty="0"/>
              <a:t>6. Так вы идёте от обратного, сначала прописываете год по критериям, потому 9 месяцев, полгода и затем 3 месяца</a:t>
            </a:r>
          </a:p>
          <a:p>
            <a:endParaRPr lang="ru-RU" dirty="0"/>
          </a:p>
        </p:txBody>
      </p:sp>
    </p:spTree>
    <p:extLst>
      <p:ext uri="{BB962C8B-B14F-4D97-AF65-F5344CB8AC3E}">
        <p14:creationId xmlns:p14="http://schemas.microsoft.com/office/powerpoint/2010/main" val="376668718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a:xfrm>
            <a:off x="611559" y="548680"/>
            <a:ext cx="7787257" cy="1143000"/>
          </a:xfrm>
        </p:spPr>
        <p:txBody>
          <a:bodyPr/>
          <a:lstStyle/>
          <a:p>
            <a:pPr marL="0" indent="0" algn="ctr">
              <a:buNone/>
            </a:pPr>
            <a:r>
              <a:rPr lang="ru-RU" sz="2100" dirty="0" smtClean="0">
                <a:solidFill>
                  <a:srgbClr val="0070C0"/>
                </a:solidFill>
                <a:latin typeface="Verdana"/>
                <a:cs typeface="Verdana"/>
              </a:rPr>
              <a:t>Вариант</a:t>
            </a:r>
            <a:r>
              <a:rPr lang="ru-RU" sz="2100" dirty="0" smtClean="0">
                <a:solidFill>
                  <a:srgbClr val="0070C0"/>
                </a:solidFill>
                <a:latin typeface="Verdana"/>
                <a:cs typeface="Verdana"/>
              </a:rPr>
              <a:t> </a:t>
            </a:r>
            <a:r>
              <a:rPr lang="ru-RU" sz="2100" dirty="0" smtClean="0">
                <a:solidFill>
                  <a:srgbClr val="0070C0"/>
                </a:solidFill>
                <a:latin typeface="Verdana"/>
                <a:cs typeface="Verdana"/>
              </a:rPr>
              <a:t>№ 2 </a:t>
            </a:r>
            <a:r>
              <a:rPr lang="ru-RU" sz="2100" dirty="0">
                <a:solidFill>
                  <a:srgbClr val="0070C0"/>
                </a:solidFill>
                <a:latin typeface="Verdana"/>
                <a:cs typeface="Verdana"/>
              </a:rPr>
              <a:t> «План от мечты</a:t>
            </a:r>
            <a:r>
              <a:rPr lang="ru-RU" sz="2100" dirty="0" smtClean="0">
                <a:solidFill>
                  <a:srgbClr val="0070C0"/>
                </a:solidFill>
                <a:latin typeface="Verdana"/>
                <a:cs typeface="Verdana"/>
              </a:rPr>
              <a:t>» (с релаксацией) </a:t>
            </a:r>
            <a:r>
              <a:rPr lang="ru-RU" sz="2100" dirty="0" smtClean="0">
                <a:solidFill>
                  <a:srgbClr val="0070C0"/>
                </a:solidFill>
                <a:latin typeface="Verdana"/>
                <a:cs typeface="Verdana"/>
              </a:rPr>
              <a:t>в </a:t>
            </a:r>
            <a:r>
              <a:rPr lang="ru-RU" sz="2100" dirty="0" smtClean="0">
                <a:solidFill>
                  <a:srgbClr val="0070C0"/>
                </a:solidFill>
                <a:latin typeface="Verdana"/>
                <a:cs typeface="Verdana"/>
              </a:rPr>
              <a:t>трансформационном </a:t>
            </a:r>
            <a:r>
              <a:rPr lang="ru-RU" sz="2100" dirty="0" smtClean="0">
                <a:solidFill>
                  <a:srgbClr val="0070C0"/>
                </a:solidFill>
                <a:latin typeface="Verdana"/>
                <a:cs typeface="Verdana"/>
              </a:rPr>
              <a:t>подходе</a:t>
            </a:r>
            <a:endParaRPr lang="ru-RU" sz="2100" dirty="0">
              <a:solidFill>
                <a:srgbClr val="0070C0"/>
              </a:solidFill>
              <a:latin typeface="Verdana"/>
              <a:cs typeface="Verdana"/>
            </a:endParaRPr>
          </a:p>
        </p:txBody>
      </p:sp>
      <p:sp>
        <p:nvSpPr>
          <p:cNvPr id="3" name="Содержимое 2"/>
          <p:cNvSpPr>
            <a:spLocks noGrp="1"/>
          </p:cNvSpPr>
          <p:nvPr>
            <p:ph idx="4294967295"/>
          </p:nvPr>
        </p:nvSpPr>
        <p:spPr>
          <a:xfrm>
            <a:off x="755114" y="2169827"/>
            <a:ext cx="5638256" cy="3748762"/>
          </a:xfrm>
        </p:spPr>
        <p:txBody>
          <a:bodyPr>
            <a:normAutofit/>
          </a:bodyPr>
          <a:lstStyle/>
          <a:p>
            <a:pPr marL="0" indent="0">
              <a:buNone/>
            </a:pPr>
            <a:r>
              <a:rPr lang="ru-RU" sz="1500" dirty="0" smtClean="0">
                <a:solidFill>
                  <a:srgbClr val="000000"/>
                </a:solidFill>
                <a:latin typeface="Verdana"/>
                <a:cs typeface="Verdana"/>
              </a:rPr>
              <a:t>1.Релаксация </a:t>
            </a:r>
            <a:r>
              <a:rPr lang="ru-RU" sz="1500" dirty="0">
                <a:solidFill>
                  <a:srgbClr val="000000"/>
                </a:solidFill>
                <a:latin typeface="Verdana"/>
                <a:cs typeface="Verdana"/>
              </a:rPr>
              <a:t>+ погружение во внутренний мир.</a:t>
            </a:r>
          </a:p>
          <a:p>
            <a:pPr marL="0" indent="0">
              <a:buNone/>
            </a:pPr>
            <a:r>
              <a:rPr lang="ru-RU" sz="1500" dirty="0">
                <a:solidFill>
                  <a:srgbClr val="000000"/>
                </a:solidFill>
                <a:latin typeface="Verdana"/>
                <a:cs typeface="Verdana"/>
              </a:rPr>
              <a:t>2.Образ достижения. Представить себя в будущем на экране, достигшим всего чего хочется и полностью удовлетворённым.</a:t>
            </a:r>
          </a:p>
          <a:p>
            <a:pPr marL="0" indent="0">
              <a:buNone/>
            </a:pPr>
            <a:r>
              <a:rPr lang="ru-RU" sz="1500" dirty="0">
                <a:solidFill>
                  <a:srgbClr val="000000"/>
                </a:solidFill>
                <a:latin typeface="Verdana"/>
                <a:cs typeface="Verdana"/>
              </a:rPr>
              <a:t>3.В будущее (почувствовать себя в этом образе)</a:t>
            </a:r>
          </a:p>
          <a:p>
            <a:pPr marL="0" indent="0">
              <a:buNone/>
            </a:pPr>
            <a:r>
              <a:rPr lang="ru-RU" sz="1500" dirty="0">
                <a:solidFill>
                  <a:srgbClr val="000000"/>
                </a:solidFill>
                <a:latin typeface="Verdana"/>
                <a:cs typeface="Verdana"/>
              </a:rPr>
              <a:t>4.Возврат в настоящее</a:t>
            </a:r>
            <a:r>
              <a:rPr lang="ru-RU" sz="1500" dirty="0" smtClean="0">
                <a:solidFill>
                  <a:srgbClr val="000000"/>
                </a:solidFill>
                <a:latin typeface="Verdana"/>
                <a:cs typeface="Verdana"/>
              </a:rPr>
              <a:t>.</a:t>
            </a:r>
          </a:p>
          <a:p>
            <a:pPr marL="0" indent="0">
              <a:buNone/>
            </a:pPr>
            <a:r>
              <a:rPr lang="ru-RU" sz="1500" dirty="0" smtClean="0">
                <a:solidFill>
                  <a:srgbClr val="000000"/>
                </a:solidFill>
                <a:latin typeface="Verdana"/>
                <a:cs typeface="Verdana"/>
              </a:rPr>
              <a:t>5. Пишем план</a:t>
            </a:r>
            <a:endParaRPr lang="ru-RU" sz="1500" dirty="0">
              <a:solidFill>
                <a:srgbClr val="000000"/>
              </a:solidFill>
              <a:latin typeface="Verdana"/>
              <a:cs typeface="Verdana"/>
            </a:endParaRPr>
          </a:p>
          <a:p>
            <a:endParaRPr lang="ru-RU" dirty="0"/>
          </a:p>
        </p:txBody>
      </p:sp>
      <p:pic>
        <p:nvPicPr>
          <p:cNvPr id="5122" name="Picture 2" descr="http://cs312422.vk.me/v312422446/79e8/c3BPODmdGz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93370" y="1947786"/>
            <a:ext cx="2005447" cy="26739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982052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xmlns:p14="http://schemas.microsoft.com/office/powerpoint/2010/main" spd="slow">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1043608" y="1628800"/>
            <a:ext cx="7048872" cy="3474720"/>
          </a:xfrm>
        </p:spPr>
        <p:txBody>
          <a:bodyPr>
            <a:normAutofit lnSpcReduction="10000"/>
          </a:bodyPr>
          <a:lstStyle/>
          <a:p>
            <a:pPr marL="45720" indent="0" algn="ctr">
              <a:buNone/>
            </a:pPr>
            <a:r>
              <a:rPr lang="ru-RU" sz="3600" dirty="0" smtClean="0">
                <a:solidFill>
                  <a:srgbClr val="C00000"/>
                </a:solidFill>
              </a:rPr>
              <a:t>Техники работы с препятствием </a:t>
            </a:r>
            <a:r>
              <a:rPr lang="ru-RU" sz="3600" dirty="0">
                <a:solidFill>
                  <a:srgbClr val="C00000"/>
                </a:solidFill>
              </a:rPr>
              <a:t>на пути достижения цели </a:t>
            </a:r>
            <a:endParaRPr lang="ru-RU" sz="3600" dirty="0" smtClean="0">
              <a:solidFill>
                <a:srgbClr val="C00000"/>
              </a:solidFill>
            </a:endParaRPr>
          </a:p>
          <a:p>
            <a:pPr marL="45720" indent="0" algn="ctr">
              <a:buNone/>
            </a:pPr>
            <a:r>
              <a:rPr lang="ru-RU" sz="3600" dirty="0" smtClean="0">
                <a:solidFill>
                  <a:srgbClr val="C00000"/>
                </a:solidFill>
              </a:rPr>
              <a:t>через </a:t>
            </a:r>
            <a:r>
              <a:rPr lang="ru-RU" sz="3600" dirty="0">
                <a:solidFill>
                  <a:srgbClr val="C00000"/>
                </a:solidFill>
              </a:rPr>
              <a:t>телесный/кинестетический канал</a:t>
            </a:r>
            <a:endParaRPr lang="ru-RU" sz="3600" dirty="0">
              <a:solidFill>
                <a:srgbClr val="C00000"/>
              </a:solidFill>
            </a:endParaRPr>
          </a:p>
        </p:txBody>
      </p:sp>
    </p:spTree>
    <p:extLst>
      <p:ext uri="{BB962C8B-B14F-4D97-AF65-F5344CB8AC3E}">
        <p14:creationId xmlns:p14="http://schemas.microsoft.com/office/powerpoint/2010/main" val="423893163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403648" y="116632"/>
            <a:ext cx="6512511" cy="1143000"/>
          </a:xfrm>
        </p:spPr>
        <p:txBody>
          <a:bodyPr>
            <a:normAutofit/>
          </a:bodyPr>
          <a:lstStyle/>
          <a:p>
            <a:pPr marL="0" indent="0" algn="ctr">
              <a:buNone/>
            </a:pPr>
            <a:r>
              <a:rPr lang="ru-RU" sz="2800" b="1" dirty="0">
                <a:solidFill>
                  <a:schemeClr val="accent1"/>
                </a:solidFill>
              </a:rPr>
              <a:t>Метод систематической десенсибилизации </a:t>
            </a:r>
            <a:r>
              <a:rPr lang="ru-RU" sz="2800" b="1" dirty="0" err="1">
                <a:solidFill>
                  <a:schemeClr val="accent1"/>
                </a:solidFill>
              </a:rPr>
              <a:t>Вольпе</a:t>
            </a:r>
            <a:r>
              <a:rPr lang="ru-RU" sz="2800" b="1" dirty="0">
                <a:solidFill>
                  <a:schemeClr val="accent1"/>
                </a:solidFill>
              </a:rPr>
              <a:t> </a:t>
            </a:r>
          </a:p>
        </p:txBody>
      </p:sp>
      <p:sp>
        <p:nvSpPr>
          <p:cNvPr id="3" name="Объект 2"/>
          <p:cNvSpPr>
            <a:spLocks noGrp="1"/>
          </p:cNvSpPr>
          <p:nvPr>
            <p:ph sz="quarter" idx="13"/>
          </p:nvPr>
        </p:nvSpPr>
        <p:spPr>
          <a:xfrm>
            <a:off x="611560" y="1340768"/>
            <a:ext cx="8229600" cy="5256584"/>
          </a:xfrm>
        </p:spPr>
        <p:txBody>
          <a:bodyPr>
            <a:normAutofit fontScale="62500" lnSpcReduction="20000"/>
          </a:bodyPr>
          <a:lstStyle/>
          <a:p>
            <a:pPr marL="0" indent="0" algn="ctr" fontAlgn="base">
              <a:buNone/>
            </a:pPr>
            <a:r>
              <a:rPr lang="ru-RU" sz="3800" dirty="0">
                <a:solidFill>
                  <a:schemeClr val="accent1"/>
                </a:solidFill>
              </a:rPr>
              <a:t>«Десенсибилизация» (от лат. «понижение чувствительности»)</a:t>
            </a:r>
          </a:p>
          <a:p>
            <a:pPr fontAlgn="base"/>
            <a:r>
              <a:rPr lang="ru-RU" sz="3400" dirty="0"/>
              <a:t>Метод систематической десенсибилизации был разработан южноафриканским терапевтом Джозефом </a:t>
            </a:r>
            <a:r>
              <a:rPr lang="ru-RU" sz="3400" dirty="0" err="1"/>
              <a:t>Вольпе</a:t>
            </a:r>
            <a:r>
              <a:rPr lang="ru-RU" sz="3400" dirty="0"/>
              <a:t> на базе экспериментов И. П. Павлова.  </a:t>
            </a:r>
          </a:p>
          <a:p>
            <a:pPr fontAlgn="base"/>
            <a:r>
              <a:rPr lang="ru-RU" sz="3400" dirty="0"/>
              <a:t>В экспериментах на животных таким </a:t>
            </a:r>
            <a:r>
              <a:rPr lang="ru-RU" sz="3400" dirty="0" err="1"/>
              <a:t>противообусловливающим</a:t>
            </a:r>
            <a:r>
              <a:rPr lang="ru-RU" sz="3400" dirty="0"/>
              <a:t> стимулом является кормление, у человека же одним из действенных стимулов, противоположных страху, является релаксация. </a:t>
            </a:r>
          </a:p>
          <a:p>
            <a:pPr fontAlgn="base"/>
            <a:r>
              <a:rPr lang="ru-RU" sz="3400" dirty="0"/>
              <a:t>Поэтому, если обучить человека глубокой релаксации и в этом состоянии побудить его вызвать в воображении стимулы, </a:t>
            </a:r>
            <a:r>
              <a:rPr lang="ru-RU" sz="3400" dirty="0" err="1"/>
              <a:t>вызываюшие</a:t>
            </a:r>
            <a:r>
              <a:rPr lang="ru-RU" sz="3400" dirty="0"/>
              <a:t> тревогу, произойдет десенсибилизация к реальным стимулам или ситуациям, вызывающим страх.</a:t>
            </a:r>
          </a:p>
          <a:p>
            <a:r>
              <a:rPr lang="ru-RU" sz="3400" dirty="0"/>
              <a:t>Применение: повышенная тревожность, волнение, неуверенность, возникающие в ситуациях, когда отсутствует объективная опасность или угроза физической или личностной безопасности</a:t>
            </a:r>
          </a:p>
          <a:p>
            <a:endParaRPr lang="ru-RU" dirty="0"/>
          </a:p>
        </p:txBody>
      </p:sp>
    </p:spTree>
    <p:extLst>
      <p:ext uri="{BB962C8B-B14F-4D97-AF65-F5344CB8AC3E}">
        <p14:creationId xmlns:p14="http://schemas.microsoft.com/office/powerpoint/2010/main" val="53113975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706090"/>
          </a:xfrm>
        </p:spPr>
        <p:txBody>
          <a:bodyPr>
            <a:noAutofit/>
          </a:bodyPr>
          <a:lstStyle/>
          <a:p>
            <a:pPr marL="0" indent="0" algn="ctr">
              <a:buNone/>
            </a:pPr>
            <a:r>
              <a:rPr lang="ru-RU" sz="2800" b="1" dirty="0">
                <a:solidFill>
                  <a:schemeClr val="accent1"/>
                </a:solidFill>
              </a:rPr>
              <a:t>Три этапа десенсибилизации по </a:t>
            </a:r>
            <a:r>
              <a:rPr lang="ru-RU" sz="2800" b="1" dirty="0" err="1">
                <a:solidFill>
                  <a:schemeClr val="accent1"/>
                </a:solidFill>
              </a:rPr>
              <a:t>Вольпе</a:t>
            </a:r>
            <a:r>
              <a:rPr lang="ru-RU" sz="2800" b="1" dirty="0">
                <a:solidFill>
                  <a:schemeClr val="accent1"/>
                </a:solidFill>
              </a:rPr>
              <a:t/>
            </a:r>
            <a:br>
              <a:rPr lang="ru-RU" sz="2800" b="1" dirty="0">
                <a:solidFill>
                  <a:schemeClr val="accent1"/>
                </a:solidFill>
              </a:rPr>
            </a:br>
            <a:r>
              <a:rPr lang="ru-RU" sz="2800" dirty="0">
                <a:solidFill>
                  <a:schemeClr val="accent1"/>
                </a:solidFill>
              </a:rPr>
              <a:t>(по классике жанра)</a:t>
            </a:r>
            <a:r>
              <a:rPr lang="ru-RU" sz="2800" b="1" dirty="0">
                <a:solidFill>
                  <a:schemeClr val="accent1"/>
                </a:solidFill>
              </a:rPr>
              <a:t/>
            </a:r>
            <a:br>
              <a:rPr lang="ru-RU" sz="2800" b="1" dirty="0">
                <a:solidFill>
                  <a:schemeClr val="accent1"/>
                </a:solidFill>
              </a:rPr>
            </a:br>
            <a:endParaRPr lang="ru-RU" sz="2800" b="1" dirty="0">
              <a:solidFill>
                <a:schemeClr val="accent1"/>
              </a:solidFill>
            </a:endParaRPr>
          </a:p>
        </p:txBody>
      </p:sp>
      <p:sp>
        <p:nvSpPr>
          <p:cNvPr id="3" name="Объект 2"/>
          <p:cNvSpPr>
            <a:spLocks noGrp="1"/>
          </p:cNvSpPr>
          <p:nvPr>
            <p:ph sz="quarter" idx="13"/>
          </p:nvPr>
        </p:nvSpPr>
        <p:spPr>
          <a:xfrm>
            <a:off x="457200" y="1412776"/>
            <a:ext cx="8229600" cy="5217443"/>
          </a:xfrm>
        </p:spPr>
        <p:txBody>
          <a:bodyPr>
            <a:normAutofit/>
          </a:bodyPr>
          <a:lstStyle/>
          <a:p>
            <a:pPr lvl="0"/>
            <a:r>
              <a:rPr lang="ru-RU" dirty="0"/>
              <a:t>Обучение какому-либо методу мышечной релаксации для создания физического состояния, противоположного состоянию при эмоции страха. </a:t>
            </a:r>
          </a:p>
          <a:p>
            <a:pPr lvl="0"/>
            <a:r>
              <a:rPr lang="ru-RU" dirty="0"/>
              <a:t>Составление списка пугающих ситуаций/стимулов с указанием их иерархии -  „Лист иерархии страхов“, в начале которого указывается ситуация (или объект), вызывающая наименьший страх, в конце — наибольший, с промежуточными 8–15 ситуациями</a:t>
            </a:r>
          </a:p>
          <a:p>
            <a:pPr lvl="0"/>
            <a:r>
              <a:rPr lang="ru-RU" dirty="0"/>
              <a:t>Собственно десенсибилизация: поэтапное предъявление пугающего стимула или ситуации в сочетании с применением метода мышечной релаксации с возрастанием степени тревожности ситуаций из списка</a:t>
            </a:r>
          </a:p>
          <a:p>
            <a:endParaRPr lang="ru-RU" dirty="0"/>
          </a:p>
        </p:txBody>
      </p:sp>
    </p:spTree>
    <p:extLst>
      <p:ext uri="{BB962C8B-B14F-4D97-AF65-F5344CB8AC3E}">
        <p14:creationId xmlns:p14="http://schemas.microsoft.com/office/powerpoint/2010/main" val="186029979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47664" y="188640"/>
            <a:ext cx="6512511" cy="569000"/>
          </a:xfrm>
        </p:spPr>
        <p:txBody>
          <a:bodyPr/>
          <a:lstStyle/>
          <a:p>
            <a:pPr marL="0" indent="0" algn="ctr">
              <a:buNone/>
            </a:pPr>
            <a:r>
              <a:rPr lang="ru-RU" sz="2000" dirty="0">
                <a:solidFill>
                  <a:srgbClr val="0070C0"/>
                </a:solidFill>
              </a:rPr>
              <a:t>!!! Техника по </a:t>
            </a:r>
            <a:r>
              <a:rPr lang="ru-RU" sz="2000" dirty="0" err="1">
                <a:solidFill>
                  <a:srgbClr val="0070C0"/>
                </a:solidFill>
              </a:rPr>
              <a:t>Вольпе</a:t>
            </a:r>
            <a:r>
              <a:rPr lang="ru-RU" sz="2000" dirty="0">
                <a:solidFill>
                  <a:srgbClr val="0070C0"/>
                </a:solidFill>
              </a:rPr>
              <a:t>. Пример «текстовки» </a:t>
            </a:r>
          </a:p>
        </p:txBody>
      </p:sp>
      <p:sp>
        <p:nvSpPr>
          <p:cNvPr id="3" name="Объект 2"/>
          <p:cNvSpPr>
            <a:spLocks noGrp="1"/>
          </p:cNvSpPr>
          <p:nvPr>
            <p:ph sz="quarter" idx="13"/>
          </p:nvPr>
        </p:nvSpPr>
        <p:spPr>
          <a:xfrm>
            <a:off x="467544" y="620688"/>
            <a:ext cx="8424936" cy="5832648"/>
          </a:xfrm>
        </p:spPr>
        <p:txBody>
          <a:bodyPr>
            <a:noAutofit/>
          </a:bodyPr>
          <a:lstStyle/>
          <a:p>
            <a:pPr marL="45720" lvl="0" indent="0">
              <a:buNone/>
            </a:pPr>
            <a:r>
              <a:rPr lang="ru-RU" sz="1600" dirty="0"/>
              <a:t>1.Опиши </a:t>
            </a:r>
            <a:r>
              <a:rPr lang="ru-RU" sz="2800" dirty="0">
                <a:solidFill>
                  <a:srgbClr val="FF0000"/>
                </a:solidFill>
              </a:rPr>
              <a:t>одну</a:t>
            </a:r>
            <a:r>
              <a:rPr lang="ru-RU" sz="1600" dirty="0"/>
              <a:t> ситуацию,</a:t>
            </a:r>
          </a:p>
          <a:p>
            <a:pPr marL="45720" lvl="0" indent="0">
              <a:buNone/>
            </a:pPr>
            <a:r>
              <a:rPr lang="ru-RU" sz="1600" dirty="0"/>
              <a:t> когда ты испытывал …и что ты чувствовал при этом прямо физически – какие ощущения в теле, где напряжение?</a:t>
            </a:r>
          </a:p>
          <a:p>
            <a:pPr marL="45720" lvl="0" indent="0">
              <a:buNone/>
            </a:pPr>
            <a:endParaRPr lang="ru-RU" sz="1600" dirty="0"/>
          </a:p>
          <a:p>
            <a:pPr marL="45720" indent="0">
              <a:buNone/>
            </a:pPr>
            <a:r>
              <a:rPr lang="ru-RU" sz="1600" dirty="0"/>
              <a:t>2. А теперь расскажите мне о каком-нибудь счастливом моменте, когда твое тело было расслаблено, счастливо,…? Прямо вспомните конкретную ситуацию! Погрузись, проживи то состояние! И опиши телесные ощущения. А как было эмоционально? И ты можешь почувствовать, как твое тело, проживая маленькую счастливую жизнь расслабляется, наполняется теплом. Бывает, что тепло чувствуется на кончиках пальцев, в груди. Можно представить теплый шарик энергии, спокойствия в груди, в спине м/у ключицами и распространяет тепло, спокойствие, безопасность по всему телу. А где вы чувствуете тепло сейчас? И оно </a:t>
            </a:r>
            <a:r>
              <a:rPr lang="ru-RU" sz="1600" dirty="0" err="1"/>
              <a:t>меееедленно</a:t>
            </a:r>
            <a:r>
              <a:rPr lang="ru-RU" sz="1600" dirty="0"/>
              <a:t> начинает распространяться по твоему телу. </a:t>
            </a:r>
          </a:p>
          <a:p>
            <a:pPr marL="45720" lvl="0" indent="0">
              <a:buNone/>
            </a:pPr>
            <a:r>
              <a:rPr lang="ru-RU" sz="1600" dirty="0"/>
              <a:t>Запомни это состояние – и телесное, и эмоциональное.</a:t>
            </a:r>
          </a:p>
          <a:p>
            <a:pPr marL="45720" lvl="0" indent="0">
              <a:buNone/>
            </a:pPr>
            <a:endParaRPr lang="ru-RU" sz="1600" dirty="0"/>
          </a:p>
          <a:p>
            <a:pPr marL="45720" indent="0">
              <a:buNone/>
            </a:pPr>
            <a:r>
              <a:rPr lang="ru-RU" sz="1600" dirty="0"/>
              <a:t>3. Твоя задача сейчас будет следующая: ты будешь ощущать все то же самое, но только в ситуации…(тревожной). Т е тело  как бы продолжает  находиться в ресурсной ситуации. И чувствует </a:t>
            </a:r>
            <a:r>
              <a:rPr lang="ru-RU" sz="1600" dirty="0" err="1"/>
              <a:t>расслабленнность</a:t>
            </a:r>
            <a:r>
              <a:rPr lang="ru-RU" sz="1600" dirty="0"/>
              <a:t>, тяжесть и тепло. Как только чувствуешь, что начинает звучать голос тревоги,.. – сразу телесно в ресурсную ситуацию и состояние. И расслабляемся. Как ощущения?</a:t>
            </a:r>
          </a:p>
          <a:p>
            <a:pPr marL="45720" lvl="0" indent="0" algn="ctr">
              <a:buNone/>
            </a:pPr>
            <a:r>
              <a:rPr lang="ru-RU" sz="1600" dirty="0">
                <a:solidFill>
                  <a:srgbClr val="0070C0"/>
                </a:solidFill>
              </a:rPr>
              <a:t>Т. е. мы берем типичную ситуацию и наполняем ее новыми ощущениями, новым восприятием!!!</a:t>
            </a:r>
          </a:p>
          <a:p>
            <a:pPr marL="45720" lvl="0" indent="0" algn="ctr">
              <a:buNone/>
            </a:pPr>
            <a:r>
              <a:rPr lang="ru-RU" sz="1600" b="1" dirty="0">
                <a:solidFill>
                  <a:srgbClr val="FF0000"/>
                </a:solidFill>
              </a:rPr>
              <a:t>В парах по 25 мин в одну сторону вместе с обсуждением. Итого 50 мин</a:t>
            </a:r>
          </a:p>
        </p:txBody>
      </p:sp>
    </p:spTree>
    <p:extLst>
      <p:ext uri="{BB962C8B-B14F-4D97-AF65-F5344CB8AC3E}">
        <p14:creationId xmlns:p14="http://schemas.microsoft.com/office/powerpoint/2010/main" val="418998958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71600" y="2420888"/>
            <a:ext cx="7304599" cy="1143000"/>
          </a:xfrm>
        </p:spPr>
        <p:txBody>
          <a:bodyPr/>
          <a:lstStyle/>
          <a:p>
            <a:pPr marL="0" indent="0" algn="ctr">
              <a:buNone/>
            </a:pPr>
            <a:r>
              <a:rPr lang="ru-RU" sz="3200" dirty="0" smtClean="0">
                <a:solidFill>
                  <a:srgbClr val="C00000"/>
                </a:solidFill>
              </a:rPr>
              <a:t>Работа с образами, </a:t>
            </a:r>
            <a:r>
              <a:rPr lang="ru-RU" sz="3200" dirty="0">
                <a:solidFill>
                  <a:srgbClr val="C00000"/>
                </a:solidFill>
              </a:rPr>
              <a:t>арт-техниками. </a:t>
            </a:r>
            <a:r>
              <a:rPr lang="ru-RU" sz="3200" dirty="0" smtClean="0">
                <a:solidFill>
                  <a:srgbClr val="C00000"/>
                </a:solidFill>
              </a:rPr>
              <a:t/>
            </a:r>
            <a:br>
              <a:rPr lang="ru-RU" sz="3200" dirty="0" smtClean="0">
                <a:solidFill>
                  <a:srgbClr val="C00000"/>
                </a:solidFill>
              </a:rPr>
            </a:br>
            <a:r>
              <a:rPr lang="ru-RU" sz="3200" dirty="0" smtClean="0">
                <a:solidFill>
                  <a:srgbClr val="C00000"/>
                </a:solidFill>
              </a:rPr>
              <a:t>Визуальный канал</a:t>
            </a:r>
            <a:endParaRPr lang="ru-RU" sz="3200" dirty="0">
              <a:solidFill>
                <a:srgbClr val="C00000"/>
              </a:solidFill>
            </a:endParaRPr>
          </a:p>
        </p:txBody>
      </p:sp>
    </p:spTree>
    <p:extLst>
      <p:ext uri="{BB962C8B-B14F-4D97-AF65-F5344CB8AC3E}">
        <p14:creationId xmlns:p14="http://schemas.microsoft.com/office/powerpoint/2010/main" val="19099015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a:xfrm>
            <a:off x="611560" y="260648"/>
            <a:ext cx="7776864" cy="792088"/>
          </a:xfrm>
        </p:spPr>
        <p:txBody>
          <a:bodyPr/>
          <a:lstStyle/>
          <a:p>
            <a:pPr marL="0" indent="0" algn="ctr">
              <a:buNone/>
            </a:pPr>
            <a:r>
              <a:rPr lang="ru-RU" sz="2800" dirty="0" smtClean="0">
                <a:solidFill>
                  <a:schemeClr val="accent1"/>
                </a:solidFill>
                <a:latin typeface="Verdana"/>
                <a:cs typeface="Verdana"/>
              </a:rPr>
              <a:t>Особенности</a:t>
            </a:r>
            <a:endParaRPr lang="ru-RU" sz="2800" dirty="0">
              <a:solidFill>
                <a:schemeClr val="accent1"/>
              </a:solidFill>
              <a:latin typeface="Verdana"/>
              <a:cs typeface="Verdana"/>
            </a:endParaRPr>
          </a:p>
        </p:txBody>
      </p:sp>
      <p:sp>
        <p:nvSpPr>
          <p:cNvPr id="3" name="Содержимое 2"/>
          <p:cNvSpPr>
            <a:spLocks noGrp="1"/>
          </p:cNvSpPr>
          <p:nvPr>
            <p:ph sz="quarter" idx="13"/>
          </p:nvPr>
        </p:nvSpPr>
        <p:spPr>
          <a:xfrm>
            <a:off x="323528" y="1074409"/>
            <a:ext cx="8518491" cy="4895989"/>
          </a:xfrm>
        </p:spPr>
        <p:txBody>
          <a:bodyPr>
            <a:normAutofit lnSpcReduction="10000"/>
          </a:bodyPr>
          <a:lstStyle/>
          <a:p>
            <a:pPr lvl="0"/>
            <a:r>
              <a:rPr lang="ru-RU" sz="3000" dirty="0" smtClean="0">
                <a:solidFill>
                  <a:srgbClr val="000000"/>
                </a:solidFill>
                <a:latin typeface="Verdana"/>
                <a:cs typeface="Verdana"/>
              </a:rPr>
              <a:t>Работа происходит на бессознательном уровне клиента</a:t>
            </a:r>
            <a:endParaRPr lang="ru-RU" sz="3000" dirty="0">
              <a:solidFill>
                <a:srgbClr val="000000"/>
              </a:solidFill>
              <a:latin typeface="Verdana"/>
              <a:cs typeface="Verdana"/>
            </a:endParaRPr>
          </a:p>
          <a:p>
            <a:r>
              <a:rPr lang="ru-RU" sz="3000" dirty="0" smtClean="0">
                <a:solidFill>
                  <a:srgbClr val="000000"/>
                </a:solidFill>
                <a:latin typeface="Verdana"/>
                <a:cs typeface="Verdana"/>
              </a:rPr>
              <a:t>Это позволяет </a:t>
            </a:r>
            <a:r>
              <a:rPr lang="ru-RU" sz="3000" dirty="0">
                <a:solidFill>
                  <a:srgbClr val="000000"/>
                </a:solidFill>
                <a:latin typeface="Verdana"/>
                <a:cs typeface="Verdana"/>
              </a:rPr>
              <a:t>обойти </a:t>
            </a:r>
            <a:r>
              <a:rPr lang="ru-RU" sz="3000" dirty="0" smtClean="0">
                <a:solidFill>
                  <a:srgbClr val="000000"/>
                </a:solidFill>
                <a:latin typeface="Verdana"/>
                <a:cs typeface="Verdana"/>
              </a:rPr>
              <a:t>сопротивление клиента, его рациональное </a:t>
            </a:r>
            <a:r>
              <a:rPr lang="ru-RU" sz="3000" dirty="0" smtClean="0">
                <a:solidFill>
                  <a:srgbClr val="000000"/>
                </a:solidFill>
                <a:latin typeface="Verdana"/>
                <a:cs typeface="Verdana"/>
              </a:rPr>
              <a:t>«Я не </a:t>
            </a:r>
            <a:r>
              <a:rPr lang="ru-RU" sz="3000" dirty="0" smtClean="0">
                <a:solidFill>
                  <a:srgbClr val="000000"/>
                </a:solidFill>
                <a:latin typeface="Verdana"/>
                <a:cs typeface="Verdana"/>
              </a:rPr>
              <a:t>знаю»</a:t>
            </a:r>
            <a:endParaRPr lang="ru-RU" sz="3000" dirty="0">
              <a:solidFill>
                <a:srgbClr val="000000"/>
              </a:solidFill>
              <a:latin typeface="Verdana"/>
              <a:cs typeface="Verdana"/>
            </a:endParaRPr>
          </a:p>
          <a:p>
            <a:pPr lvl="0"/>
            <a:r>
              <a:rPr lang="ru-RU" sz="3000" dirty="0">
                <a:solidFill>
                  <a:srgbClr val="000000"/>
                </a:solidFill>
                <a:latin typeface="Verdana"/>
                <a:cs typeface="Verdana"/>
              </a:rPr>
              <a:t>Метафора многозначна и клиент </a:t>
            </a:r>
            <a:r>
              <a:rPr lang="ru-RU" sz="3000" dirty="0" smtClean="0">
                <a:solidFill>
                  <a:srgbClr val="000000"/>
                </a:solidFill>
                <a:latin typeface="Verdana"/>
                <a:cs typeface="Verdana"/>
              </a:rPr>
              <a:t>черпает </a:t>
            </a:r>
            <a:r>
              <a:rPr lang="ru-RU" sz="3000" dirty="0">
                <a:solidFill>
                  <a:srgbClr val="000000"/>
                </a:solidFill>
                <a:latin typeface="Verdana"/>
                <a:cs typeface="Verdana"/>
              </a:rPr>
              <a:t>из нее те </a:t>
            </a:r>
            <a:r>
              <a:rPr lang="ru-RU" sz="3000" dirty="0" smtClean="0">
                <a:solidFill>
                  <a:srgbClr val="000000"/>
                </a:solidFill>
                <a:latin typeface="Verdana"/>
                <a:cs typeface="Verdana"/>
              </a:rPr>
              <a:t>смыслы, те решения, которые </a:t>
            </a:r>
            <a:r>
              <a:rPr lang="ru-RU" sz="3000" dirty="0">
                <a:solidFill>
                  <a:srgbClr val="000000"/>
                </a:solidFill>
                <a:latin typeface="Verdana"/>
                <a:cs typeface="Verdana"/>
              </a:rPr>
              <a:t>ему сейчас </a:t>
            </a:r>
            <a:r>
              <a:rPr lang="ru-RU" sz="3000" dirty="0" smtClean="0">
                <a:solidFill>
                  <a:srgbClr val="000000"/>
                </a:solidFill>
                <a:latin typeface="Verdana"/>
                <a:cs typeface="Verdana"/>
              </a:rPr>
              <a:t>необходимы</a:t>
            </a:r>
            <a:endParaRPr lang="ru-RU" sz="3000" dirty="0">
              <a:solidFill>
                <a:srgbClr val="000000"/>
              </a:solidFill>
              <a:latin typeface="Verdana"/>
              <a:cs typeface="Verdana"/>
            </a:endParaRPr>
          </a:p>
          <a:p>
            <a:pPr lvl="0"/>
            <a:r>
              <a:rPr lang="ru-RU" sz="3000" dirty="0" smtClean="0">
                <a:solidFill>
                  <a:srgbClr val="000000"/>
                </a:solidFill>
                <a:latin typeface="Verdana"/>
                <a:cs typeface="Verdana"/>
              </a:rPr>
              <a:t>!!! Результат работы с метафорой - «долгоиграющий», может сработать </a:t>
            </a:r>
            <a:r>
              <a:rPr lang="ru-RU" sz="3000" dirty="0">
                <a:solidFill>
                  <a:srgbClr val="000000"/>
                </a:solidFill>
                <a:latin typeface="Verdana"/>
                <a:cs typeface="Verdana"/>
              </a:rPr>
              <a:t>через некоторое </a:t>
            </a:r>
            <a:r>
              <a:rPr lang="ru-RU" sz="3000" dirty="0" smtClean="0">
                <a:solidFill>
                  <a:srgbClr val="000000"/>
                </a:solidFill>
                <a:latin typeface="Verdana"/>
                <a:cs typeface="Verdana"/>
              </a:rPr>
              <a:t>время</a:t>
            </a:r>
            <a:endParaRPr lang="ru-RU" sz="3000" dirty="0">
              <a:solidFill>
                <a:srgbClr val="000000"/>
              </a:solidFill>
              <a:latin typeface="Verdana"/>
              <a:cs typeface="Verdana"/>
            </a:endParaRPr>
          </a:p>
          <a:p>
            <a:endParaRPr lang="ru-RU" dirty="0"/>
          </a:p>
          <a:p>
            <a:pPr marL="0" indent="0">
              <a:buNone/>
            </a:pPr>
            <a:endParaRPr lang="ru-RU" dirty="0"/>
          </a:p>
        </p:txBody>
      </p:sp>
    </p:spTree>
    <p:extLst>
      <p:ext uri="{BB962C8B-B14F-4D97-AF65-F5344CB8AC3E}">
        <p14:creationId xmlns:p14="http://schemas.microsoft.com/office/powerpoint/2010/main" val="225007649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47664" y="1412776"/>
            <a:ext cx="6512511" cy="936104"/>
          </a:xfrm>
        </p:spPr>
        <p:txBody>
          <a:bodyPr/>
          <a:lstStyle/>
          <a:p>
            <a:pPr marL="0" indent="0" algn="ctr">
              <a:buNone/>
            </a:pPr>
            <a:r>
              <a:rPr lang="ru-RU" sz="2400" dirty="0" smtClean="0">
                <a:solidFill>
                  <a:srgbClr val="0070C0"/>
                </a:solidFill>
              </a:rPr>
              <a:t>Примеры рисунков на тему отношений</a:t>
            </a:r>
            <a:br>
              <a:rPr lang="ru-RU" sz="2400" dirty="0" smtClean="0">
                <a:solidFill>
                  <a:srgbClr val="0070C0"/>
                </a:solidFill>
              </a:rPr>
            </a:br>
            <a:r>
              <a:rPr lang="ru-RU" sz="2400" dirty="0">
                <a:solidFill>
                  <a:srgbClr val="0070C0"/>
                </a:solidFill>
              </a:rPr>
              <a:t/>
            </a:r>
            <a:br>
              <a:rPr lang="ru-RU" sz="2400" dirty="0">
                <a:solidFill>
                  <a:srgbClr val="0070C0"/>
                </a:solidFill>
              </a:rPr>
            </a:br>
            <a:r>
              <a:rPr lang="ru-RU" sz="2400" dirty="0" smtClean="0">
                <a:solidFill>
                  <a:srgbClr val="0070C0"/>
                </a:solidFill>
              </a:rPr>
              <a:t/>
            </a:r>
            <a:br>
              <a:rPr lang="ru-RU" sz="2400" dirty="0" smtClean="0">
                <a:solidFill>
                  <a:srgbClr val="0070C0"/>
                </a:solidFill>
              </a:rPr>
            </a:br>
            <a:r>
              <a:rPr lang="ru-RU" sz="1800" b="0" dirty="0" smtClean="0">
                <a:solidFill>
                  <a:schemeClr val="tx1"/>
                </a:solidFill>
              </a:rPr>
              <a:t>Возможные темы рисунка:</a:t>
            </a:r>
            <a:br>
              <a:rPr lang="ru-RU" sz="1800" b="0" dirty="0" smtClean="0">
                <a:solidFill>
                  <a:schemeClr val="tx1"/>
                </a:solidFill>
              </a:rPr>
            </a:br>
            <a:r>
              <a:rPr lang="ru-RU" sz="1800" b="0" dirty="0" smtClean="0">
                <a:solidFill>
                  <a:schemeClr val="tx1"/>
                </a:solidFill>
              </a:rPr>
              <a:t>1) Я как женщина/мужчина</a:t>
            </a:r>
            <a:br>
              <a:rPr lang="ru-RU" sz="1800" b="0" dirty="0" smtClean="0">
                <a:solidFill>
                  <a:schemeClr val="tx1"/>
                </a:solidFill>
              </a:rPr>
            </a:br>
            <a:r>
              <a:rPr lang="ru-RU" sz="1800" b="0" dirty="0" smtClean="0">
                <a:solidFill>
                  <a:schemeClr val="tx1"/>
                </a:solidFill>
              </a:rPr>
              <a:t>2) Я как личность в отношениях</a:t>
            </a:r>
            <a:br>
              <a:rPr lang="ru-RU" sz="1800" b="0" dirty="0" smtClean="0">
                <a:solidFill>
                  <a:schemeClr val="tx1"/>
                </a:solidFill>
              </a:rPr>
            </a:br>
            <a:r>
              <a:rPr lang="ru-RU" sz="1800" b="0" dirty="0" smtClean="0">
                <a:solidFill>
                  <a:schemeClr val="tx1"/>
                </a:solidFill>
              </a:rPr>
              <a:t>3) Я, мой партнер и наши отношения</a:t>
            </a:r>
            <a:br>
              <a:rPr lang="ru-RU" sz="1800" b="0" dirty="0" smtClean="0">
                <a:solidFill>
                  <a:schemeClr val="tx1"/>
                </a:solidFill>
              </a:rPr>
            </a:br>
            <a:r>
              <a:rPr lang="ru-RU" sz="1800" b="0" dirty="0" smtClean="0">
                <a:solidFill>
                  <a:schemeClr val="tx1"/>
                </a:solidFill>
              </a:rPr>
              <a:t>4) </a:t>
            </a:r>
            <a:r>
              <a:rPr lang="ru-RU" sz="1800" b="0" dirty="0">
                <a:solidFill>
                  <a:schemeClr val="tx1"/>
                </a:solidFill>
              </a:rPr>
              <a:t>Проблема в наших отношениях</a:t>
            </a:r>
            <a:br>
              <a:rPr lang="ru-RU" sz="1800" b="0" dirty="0">
                <a:solidFill>
                  <a:schemeClr val="tx1"/>
                </a:solidFill>
              </a:rPr>
            </a:br>
            <a:r>
              <a:rPr lang="ru-RU" sz="1800" b="0" dirty="0" smtClean="0">
                <a:solidFill>
                  <a:schemeClr val="tx1"/>
                </a:solidFill>
              </a:rPr>
              <a:t>5</a:t>
            </a:r>
            <a:r>
              <a:rPr lang="ru-RU" sz="1800" b="0" dirty="0">
                <a:solidFill>
                  <a:schemeClr val="tx1"/>
                </a:solidFill>
              </a:rPr>
              <a:t>) Я, мой партнер и проблема в наших отношениях</a:t>
            </a:r>
          </a:p>
        </p:txBody>
      </p:sp>
    </p:spTree>
    <p:extLst>
      <p:ext uri="{BB962C8B-B14F-4D97-AF65-F5344CB8AC3E}">
        <p14:creationId xmlns:p14="http://schemas.microsoft.com/office/powerpoint/2010/main" val="390347093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47664" y="1412776"/>
            <a:ext cx="6512511" cy="1143000"/>
          </a:xfrm>
        </p:spPr>
        <p:txBody>
          <a:bodyPr/>
          <a:lstStyle/>
          <a:p>
            <a:pPr marL="0" indent="0" algn="ctr">
              <a:buNone/>
            </a:pPr>
            <a:r>
              <a:rPr lang="ru-RU" sz="2400" dirty="0" smtClean="0">
                <a:solidFill>
                  <a:srgbClr val="0070C0"/>
                </a:solidFill>
              </a:rPr>
              <a:t>Примеры рисунков на тему профессиональной идентичности.</a:t>
            </a:r>
            <a:br>
              <a:rPr lang="ru-RU" sz="2400" dirty="0" smtClean="0">
                <a:solidFill>
                  <a:srgbClr val="0070C0"/>
                </a:solidFill>
              </a:rPr>
            </a:br>
            <a:r>
              <a:rPr lang="ru-RU" sz="2400" dirty="0">
                <a:solidFill>
                  <a:srgbClr val="0070C0"/>
                </a:solidFill>
              </a:rPr>
              <a:t/>
            </a:r>
            <a:br>
              <a:rPr lang="ru-RU" sz="2400" dirty="0">
                <a:solidFill>
                  <a:srgbClr val="0070C0"/>
                </a:solidFill>
              </a:rPr>
            </a:br>
            <a:r>
              <a:rPr lang="ru-RU" sz="2400" dirty="0" smtClean="0">
                <a:solidFill>
                  <a:srgbClr val="0070C0"/>
                </a:solidFill>
              </a:rPr>
              <a:t/>
            </a:r>
            <a:br>
              <a:rPr lang="ru-RU" sz="2400" dirty="0" smtClean="0">
                <a:solidFill>
                  <a:srgbClr val="0070C0"/>
                </a:solidFill>
              </a:rPr>
            </a:br>
            <a:r>
              <a:rPr lang="ru-RU" sz="1800" b="0" dirty="0" smtClean="0">
                <a:solidFill>
                  <a:schemeClr val="tx1"/>
                </a:solidFill>
              </a:rPr>
              <a:t>Возможные темы рисунка:</a:t>
            </a:r>
            <a:br>
              <a:rPr lang="ru-RU" sz="1800" b="0" dirty="0" smtClean="0">
                <a:solidFill>
                  <a:schemeClr val="tx1"/>
                </a:solidFill>
              </a:rPr>
            </a:br>
            <a:r>
              <a:rPr lang="ru-RU" sz="1800" b="0" dirty="0" smtClean="0">
                <a:solidFill>
                  <a:schemeClr val="tx1"/>
                </a:solidFill>
              </a:rPr>
              <a:t>1) Кто я как профессионал</a:t>
            </a:r>
            <a:br>
              <a:rPr lang="ru-RU" sz="1800" b="0" dirty="0" smtClean="0">
                <a:solidFill>
                  <a:schemeClr val="tx1"/>
                </a:solidFill>
              </a:rPr>
            </a:br>
            <a:r>
              <a:rPr lang="ru-RU" sz="1800" b="0" dirty="0" smtClean="0">
                <a:solidFill>
                  <a:schemeClr val="tx1"/>
                </a:solidFill>
              </a:rPr>
              <a:t>2) В чем моя миссия</a:t>
            </a:r>
            <a:br>
              <a:rPr lang="ru-RU" sz="1800" b="0" dirty="0" smtClean="0">
                <a:solidFill>
                  <a:schemeClr val="tx1"/>
                </a:solidFill>
              </a:rPr>
            </a:br>
            <a:r>
              <a:rPr lang="ru-RU" sz="1800" b="0" dirty="0" smtClean="0">
                <a:solidFill>
                  <a:schemeClr val="tx1"/>
                </a:solidFill>
              </a:rPr>
              <a:t>3) Что я даю своим клиентам</a:t>
            </a:r>
            <a:br>
              <a:rPr lang="ru-RU" sz="1800" b="0" dirty="0" smtClean="0">
                <a:solidFill>
                  <a:schemeClr val="tx1"/>
                </a:solidFill>
              </a:rPr>
            </a:br>
            <a:r>
              <a:rPr lang="ru-RU" sz="1800" b="0" dirty="0" smtClean="0">
                <a:solidFill>
                  <a:schemeClr val="tx1"/>
                </a:solidFill>
              </a:rPr>
              <a:t>4) В чем моя уникальность</a:t>
            </a:r>
            <a:br>
              <a:rPr lang="ru-RU" sz="1800" b="0" dirty="0" smtClean="0">
                <a:solidFill>
                  <a:schemeClr val="tx1"/>
                </a:solidFill>
              </a:rPr>
            </a:br>
            <a:r>
              <a:rPr lang="ru-RU" sz="1800" b="0" dirty="0" smtClean="0">
                <a:solidFill>
                  <a:schemeClr val="tx1"/>
                </a:solidFill>
              </a:rPr>
              <a:t>5) И так далее</a:t>
            </a:r>
            <a:endParaRPr lang="ru-RU" sz="1800" b="0" dirty="0">
              <a:solidFill>
                <a:schemeClr val="tx1"/>
              </a:solidFill>
            </a:endParaRPr>
          </a:p>
        </p:txBody>
      </p:sp>
    </p:spTree>
    <p:extLst>
      <p:ext uri="{BB962C8B-B14F-4D97-AF65-F5344CB8AC3E}">
        <p14:creationId xmlns:p14="http://schemas.microsoft.com/office/powerpoint/2010/main" val="383736550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1403648" y="1268760"/>
            <a:ext cx="6400800" cy="3474720"/>
          </a:xfrm>
        </p:spPr>
        <p:txBody>
          <a:bodyPr/>
          <a:lstStyle/>
          <a:p>
            <a:pPr marL="45720" indent="0" algn="ctr">
              <a:buNone/>
            </a:pPr>
            <a:endParaRPr lang="ru-RU" b="1" dirty="0" smtClean="0"/>
          </a:p>
          <a:p>
            <a:pPr marL="45720" indent="0" algn="ctr">
              <a:buNone/>
            </a:pPr>
            <a:endParaRPr lang="ru-RU" b="1" dirty="0"/>
          </a:p>
          <a:p>
            <a:pPr marL="45720" indent="0" algn="ctr">
              <a:buNone/>
            </a:pPr>
            <a:r>
              <a:rPr lang="ru-RU" sz="3200" b="1" dirty="0" smtClean="0">
                <a:solidFill>
                  <a:srgbClr val="0070C0"/>
                </a:solidFill>
              </a:rPr>
              <a:t>Критерии </a:t>
            </a:r>
            <a:r>
              <a:rPr lang="ru-RU" sz="3200" b="1" dirty="0">
                <a:solidFill>
                  <a:srgbClr val="0070C0"/>
                </a:solidFill>
              </a:rPr>
              <a:t>анализа рисунка</a:t>
            </a:r>
          </a:p>
          <a:p>
            <a:pPr marL="45720" indent="0" algn="ctr">
              <a:buNone/>
            </a:pPr>
            <a:endParaRPr lang="ru-RU" sz="3200" dirty="0" smtClean="0">
              <a:solidFill>
                <a:srgbClr val="0070C0"/>
              </a:solidFill>
            </a:endParaRPr>
          </a:p>
          <a:p>
            <a:pPr marL="45720" indent="0" algn="ctr">
              <a:buNone/>
            </a:pPr>
            <a:r>
              <a:rPr lang="ru-RU" sz="3200" dirty="0" smtClean="0">
                <a:solidFill>
                  <a:srgbClr val="0070C0"/>
                </a:solidFill>
              </a:rPr>
              <a:t>Рисунок </a:t>
            </a:r>
            <a:r>
              <a:rPr lang="ru-RU" sz="3200" dirty="0">
                <a:solidFill>
                  <a:srgbClr val="0070C0"/>
                </a:solidFill>
              </a:rPr>
              <a:t>системы </a:t>
            </a:r>
            <a:endParaRPr lang="ru-RU" sz="3200" dirty="0" smtClean="0">
              <a:solidFill>
                <a:srgbClr val="0070C0"/>
              </a:solidFill>
            </a:endParaRPr>
          </a:p>
          <a:p>
            <a:pPr marL="45720" indent="0" algn="ctr">
              <a:buNone/>
            </a:pPr>
            <a:r>
              <a:rPr lang="ru-RU" sz="3200" dirty="0" smtClean="0">
                <a:solidFill>
                  <a:srgbClr val="0070C0"/>
                </a:solidFill>
              </a:rPr>
              <a:t>(</a:t>
            </a:r>
            <a:r>
              <a:rPr lang="ru-RU" sz="3200" dirty="0">
                <a:solidFill>
                  <a:srgbClr val="0070C0"/>
                </a:solidFill>
              </a:rPr>
              <a:t>семьи, социальной </a:t>
            </a:r>
            <a:r>
              <a:rPr lang="ru-RU" sz="3200" dirty="0" smtClean="0">
                <a:solidFill>
                  <a:srgbClr val="0070C0"/>
                </a:solidFill>
              </a:rPr>
              <a:t>системы)</a:t>
            </a:r>
            <a:endParaRPr lang="ru-RU" sz="3200" dirty="0">
              <a:solidFill>
                <a:srgbClr val="0070C0"/>
              </a:solidFill>
            </a:endParaRPr>
          </a:p>
        </p:txBody>
      </p:sp>
    </p:spTree>
    <p:extLst>
      <p:ext uri="{BB962C8B-B14F-4D97-AF65-F5344CB8AC3E}">
        <p14:creationId xmlns:p14="http://schemas.microsoft.com/office/powerpoint/2010/main" val="44572671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539552" y="260648"/>
            <a:ext cx="8064896" cy="6408712"/>
          </a:xfrm>
        </p:spPr>
        <p:txBody>
          <a:bodyPr>
            <a:normAutofit fontScale="77500" lnSpcReduction="20000"/>
          </a:bodyPr>
          <a:lstStyle/>
          <a:p>
            <a:pPr lvl="0"/>
            <a:r>
              <a:rPr lang="ru-RU" dirty="0"/>
              <a:t>Фигуры нарисованы полностью, закрашены, наполнены цветом. Если что-то не прорисовано, не закрашено, не наполнено – вытеснение, подавление, отсутствует в бессознательном. Схематизм</a:t>
            </a:r>
            <a:endParaRPr lang="ru-RU" b="1" dirty="0"/>
          </a:p>
          <a:p>
            <a:pPr lvl="0"/>
            <a:r>
              <a:rPr lang="ru-RU" dirty="0"/>
              <a:t>Голова: слишком прорисована, большая – большая значимость интеллекта (и наоборот). Отсутствие головы – импульсивность, порывистость, сниженный контроль. Вплоть до психиатрии!!!</a:t>
            </a:r>
            <a:endParaRPr lang="ru-RU" b="1" dirty="0"/>
          </a:p>
          <a:p>
            <a:pPr lvl="0"/>
            <a:r>
              <a:rPr lang="ru-RU" dirty="0"/>
              <a:t>Обращаем внимание выражение лица (грустное, веселое, мрачное и т п)</a:t>
            </a:r>
            <a:endParaRPr lang="ru-RU" b="1" dirty="0"/>
          </a:p>
          <a:p>
            <a:pPr lvl="0"/>
            <a:r>
              <a:rPr lang="ru-RU" dirty="0"/>
              <a:t>Руки: отсутствуют/почти не видны (нет кистей)– нарушение общения (неумение, нежелание, просто отсутствие контакта). Расставлены в сторону – </a:t>
            </a:r>
            <a:r>
              <a:rPr lang="ru-RU" dirty="0" err="1"/>
              <a:t>экстравертность</a:t>
            </a:r>
            <a:r>
              <a:rPr lang="ru-RU" dirty="0"/>
              <a:t> и/или потребность в большом личном пространстве. Прижаты к телу – инертность и/или нарушение личного пространства. За спиной – уход от общения, негативизм (типа «Не буду!»)</a:t>
            </a:r>
            <a:endParaRPr lang="ru-RU" b="1" dirty="0"/>
          </a:p>
          <a:p>
            <a:pPr lvl="0"/>
            <a:r>
              <a:rPr lang="ru-RU" dirty="0"/>
              <a:t>Ноги: широко расставлены - </a:t>
            </a:r>
            <a:r>
              <a:rPr lang="ru-RU" dirty="0" err="1"/>
              <a:t>экстравертность</a:t>
            </a:r>
            <a:r>
              <a:rPr lang="ru-RU" dirty="0"/>
              <a:t> и/или потребность в большом личном пространстве. Плотно сдвинуты – </a:t>
            </a:r>
            <a:r>
              <a:rPr lang="ru-RU" dirty="0" err="1"/>
              <a:t>интровертность</a:t>
            </a:r>
            <a:r>
              <a:rPr lang="ru-RU" dirty="0"/>
              <a:t>. </a:t>
            </a:r>
            <a:endParaRPr lang="ru-RU" b="1" dirty="0"/>
          </a:p>
          <a:p>
            <a:pPr lvl="0"/>
            <a:r>
              <a:rPr lang="ru-RU" dirty="0"/>
              <a:t>Ступни: маленькие, отсутствуют – </a:t>
            </a:r>
            <a:r>
              <a:rPr lang="ru-RU" dirty="0" err="1"/>
              <a:t>незаземленность</a:t>
            </a:r>
            <a:r>
              <a:rPr lang="ru-RU" dirty="0"/>
              <a:t>, сниженная </a:t>
            </a:r>
            <a:r>
              <a:rPr lang="ru-RU" dirty="0" err="1"/>
              <a:t>опорность</a:t>
            </a:r>
            <a:r>
              <a:rPr lang="ru-RU" dirty="0"/>
              <a:t> (слабая бытовая реализация, пассивность, неумелость в социальных отношениях).  Ступни слишком большие/слишком прорисованы - потребность в опоре</a:t>
            </a:r>
            <a:endParaRPr lang="ru-RU" b="1" dirty="0"/>
          </a:p>
          <a:p>
            <a:pPr lvl="0"/>
            <a:r>
              <a:rPr lang="ru-RU" dirty="0"/>
              <a:t>Отсутствие себя – чувство отверженности, </a:t>
            </a:r>
            <a:r>
              <a:rPr lang="ru-RU" dirty="0" err="1"/>
              <a:t>непроявленности</a:t>
            </a:r>
            <a:r>
              <a:rPr lang="ru-RU" dirty="0"/>
              <a:t> вообще/ в системе. Отсутствие другого члена системы – его подсознательное исключение, вытеснение, конфликт или малая значимость для автора рисунка</a:t>
            </a:r>
            <a:endParaRPr lang="ru-RU" b="1" dirty="0"/>
          </a:p>
          <a:p>
            <a:pPr lvl="0"/>
            <a:r>
              <a:rPr lang="ru-RU" dirty="0"/>
              <a:t>Мелкое изображение себя в сравнении с другими фигурами – подавленность, незначимость, «</a:t>
            </a:r>
            <a:r>
              <a:rPr lang="ru-RU" dirty="0" err="1"/>
              <a:t>неглавность</a:t>
            </a:r>
            <a:r>
              <a:rPr lang="ru-RU" dirty="0"/>
              <a:t>»</a:t>
            </a:r>
            <a:endParaRPr lang="ru-RU" b="1" dirty="0"/>
          </a:p>
          <a:p>
            <a:pPr lvl="0"/>
            <a:r>
              <a:rPr lang="ru-RU" dirty="0"/>
              <a:t>Особо крупное изображение себя – претензия на главную роль. Особо крупное изображение Другого – представление о его значимости, «</a:t>
            </a:r>
            <a:r>
              <a:rPr lang="ru-RU" dirty="0" err="1"/>
              <a:t>главности</a:t>
            </a:r>
            <a:r>
              <a:rPr lang="ru-RU" dirty="0"/>
              <a:t>»</a:t>
            </a:r>
            <a:endParaRPr lang="ru-RU" b="1" dirty="0"/>
          </a:p>
        </p:txBody>
      </p:sp>
    </p:spTree>
    <p:extLst>
      <p:ext uri="{BB962C8B-B14F-4D97-AF65-F5344CB8AC3E}">
        <p14:creationId xmlns:p14="http://schemas.microsoft.com/office/powerpoint/2010/main" val="397088691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539552" y="260648"/>
            <a:ext cx="7992888" cy="6408712"/>
          </a:xfrm>
        </p:spPr>
        <p:txBody>
          <a:bodyPr>
            <a:normAutofit fontScale="77500" lnSpcReduction="20000"/>
          </a:bodyPr>
          <a:lstStyle/>
          <a:p>
            <a:pPr lvl="0"/>
            <a:r>
              <a:rPr lang="ru-RU" dirty="0"/>
              <a:t>Расположение членов системы выше-ниже (по росту, месторасположению)– выражение иерархии</a:t>
            </a:r>
            <a:endParaRPr lang="ru-RU" b="1" dirty="0"/>
          </a:p>
          <a:p>
            <a:pPr lvl="0"/>
            <a:r>
              <a:rPr lang="ru-RU" dirty="0"/>
              <a:t>Обращенность фигур друг к другу, пространственная близость, контакт рук – тесные эмоциональные контакты в системе</a:t>
            </a:r>
            <a:endParaRPr lang="ru-RU" b="1" dirty="0"/>
          </a:p>
          <a:p>
            <a:pPr lvl="0"/>
            <a:r>
              <a:rPr lang="ru-RU" dirty="0"/>
              <a:t>Сверхплотное расположение фигур – проницаемые границы, эмоциональное слияние или потребность в близости, которой на самом деле нет</a:t>
            </a:r>
            <a:endParaRPr lang="ru-RU" b="1" dirty="0"/>
          </a:p>
          <a:p>
            <a:pPr lvl="0"/>
            <a:r>
              <a:rPr lang="ru-RU" dirty="0"/>
              <a:t>Удаленность всех фигур – слабость эмоциональных контактов, разобщенность членов системы, несовместность, автономия. Удаленность одной фигуры – его слабая связь с остальными. Себя от остальных – ощущение своей изоляции (отверженности)</a:t>
            </a:r>
            <a:endParaRPr lang="ru-RU" b="1" dirty="0"/>
          </a:p>
          <a:p>
            <a:pPr lvl="0"/>
            <a:r>
              <a:rPr lang="ru-RU" dirty="0"/>
              <a:t>Изображение фигур в профиль, со спины, отвернувшихся – есть напряжение в отношениях, конфликт</a:t>
            </a:r>
            <a:endParaRPr lang="ru-RU" b="1" dirty="0"/>
          </a:p>
          <a:p>
            <a:pPr lvl="0"/>
            <a:r>
              <a:rPr lang="ru-RU" dirty="0"/>
              <a:t>Агрессивная символика (выделенные зубы/в оскале, кулак, поднятый кверху, острые ногти, оружие) – агрессивное поведение данного члена системы</a:t>
            </a:r>
            <a:endParaRPr lang="ru-RU" b="1" dirty="0"/>
          </a:p>
          <a:p>
            <a:pPr lvl="0"/>
            <a:r>
              <a:rPr lang="ru-RU" dirty="0" smtClean="0"/>
              <a:t>Дополнительные </a:t>
            </a:r>
            <a:r>
              <a:rPr lang="ru-RU" dirty="0"/>
              <a:t>детали (прическа, большие ресницы, украшения, маленькие красивые </a:t>
            </a:r>
            <a:r>
              <a:rPr lang="ru-RU" dirty="0" err="1"/>
              <a:t>татушки</a:t>
            </a:r>
            <a:r>
              <a:rPr lang="ru-RU" dirty="0"/>
              <a:t>, тщательно прорисованные детали одежды, шляпка и т п) – </a:t>
            </a:r>
            <a:r>
              <a:rPr lang="ru-RU" dirty="0" err="1"/>
              <a:t>демонстративность</a:t>
            </a:r>
            <a:endParaRPr lang="ru-RU" b="1" dirty="0"/>
          </a:p>
          <a:p>
            <a:pPr lvl="0"/>
            <a:r>
              <a:rPr lang="ru-RU" dirty="0"/>
              <a:t>Многочисленные пуговицы на закрытой одежде – закрытость, ригидность</a:t>
            </a:r>
            <a:endParaRPr lang="ru-RU" b="1" dirty="0"/>
          </a:p>
          <a:p>
            <a:pPr lvl="0"/>
            <a:r>
              <a:rPr lang="ru-RU" dirty="0"/>
              <a:t>Штриховка, множественные линии, исправления, нажим – здесь есть напряжение в отношении этого члена системы (особые отношения, амбивалентность, конфликт) </a:t>
            </a:r>
            <a:endParaRPr lang="ru-RU" b="1" dirty="0"/>
          </a:p>
          <a:p>
            <a:pPr marL="45720" indent="0">
              <a:buNone/>
            </a:pPr>
            <a:endParaRPr lang="ru-RU" dirty="0"/>
          </a:p>
        </p:txBody>
      </p:sp>
    </p:spTree>
    <p:extLst>
      <p:ext uri="{BB962C8B-B14F-4D97-AF65-F5344CB8AC3E}">
        <p14:creationId xmlns:p14="http://schemas.microsoft.com/office/powerpoint/2010/main" val="398184508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1115616" y="548680"/>
            <a:ext cx="6813376" cy="5433784"/>
          </a:xfrm>
        </p:spPr>
        <p:txBody>
          <a:bodyPr>
            <a:normAutofit fontScale="92500" lnSpcReduction="20000"/>
          </a:bodyPr>
          <a:lstStyle/>
          <a:p>
            <a:pPr lvl="0"/>
            <a:r>
              <a:rPr lang="ru-RU" dirty="0">
                <a:solidFill>
                  <a:srgbClr val="C00000"/>
                </a:solidFill>
              </a:rPr>
              <a:t>Для семьи/отношений: изображение человека - есть гендерные различия, одежда соответствует половой идентичности</a:t>
            </a:r>
            <a:endParaRPr lang="ru-RU" b="1" dirty="0">
              <a:solidFill>
                <a:srgbClr val="C00000"/>
              </a:solidFill>
            </a:endParaRPr>
          </a:p>
          <a:p>
            <a:pPr lvl="0"/>
            <a:r>
              <a:rPr lang="ru-RU" dirty="0">
                <a:solidFill>
                  <a:srgbClr val="C00000"/>
                </a:solidFill>
              </a:rPr>
              <a:t>Для семьи/отношений признаки пола: подчеркнуты бедра, грудь, </a:t>
            </a:r>
            <a:r>
              <a:rPr lang="ru-RU" dirty="0" smtClean="0">
                <a:solidFill>
                  <a:srgbClr val="C00000"/>
                </a:solidFill>
              </a:rPr>
              <a:t>талия, </a:t>
            </a:r>
            <a:r>
              <a:rPr lang="ru-RU" dirty="0">
                <a:solidFill>
                  <a:srgbClr val="C00000"/>
                </a:solidFill>
              </a:rPr>
              <a:t>узкие плечи в женском рисунке, мускулатура, широкие плечи в мужском – интерес к сексуальной сфере, </a:t>
            </a:r>
            <a:r>
              <a:rPr lang="ru-RU" dirty="0" err="1">
                <a:solidFill>
                  <a:srgbClr val="C00000"/>
                </a:solidFill>
              </a:rPr>
              <a:t>проявленность</a:t>
            </a:r>
            <a:r>
              <a:rPr lang="ru-RU" dirty="0">
                <a:solidFill>
                  <a:srgbClr val="C00000"/>
                </a:solidFill>
              </a:rPr>
              <a:t> половой идентичности. Мало проявлены/присутствуют частично  – сниженная половая идентичность. Отсутствуют полностью, непонятно вообще кто по полу – нарушение половой идентичности. Слишком подчеркнуты (такой мачо или ах-какая женщина) – актуальность темы отношений и/или компенсация (то, чего нет, но в чем я нуждаюсь)</a:t>
            </a:r>
            <a:endParaRPr lang="ru-RU" b="1" dirty="0">
              <a:solidFill>
                <a:srgbClr val="C00000"/>
              </a:solidFill>
            </a:endParaRPr>
          </a:p>
          <a:p>
            <a:pPr lvl="0"/>
            <a:r>
              <a:rPr lang="ru-RU" dirty="0"/>
              <a:t>Для семьи/отношений: мужчина справа, женщина слева по отношению друг к другу</a:t>
            </a:r>
            <a:endParaRPr lang="ru-RU" b="1" dirty="0"/>
          </a:p>
          <a:p>
            <a:pPr lvl="0"/>
            <a:r>
              <a:rPr lang="ru-RU" dirty="0"/>
              <a:t>Для семьи/отношений: если рисуется ядерная семья (близко, вместе) – нарушение границ, они слишком проницаемы, не простроены между подсистемами</a:t>
            </a:r>
            <a:endParaRPr lang="ru-RU" b="1" dirty="0"/>
          </a:p>
        </p:txBody>
      </p:sp>
    </p:spTree>
    <p:extLst>
      <p:ext uri="{BB962C8B-B14F-4D97-AF65-F5344CB8AC3E}">
        <p14:creationId xmlns:p14="http://schemas.microsoft.com/office/powerpoint/2010/main" val="141566377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87143" y="404664"/>
            <a:ext cx="6512511" cy="720080"/>
          </a:xfrm>
        </p:spPr>
        <p:txBody>
          <a:bodyPr/>
          <a:lstStyle/>
          <a:p>
            <a:pPr marL="0" indent="0">
              <a:buNone/>
            </a:pPr>
            <a:r>
              <a:rPr lang="ru-RU" sz="3200" dirty="0">
                <a:solidFill>
                  <a:schemeClr val="accent1"/>
                </a:solidFill>
              </a:rPr>
              <a:t>«Я и мой партнер сейчас»</a:t>
            </a:r>
            <a:endParaRPr lang="ru-RU" sz="3200" dirty="0"/>
          </a:p>
        </p:txBody>
      </p:sp>
      <p:pic>
        <p:nvPicPr>
          <p:cNvPr id="4" name="Объект 3"/>
          <p:cNvPicPr>
            <a:picLocks noGrp="1" noChangeAspect="1"/>
          </p:cNvPicPr>
          <p:nvPr>
            <p:ph sz="quarter" idx="13"/>
          </p:nvPr>
        </p:nvPicPr>
        <p:blipFill>
          <a:blip r:embed="rId2"/>
          <a:stretch>
            <a:fillRect/>
          </a:stretch>
        </p:blipFill>
        <p:spPr>
          <a:xfrm rot="16200000">
            <a:off x="2375758" y="-135400"/>
            <a:ext cx="4536504" cy="7776867"/>
          </a:xfrm>
          <a:prstGeom prst="rect">
            <a:avLst/>
          </a:prstGeom>
        </p:spPr>
      </p:pic>
    </p:spTree>
    <p:extLst>
      <p:ext uri="{BB962C8B-B14F-4D97-AF65-F5344CB8AC3E}">
        <p14:creationId xmlns:p14="http://schemas.microsoft.com/office/powerpoint/2010/main" val="427459796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351749" y="188640"/>
            <a:ext cx="6512511" cy="864096"/>
          </a:xfrm>
        </p:spPr>
        <p:txBody>
          <a:bodyPr/>
          <a:lstStyle/>
          <a:p>
            <a:pPr marL="0" indent="0" algn="ctr">
              <a:buNone/>
            </a:pPr>
            <a:r>
              <a:rPr lang="ru-RU" sz="2800" dirty="0" smtClean="0">
                <a:solidFill>
                  <a:schemeClr val="accent1"/>
                </a:solidFill>
              </a:rPr>
              <a:t>«Какие я хочу отношения»</a:t>
            </a:r>
            <a:br>
              <a:rPr lang="ru-RU" sz="2800" dirty="0" smtClean="0">
                <a:solidFill>
                  <a:schemeClr val="accent1"/>
                </a:solidFill>
              </a:rPr>
            </a:br>
            <a:endParaRPr lang="ru-RU" sz="2800" dirty="0"/>
          </a:p>
        </p:txBody>
      </p:sp>
      <p:pic>
        <p:nvPicPr>
          <p:cNvPr id="4" name="Объект 3"/>
          <p:cNvPicPr>
            <a:picLocks noGrp="1" noChangeAspect="1"/>
          </p:cNvPicPr>
          <p:nvPr>
            <p:ph sz="quarter" idx="13"/>
          </p:nvPr>
        </p:nvPicPr>
        <p:blipFill>
          <a:blip r:embed="rId2"/>
          <a:stretch>
            <a:fillRect/>
          </a:stretch>
        </p:blipFill>
        <p:spPr>
          <a:xfrm rot="16200000">
            <a:off x="2183830" y="32715"/>
            <a:ext cx="4848350" cy="7272809"/>
          </a:xfrm>
          <a:prstGeom prst="rect">
            <a:avLst/>
          </a:prstGeom>
        </p:spPr>
      </p:pic>
    </p:spTree>
    <p:extLst>
      <p:ext uri="{BB962C8B-B14F-4D97-AF65-F5344CB8AC3E}">
        <p14:creationId xmlns:p14="http://schemas.microsoft.com/office/powerpoint/2010/main" val="54806724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331640" y="332656"/>
            <a:ext cx="6512511" cy="641008"/>
          </a:xfrm>
        </p:spPr>
        <p:txBody>
          <a:bodyPr/>
          <a:lstStyle/>
          <a:p>
            <a:pPr marL="0" indent="0" algn="ctr">
              <a:buNone/>
            </a:pPr>
            <a:r>
              <a:rPr lang="ru-RU" sz="2800" dirty="0" smtClean="0">
                <a:solidFill>
                  <a:srgbClr val="0070C0"/>
                </a:solidFill>
              </a:rPr>
              <a:t>Наши отношения сейчас</a:t>
            </a:r>
            <a:endParaRPr lang="ru-RU" sz="2800" dirty="0">
              <a:solidFill>
                <a:srgbClr val="0070C0"/>
              </a:solidFill>
            </a:endParaRPr>
          </a:p>
        </p:txBody>
      </p:sp>
      <p:pic>
        <p:nvPicPr>
          <p:cNvPr id="4" name="Объект 3"/>
          <p:cNvPicPr>
            <a:picLocks noGrp="1" noChangeAspect="1"/>
          </p:cNvPicPr>
          <p:nvPr>
            <p:ph sz="quarter" idx="13"/>
          </p:nvPr>
        </p:nvPicPr>
        <p:blipFill>
          <a:blip r:embed="rId2"/>
          <a:stretch>
            <a:fillRect/>
          </a:stretch>
        </p:blipFill>
        <p:spPr>
          <a:xfrm rot="16200000">
            <a:off x="2275521" y="124406"/>
            <a:ext cx="4808984" cy="7128793"/>
          </a:xfrm>
          <a:prstGeom prst="rect">
            <a:avLst/>
          </a:prstGeom>
        </p:spPr>
      </p:pic>
    </p:spTree>
    <p:extLst>
      <p:ext uri="{BB962C8B-B14F-4D97-AF65-F5344CB8AC3E}">
        <p14:creationId xmlns:p14="http://schemas.microsoft.com/office/powerpoint/2010/main" val="12810076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475656" y="260648"/>
            <a:ext cx="6512511" cy="641008"/>
          </a:xfrm>
        </p:spPr>
        <p:txBody>
          <a:bodyPr/>
          <a:lstStyle/>
          <a:p>
            <a:pPr marL="0" indent="0" algn="ctr">
              <a:buNone/>
            </a:pPr>
            <a:r>
              <a:rPr lang="ru-RU" sz="2800" dirty="0" smtClean="0">
                <a:solidFill>
                  <a:srgbClr val="0070C0"/>
                </a:solidFill>
              </a:rPr>
              <a:t>Наши идеальные отношения</a:t>
            </a:r>
            <a:endParaRPr lang="ru-RU" sz="2800" dirty="0">
              <a:solidFill>
                <a:srgbClr val="0070C0"/>
              </a:solidFill>
            </a:endParaRPr>
          </a:p>
        </p:txBody>
      </p:sp>
      <p:pic>
        <p:nvPicPr>
          <p:cNvPr id="4" name="Объект 3"/>
          <p:cNvPicPr>
            <a:picLocks noGrp="1" noChangeAspect="1"/>
          </p:cNvPicPr>
          <p:nvPr>
            <p:ph sz="quarter" idx="13"/>
          </p:nvPr>
        </p:nvPicPr>
        <p:blipFill>
          <a:blip r:embed="rId2"/>
          <a:stretch>
            <a:fillRect/>
          </a:stretch>
        </p:blipFill>
        <p:spPr>
          <a:xfrm rot="16200000">
            <a:off x="2087725" y="-279413"/>
            <a:ext cx="5256584" cy="7776863"/>
          </a:xfrm>
          <a:prstGeom prst="rect">
            <a:avLst/>
          </a:prstGeom>
        </p:spPr>
      </p:pic>
    </p:spTree>
    <p:extLst>
      <p:ext uri="{BB962C8B-B14F-4D97-AF65-F5344CB8AC3E}">
        <p14:creationId xmlns:p14="http://schemas.microsoft.com/office/powerpoint/2010/main" val="428124158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59632" y="188640"/>
            <a:ext cx="6512511" cy="648072"/>
          </a:xfrm>
        </p:spPr>
        <p:txBody>
          <a:bodyPr/>
          <a:lstStyle/>
          <a:p>
            <a:pPr marL="0" indent="0" algn="ctr">
              <a:buNone/>
            </a:pPr>
            <a:r>
              <a:rPr lang="ru-RU" sz="2000" dirty="0" smtClean="0">
                <a:solidFill>
                  <a:schemeClr val="accent1"/>
                </a:solidFill>
              </a:rPr>
              <a:t>Я, моя семья и проблема</a:t>
            </a:r>
            <a:endParaRPr lang="ru-RU" sz="2000" dirty="0">
              <a:solidFill>
                <a:schemeClr val="accent1"/>
              </a:solidFill>
            </a:endParaRPr>
          </a:p>
        </p:txBody>
      </p:sp>
      <p:pic>
        <p:nvPicPr>
          <p:cNvPr id="1027" name="Picture 3" descr="C:\Users\Ирина\Desktop\РУДН_АВКоуч\Материалы\Мои матрицы и сценарии\5 модуль\Рисунки клиентов\Я, моя семья и проблема\IMG-20170419-WA0031.jpg"/>
          <p:cNvPicPr>
            <a:picLocks noGrp="1" noChangeAspect="1" noChangeArrowheads="1"/>
          </p:cNvPicPr>
          <p:nvPr>
            <p:ph sz="quarter" idx="13"/>
          </p:nvPr>
        </p:nvPicPr>
        <p:blipFill>
          <a:blip r:embed="rId2" cstate="print">
            <a:extLst>
              <a:ext uri="{28A0092B-C50C-407E-A947-70E740481C1C}">
                <a14:useLocalDpi xmlns:a14="http://schemas.microsoft.com/office/drawing/2010/main" val="0"/>
              </a:ext>
            </a:extLst>
          </a:blip>
          <a:srcRect/>
          <a:stretch>
            <a:fillRect/>
          </a:stretch>
        </p:blipFill>
        <p:spPr bwMode="auto">
          <a:xfrm>
            <a:off x="-13854" y="684490"/>
            <a:ext cx="8964488" cy="59766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7575396"/>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403648" y="332656"/>
            <a:ext cx="6512511" cy="1143000"/>
          </a:xfrm>
        </p:spPr>
        <p:txBody>
          <a:bodyPr/>
          <a:lstStyle/>
          <a:p>
            <a:pPr marL="0" indent="0">
              <a:buNone/>
            </a:pPr>
            <a:r>
              <a:rPr lang="ru-RU" sz="2000" dirty="0" smtClean="0">
                <a:solidFill>
                  <a:schemeClr val="accent1"/>
                </a:solidFill>
              </a:rPr>
              <a:t>Я, моя семья, когда проблема будет решена</a:t>
            </a:r>
            <a:endParaRPr lang="ru-RU" sz="2000" dirty="0">
              <a:solidFill>
                <a:schemeClr val="accent1"/>
              </a:solidFill>
            </a:endParaRPr>
          </a:p>
        </p:txBody>
      </p:sp>
      <p:pic>
        <p:nvPicPr>
          <p:cNvPr id="2050" name="Picture 2" descr="C:\Users\Ирина\Desktop\РУДН_АВКоуч\Материалы\Мои матрицы и сценарии\5 модуль\Рисунки клиентов\Я, моя семья и проблема\IMG-20170419-WA0030.jpg"/>
          <p:cNvPicPr>
            <a:picLocks noGrp="1" noChangeAspect="1" noChangeArrowheads="1"/>
          </p:cNvPicPr>
          <p:nvPr>
            <p:ph sz="quarter" idx="13"/>
          </p:nvPr>
        </p:nvPicPr>
        <p:blipFill>
          <a:blip r:embed="rId2" cstate="print">
            <a:extLst>
              <a:ext uri="{28A0092B-C50C-407E-A947-70E740481C1C}">
                <a14:useLocalDpi xmlns:a14="http://schemas.microsoft.com/office/drawing/2010/main" val="0"/>
              </a:ext>
            </a:extLst>
          </a:blip>
          <a:srcRect/>
          <a:stretch>
            <a:fillRect/>
          </a:stretch>
        </p:blipFill>
        <p:spPr bwMode="auto">
          <a:xfrm>
            <a:off x="179512" y="692696"/>
            <a:ext cx="8712967" cy="59766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4664254"/>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403648" y="332656"/>
            <a:ext cx="6512511" cy="504056"/>
          </a:xfrm>
        </p:spPr>
        <p:txBody>
          <a:bodyPr/>
          <a:lstStyle/>
          <a:p>
            <a:pPr marL="0" indent="0" algn="ctr">
              <a:buNone/>
            </a:pPr>
            <a:r>
              <a:rPr lang="ru-RU" sz="2000" dirty="0" smtClean="0">
                <a:solidFill>
                  <a:schemeClr val="accent1"/>
                </a:solidFill>
              </a:rPr>
              <a:t>«Я и мой потенциальный партнер»</a:t>
            </a:r>
            <a:endParaRPr lang="ru-RU" sz="2000" dirty="0">
              <a:solidFill>
                <a:schemeClr val="accent1"/>
              </a:solidFill>
            </a:endParaRPr>
          </a:p>
        </p:txBody>
      </p:sp>
      <p:pic>
        <p:nvPicPr>
          <p:cNvPr id="3074" name="Picture 2" descr="C:\Users\Ирина\Desktop\МОИ ДОКУМЕНТЫ\Псих-я с клиентами\Рисунки\Мила Екатеринбург\Мила. Я.jpg"/>
          <p:cNvPicPr>
            <a:picLocks noGrp="1" noChangeAspect="1" noChangeArrowheads="1"/>
          </p:cNvPicPr>
          <p:nvPr>
            <p:ph sz="quarter" idx="13"/>
          </p:nvPr>
        </p:nvPicPr>
        <p:blipFill>
          <a:blip r:embed="rId2" cstate="print">
            <a:extLst>
              <a:ext uri="{28A0092B-C50C-407E-A947-70E740481C1C}">
                <a14:useLocalDpi xmlns:a14="http://schemas.microsoft.com/office/drawing/2010/main" val="0"/>
              </a:ext>
            </a:extLst>
          </a:blip>
          <a:srcRect/>
          <a:stretch>
            <a:fillRect/>
          </a:stretch>
        </p:blipFill>
        <p:spPr bwMode="auto">
          <a:xfrm>
            <a:off x="1763688" y="836712"/>
            <a:ext cx="5544616" cy="58326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4373748"/>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691680" y="188640"/>
            <a:ext cx="6512511" cy="1143000"/>
          </a:xfrm>
        </p:spPr>
        <p:txBody>
          <a:bodyPr/>
          <a:lstStyle/>
          <a:p>
            <a:pPr marL="0" indent="0" algn="ctr">
              <a:buNone/>
            </a:pPr>
            <a:r>
              <a:rPr lang="ru-RU" sz="2000" dirty="0" smtClean="0">
                <a:solidFill>
                  <a:schemeClr val="accent1"/>
                </a:solidFill>
              </a:rPr>
              <a:t>Я как женщина</a:t>
            </a:r>
            <a:endParaRPr lang="ru-RU" sz="2000" dirty="0">
              <a:solidFill>
                <a:schemeClr val="accent1"/>
              </a:solidFill>
            </a:endParaRPr>
          </a:p>
        </p:txBody>
      </p:sp>
      <p:pic>
        <p:nvPicPr>
          <p:cNvPr id="4098" name="Picture 2" descr="C:\Users\Ирина\Desktop\МОИ ДОКУМЕНТЫ\Псих-я с клиентами\Рисунки\Мила Екатеринбург\Мила. Я как женщина.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23728" y="548680"/>
            <a:ext cx="5020022" cy="60486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9094692"/>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87624" y="476672"/>
            <a:ext cx="6512511" cy="648072"/>
          </a:xfrm>
        </p:spPr>
        <p:txBody>
          <a:bodyPr/>
          <a:lstStyle/>
          <a:p>
            <a:pPr marL="0" indent="0" algn="ctr">
              <a:buNone/>
            </a:pPr>
            <a:r>
              <a:rPr lang="ru-RU" sz="2800" dirty="0" smtClean="0">
                <a:solidFill>
                  <a:srgbClr val="0070C0"/>
                </a:solidFill>
              </a:rPr>
              <a:t>Я как </a:t>
            </a:r>
            <a:r>
              <a:rPr lang="ru-RU" sz="2800" dirty="0">
                <a:solidFill>
                  <a:srgbClr val="0070C0"/>
                </a:solidFill>
              </a:rPr>
              <a:t>женщина</a:t>
            </a:r>
          </a:p>
        </p:txBody>
      </p:sp>
      <p:pic>
        <p:nvPicPr>
          <p:cNvPr id="4" name="Объект 3"/>
          <p:cNvPicPr>
            <a:picLocks noGrp="1" noChangeAspect="1"/>
          </p:cNvPicPr>
          <p:nvPr>
            <p:ph sz="quarter" idx="13"/>
          </p:nvPr>
        </p:nvPicPr>
        <p:blipFill>
          <a:blip r:embed="rId2" cstate="print">
            <a:extLst>
              <a:ext uri="{28A0092B-C50C-407E-A947-70E740481C1C}">
                <a14:useLocalDpi xmlns:a14="http://schemas.microsoft.com/office/drawing/2010/main" val="0"/>
              </a:ext>
            </a:extLst>
          </a:blip>
          <a:stretch>
            <a:fillRect/>
          </a:stretch>
        </p:blipFill>
        <p:spPr>
          <a:xfrm>
            <a:off x="1187624" y="1268760"/>
            <a:ext cx="6984776" cy="4752528"/>
          </a:xfrm>
        </p:spPr>
      </p:pic>
    </p:spTree>
    <p:extLst>
      <p:ext uri="{BB962C8B-B14F-4D97-AF65-F5344CB8AC3E}">
        <p14:creationId xmlns:p14="http://schemas.microsoft.com/office/powerpoint/2010/main" val="427137734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02842" y="260648"/>
            <a:ext cx="6512511" cy="569000"/>
          </a:xfrm>
        </p:spPr>
        <p:txBody>
          <a:bodyPr/>
          <a:lstStyle/>
          <a:p>
            <a:pPr marL="0" indent="0" algn="ctr">
              <a:buNone/>
            </a:pPr>
            <a:r>
              <a:rPr lang="ru-RU" sz="2400" dirty="0" smtClean="0">
                <a:solidFill>
                  <a:srgbClr val="0070C0"/>
                </a:solidFill>
              </a:rPr>
              <a:t>Я как женщина</a:t>
            </a:r>
            <a:endParaRPr lang="ru-RU" sz="2400" dirty="0">
              <a:solidFill>
                <a:srgbClr val="0070C0"/>
              </a:solidFill>
            </a:endParaRPr>
          </a:p>
        </p:txBody>
      </p:sp>
      <p:pic>
        <p:nvPicPr>
          <p:cNvPr id="4" name="Объект 3"/>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1115616" y="1052736"/>
            <a:ext cx="6984776" cy="4896544"/>
          </a:xfrm>
        </p:spPr>
      </p:pic>
    </p:spTree>
    <p:extLst>
      <p:ext uri="{BB962C8B-B14F-4D97-AF65-F5344CB8AC3E}">
        <p14:creationId xmlns:p14="http://schemas.microsoft.com/office/powerpoint/2010/main" val="337457638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Объект 3"/>
          <p:cNvPicPr>
            <a:picLocks noGrp="1" noChangeAspect="1"/>
          </p:cNvPicPr>
          <p:nvPr>
            <p:ph sz="quarter" idx="13"/>
          </p:nvPr>
        </p:nvPicPr>
        <p:blipFill>
          <a:blip r:embed="rId2" cstate="print">
            <a:extLst>
              <a:ext uri="{28A0092B-C50C-407E-A947-70E740481C1C}">
                <a14:useLocalDpi xmlns:a14="http://schemas.microsoft.com/office/drawing/2010/main" val="0"/>
              </a:ext>
            </a:extLst>
          </a:blip>
          <a:stretch>
            <a:fillRect/>
          </a:stretch>
        </p:blipFill>
        <p:spPr>
          <a:xfrm>
            <a:off x="1115616" y="260648"/>
            <a:ext cx="7047763" cy="6401044"/>
          </a:xfrm>
        </p:spPr>
      </p:pic>
    </p:spTree>
    <p:extLst>
      <p:ext uri="{BB962C8B-B14F-4D97-AF65-F5344CB8AC3E}">
        <p14:creationId xmlns:p14="http://schemas.microsoft.com/office/powerpoint/2010/main" val="147788168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971600" y="2060848"/>
            <a:ext cx="7436296" cy="3474720"/>
          </a:xfrm>
        </p:spPr>
        <p:txBody>
          <a:bodyPr>
            <a:normAutofit/>
          </a:bodyPr>
          <a:lstStyle/>
          <a:p>
            <a:pPr marL="45720" indent="0" algn="ctr">
              <a:buNone/>
            </a:pPr>
            <a:r>
              <a:rPr lang="ru-RU" sz="3200" dirty="0" smtClean="0">
                <a:solidFill>
                  <a:srgbClr val="C00000"/>
                </a:solidFill>
              </a:rPr>
              <a:t>Техники на визуальный канал/</a:t>
            </a:r>
          </a:p>
          <a:p>
            <a:pPr marL="45720" indent="0" algn="ctr">
              <a:buNone/>
            </a:pPr>
            <a:r>
              <a:rPr lang="ru-RU" sz="3200" dirty="0" smtClean="0">
                <a:solidFill>
                  <a:srgbClr val="C00000"/>
                </a:solidFill>
              </a:rPr>
              <a:t>Работа с визуальной метафорой</a:t>
            </a:r>
            <a:endParaRPr lang="ru-RU" sz="3200" dirty="0">
              <a:solidFill>
                <a:srgbClr val="C00000"/>
              </a:solidFill>
            </a:endParaRPr>
          </a:p>
        </p:txBody>
      </p:sp>
    </p:spTree>
    <p:extLst>
      <p:ext uri="{BB962C8B-B14F-4D97-AF65-F5344CB8AC3E}">
        <p14:creationId xmlns:p14="http://schemas.microsoft.com/office/powerpoint/2010/main" val="101899925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
            </a:r>
            <a:br>
              <a:rPr lang="ru-RU" dirty="0"/>
            </a:br>
            <a:endParaRPr lang="ru-RU" dirty="0"/>
          </a:p>
        </p:txBody>
      </p:sp>
      <p:sp>
        <p:nvSpPr>
          <p:cNvPr id="3" name="Объект 2"/>
          <p:cNvSpPr>
            <a:spLocks noGrp="1"/>
          </p:cNvSpPr>
          <p:nvPr>
            <p:ph idx="4294967295"/>
          </p:nvPr>
        </p:nvSpPr>
        <p:spPr>
          <a:xfrm>
            <a:off x="539552" y="2132856"/>
            <a:ext cx="4708577" cy="2910580"/>
          </a:xfrm>
        </p:spPr>
        <p:txBody>
          <a:bodyPr/>
          <a:lstStyle/>
          <a:p>
            <a:pPr lvl="0"/>
            <a:r>
              <a:rPr lang="ru-RU" sz="1500" dirty="0"/>
              <a:t>Входим в </a:t>
            </a:r>
            <a:r>
              <a:rPr lang="ru-RU" sz="1500" dirty="0" err="1"/>
              <a:t>трансовое</a:t>
            </a:r>
            <a:r>
              <a:rPr lang="ru-RU" sz="1500" dirty="0"/>
              <a:t> состояние.</a:t>
            </a:r>
          </a:p>
          <a:p>
            <a:pPr lvl="0"/>
            <a:r>
              <a:rPr lang="ru-RU" sz="1500" dirty="0"/>
              <a:t>Прокручиваем воспоминание на экране, постепенно отдаляя его и делая туманным и расплывчатым. </a:t>
            </a:r>
          </a:p>
          <a:p>
            <a:pPr lvl="0"/>
            <a:r>
              <a:rPr lang="ru-RU" sz="1500" dirty="0"/>
              <a:t>Уменьшаем изображение. </a:t>
            </a:r>
          </a:p>
          <a:p>
            <a:pPr lvl="0"/>
            <a:r>
              <a:rPr lang="ru-RU" sz="1500" dirty="0"/>
              <a:t>Делаем стоп – кадр и медленно закрашиваем его белой краской. Экран чист. </a:t>
            </a:r>
          </a:p>
          <a:p>
            <a:pPr marL="45720" indent="0">
              <a:buNone/>
            </a:pPr>
            <a:endParaRPr lang="ru-RU" dirty="0"/>
          </a:p>
        </p:txBody>
      </p:sp>
      <p:pic>
        <p:nvPicPr>
          <p:cNvPr id="6146" name="Picture 2" descr="http://fractalenlightenment.com/wp-content/uploads/2014/11/mind-consciousnes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14136" y="2225729"/>
            <a:ext cx="2952555" cy="2214417"/>
          </a:xfrm>
          <a:prstGeom prst="rect">
            <a:avLst/>
          </a:prstGeom>
          <a:noFill/>
          <a:extLst>
            <a:ext uri="{909E8E84-426E-40DD-AFC4-6F175D3DCCD1}">
              <a14:hiddenFill xmlns:a14="http://schemas.microsoft.com/office/drawing/2010/main">
                <a:solidFill>
                  <a:srgbClr val="FFFFFF"/>
                </a:solidFill>
              </a14:hiddenFill>
            </a:ext>
          </a:extLst>
        </p:spPr>
      </p:pic>
      <p:sp>
        <p:nvSpPr>
          <p:cNvPr id="4" name="Прямоугольник 3"/>
          <p:cNvSpPr/>
          <p:nvPr/>
        </p:nvSpPr>
        <p:spPr>
          <a:xfrm>
            <a:off x="827584" y="228370"/>
            <a:ext cx="7848872" cy="1569660"/>
          </a:xfrm>
          <a:prstGeom prst="rect">
            <a:avLst/>
          </a:prstGeom>
        </p:spPr>
        <p:txBody>
          <a:bodyPr wrap="square">
            <a:spAutoFit/>
          </a:bodyPr>
          <a:lstStyle/>
          <a:p>
            <a:pPr algn="ctr"/>
            <a:r>
              <a:rPr lang="ru-RU" sz="2400" b="1" dirty="0" smtClean="0">
                <a:solidFill>
                  <a:srgbClr val="0070C0"/>
                </a:solidFill>
              </a:rPr>
              <a:t>Техника </a:t>
            </a:r>
            <a:r>
              <a:rPr lang="ru-RU" sz="2400" b="1" dirty="0" smtClean="0">
                <a:solidFill>
                  <a:srgbClr val="0070C0"/>
                </a:solidFill>
              </a:rPr>
              <a:t>«Экран»: </a:t>
            </a:r>
          </a:p>
          <a:p>
            <a:pPr algn="ctr"/>
            <a:r>
              <a:rPr lang="ru-RU" sz="2400" b="1" dirty="0" smtClean="0">
                <a:solidFill>
                  <a:srgbClr val="0070C0"/>
                </a:solidFill>
              </a:rPr>
              <a:t>как </a:t>
            </a:r>
            <a:r>
              <a:rPr lang="ru-RU" sz="2400" b="1" dirty="0">
                <a:solidFill>
                  <a:srgbClr val="0070C0"/>
                </a:solidFill>
              </a:rPr>
              <a:t>избавиться от </a:t>
            </a:r>
            <a:r>
              <a:rPr lang="ru-RU" sz="2400" b="1" dirty="0">
                <a:solidFill>
                  <a:srgbClr val="0070C0"/>
                </a:solidFill>
              </a:rPr>
              <a:t>внутренних препятствий и </a:t>
            </a:r>
            <a:r>
              <a:rPr lang="ru-RU" sz="2400" b="1" dirty="0" smtClean="0">
                <a:solidFill>
                  <a:srgbClr val="0070C0"/>
                </a:solidFill>
              </a:rPr>
              <a:t>тягостных </a:t>
            </a:r>
            <a:r>
              <a:rPr lang="ru-RU" sz="2400" b="1" dirty="0" smtClean="0">
                <a:solidFill>
                  <a:srgbClr val="0070C0"/>
                </a:solidFill>
              </a:rPr>
              <a:t>воспоминаний</a:t>
            </a:r>
          </a:p>
          <a:p>
            <a:pPr algn="ctr"/>
            <a:r>
              <a:rPr lang="ru-RU" sz="2400" b="1" dirty="0" smtClean="0">
                <a:solidFill>
                  <a:srgbClr val="0070C0"/>
                </a:solidFill>
              </a:rPr>
              <a:t>(самостоятельное изучение)</a:t>
            </a:r>
            <a:endParaRPr lang="ru-RU" sz="2400" dirty="0">
              <a:solidFill>
                <a:srgbClr val="0070C0"/>
              </a:solidFill>
            </a:endParaRPr>
          </a:p>
        </p:txBody>
      </p:sp>
    </p:spTree>
    <p:extLst>
      <p:ext uri="{BB962C8B-B14F-4D97-AF65-F5344CB8AC3E}">
        <p14:creationId xmlns:p14="http://schemas.microsoft.com/office/powerpoint/2010/main" val="184865262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611560" y="1124744"/>
            <a:ext cx="8280920" cy="3474720"/>
          </a:xfrm>
        </p:spPr>
        <p:txBody>
          <a:bodyPr/>
          <a:lstStyle/>
          <a:p>
            <a:pPr marL="45720" indent="0">
              <a:buNone/>
            </a:pPr>
            <a:endParaRPr lang="ru-RU" dirty="0" smtClean="0"/>
          </a:p>
          <a:p>
            <a:pPr marL="45720" indent="0">
              <a:buNone/>
            </a:pPr>
            <a:endParaRPr lang="ru-RU" dirty="0"/>
          </a:p>
          <a:p>
            <a:pPr marL="45720" indent="0">
              <a:buNone/>
            </a:pPr>
            <a:endParaRPr lang="ru-RU" dirty="0" smtClean="0"/>
          </a:p>
          <a:p>
            <a:pPr marL="45720" indent="0">
              <a:buNone/>
            </a:pPr>
            <a:r>
              <a:rPr lang="ru-RU" dirty="0" smtClean="0"/>
              <a:t>!!! Мы сделаем практику, взяв более сложный вариант работы с внутренними препятствиями – техника «Миф»</a:t>
            </a:r>
          </a:p>
        </p:txBody>
      </p:sp>
    </p:spTree>
    <p:extLst>
      <p:ext uri="{BB962C8B-B14F-4D97-AF65-F5344CB8AC3E}">
        <p14:creationId xmlns:p14="http://schemas.microsoft.com/office/powerpoint/2010/main" val="401215276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59632" y="332656"/>
            <a:ext cx="6512511" cy="569000"/>
          </a:xfrm>
        </p:spPr>
        <p:txBody>
          <a:bodyPr/>
          <a:lstStyle/>
          <a:p>
            <a:pPr marL="0" indent="0" algn="ctr">
              <a:buNone/>
            </a:pPr>
            <a:r>
              <a:rPr lang="ru-RU" sz="2000" dirty="0">
                <a:solidFill>
                  <a:srgbClr val="0070C0"/>
                </a:solidFill>
              </a:rPr>
              <a:t>Техника МИФ (работа с </a:t>
            </a:r>
            <a:r>
              <a:rPr lang="ru-RU" sz="2000" dirty="0" smtClean="0">
                <a:solidFill>
                  <a:srgbClr val="0070C0"/>
                </a:solidFill>
              </a:rPr>
              <a:t>проблемой)</a:t>
            </a:r>
            <a:r>
              <a:rPr lang="ru-RU" sz="2000" dirty="0">
                <a:solidFill>
                  <a:srgbClr val="0070C0"/>
                </a:solidFill>
              </a:rPr>
              <a:t/>
            </a:r>
            <a:br>
              <a:rPr lang="ru-RU" sz="2000" dirty="0">
                <a:solidFill>
                  <a:srgbClr val="0070C0"/>
                </a:solidFill>
              </a:rPr>
            </a:br>
            <a:endParaRPr lang="ru-RU" sz="2000" dirty="0">
              <a:solidFill>
                <a:srgbClr val="0070C0"/>
              </a:solidFill>
            </a:endParaRPr>
          </a:p>
        </p:txBody>
      </p:sp>
      <p:sp>
        <p:nvSpPr>
          <p:cNvPr id="3" name="Объект 2"/>
          <p:cNvSpPr>
            <a:spLocks noGrp="1"/>
          </p:cNvSpPr>
          <p:nvPr>
            <p:ph sz="quarter" idx="13"/>
          </p:nvPr>
        </p:nvSpPr>
        <p:spPr>
          <a:xfrm>
            <a:off x="179512" y="836712"/>
            <a:ext cx="8640960" cy="5760640"/>
          </a:xfrm>
        </p:spPr>
        <p:txBody>
          <a:bodyPr>
            <a:normAutofit lnSpcReduction="10000"/>
          </a:bodyPr>
          <a:lstStyle/>
          <a:p>
            <a:pPr lvl="0"/>
            <a:r>
              <a:rPr lang="ru-RU" dirty="0"/>
              <a:t>Определите проблему</a:t>
            </a:r>
          </a:p>
          <a:p>
            <a:pPr lvl="0"/>
            <a:r>
              <a:rPr lang="ru-RU" dirty="0"/>
              <a:t>Определите </a:t>
            </a:r>
            <a:r>
              <a:rPr lang="ru-RU" dirty="0" err="1"/>
              <a:t>субмодальные</a:t>
            </a:r>
            <a:r>
              <a:rPr lang="ru-RU" dirty="0"/>
              <a:t> особенности: где находится, на что похожа, какого цвета, запаха, веса, объема, температура, какие звуки создает и т. п.</a:t>
            </a:r>
          </a:p>
          <a:p>
            <a:pPr lvl="0"/>
            <a:r>
              <a:rPr lang="ru-RU" dirty="0" err="1"/>
              <a:t>Диссоциировав</a:t>
            </a:r>
            <a:r>
              <a:rPr lang="ru-RU" dirty="0"/>
              <a:t> проблему от контекста и от себя, в виде метафоры, произведите изменения постоянно производя экологические проверки до тех пор, пока полученные образы, ощущения и звуки от метафоры проблемы не будут устраивать.</a:t>
            </a:r>
          </a:p>
          <a:p>
            <a:pPr lvl="0"/>
            <a:r>
              <a:rPr lang="ru-RU" dirty="0"/>
              <a:t>Верните метафору проблемы в тело, проверьте экологию изменения, осознав, хорошо ли чувствует себя тело с измененной проблемой и хорошо ли себя чувствует измененная проблема на своем месте. Короче, важно интегрировать в тело!</a:t>
            </a:r>
          </a:p>
          <a:p>
            <a:r>
              <a:rPr lang="ru-RU" dirty="0"/>
              <a:t>Подстройка к будущему: проверить как изменится будущее в воображении</a:t>
            </a:r>
          </a:p>
          <a:p>
            <a:endParaRPr lang="ru-RU" dirty="0"/>
          </a:p>
          <a:p>
            <a:endParaRPr lang="ru-RU" dirty="0"/>
          </a:p>
          <a:p>
            <a:endParaRPr lang="ru-RU" dirty="0"/>
          </a:p>
        </p:txBody>
      </p:sp>
    </p:spTree>
    <p:extLst>
      <p:ext uri="{BB962C8B-B14F-4D97-AF65-F5344CB8AC3E}">
        <p14:creationId xmlns:p14="http://schemas.microsoft.com/office/powerpoint/2010/main" val="190295049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1187624" y="2276872"/>
            <a:ext cx="6400800" cy="1368152"/>
          </a:xfrm>
        </p:spPr>
        <p:txBody>
          <a:bodyPr>
            <a:normAutofit/>
          </a:bodyPr>
          <a:lstStyle/>
          <a:p>
            <a:pPr marL="45720" indent="0" algn="ctr">
              <a:buNone/>
            </a:pPr>
            <a:r>
              <a:rPr lang="ru-RU" sz="6000" b="1" dirty="0" smtClean="0">
                <a:solidFill>
                  <a:srgbClr val="C00000"/>
                </a:solidFill>
              </a:rPr>
              <a:t>2 день</a:t>
            </a:r>
            <a:endParaRPr lang="ru-RU" sz="6000" b="1" dirty="0">
              <a:solidFill>
                <a:srgbClr val="C00000"/>
              </a:solidFill>
            </a:endParaRPr>
          </a:p>
        </p:txBody>
      </p:sp>
    </p:spTree>
    <p:extLst>
      <p:ext uri="{BB962C8B-B14F-4D97-AF65-F5344CB8AC3E}">
        <p14:creationId xmlns:p14="http://schemas.microsoft.com/office/powerpoint/2010/main" val="299099615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a:xfrm>
            <a:off x="1254478" y="620688"/>
            <a:ext cx="6512511" cy="1143000"/>
          </a:xfrm>
        </p:spPr>
        <p:txBody>
          <a:bodyPr>
            <a:noAutofit/>
          </a:bodyPr>
          <a:lstStyle/>
          <a:p>
            <a:pPr marL="0" indent="0" algn="ctr">
              <a:buNone/>
            </a:pPr>
            <a:r>
              <a:rPr lang="ru-RU" sz="3600" b="0" dirty="0" smtClean="0">
                <a:solidFill>
                  <a:srgbClr val="0070C0"/>
                </a:solidFill>
                <a:latin typeface="Verdana"/>
                <a:cs typeface="Verdana"/>
              </a:rPr>
              <a:t>МАК</a:t>
            </a:r>
            <a:br>
              <a:rPr lang="ru-RU" sz="3600" b="0" dirty="0" smtClean="0">
                <a:solidFill>
                  <a:srgbClr val="0070C0"/>
                </a:solidFill>
                <a:latin typeface="Verdana"/>
                <a:cs typeface="Verdana"/>
              </a:rPr>
            </a:br>
            <a:r>
              <a:rPr lang="ru-RU" sz="3600" b="0" dirty="0" smtClean="0">
                <a:solidFill>
                  <a:srgbClr val="0070C0"/>
                </a:solidFill>
                <a:latin typeface="Verdana"/>
                <a:cs typeface="Verdana"/>
              </a:rPr>
              <a:t>Метафорические ассоциативные карты </a:t>
            </a:r>
            <a:endParaRPr lang="ru-RU" sz="3600" b="0" dirty="0">
              <a:solidFill>
                <a:srgbClr val="0070C0"/>
              </a:solidFill>
              <a:latin typeface="Verdana"/>
              <a:cs typeface="Verdana"/>
            </a:endParaRPr>
          </a:p>
        </p:txBody>
      </p:sp>
      <p:pic>
        <p:nvPicPr>
          <p:cNvPr id="6" name="Содержимое 5"/>
          <p:cNvPicPr>
            <a:picLocks noGrp="1" noChangeAspect="1"/>
          </p:cNvPicPr>
          <p:nvPr>
            <p:ph sz="quarter" idx="13"/>
          </p:nvPr>
        </p:nvPicPr>
        <p:blipFill>
          <a:blip r:embed="rId2" cstate="print"/>
          <a:stretch>
            <a:fillRect/>
          </a:stretch>
        </p:blipFill>
        <p:spPr>
          <a:xfrm>
            <a:off x="1589146" y="2636912"/>
            <a:ext cx="6177843" cy="3691061"/>
          </a:xfrm>
        </p:spPr>
      </p:pic>
    </p:spTree>
    <p:extLst>
      <p:ext uri="{BB962C8B-B14F-4D97-AF65-F5344CB8AC3E}">
        <p14:creationId xmlns:p14="http://schemas.microsoft.com/office/powerpoint/2010/main" val="1406088177"/>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0D78003D-2525-4D8E-A690-5898448C3BB7}"/>
              </a:ext>
            </a:extLst>
          </p:cNvPr>
          <p:cNvSpPr>
            <a:spLocks noGrp="1"/>
          </p:cNvSpPr>
          <p:nvPr>
            <p:ph type="title"/>
          </p:nvPr>
        </p:nvSpPr>
        <p:spPr>
          <a:xfrm>
            <a:off x="1187624" y="548680"/>
            <a:ext cx="6201053" cy="857250"/>
          </a:xfrm>
        </p:spPr>
        <p:txBody>
          <a:bodyPr>
            <a:normAutofit fontScale="90000"/>
          </a:bodyPr>
          <a:lstStyle/>
          <a:p>
            <a:pPr marL="0" indent="0">
              <a:buNone/>
            </a:pPr>
            <a:r>
              <a:rPr lang="ru-RU" sz="2700" dirty="0">
                <a:solidFill>
                  <a:srgbClr val="0070C0"/>
                </a:solidFill>
              </a:rPr>
              <a:t>М</a:t>
            </a:r>
            <a:r>
              <a:rPr lang="ru-RU" sz="2700" dirty="0" smtClean="0">
                <a:solidFill>
                  <a:srgbClr val="0070C0"/>
                </a:solidFill>
              </a:rPr>
              <a:t>етафорические ассоциативные карты</a:t>
            </a:r>
            <a:endParaRPr lang="ru-RU" sz="2700" dirty="0">
              <a:solidFill>
                <a:srgbClr val="0070C0"/>
              </a:solidFill>
            </a:endParaRPr>
          </a:p>
        </p:txBody>
      </p:sp>
      <p:sp>
        <p:nvSpPr>
          <p:cNvPr id="3" name="Объект 2">
            <a:extLst>
              <a:ext uri="{FF2B5EF4-FFF2-40B4-BE49-F238E27FC236}">
                <a16:creationId xmlns:a16="http://schemas.microsoft.com/office/drawing/2014/main" id="{03C040A9-23E2-48A1-9ADE-CBB450263204}"/>
              </a:ext>
            </a:extLst>
          </p:cNvPr>
          <p:cNvSpPr>
            <a:spLocks noGrp="1"/>
          </p:cNvSpPr>
          <p:nvPr>
            <p:ph sz="half" idx="4294967295"/>
          </p:nvPr>
        </p:nvSpPr>
        <p:spPr>
          <a:xfrm>
            <a:off x="457200" y="2057401"/>
            <a:ext cx="4038600" cy="3737371"/>
          </a:xfrm>
        </p:spPr>
        <p:txBody>
          <a:bodyPr>
            <a:normAutofit fontScale="92500" lnSpcReduction="20000"/>
          </a:bodyPr>
          <a:lstStyle/>
          <a:p>
            <a:r>
              <a:rPr lang="ru-RU" dirty="0"/>
              <a:t>- это психологический инструмент, в основу работы которого заложен </a:t>
            </a:r>
            <a:r>
              <a:rPr lang="ru-RU" b="1" dirty="0"/>
              <a:t>закон проекции. </a:t>
            </a:r>
          </a:p>
          <a:p>
            <a:r>
              <a:rPr lang="ru-RU" dirty="0"/>
              <a:t>Карты являются стимулом, вызывающий поток ассоциаций, содержащих информацию о внутреннем мире человека; объектом, на который накладывается проецируемый материал.</a:t>
            </a:r>
            <a:br>
              <a:rPr lang="ru-RU" dirty="0"/>
            </a:br>
            <a:r>
              <a:rPr lang="ru-RU" dirty="0"/>
              <a:t/>
            </a:r>
            <a:br>
              <a:rPr lang="ru-RU" dirty="0"/>
            </a:br>
            <a:endParaRPr lang="ru-RU" dirty="0"/>
          </a:p>
        </p:txBody>
      </p:sp>
      <p:pic>
        <p:nvPicPr>
          <p:cNvPr id="2050" name="Picture 2" descr="ÐÐ°ÑÑÐ¸Ð½ÐºÐ¸ Ð¿Ð¾ Ð·Ð°Ð¿ÑÐ¾ÑÑ Ð¼ÐµÑÐ°ÑÐ¾ÑÐ¸ÑÐµÑÐºÐ¸Ðµ ÐºÐ°ÑÑÑ oh">
            <a:extLst>
              <a:ext uri="{FF2B5EF4-FFF2-40B4-BE49-F238E27FC236}">
                <a16:creationId xmlns:a16="http://schemas.microsoft.com/office/drawing/2014/main" id="{FA09A5F4-4936-4017-9A24-BA78D927FAB9}"/>
              </a:ext>
            </a:extLst>
          </p:cNvPr>
          <p:cNvPicPr>
            <a:picLocks noGrp="1" noChangeAspect="1" noChangeArrowheads="1"/>
          </p:cNvPicPr>
          <p:nvPr>
            <p:ph sz="half" idx="4294967295"/>
          </p:nvPr>
        </p:nvPicPr>
        <p:blipFill>
          <a:blip r:embed="rId2">
            <a:extLst>
              <a:ext uri="{28A0092B-C50C-407E-A947-70E740481C1C}">
                <a14:useLocalDpi xmlns:a14="http://schemas.microsoft.com/office/drawing/2010/main" val="0"/>
              </a:ext>
            </a:extLst>
          </a:blip>
          <a:srcRect/>
          <a:stretch>
            <a:fillRect/>
          </a:stretch>
        </p:blipFill>
        <p:spPr bwMode="auto">
          <a:xfrm>
            <a:off x="5302199" y="2226064"/>
            <a:ext cx="2857143" cy="18095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637942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2AC822EC-C982-4717-B662-401DF029A52F}"/>
              </a:ext>
            </a:extLst>
          </p:cNvPr>
          <p:cNvSpPr>
            <a:spLocks noGrp="1"/>
          </p:cNvSpPr>
          <p:nvPr>
            <p:ph sz="half" idx="4294967295"/>
          </p:nvPr>
        </p:nvSpPr>
        <p:spPr>
          <a:xfrm>
            <a:off x="457200" y="1595231"/>
            <a:ext cx="4038600" cy="4199540"/>
          </a:xfrm>
        </p:spPr>
        <p:txBody>
          <a:bodyPr>
            <a:normAutofit fontScale="77500" lnSpcReduction="20000"/>
          </a:bodyPr>
          <a:lstStyle/>
          <a:p>
            <a:r>
              <a:rPr lang="ru-RU" dirty="0"/>
              <a:t>Проекция (лат. </a:t>
            </a:r>
            <a:r>
              <a:rPr lang="ru-RU" dirty="0" err="1"/>
              <a:t>projectio</a:t>
            </a:r>
            <a:r>
              <a:rPr lang="ru-RU" dirty="0"/>
              <a:t> - бросание вперед) - психологический процесс, относимый к механизмам психологической защиты, в результате которого внутреннее ошибочно воспринимается как приходящее извне. </a:t>
            </a:r>
          </a:p>
          <a:p>
            <a:r>
              <a:rPr lang="ru-RU" dirty="0"/>
              <a:t>Человек приписывает кому-то или чему-то свои собственные мысли, чувства, мотивы, черты характера и пр., полагая, что он воспринял что-то приходящее извне, а не изнутри него самого. </a:t>
            </a:r>
          </a:p>
          <a:p>
            <a:r>
              <a:rPr lang="ru-RU" dirty="0"/>
              <a:t>Впервые описан Зигмундом Фрейдом.</a:t>
            </a:r>
            <a:br>
              <a:rPr lang="ru-RU" dirty="0"/>
            </a:br>
            <a:endParaRPr lang="ru-RU" dirty="0"/>
          </a:p>
        </p:txBody>
      </p:sp>
      <p:pic>
        <p:nvPicPr>
          <p:cNvPr id="3074" name="Picture 2" descr="ÐÐ°ÑÑÐ¸Ð½ÐºÐ¸ Ð¿Ð¾ Ð·Ð°Ð¿ÑÐ¾ÑÑ Ð¼ÐµÑÐ°ÑÐ¾ÑÐ¸ÑÐµÑÐºÐ¸Ðµ ÐºÐ°ÑÑÑ oh">
            <a:extLst>
              <a:ext uri="{FF2B5EF4-FFF2-40B4-BE49-F238E27FC236}">
                <a16:creationId xmlns:a16="http://schemas.microsoft.com/office/drawing/2014/main" id="{78104A64-DA5B-46F6-B364-D375B8FDFC7C}"/>
              </a:ext>
            </a:extLst>
          </p:cNvPr>
          <p:cNvPicPr>
            <a:picLocks noGrp="1" noChangeAspect="1" noChangeArrowheads="1"/>
          </p:cNvPicPr>
          <p:nvPr>
            <p:ph sz="half" idx="4294967295"/>
          </p:nvPr>
        </p:nvPicPr>
        <p:blipFill>
          <a:blip r:embed="rId2">
            <a:extLst>
              <a:ext uri="{28A0092B-C50C-407E-A947-70E740481C1C}">
                <a14:useLocalDpi xmlns:a14="http://schemas.microsoft.com/office/drawing/2010/main" val="0"/>
              </a:ext>
            </a:extLst>
          </a:blip>
          <a:srcRect/>
          <a:stretch>
            <a:fillRect/>
          </a:stretch>
        </p:blipFill>
        <p:spPr bwMode="auto">
          <a:xfrm>
            <a:off x="5420503" y="2057401"/>
            <a:ext cx="2593713" cy="19427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044420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41624" y="1085591"/>
            <a:ext cx="3138026" cy="857250"/>
          </a:xfrm>
        </p:spPr>
        <p:txBody>
          <a:bodyPr/>
          <a:lstStyle/>
          <a:p>
            <a:pPr marL="0" indent="0">
              <a:buNone/>
            </a:pPr>
            <a:r>
              <a:rPr lang="ru-RU" dirty="0"/>
              <a:t>«</a:t>
            </a:r>
            <a:r>
              <a:rPr lang="ru-RU" dirty="0" err="1"/>
              <a:t>Оh-cards</a:t>
            </a:r>
            <a:r>
              <a:rPr lang="ru-RU" dirty="0"/>
              <a:t>»</a:t>
            </a:r>
          </a:p>
        </p:txBody>
      </p:sp>
      <p:sp>
        <p:nvSpPr>
          <p:cNvPr id="3" name="Объект 2"/>
          <p:cNvSpPr>
            <a:spLocks noGrp="1"/>
          </p:cNvSpPr>
          <p:nvPr>
            <p:ph sz="half" idx="4294967295"/>
          </p:nvPr>
        </p:nvSpPr>
        <p:spPr>
          <a:xfrm>
            <a:off x="508000" y="1237423"/>
            <a:ext cx="4928096" cy="4404479"/>
          </a:xfrm>
        </p:spPr>
        <p:txBody>
          <a:bodyPr>
            <a:normAutofit fontScale="77500" lnSpcReduction="20000"/>
          </a:bodyPr>
          <a:lstStyle/>
          <a:p>
            <a:r>
              <a:rPr lang="ru-RU" dirty="0"/>
              <a:t>Первые и самые известные метафорические карты были нарисованы в 1975 году канадским профессором искусствоведения и художником Эли </a:t>
            </a:r>
            <a:r>
              <a:rPr lang="ru-RU" dirty="0" err="1"/>
              <a:t>Раманом</a:t>
            </a:r>
            <a:r>
              <a:rPr lang="ru-RU" dirty="0"/>
              <a:t>. </a:t>
            </a:r>
          </a:p>
          <a:p>
            <a:r>
              <a:rPr lang="ru-RU" dirty="0"/>
              <a:t>Он искал такую форму самовыражения, которая помогала бы ему в творчестве. Он нарисовал серию картин небольшого формата и соединил их с рамочной колодой, на которой были написаны слова.</a:t>
            </a:r>
          </a:p>
          <a:p>
            <a:r>
              <a:rPr lang="ru-RU" dirty="0"/>
              <a:t> </a:t>
            </a:r>
            <a:r>
              <a:rPr lang="ru-RU" b="1" i="1" dirty="0"/>
              <a:t>Профессор назвал свою колоду «ОН» , потому что примерно такой возглас издавали все, кто доставал картинку и сразу видел в этом изображении нечто, для себя очень важное.</a:t>
            </a:r>
            <a:br>
              <a:rPr lang="ru-RU" b="1" i="1" dirty="0"/>
            </a:br>
            <a:r>
              <a:rPr lang="ru-RU" dirty="0"/>
              <a:t/>
            </a:r>
            <a:br>
              <a:rPr lang="ru-RU" dirty="0"/>
            </a:br>
            <a:endParaRPr lang="ru-RU" dirty="0"/>
          </a:p>
          <a:p>
            <a:endParaRPr lang="ru-RU" dirty="0"/>
          </a:p>
        </p:txBody>
      </p:sp>
      <p:pic>
        <p:nvPicPr>
          <p:cNvPr id="4098" name="Picture 2" descr="ÐÐ°ÑÑÐ¸Ð½ÐºÐ¸ Ð¿Ð¾ Ð·Ð°Ð¿ÑÐ¾ÑÑ Ð¼ÐµÑÐ°ÑÐ¾ÑÐ¸ÑÐµÑÐºÐ¸Ðµ ÐºÐ°ÑÑÑ oh">
            <a:extLst>
              <a:ext uri="{FF2B5EF4-FFF2-40B4-BE49-F238E27FC236}">
                <a16:creationId xmlns:a16="http://schemas.microsoft.com/office/drawing/2014/main" id="{F117BB2A-81E3-4225-8289-FAE54A733C00}"/>
              </a:ext>
            </a:extLst>
          </p:cNvPr>
          <p:cNvPicPr>
            <a:picLocks noGrp="1" noChangeAspect="1" noChangeArrowheads="1"/>
          </p:cNvPicPr>
          <p:nvPr>
            <p:ph sz="half" idx="4294967295"/>
          </p:nvPr>
        </p:nvPicPr>
        <p:blipFill>
          <a:blip r:embed="rId2">
            <a:extLst>
              <a:ext uri="{28A0092B-C50C-407E-A947-70E740481C1C}">
                <a14:useLocalDpi xmlns:a14="http://schemas.microsoft.com/office/drawing/2010/main" val="0"/>
              </a:ext>
            </a:extLst>
          </a:blip>
          <a:srcRect/>
          <a:stretch>
            <a:fillRect/>
          </a:stretch>
        </p:blipFill>
        <p:spPr bwMode="auto">
          <a:xfrm>
            <a:off x="5868144" y="2852936"/>
            <a:ext cx="2723361" cy="27233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63651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Объект 5">
            <a:extLst>
              <a:ext uri="{FF2B5EF4-FFF2-40B4-BE49-F238E27FC236}">
                <a16:creationId xmlns:a16="http://schemas.microsoft.com/office/drawing/2014/main" id="{D28161D4-7CE1-4DAA-BA73-CDB1DC38DDD1}"/>
              </a:ext>
            </a:extLst>
          </p:cNvPr>
          <p:cNvSpPr>
            <a:spLocks noGrp="1"/>
          </p:cNvSpPr>
          <p:nvPr>
            <p:ph sz="half" idx="4294967295"/>
          </p:nvPr>
        </p:nvSpPr>
        <p:spPr>
          <a:xfrm>
            <a:off x="683568" y="1196752"/>
            <a:ext cx="7911396" cy="4316067"/>
          </a:xfrm>
        </p:spPr>
        <p:txBody>
          <a:bodyPr>
            <a:normAutofit fontScale="92500" lnSpcReduction="10000"/>
          </a:bodyPr>
          <a:lstStyle/>
          <a:p>
            <a:r>
              <a:rPr lang="ru-RU" dirty="0"/>
              <a:t>Позже он познакомился с немецким психологом </a:t>
            </a:r>
            <a:r>
              <a:rPr lang="ru-RU" dirty="0" err="1"/>
              <a:t>Моритцом</a:t>
            </a:r>
            <a:r>
              <a:rPr lang="ru-RU" dirty="0"/>
              <a:t> </a:t>
            </a:r>
            <a:r>
              <a:rPr lang="ru-RU" dirty="0" err="1"/>
              <a:t>Эгетмейером</a:t>
            </a:r>
            <a:r>
              <a:rPr lang="ru-RU" dirty="0"/>
              <a:t>, который заметил, что с помощью карт «ОН» </a:t>
            </a:r>
            <a:r>
              <a:rPr lang="ru-RU" b="1" dirty="0"/>
              <a:t>можно мгновенно расположить человека к откровенной беседе.</a:t>
            </a:r>
          </a:p>
          <a:p>
            <a:r>
              <a:rPr lang="ru-RU" dirty="0"/>
              <a:t> Он обратил внимание на то, что описывая изображения, люди рассказывали о себе и своей ситуации самое главное. </a:t>
            </a:r>
          </a:p>
          <a:p>
            <a:r>
              <a:rPr lang="ru-RU" dirty="0"/>
              <a:t>Образы карт молниеносно попадали в область бессознательного, снимая психологические защиты и сопротивление.</a:t>
            </a:r>
          </a:p>
          <a:p>
            <a:r>
              <a:rPr lang="ru-RU" dirty="0"/>
              <a:t> </a:t>
            </a:r>
            <a:r>
              <a:rPr lang="ru-RU" dirty="0" err="1"/>
              <a:t>Эгетмейер</a:t>
            </a:r>
            <a:r>
              <a:rPr lang="ru-RU" dirty="0"/>
              <a:t> стал издателем и популяризатором метафорических карт "ОН" и вскоре психологи стали их активно использовать. А затем в издательство стали поступать заказы на разработку других, тематических колод.</a:t>
            </a:r>
          </a:p>
          <a:p>
            <a:endParaRPr lang="ru-RU" dirty="0"/>
          </a:p>
        </p:txBody>
      </p:sp>
    </p:spTree>
    <p:extLst>
      <p:ext uri="{BB962C8B-B14F-4D97-AF65-F5344CB8AC3E}">
        <p14:creationId xmlns:p14="http://schemas.microsoft.com/office/powerpoint/2010/main" val="376936122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47664" y="764704"/>
            <a:ext cx="6512511" cy="792088"/>
          </a:xfrm>
        </p:spPr>
        <p:txBody>
          <a:bodyPr/>
          <a:lstStyle/>
          <a:p>
            <a:pPr marL="0" indent="0" algn="ctr">
              <a:buNone/>
            </a:pPr>
            <a:r>
              <a:rPr lang="ru-RU" sz="2800" dirty="0" smtClean="0">
                <a:solidFill>
                  <a:schemeClr val="accent1"/>
                </a:solidFill>
              </a:rPr>
              <a:t>«Золотое правило» работы с МАК</a:t>
            </a:r>
            <a:endParaRPr lang="ru-RU" sz="2800" dirty="0">
              <a:solidFill>
                <a:schemeClr val="accent1"/>
              </a:solidFill>
            </a:endParaRPr>
          </a:p>
        </p:txBody>
      </p:sp>
      <p:sp>
        <p:nvSpPr>
          <p:cNvPr id="3" name="Объект 2"/>
          <p:cNvSpPr>
            <a:spLocks noGrp="1"/>
          </p:cNvSpPr>
          <p:nvPr>
            <p:ph sz="quarter" idx="13"/>
          </p:nvPr>
        </p:nvSpPr>
        <p:spPr>
          <a:xfrm>
            <a:off x="1835696" y="2276872"/>
            <a:ext cx="6400800" cy="3474720"/>
          </a:xfrm>
        </p:spPr>
        <p:txBody>
          <a:bodyPr>
            <a:normAutofit/>
          </a:bodyPr>
          <a:lstStyle/>
          <a:p>
            <a:pPr marL="45720" indent="0">
              <a:buNone/>
            </a:pPr>
            <a:r>
              <a:rPr lang="ru-RU" sz="5400" dirty="0" smtClean="0">
                <a:solidFill>
                  <a:srgbClr val="FF0000"/>
                </a:solidFill>
              </a:rPr>
              <a:t>На карте есть то, что видит клиент!</a:t>
            </a:r>
            <a:endParaRPr lang="ru-RU" sz="5400" dirty="0">
              <a:solidFill>
                <a:srgbClr val="FF0000"/>
              </a:solidFill>
            </a:endParaRPr>
          </a:p>
        </p:txBody>
      </p:sp>
    </p:spTree>
    <p:extLst>
      <p:ext uri="{BB962C8B-B14F-4D97-AF65-F5344CB8AC3E}">
        <p14:creationId xmlns:p14="http://schemas.microsoft.com/office/powerpoint/2010/main" val="284405615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1043608" y="1124744"/>
            <a:ext cx="6788224" cy="4320480"/>
          </a:xfrm>
        </p:spPr>
        <p:txBody>
          <a:bodyPr>
            <a:normAutofit fontScale="77500" lnSpcReduction="20000"/>
          </a:bodyPr>
          <a:lstStyle/>
          <a:p>
            <a:r>
              <a:rPr lang="ru-RU" dirty="0" err="1" smtClean="0"/>
              <a:t>Коуч</a:t>
            </a:r>
            <a:r>
              <a:rPr lang="ru-RU" dirty="0" smtClean="0"/>
              <a:t>/психолог/помогающий специалист никогда </a:t>
            </a:r>
            <a:r>
              <a:rPr lang="ru-RU" dirty="0"/>
              <a:t>не спорит с тем, что происходит с клиентом.</a:t>
            </a:r>
            <a:br>
              <a:rPr lang="ru-RU" dirty="0"/>
            </a:br>
            <a:r>
              <a:rPr lang="ru-RU" dirty="0"/>
              <a:t> </a:t>
            </a:r>
          </a:p>
          <a:p>
            <a:r>
              <a:rPr lang="ru-RU" dirty="0"/>
              <a:t>Карты — это не средство для постановки диагноза и составления заключения, а источник информации о человеке</a:t>
            </a:r>
            <a:r>
              <a:rPr lang="ru-RU" dirty="0" smtClean="0"/>
              <a:t>.</a:t>
            </a:r>
          </a:p>
          <a:p>
            <a:endParaRPr lang="ru-RU" dirty="0"/>
          </a:p>
          <a:p>
            <a:r>
              <a:rPr lang="ru-RU" dirty="0" smtClean="0"/>
              <a:t>Нет карт </a:t>
            </a:r>
            <a:r>
              <a:rPr lang="ru-RU" dirty="0"/>
              <a:t>правильных и неправильных, нет выборов верных и неверных. </a:t>
            </a:r>
            <a:endParaRPr lang="ru-RU" dirty="0" smtClean="0"/>
          </a:p>
          <a:p>
            <a:endParaRPr lang="ru-RU" dirty="0"/>
          </a:p>
          <a:p>
            <a:r>
              <a:rPr lang="ru-RU" dirty="0" smtClean="0"/>
              <a:t>Не </a:t>
            </a:r>
            <a:r>
              <a:rPr lang="ru-RU" dirty="0"/>
              <a:t>стоит делать прямолинейных выводов из выборов своих клиентов, и уж точно нельзя оценивать их</a:t>
            </a:r>
            <a:r>
              <a:rPr lang="ru-RU" dirty="0" smtClean="0"/>
              <a:t>.</a:t>
            </a:r>
          </a:p>
          <a:p>
            <a:endParaRPr lang="ru-RU" dirty="0" smtClean="0"/>
          </a:p>
          <a:p>
            <a:r>
              <a:rPr lang="ru-RU" dirty="0" smtClean="0"/>
              <a:t>Нет </a:t>
            </a:r>
            <a:r>
              <a:rPr lang="ru-RU" dirty="0"/>
              <a:t>четко расписанной последовательности действий, вопросов, которые непременно нужно задать в определенном порядке. </a:t>
            </a:r>
          </a:p>
        </p:txBody>
      </p:sp>
    </p:spTree>
    <p:extLst>
      <p:ext uri="{BB962C8B-B14F-4D97-AF65-F5344CB8AC3E}">
        <p14:creationId xmlns:p14="http://schemas.microsoft.com/office/powerpoint/2010/main" val="300742809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47664" y="188640"/>
            <a:ext cx="6512511" cy="1143000"/>
          </a:xfrm>
        </p:spPr>
        <p:txBody>
          <a:bodyPr/>
          <a:lstStyle/>
          <a:p>
            <a:pPr marL="0" indent="0" algn="ctr">
              <a:buNone/>
            </a:pPr>
            <a:r>
              <a:rPr lang="ru-RU" sz="2400" dirty="0">
                <a:solidFill>
                  <a:srgbClr val="0070C0"/>
                </a:solidFill>
              </a:rPr>
              <a:t>Основные стратегии работы  с метафорическими картами</a:t>
            </a:r>
            <a:br>
              <a:rPr lang="ru-RU" sz="2400" dirty="0">
                <a:solidFill>
                  <a:srgbClr val="0070C0"/>
                </a:solidFill>
              </a:rPr>
            </a:br>
            <a:endParaRPr lang="ru-RU" sz="2400" dirty="0">
              <a:solidFill>
                <a:srgbClr val="0070C0"/>
              </a:solidFill>
            </a:endParaRPr>
          </a:p>
        </p:txBody>
      </p:sp>
      <p:sp>
        <p:nvSpPr>
          <p:cNvPr id="3" name="Объект 2"/>
          <p:cNvSpPr>
            <a:spLocks noGrp="1"/>
          </p:cNvSpPr>
          <p:nvPr>
            <p:ph sz="quarter" idx="13"/>
          </p:nvPr>
        </p:nvSpPr>
        <p:spPr>
          <a:xfrm>
            <a:off x="683568" y="1268760"/>
            <a:ext cx="7992888" cy="4968552"/>
          </a:xfrm>
        </p:spPr>
        <p:txBody>
          <a:bodyPr>
            <a:normAutofit fontScale="77500" lnSpcReduction="20000"/>
          </a:bodyPr>
          <a:lstStyle/>
          <a:p>
            <a:pPr marL="45720" indent="0">
              <a:buNone/>
            </a:pPr>
            <a:r>
              <a:rPr lang="ru-RU" dirty="0" smtClean="0"/>
              <a:t>Существуют </a:t>
            </a:r>
            <a:r>
              <a:rPr lang="ru-RU" dirty="0"/>
              <a:t>две основные стратегии работы. Клиент может выбирать карточки</a:t>
            </a:r>
            <a:r>
              <a:rPr lang="ru-RU" dirty="0" smtClean="0"/>
              <a:t>:</a:t>
            </a:r>
          </a:p>
          <a:p>
            <a:pPr marL="45720" indent="0">
              <a:buNone/>
            </a:pPr>
            <a:r>
              <a:rPr lang="ru-RU" dirty="0" smtClean="0"/>
              <a:t>— </a:t>
            </a:r>
            <a:r>
              <a:rPr lang="ru-RU" dirty="0"/>
              <a:t>произвольно, открыто;</a:t>
            </a:r>
            <a:br>
              <a:rPr lang="ru-RU" dirty="0"/>
            </a:br>
            <a:r>
              <a:rPr lang="ru-RU" dirty="0"/>
              <a:t>— вслепую, наугад, когда они перевернуты, и он не видит изображения</a:t>
            </a:r>
            <a:r>
              <a:rPr lang="ru-RU" dirty="0" smtClean="0"/>
              <a:t>.</a:t>
            </a:r>
          </a:p>
          <a:p>
            <a:pPr marL="45720" indent="0">
              <a:buNone/>
            </a:pPr>
            <a:endParaRPr lang="ru-RU" dirty="0"/>
          </a:p>
          <a:p>
            <a:r>
              <a:rPr lang="ru-RU" dirty="0"/>
              <a:t>Работа с открытыми карточками более безопасна, она предполагает больший контроль над ситуацией и соответственно снижает тревогу. Поэтому на начальных стадиях работы имеет смысл выбирать именно эту стратегию, постепенно, по мере создания безопасной атмосферы и расслабления клиентов, предлагая им процедуры с закрытыми карточками</a:t>
            </a:r>
            <a:r>
              <a:rPr lang="ru-RU" dirty="0" smtClean="0"/>
              <a:t>.</a:t>
            </a:r>
          </a:p>
          <a:p>
            <a:pPr marL="45720" indent="0">
              <a:buNone/>
            </a:pPr>
            <a:endParaRPr lang="ru-RU" dirty="0"/>
          </a:p>
          <a:p>
            <a:r>
              <a:rPr lang="ru-RU" dirty="0"/>
              <a:t>В то же время люди обычно рассматривают процедуры с закрытыми карточками как возможность «положиться на судьбу», «получить послание свыше» и пр. И многих это привлекает, так как создает интригу, подстегивает любопытство, привносит в работу ощущение игры.</a:t>
            </a:r>
          </a:p>
          <a:p>
            <a:pPr marL="45720" indent="0">
              <a:buNone/>
            </a:pPr>
            <a:r>
              <a:rPr lang="ru-RU" dirty="0" smtClean="0"/>
              <a:t>   Вынужденный </a:t>
            </a:r>
            <a:r>
              <a:rPr lang="ru-RU" dirty="0"/>
              <a:t>работать с представленным ему «случайно» материалом, </a:t>
            </a:r>
            <a:r>
              <a:rPr lang="ru-RU" dirty="0" smtClean="0"/>
              <a:t>  человек </a:t>
            </a:r>
            <a:r>
              <a:rPr lang="ru-RU" dirty="0"/>
              <a:t>анализирует себя более глубоко, отвечает на более сложные вопросы.</a:t>
            </a:r>
          </a:p>
          <a:p>
            <a:pPr marL="45720" indent="0">
              <a:buNone/>
            </a:pPr>
            <a:endParaRPr lang="ru-RU" dirty="0"/>
          </a:p>
        </p:txBody>
      </p:sp>
    </p:spTree>
    <p:extLst>
      <p:ext uri="{BB962C8B-B14F-4D97-AF65-F5344CB8AC3E}">
        <p14:creationId xmlns:p14="http://schemas.microsoft.com/office/powerpoint/2010/main" val="298404857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475656" y="332656"/>
            <a:ext cx="6512511" cy="1001048"/>
          </a:xfrm>
        </p:spPr>
        <p:txBody>
          <a:bodyPr/>
          <a:lstStyle/>
          <a:p>
            <a:pPr marL="0" indent="0" algn="ctr">
              <a:buNone/>
            </a:pPr>
            <a:r>
              <a:rPr lang="ru-RU" sz="2400" dirty="0">
                <a:solidFill>
                  <a:srgbClr val="0070C0"/>
                </a:solidFill>
              </a:rPr>
              <a:t>Приемы работы с </a:t>
            </a:r>
            <a:r>
              <a:rPr lang="ru-RU" sz="2400" dirty="0" smtClean="0">
                <a:solidFill>
                  <a:srgbClr val="0070C0"/>
                </a:solidFill>
              </a:rPr>
              <a:t>МАК</a:t>
            </a:r>
            <a:endParaRPr lang="ru-RU" sz="2400" dirty="0">
              <a:solidFill>
                <a:srgbClr val="0070C0"/>
              </a:solidFill>
            </a:endParaRPr>
          </a:p>
        </p:txBody>
      </p:sp>
      <p:sp>
        <p:nvSpPr>
          <p:cNvPr id="3" name="Объект 2"/>
          <p:cNvSpPr>
            <a:spLocks noGrp="1"/>
          </p:cNvSpPr>
          <p:nvPr>
            <p:ph sz="quarter" idx="13"/>
          </p:nvPr>
        </p:nvSpPr>
        <p:spPr>
          <a:xfrm>
            <a:off x="683568" y="1556792"/>
            <a:ext cx="8208912" cy="3474720"/>
          </a:xfrm>
        </p:spPr>
        <p:txBody>
          <a:bodyPr>
            <a:normAutofit fontScale="77500" lnSpcReduction="20000"/>
          </a:bodyPr>
          <a:lstStyle/>
          <a:p>
            <a:pPr marL="45720" indent="0" algn="ctr">
              <a:buNone/>
            </a:pPr>
            <a:r>
              <a:rPr lang="ru-RU" b="1" dirty="0" smtClean="0"/>
              <a:t>Прием </a:t>
            </a:r>
            <a:r>
              <a:rPr lang="ru-RU" b="1" dirty="0"/>
              <a:t>«Расскажи историю»</a:t>
            </a:r>
            <a:endParaRPr lang="ru-RU" dirty="0"/>
          </a:p>
          <a:p>
            <a:r>
              <a:rPr lang="ru-RU" dirty="0"/>
              <a:t>Например, клиент жалуется вам на свою нерешительность: «У меня много планов, много идей, но жизнь проходит, а я так ничего и не делаю. Откладываю на потом, но “потом” не наступает никогда. Я в отчаянии</a:t>
            </a:r>
            <a:r>
              <a:rPr lang="ru-RU" dirty="0" smtClean="0"/>
              <a:t>…»</a:t>
            </a:r>
          </a:p>
          <a:p>
            <a:endParaRPr lang="ru-RU" dirty="0"/>
          </a:p>
          <a:p>
            <a:r>
              <a:rPr lang="ru-RU" dirty="0" err="1" smtClean="0"/>
              <a:t>Коуч</a:t>
            </a:r>
            <a:r>
              <a:rPr lang="ru-RU" dirty="0" smtClean="0"/>
              <a:t> может </a:t>
            </a:r>
            <a:r>
              <a:rPr lang="ru-RU" dirty="0"/>
              <a:t>попросить его выбрать карту, представляющую эту его проблему. Клиент выбирает картинку и называет ее «Нерешительность». Консультант просит клиента рассказать об этом персонаже</a:t>
            </a:r>
            <a:r>
              <a:rPr lang="ru-RU" dirty="0" smtClean="0"/>
              <a:t>: Чего </a:t>
            </a:r>
            <a:r>
              <a:rPr lang="ru-RU" dirty="0"/>
              <a:t>она боится</a:t>
            </a:r>
            <a:r>
              <a:rPr lang="ru-RU" dirty="0" smtClean="0"/>
              <a:t>?</a:t>
            </a:r>
          </a:p>
          <a:p>
            <a:r>
              <a:rPr lang="ru-RU" dirty="0"/>
              <a:t/>
            </a:r>
            <a:br>
              <a:rPr lang="ru-RU" dirty="0"/>
            </a:br>
            <a:r>
              <a:rPr lang="ru-RU" dirty="0"/>
              <a:t>Клиент самостоятельно исследует проблему, говорит с ней, пусть проблема сама ему расскажет про себя.</a:t>
            </a:r>
          </a:p>
          <a:p>
            <a:pPr marL="45720" indent="0">
              <a:buNone/>
            </a:pPr>
            <a:endParaRPr lang="ru-RU" dirty="0"/>
          </a:p>
        </p:txBody>
      </p:sp>
    </p:spTree>
    <p:extLst>
      <p:ext uri="{BB962C8B-B14F-4D97-AF65-F5344CB8AC3E}">
        <p14:creationId xmlns:p14="http://schemas.microsoft.com/office/powerpoint/2010/main" val="49245118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827584" y="731520"/>
            <a:ext cx="7560840" cy="4065632"/>
          </a:xfrm>
        </p:spPr>
        <p:txBody>
          <a:bodyPr>
            <a:normAutofit fontScale="92500" lnSpcReduction="10000"/>
          </a:bodyPr>
          <a:lstStyle/>
          <a:p>
            <a:pPr marL="45720" indent="0" algn="ctr">
              <a:buNone/>
            </a:pPr>
            <a:r>
              <a:rPr lang="ru-RU" b="1" dirty="0"/>
              <a:t>Прием «Одушевление»</a:t>
            </a:r>
            <a:endParaRPr lang="ru-RU" dirty="0"/>
          </a:p>
          <a:p>
            <a:pPr marL="45720" indent="0">
              <a:buNone/>
            </a:pPr>
            <a:r>
              <a:rPr lang="ru-RU" dirty="0"/>
              <a:t>Можно </a:t>
            </a:r>
            <a:r>
              <a:rPr lang="ru-RU" dirty="0" smtClean="0"/>
              <a:t>«оживить» образ на карте, и </a:t>
            </a:r>
            <a:r>
              <a:rPr lang="ru-RU" dirty="0"/>
              <a:t>рисунок на карточке рассмотреть как мудрого советчика и послушать, что он скажет. </a:t>
            </a:r>
            <a:endParaRPr lang="ru-RU" dirty="0" smtClean="0"/>
          </a:p>
          <a:p>
            <a:endParaRPr lang="ru-RU" dirty="0"/>
          </a:p>
          <a:p>
            <a:pPr marL="45720" indent="0">
              <a:buNone/>
            </a:pPr>
            <a:r>
              <a:rPr lang="ru-RU" dirty="0" smtClean="0"/>
              <a:t>Например</a:t>
            </a:r>
            <a:r>
              <a:rPr lang="ru-RU" dirty="0"/>
              <a:t>, на карточке нарисована птица (кошка, собака, какой-то человек, окно, дверь, дорога). Можно спросить клиента: И что говорит тебе эта птица? Что она сейчас хочет сделать? А что можешь и хочешь сейчас сделать ты?» </a:t>
            </a:r>
            <a:endParaRPr lang="ru-RU" dirty="0" smtClean="0"/>
          </a:p>
          <a:p>
            <a:pPr marL="45720" indent="0">
              <a:buNone/>
            </a:pPr>
            <a:endParaRPr lang="ru-RU" dirty="0" smtClean="0"/>
          </a:p>
          <a:p>
            <a:pPr marL="45720" indent="0">
              <a:buNone/>
            </a:pPr>
            <a:r>
              <a:rPr lang="ru-RU" dirty="0" smtClean="0"/>
              <a:t>Таким </a:t>
            </a:r>
            <a:r>
              <a:rPr lang="ru-RU" dirty="0"/>
              <a:t>образом, человек обращается к спрятанным в нем самом ресурсам.</a:t>
            </a:r>
          </a:p>
          <a:p>
            <a:pPr marL="45720" indent="0">
              <a:buNone/>
            </a:pPr>
            <a:endParaRPr lang="ru-RU" dirty="0"/>
          </a:p>
        </p:txBody>
      </p:sp>
    </p:spTree>
    <p:extLst>
      <p:ext uri="{BB962C8B-B14F-4D97-AF65-F5344CB8AC3E}">
        <p14:creationId xmlns:p14="http://schemas.microsoft.com/office/powerpoint/2010/main" val="103980677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755576" y="731520"/>
            <a:ext cx="7776864" cy="3474720"/>
          </a:xfrm>
        </p:spPr>
        <p:txBody>
          <a:bodyPr>
            <a:normAutofit/>
          </a:bodyPr>
          <a:lstStyle/>
          <a:p>
            <a:pPr marL="45720" indent="0" algn="ctr">
              <a:buNone/>
            </a:pPr>
            <a:r>
              <a:rPr lang="ru-RU" b="1" dirty="0" smtClean="0"/>
              <a:t> Прием </a:t>
            </a:r>
            <a:r>
              <a:rPr lang="ru-RU" b="1" dirty="0"/>
              <a:t>«Озвучивание»</a:t>
            </a:r>
            <a:endParaRPr lang="ru-RU" dirty="0"/>
          </a:p>
          <a:p>
            <a:pPr marL="45720" indent="0">
              <a:buNone/>
            </a:pPr>
            <a:r>
              <a:rPr lang="ru-RU" dirty="0"/>
              <a:t>Раз клиент заставил говорить картинку, можно пойти дальше и заполнить картинку музыкой. Предположим, вы работаете над темой «жизненный путь» и клиент рассказывает вам о своем детстве, о родительском доме, об уходе из дома. Спросите его, какая музыка звучит во время каждого из этапов его жизни? Кто эту музыку «заказывает»? кто выбирает исполнителя, кто дирижирует? Она тихая? Громкая? Приятная? Навязчивая?</a:t>
            </a:r>
          </a:p>
          <a:p>
            <a:pPr marL="45720" indent="0">
              <a:buNone/>
            </a:pPr>
            <a:endParaRPr lang="ru-RU" dirty="0"/>
          </a:p>
        </p:txBody>
      </p:sp>
    </p:spTree>
    <p:extLst>
      <p:ext uri="{BB962C8B-B14F-4D97-AF65-F5344CB8AC3E}">
        <p14:creationId xmlns:p14="http://schemas.microsoft.com/office/powerpoint/2010/main" val="45146291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755576" y="731520"/>
            <a:ext cx="7992888" cy="4065632"/>
          </a:xfrm>
        </p:spPr>
        <p:txBody>
          <a:bodyPr>
            <a:normAutofit fontScale="92500"/>
          </a:bodyPr>
          <a:lstStyle/>
          <a:p>
            <a:pPr marL="45720" indent="0" algn="ctr">
              <a:buNone/>
            </a:pPr>
            <a:r>
              <a:rPr lang="ru-RU" b="1" dirty="0"/>
              <a:t>Прием «Расширение рисунка»</a:t>
            </a:r>
            <a:endParaRPr lang="ru-RU" dirty="0"/>
          </a:p>
          <a:p>
            <a:pPr marL="45720" indent="0">
              <a:buNone/>
            </a:pPr>
            <a:r>
              <a:rPr lang="ru-RU" dirty="0"/>
              <a:t>Делается это таким образом: карточка кладется на середину листа, и вы просите клиента продолжить рисунок, причем таким образом, чтобы был заполнен весь лист. </a:t>
            </a:r>
            <a:endParaRPr lang="ru-RU" dirty="0" smtClean="0"/>
          </a:p>
          <a:p>
            <a:pPr marL="45720" indent="0">
              <a:buNone/>
            </a:pPr>
            <a:r>
              <a:rPr lang="ru-RU" dirty="0" smtClean="0"/>
              <a:t>Если </a:t>
            </a:r>
            <a:r>
              <a:rPr lang="ru-RU" dirty="0"/>
              <a:t>это сюжетный рисунок, можно продолжить развитие сюжета. Эта техника позволяет сделать выбор карточки еще более личным, углубить взгляд, погрузить пациента в метафору. </a:t>
            </a:r>
            <a:endParaRPr lang="ru-RU" dirty="0" smtClean="0"/>
          </a:p>
          <a:p>
            <a:pPr marL="45720" indent="0">
              <a:buNone/>
            </a:pPr>
            <a:r>
              <a:rPr lang="ru-RU" dirty="0" smtClean="0"/>
              <a:t>При </a:t>
            </a:r>
            <a:r>
              <a:rPr lang="ru-RU" dirty="0"/>
              <a:t>этом, поскольку он сам рисует продолжение, его тревоги и защиты ослабляются, а чувство контроля над ситуацией, наоборот, растет.</a:t>
            </a:r>
          </a:p>
          <a:p>
            <a:pPr marL="45720" indent="0">
              <a:buNone/>
            </a:pPr>
            <a:endParaRPr lang="ru-RU" dirty="0"/>
          </a:p>
        </p:txBody>
      </p:sp>
    </p:spTree>
    <p:extLst>
      <p:ext uri="{BB962C8B-B14F-4D97-AF65-F5344CB8AC3E}">
        <p14:creationId xmlns:p14="http://schemas.microsoft.com/office/powerpoint/2010/main" val="236602874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76672"/>
            <a:ext cx="8208912" cy="1143000"/>
          </a:xfrm>
        </p:spPr>
        <p:txBody>
          <a:bodyPr/>
          <a:lstStyle/>
          <a:p>
            <a:pPr marL="0" indent="0" algn="ctr">
              <a:buNone/>
            </a:pPr>
            <a:r>
              <a:rPr lang="ru-RU" sz="2800" dirty="0" smtClean="0">
                <a:solidFill>
                  <a:schemeClr val="accent1"/>
                </a:solidFill>
              </a:rPr>
              <a:t>Работа с целью по ГРОУ при помощи МАК</a:t>
            </a:r>
            <a:endParaRPr lang="ru-RU" sz="2800" dirty="0">
              <a:solidFill>
                <a:schemeClr val="accent1"/>
              </a:solidFill>
            </a:endParaRPr>
          </a:p>
        </p:txBody>
      </p:sp>
      <p:sp>
        <p:nvSpPr>
          <p:cNvPr id="3" name="Объект 2"/>
          <p:cNvSpPr>
            <a:spLocks noGrp="1"/>
          </p:cNvSpPr>
          <p:nvPr>
            <p:ph sz="quarter" idx="13"/>
          </p:nvPr>
        </p:nvSpPr>
        <p:spPr>
          <a:xfrm>
            <a:off x="467544" y="1619672"/>
            <a:ext cx="8496944" cy="4482832"/>
          </a:xfrm>
        </p:spPr>
        <p:txBody>
          <a:bodyPr/>
          <a:lstStyle/>
          <a:p>
            <a:r>
              <a:rPr lang="ru-RU" dirty="0" smtClean="0"/>
              <a:t>Как выглядит твоя цель/образ цели?</a:t>
            </a:r>
          </a:p>
          <a:p>
            <a:r>
              <a:rPr lang="ru-RU" dirty="0" smtClean="0"/>
              <a:t>Как выглядит твоя жизнь сейчас?</a:t>
            </a:r>
          </a:p>
          <a:p>
            <a:r>
              <a:rPr lang="ru-RU" dirty="0" smtClean="0"/>
              <a:t>Какие препятствия на пути реализации цели?</a:t>
            </a:r>
          </a:p>
          <a:p>
            <a:r>
              <a:rPr lang="ru-RU" dirty="0" smtClean="0"/>
              <a:t>Какие есть ресурсы для достижения цели?</a:t>
            </a:r>
          </a:p>
          <a:p>
            <a:r>
              <a:rPr lang="ru-RU" dirty="0" smtClean="0"/>
              <a:t>Шаги для достижения цели</a:t>
            </a:r>
          </a:p>
          <a:p>
            <a:r>
              <a:rPr lang="ru-RU" dirty="0" smtClean="0"/>
              <a:t>Ситуация в развитии через 10 мин, через 10 месяцев, через 10 лет</a:t>
            </a:r>
          </a:p>
          <a:p>
            <a:endParaRPr lang="ru-RU" dirty="0" smtClean="0"/>
          </a:p>
          <a:p>
            <a:endParaRPr lang="ru-RU" dirty="0"/>
          </a:p>
        </p:txBody>
      </p:sp>
    </p:spTree>
    <p:extLst>
      <p:ext uri="{BB962C8B-B14F-4D97-AF65-F5344CB8AC3E}">
        <p14:creationId xmlns:p14="http://schemas.microsoft.com/office/powerpoint/2010/main" val="410743382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619672" y="332656"/>
            <a:ext cx="6512511" cy="1143000"/>
          </a:xfrm>
        </p:spPr>
        <p:txBody>
          <a:bodyPr/>
          <a:lstStyle/>
          <a:p>
            <a:pPr marL="0" indent="0" algn="ctr">
              <a:buNone/>
            </a:pPr>
            <a:r>
              <a:rPr lang="ru-RU" sz="2800" dirty="0" smtClean="0">
                <a:solidFill>
                  <a:srgbClr val="0070C0"/>
                </a:solidFill>
              </a:rPr>
              <a:t>Темы для работы с МАК: про себя</a:t>
            </a:r>
            <a:endParaRPr lang="ru-RU" sz="2800" dirty="0">
              <a:solidFill>
                <a:srgbClr val="0070C0"/>
              </a:solidFill>
            </a:endParaRPr>
          </a:p>
        </p:txBody>
      </p:sp>
      <p:sp>
        <p:nvSpPr>
          <p:cNvPr id="3" name="Объект 2"/>
          <p:cNvSpPr>
            <a:spLocks noGrp="1"/>
          </p:cNvSpPr>
          <p:nvPr>
            <p:ph sz="quarter" idx="13"/>
          </p:nvPr>
        </p:nvSpPr>
        <p:spPr>
          <a:xfrm>
            <a:off x="899592" y="1124744"/>
            <a:ext cx="7704856" cy="4338816"/>
          </a:xfrm>
        </p:spPr>
        <p:txBody>
          <a:bodyPr>
            <a:normAutofit lnSpcReduction="10000"/>
          </a:bodyPr>
          <a:lstStyle/>
          <a:p>
            <a:r>
              <a:rPr lang="ru-RU" dirty="0" smtClean="0"/>
              <a:t>Мое состояние, мое чувство (уверенности, неуверенности, страха…)</a:t>
            </a:r>
          </a:p>
          <a:p>
            <a:r>
              <a:rPr lang="ru-RU" dirty="0" smtClean="0"/>
              <a:t>Работа с частями (РВД, «Хочу, могу, должен», «Хочу, но боюсь»…..)</a:t>
            </a:r>
          </a:p>
          <a:p>
            <a:r>
              <a:rPr lang="ru-RU" dirty="0" smtClean="0"/>
              <a:t>Я как мужчина/женщина, я как руководитель…</a:t>
            </a:r>
          </a:p>
          <a:p>
            <a:r>
              <a:rPr lang="ru-RU" dirty="0" smtClean="0"/>
              <a:t>Какой я на работе… в семье…в </a:t>
            </a:r>
            <a:r>
              <a:rPr lang="ru-RU" dirty="0"/>
              <a:t>компании</a:t>
            </a:r>
          </a:p>
          <a:p>
            <a:r>
              <a:rPr lang="ru-RU" dirty="0"/>
              <a:t>Каким меня видят другие</a:t>
            </a:r>
            <a:r>
              <a:rPr lang="ru-RU" dirty="0" smtClean="0"/>
              <a:t>? Каким </a:t>
            </a:r>
            <a:r>
              <a:rPr lang="ru-RU" dirty="0"/>
              <a:t>я хочу, чтобы меня видели другие</a:t>
            </a:r>
            <a:r>
              <a:rPr lang="ru-RU" dirty="0" smtClean="0"/>
              <a:t>? Какой </a:t>
            </a:r>
            <a:r>
              <a:rPr lang="ru-RU" dirty="0"/>
              <a:t>я на самом </a:t>
            </a:r>
            <a:r>
              <a:rPr lang="ru-RU" dirty="0" smtClean="0"/>
              <a:t>деле? Какой я, которого я не знаю</a:t>
            </a:r>
          </a:p>
          <a:p>
            <a:r>
              <a:rPr lang="ru-RU" dirty="0" smtClean="0"/>
              <a:t>Моя жизнь вчера, сегодня, завтра</a:t>
            </a:r>
          </a:p>
          <a:p>
            <a:r>
              <a:rPr lang="ru-RU" dirty="0" smtClean="0"/>
              <a:t>Я в начале сессии, я в конце сессии</a:t>
            </a:r>
            <a:endParaRPr lang="ru-RU" dirty="0"/>
          </a:p>
          <a:p>
            <a:endParaRPr lang="ru-RU" dirty="0" smtClean="0"/>
          </a:p>
          <a:p>
            <a:endParaRPr lang="ru-RU" dirty="0"/>
          </a:p>
        </p:txBody>
      </p:sp>
    </p:spTree>
    <p:extLst>
      <p:ext uri="{BB962C8B-B14F-4D97-AF65-F5344CB8AC3E}">
        <p14:creationId xmlns:p14="http://schemas.microsoft.com/office/powerpoint/2010/main" val="357792912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83568" y="476672"/>
            <a:ext cx="8136904" cy="1143000"/>
          </a:xfrm>
        </p:spPr>
        <p:txBody>
          <a:bodyPr/>
          <a:lstStyle/>
          <a:p>
            <a:pPr marL="0" indent="0" algn="ctr">
              <a:buNone/>
            </a:pPr>
            <a:r>
              <a:rPr lang="ru-RU" sz="2800" dirty="0">
                <a:solidFill>
                  <a:srgbClr val="0070C0"/>
                </a:solidFill>
              </a:rPr>
              <a:t>Темы для работы с МАК: </a:t>
            </a:r>
            <a:r>
              <a:rPr lang="ru-RU" sz="2800" dirty="0" smtClean="0">
                <a:solidFill>
                  <a:srgbClr val="0070C0"/>
                </a:solidFill>
              </a:rPr>
              <a:t>работа с целью</a:t>
            </a:r>
            <a:endParaRPr lang="ru-RU" sz="2800" dirty="0">
              <a:solidFill>
                <a:srgbClr val="0070C0"/>
              </a:solidFill>
            </a:endParaRPr>
          </a:p>
        </p:txBody>
      </p:sp>
      <p:sp>
        <p:nvSpPr>
          <p:cNvPr id="3" name="Объект 2"/>
          <p:cNvSpPr>
            <a:spLocks noGrp="1"/>
          </p:cNvSpPr>
          <p:nvPr>
            <p:ph sz="quarter" idx="13"/>
          </p:nvPr>
        </p:nvSpPr>
        <p:spPr>
          <a:xfrm>
            <a:off x="1403648" y="1196752"/>
            <a:ext cx="6400800" cy="4482832"/>
          </a:xfrm>
        </p:spPr>
        <p:txBody>
          <a:bodyPr/>
          <a:lstStyle/>
          <a:p>
            <a:r>
              <a:rPr lang="ru-RU" dirty="0" smtClean="0"/>
              <a:t>Как выглядит твоя цель/образ цели?</a:t>
            </a:r>
          </a:p>
          <a:p>
            <a:r>
              <a:rPr lang="ru-RU" dirty="0" smtClean="0"/>
              <a:t>Как выглядит твоя жизнь сейчас?</a:t>
            </a:r>
          </a:p>
          <a:p>
            <a:r>
              <a:rPr lang="ru-RU" dirty="0" smtClean="0"/>
              <a:t>Какие препятствия на пути реализации цели?</a:t>
            </a:r>
          </a:p>
          <a:p>
            <a:r>
              <a:rPr lang="ru-RU" dirty="0" smtClean="0"/>
              <a:t>Какие есть ресурсы для достижения цели?</a:t>
            </a:r>
          </a:p>
          <a:p>
            <a:r>
              <a:rPr lang="ru-RU" dirty="0" smtClean="0"/>
              <a:t>Шаги для достижения цели</a:t>
            </a:r>
          </a:p>
          <a:p>
            <a:r>
              <a:rPr lang="ru-RU" dirty="0" smtClean="0"/>
              <a:t>Ситуация в развитии через 10 мин, через 10 месяцев, через 10 лет</a:t>
            </a:r>
          </a:p>
          <a:p>
            <a:endParaRPr lang="ru-RU" dirty="0" smtClean="0"/>
          </a:p>
          <a:p>
            <a:endParaRPr lang="ru-RU" dirty="0"/>
          </a:p>
        </p:txBody>
      </p:sp>
    </p:spTree>
    <p:extLst>
      <p:ext uri="{BB962C8B-B14F-4D97-AF65-F5344CB8AC3E}">
        <p14:creationId xmlns:p14="http://schemas.microsoft.com/office/powerpoint/2010/main" val="177326063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83568" y="404664"/>
            <a:ext cx="7776864" cy="1143000"/>
          </a:xfrm>
        </p:spPr>
        <p:txBody>
          <a:bodyPr/>
          <a:lstStyle/>
          <a:p>
            <a:pPr marL="0" indent="0" algn="ctr">
              <a:buNone/>
            </a:pPr>
            <a:r>
              <a:rPr lang="ru-RU" sz="2800" dirty="0">
                <a:solidFill>
                  <a:srgbClr val="0070C0"/>
                </a:solidFill>
              </a:rPr>
              <a:t>Темы для работы с МАК: </a:t>
            </a:r>
            <a:r>
              <a:rPr lang="ru-RU" sz="2800" dirty="0" smtClean="0">
                <a:solidFill>
                  <a:srgbClr val="0070C0"/>
                </a:solidFill>
              </a:rPr>
              <a:t>для анализа отношений, взаимодействия, ролей в системе</a:t>
            </a:r>
            <a:endParaRPr lang="ru-RU" sz="2800" dirty="0">
              <a:solidFill>
                <a:srgbClr val="0070C0"/>
              </a:solidFill>
            </a:endParaRPr>
          </a:p>
        </p:txBody>
      </p:sp>
      <p:sp>
        <p:nvSpPr>
          <p:cNvPr id="3" name="Объект 2"/>
          <p:cNvSpPr>
            <a:spLocks noGrp="1"/>
          </p:cNvSpPr>
          <p:nvPr>
            <p:ph sz="quarter" idx="13"/>
          </p:nvPr>
        </p:nvSpPr>
        <p:spPr>
          <a:xfrm>
            <a:off x="1331640" y="1772816"/>
            <a:ext cx="6400800" cy="3474720"/>
          </a:xfrm>
        </p:spPr>
        <p:txBody>
          <a:bodyPr/>
          <a:lstStyle/>
          <a:p>
            <a:r>
              <a:rPr lang="ru-RU" dirty="0" smtClean="0"/>
              <a:t>Взаимоотношения  мужчина-женщина, </a:t>
            </a:r>
            <a:r>
              <a:rPr lang="ru-RU" dirty="0"/>
              <a:t>идеальный </a:t>
            </a:r>
            <a:r>
              <a:rPr lang="ru-RU" dirty="0" smtClean="0"/>
              <a:t>партнер (которого пока нет), родитель – ребенок, муж-жена-любовница, семья</a:t>
            </a:r>
          </a:p>
          <a:p>
            <a:r>
              <a:rPr lang="ru-RU" dirty="0" smtClean="0"/>
              <a:t>Взаимоотношения руководитель –подчиненный, руководитель-команда</a:t>
            </a:r>
          </a:p>
          <a:p>
            <a:r>
              <a:rPr lang="ru-RU" dirty="0" err="1" smtClean="0"/>
              <a:t>Коуч</a:t>
            </a:r>
            <a:r>
              <a:rPr lang="ru-RU" dirty="0" smtClean="0"/>
              <a:t> и клиент</a:t>
            </a:r>
            <a:r>
              <a:rPr lang="ru-RU" dirty="0" smtClean="0">
                <a:sym typeface="Wingdings" panose="05000000000000000000" pitchFamily="2" charset="2"/>
              </a:rPr>
              <a:t></a:t>
            </a:r>
            <a:endParaRPr lang="ru-RU" dirty="0"/>
          </a:p>
        </p:txBody>
      </p:sp>
    </p:spTree>
    <p:extLst>
      <p:ext uri="{BB962C8B-B14F-4D97-AF65-F5344CB8AC3E}">
        <p14:creationId xmlns:p14="http://schemas.microsoft.com/office/powerpoint/2010/main" val="211858443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31289" y="731520"/>
            <a:ext cx="6512511" cy="713016"/>
          </a:xfrm>
        </p:spPr>
        <p:txBody>
          <a:bodyPr/>
          <a:lstStyle/>
          <a:p>
            <a:pPr marL="0" indent="0" algn="ctr">
              <a:buNone/>
            </a:pPr>
            <a:r>
              <a:rPr lang="ru-RU" sz="2800" dirty="0" smtClean="0">
                <a:solidFill>
                  <a:srgbClr val="0070C0"/>
                </a:solidFill>
              </a:rPr>
              <a:t>Темы для работы с отношений</a:t>
            </a:r>
            <a:endParaRPr lang="ru-RU" sz="2800" dirty="0">
              <a:solidFill>
                <a:srgbClr val="0070C0"/>
              </a:solidFill>
            </a:endParaRPr>
          </a:p>
        </p:txBody>
      </p:sp>
      <p:sp>
        <p:nvSpPr>
          <p:cNvPr id="3" name="Объект 2"/>
          <p:cNvSpPr>
            <a:spLocks noGrp="1"/>
          </p:cNvSpPr>
          <p:nvPr>
            <p:ph sz="quarter" idx="13"/>
          </p:nvPr>
        </p:nvSpPr>
        <p:spPr>
          <a:xfrm>
            <a:off x="1031289" y="1340768"/>
            <a:ext cx="6701151" cy="3474720"/>
          </a:xfrm>
        </p:spPr>
        <p:txBody>
          <a:bodyPr>
            <a:normAutofit fontScale="70000" lnSpcReduction="20000"/>
          </a:bodyPr>
          <a:lstStyle/>
          <a:p>
            <a:r>
              <a:rPr lang="ru-RU" dirty="0" smtClean="0"/>
              <a:t>Я и мой партнер</a:t>
            </a:r>
          </a:p>
          <a:p>
            <a:r>
              <a:rPr lang="ru-RU" dirty="0" smtClean="0"/>
              <a:t>Я, мой партнер и проблема</a:t>
            </a:r>
          </a:p>
          <a:p>
            <a:r>
              <a:rPr lang="ru-RU" dirty="0" smtClean="0"/>
              <a:t>Я и мой партнер, когда проблема будет решена</a:t>
            </a:r>
          </a:p>
          <a:p>
            <a:r>
              <a:rPr lang="ru-RU" dirty="0" smtClean="0"/>
              <a:t>Партнер, которого я ищу </a:t>
            </a:r>
            <a:r>
              <a:rPr lang="ru-RU" dirty="0"/>
              <a:t>(которого пока нет</a:t>
            </a:r>
            <a:r>
              <a:rPr lang="ru-RU" dirty="0" smtClean="0"/>
              <a:t>)</a:t>
            </a:r>
          </a:p>
          <a:p>
            <a:r>
              <a:rPr lang="ru-RU" dirty="0" smtClean="0"/>
              <a:t>Идеальный брак</a:t>
            </a:r>
            <a:r>
              <a:rPr lang="ru-RU" dirty="0"/>
              <a:t> </a:t>
            </a:r>
            <a:r>
              <a:rPr lang="ru-RU" dirty="0" smtClean="0"/>
              <a:t>(бессознательное желаемое состояние)</a:t>
            </a:r>
          </a:p>
          <a:p>
            <a:r>
              <a:rPr lang="ru-RU" dirty="0" smtClean="0"/>
              <a:t>Идеальный брак. А что сейчас, какой брак</a:t>
            </a:r>
          </a:p>
          <a:p>
            <a:r>
              <a:rPr lang="ru-RU" dirty="0" smtClean="0"/>
              <a:t>Я в своей семье</a:t>
            </a:r>
          </a:p>
          <a:p>
            <a:r>
              <a:rPr lang="ru-RU" dirty="0" smtClean="0"/>
              <a:t>Я замужем и я не замужем (ситуация выбора)</a:t>
            </a:r>
          </a:p>
          <a:p>
            <a:r>
              <a:rPr lang="ru-RU" dirty="0" smtClean="0"/>
              <a:t>Семья или карьера</a:t>
            </a:r>
          </a:p>
          <a:p>
            <a:r>
              <a:rPr lang="ru-RU" dirty="0" smtClean="0"/>
              <a:t>Что хорошего в наших отношениях? Какие есть проблемы? Что может помочь решить эти проблемы? Какой я должна быть, что делать? (анализ отношений) </a:t>
            </a:r>
          </a:p>
          <a:p>
            <a:r>
              <a:rPr lang="ru-RU" dirty="0" smtClean="0"/>
              <a:t>Почему </a:t>
            </a:r>
            <a:r>
              <a:rPr lang="ru-RU" dirty="0"/>
              <a:t>я одинок (</a:t>
            </a:r>
            <a:r>
              <a:rPr lang="ru-RU" dirty="0" smtClean="0"/>
              <a:t>а</a:t>
            </a:r>
            <a:r>
              <a:rPr lang="ru-RU" dirty="0"/>
              <a:t>)</a:t>
            </a:r>
            <a:endParaRPr lang="ru-RU" dirty="0" smtClean="0"/>
          </a:p>
          <a:p>
            <a:pPr marL="45720" indent="0">
              <a:buNone/>
            </a:pPr>
            <a:endParaRPr lang="ru-RU" dirty="0"/>
          </a:p>
        </p:txBody>
      </p:sp>
    </p:spTree>
    <p:extLst>
      <p:ext uri="{BB962C8B-B14F-4D97-AF65-F5344CB8AC3E}">
        <p14:creationId xmlns:p14="http://schemas.microsoft.com/office/powerpoint/2010/main" val="195926030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71600" y="177297"/>
            <a:ext cx="7694240" cy="569000"/>
          </a:xfrm>
        </p:spPr>
        <p:txBody>
          <a:bodyPr/>
          <a:lstStyle/>
          <a:p>
            <a:pPr marL="0" indent="0" algn="ctr">
              <a:buNone/>
            </a:pPr>
            <a:r>
              <a:rPr lang="ru-RU" sz="2400" dirty="0" smtClean="0">
                <a:solidFill>
                  <a:srgbClr val="C00000"/>
                </a:solidFill>
              </a:rPr>
              <a:t>ПРИМЕРНЫЕ!!! </a:t>
            </a:r>
            <a:r>
              <a:rPr lang="ru-RU" sz="2400" dirty="0" smtClean="0">
                <a:solidFill>
                  <a:srgbClr val="0070C0"/>
                </a:solidFill>
              </a:rPr>
              <a:t>вопросы для исследования карты</a:t>
            </a:r>
            <a:endParaRPr lang="ru-RU" sz="2400" dirty="0">
              <a:solidFill>
                <a:srgbClr val="0070C0"/>
              </a:solidFill>
            </a:endParaRPr>
          </a:p>
        </p:txBody>
      </p:sp>
      <p:sp>
        <p:nvSpPr>
          <p:cNvPr id="3" name="Объект 2"/>
          <p:cNvSpPr>
            <a:spLocks noGrp="1"/>
          </p:cNvSpPr>
          <p:nvPr>
            <p:ph sz="quarter" idx="13"/>
          </p:nvPr>
        </p:nvSpPr>
        <p:spPr>
          <a:xfrm>
            <a:off x="539552" y="1052736"/>
            <a:ext cx="8126288" cy="5184576"/>
          </a:xfrm>
        </p:spPr>
        <p:txBody>
          <a:bodyPr>
            <a:normAutofit fontScale="77500" lnSpcReduction="20000"/>
          </a:bodyPr>
          <a:lstStyle/>
          <a:p>
            <a:r>
              <a:rPr lang="ru-RU" dirty="0" smtClean="0"/>
              <a:t>Какие </a:t>
            </a:r>
            <a:r>
              <a:rPr lang="ru-RU" dirty="0"/>
              <a:t>ассоциации приходят, когда ты смотришь на </a:t>
            </a:r>
            <a:r>
              <a:rPr lang="ru-RU" dirty="0" smtClean="0"/>
              <a:t>карту?</a:t>
            </a:r>
          </a:p>
          <a:p>
            <a:r>
              <a:rPr lang="ru-RU" dirty="0"/>
              <a:t>Какие идут эмоции на эту </a:t>
            </a:r>
            <a:r>
              <a:rPr lang="ru-RU" dirty="0" smtClean="0"/>
              <a:t>карту</a:t>
            </a:r>
            <a:r>
              <a:rPr lang="ru-RU" dirty="0"/>
              <a:t>?</a:t>
            </a:r>
            <a:endParaRPr lang="ru-RU" dirty="0" smtClean="0"/>
          </a:p>
          <a:p>
            <a:r>
              <a:rPr lang="ru-RU" dirty="0" smtClean="0"/>
              <a:t>Какие </a:t>
            </a:r>
            <a:r>
              <a:rPr lang="ru-RU" dirty="0"/>
              <a:t>телесные ощущения</a:t>
            </a:r>
            <a:r>
              <a:rPr lang="ru-RU" dirty="0" smtClean="0"/>
              <a:t>? </a:t>
            </a:r>
          </a:p>
          <a:p>
            <a:r>
              <a:rPr lang="ru-RU" dirty="0"/>
              <a:t>Какое </a:t>
            </a:r>
            <a:r>
              <a:rPr lang="ru-RU" dirty="0" smtClean="0"/>
              <a:t>твое отношение </a:t>
            </a:r>
            <a:r>
              <a:rPr lang="ru-RU" dirty="0"/>
              <a:t>к образу на карте</a:t>
            </a:r>
            <a:r>
              <a:rPr lang="ru-RU" dirty="0" smtClean="0"/>
              <a:t>?</a:t>
            </a:r>
          </a:p>
          <a:p>
            <a:r>
              <a:rPr lang="ru-RU" dirty="0" smtClean="0"/>
              <a:t>Что ты видишь на этой карте? Расскажи поподробнее! Я буду смотреть на карту твоими глазами</a:t>
            </a:r>
            <a:endParaRPr lang="ru-RU" dirty="0"/>
          </a:p>
          <a:p>
            <a:r>
              <a:rPr lang="ru-RU" dirty="0" smtClean="0"/>
              <a:t>Что </a:t>
            </a:r>
            <a:r>
              <a:rPr lang="ru-RU" dirty="0"/>
              <a:t>на картинке тебя привлекает больше всего? Какая фигура/элемент тебя эмоционально цепляет? (Предлагаем клиенту пофантазировать и рассказать про фигуру). Что/кто это? Возраст? Где находится? Какая она? Кто/что ее окружает? С кем взаимодействует? Что привело к сложившейся ситуации? </a:t>
            </a:r>
            <a:endParaRPr lang="ru-RU" dirty="0" smtClean="0"/>
          </a:p>
          <a:p>
            <a:r>
              <a:rPr lang="ru-RU" dirty="0"/>
              <a:t>Про что это в твоей жизни?</a:t>
            </a:r>
          </a:p>
          <a:p>
            <a:r>
              <a:rPr lang="ru-RU" dirty="0"/>
              <a:t>Какие подсказки тебе дает карта?</a:t>
            </a:r>
          </a:p>
          <a:p>
            <a:r>
              <a:rPr lang="ru-RU" dirty="0"/>
              <a:t>Что нового/необычного ты узнал про себя</a:t>
            </a:r>
            <a:r>
              <a:rPr lang="ru-RU" dirty="0" smtClean="0"/>
              <a:t>? В чем увидел ценность работы с картами? Что взял с собой?</a:t>
            </a:r>
          </a:p>
          <a:p>
            <a:endParaRPr lang="ru-RU" dirty="0"/>
          </a:p>
          <a:p>
            <a:r>
              <a:rPr lang="ru-RU" dirty="0" smtClean="0"/>
              <a:t>!!!Если «Уж замуж невтерпеж» поделиться своим мнением, чтобы от него расширить клиента, можно: «Хочешь, если тебе интересно, я поделюсь , что я вижу»</a:t>
            </a:r>
            <a:endParaRPr lang="ru-RU" dirty="0"/>
          </a:p>
        </p:txBody>
      </p:sp>
    </p:spTree>
    <p:extLst>
      <p:ext uri="{BB962C8B-B14F-4D97-AF65-F5344CB8AC3E}">
        <p14:creationId xmlns:p14="http://schemas.microsoft.com/office/powerpoint/2010/main" val="167282406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BD1189B8-A366-451D-A454-07B3B2459478}"/>
              </a:ext>
            </a:extLst>
          </p:cNvPr>
          <p:cNvSpPr>
            <a:spLocks noGrp="1"/>
          </p:cNvSpPr>
          <p:nvPr>
            <p:ph type="title"/>
          </p:nvPr>
        </p:nvSpPr>
        <p:spPr>
          <a:xfrm>
            <a:off x="1043608" y="188640"/>
            <a:ext cx="7592631" cy="713016"/>
          </a:xfrm>
        </p:spPr>
        <p:txBody>
          <a:bodyPr/>
          <a:lstStyle/>
          <a:p>
            <a:pPr marL="0" indent="0" algn="ctr">
              <a:buNone/>
            </a:pPr>
            <a:r>
              <a:rPr lang="ru-RU" sz="2400" dirty="0" smtClean="0">
                <a:solidFill>
                  <a:srgbClr val="0070C0"/>
                </a:solidFill>
              </a:rPr>
              <a:t>Работа с ситуации </a:t>
            </a:r>
            <a:r>
              <a:rPr lang="ru-RU" sz="2400" dirty="0" smtClean="0">
                <a:solidFill>
                  <a:srgbClr val="0070C0"/>
                </a:solidFill>
              </a:rPr>
              <a:t>выбора</a:t>
            </a:r>
            <a:br>
              <a:rPr lang="ru-RU" sz="2400" dirty="0" smtClean="0">
                <a:solidFill>
                  <a:srgbClr val="0070C0"/>
                </a:solidFill>
              </a:rPr>
            </a:br>
            <a:r>
              <a:rPr lang="ru-RU" sz="2400" dirty="0" smtClean="0">
                <a:solidFill>
                  <a:srgbClr val="0070C0"/>
                </a:solidFill>
              </a:rPr>
              <a:t>Аналог «Декартовы координаты», но уже с МАК</a:t>
            </a:r>
            <a:endParaRPr lang="ru-RU" sz="2400" dirty="0">
              <a:solidFill>
                <a:srgbClr val="0070C0"/>
              </a:solidFill>
            </a:endParaRPr>
          </a:p>
        </p:txBody>
      </p:sp>
      <p:sp>
        <p:nvSpPr>
          <p:cNvPr id="2" name="Прямоугольник 1"/>
          <p:cNvSpPr/>
          <p:nvPr/>
        </p:nvSpPr>
        <p:spPr>
          <a:xfrm>
            <a:off x="477543" y="1241113"/>
            <a:ext cx="4572001" cy="5909310"/>
          </a:xfrm>
          <a:prstGeom prst="rect">
            <a:avLst/>
          </a:prstGeom>
        </p:spPr>
        <p:txBody>
          <a:bodyPr>
            <a:spAutoFit/>
          </a:bodyPr>
          <a:lstStyle/>
          <a:p>
            <a:pPr marL="342900" indent="-342900">
              <a:buAutoNum type="arabicPeriod"/>
            </a:pPr>
            <a:r>
              <a:rPr lang="ru-RU" dirty="0" smtClean="0"/>
              <a:t>Тянем </a:t>
            </a:r>
            <a:r>
              <a:rPr lang="ru-RU" dirty="0" smtClean="0"/>
              <a:t>сначала только 2 карты (можно в открытую, можно в закрытую): Вариант А и вариант В. </a:t>
            </a:r>
            <a:endParaRPr lang="ru-RU" dirty="0" smtClean="0"/>
          </a:p>
          <a:p>
            <a:r>
              <a:rPr lang="ru-RU" dirty="0" smtClean="0"/>
              <a:t>Исследуем </a:t>
            </a:r>
            <a:r>
              <a:rPr lang="ru-RU" dirty="0" smtClean="0"/>
              <a:t>Как это выглядит при первом приближении, какой </a:t>
            </a:r>
            <a:r>
              <a:rPr lang="ru-RU" dirty="0" smtClean="0"/>
              <a:t>вариант/карта мне </a:t>
            </a:r>
            <a:r>
              <a:rPr lang="ru-RU" dirty="0" smtClean="0"/>
              <a:t>нравится больше, к какому меня тянет, какой более ресурсный</a:t>
            </a:r>
            <a:endParaRPr lang="ru-RU" dirty="0"/>
          </a:p>
          <a:p>
            <a:endParaRPr lang="ru-RU" dirty="0" smtClean="0"/>
          </a:p>
          <a:p>
            <a:r>
              <a:rPr lang="ru-RU" dirty="0" smtClean="0"/>
              <a:t>2</a:t>
            </a:r>
            <a:r>
              <a:rPr lang="ru-RU" dirty="0"/>
              <a:t>. </a:t>
            </a:r>
            <a:r>
              <a:rPr lang="ru-RU" dirty="0" smtClean="0"/>
              <a:t>Дополнительно достаем карты: что получу, что потеряю (плюсы/минусы)  для варианта А и для варианта В.</a:t>
            </a:r>
          </a:p>
          <a:p>
            <a:r>
              <a:rPr lang="ru-RU" dirty="0"/>
              <a:t> </a:t>
            </a:r>
            <a:r>
              <a:rPr lang="ru-RU" dirty="0" smtClean="0"/>
              <a:t>Вслепую!</a:t>
            </a:r>
            <a:endParaRPr lang="ru-RU" dirty="0"/>
          </a:p>
          <a:p>
            <a:endParaRPr lang="ru-RU" dirty="0" smtClean="0"/>
          </a:p>
          <a:p>
            <a:r>
              <a:rPr lang="ru-RU" dirty="0" smtClean="0">
                <a:solidFill>
                  <a:srgbClr val="FF0000"/>
                </a:solidFill>
              </a:rPr>
              <a:t>!!!</a:t>
            </a:r>
            <a:r>
              <a:rPr lang="ru-RU" dirty="0" smtClean="0">
                <a:solidFill>
                  <a:srgbClr val="FF0000"/>
                </a:solidFill>
              </a:rPr>
              <a:t>Дополнительно МОЖЕМ достать </a:t>
            </a:r>
            <a:r>
              <a:rPr lang="ru-RU" dirty="0">
                <a:solidFill>
                  <a:srgbClr val="FF0000"/>
                </a:solidFill>
              </a:rPr>
              <a:t>карты: </a:t>
            </a:r>
            <a:r>
              <a:rPr lang="ru-RU" dirty="0" smtClean="0">
                <a:solidFill>
                  <a:srgbClr val="FF0000"/>
                </a:solidFill>
              </a:rPr>
              <a:t>совет на вариант А и совет на вариант </a:t>
            </a:r>
            <a:r>
              <a:rPr lang="ru-RU" dirty="0" smtClean="0">
                <a:solidFill>
                  <a:srgbClr val="FF0000"/>
                </a:solidFill>
              </a:rPr>
              <a:t>В</a:t>
            </a:r>
          </a:p>
          <a:p>
            <a:endParaRPr lang="ru-RU" dirty="0" smtClean="0"/>
          </a:p>
          <a:p>
            <a:r>
              <a:rPr lang="ru-RU" dirty="0"/>
              <a:t>3</a:t>
            </a:r>
            <a:r>
              <a:rPr lang="ru-RU" dirty="0" smtClean="0"/>
              <a:t>. </a:t>
            </a:r>
            <a:r>
              <a:rPr lang="ru-RU" dirty="0" smtClean="0"/>
              <a:t>Выводы делаем уже без карт</a:t>
            </a:r>
          </a:p>
          <a:p>
            <a:endParaRPr lang="ru-RU" dirty="0"/>
          </a:p>
          <a:p>
            <a:endParaRPr lang="ru-RU" dirty="0"/>
          </a:p>
          <a:p>
            <a:endParaRPr lang="ru-RU" dirty="0"/>
          </a:p>
        </p:txBody>
      </p:sp>
      <p:pic>
        <p:nvPicPr>
          <p:cNvPr id="6" name="Picture 2" descr="https://cf.ppt-online.org/files/slide/j/Jb8xTcyN1Vg3l7Gi05dYQHf4Lz9tOs2ahASvMj/slide-78.jpg"/>
          <p:cNvPicPr>
            <a:picLocks noGrp="1" noChangeAspect="1" noChangeArrowheads="1"/>
          </p:cNvPicPr>
          <p:nvPr>
            <p:ph sz="quarter" idx="13"/>
          </p:nvPr>
        </p:nvPicPr>
        <p:blipFill>
          <a:blip r:embed="rId2" cstate="print">
            <a:extLst>
              <a:ext uri="{28A0092B-C50C-407E-A947-70E740481C1C}">
                <a14:useLocalDpi xmlns:a14="http://schemas.microsoft.com/office/drawing/2010/main" val="0"/>
              </a:ext>
            </a:extLst>
          </a:blip>
          <a:srcRect/>
          <a:stretch>
            <a:fillRect/>
          </a:stretch>
        </p:blipFill>
        <p:spPr bwMode="auto">
          <a:xfrm>
            <a:off x="5508104" y="1700808"/>
            <a:ext cx="3252594" cy="22322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082132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BD1189B8-A366-451D-A454-07B3B2459478}"/>
              </a:ext>
            </a:extLst>
          </p:cNvPr>
          <p:cNvSpPr>
            <a:spLocks noGrp="1"/>
          </p:cNvSpPr>
          <p:nvPr>
            <p:ph type="title"/>
          </p:nvPr>
        </p:nvSpPr>
        <p:spPr>
          <a:xfrm>
            <a:off x="1187624" y="547066"/>
            <a:ext cx="6512511" cy="713016"/>
          </a:xfrm>
        </p:spPr>
        <p:txBody>
          <a:bodyPr/>
          <a:lstStyle/>
          <a:p>
            <a:pPr marL="0" indent="0" algn="ctr">
              <a:buNone/>
            </a:pPr>
            <a:r>
              <a:rPr lang="ru-RU" sz="2400" dirty="0" smtClean="0">
                <a:solidFill>
                  <a:srgbClr val="0070C0"/>
                </a:solidFill>
              </a:rPr>
              <a:t>Работа с качествами, талантами</a:t>
            </a:r>
            <a:endParaRPr lang="ru-RU" sz="2400" dirty="0">
              <a:solidFill>
                <a:srgbClr val="0070C0"/>
              </a:solidFill>
            </a:endParaRPr>
          </a:p>
        </p:txBody>
      </p:sp>
      <p:pic>
        <p:nvPicPr>
          <p:cNvPr id="5" name="Объект 4">
            <a:extLst>
              <a:ext uri="{FF2B5EF4-FFF2-40B4-BE49-F238E27FC236}">
                <a16:creationId xmlns:a16="http://schemas.microsoft.com/office/drawing/2014/main" id="{E20F0EDE-261B-4021-9BF9-1E0E0C719867}"/>
              </a:ext>
            </a:extLst>
          </p:cNvPr>
          <p:cNvPicPr>
            <a:picLocks noGrp="1" noChangeAspect="1"/>
          </p:cNvPicPr>
          <p:nvPr>
            <p:ph sz="half" idx="4294967295"/>
          </p:nvPr>
        </p:nvPicPr>
        <p:blipFill>
          <a:blip r:embed="rId2"/>
          <a:stretch>
            <a:fillRect/>
          </a:stretch>
        </p:blipFill>
        <p:spPr>
          <a:xfrm>
            <a:off x="5868144" y="1273014"/>
            <a:ext cx="3138488" cy="1764506"/>
          </a:xfrm>
          <a:prstGeom prst="rect">
            <a:avLst/>
          </a:prstGeom>
        </p:spPr>
      </p:pic>
      <p:sp>
        <p:nvSpPr>
          <p:cNvPr id="2" name="Прямоугольник 1"/>
          <p:cNvSpPr/>
          <p:nvPr/>
        </p:nvSpPr>
        <p:spPr>
          <a:xfrm>
            <a:off x="477543" y="1241113"/>
            <a:ext cx="4572001" cy="3970318"/>
          </a:xfrm>
          <a:prstGeom prst="rect">
            <a:avLst/>
          </a:prstGeom>
        </p:spPr>
        <p:txBody>
          <a:bodyPr>
            <a:spAutoFit/>
          </a:bodyPr>
          <a:lstStyle/>
          <a:p>
            <a:r>
              <a:rPr lang="ru-RU" dirty="0"/>
              <a:t>1. В закрытую тянем карты – любое количество.</a:t>
            </a:r>
          </a:p>
          <a:p>
            <a:r>
              <a:rPr lang="ru-RU" dirty="0"/>
              <a:t>2. Описываем выбор</a:t>
            </a:r>
          </a:p>
          <a:p>
            <a:r>
              <a:rPr lang="ru-RU" dirty="0"/>
              <a:t>3. Три стопки: </a:t>
            </a:r>
          </a:p>
          <a:p>
            <a:r>
              <a:rPr lang="ru-RU" dirty="0"/>
              <a:t>Знаю и проявляю эти таланты</a:t>
            </a:r>
          </a:p>
          <a:p>
            <a:r>
              <a:rPr lang="ru-RU" dirty="0"/>
              <a:t>Знаю таланты, но требуют проработки</a:t>
            </a:r>
          </a:p>
          <a:p>
            <a:r>
              <a:rPr lang="ru-RU" dirty="0"/>
              <a:t>Таланты, которые оказались сюрпризом</a:t>
            </a:r>
          </a:p>
          <a:p>
            <a:endParaRPr lang="ru-RU" dirty="0"/>
          </a:p>
          <a:p>
            <a:r>
              <a:rPr lang="ru-RU" dirty="0" smtClean="0">
                <a:solidFill>
                  <a:srgbClr val="C00000"/>
                </a:solidFill>
              </a:rPr>
              <a:t>Дополнительно</a:t>
            </a:r>
            <a:r>
              <a:rPr lang="ru-RU" dirty="0" smtClean="0"/>
              <a:t> </a:t>
            </a:r>
            <a:r>
              <a:rPr lang="ru-RU" dirty="0" smtClean="0">
                <a:solidFill>
                  <a:srgbClr val="C00000"/>
                </a:solidFill>
              </a:rPr>
              <a:t>МОЖЕМ!!! </a:t>
            </a:r>
            <a:r>
              <a:rPr lang="ru-RU" dirty="0"/>
              <a:t>в</a:t>
            </a:r>
            <a:r>
              <a:rPr lang="ru-RU" dirty="0" smtClean="0"/>
              <a:t>ытащить:</a:t>
            </a:r>
            <a:endParaRPr lang="ru-RU" dirty="0" smtClean="0"/>
          </a:p>
          <a:p>
            <a:r>
              <a:rPr lang="ru-RU" dirty="0" smtClean="0"/>
              <a:t>- Что </a:t>
            </a:r>
            <a:r>
              <a:rPr lang="ru-RU" dirty="0"/>
              <a:t>мешает развитию Таланта?</a:t>
            </a:r>
          </a:p>
          <a:p>
            <a:r>
              <a:rPr lang="ru-RU" dirty="0" smtClean="0"/>
              <a:t>- Что </a:t>
            </a:r>
            <a:r>
              <a:rPr lang="ru-RU" dirty="0"/>
              <a:t>поможет в развитии Таланта?</a:t>
            </a:r>
          </a:p>
          <a:p>
            <a:endParaRPr lang="ru-RU" dirty="0"/>
          </a:p>
          <a:p>
            <a:r>
              <a:rPr lang="ru-RU" dirty="0" smtClean="0"/>
              <a:t>То же </a:t>
            </a:r>
            <a:r>
              <a:rPr lang="ru-RU" dirty="0"/>
              <a:t>самое можем сделать с запросом о миссии</a:t>
            </a:r>
          </a:p>
        </p:txBody>
      </p:sp>
    </p:spTree>
    <p:extLst>
      <p:ext uri="{BB962C8B-B14F-4D97-AF65-F5344CB8AC3E}">
        <p14:creationId xmlns:p14="http://schemas.microsoft.com/office/powerpoint/2010/main" val="315580023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1475656" y="2132856"/>
            <a:ext cx="6400800" cy="1800200"/>
          </a:xfrm>
        </p:spPr>
        <p:txBody>
          <a:bodyPr/>
          <a:lstStyle/>
          <a:p>
            <a:pPr marL="45720" indent="0" algn="ctr">
              <a:buNone/>
            </a:pPr>
            <a:r>
              <a:rPr lang="ru-RU" dirty="0" smtClean="0">
                <a:solidFill>
                  <a:schemeClr val="tx1"/>
                </a:solidFill>
              </a:rPr>
              <a:t>Работая с МАК и рисунками, мы можем выйти на более глубокое понимание стадии </a:t>
            </a:r>
            <a:r>
              <a:rPr lang="ru-RU" dirty="0" smtClean="0">
                <a:solidFill>
                  <a:schemeClr val="tx1"/>
                </a:solidFill>
              </a:rPr>
              <a:t>влюбленности и наличия внутренних/внешних конфликтов в отношениях!</a:t>
            </a:r>
            <a:endParaRPr lang="ru-RU" dirty="0" smtClean="0">
              <a:solidFill>
                <a:schemeClr val="tx1"/>
              </a:solidFill>
            </a:endParaRPr>
          </a:p>
        </p:txBody>
      </p:sp>
    </p:spTree>
    <p:extLst>
      <p:ext uri="{BB962C8B-B14F-4D97-AF65-F5344CB8AC3E}">
        <p14:creationId xmlns:p14="http://schemas.microsoft.com/office/powerpoint/2010/main" val="220561756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1331640" y="836712"/>
            <a:ext cx="6400800" cy="4050784"/>
          </a:xfrm>
        </p:spPr>
        <p:txBody>
          <a:bodyPr>
            <a:normAutofit/>
          </a:bodyPr>
          <a:lstStyle/>
          <a:p>
            <a:pPr marL="45720" indent="0" algn="ctr">
              <a:buNone/>
            </a:pPr>
            <a:endParaRPr lang="ru-RU" sz="3200" dirty="0" smtClean="0">
              <a:solidFill>
                <a:srgbClr val="C00000"/>
              </a:solidFill>
            </a:endParaRPr>
          </a:p>
          <a:p>
            <a:pPr marL="45720" indent="0" algn="ctr">
              <a:buNone/>
            </a:pPr>
            <a:endParaRPr lang="ru-RU" sz="3200" dirty="0">
              <a:solidFill>
                <a:srgbClr val="C00000"/>
              </a:solidFill>
            </a:endParaRPr>
          </a:p>
          <a:p>
            <a:pPr marL="45720" indent="0" algn="ctr">
              <a:buNone/>
            </a:pPr>
            <a:r>
              <a:rPr lang="ru-RU" sz="3200" dirty="0" smtClean="0">
                <a:solidFill>
                  <a:srgbClr val="C00000"/>
                </a:solidFill>
              </a:rPr>
              <a:t>Стадии влюбленности.</a:t>
            </a:r>
          </a:p>
          <a:p>
            <a:pPr marL="45720" indent="0" algn="ctr">
              <a:buNone/>
            </a:pPr>
            <a:r>
              <a:rPr lang="ru-RU" sz="3200" dirty="0" smtClean="0">
                <a:solidFill>
                  <a:srgbClr val="C00000"/>
                </a:solidFill>
              </a:rPr>
              <a:t>Близость/сплоченность.</a:t>
            </a:r>
          </a:p>
        </p:txBody>
      </p:sp>
    </p:spTree>
    <p:extLst>
      <p:ext uri="{BB962C8B-B14F-4D97-AF65-F5344CB8AC3E}">
        <p14:creationId xmlns:p14="http://schemas.microsoft.com/office/powerpoint/2010/main" val="144895812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475656" y="548680"/>
            <a:ext cx="6512511" cy="569000"/>
          </a:xfrm>
        </p:spPr>
        <p:txBody>
          <a:bodyPr/>
          <a:lstStyle/>
          <a:p>
            <a:pPr marL="0" indent="0" algn="ctr">
              <a:buNone/>
            </a:pPr>
            <a:r>
              <a:rPr lang="ru-RU" sz="2800" b="0" dirty="0">
                <a:solidFill>
                  <a:srgbClr val="0070C0"/>
                </a:solidFill>
                <a:effectLst/>
              </a:rPr>
              <a:t>Семь стадий </a:t>
            </a:r>
            <a:r>
              <a:rPr lang="ru-RU" sz="2800" b="0" dirty="0" smtClean="0">
                <a:solidFill>
                  <a:srgbClr val="0070C0"/>
                </a:solidFill>
                <a:effectLst/>
              </a:rPr>
              <a:t>отношений</a:t>
            </a:r>
            <a:endParaRPr lang="ru-RU" sz="2800" dirty="0">
              <a:solidFill>
                <a:srgbClr val="0070C0"/>
              </a:solidFill>
            </a:endParaRPr>
          </a:p>
        </p:txBody>
      </p:sp>
      <p:pic>
        <p:nvPicPr>
          <p:cNvPr id="3074" name="Picture 2" descr="https://psiola-center.ru/wp-content/uploads/d/0/e/d0ee56500b87097714515b56e0e4a3a3.jpeg"/>
          <p:cNvPicPr>
            <a:picLocks noGrp="1" noChangeAspect="1" noChangeArrowheads="1"/>
          </p:cNvPicPr>
          <p:nvPr>
            <p:ph sz="quarter" idx="13"/>
          </p:nvPr>
        </p:nvPicPr>
        <p:blipFill>
          <a:blip r:embed="rId2">
            <a:extLst>
              <a:ext uri="{28A0092B-C50C-407E-A947-70E740481C1C}">
                <a14:useLocalDpi xmlns:a14="http://schemas.microsoft.com/office/drawing/2010/main" val="0"/>
              </a:ext>
            </a:extLst>
          </a:blip>
          <a:srcRect/>
          <a:stretch>
            <a:fillRect/>
          </a:stretch>
        </p:blipFill>
        <p:spPr bwMode="auto">
          <a:xfrm>
            <a:off x="1239523" y="1412776"/>
            <a:ext cx="6984776" cy="4104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002651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43608" y="260648"/>
            <a:ext cx="6512511" cy="569000"/>
          </a:xfrm>
        </p:spPr>
        <p:txBody>
          <a:bodyPr/>
          <a:lstStyle/>
          <a:p>
            <a:pPr marL="0" indent="0" algn="ctr">
              <a:buNone/>
            </a:pPr>
            <a:r>
              <a:rPr lang="ru-RU" sz="2400" dirty="0" smtClean="0">
                <a:solidFill>
                  <a:srgbClr val="0070C0"/>
                </a:solidFill>
              </a:rPr>
              <a:t>Стадия </a:t>
            </a:r>
            <a:r>
              <a:rPr lang="ru-RU" sz="2400" dirty="0">
                <a:solidFill>
                  <a:srgbClr val="0070C0"/>
                </a:solidFill>
              </a:rPr>
              <a:t>1. Влюбленность</a:t>
            </a:r>
            <a:r>
              <a:rPr lang="ru-RU" dirty="0"/>
              <a:t/>
            </a:r>
            <a:br>
              <a:rPr lang="ru-RU" dirty="0"/>
            </a:br>
            <a:endParaRPr lang="ru-RU" dirty="0"/>
          </a:p>
        </p:txBody>
      </p:sp>
      <p:sp>
        <p:nvSpPr>
          <p:cNvPr id="3" name="Объект 2"/>
          <p:cNvSpPr>
            <a:spLocks noGrp="1"/>
          </p:cNvSpPr>
          <p:nvPr>
            <p:ph sz="quarter" idx="13"/>
          </p:nvPr>
        </p:nvSpPr>
        <p:spPr>
          <a:xfrm>
            <a:off x="611560" y="858852"/>
            <a:ext cx="7776864" cy="5522476"/>
          </a:xfrm>
        </p:spPr>
        <p:txBody>
          <a:bodyPr>
            <a:normAutofit fontScale="62500" lnSpcReduction="20000"/>
          </a:bodyPr>
          <a:lstStyle/>
          <a:p>
            <a:r>
              <a:rPr lang="ru-RU" dirty="0" smtClean="0"/>
              <a:t>И </a:t>
            </a:r>
            <a:r>
              <a:rPr lang="ru-RU" dirty="0"/>
              <a:t>вот мы встретили «того самого» — человека, который смотрит восхищенными глазами и на которого мы смотрим так же. С которым можно болтать ночь напролет и на следующий день чувствовать себя бодро, потому что бабочки в животе взмахами своих крыльев запустили вечный двигатель.</a:t>
            </a:r>
          </a:p>
          <a:p>
            <a:r>
              <a:rPr lang="ru-RU" dirty="0"/>
              <a:t>Кажется, что не нужно спать, не нужно есть и вообще ничего не нужно. А нужен нам только объект нашей любви. Мужчины хотят совершать настоящие поступки, превозмогать себя и быть рыцарем. Девушки расцветают и не ходят, а буквально парят над землей. У них просыпается острое желание «сварить борщ» и проявлять чудеса хозяйственности и заботы о своем идеальном мужчине.</a:t>
            </a:r>
          </a:p>
          <a:p>
            <a:r>
              <a:rPr lang="ru-RU" dirty="0"/>
              <a:t>Психологи утверждают, что этот этап длится до 18 месяцев, если пара не рассталась раньше. Расставание возможно, только если цели разные и партнеры начинают это понимать. Например, девушка хочет замуж и всячески намекает на это, а мужчина не готов. И конечно, он будет избегать этих диалогов и либо исчезнет, либо ему укажут на дверь. Ситуация наоборот тоже возможна.</a:t>
            </a:r>
          </a:p>
          <a:p>
            <a:pPr marL="45720" indent="0">
              <a:buNone/>
            </a:pPr>
            <a:endParaRPr lang="ru-RU" dirty="0"/>
          </a:p>
          <a:p>
            <a:pPr marL="45720" indent="0">
              <a:buNone/>
            </a:pPr>
            <a:r>
              <a:rPr lang="ru-RU" b="1" dirty="0"/>
              <a:t>Подводные камни</a:t>
            </a:r>
            <a:endParaRPr lang="ru-RU" dirty="0"/>
          </a:p>
          <a:p>
            <a:r>
              <a:rPr lang="ru-RU" dirty="0"/>
              <a:t>На этом этапе практически нет подводных камней, за исключением того, что </a:t>
            </a:r>
            <a:r>
              <a:rPr lang="ru-RU" dirty="0">
                <a:solidFill>
                  <a:srgbClr val="C00000"/>
                </a:solidFill>
              </a:rPr>
              <a:t>мы не воспринимаем реальность такой, какая она есть. Мы видим не реального человека, а тот образ, который нарисовал наш мозг под действием большого количества </a:t>
            </a:r>
            <a:r>
              <a:rPr lang="ru-RU" dirty="0" err="1">
                <a:solidFill>
                  <a:srgbClr val="C00000"/>
                </a:solidFill>
              </a:rPr>
              <a:t>эндорфинов</a:t>
            </a:r>
            <a:r>
              <a:rPr lang="ru-RU" dirty="0">
                <a:solidFill>
                  <a:srgbClr val="C00000"/>
                </a:solidFill>
              </a:rPr>
              <a:t>.</a:t>
            </a:r>
          </a:p>
          <a:p>
            <a:pPr marL="45720" indent="0">
              <a:buNone/>
            </a:pPr>
            <a:endParaRPr lang="ru-RU" b="1" dirty="0" smtClean="0"/>
          </a:p>
          <a:p>
            <a:pPr marL="45720" indent="0">
              <a:buNone/>
            </a:pPr>
            <a:r>
              <a:rPr lang="ru-RU" b="1" dirty="0" smtClean="0"/>
              <a:t>Что </a:t>
            </a:r>
            <a:r>
              <a:rPr lang="ru-RU" b="1" dirty="0"/>
              <a:t>делать?</a:t>
            </a:r>
            <a:endParaRPr lang="ru-RU" dirty="0"/>
          </a:p>
          <a:p>
            <a:r>
              <a:rPr lang="ru-RU" dirty="0"/>
              <a:t>Когда мы влюбляемся, то готовы говорить об объекте своей любви постоянно. И хорошо, если рядом с нами есть верный друг, помогающий нам хоть ненадолго снимать розовые очки. Именно этот человек иногда направляет наше внимание на недостатки партнера или его не совсем хорошее поведение. И мы должны научиться прислушиваться, а не отмахиваться со словами: «Он/она идеальный/</a:t>
            </a:r>
            <a:r>
              <a:rPr lang="ru-RU" dirty="0" err="1"/>
              <a:t>ая</a:t>
            </a:r>
            <a:r>
              <a:rPr lang="ru-RU" dirty="0"/>
              <a:t>!»</a:t>
            </a:r>
          </a:p>
          <a:p>
            <a:pPr marL="45720" indent="0">
              <a:buNone/>
            </a:pPr>
            <a:endParaRPr lang="ru-RU" dirty="0"/>
          </a:p>
        </p:txBody>
      </p:sp>
    </p:spTree>
    <p:extLst>
      <p:ext uri="{BB962C8B-B14F-4D97-AF65-F5344CB8AC3E}">
        <p14:creationId xmlns:p14="http://schemas.microsoft.com/office/powerpoint/2010/main" val="21355934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87144" y="249305"/>
            <a:ext cx="6512511" cy="496992"/>
          </a:xfrm>
        </p:spPr>
        <p:txBody>
          <a:bodyPr/>
          <a:lstStyle/>
          <a:p>
            <a:pPr marL="0" indent="0" algn="ctr">
              <a:buNone/>
            </a:pPr>
            <a:r>
              <a:rPr lang="ru-RU" sz="2400" dirty="0" smtClean="0">
                <a:solidFill>
                  <a:srgbClr val="0070C0"/>
                </a:solidFill>
              </a:rPr>
              <a:t>Стадия </a:t>
            </a:r>
            <a:r>
              <a:rPr lang="ru-RU" sz="2400" dirty="0">
                <a:solidFill>
                  <a:srgbClr val="0070C0"/>
                </a:solidFill>
              </a:rPr>
              <a:t>2. Насыщение</a:t>
            </a:r>
            <a:r>
              <a:rPr lang="ru-RU" dirty="0"/>
              <a:t/>
            </a:r>
            <a:br>
              <a:rPr lang="ru-RU" dirty="0"/>
            </a:br>
            <a:endParaRPr lang="ru-RU" dirty="0"/>
          </a:p>
        </p:txBody>
      </p:sp>
      <p:sp>
        <p:nvSpPr>
          <p:cNvPr id="3" name="Объект 2"/>
          <p:cNvSpPr>
            <a:spLocks noGrp="1"/>
          </p:cNvSpPr>
          <p:nvPr>
            <p:ph sz="quarter" idx="13"/>
          </p:nvPr>
        </p:nvSpPr>
        <p:spPr>
          <a:xfrm>
            <a:off x="323528" y="908720"/>
            <a:ext cx="8424936" cy="5616624"/>
          </a:xfrm>
        </p:spPr>
        <p:txBody>
          <a:bodyPr>
            <a:normAutofit fontScale="55000" lnSpcReduction="20000"/>
          </a:bodyPr>
          <a:lstStyle/>
          <a:p>
            <a:r>
              <a:rPr lang="ru-RU" dirty="0" smtClean="0"/>
              <a:t>Первый </a:t>
            </a:r>
            <a:r>
              <a:rPr lang="ru-RU" dirty="0"/>
              <a:t>голод утолен. </a:t>
            </a:r>
            <a:r>
              <a:rPr lang="ru-RU" dirty="0">
                <a:solidFill>
                  <a:srgbClr val="C00000"/>
                </a:solidFill>
              </a:rPr>
              <a:t>Мы больше не хотим 100% своего времени проводить с партнером</a:t>
            </a:r>
            <a:r>
              <a:rPr lang="ru-RU" dirty="0"/>
              <a:t>. В этот период хочется побыть наедине с собой или встретиться с друзьями, оставив партнера дома.</a:t>
            </a:r>
          </a:p>
          <a:p>
            <a:r>
              <a:rPr lang="ru-RU" dirty="0">
                <a:solidFill>
                  <a:srgbClr val="C00000"/>
                </a:solidFill>
              </a:rPr>
              <a:t>Мы начинаем замечать недостатки партнера, а он — наши. Мы присматриваемся к внешности и видим какие-то изъяны, которых раньше как будто не было. Слышим глупости, которые нет-нет да и вырвутся из уст любимого. Неожиданно выясняется, что не такие уж мы и одинаковые</a:t>
            </a:r>
            <a:r>
              <a:rPr lang="ru-RU" dirty="0"/>
              <a:t>. Что у каждого есть свои </a:t>
            </a:r>
            <a:r>
              <a:rPr lang="ru-RU" dirty="0" err="1"/>
              <a:t>скелетики</a:t>
            </a:r>
            <a:r>
              <a:rPr lang="ru-RU" dirty="0"/>
              <a:t> в шкафу и отряды тараканов в голове, и эти отряды разных видов. Это не значит, что партнер становится нам неприятен, но в сравнении с тем, что было, кажется, будто любовь прошла.</a:t>
            </a:r>
          </a:p>
          <a:p>
            <a:r>
              <a:rPr lang="ru-RU" dirty="0"/>
              <a:t>Конечно, нам сложно осознать, что эмоции улеглись, гормоны успокоились и мы вернулись в свое нормальное состояние. </a:t>
            </a:r>
            <a:r>
              <a:rPr lang="ru-RU" dirty="0">
                <a:solidFill>
                  <a:srgbClr val="C00000"/>
                </a:solidFill>
              </a:rPr>
              <a:t>На этом этапе все в общем достаточно гладко и мирно. Нам хорошо друг с другом, спокойно и уютно. Многие в это время решают жить вместе или уже официально оформляют отношения.</a:t>
            </a:r>
          </a:p>
          <a:p>
            <a:pPr marL="45720" indent="0">
              <a:buNone/>
            </a:pPr>
            <a:endParaRPr lang="ru-RU" dirty="0"/>
          </a:p>
          <a:p>
            <a:pPr marL="45720" indent="0">
              <a:buNone/>
            </a:pPr>
            <a:r>
              <a:rPr lang="ru-RU" b="1" dirty="0" smtClean="0"/>
              <a:t>Подводные </a:t>
            </a:r>
            <a:r>
              <a:rPr lang="ru-RU" b="1" dirty="0"/>
              <a:t>камни</a:t>
            </a:r>
            <a:endParaRPr lang="ru-RU" dirty="0"/>
          </a:p>
          <a:p>
            <a:r>
              <a:rPr lang="ru-RU" dirty="0"/>
              <a:t>В этот период спокойствия можно поверить, что любовь прошла, и закончить отношения. И это будет ошибкой. Заканчивать отношения нужно, например, тогда, когда есть конкретные претензии и полное отсутствие взаимопонимания. А не тогда, когда на море штиль. В это время мы должны уже задумываться над тем, куда двигаться дальше. Это подготовка к тому, чтобы начинать работать над отношениями.</a:t>
            </a:r>
          </a:p>
          <a:p>
            <a:pPr marL="45720" indent="0">
              <a:buNone/>
            </a:pPr>
            <a:endParaRPr lang="ru-RU" dirty="0"/>
          </a:p>
          <a:p>
            <a:pPr marL="45720" indent="0">
              <a:buNone/>
            </a:pPr>
            <a:r>
              <a:rPr lang="ru-RU" b="1" dirty="0"/>
              <a:t>Что делать?</a:t>
            </a:r>
            <a:endParaRPr lang="ru-RU" dirty="0"/>
          </a:p>
          <a:p>
            <a:r>
              <a:rPr lang="ru-RU" dirty="0"/>
              <a:t>В этот период нужно начинать активно узнавать друг друга. То есть мы начинаем искать в партнере нечто </a:t>
            </a:r>
            <a:r>
              <a:rPr lang="ru-RU" dirty="0" err="1"/>
              <a:t>бОльшее</a:t>
            </a:r>
            <a:r>
              <a:rPr lang="ru-RU" dirty="0"/>
              <a:t>, что-то значительное, помимо «мне так хорошо с ней/ним». Важно начать говорить друг с другом с намерением узнать партнера. Увидеть реального человека, а не тот образ, в который мы были влюблены вначале. Для этого важно стараться слушать и слышать. И отделить другого от самого себя.</a:t>
            </a:r>
          </a:p>
          <a:p>
            <a:r>
              <a:rPr lang="ru-RU" dirty="0"/>
              <a:t>Также в это время мы должны научиться учитывать интересы друг друга. Если один хочет почитать перед сном, а другой — посмотреть кино, то это проблема до тех пор, пока она не озвучена. Нужно придумывать свои правила, которые помогут избежать конфликтов.</a:t>
            </a:r>
          </a:p>
          <a:p>
            <a:pPr marL="45720" indent="0">
              <a:buNone/>
            </a:pPr>
            <a:endParaRPr lang="ru-RU" dirty="0"/>
          </a:p>
        </p:txBody>
      </p:sp>
    </p:spTree>
    <p:extLst>
      <p:ext uri="{BB962C8B-B14F-4D97-AF65-F5344CB8AC3E}">
        <p14:creationId xmlns:p14="http://schemas.microsoft.com/office/powerpoint/2010/main" val="306743239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87624" y="404664"/>
            <a:ext cx="6512511" cy="424984"/>
          </a:xfrm>
        </p:spPr>
        <p:txBody>
          <a:bodyPr/>
          <a:lstStyle/>
          <a:p>
            <a:pPr marL="0" indent="0" algn="ctr">
              <a:buNone/>
            </a:pPr>
            <a:r>
              <a:rPr lang="ru-RU" sz="2400" dirty="0" smtClean="0">
                <a:solidFill>
                  <a:srgbClr val="0070C0"/>
                </a:solidFill>
              </a:rPr>
              <a:t>Стадия </a:t>
            </a:r>
            <a:r>
              <a:rPr lang="ru-RU" sz="2400" dirty="0">
                <a:solidFill>
                  <a:srgbClr val="0070C0"/>
                </a:solidFill>
              </a:rPr>
              <a:t>3. Отвращение или отвержение</a:t>
            </a:r>
            <a:br>
              <a:rPr lang="ru-RU" sz="2400" dirty="0">
                <a:solidFill>
                  <a:srgbClr val="0070C0"/>
                </a:solidFill>
              </a:rPr>
            </a:br>
            <a:endParaRPr lang="ru-RU" sz="2400" dirty="0">
              <a:solidFill>
                <a:srgbClr val="0070C0"/>
              </a:solidFill>
            </a:endParaRPr>
          </a:p>
        </p:txBody>
      </p:sp>
      <p:sp>
        <p:nvSpPr>
          <p:cNvPr id="3" name="Объект 2"/>
          <p:cNvSpPr>
            <a:spLocks noGrp="1"/>
          </p:cNvSpPr>
          <p:nvPr>
            <p:ph sz="quarter" idx="13"/>
          </p:nvPr>
        </p:nvSpPr>
        <p:spPr>
          <a:xfrm>
            <a:off x="611560" y="908720"/>
            <a:ext cx="7920880" cy="5184576"/>
          </a:xfrm>
        </p:spPr>
        <p:txBody>
          <a:bodyPr>
            <a:normAutofit fontScale="62500" lnSpcReduction="20000"/>
          </a:bodyPr>
          <a:lstStyle/>
          <a:p>
            <a:r>
              <a:rPr lang="ru-RU" dirty="0" smtClean="0"/>
              <a:t>Это </a:t>
            </a:r>
            <a:r>
              <a:rPr lang="ru-RU" dirty="0"/>
              <a:t>экватор отношений. И </a:t>
            </a:r>
            <a:r>
              <a:rPr lang="ru-RU" dirty="0">
                <a:solidFill>
                  <a:srgbClr val="C00000"/>
                </a:solidFill>
              </a:rPr>
              <a:t>мы либо перевалим за него, либо «свалим» из отношений. Это один из самых кризисных моментов.</a:t>
            </a:r>
            <a:r>
              <a:rPr lang="ru-RU" dirty="0"/>
              <a:t> Многие отношения пали на поле под названием «Отвращение».</a:t>
            </a:r>
          </a:p>
          <a:p>
            <a:r>
              <a:rPr lang="ru-RU" dirty="0"/>
              <a:t>Настало то время, когда практически все в партнере выводит из себя. </a:t>
            </a:r>
            <a:r>
              <a:rPr lang="ru-RU" dirty="0">
                <a:solidFill>
                  <a:srgbClr val="C00000"/>
                </a:solidFill>
              </a:rPr>
              <a:t>Нас раздражает, как любимый человек ест, спит, ходит, дышит. То, что раньше вызывало умиление, на этом этапе представляется инфантильностью высшей степени</a:t>
            </a:r>
            <a:r>
              <a:rPr lang="ru-RU" dirty="0"/>
              <a:t>. А если вдруг партнер повышает голос, отвечает грубо или резко, недостаточно внимателен, то он не просто раздражает — он вызывает ненависть.</a:t>
            </a:r>
          </a:p>
          <a:p>
            <a:r>
              <a:rPr lang="ru-RU" dirty="0" smtClean="0">
                <a:solidFill>
                  <a:srgbClr val="C00000"/>
                </a:solidFill>
              </a:rPr>
              <a:t>Этот </a:t>
            </a:r>
            <a:r>
              <a:rPr lang="ru-RU" dirty="0">
                <a:solidFill>
                  <a:srgbClr val="C00000"/>
                </a:solidFill>
              </a:rPr>
              <a:t>этап наступает примерно через 3 года, и отсюда печально известное высказывание, что любовь живет 3 года</a:t>
            </a:r>
            <a:r>
              <a:rPr lang="ru-RU" dirty="0"/>
              <a:t>. В этот период в отношениях наступает кризис, но это не значит, что любовь умерла, это значит, что на пути пары появились первые серьезные препятствия. Окончательно умерла первая страсть, которая окутывала своей пеленой, и пришло время начать любить друг друга.</a:t>
            </a:r>
          </a:p>
          <a:p>
            <a:pPr marL="45720" indent="0">
              <a:buNone/>
            </a:pPr>
            <a:endParaRPr lang="ru-RU" dirty="0"/>
          </a:p>
          <a:p>
            <a:pPr marL="45720" indent="0">
              <a:buNone/>
            </a:pPr>
            <a:r>
              <a:rPr lang="ru-RU" b="1" dirty="0"/>
              <a:t>Подводные камни</a:t>
            </a:r>
            <a:endParaRPr lang="ru-RU" dirty="0"/>
          </a:p>
          <a:p>
            <a:r>
              <a:rPr lang="ru-RU" dirty="0"/>
              <a:t>Глубина у отношений уже очень серьезная. На этом этапе нас ждут не камни, а целые айсберги. </a:t>
            </a:r>
            <a:r>
              <a:rPr lang="ru-RU" dirty="0">
                <a:solidFill>
                  <a:srgbClr val="C00000"/>
                </a:solidFill>
              </a:rPr>
              <a:t>Перед нами неожиданно оказывается совершенно чужой человек</a:t>
            </a:r>
            <a:r>
              <a:rPr lang="ru-RU" dirty="0"/>
              <a:t>. Мы вдруг замечаем, что другой мужчина галантнее и симпатичнее того, который каждый день приходит домой после работы. А проходящая мимо женщина сексуальнее и интереснее, чем ворчливая жена. У нас появляется ощущение, что мы сделали неправильный выбор.</a:t>
            </a:r>
          </a:p>
          <a:p>
            <a:pPr marL="45720" indent="0">
              <a:buNone/>
            </a:pPr>
            <a:endParaRPr lang="ru-RU" dirty="0"/>
          </a:p>
          <a:p>
            <a:pPr marL="45720" indent="0">
              <a:buNone/>
            </a:pPr>
            <a:r>
              <a:rPr lang="ru-RU" b="1" dirty="0"/>
              <a:t>Что делать?</a:t>
            </a:r>
            <a:endParaRPr lang="ru-RU" dirty="0"/>
          </a:p>
          <a:p>
            <a:r>
              <a:rPr lang="ru-RU" dirty="0"/>
              <a:t>На остановке «Отвращение» паре предстоит много анализировать, думать и понимать. Мы должны смириться с тем, что страсть закончилась, но вот вернется ли она, зависит от обоих.</a:t>
            </a:r>
          </a:p>
          <a:p>
            <a:pPr marL="45720" indent="0">
              <a:buNone/>
            </a:pPr>
            <a:endParaRPr lang="ru-RU" dirty="0"/>
          </a:p>
        </p:txBody>
      </p:sp>
    </p:spTree>
    <p:extLst>
      <p:ext uri="{BB962C8B-B14F-4D97-AF65-F5344CB8AC3E}">
        <p14:creationId xmlns:p14="http://schemas.microsoft.com/office/powerpoint/2010/main" val="1384891005"/>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25818" y="483024"/>
            <a:ext cx="6512511" cy="496992"/>
          </a:xfrm>
        </p:spPr>
        <p:txBody>
          <a:bodyPr/>
          <a:lstStyle/>
          <a:p>
            <a:pPr marL="0" indent="0" algn="ctr">
              <a:buNone/>
            </a:pPr>
            <a:r>
              <a:rPr lang="ru-RU" sz="2400" dirty="0" smtClean="0">
                <a:solidFill>
                  <a:srgbClr val="0070C0"/>
                </a:solidFill>
              </a:rPr>
              <a:t>Стадия </a:t>
            </a:r>
            <a:r>
              <a:rPr lang="ru-RU" sz="2400" dirty="0">
                <a:solidFill>
                  <a:srgbClr val="0070C0"/>
                </a:solidFill>
              </a:rPr>
              <a:t>4. Терпение и прощение</a:t>
            </a:r>
            <a:r>
              <a:rPr lang="ru-RU" dirty="0"/>
              <a:t/>
            </a:r>
            <a:br>
              <a:rPr lang="ru-RU" dirty="0"/>
            </a:br>
            <a:endParaRPr lang="ru-RU" dirty="0"/>
          </a:p>
        </p:txBody>
      </p:sp>
      <p:sp>
        <p:nvSpPr>
          <p:cNvPr id="3" name="Объект 2"/>
          <p:cNvSpPr>
            <a:spLocks noGrp="1"/>
          </p:cNvSpPr>
          <p:nvPr>
            <p:ph sz="quarter" idx="13"/>
          </p:nvPr>
        </p:nvSpPr>
        <p:spPr>
          <a:xfrm>
            <a:off x="539552" y="1124744"/>
            <a:ext cx="8064896" cy="5400600"/>
          </a:xfrm>
        </p:spPr>
        <p:txBody>
          <a:bodyPr>
            <a:normAutofit fontScale="70000" lnSpcReduction="20000"/>
          </a:bodyPr>
          <a:lstStyle/>
          <a:p>
            <a:r>
              <a:rPr lang="ru-RU" dirty="0" smtClean="0"/>
              <a:t>Этот </a:t>
            </a:r>
            <a:r>
              <a:rPr lang="ru-RU" dirty="0"/>
              <a:t>этап возможен, только если один из партнеров понял, что ломать не строить. Мы понимаем, что у всех есть недостатки, но с ними можно мириться.</a:t>
            </a:r>
          </a:p>
          <a:p>
            <a:r>
              <a:rPr lang="ru-RU" dirty="0">
                <a:solidFill>
                  <a:srgbClr val="C00000"/>
                </a:solidFill>
              </a:rPr>
              <a:t>Тут мы начинаем контролировать свои эмоции и слышать то, что нам говорит партнер</a:t>
            </a:r>
            <a:r>
              <a:rPr lang="ru-RU" dirty="0"/>
              <a:t>. На этом этапе до нас начинает доходить смысл происходящего. Мы осознаем, что в наших отношениях есть две личности, которые не обязаны копировать друг друга. </a:t>
            </a:r>
            <a:r>
              <a:rPr lang="ru-RU" dirty="0">
                <a:solidFill>
                  <a:srgbClr val="C00000"/>
                </a:solidFill>
              </a:rPr>
              <a:t>У нас еще нет глубокого чувства, но есть понимание ответственности за свой выбор и перед человеком</a:t>
            </a:r>
            <a:r>
              <a:rPr lang="ru-RU" dirty="0"/>
              <a:t>.</a:t>
            </a:r>
          </a:p>
          <a:p>
            <a:pPr marL="45720" indent="0">
              <a:buNone/>
            </a:pPr>
            <a:r>
              <a:rPr lang="ru-RU" b="1" dirty="0"/>
              <a:t> </a:t>
            </a:r>
            <a:endParaRPr lang="ru-RU" dirty="0"/>
          </a:p>
          <a:p>
            <a:pPr marL="45720" indent="0">
              <a:buNone/>
            </a:pPr>
            <a:r>
              <a:rPr lang="ru-RU" b="1" dirty="0"/>
              <a:t>Подводные камни</a:t>
            </a:r>
            <a:endParaRPr lang="ru-RU" dirty="0"/>
          </a:p>
          <a:p>
            <a:r>
              <a:rPr lang="ru-RU" dirty="0"/>
              <a:t>Риски расставания на этом этапе тоже велики, но уже меньше, чем на предыдущем. Мы уже прошли огонь, воду и медные трубы. Мы вложили столько сил и энергии в эти отношения, что все рубить совсем не хочется. Но это неправильная мотивация, и из-за нее, пара может застрять на этом этапе надолго. Мы терпим и прощаем, но не растем. Именно потому, что боимся, что если начнем делать резкие движения, то потеряем друг друга. Но именно после этого этапа отношения становятся очень крепкими, и больше ни у кого не встает вопрос: «А тот ли человек рядом?»</a:t>
            </a:r>
          </a:p>
          <a:p>
            <a:pPr marL="45720" indent="0">
              <a:buNone/>
            </a:pPr>
            <a:endParaRPr lang="ru-RU" dirty="0"/>
          </a:p>
          <a:p>
            <a:pPr marL="45720" indent="0">
              <a:buNone/>
            </a:pPr>
            <a:r>
              <a:rPr lang="ru-RU" b="1" dirty="0"/>
              <a:t>Что делать?</a:t>
            </a:r>
            <a:endParaRPr lang="ru-RU" dirty="0"/>
          </a:p>
          <a:p>
            <a:r>
              <a:rPr lang="ru-RU" dirty="0"/>
              <a:t>Мы учимся не вспоминать прошлые обиды и тыкать ими в партнера. Мы понимаем, что любые изменения нужно начинать с себя. И меняемся.</a:t>
            </a:r>
          </a:p>
          <a:p>
            <a:r>
              <a:rPr lang="ru-RU" dirty="0" smtClean="0"/>
              <a:t>На </a:t>
            </a:r>
            <a:r>
              <a:rPr lang="ru-RU" dirty="0"/>
              <a:t>этом этапе также важно дать себе и своему партнеру заниматься чем-то, что для него важно, и поддерживать его в этом.</a:t>
            </a:r>
          </a:p>
          <a:p>
            <a:pPr marL="45720" indent="0">
              <a:buNone/>
            </a:pPr>
            <a:endParaRPr lang="ru-RU" dirty="0"/>
          </a:p>
        </p:txBody>
      </p:sp>
    </p:spTree>
    <p:extLst>
      <p:ext uri="{BB962C8B-B14F-4D97-AF65-F5344CB8AC3E}">
        <p14:creationId xmlns:p14="http://schemas.microsoft.com/office/powerpoint/2010/main" val="187797590"/>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83568" y="378544"/>
            <a:ext cx="6512511" cy="352976"/>
          </a:xfrm>
        </p:spPr>
        <p:txBody>
          <a:bodyPr/>
          <a:lstStyle/>
          <a:p>
            <a:pPr marL="0" indent="0" algn="ctr">
              <a:buNone/>
            </a:pPr>
            <a:r>
              <a:rPr lang="ru-RU" sz="2400" dirty="0" smtClean="0">
                <a:solidFill>
                  <a:srgbClr val="0070C0"/>
                </a:solidFill>
              </a:rPr>
              <a:t>Стадия </a:t>
            </a:r>
            <a:r>
              <a:rPr lang="ru-RU" sz="2400" dirty="0">
                <a:solidFill>
                  <a:srgbClr val="0070C0"/>
                </a:solidFill>
              </a:rPr>
              <a:t>5. </a:t>
            </a:r>
            <a:r>
              <a:rPr lang="ru-RU" sz="2400" dirty="0" smtClean="0">
                <a:solidFill>
                  <a:srgbClr val="0070C0"/>
                </a:solidFill>
              </a:rPr>
              <a:t>Служение (Долг)</a:t>
            </a:r>
            <a:r>
              <a:rPr lang="ru-RU" dirty="0"/>
              <a:t/>
            </a:r>
            <a:br>
              <a:rPr lang="ru-RU" dirty="0"/>
            </a:br>
            <a:endParaRPr lang="ru-RU" dirty="0"/>
          </a:p>
        </p:txBody>
      </p:sp>
      <p:sp>
        <p:nvSpPr>
          <p:cNvPr id="3" name="Объект 2"/>
          <p:cNvSpPr>
            <a:spLocks noGrp="1"/>
          </p:cNvSpPr>
          <p:nvPr>
            <p:ph sz="quarter" idx="13"/>
          </p:nvPr>
        </p:nvSpPr>
        <p:spPr>
          <a:xfrm>
            <a:off x="683568" y="980728"/>
            <a:ext cx="7704856" cy="4968552"/>
          </a:xfrm>
        </p:spPr>
        <p:txBody>
          <a:bodyPr>
            <a:normAutofit fontScale="77500" lnSpcReduction="20000"/>
          </a:bodyPr>
          <a:lstStyle/>
          <a:p>
            <a:r>
              <a:rPr lang="ru-RU" dirty="0" smtClean="0"/>
              <a:t>Мы </a:t>
            </a:r>
            <a:r>
              <a:rPr lang="ru-RU" dirty="0"/>
              <a:t>начинаем чувствовать зарождение любви. </a:t>
            </a:r>
            <a:r>
              <a:rPr lang="ru-RU" dirty="0">
                <a:solidFill>
                  <a:srgbClr val="C00000"/>
                </a:solidFill>
              </a:rPr>
              <a:t>На этом этапе мы понимаем, что у каждого есть обязанности, и это нормально. И нормально их выполнять, даже если партнер не выполняет свои. Более того, мы перестаем воспринимать их как нечто, что нам навязали, а делаем все друг для друга с удовольствием. Мы понимаем и знаем, что оба приняли решение быть вместе.</a:t>
            </a:r>
          </a:p>
          <a:p>
            <a:pPr marL="45720" indent="0">
              <a:buNone/>
            </a:pPr>
            <a:endParaRPr lang="ru-RU" dirty="0"/>
          </a:p>
          <a:p>
            <a:pPr marL="45720" indent="0">
              <a:buNone/>
            </a:pPr>
            <a:r>
              <a:rPr lang="ru-RU" b="1" dirty="0" smtClean="0"/>
              <a:t>Подводные </a:t>
            </a:r>
            <a:r>
              <a:rPr lang="ru-RU" b="1" dirty="0"/>
              <a:t>камни</a:t>
            </a:r>
            <a:endParaRPr lang="ru-RU" dirty="0"/>
          </a:p>
          <a:p>
            <a:r>
              <a:rPr lang="ru-RU" dirty="0"/>
              <a:t>Если мы делаем, как нам кажется, больше, чем партнер, то это может выбить из колеи. Мы вдруг можем почувствовать, что ошиблись. Но, как показывает жизнь, пройти такой длинный путь не с тем человеком невозможно.</a:t>
            </a:r>
          </a:p>
          <a:p>
            <a:pPr marL="45720" indent="0">
              <a:buNone/>
            </a:pPr>
            <a:endParaRPr lang="ru-RU" dirty="0"/>
          </a:p>
          <a:p>
            <a:pPr marL="45720" indent="0">
              <a:buNone/>
            </a:pPr>
            <a:r>
              <a:rPr lang="ru-RU" b="1" dirty="0"/>
              <a:t>Что делать?</a:t>
            </a:r>
            <a:endParaRPr lang="ru-RU" dirty="0"/>
          </a:p>
          <a:p>
            <a:r>
              <a:rPr lang="ru-RU" dirty="0"/>
              <a:t>Главное — нам всегда нужно помнить, что мы приняли решение быть с этим человеком. Мы должны спокойно рассказывать о своих чувствах, если нам что-то не нравится. А самое главное — продолжать узнавать человека.</a:t>
            </a:r>
          </a:p>
          <a:p>
            <a:pPr marL="45720" indent="0">
              <a:buNone/>
            </a:pPr>
            <a:endParaRPr lang="ru-RU" dirty="0"/>
          </a:p>
        </p:txBody>
      </p:sp>
    </p:spTree>
    <p:extLst>
      <p:ext uri="{BB962C8B-B14F-4D97-AF65-F5344CB8AC3E}">
        <p14:creationId xmlns:p14="http://schemas.microsoft.com/office/powerpoint/2010/main" val="148948517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43000" y="519028"/>
            <a:ext cx="6512511" cy="424984"/>
          </a:xfrm>
        </p:spPr>
        <p:txBody>
          <a:bodyPr/>
          <a:lstStyle/>
          <a:p>
            <a:pPr marL="0" indent="0" algn="ctr">
              <a:buNone/>
            </a:pPr>
            <a:r>
              <a:rPr lang="ru-RU" sz="2400" dirty="0" smtClean="0">
                <a:solidFill>
                  <a:srgbClr val="0070C0"/>
                </a:solidFill>
              </a:rPr>
              <a:t>Стадия </a:t>
            </a:r>
            <a:r>
              <a:rPr lang="ru-RU" sz="2400" dirty="0">
                <a:solidFill>
                  <a:srgbClr val="0070C0"/>
                </a:solidFill>
              </a:rPr>
              <a:t>6. Уважение и дружба</a:t>
            </a:r>
            <a:r>
              <a:rPr lang="ru-RU" dirty="0"/>
              <a:t/>
            </a:r>
            <a:br>
              <a:rPr lang="ru-RU" dirty="0"/>
            </a:br>
            <a:endParaRPr lang="ru-RU" dirty="0"/>
          </a:p>
        </p:txBody>
      </p:sp>
      <p:sp>
        <p:nvSpPr>
          <p:cNvPr id="3" name="Объект 2"/>
          <p:cNvSpPr>
            <a:spLocks noGrp="1"/>
          </p:cNvSpPr>
          <p:nvPr>
            <p:ph sz="quarter" idx="13"/>
          </p:nvPr>
        </p:nvSpPr>
        <p:spPr>
          <a:xfrm>
            <a:off x="755576" y="1052736"/>
            <a:ext cx="8064896" cy="4464496"/>
          </a:xfrm>
        </p:spPr>
        <p:txBody>
          <a:bodyPr>
            <a:normAutofit fontScale="70000" lnSpcReduction="20000"/>
          </a:bodyPr>
          <a:lstStyle/>
          <a:p>
            <a:r>
              <a:rPr lang="ru-RU" dirty="0" smtClean="0"/>
              <a:t>На </a:t>
            </a:r>
            <a:r>
              <a:rPr lang="ru-RU" dirty="0"/>
              <a:t>этом этапе мы уже очень хорошо знаем друг друга. Мы хорошо знаем, что нас объединяет, но еще лучше — чем мы отличаемся. И эту разность мы уважаем. Уважаем желания и стремления партнера. Уважаем его цели и мечты. И более того, готовы разделять с ним все. В этот период начинаются </a:t>
            </a:r>
            <a:r>
              <a:rPr lang="ru-RU" dirty="0">
                <a:solidFill>
                  <a:srgbClr val="C00000"/>
                </a:solidFill>
              </a:rPr>
              <a:t>глубокие душевные разговоры без надрыва и драм. Нам снова хорошо вместе.</a:t>
            </a:r>
          </a:p>
          <a:p>
            <a:pPr marL="45720" indent="0">
              <a:buNone/>
            </a:pPr>
            <a:endParaRPr lang="ru-RU" dirty="0"/>
          </a:p>
          <a:p>
            <a:pPr marL="45720" indent="0">
              <a:buNone/>
            </a:pPr>
            <a:r>
              <a:rPr lang="ru-RU" b="1" dirty="0" smtClean="0"/>
              <a:t>Подводные </a:t>
            </a:r>
            <a:r>
              <a:rPr lang="ru-RU" b="1" dirty="0"/>
              <a:t>камни</a:t>
            </a:r>
            <a:endParaRPr lang="ru-RU" dirty="0"/>
          </a:p>
          <a:p>
            <a:r>
              <a:rPr lang="ru-RU" dirty="0"/>
              <a:t>Это последний этап перед глубокой любовью, которую можно пронести через всю жизнь. И здесь очень важно не думать, что эти отношения то же самое, что 20-летняя дружба с подругой или другом. Мы выбрали этого человека в партнеры, и быть друзьями — это лишь одна из ролей, которые мы проживаем вместе. У нас есть и другие роли: родители, партнеры, дети для наших родителей и отдельные личности.</a:t>
            </a:r>
          </a:p>
          <a:p>
            <a:pPr marL="45720" indent="0">
              <a:buNone/>
            </a:pPr>
            <a:endParaRPr lang="ru-RU" dirty="0"/>
          </a:p>
          <a:p>
            <a:pPr marL="45720" indent="0">
              <a:buNone/>
            </a:pPr>
            <a:r>
              <a:rPr lang="ru-RU" b="1" dirty="0" smtClean="0"/>
              <a:t>Что </a:t>
            </a:r>
            <a:r>
              <a:rPr lang="ru-RU" b="1" dirty="0"/>
              <a:t>делать?</a:t>
            </a:r>
            <a:endParaRPr lang="ru-RU" dirty="0"/>
          </a:p>
          <a:p>
            <a:r>
              <a:rPr lang="ru-RU" dirty="0"/>
              <a:t>Наслаждаться друг другом. И продолжать утверждаться в мысли, что наш партнер — самый лучший человек на свете. Ну и, конечно, не забывать заниматься собой.</a:t>
            </a:r>
          </a:p>
          <a:p>
            <a:pPr marL="45720" indent="0">
              <a:buNone/>
            </a:pPr>
            <a:endParaRPr lang="ru-RU" dirty="0"/>
          </a:p>
        </p:txBody>
      </p:sp>
    </p:spTree>
    <p:extLst>
      <p:ext uri="{BB962C8B-B14F-4D97-AF65-F5344CB8AC3E}">
        <p14:creationId xmlns:p14="http://schemas.microsoft.com/office/powerpoint/2010/main" val="355698005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59632" y="332656"/>
            <a:ext cx="6512511" cy="496992"/>
          </a:xfrm>
        </p:spPr>
        <p:txBody>
          <a:bodyPr/>
          <a:lstStyle/>
          <a:p>
            <a:pPr marL="0" indent="0" algn="ctr">
              <a:buNone/>
            </a:pPr>
            <a:r>
              <a:rPr lang="ru-RU" sz="2400" dirty="0" smtClean="0">
                <a:solidFill>
                  <a:srgbClr val="0070C0"/>
                </a:solidFill>
              </a:rPr>
              <a:t>Стадия </a:t>
            </a:r>
            <a:r>
              <a:rPr lang="ru-RU" sz="2400" dirty="0">
                <a:solidFill>
                  <a:srgbClr val="0070C0"/>
                </a:solidFill>
              </a:rPr>
              <a:t>7. Любовь</a:t>
            </a:r>
            <a:r>
              <a:rPr lang="ru-RU" dirty="0"/>
              <a:t/>
            </a:r>
            <a:br>
              <a:rPr lang="ru-RU" dirty="0"/>
            </a:br>
            <a:endParaRPr lang="ru-RU" dirty="0"/>
          </a:p>
        </p:txBody>
      </p:sp>
      <p:sp>
        <p:nvSpPr>
          <p:cNvPr id="3" name="Объект 2"/>
          <p:cNvSpPr>
            <a:spLocks noGrp="1"/>
          </p:cNvSpPr>
          <p:nvPr>
            <p:ph sz="quarter" idx="13"/>
          </p:nvPr>
        </p:nvSpPr>
        <p:spPr>
          <a:xfrm>
            <a:off x="755576" y="1052736"/>
            <a:ext cx="7344816" cy="4752528"/>
          </a:xfrm>
        </p:spPr>
        <p:txBody>
          <a:bodyPr>
            <a:normAutofit fontScale="85000" lnSpcReduction="20000"/>
          </a:bodyPr>
          <a:lstStyle/>
          <a:p>
            <a:r>
              <a:rPr lang="ru-RU" dirty="0" smtClean="0"/>
              <a:t>Пожалуй</a:t>
            </a:r>
            <a:r>
              <a:rPr lang="ru-RU" dirty="0"/>
              <a:t>, на этом этапе слова излишни. </a:t>
            </a:r>
            <a:r>
              <a:rPr lang="ru-RU" dirty="0">
                <a:solidFill>
                  <a:srgbClr val="C00000"/>
                </a:solidFill>
              </a:rPr>
              <a:t>Это крепкий союз, </a:t>
            </a:r>
            <a:r>
              <a:rPr lang="ru-RU" dirty="0"/>
              <a:t>который ничего не может разрушить. Хотя зарекаться ни от чего не стоит. У каждой пары будет своя история со своей глубиной и деталями.</a:t>
            </a:r>
          </a:p>
          <a:p>
            <a:r>
              <a:rPr lang="ru-RU" dirty="0">
                <a:solidFill>
                  <a:srgbClr val="C00000"/>
                </a:solidFill>
              </a:rPr>
              <a:t>Это не значит, что мы вместе постигли дзен. Это значит, что мы смогли вместе пройти все то сложное, что было на пути</a:t>
            </a:r>
            <a:r>
              <a:rPr lang="ru-RU" dirty="0"/>
              <a:t>.</a:t>
            </a:r>
          </a:p>
          <a:p>
            <a:r>
              <a:rPr lang="ru-RU" dirty="0"/>
              <a:t>Даже если мы любим друг друга, это не защищает наши отношения от кризисов. Если </a:t>
            </a:r>
            <a:r>
              <a:rPr lang="ru-RU" dirty="0">
                <a:solidFill>
                  <a:srgbClr val="C00000"/>
                </a:solidFill>
              </a:rPr>
              <a:t>мы воспринимаем кризис как возможность узнать другого еще лучше</a:t>
            </a:r>
            <a:r>
              <a:rPr lang="ru-RU" dirty="0"/>
              <a:t>, мы со всем можем справиться. Вместо того чтобы бороться друг с другом, гораздо выгоднее объединиться против возникшей проблемы.</a:t>
            </a:r>
          </a:p>
          <a:p>
            <a:r>
              <a:rPr lang="ru-RU" dirty="0" smtClean="0"/>
              <a:t>Не </a:t>
            </a:r>
            <a:r>
              <a:rPr lang="ru-RU" dirty="0"/>
              <a:t>рубя с плеча, не потакая модному принципу «не нравится — уходи», мы сможем сделать отношения с партнером глубже, честнее, качественнее. А ведь глубокие искренние отношения — то, что продлевает нашу жизнь и делает нас счастливее и здоровее. Разве это не аргумент, чтобы попробовать?</a:t>
            </a:r>
          </a:p>
          <a:p>
            <a:endParaRPr lang="ru-RU" dirty="0"/>
          </a:p>
          <a:p>
            <a:pPr marL="45720" indent="0">
              <a:buNone/>
            </a:pPr>
            <a:endParaRPr lang="ru-RU" dirty="0"/>
          </a:p>
        </p:txBody>
      </p:sp>
    </p:spTree>
    <p:extLst>
      <p:ext uri="{BB962C8B-B14F-4D97-AF65-F5344CB8AC3E}">
        <p14:creationId xmlns:p14="http://schemas.microsoft.com/office/powerpoint/2010/main" val="244335029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p:txBody>
          <a:bodyPr/>
          <a:lstStyle/>
          <a:p>
            <a:pPr marL="45720" indent="0" algn="ctr">
              <a:buNone/>
            </a:pPr>
            <a:endParaRPr lang="ru-RU" dirty="0" smtClean="0"/>
          </a:p>
          <a:p>
            <a:pPr marL="45720" indent="0" algn="ctr">
              <a:buNone/>
            </a:pPr>
            <a:endParaRPr lang="ru-RU" dirty="0"/>
          </a:p>
          <a:p>
            <a:pPr marL="45720" indent="0" algn="ctr">
              <a:buNone/>
            </a:pPr>
            <a:r>
              <a:rPr lang="ru-RU" dirty="0" smtClean="0"/>
              <a:t>Также мы можем поисследовать отношения с точки зрения, прежде всего, </a:t>
            </a:r>
          </a:p>
          <a:p>
            <a:pPr marL="45720" indent="0" algn="ctr">
              <a:buNone/>
            </a:pPr>
            <a:r>
              <a:rPr lang="ru-RU" dirty="0" smtClean="0"/>
              <a:t>шкалы «Близость/Сплоченность», или по-другому «Автономия-слияние»</a:t>
            </a:r>
            <a:endParaRPr lang="ru-RU" dirty="0"/>
          </a:p>
        </p:txBody>
      </p:sp>
    </p:spTree>
    <p:extLst>
      <p:ext uri="{BB962C8B-B14F-4D97-AF65-F5344CB8AC3E}">
        <p14:creationId xmlns:p14="http://schemas.microsoft.com/office/powerpoint/2010/main" val="404523891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26400" y="487759"/>
            <a:ext cx="6512511" cy="634137"/>
          </a:xfrm>
        </p:spPr>
        <p:txBody>
          <a:bodyPr/>
          <a:lstStyle/>
          <a:p>
            <a:pPr marL="0" indent="0" algn="ctr">
              <a:buNone/>
            </a:pPr>
            <a:r>
              <a:rPr lang="ru-RU" sz="2400" dirty="0" smtClean="0">
                <a:solidFill>
                  <a:srgbClr val="0070C0"/>
                </a:solidFill>
              </a:rPr>
              <a:t>Циркулярная модель </a:t>
            </a:r>
            <a:r>
              <a:rPr lang="ru-RU" sz="2400" dirty="0" err="1" smtClean="0">
                <a:solidFill>
                  <a:srgbClr val="0070C0"/>
                </a:solidFill>
              </a:rPr>
              <a:t>Олсона</a:t>
            </a:r>
            <a:endParaRPr lang="ru-RU" sz="2400" dirty="0">
              <a:solidFill>
                <a:srgbClr val="0070C0"/>
              </a:solidFill>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985582"/>
            <a:ext cx="7920880" cy="5395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6871852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59632" y="404664"/>
            <a:ext cx="6512511" cy="1143000"/>
          </a:xfrm>
        </p:spPr>
        <p:txBody>
          <a:bodyPr>
            <a:normAutofit/>
          </a:bodyPr>
          <a:lstStyle/>
          <a:p>
            <a:pPr marL="0" indent="0">
              <a:buNone/>
            </a:pPr>
            <a:r>
              <a:rPr lang="ru-RU" sz="3200" b="1" dirty="0" smtClean="0">
                <a:solidFill>
                  <a:schemeClr val="accent1"/>
                </a:solidFill>
              </a:rPr>
              <a:t>Совместность/сплоченность</a:t>
            </a:r>
            <a:endParaRPr lang="ru-RU" sz="3200" b="1" dirty="0">
              <a:solidFill>
                <a:schemeClr val="accent1"/>
              </a:solidFill>
            </a:endParaRPr>
          </a:p>
        </p:txBody>
      </p:sp>
      <p:sp>
        <p:nvSpPr>
          <p:cNvPr id="3" name="Объект 2"/>
          <p:cNvSpPr>
            <a:spLocks noGrp="1"/>
          </p:cNvSpPr>
          <p:nvPr>
            <p:ph sz="quarter" idx="13"/>
          </p:nvPr>
        </p:nvSpPr>
        <p:spPr>
          <a:xfrm>
            <a:off x="1187624" y="2204864"/>
            <a:ext cx="6400800" cy="3474720"/>
          </a:xfrm>
        </p:spPr>
        <p:txBody>
          <a:bodyPr/>
          <a:lstStyle/>
          <a:p>
            <a:pPr marL="45720" indent="0">
              <a:buNone/>
            </a:pPr>
            <a:r>
              <a:rPr lang="ru-RU" sz="3600" dirty="0" smtClean="0"/>
              <a:t>- насколько </a:t>
            </a:r>
            <a:r>
              <a:rPr lang="ru-RU" sz="3600" dirty="0"/>
              <a:t>мы близки, насколько мы пара, семья, вместе?</a:t>
            </a:r>
          </a:p>
          <a:p>
            <a:pPr marL="0" indent="0">
              <a:buNone/>
            </a:pPr>
            <a:endParaRPr lang="ru-RU" dirty="0" smtClean="0"/>
          </a:p>
          <a:p>
            <a:endParaRPr lang="ru-RU" dirty="0"/>
          </a:p>
        </p:txBody>
      </p:sp>
    </p:spTree>
    <p:extLst>
      <p:ext uri="{BB962C8B-B14F-4D97-AF65-F5344CB8AC3E}">
        <p14:creationId xmlns:p14="http://schemas.microsoft.com/office/powerpoint/2010/main" val="2369487157"/>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315744" y="260648"/>
            <a:ext cx="6512511" cy="648072"/>
          </a:xfrm>
        </p:spPr>
        <p:txBody>
          <a:bodyPr/>
          <a:lstStyle/>
          <a:p>
            <a:pPr marL="0" indent="0" algn="ctr">
              <a:buNone/>
            </a:pPr>
            <a:r>
              <a:rPr lang="ru-RU" sz="2800" dirty="0" smtClean="0">
                <a:solidFill>
                  <a:srgbClr val="0070C0"/>
                </a:solidFill>
              </a:rPr>
              <a:t>Шкала сплоченности по </a:t>
            </a:r>
            <a:r>
              <a:rPr lang="ru-RU" sz="2800" dirty="0" err="1" smtClean="0">
                <a:solidFill>
                  <a:srgbClr val="0070C0"/>
                </a:solidFill>
              </a:rPr>
              <a:t>Олсону</a:t>
            </a:r>
            <a:endParaRPr lang="ru-RU" sz="2800" dirty="0">
              <a:solidFill>
                <a:srgbClr val="0070C0"/>
              </a:solidFill>
            </a:endParaRPr>
          </a:p>
        </p:txBody>
      </p:sp>
      <p:sp>
        <p:nvSpPr>
          <p:cNvPr id="3" name="Объект 2"/>
          <p:cNvSpPr>
            <a:spLocks noGrp="1"/>
          </p:cNvSpPr>
          <p:nvPr>
            <p:ph sz="quarter" idx="13"/>
          </p:nvPr>
        </p:nvSpPr>
        <p:spPr>
          <a:xfrm>
            <a:off x="251520" y="1124744"/>
            <a:ext cx="8640960" cy="5472608"/>
          </a:xfrm>
        </p:spPr>
        <p:txBody>
          <a:bodyPr>
            <a:normAutofit fontScale="55000" lnSpcReduction="20000"/>
          </a:bodyPr>
          <a:lstStyle/>
          <a:p>
            <a:pPr hangingPunct="0"/>
            <a:r>
              <a:rPr lang="ru-RU" dirty="0" smtClean="0"/>
              <a:t>Это степень </a:t>
            </a:r>
            <a:r>
              <a:rPr lang="ru-RU" dirty="0"/>
              <a:t>эмоциональной вовлеченности в жизнь семьи, которая характеризуется тем, что для человека является важнее – время внутри семьи или время вне партнерства</a:t>
            </a:r>
            <a:endParaRPr lang="ru-RU" dirty="0" smtClean="0"/>
          </a:p>
          <a:p>
            <a:pPr hangingPunct="0"/>
            <a:r>
              <a:rPr lang="ru-RU" dirty="0" smtClean="0"/>
              <a:t>В </a:t>
            </a:r>
            <a:r>
              <a:rPr lang="ru-RU" dirty="0"/>
              <a:t>циркулярной модели </a:t>
            </a:r>
            <a:r>
              <a:rPr lang="ru-RU" dirty="0" err="1"/>
              <a:t>Олсона</a:t>
            </a:r>
            <a:r>
              <a:rPr lang="ru-RU" dirty="0"/>
              <a:t> выделяются пары четырех степеней сплоченности</a:t>
            </a:r>
            <a:r>
              <a:rPr lang="ru-RU" dirty="0" smtClean="0"/>
              <a:t>.</a:t>
            </a:r>
          </a:p>
          <a:p>
            <a:pPr hangingPunct="0"/>
            <a:endParaRPr lang="ru-RU" dirty="0"/>
          </a:p>
          <a:p>
            <a:pPr hangingPunct="0"/>
            <a:r>
              <a:rPr lang="ru-RU" dirty="0">
                <a:solidFill>
                  <a:srgbClr val="C00000"/>
                </a:solidFill>
              </a:rPr>
              <a:t>Разобщенная пара </a:t>
            </a:r>
            <a:r>
              <a:rPr lang="ru-RU" dirty="0"/>
              <a:t>состоит в союзе, но для каждого из партнеров время, проведенное вне семьи, представляется более ценным, чем время, проведенное с  партнером. Друзья и подруги являются отдельными и </a:t>
            </a:r>
            <a:r>
              <a:rPr lang="ru-RU" dirty="0">
                <a:solidFill>
                  <a:srgbClr val="C00000"/>
                </a:solidFill>
              </a:rPr>
              <a:t>каждый супруг имеет свой круг общения. Попытки посягнуть на личное время рассматриваются как угроза союзу. Это союз, где люди сосредоточены на удовлетворении собственных интересов.</a:t>
            </a:r>
            <a:r>
              <a:rPr lang="ru-RU" dirty="0"/>
              <a:t> К  слабой стороне таких отношений можно отнести неумение сближаться в кризисные моменты из-за привычки удовлетворять только свои интересы. В моменты кризиса эта пара демонстрирует неумение поддержать друг друга эмоционально.</a:t>
            </a:r>
          </a:p>
          <a:p>
            <a:pPr hangingPunct="0"/>
            <a:r>
              <a:rPr lang="ru-RU" dirty="0"/>
              <a:t>На противоположном полюсе по степени сплоченности находятся отношения, которые называются запутанные. </a:t>
            </a:r>
            <a:r>
              <a:rPr lang="ru-RU" dirty="0">
                <a:solidFill>
                  <a:srgbClr val="C00000"/>
                </a:solidFill>
              </a:rPr>
              <a:t>Запутанные отношения </a:t>
            </a:r>
            <a:r>
              <a:rPr lang="ru-RU" dirty="0"/>
              <a:t>– это отношения, в  которых слишком много центростремительных сил и </a:t>
            </a:r>
            <a:r>
              <a:rPr lang="ru-RU" dirty="0">
                <a:solidFill>
                  <a:srgbClr val="C00000"/>
                </a:solidFill>
              </a:rPr>
              <a:t>вся энергия партнеров сосредоточена на союзе</a:t>
            </a:r>
            <a:r>
              <a:rPr lang="ru-RU" dirty="0"/>
              <a:t>. Друзья только общие, хобби и развлечения только общие, всякие различия во мнениях рассматриваются как угроза союзу. В моменты кризиса, когда </a:t>
            </a:r>
            <a:r>
              <a:rPr lang="ru-RU" dirty="0" err="1"/>
              <a:t>разделенность</a:t>
            </a:r>
            <a:r>
              <a:rPr lang="ru-RU" dirty="0"/>
              <a:t> диктуется материальной или временной необходимостью, партнеры не умеют дать свободу друг другу. Запутанные отношения несут в себе замедление развития каждого партнера как личности. </a:t>
            </a:r>
          </a:p>
          <a:p>
            <a:pPr hangingPunct="0"/>
            <a:r>
              <a:rPr lang="ru-RU" dirty="0" smtClean="0"/>
              <a:t>В </a:t>
            </a:r>
            <a:r>
              <a:rPr lang="ru-RU" dirty="0">
                <a:solidFill>
                  <a:srgbClr val="C00000"/>
                </a:solidFill>
              </a:rPr>
              <a:t>раздельных отношениях </a:t>
            </a:r>
            <a:r>
              <a:rPr lang="ru-RU" dirty="0"/>
              <a:t>есть общие друзья и общие интересы, но </a:t>
            </a:r>
            <a:r>
              <a:rPr lang="ru-RU" dirty="0">
                <a:solidFill>
                  <a:srgbClr val="C00000"/>
                </a:solidFill>
              </a:rPr>
              <a:t>время, проведенное вне семьи предпочтительнее для партнеров.</a:t>
            </a:r>
            <a:r>
              <a:rPr lang="ru-RU" dirty="0"/>
              <a:t> Общность есть, но она расценивается как то, что не мешает развитию индивидуальности, которая стоит в  таких отношениях на первом месте.</a:t>
            </a:r>
          </a:p>
          <a:p>
            <a:pPr hangingPunct="0"/>
            <a:r>
              <a:rPr lang="ru-RU" dirty="0"/>
              <a:t>При </a:t>
            </a:r>
            <a:r>
              <a:rPr lang="ru-RU" dirty="0">
                <a:solidFill>
                  <a:srgbClr val="C00000"/>
                </a:solidFill>
              </a:rPr>
              <a:t>сплоченных отношениях  </a:t>
            </a:r>
            <a:r>
              <a:rPr lang="ru-RU" dirty="0"/>
              <a:t>друзья и интересы в основном общие, и  люди не боятся иметь отдельных друзей и подруг. </a:t>
            </a:r>
            <a:r>
              <a:rPr lang="ru-RU" dirty="0">
                <a:solidFill>
                  <a:srgbClr val="C00000"/>
                </a:solidFill>
              </a:rPr>
              <a:t>Сплоченные отношения отличаются от раздельных тем, что время, проведенное вместе ценится больше, чем время, проведенное отдельно</a:t>
            </a:r>
            <a:r>
              <a:rPr lang="ru-RU" dirty="0"/>
              <a:t>. И, таким образом, девиз такой пары: прежде всего развитие отношений, и уж потом развитие индивидуальностей. </a:t>
            </a:r>
            <a:endParaRPr lang="ru-RU" dirty="0" smtClean="0"/>
          </a:p>
          <a:p>
            <a:pPr hangingPunct="0"/>
            <a:endParaRPr lang="ru-RU" dirty="0"/>
          </a:p>
          <a:p>
            <a:pPr hangingPunct="0"/>
            <a:r>
              <a:rPr lang="ru-RU" dirty="0" smtClean="0"/>
              <a:t>Прим: Шкала </a:t>
            </a:r>
            <a:r>
              <a:rPr lang="ru-RU" dirty="0"/>
              <a:t>сплоченности отражает два фундаментальных страха, от которых человек пытается излечиться, образовывая союз, два экзистенциальных страха, с  которыми мы рождаемся: стремление к запутанности отражает стремление избавиться от страха одиночества, а стремление к разобщенности отражает попытку избавиться от страха быть поглощенным другими.</a:t>
            </a:r>
          </a:p>
          <a:p>
            <a:pPr hangingPunct="0"/>
            <a:endParaRPr lang="ru-RU" dirty="0"/>
          </a:p>
          <a:p>
            <a:pPr marL="45720" indent="0">
              <a:buNone/>
            </a:pPr>
            <a:endParaRPr lang="ru-RU" dirty="0"/>
          </a:p>
        </p:txBody>
      </p:sp>
    </p:spTree>
    <p:extLst>
      <p:ext uri="{BB962C8B-B14F-4D97-AF65-F5344CB8AC3E}">
        <p14:creationId xmlns:p14="http://schemas.microsoft.com/office/powerpoint/2010/main" val="80384716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59632" y="476672"/>
            <a:ext cx="6512511" cy="1143000"/>
          </a:xfrm>
        </p:spPr>
        <p:txBody>
          <a:bodyPr>
            <a:noAutofit/>
          </a:bodyPr>
          <a:lstStyle/>
          <a:p>
            <a:pPr marL="0" indent="0" algn="ctr">
              <a:buNone/>
            </a:pPr>
            <a:r>
              <a:rPr lang="ru-RU" sz="2800" b="1" dirty="0">
                <a:solidFill>
                  <a:schemeClr val="accent1"/>
                </a:solidFill>
              </a:rPr>
              <a:t>Совместность соотносится с границами!!!</a:t>
            </a:r>
            <a:br>
              <a:rPr lang="ru-RU" sz="2800" b="1" dirty="0">
                <a:solidFill>
                  <a:schemeClr val="accent1"/>
                </a:solidFill>
              </a:rPr>
            </a:br>
            <a:endParaRPr lang="ru-RU" sz="2800" b="1" dirty="0">
              <a:solidFill>
                <a:schemeClr val="accent1"/>
              </a:solidFill>
            </a:endParaRPr>
          </a:p>
        </p:txBody>
      </p:sp>
      <p:sp>
        <p:nvSpPr>
          <p:cNvPr id="3" name="Объект 2"/>
          <p:cNvSpPr>
            <a:spLocks noGrp="1"/>
          </p:cNvSpPr>
          <p:nvPr>
            <p:ph sz="quarter" idx="13"/>
          </p:nvPr>
        </p:nvSpPr>
        <p:spPr>
          <a:xfrm>
            <a:off x="1331640" y="1916832"/>
            <a:ext cx="6400800" cy="4194800"/>
          </a:xfrm>
        </p:spPr>
        <p:txBody>
          <a:bodyPr/>
          <a:lstStyle/>
          <a:p>
            <a:pPr marL="0" indent="0" algn="ctr">
              <a:buNone/>
            </a:pPr>
            <a:r>
              <a:rPr lang="ru-RU" sz="2400" dirty="0" smtClean="0"/>
              <a:t>Граница</a:t>
            </a:r>
            <a:r>
              <a:rPr lang="ru-RU" sz="2400" dirty="0"/>
              <a:t>– это функция, </a:t>
            </a:r>
            <a:r>
              <a:rPr lang="ru-RU" sz="2400" dirty="0" smtClean="0"/>
              <a:t>которая состоит  </a:t>
            </a:r>
            <a:r>
              <a:rPr lang="ru-RU" sz="2400" dirty="0"/>
              <a:t>одновременно в отделении системы </a:t>
            </a:r>
            <a:r>
              <a:rPr lang="ru-RU" sz="2400" dirty="0" smtClean="0"/>
              <a:t>(человека, семьи, организации) от окружающего </a:t>
            </a:r>
            <a:r>
              <a:rPr lang="ru-RU" sz="2400" dirty="0"/>
              <a:t>мира </a:t>
            </a:r>
            <a:endParaRPr lang="ru-RU" sz="2400" dirty="0" smtClean="0"/>
          </a:p>
          <a:p>
            <a:pPr marL="0" indent="0" algn="ctr">
              <a:buNone/>
            </a:pPr>
            <a:r>
              <a:rPr lang="ru-RU" sz="2400" dirty="0" smtClean="0"/>
              <a:t>и </a:t>
            </a:r>
            <a:r>
              <a:rPr lang="ru-RU" sz="2400" dirty="0"/>
              <a:t>в ее связывании с этим </a:t>
            </a:r>
            <a:r>
              <a:rPr lang="ru-RU" sz="2400" dirty="0" smtClean="0"/>
              <a:t>миром </a:t>
            </a:r>
            <a:endParaRPr lang="ru-RU" sz="2400" dirty="0"/>
          </a:p>
          <a:p>
            <a:endParaRPr lang="ru-RU" dirty="0"/>
          </a:p>
        </p:txBody>
      </p:sp>
    </p:spTree>
    <p:extLst>
      <p:ext uri="{BB962C8B-B14F-4D97-AF65-F5344CB8AC3E}">
        <p14:creationId xmlns:p14="http://schemas.microsoft.com/office/powerpoint/2010/main" val="1872003690"/>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55576" y="260648"/>
            <a:ext cx="7920880" cy="1143000"/>
          </a:xfrm>
        </p:spPr>
        <p:txBody>
          <a:bodyPr>
            <a:normAutofit fontScale="90000"/>
          </a:bodyPr>
          <a:lstStyle/>
          <a:p>
            <a:pPr marL="0" indent="0" algn="ctr">
              <a:buNone/>
            </a:pPr>
            <a:r>
              <a:rPr lang="ru-RU" sz="2700" b="1" dirty="0" smtClean="0">
                <a:solidFill>
                  <a:srgbClr val="0070C0"/>
                </a:solidFill>
              </a:rPr>
              <a:t>Совместность на шкале</a:t>
            </a:r>
            <a:br>
              <a:rPr lang="ru-RU" sz="2700" b="1" dirty="0" smtClean="0">
                <a:solidFill>
                  <a:srgbClr val="0070C0"/>
                </a:solidFill>
              </a:rPr>
            </a:br>
            <a:r>
              <a:rPr lang="ru-RU" sz="2700" b="1" dirty="0" smtClean="0">
                <a:solidFill>
                  <a:srgbClr val="0070C0"/>
                </a:solidFill>
              </a:rPr>
              <a:t>«Б</a:t>
            </a:r>
            <a:r>
              <a:rPr lang="ru-RU" sz="2700" dirty="0" smtClean="0">
                <a:solidFill>
                  <a:srgbClr val="0070C0"/>
                </a:solidFill>
                <a:effectLst/>
              </a:rPr>
              <a:t>лизость</a:t>
            </a:r>
            <a:r>
              <a:rPr lang="ru-RU" sz="2700" dirty="0">
                <a:solidFill>
                  <a:srgbClr val="0070C0"/>
                </a:solidFill>
                <a:effectLst/>
              </a:rPr>
              <a:t> — </a:t>
            </a:r>
            <a:r>
              <a:rPr lang="ru-RU" sz="2700" dirty="0" smtClean="0">
                <a:solidFill>
                  <a:srgbClr val="0070C0"/>
                </a:solidFill>
                <a:effectLst/>
              </a:rPr>
              <a:t>раздельность»/</a:t>
            </a:r>
            <a:br>
              <a:rPr lang="ru-RU" sz="2700" dirty="0" smtClean="0">
                <a:solidFill>
                  <a:srgbClr val="0070C0"/>
                </a:solidFill>
                <a:effectLst/>
              </a:rPr>
            </a:br>
            <a:r>
              <a:rPr lang="ru-RU" sz="2700" b="1" dirty="0" smtClean="0">
                <a:solidFill>
                  <a:srgbClr val="0070C0"/>
                </a:solidFill>
              </a:rPr>
              <a:t> «Автономия – Слияние</a:t>
            </a:r>
            <a:r>
              <a:rPr lang="ru-RU" sz="3200" b="1" dirty="0" smtClean="0">
                <a:solidFill>
                  <a:schemeClr val="accent1"/>
                </a:solidFill>
              </a:rPr>
              <a:t>»</a:t>
            </a:r>
            <a:endParaRPr lang="ru-RU" sz="3200" b="1" dirty="0">
              <a:solidFill>
                <a:schemeClr val="accent1"/>
              </a:solidFill>
            </a:endParaRPr>
          </a:p>
        </p:txBody>
      </p:sp>
      <p:sp>
        <p:nvSpPr>
          <p:cNvPr id="3" name="Объект 2"/>
          <p:cNvSpPr>
            <a:spLocks noGrp="1"/>
          </p:cNvSpPr>
          <p:nvPr>
            <p:ph sz="quarter" idx="13"/>
          </p:nvPr>
        </p:nvSpPr>
        <p:spPr>
          <a:xfrm>
            <a:off x="1115616" y="1700808"/>
            <a:ext cx="6400800" cy="4464496"/>
          </a:xfrm>
        </p:spPr>
        <p:txBody>
          <a:bodyPr>
            <a:normAutofit fontScale="92500" lnSpcReduction="10000"/>
          </a:bodyPr>
          <a:lstStyle/>
          <a:p>
            <a:r>
              <a:rPr lang="ru-RU" sz="2400" b="1" dirty="0"/>
              <a:t>Полюс </a:t>
            </a:r>
            <a:r>
              <a:rPr lang="ru-RU" sz="2400" b="1" dirty="0" smtClean="0"/>
              <a:t>Автономии</a:t>
            </a:r>
            <a:r>
              <a:rPr lang="ru-RU" sz="2400" dirty="0" smtClean="0"/>
              <a:t> </a:t>
            </a:r>
            <a:r>
              <a:rPr lang="ru-RU" sz="2400" dirty="0"/>
              <a:t>предполагает жесткие границы, отделенность, </a:t>
            </a:r>
            <a:r>
              <a:rPr lang="ru-RU" sz="2400" dirty="0" err="1" smtClean="0"/>
              <a:t>дистанцированность</a:t>
            </a:r>
            <a:r>
              <a:rPr lang="ru-RU" sz="2400" dirty="0" smtClean="0"/>
              <a:t>. </a:t>
            </a:r>
            <a:r>
              <a:rPr lang="ru-RU" sz="2400" dirty="0"/>
              <a:t>Это ярко выраженная </a:t>
            </a:r>
            <a:r>
              <a:rPr lang="ru-RU" sz="2400" dirty="0" smtClean="0"/>
              <a:t>ориентация </a:t>
            </a:r>
            <a:r>
              <a:rPr lang="ru-RU" sz="2400" dirty="0"/>
              <a:t>на себя, без ориентации на </a:t>
            </a:r>
            <a:r>
              <a:rPr lang="ru-RU" sz="2400" dirty="0" smtClean="0"/>
              <a:t>другого. Позиция </a:t>
            </a:r>
            <a:r>
              <a:rPr lang="ru-RU" sz="2400" dirty="0" err="1"/>
              <a:t>контрзависимости</a:t>
            </a:r>
            <a:r>
              <a:rPr lang="ru-RU" sz="2400" dirty="0"/>
              <a:t>. </a:t>
            </a:r>
            <a:endParaRPr lang="ru-RU" sz="2400" dirty="0" smtClean="0"/>
          </a:p>
          <a:p>
            <a:pPr marL="45720" indent="0">
              <a:buNone/>
            </a:pPr>
            <a:r>
              <a:rPr lang="ru-RU" sz="2400" dirty="0" smtClean="0"/>
              <a:t>«</a:t>
            </a:r>
            <a:r>
              <a:rPr lang="ru-RU" sz="2400" dirty="0" smtClean="0">
                <a:solidFill>
                  <a:srgbClr val="FF0000"/>
                </a:solidFill>
              </a:rPr>
              <a:t>Я»-позиция</a:t>
            </a:r>
          </a:p>
          <a:p>
            <a:pPr marL="45720" indent="0">
              <a:buNone/>
            </a:pPr>
            <a:endParaRPr lang="ru-RU" sz="2400" dirty="0">
              <a:solidFill>
                <a:srgbClr val="FF0000"/>
              </a:solidFill>
            </a:endParaRPr>
          </a:p>
          <a:p>
            <a:pPr marL="45720" indent="0">
              <a:buNone/>
            </a:pPr>
            <a:endParaRPr lang="ru-RU" sz="2400" dirty="0">
              <a:solidFill>
                <a:srgbClr val="FF0000"/>
              </a:solidFill>
            </a:endParaRPr>
          </a:p>
          <a:p>
            <a:r>
              <a:rPr lang="ru-RU" sz="2400" b="1" dirty="0"/>
              <a:t>Полюс </a:t>
            </a:r>
            <a:r>
              <a:rPr lang="ru-RU" sz="2400" b="1" dirty="0" smtClean="0"/>
              <a:t>Слияния</a:t>
            </a:r>
            <a:r>
              <a:rPr lang="ru-RU" sz="2400" dirty="0" smtClean="0"/>
              <a:t> </a:t>
            </a:r>
            <a:r>
              <a:rPr lang="ru-RU" sz="2400" dirty="0"/>
              <a:t>– это про размытые </a:t>
            </a:r>
            <a:r>
              <a:rPr lang="ru-RU" sz="2400" dirty="0" err="1" smtClean="0"/>
              <a:t>границы,неумение</a:t>
            </a:r>
            <a:r>
              <a:rPr lang="ru-RU" sz="2400" dirty="0" smtClean="0"/>
              <a:t> </a:t>
            </a:r>
            <a:r>
              <a:rPr lang="ru-RU" sz="2400" dirty="0"/>
              <a:t>сказать «Нет», тенденция к  нарушению </a:t>
            </a:r>
            <a:r>
              <a:rPr lang="ru-RU" sz="2400" dirty="0" smtClean="0"/>
              <a:t>границ </a:t>
            </a:r>
            <a:r>
              <a:rPr lang="ru-RU" sz="2400" dirty="0"/>
              <a:t>другого человека. </a:t>
            </a:r>
            <a:r>
              <a:rPr lang="ru-RU" sz="2400" dirty="0" smtClean="0">
                <a:solidFill>
                  <a:srgbClr val="FF0000"/>
                </a:solidFill>
              </a:rPr>
              <a:t>«Мы»-позиция</a:t>
            </a:r>
            <a:endParaRPr lang="ru-RU" sz="2400" dirty="0">
              <a:solidFill>
                <a:srgbClr val="FF0000"/>
              </a:solidFill>
            </a:endParaRPr>
          </a:p>
          <a:p>
            <a:endParaRPr lang="ru-RU" dirty="0"/>
          </a:p>
        </p:txBody>
      </p:sp>
    </p:spTree>
    <p:extLst>
      <p:ext uri="{BB962C8B-B14F-4D97-AF65-F5344CB8AC3E}">
        <p14:creationId xmlns:p14="http://schemas.microsoft.com/office/powerpoint/2010/main" val="4083553224"/>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321903" y="188640"/>
            <a:ext cx="6512511" cy="641008"/>
          </a:xfrm>
        </p:spPr>
        <p:txBody>
          <a:bodyPr/>
          <a:lstStyle/>
          <a:p>
            <a:pPr marL="0" indent="0" algn="ctr">
              <a:buNone/>
            </a:pPr>
            <a:r>
              <a:rPr lang="ru-RU" sz="3200" dirty="0" smtClean="0">
                <a:solidFill>
                  <a:srgbClr val="0070C0"/>
                </a:solidFill>
              </a:rPr>
              <a:t>Полюс слияния</a:t>
            </a:r>
            <a:endParaRPr lang="ru-RU" sz="3200" dirty="0">
              <a:solidFill>
                <a:srgbClr val="0070C0"/>
              </a:solidFill>
            </a:endParaRPr>
          </a:p>
        </p:txBody>
      </p:sp>
      <p:sp>
        <p:nvSpPr>
          <p:cNvPr id="3" name="Объект 2"/>
          <p:cNvSpPr>
            <a:spLocks noGrp="1"/>
          </p:cNvSpPr>
          <p:nvPr>
            <p:ph sz="quarter" idx="13"/>
          </p:nvPr>
        </p:nvSpPr>
        <p:spPr>
          <a:xfrm>
            <a:off x="1321903" y="1196752"/>
            <a:ext cx="6400800" cy="3474720"/>
          </a:xfrm>
        </p:spPr>
        <p:txBody>
          <a:bodyPr>
            <a:normAutofit fontScale="92500" lnSpcReduction="20000"/>
          </a:bodyPr>
          <a:lstStyle/>
          <a:p>
            <a:pPr marL="45720" indent="0">
              <a:buNone/>
            </a:pPr>
            <a:r>
              <a:rPr lang="ru-RU" dirty="0"/>
              <a:t>Если уровень сплоченности слишком </a:t>
            </a:r>
            <a:r>
              <a:rPr lang="ru-RU" dirty="0" smtClean="0"/>
              <a:t>высок, </a:t>
            </a:r>
            <a:r>
              <a:rPr lang="ru-RU" dirty="0"/>
              <a:t>то существует слишком много центростремительных сил в семье, крайности в требовании эмоциональной близости и лояльности, отдельные члены семьи не могут действовать независимо друг от друга. </a:t>
            </a:r>
            <a:endParaRPr lang="ru-RU" dirty="0" smtClean="0"/>
          </a:p>
          <a:p>
            <a:pPr marL="45720" indent="0">
              <a:buNone/>
            </a:pPr>
            <a:r>
              <a:rPr lang="ru-RU" dirty="0" smtClean="0"/>
              <a:t>В </a:t>
            </a:r>
            <a:r>
              <a:rPr lang="ru-RU" dirty="0"/>
              <a:t>семье слишком много согласия, различия в точках зрения активно не поощряются. </a:t>
            </a:r>
            <a:endParaRPr lang="ru-RU" dirty="0" smtClean="0"/>
          </a:p>
          <a:p>
            <a:pPr marL="45720" indent="0">
              <a:buNone/>
            </a:pPr>
            <a:r>
              <a:rPr lang="ru-RU" dirty="0" smtClean="0"/>
              <a:t>Существует </a:t>
            </a:r>
            <a:r>
              <a:rPr lang="ru-RU" dirty="0"/>
              <a:t>даже страх различий, опасность существования такой семьи (Если мы такие разные, то что мы делаем вместе?). У членов семьи мало личного пространства и невысокая степень </a:t>
            </a:r>
            <a:r>
              <a:rPr lang="ru-RU" dirty="0" err="1"/>
              <a:t>дифференцированности</a:t>
            </a:r>
            <a:r>
              <a:rPr lang="ru-RU" dirty="0"/>
              <a:t> друг от друга. </a:t>
            </a:r>
          </a:p>
        </p:txBody>
      </p:sp>
    </p:spTree>
    <p:extLst>
      <p:ext uri="{BB962C8B-B14F-4D97-AF65-F5344CB8AC3E}">
        <p14:creationId xmlns:p14="http://schemas.microsoft.com/office/powerpoint/2010/main" val="2667335320"/>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71600" y="548680"/>
            <a:ext cx="6512511" cy="641008"/>
          </a:xfrm>
        </p:spPr>
        <p:txBody>
          <a:bodyPr/>
          <a:lstStyle/>
          <a:p>
            <a:pPr marL="0" indent="0" algn="ctr">
              <a:buNone/>
            </a:pPr>
            <a:r>
              <a:rPr lang="ru-RU" sz="3200" dirty="0" smtClean="0">
                <a:solidFill>
                  <a:srgbClr val="0070C0"/>
                </a:solidFill>
              </a:rPr>
              <a:t>Полюс автономии</a:t>
            </a:r>
            <a:endParaRPr lang="ru-RU" sz="3200" dirty="0">
              <a:solidFill>
                <a:srgbClr val="0070C0"/>
              </a:solidFill>
            </a:endParaRPr>
          </a:p>
        </p:txBody>
      </p:sp>
      <p:sp>
        <p:nvSpPr>
          <p:cNvPr id="3" name="Объект 2"/>
          <p:cNvSpPr>
            <a:spLocks noGrp="1"/>
          </p:cNvSpPr>
          <p:nvPr>
            <p:ph sz="quarter" idx="13"/>
          </p:nvPr>
        </p:nvSpPr>
        <p:spPr>
          <a:xfrm>
            <a:off x="1187624" y="1484784"/>
            <a:ext cx="6400800" cy="3474720"/>
          </a:xfrm>
        </p:spPr>
        <p:txBody>
          <a:bodyPr>
            <a:normAutofit fontScale="92500"/>
          </a:bodyPr>
          <a:lstStyle/>
          <a:p>
            <a:pPr marL="45720" indent="0">
              <a:buNone/>
            </a:pPr>
            <a:r>
              <a:rPr lang="ru-RU" dirty="0" smtClean="0"/>
              <a:t>В паре/семье  </a:t>
            </a:r>
            <a:r>
              <a:rPr lang="ru-RU" dirty="0"/>
              <a:t>с низким уровнем сплоченности существует слишком много центробежных сил. </a:t>
            </a:r>
            <a:endParaRPr lang="ru-RU" dirty="0" smtClean="0"/>
          </a:p>
          <a:p>
            <a:pPr marL="45720" indent="0">
              <a:buNone/>
            </a:pPr>
            <a:r>
              <a:rPr lang="ru-RU" dirty="0" smtClean="0"/>
              <a:t>Члены </a:t>
            </a:r>
            <a:r>
              <a:rPr lang="ru-RU" dirty="0"/>
              <a:t>семьи эмоционально крайне </a:t>
            </a:r>
            <a:r>
              <a:rPr lang="ru-RU" dirty="0" err="1"/>
              <a:t>дистанцированы</a:t>
            </a:r>
            <a:r>
              <a:rPr lang="ru-RU" dirty="0"/>
              <a:t>, почти не испытывают привязанность друг к другу, демонстрируют несогласованное поведение. </a:t>
            </a:r>
            <a:endParaRPr lang="ru-RU" dirty="0" smtClean="0"/>
          </a:p>
          <a:p>
            <a:pPr marL="45720" indent="0">
              <a:buNone/>
            </a:pPr>
            <a:r>
              <a:rPr lang="ru-RU" dirty="0" smtClean="0"/>
              <a:t>Они </a:t>
            </a:r>
            <a:r>
              <a:rPr lang="ru-RU" dirty="0"/>
              <a:t>редко проводят время вместе, не имеют общих друзей и интересов. </a:t>
            </a:r>
            <a:endParaRPr lang="ru-RU" dirty="0" smtClean="0"/>
          </a:p>
          <a:p>
            <a:pPr marL="45720" indent="0">
              <a:buNone/>
            </a:pPr>
            <a:r>
              <a:rPr lang="ru-RU" dirty="0" smtClean="0"/>
              <a:t>Им </a:t>
            </a:r>
            <a:r>
              <a:rPr lang="ru-RU" dirty="0"/>
              <a:t>трудно оказывать друг другу поддержку и совместно решать жизненные проблемы.</a:t>
            </a:r>
          </a:p>
        </p:txBody>
      </p:sp>
    </p:spTree>
    <p:extLst>
      <p:ext uri="{BB962C8B-B14F-4D97-AF65-F5344CB8AC3E}">
        <p14:creationId xmlns:p14="http://schemas.microsoft.com/office/powerpoint/2010/main" val="2168250499"/>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1187624" y="1052736"/>
            <a:ext cx="6400800" cy="3474720"/>
          </a:xfrm>
        </p:spPr>
        <p:txBody>
          <a:bodyPr>
            <a:normAutofit/>
          </a:bodyPr>
          <a:lstStyle/>
          <a:p>
            <a:pPr marL="45720" indent="0" algn="ctr">
              <a:buNone/>
            </a:pPr>
            <a:endParaRPr lang="ru-RU" dirty="0" smtClean="0">
              <a:solidFill>
                <a:srgbClr val="0070C0"/>
              </a:solidFill>
            </a:endParaRPr>
          </a:p>
          <a:p>
            <a:pPr marL="45720" indent="0" algn="ctr">
              <a:buNone/>
            </a:pPr>
            <a:r>
              <a:rPr lang="ru-RU" dirty="0" smtClean="0">
                <a:solidFill>
                  <a:srgbClr val="0070C0"/>
                </a:solidFill>
              </a:rPr>
              <a:t>Важен баланс!</a:t>
            </a:r>
          </a:p>
          <a:p>
            <a:pPr marL="45720" indent="0" algn="ctr">
              <a:buNone/>
            </a:pPr>
            <a:r>
              <a:rPr lang="ru-RU" dirty="0" smtClean="0">
                <a:solidFill>
                  <a:srgbClr val="0070C0"/>
                </a:solidFill>
              </a:rPr>
              <a:t>Способность </a:t>
            </a:r>
            <a:r>
              <a:rPr lang="ru-RU" dirty="0">
                <a:solidFill>
                  <a:srgbClr val="0070C0"/>
                </a:solidFill>
              </a:rPr>
              <a:t>сочетать собственную независимость и тесные </a:t>
            </a:r>
            <a:r>
              <a:rPr lang="ru-RU" dirty="0" smtClean="0">
                <a:solidFill>
                  <a:srgbClr val="0070C0"/>
                </a:solidFill>
              </a:rPr>
              <a:t>связи </a:t>
            </a:r>
            <a:r>
              <a:rPr lang="ru-RU" dirty="0">
                <a:solidFill>
                  <a:srgbClr val="0070C0"/>
                </a:solidFill>
              </a:rPr>
              <a:t>со </a:t>
            </a:r>
            <a:r>
              <a:rPr lang="ru-RU" dirty="0" smtClean="0">
                <a:solidFill>
                  <a:srgbClr val="0070C0"/>
                </a:solidFill>
              </a:rPr>
              <a:t>своей парой/ семьей</a:t>
            </a:r>
            <a:endParaRPr lang="ru-RU" dirty="0">
              <a:solidFill>
                <a:srgbClr val="0070C0"/>
              </a:solidFill>
            </a:endParaRPr>
          </a:p>
          <a:p>
            <a:pPr marL="45720" indent="0">
              <a:buNone/>
            </a:pPr>
            <a:endParaRPr lang="ru-RU" dirty="0"/>
          </a:p>
        </p:txBody>
      </p:sp>
    </p:spTree>
    <p:extLst>
      <p:ext uri="{BB962C8B-B14F-4D97-AF65-F5344CB8AC3E}">
        <p14:creationId xmlns:p14="http://schemas.microsoft.com/office/powerpoint/2010/main" val="1755830304"/>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82798" y="447020"/>
            <a:ext cx="6512511" cy="569000"/>
          </a:xfrm>
        </p:spPr>
        <p:txBody>
          <a:bodyPr/>
          <a:lstStyle/>
          <a:p>
            <a:pPr marL="0" indent="0" algn="ctr">
              <a:buNone/>
            </a:pPr>
            <a:r>
              <a:rPr lang="ru-RU" sz="2400" dirty="0" smtClean="0">
                <a:solidFill>
                  <a:srgbClr val="0070C0"/>
                </a:solidFill>
              </a:rPr>
              <a:t>Шкала гибкости по </a:t>
            </a:r>
            <a:r>
              <a:rPr lang="ru-RU" sz="2400" dirty="0" err="1" smtClean="0">
                <a:solidFill>
                  <a:srgbClr val="0070C0"/>
                </a:solidFill>
              </a:rPr>
              <a:t>Олсону</a:t>
            </a:r>
            <a:endParaRPr lang="ru-RU" sz="2400" dirty="0">
              <a:solidFill>
                <a:srgbClr val="0070C0"/>
              </a:solidFill>
            </a:endParaRPr>
          </a:p>
        </p:txBody>
      </p:sp>
      <p:sp>
        <p:nvSpPr>
          <p:cNvPr id="3" name="Объект 2"/>
          <p:cNvSpPr>
            <a:spLocks noGrp="1"/>
          </p:cNvSpPr>
          <p:nvPr>
            <p:ph sz="quarter" idx="13"/>
          </p:nvPr>
        </p:nvSpPr>
        <p:spPr>
          <a:xfrm>
            <a:off x="395536" y="1036340"/>
            <a:ext cx="7992888" cy="5200972"/>
          </a:xfrm>
        </p:spPr>
        <p:txBody>
          <a:bodyPr>
            <a:normAutofit fontScale="70000" lnSpcReduction="20000"/>
          </a:bodyPr>
          <a:lstStyle/>
          <a:p>
            <a:pPr marL="45720" indent="0" hangingPunct="0">
              <a:buNone/>
            </a:pPr>
            <a:r>
              <a:rPr lang="ru-RU" dirty="0"/>
              <a:t>Г</a:t>
            </a:r>
            <a:r>
              <a:rPr lang="ru-RU" dirty="0" smtClean="0"/>
              <a:t>ибкость </a:t>
            </a:r>
            <a:r>
              <a:rPr lang="ru-RU" dirty="0"/>
              <a:t>определяет стиль управления семьей. В  зависимости от степени гибкости </a:t>
            </a:r>
            <a:r>
              <a:rPr lang="ru-RU" dirty="0" err="1"/>
              <a:t>Олсон</a:t>
            </a:r>
            <a:r>
              <a:rPr lang="ru-RU" dirty="0"/>
              <a:t> выделил четыре типа семей</a:t>
            </a:r>
            <a:r>
              <a:rPr lang="ru-RU" dirty="0" smtClean="0"/>
              <a:t>.</a:t>
            </a:r>
          </a:p>
          <a:p>
            <a:pPr marL="45720" indent="0" hangingPunct="0">
              <a:buNone/>
            </a:pPr>
            <a:endParaRPr lang="ru-RU" dirty="0"/>
          </a:p>
          <a:p>
            <a:pPr marL="45720" indent="0" hangingPunct="0">
              <a:buNone/>
            </a:pPr>
            <a:endParaRPr lang="ru-RU" dirty="0"/>
          </a:p>
          <a:p>
            <a:pPr hangingPunct="0"/>
            <a:r>
              <a:rPr lang="ru-RU" dirty="0">
                <a:solidFill>
                  <a:srgbClr val="C00000"/>
                </a:solidFill>
              </a:rPr>
              <a:t>Ригидное управление </a:t>
            </a:r>
            <a:r>
              <a:rPr lang="ru-RU" dirty="0"/>
              <a:t>подразумевает, что </a:t>
            </a:r>
            <a:r>
              <a:rPr lang="ru-RU" dirty="0">
                <a:solidFill>
                  <a:srgbClr val="C00000"/>
                </a:solidFill>
              </a:rPr>
              <a:t>роли в семье распределены раз и навсегда.</a:t>
            </a:r>
            <a:r>
              <a:rPr lang="ru-RU" dirty="0"/>
              <a:t> Дети к обсуждению ролей не допускаются, их голоса не учитываются и  роли не меняются даже при сильных изменениях внешних условий. </a:t>
            </a:r>
            <a:r>
              <a:rPr lang="ru-RU" dirty="0">
                <a:solidFill>
                  <a:srgbClr val="C00000"/>
                </a:solidFill>
              </a:rPr>
              <a:t>Как правило, ригидными становятся отношения, где есть четко выделенный лидер, который крепко держится за свою власть</a:t>
            </a:r>
            <a:r>
              <a:rPr lang="ru-RU" dirty="0"/>
              <a:t>.</a:t>
            </a:r>
          </a:p>
          <a:p>
            <a:pPr hangingPunct="0"/>
            <a:r>
              <a:rPr lang="ru-RU" dirty="0"/>
              <a:t>На другом полюсе по степени гибкости находится </a:t>
            </a:r>
            <a:r>
              <a:rPr lang="ru-RU" dirty="0">
                <a:solidFill>
                  <a:srgbClr val="C00000"/>
                </a:solidFill>
              </a:rPr>
              <a:t>хаотичное управление</a:t>
            </a:r>
            <a:r>
              <a:rPr lang="ru-RU" dirty="0"/>
              <a:t>, когда партнеры говорят о том, что в их союзе никто не командует, а решения принимаются сами собой, «как сложится жизнь». </a:t>
            </a:r>
            <a:r>
              <a:rPr lang="ru-RU" dirty="0">
                <a:solidFill>
                  <a:srgbClr val="C00000"/>
                </a:solidFill>
              </a:rPr>
              <a:t>Это структура, где нет устойчивого руководства, и решение принимается спонтанно, что, к сожалению, делает семью или пару непредсказуемой</a:t>
            </a:r>
            <a:r>
              <a:rPr lang="ru-RU" dirty="0"/>
              <a:t>. В ситуации, когда нужно взять на себя ответственность, все от нее отказываются в надежде на то, что все само устроится. </a:t>
            </a:r>
            <a:endParaRPr lang="ru-RU" dirty="0" smtClean="0"/>
          </a:p>
          <a:p>
            <a:pPr hangingPunct="0"/>
            <a:r>
              <a:rPr lang="ru-RU" dirty="0" smtClean="0"/>
              <a:t>После </a:t>
            </a:r>
            <a:r>
              <a:rPr lang="ru-RU" dirty="0"/>
              <a:t>ригидного идет </a:t>
            </a:r>
            <a:r>
              <a:rPr lang="ru-RU" dirty="0">
                <a:solidFill>
                  <a:srgbClr val="C00000"/>
                </a:solidFill>
              </a:rPr>
              <a:t>структурированное управление</a:t>
            </a:r>
            <a:r>
              <a:rPr lang="ru-RU" dirty="0"/>
              <a:t>, где </a:t>
            </a:r>
            <a:r>
              <a:rPr lang="ru-RU" dirty="0">
                <a:solidFill>
                  <a:srgbClr val="C00000"/>
                </a:solidFill>
              </a:rPr>
              <a:t>роли распределены, структура ответственности существует, но лидерство может обсуждаться и меняться в зависимости от ситуации</a:t>
            </a:r>
            <a:r>
              <a:rPr lang="ru-RU" dirty="0"/>
              <a:t>. В таких союзах мнения детей, свекровей, тещ, как минимум, выслушиваются, они признаются как лица, которые имеют право голоса. </a:t>
            </a:r>
            <a:endParaRPr lang="ru-RU" dirty="0" smtClean="0"/>
          </a:p>
          <a:p>
            <a:pPr hangingPunct="0"/>
            <a:r>
              <a:rPr lang="ru-RU" dirty="0" smtClean="0"/>
              <a:t>При </a:t>
            </a:r>
            <a:r>
              <a:rPr lang="ru-RU" dirty="0">
                <a:solidFill>
                  <a:srgbClr val="C00000"/>
                </a:solidFill>
              </a:rPr>
              <a:t>гибком управлении роли меняются часто в результате совместного обсуждения, третьи лица принимают открытое участие в обсуждении и их мнение учитывается.</a:t>
            </a:r>
            <a:r>
              <a:rPr lang="ru-RU" dirty="0"/>
              <a:t> Третьи лица могут повлиять на распределение ролей.</a:t>
            </a:r>
          </a:p>
          <a:p>
            <a:pPr marL="45720" indent="0">
              <a:buNone/>
            </a:pPr>
            <a:endParaRPr lang="ru-RU" dirty="0"/>
          </a:p>
        </p:txBody>
      </p:sp>
    </p:spTree>
    <p:extLst>
      <p:ext uri="{BB962C8B-B14F-4D97-AF65-F5344CB8AC3E}">
        <p14:creationId xmlns:p14="http://schemas.microsoft.com/office/powerpoint/2010/main" val="1786696218"/>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403648" y="476672"/>
            <a:ext cx="6512511" cy="569000"/>
          </a:xfrm>
        </p:spPr>
        <p:txBody>
          <a:bodyPr/>
          <a:lstStyle/>
          <a:p>
            <a:pPr marL="0" indent="0" algn="ctr">
              <a:buNone/>
            </a:pPr>
            <a:r>
              <a:rPr lang="ru-RU" sz="2400" dirty="0" smtClean="0">
                <a:solidFill>
                  <a:srgbClr val="0070C0"/>
                </a:solidFill>
              </a:rPr>
              <a:t>Если человек на полюсе слияния</a:t>
            </a:r>
            <a:endParaRPr lang="ru-RU" sz="2400" dirty="0">
              <a:solidFill>
                <a:srgbClr val="0070C0"/>
              </a:solidFill>
            </a:endParaRPr>
          </a:p>
        </p:txBody>
      </p:sp>
      <p:sp>
        <p:nvSpPr>
          <p:cNvPr id="3" name="Объект 2"/>
          <p:cNvSpPr>
            <a:spLocks noGrp="1"/>
          </p:cNvSpPr>
          <p:nvPr>
            <p:ph sz="quarter" idx="13"/>
          </p:nvPr>
        </p:nvSpPr>
        <p:spPr>
          <a:xfrm>
            <a:off x="827584" y="1124744"/>
            <a:ext cx="7704856" cy="4752528"/>
          </a:xfrm>
        </p:spPr>
        <p:txBody>
          <a:bodyPr>
            <a:normAutofit fontScale="70000" lnSpcReduction="20000"/>
          </a:bodyPr>
          <a:lstStyle/>
          <a:p>
            <a:pPr marL="45720" indent="0">
              <a:buNone/>
            </a:pPr>
            <a:r>
              <a:rPr lang="ru-RU" dirty="0" smtClean="0"/>
              <a:t>Работать </a:t>
            </a:r>
            <a:r>
              <a:rPr lang="ru-RU" dirty="0"/>
              <a:t>над развитием  и усилением своего «Я»:</a:t>
            </a:r>
          </a:p>
          <a:p>
            <a:r>
              <a:rPr lang="ru-RU" dirty="0"/>
              <a:t>- Соединение со своими чувствами, их осознание. Научиться ощущать полноту своих чувств, и выражать все ваши чувства</a:t>
            </a:r>
          </a:p>
          <a:p>
            <a:r>
              <a:rPr lang="ru-RU" dirty="0"/>
              <a:t>- Осознание и признание важности своих потребностей через «Хочу». Более полное внутреннее осмысление своих ценностей, потребностей, желаний и мечтаний </a:t>
            </a:r>
          </a:p>
          <a:p>
            <a:r>
              <a:rPr lang="ru-RU" b="1" dirty="0"/>
              <a:t>- Просить о том, чего хочется</a:t>
            </a:r>
            <a:endParaRPr lang="ru-RU" dirty="0"/>
          </a:p>
          <a:p>
            <a:r>
              <a:rPr lang="ru-RU" dirty="0"/>
              <a:t>- Развивать обмен мыслями, чувствами с людьми. Научиться заявлять другим о своих желаниях и чувствах</a:t>
            </a:r>
          </a:p>
          <a:p>
            <a:r>
              <a:rPr lang="ru-RU" dirty="0"/>
              <a:t>- Усиление размытых границ через «Я» и не-Я</a:t>
            </a:r>
          </a:p>
          <a:p>
            <a:r>
              <a:rPr lang="ru-RU" dirty="0"/>
              <a:t>Таким образом, научиться быть более независимым в отношениях с партнером и людьми в целом</a:t>
            </a:r>
          </a:p>
          <a:p>
            <a:r>
              <a:rPr lang="ru-RU" dirty="0"/>
              <a:t>- </a:t>
            </a:r>
            <a:r>
              <a:rPr lang="ru-RU" b="1" dirty="0"/>
              <a:t>Определять свои сильные стороны и взращивать внутреннюю самооценку</a:t>
            </a:r>
            <a:r>
              <a:rPr lang="ru-RU" dirty="0"/>
              <a:t>, формировать внутреннюю </a:t>
            </a:r>
            <a:r>
              <a:rPr lang="ru-RU" dirty="0" err="1"/>
              <a:t>ререференцию</a:t>
            </a:r>
            <a:endParaRPr lang="ru-RU" dirty="0"/>
          </a:p>
          <a:p>
            <a:r>
              <a:rPr lang="ru-RU" dirty="0"/>
              <a:t>- Осваивать профессиональный мир/мир бизнес</a:t>
            </a:r>
          </a:p>
          <a:p>
            <a:r>
              <a:rPr lang="ru-RU" dirty="0"/>
              <a:t>- Прекратить перекладывать вину за свои проблемы на других – формировать внутренний локус контроля</a:t>
            </a:r>
          </a:p>
          <a:p>
            <a:r>
              <a:rPr lang="ru-RU" dirty="0"/>
              <a:t>- Научиться жить в условиях соблюдения гибкого баланса взаимоотношений своего истинного “Я” с другими людьми, предоставляя максимальные возможности для развития своего потенциала – баланс «Брать-давать»  </a:t>
            </a:r>
          </a:p>
          <a:p>
            <a:endParaRPr lang="ru-RU" dirty="0"/>
          </a:p>
        </p:txBody>
      </p:sp>
    </p:spTree>
    <p:extLst>
      <p:ext uri="{BB962C8B-B14F-4D97-AF65-F5344CB8AC3E}">
        <p14:creationId xmlns:p14="http://schemas.microsoft.com/office/powerpoint/2010/main" val="142021894"/>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43000" y="548680"/>
            <a:ext cx="6512511" cy="496992"/>
          </a:xfrm>
        </p:spPr>
        <p:txBody>
          <a:bodyPr/>
          <a:lstStyle/>
          <a:p>
            <a:pPr marL="0" indent="0" algn="ctr">
              <a:buNone/>
            </a:pPr>
            <a:r>
              <a:rPr lang="ru-RU" sz="2400" dirty="0" smtClean="0">
                <a:solidFill>
                  <a:srgbClr val="0070C0"/>
                </a:solidFill>
              </a:rPr>
              <a:t>Если человек на полюсе автономии:</a:t>
            </a:r>
            <a:r>
              <a:rPr lang="ru-RU" dirty="0"/>
              <a:t/>
            </a:r>
            <a:br>
              <a:rPr lang="ru-RU" dirty="0"/>
            </a:br>
            <a:endParaRPr lang="ru-RU" dirty="0"/>
          </a:p>
        </p:txBody>
      </p:sp>
      <p:sp>
        <p:nvSpPr>
          <p:cNvPr id="3" name="Объект 2"/>
          <p:cNvSpPr>
            <a:spLocks noGrp="1"/>
          </p:cNvSpPr>
          <p:nvPr>
            <p:ph sz="quarter" idx="13"/>
          </p:nvPr>
        </p:nvSpPr>
        <p:spPr>
          <a:xfrm>
            <a:off x="971600" y="1196752"/>
            <a:ext cx="7056784" cy="3816424"/>
          </a:xfrm>
        </p:spPr>
        <p:txBody>
          <a:bodyPr>
            <a:normAutofit/>
          </a:bodyPr>
          <a:lstStyle/>
          <a:p>
            <a:r>
              <a:rPr lang="ru-RU" dirty="0" smtClean="0"/>
              <a:t>- </a:t>
            </a:r>
            <a:r>
              <a:rPr lang="ru-RU" dirty="0"/>
              <a:t>Быть более зависимым в отношениях с партнером и людьми в целом</a:t>
            </a:r>
          </a:p>
          <a:p>
            <a:r>
              <a:rPr lang="ru-RU" dirty="0"/>
              <a:t>- Смягчать жесткие границы</a:t>
            </a:r>
          </a:p>
          <a:p>
            <a:r>
              <a:rPr lang="ru-RU" dirty="0"/>
              <a:t>- Действовать сообща на равных через «Мы», а не «Я»</a:t>
            </a:r>
          </a:p>
          <a:p>
            <a:r>
              <a:rPr lang="ru-RU" dirty="0"/>
              <a:t>- Связывать себя обязательствами, повышать ответственность</a:t>
            </a:r>
          </a:p>
          <a:p>
            <a:r>
              <a:rPr lang="ru-RU" dirty="0"/>
              <a:t>- Осваивать мир отношений</a:t>
            </a:r>
          </a:p>
        </p:txBody>
      </p:sp>
    </p:spTree>
    <p:extLst>
      <p:ext uri="{BB962C8B-B14F-4D97-AF65-F5344CB8AC3E}">
        <p14:creationId xmlns:p14="http://schemas.microsoft.com/office/powerpoint/2010/main" val="2110488641"/>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1475656" y="1412776"/>
            <a:ext cx="6400800" cy="3474720"/>
          </a:xfrm>
        </p:spPr>
        <p:txBody>
          <a:bodyPr>
            <a:normAutofit/>
          </a:bodyPr>
          <a:lstStyle/>
          <a:p>
            <a:pPr marL="45720" indent="0" algn="ctr">
              <a:buNone/>
            </a:pPr>
            <a:endParaRPr lang="ru-RU" sz="3200" dirty="0" smtClean="0">
              <a:solidFill>
                <a:srgbClr val="C00000"/>
              </a:solidFill>
            </a:endParaRPr>
          </a:p>
          <a:p>
            <a:pPr marL="45720" indent="0" algn="ctr">
              <a:buNone/>
            </a:pPr>
            <a:endParaRPr lang="ru-RU" sz="3200" dirty="0">
              <a:solidFill>
                <a:srgbClr val="C00000"/>
              </a:solidFill>
            </a:endParaRPr>
          </a:p>
          <a:p>
            <a:pPr marL="45720" indent="0" algn="ctr">
              <a:buNone/>
            </a:pPr>
            <a:r>
              <a:rPr lang="ru-RU" sz="3200" dirty="0" smtClean="0">
                <a:solidFill>
                  <a:srgbClr val="C00000"/>
                </a:solidFill>
              </a:rPr>
              <a:t>Конфликты</a:t>
            </a:r>
          </a:p>
          <a:p>
            <a:pPr marL="45720" indent="0" algn="ctr">
              <a:buNone/>
            </a:pPr>
            <a:r>
              <a:rPr lang="ru-RU" sz="3200" dirty="0" smtClean="0">
                <a:solidFill>
                  <a:srgbClr val="C00000"/>
                </a:solidFill>
              </a:rPr>
              <a:t>(самостоятельное изучение)</a:t>
            </a:r>
            <a:endParaRPr lang="ru-RU" sz="3200" dirty="0">
              <a:solidFill>
                <a:srgbClr val="C00000"/>
              </a:solidFill>
            </a:endParaRPr>
          </a:p>
        </p:txBody>
      </p:sp>
    </p:spTree>
    <p:extLst>
      <p:ext uri="{BB962C8B-B14F-4D97-AF65-F5344CB8AC3E}">
        <p14:creationId xmlns:p14="http://schemas.microsoft.com/office/powerpoint/2010/main" val="2872611305"/>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globalmsk.ru/usr/upload/upload-16627529360.png"/>
          <p:cNvPicPr>
            <a:picLocks noGrp="1" noChangeAspect="1" noChangeArrowheads="1"/>
          </p:cNvPicPr>
          <p:nvPr>
            <p:ph sz="quarter" idx="13"/>
          </p:nvPr>
        </p:nvPicPr>
        <p:blipFill>
          <a:blip r:embed="rId2">
            <a:extLst>
              <a:ext uri="{28A0092B-C50C-407E-A947-70E740481C1C}">
                <a14:useLocalDpi xmlns:a14="http://schemas.microsoft.com/office/drawing/2010/main" val="0"/>
              </a:ext>
            </a:extLst>
          </a:blip>
          <a:srcRect/>
          <a:stretch>
            <a:fillRect/>
          </a:stretch>
        </p:blipFill>
        <p:spPr bwMode="auto">
          <a:xfrm>
            <a:off x="1259632" y="731838"/>
            <a:ext cx="6408711" cy="47853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7302125"/>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s://clubgta.ru/wp-content/uploads/1/a/7/1a78e574d780bdfc961be7cd17f66d93.jpeg"/>
          <p:cNvPicPr>
            <a:picLocks noGrp="1" noChangeAspect="1" noChangeArrowheads="1"/>
          </p:cNvPicPr>
          <p:nvPr>
            <p:ph sz="quarter" idx="13"/>
          </p:nvPr>
        </p:nvPicPr>
        <p:blipFill>
          <a:blip r:embed="rId2">
            <a:extLst>
              <a:ext uri="{28A0092B-C50C-407E-A947-70E740481C1C}">
                <a14:useLocalDpi xmlns:a14="http://schemas.microsoft.com/office/drawing/2010/main" val="0"/>
              </a:ext>
            </a:extLst>
          </a:blip>
          <a:srcRect/>
          <a:stretch>
            <a:fillRect/>
          </a:stretch>
        </p:blipFill>
        <p:spPr bwMode="auto">
          <a:xfrm>
            <a:off x="827584" y="731838"/>
            <a:ext cx="7344815" cy="56494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2066556"/>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52128" y="332656"/>
            <a:ext cx="7076256" cy="641008"/>
          </a:xfrm>
        </p:spPr>
        <p:txBody>
          <a:bodyPr/>
          <a:lstStyle/>
          <a:p>
            <a:pPr marL="0" indent="0" algn="ctr">
              <a:buNone/>
            </a:pPr>
            <a:r>
              <a:rPr lang="ru-RU" sz="2400" dirty="0" smtClean="0">
                <a:solidFill>
                  <a:srgbClr val="0070C0"/>
                </a:solidFill>
              </a:rPr>
              <a:t>Стратегия </a:t>
            </a:r>
            <a:r>
              <a:rPr lang="ru-RU" sz="2400" dirty="0" smtClean="0">
                <a:solidFill>
                  <a:srgbClr val="0070C0"/>
                </a:solidFill>
              </a:rPr>
              <a:t>Избегание/Игнорирование/Уход</a:t>
            </a:r>
            <a:endParaRPr lang="ru-RU" sz="2400" dirty="0">
              <a:solidFill>
                <a:srgbClr val="0070C0"/>
              </a:solidFill>
            </a:endParaRPr>
          </a:p>
        </p:txBody>
      </p:sp>
      <p:sp>
        <p:nvSpPr>
          <p:cNvPr id="3" name="Объект 2"/>
          <p:cNvSpPr>
            <a:spLocks noGrp="1"/>
          </p:cNvSpPr>
          <p:nvPr>
            <p:ph sz="quarter" idx="13"/>
          </p:nvPr>
        </p:nvSpPr>
        <p:spPr>
          <a:xfrm>
            <a:off x="899592" y="1124744"/>
            <a:ext cx="7128792" cy="4104456"/>
          </a:xfrm>
        </p:spPr>
        <p:txBody>
          <a:bodyPr>
            <a:normAutofit fontScale="70000" lnSpcReduction="20000"/>
          </a:bodyPr>
          <a:lstStyle/>
          <a:p>
            <a:r>
              <a:rPr lang="ru-RU" b="1" dirty="0"/>
              <a:t>1. </a:t>
            </a:r>
            <a:r>
              <a:rPr lang="ru-RU" dirty="0" smtClean="0"/>
              <a:t>Это </a:t>
            </a:r>
            <a:r>
              <a:rPr lang="ru-RU" dirty="0"/>
              <a:t>самый неблагоприятный вариант развития </a:t>
            </a:r>
            <a:r>
              <a:rPr lang="ru-RU" dirty="0" smtClean="0"/>
              <a:t>пары. Как </a:t>
            </a:r>
            <a:r>
              <a:rPr lang="ru-RU" dirty="0"/>
              <a:t>будто вообще ничего не происходит. Замалчивают оба</a:t>
            </a:r>
            <a:r>
              <a:rPr lang="ru-RU" dirty="0" smtClean="0"/>
              <a:t>. Это вариант СКРЫТОГО, НЕПРОЯВЛЕННОГО конфликта</a:t>
            </a:r>
          </a:p>
          <a:p>
            <a:r>
              <a:rPr lang="ru-RU" dirty="0" smtClean="0"/>
              <a:t>Нет </a:t>
            </a:r>
            <a:r>
              <a:rPr lang="ru-RU" dirty="0" smtClean="0"/>
              <a:t>обратной связи </a:t>
            </a:r>
            <a:r>
              <a:rPr lang="ru-RU" dirty="0"/>
              <a:t>партнеру, как бы: </a:t>
            </a:r>
            <a:r>
              <a:rPr lang="ru-RU" dirty="0" smtClean="0"/>
              <a:t>«Тебя </a:t>
            </a:r>
            <a:r>
              <a:rPr lang="ru-RU" dirty="0"/>
              <a:t>для меня не </a:t>
            </a:r>
            <a:r>
              <a:rPr lang="ru-RU" dirty="0" smtClean="0"/>
              <a:t>существует».</a:t>
            </a:r>
          </a:p>
          <a:p>
            <a:pPr marL="45720" indent="0">
              <a:buNone/>
            </a:pPr>
            <a:r>
              <a:rPr lang="ru-RU" dirty="0" smtClean="0"/>
              <a:t>Это </a:t>
            </a:r>
            <a:r>
              <a:rPr lang="ru-RU" dirty="0"/>
              <a:t>глубокая вытесненная агрессия (в глубине всегда агрессия, внешне – спокоен). Ключ механизм пси-защиты – вытеснение. </a:t>
            </a:r>
            <a:endParaRPr lang="ru-RU" dirty="0" smtClean="0"/>
          </a:p>
          <a:p>
            <a:r>
              <a:rPr lang="ru-RU" dirty="0" smtClean="0"/>
              <a:t>Но, как правило, один </a:t>
            </a:r>
            <a:r>
              <a:rPr lang="ru-RU" dirty="0"/>
              <a:t>партнер, </a:t>
            </a:r>
            <a:r>
              <a:rPr lang="ru-RU" dirty="0" smtClean="0"/>
              <a:t>не выдерживает ситуацию молчания и начинает проявлять </a:t>
            </a:r>
            <a:r>
              <a:rPr lang="ru-RU" dirty="0"/>
              <a:t>агрессию за двоих: она орет, он молчит. </a:t>
            </a:r>
          </a:p>
          <a:p>
            <a:r>
              <a:rPr lang="ru-RU" dirty="0"/>
              <a:t>Если вытеснение/подавление со стороны обоих партнеров, тогда</a:t>
            </a:r>
          </a:p>
          <a:p>
            <a:pPr marL="45720" indent="0">
              <a:buNone/>
            </a:pPr>
            <a:r>
              <a:rPr lang="ru-RU" dirty="0"/>
              <a:t>- напряжение сбрасывается на детей</a:t>
            </a:r>
          </a:p>
          <a:p>
            <a:pPr marL="45720" indent="0">
              <a:buNone/>
            </a:pPr>
            <a:r>
              <a:rPr lang="ru-RU" dirty="0"/>
              <a:t>- </a:t>
            </a:r>
            <a:r>
              <a:rPr lang="ru-RU" dirty="0" err="1"/>
              <a:t>аутоагрессия</a:t>
            </a:r>
            <a:r>
              <a:rPr lang="ru-RU" dirty="0"/>
              <a:t> (уход в болезни: мигрень, ЖКТ, ССС)</a:t>
            </a:r>
          </a:p>
          <a:p>
            <a:pPr marL="45720" indent="0">
              <a:buNone/>
            </a:pPr>
            <a:endParaRPr lang="ru-RU" u="sng" dirty="0" smtClean="0"/>
          </a:p>
          <a:p>
            <a:pPr marL="45720" indent="0">
              <a:buNone/>
            </a:pPr>
            <a:endParaRPr lang="ru-RU" u="sng" dirty="0"/>
          </a:p>
          <a:p>
            <a:pPr marL="45720" indent="0">
              <a:buNone/>
            </a:pPr>
            <a:r>
              <a:rPr lang="ru-RU" u="sng" dirty="0" smtClean="0"/>
              <a:t>Задачи</a:t>
            </a:r>
            <a:r>
              <a:rPr lang="ru-RU" u="sng" dirty="0"/>
              <a:t>:</a:t>
            </a:r>
            <a:r>
              <a:rPr lang="ru-RU" dirty="0"/>
              <a:t> ему научиться говорить, а ей научиться слушать</a:t>
            </a:r>
          </a:p>
        </p:txBody>
      </p:sp>
    </p:spTree>
    <p:extLst>
      <p:ext uri="{BB962C8B-B14F-4D97-AF65-F5344CB8AC3E}">
        <p14:creationId xmlns:p14="http://schemas.microsoft.com/office/powerpoint/2010/main" val="3658084558"/>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55576" y="411016"/>
            <a:ext cx="6512511" cy="641008"/>
          </a:xfrm>
        </p:spPr>
        <p:txBody>
          <a:bodyPr/>
          <a:lstStyle/>
          <a:p>
            <a:pPr marL="0" indent="0" algn="ctr">
              <a:buNone/>
            </a:pPr>
            <a:r>
              <a:rPr lang="ru-RU" sz="2400" dirty="0" smtClean="0">
                <a:solidFill>
                  <a:srgbClr val="0070C0"/>
                </a:solidFill>
              </a:rPr>
              <a:t>Стратегия Приспособление</a:t>
            </a:r>
            <a:endParaRPr lang="ru-RU" sz="2400" dirty="0">
              <a:solidFill>
                <a:srgbClr val="0070C0"/>
              </a:solidFill>
            </a:endParaRPr>
          </a:p>
        </p:txBody>
      </p:sp>
      <p:sp>
        <p:nvSpPr>
          <p:cNvPr id="3" name="Объект 2"/>
          <p:cNvSpPr>
            <a:spLocks noGrp="1"/>
          </p:cNvSpPr>
          <p:nvPr>
            <p:ph sz="quarter" idx="13"/>
          </p:nvPr>
        </p:nvSpPr>
        <p:spPr>
          <a:xfrm>
            <a:off x="755576" y="1072344"/>
            <a:ext cx="7416824" cy="4588904"/>
          </a:xfrm>
        </p:spPr>
        <p:txBody>
          <a:bodyPr>
            <a:normAutofit/>
          </a:bodyPr>
          <a:lstStyle/>
          <a:p>
            <a:pPr lvl="0"/>
            <a:r>
              <a:rPr lang="ru-RU" dirty="0" smtClean="0"/>
              <a:t>Один </a:t>
            </a:r>
            <a:r>
              <a:rPr lang="ru-RU" dirty="0"/>
              <a:t>подчиняется из страха, подавляя свои чувства (</a:t>
            </a:r>
            <a:r>
              <a:rPr lang="ru-RU" dirty="0" err="1"/>
              <a:t>конформность</a:t>
            </a:r>
            <a:r>
              <a:rPr lang="ru-RU" dirty="0"/>
              <a:t>), другой – поглощает его (агрессия). </a:t>
            </a:r>
            <a:endParaRPr lang="ru-RU" dirty="0" smtClean="0"/>
          </a:p>
          <a:p>
            <a:pPr lvl="0"/>
            <a:r>
              <a:rPr lang="ru-RU" dirty="0" smtClean="0"/>
              <a:t>И </a:t>
            </a:r>
            <a:r>
              <a:rPr lang="ru-RU" dirty="0"/>
              <a:t>постепенно она его поглощает/подавляет полностью, и в результате она его теряет, не видит, и начинает орать типа: «Где ты, проявись!» </a:t>
            </a:r>
            <a:endParaRPr lang="ru-RU" dirty="0" smtClean="0"/>
          </a:p>
          <a:p>
            <a:pPr marL="45720" indent="0">
              <a:buNone/>
            </a:pPr>
            <a:endParaRPr lang="ru-RU" u="sng" dirty="0" smtClean="0"/>
          </a:p>
          <a:p>
            <a:pPr marL="45720" indent="0">
              <a:buNone/>
            </a:pPr>
            <a:r>
              <a:rPr lang="ru-RU" u="sng" dirty="0" smtClean="0"/>
              <a:t>Задачи</a:t>
            </a:r>
            <a:r>
              <a:rPr lang="ru-RU" u="sng" dirty="0"/>
              <a:t>:</a:t>
            </a:r>
            <a:r>
              <a:rPr lang="ru-RU" dirty="0"/>
              <a:t> ему научиться проявляться («Я»-позиция, «Я»-высказывания, в т ч про чувства), а ей научиться давать возможность проявляться другому, сделав шаг назад.</a:t>
            </a:r>
          </a:p>
          <a:p>
            <a:pPr marL="45720" indent="0">
              <a:buNone/>
            </a:pPr>
            <a:endParaRPr lang="ru-RU" dirty="0"/>
          </a:p>
        </p:txBody>
      </p:sp>
    </p:spTree>
    <p:extLst>
      <p:ext uri="{BB962C8B-B14F-4D97-AF65-F5344CB8AC3E}">
        <p14:creationId xmlns:p14="http://schemas.microsoft.com/office/powerpoint/2010/main" val="2934598266"/>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475656" y="260648"/>
            <a:ext cx="6512511" cy="569000"/>
          </a:xfrm>
        </p:spPr>
        <p:txBody>
          <a:bodyPr/>
          <a:lstStyle/>
          <a:p>
            <a:pPr marL="0" indent="0" algn="ctr">
              <a:buNone/>
            </a:pPr>
            <a:r>
              <a:rPr lang="ru-RU" sz="2400" dirty="0" smtClean="0">
                <a:solidFill>
                  <a:srgbClr val="0070C0"/>
                </a:solidFill>
              </a:rPr>
              <a:t>Стратегия Соперничество</a:t>
            </a:r>
            <a:endParaRPr lang="ru-RU" sz="2400" dirty="0">
              <a:solidFill>
                <a:srgbClr val="0070C0"/>
              </a:solidFill>
            </a:endParaRPr>
          </a:p>
        </p:txBody>
      </p:sp>
      <p:sp>
        <p:nvSpPr>
          <p:cNvPr id="3" name="Объект 2"/>
          <p:cNvSpPr>
            <a:spLocks noGrp="1"/>
          </p:cNvSpPr>
          <p:nvPr>
            <p:ph sz="quarter" idx="13"/>
          </p:nvPr>
        </p:nvSpPr>
        <p:spPr>
          <a:xfrm>
            <a:off x="1115616" y="1124744"/>
            <a:ext cx="7128792" cy="3816424"/>
          </a:xfrm>
        </p:spPr>
        <p:txBody>
          <a:bodyPr>
            <a:normAutofit fontScale="92500" lnSpcReduction="10000"/>
          </a:bodyPr>
          <a:lstStyle/>
          <a:p>
            <a:pPr lvl="0"/>
            <a:r>
              <a:rPr lang="ru-RU" dirty="0" smtClean="0"/>
              <a:t>Это </a:t>
            </a:r>
            <a:r>
              <a:rPr lang="ru-RU" dirty="0"/>
              <a:t>открытый конфликт, что </a:t>
            </a:r>
            <a:r>
              <a:rPr lang="ru-RU" dirty="0" smtClean="0"/>
              <a:t>неплохо!!!</a:t>
            </a:r>
          </a:p>
          <a:p>
            <a:pPr marL="45720" lvl="0" indent="0">
              <a:buNone/>
            </a:pPr>
            <a:r>
              <a:rPr lang="ru-RU" dirty="0" smtClean="0"/>
              <a:t>Оба </a:t>
            </a:r>
            <a:r>
              <a:rPr lang="ru-RU" dirty="0"/>
              <a:t>в паре проявляются. А для детей такой пары – вообще самый здоровый вариант. </a:t>
            </a:r>
            <a:endParaRPr lang="ru-RU" dirty="0" smtClean="0"/>
          </a:p>
          <a:p>
            <a:pPr lvl="0"/>
            <a:r>
              <a:rPr lang="ru-RU" dirty="0" smtClean="0"/>
              <a:t>НО</a:t>
            </a:r>
            <a:r>
              <a:rPr lang="ru-RU" dirty="0"/>
              <a:t>! Хорошо, когда они поорали и сели за стол переговоров, ища выходы из ситуации, а не смакуя ситуацию. Иначе риск: белка в колесе – есть эмоциональная разрядка, а ситуация не решается</a:t>
            </a:r>
          </a:p>
          <a:p>
            <a:pPr marL="45720" indent="0">
              <a:buNone/>
            </a:pPr>
            <a:endParaRPr lang="ru-RU" u="sng" dirty="0" smtClean="0"/>
          </a:p>
          <a:p>
            <a:pPr marL="45720" indent="0">
              <a:buNone/>
            </a:pPr>
            <a:r>
              <a:rPr lang="ru-RU" u="sng" dirty="0" smtClean="0"/>
              <a:t>Задачи</a:t>
            </a:r>
            <a:r>
              <a:rPr lang="ru-RU" u="sng" dirty="0"/>
              <a:t>:</a:t>
            </a:r>
            <a:r>
              <a:rPr lang="ru-RU" dirty="0"/>
              <a:t> обоим научиться говорить конструктивно (не зацикливаясь на взаимных обвинениях типа: «А ты…», здесь все техники </a:t>
            </a:r>
            <a:r>
              <a:rPr lang="ru-RU" dirty="0" smtClean="0"/>
              <a:t>активного слушания</a:t>
            </a:r>
            <a:r>
              <a:rPr lang="ru-RU" dirty="0" smtClean="0"/>
              <a:t>.</a:t>
            </a:r>
            <a:endParaRPr lang="ru-RU" dirty="0"/>
          </a:p>
        </p:txBody>
      </p:sp>
    </p:spTree>
    <p:extLst>
      <p:ext uri="{BB962C8B-B14F-4D97-AF65-F5344CB8AC3E}">
        <p14:creationId xmlns:p14="http://schemas.microsoft.com/office/powerpoint/2010/main" val="2180326162"/>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332656"/>
            <a:ext cx="8229600" cy="1143000"/>
          </a:xfrm>
        </p:spPr>
        <p:txBody>
          <a:bodyPr>
            <a:noAutofit/>
          </a:bodyPr>
          <a:lstStyle/>
          <a:p>
            <a:pPr marL="0" indent="0" algn="ctr">
              <a:buNone/>
            </a:pPr>
            <a:r>
              <a:rPr lang="ru-RU" sz="2800" b="1" dirty="0">
                <a:solidFill>
                  <a:schemeClr val="accent1"/>
                </a:solidFill>
              </a:rPr>
              <a:t>Факторы, способствующие развитию и обострению </a:t>
            </a:r>
            <a:r>
              <a:rPr lang="ru-RU" sz="2800" b="1" dirty="0" smtClean="0">
                <a:solidFill>
                  <a:schemeClr val="accent1"/>
                </a:solidFill>
              </a:rPr>
              <a:t>конфликта</a:t>
            </a:r>
            <a:r>
              <a:rPr lang="ru-RU" sz="2800" dirty="0"/>
              <a:t/>
            </a:r>
            <a:br>
              <a:rPr lang="ru-RU" sz="2800" dirty="0"/>
            </a:br>
            <a:endParaRPr lang="ru-RU" sz="2800" dirty="0"/>
          </a:p>
        </p:txBody>
      </p:sp>
      <p:sp>
        <p:nvSpPr>
          <p:cNvPr id="3" name="Объект 2"/>
          <p:cNvSpPr>
            <a:spLocks noGrp="1"/>
          </p:cNvSpPr>
          <p:nvPr>
            <p:ph sz="quarter" idx="13"/>
          </p:nvPr>
        </p:nvSpPr>
        <p:spPr>
          <a:xfrm>
            <a:off x="467544" y="1268760"/>
            <a:ext cx="8229600" cy="5760640"/>
          </a:xfrm>
        </p:spPr>
        <p:txBody>
          <a:bodyPr>
            <a:normAutofit fontScale="40000" lnSpcReduction="20000"/>
          </a:bodyPr>
          <a:lstStyle/>
          <a:p>
            <a:pPr lvl="0"/>
            <a:r>
              <a:rPr lang="ru-RU" sz="4500" b="1" dirty="0" smtClean="0">
                <a:solidFill>
                  <a:schemeClr val="accent1"/>
                </a:solidFill>
              </a:rPr>
              <a:t>Перебивание партнера</a:t>
            </a:r>
            <a:r>
              <a:rPr lang="ru-RU" sz="4500" dirty="0" smtClean="0"/>
              <a:t>. В большинстве случаев в эмоционально напряженной ситуации перебивание собеседника приводит к нарастанию раздражения и напряжения, что может послужить дополнительным толчком к конфликту. Рекомендации: ждать, пока собеседник выговорится, как бы ни хотелось ему в ответ что-то сказать.</a:t>
            </a:r>
          </a:p>
          <a:p>
            <a:pPr lvl="0"/>
            <a:r>
              <a:rPr lang="ru-RU" sz="4500" b="1" dirty="0" smtClean="0">
                <a:solidFill>
                  <a:schemeClr val="accent1"/>
                </a:solidFill>
              </a:rPr>
              <a:t>Принижение партнера и высказывание негативных оценок по поводу партнера, его слов, поступков</a:t>
            </a:r>
            <a:r>
              <a:rPr lang="ru-RU" sz="4500" dirty="0" smtClean="0"/>
              <a:t>. Обычный вариант, когда в процессе спора мы говорим собеседнику, что его мнение ничего не значит</a:t>
            </a:r>
          </a:p>
          <a:p>
            <a:pPr lvl="0"/>
            <a:r>
              <a:rPr lang="ru-RU" sz="4500" b="1" dirty="0" smtClean="0">
                <a:solidFill>
                  <a:schemeClr val="accent1"/>
                </a:solidFill>
              </a:rPr>
              <a:t>Подчеркивание разницы между собой и партнером</a:t>
            </a:r>
            <a:r>
              <a:rPr lang="ru-RU" sz="4500" dirty="0" smtClean="0"/>
              <a:t>. Еще один фактор, который тоже часто встречается в сложных ситуациях, когда один или оба собеседника заявляют друг другу, что «я на этом деле собаку съел», «я здесь работал, когда ты еще под стол пешком ходил» и т.п. </a:t>
            </a:r>
          </a:p>
          <a:p>
            <a:pPr lvl="0"/>
            <a:r>
              <a:rPr lang="ru-RU" sz="4500" b="1" dirty="0" smtClean="0">
                <a:solidFill>
                  <a:schemeClr val="accent1"/>
                </a:solidFill>
              </a:rPr>
              <a:t>Преуменьшение вклада партнера в общее дело и преувеличение своего </a:t>
            </a:r>
            <a:r>
              <a:rPr lang="ru-RU" sz="4500" dirty="0" smtClean="0"/>
              <a:t>(часто у супругов) </a:t>
            </a:r>
          </a:p>
          <a:p>
            <a:pPr lvl="0"/>
            <a:r>
              <a:rPr lang="ru-RU" sz="4500" b="1" dirty="0" smtClean="0">
                <a:solidFill>
                  <a:schemeClr val="accent1"/>
                </a:solidFill>
              </a:rPr>
              <a:t>Отсутствие эмоционального контакта с партнером</a:t>
            </a:r>
            <a:r>
              <a:rPr lang="ru-RU" sz="4500" dirty="0" smtClean="0">
                <a:solidFill>
                  <a:schemeClr val="accent1"/>
                </a:solidFill>
              </a:rPr>
              <a:t>. </a:t>
            </a:r>
            <a:r>
              <a:rPr lang="ru-RU" sz="4500" b="1" dirty="0" smtClean="0">
                <a:solidFill>
                  <a:schemeClr val="accent1"/>
                </a:solidFill>
              </a:rPr>
              <a:t>Избежание пространственной близости и контакта глаз с партнером</a:t>
            </a:r>
            <a:r>
              <a:rPr lang="ru-RU" sz="4500" dirty="0" smtClean="0"/>
              <a:t>.  Когда один из собеседников может отводить глаза, и это раздражает другого, так как не понять, слушает человек или нет. То же относится и к увеличению дистанции в разговоре – это воспринимается как нежелание продолжать разговор.</a:t>
            </a:r>
          </a:p>
          <a:p>
            <a:endParaRPr lang="ru-RU" dirty="0"/>
          </a:p>
        </p:txBody>
      </p:sp>
    </p:spTree>
    <p:extLst>
      <p:ext uri="{BB962C8B-B14F-4D97-AF65-F5344CB8AC3E}">
        <p14:creationId xmlns:p14="http://schemas.microsoft.com/office/powerpoint/2010/main" val="4267522498"/>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95536" y="404664"/>
            <a:ext cx="8229600" cy="724942"/>
          </a:xfrm>
        </p:spPr>
        <p:txBody>
          <a:bodyPr>
            <a:noAutofit/>
          </a:bodyPr>
          <a:lstStyle/>
          <a:p>
            <a:pPr marL="0" indent="0" algn="ctr">
              <a:buNone/>
            </a:pPr>
            <a:r>
              <a:rPr lang="ru-RU" sz="2800" b="1" dirty="0">
                <a:solidFill>
                  <a:schemeClr val="accent1"/>
                </a:solidFill>
              </a:rPr>
              <a:t>Приемы, способствующие решению </a:t>
            </a:r>
            <a:r>
              <a:rPr lang="ru-RU" sz="2800" b="1" dirty="0" smtClean="0">
                <a:solidFill>
                  <a:schemeClr val="accent1"/>
                </a:solidFill>
              </a:rPr>
              <a:t>конфликта</a:t>
            </a:r>
            <a:r>
              <a:rPr lang="ru-RU" sz="2800" dirty="0">
                <a:solidFill>
                  <a:schemeClr val="accent1"/>
                </a:solidFill>
              </a:rPr>
              <a:t/>
            </a:r>
            <a:br>
              <a:rPr lang="ru-RU" sz="2800" dirty="0">
                <a:solidFill>
                  <a:schemeClr val="accent1"/>
                </a:solidFill>
              </a:rPr>
            </a:br>
            <a:endParaRPr lang="ru-RU" sz="2800" dirty="0">
              <a:solidFill>
                <a:schemeClr val="accent1"/>
              </a:solidFill>
            </a:endParaRPr>
          </a:p>
        </p:txBody>
      </p:sp>
      <p:sp>
        <p:nvSpPr>
          <p:cNvPr id="3" name="Объект 2"/>
          <p:cNvSpPr>
            <a:spLocks noGrp="1"/>
          </p:cNvSpPr>
          <p:nvPr>
            <p:ph sz="quarter" idx="13"/>
          </p:nvPr>
        </p:nvSpPr>
        <p:spPr>
          <a:xfrm>
            <a:off x="467544" y="1340768"/>
            <a:ext cx="8229600" cy="5688632"/>
          </a:xfrm>
        </p:spPr>
        <p:txBody>
          <a:bodyPr>
            <a:normAutofit/>
          </a:bodyPr>
          <a:lstStyle/>
          <a:p>
            <a:pPr lvl="0"/>
            <a:r>
              <a:rPr lang="ru-RU" b="1" dirty="0" smtClean="0">
                <a:solidFill>
                  <a:srgbClr val="C00000"/>
                </a:solidFill>
              </a:rPr>
              <a:t>Я-сообщения </a:t>
            </a:r>
          </a:p>
          <a:p>
            <a:pPr marL="0" indent="0">
              <a:buNone/>
            </a:pPr>
            <a:r>
              <a:rPr lang="ru-RU" dirty="0" smtClean="0"/>
              <a:t>Я-сообщение</a:t>
            </a:r>
            <a:r>
              <a:rPr lang="ru-RU" dirty="0"/>
              <a:t>. Говорящий описывает свои действия, свое </a:t>
            </a:r>
            <a:r>
              <a:rPr lang="ru-RU" dirty="0" smtClean="0"/>
              <a:t>состояние, свои </a:t>
            </a:r>
            <a:r>
              <a:rPr lang="ru-RU" dirty="0"/>
              <a:t>оценки, подчеркивая субъективность своего восприятия. </a:t>
            </a:r>
          </a:p>
          <a:p>
            <a:endParaRPr lang="ru-RU" dirty="0"/>
          </a:p>
          <a:p>
            <a:pPr lvl="0"/>
            <a:r>
              <a:rPr lang="ru-RU" b="1" dirty="0">
                <a:solidFill>
                  <a:srgbClr val="C00000"/>
                </a:solidFill>
              </a:rPr>
              <a:t>Вербализация чувств </a:t>
            </a:r>
            <a:endParaRPr lang="ru-RU" dirty="0">
              <a:solidFill>
                <a:srgbClr val="C00000"/>
              </a:solidFill>
            </a:endParaRPr>
          </a:p>
          <a:p>
            <a:pPr marL="0" indent="0">
              <a:buNone/>
            </a:pPr>
            <a:r>
              <a:rPr lang="ru-RU" dirty="0" smtClean="0"/>
              <a:t>Задачи </a:t>
            </a:r>
            <a:r>
              <a:rPr lang="ru-RU" dirty="0"/>
              <a:t>вербализации чувств: </a:t>
            </a:r>
          </a:p>
          <a:p>
            <a:pPr marL="0" indent="0">
              <a:buNone/>
            </a:pPr>
            <a:r>
              <a:rPr lang="ru-RU" dirty="0"/>
              <a:t>1. Назвать эмоции, чтобы снизить их интенсивность; </a:t>
            </a:r>
          </a:p>
          <a:p>
            <a:pPr marL="0" indent="0">
              <a:buNone/>
            </a:pPr>
            <a:r>
              <a:rPr lang="ru-RU" dirty="0"/>
              <a:t>2. Проинформировать партнера о своих эмоциях, чтобы он смог принять их во внимание (например, </a:t>
            </a:r>
          </a:p>
          <a:p>
            <a:pPr marL="0" indent="0">
              <a:buNone/>
            </a:pPr>
            <a:r>
              <a:rPr lang="ru-RU" dirty="0"/>
              <a:t>чтобы партнера прекратил что-то делать); </a:t>
            </a:r>
          </a:p>
          <a:p>
            <a:pPr marL="0" indent="0">
              <a:buNone/>
            </a:pPr>
            <a:r>
              <a:rPr lang="ru-RU" dirty="0"/>
              <a:t>3. Дать понять, что эмоциональное состояние собеседника для нас значимо</a:t>
            </a:r>
          </a:p>
        </p:txBody>
      </p:sp>
    </p:spTree>
    <p:extLst>
      <p:ext uri="{BB962C8B-B14F-4D97-AF65-F5344CB8AC3E}">
        <p14:creationId xmlns:p14="http://schemas.microsoft.com/office/powerpoint/2010/main" val="53089070"/>
      </p:ext>
    </p:extLst>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15616" y="260648"/>
            <a:ext cx="7056784" cy="1143000"/>
          </a:xfrm>
        </p:spPr>
        <p:txBody>
          <a:bodyPr>
            <a:noAutofit/>
          </a:bodyPr>
          <a:lstStyle/>
          <a:p>
            <a:pPr marL="0" indent="0" algn="ctr">
              <a:buNone/>
            </a:pPr>
            <a:r>
              <a:rPr lang="ru-RU" sz="2800" b="1" dirty="0">
                <a:solidFill>
                  <a:schemeClr val="accent1"/>
                </a:solidFill>
              </a:rPr>
              <a:t>Основные способы </a:t>
            </a:r>
            <a:r>
              <a:rPr lang="ru-RU" sz="2800" b="1" dirty="0" smtClean="0">
                <a:solidFill>
                  <a:schemeClr val="accent1"/>
                </a:solidFill>
              </a:rPr>
              <a:t>вербализации </a:t>
            </a:r>
            <a:r>
              <a:rPr lang="ru-RU" sz="2800" b="1" dirty="0">
                <a:solidFill>
                  <a:schemeClr val="accent1"/>
                </a:solidFill>
              </a:rPr>
              <a:t>чувств  </a:t>
            </a:r>
            <a:r>
              <a:rPr lang="ru-RU" sz="2800" dirty="0">
                <a:solidFill>
                  <a:schemeClr val="accent1"/>
                </a:solidFill>
              </a:rPr>
              <a:t/>
            </a:r>
            <a:br>
              <a:rPr lang="ru-RU" sz="2800" dirty="0">
                <a:solidFill>
                  <a:schemeClr val="accent1"/>
                </a:solidFill>
              </a:rPr>
            </a:br>
            <a:endParaRPr lang="ru-RU" sz="2800" dirty="0">
              <a:solidFill>
                <a:schemeClr val="accent1"/>
              </a:solidFill>
            </a:endParaRPr>
          </a:p>
        </p:txBody>
      </p:sp>
      <p:sp>
        <p:nvSpPr>
          <p:cNvPr id="3" name="Объект 2"/>
          <p:cNvSpPr>
            <a:spLocks noGrp="1"/>
          </p:cNvSpPr>
          <p:nvPr>
            <p:ph sz="quarter" idx="13"/>
          </p:nvPr>
        </p:nvSpPr>
        <p:spPr>
          <a:xfrm>
            <a:off x="1115616" y="1772816"/>
            <a:ext cx="6400800" cy="3474720"/>
          </a:xfrm>
        </p:spPr>
        <p:txBody>
          <a:bodyPr>
            <a:normAutofit/>
          </a:bodyPr>
          <a:lstStyle/>
          <a:p>
            <a:pPr marL="514350" lvl="0" indent="-514350">
              <a:buAutoNum type="arabicParenR"/>
            </a:pPr>
            <a:r>
              <a:rPr lang="ru-RU" dirty="0" smtClean="0"/>
              <a:t>Собственно </a:t>
            </a:r>
            <a:r>
              <a:rPr lang="ru-RU" dirty="0"/>
              <a:t>вербализация (через слова) </a:t>
            </a:r>
            <a:endParaRPr lang="ru-RU" dirty="0" smtClean="0"/>
          </a:p>
          <a:p>
            <a:pPr marL="0" lvl="0" indent="0">
              <a:buNone/>
            </a:pPr>
            <a:endParaRPr lang="ru-RU" dirty="0"/>
          </a:p>
          <a:p>
            <a:pPr marL="0" indent="0">
              <a:buNone/>
            </a:pPr>
            <a:r>
              <a:rPr lang="ru-RU" dirty="0" smtClean="0">
                <a:solidFill>
                  <a:schemeClr val="tx2"/>
                </a:solidFill>
              </a:rPr>
              <a:t>«</a:t>
            </a:r>
            <a:r>
              <a:rPr lang="ru-RU" dirty="0">
                <a:solidFill>
                  <a:schemeClr val="tx2"/>
                </a:solidFill>
              </a:rPr>
              <a:t>Я чувствую себя …» </a:t>
            </a:r>
            <a:endParaRPr lang="ru-RU" dirty="0" smtClean="0">
              <a:solidFill>
                <a:schemeClr val="tx2"/>
              </a:solidFill>
            </a:endParaRPr>
          </a:p>
          <a:p>
            <a:pPr marL="0" indent="0">
              <a:buNone/>
            </a:pPr>
            <a:r>
              <a:rPr lang="ru-RU" dirty="0" smtClean="0">
                <a:solidFill>
                  <a:schemeClr val="tx2"/>
                </a:solidFill>
              </a:rPr>
              <a:t>«</a:t>
            </a:r>
            <a:r>
              <a:rPr lang="ru-RU" dirty="0">
                <a:solidFill>
                  <a:schemeClr val="tx2"/>
                </a:solidFill>
              </a:rPr>
              <a:t>Во мне такая злость поднимается</a:t>
            </a:r>
            <a:r>
              <a:rPr lang="ru-RU" dirty="0" smtClean="0">
                <a:solidFill>
                  <a:schemeClr val="tx2"/>
                </a:solidFill>
              </a:rPr>
              <a:t>…»</a:t>
            </a:r>
          </a:p>
          <a:p>
            <a:pPr marL="0" indent="0">
              <a:buNone/>
            </a:pPr>
            <a:endParaRPr lang="ru-RU" dirty="0"/>
          </a:p>
          <a:p>
            <a:pPr marL="0" indent="0">
              <a:buNone/>
            </a:pPr>
            <a:endParaRPr lang="ru-RU" dirty="0"/>
          </a:p>
          <a:p>
            <a:endParaRPr lang="ru-RU" dirty="0"/>
          </a:p>
        </p:txBody>
      </p:sp>
    </p:spTree>
    <p:extLst>
      <p:ext uri="{BB962C8B-B14F-4D97-AF65-F5344CB8AC3E}">
        <p14:creationId xmlns:p14="http://schemas.microsoft.com/office/powerpoint/2010/main" val="3952809180"/>
      </p:ext>
    </p:extLst>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43608" y="188640"/>
            <a:ext cx="6512511" cy="1143000"/>
          </a:xfrm>
        </p:spPr>
        <p:txBody>
          <a:bodyPr>
            <a:normAutofit/>
          </a:bodyPr>
          <a:lstStyle/>
          <a:p>
            <a:pPr marL="0" indent="0" algn="ctr">
              <a:buNone/>
            </a:pPr>
            <a:r>
              <a:rPr lang="ru-RU" sz="2800" dirty="0" smtClean="0"/>
              <a:t>2) </a:t>
            </a:r>
            <a:r>
              <a:rPr lang="ru-RU" sz="2800" dirty="0" smtClean="0">
                <a:solidFill>
                  <a:schemeClr val="accent1"/>
                </a:solidFill>
              </a:rPr>
              <a:t>Вербализация </a:t>
            </a:r>
            <a:r>
              <a:rPr lang="ru-RU" sz="2800" dirty="0">
                <a:solidFill>
                  <a:schemeClr val="accent1"/>
                </a:solidFill>
              </a:rPr>
              <a:t>через описание телесного состояния</a:t>
            </a:r>
          </a:p>
        </p:txBody>
      </p:sp>
      <p:sp>
        <p:nvSpPr>
          <p:cNvPr id="3" name="Объект 2"/>
          <p:cNvSpPr>
            <a:spLocks noGrp="1"/>
          </p:cNvSpPr>
          <p:nvPr>
            <p:ph sz="quarter" idx="13"/>
          </p:nvPr>
        </p:nvSpPr>
        <p:spPr>
          <a:xfrm>
            <a:off x="683568" y="1484784"/>
            <a:ext cx="7776864" cy="4608512"/>
          </a:xfrm>
        </p:spPr>
        <p:txBody>
          <a:bodyPr/>
          <a:lstStyle/>
          <a:p>
            <a:pPr marL="0" indent="0">
              <a:buNone/>
            </a:pPr>
            <a:r>
              <a:rPr lang="ru-RU" dirty="0" smtClean="0"/>
              <a:t>Пользуемся, особенно если </a:t>
            </a:r>
            <a:r>
              <a:rPr lang="ru-RU" dirty="0" err="1" smtClean="0"/>
              <a:t>вербализуемое</a:t>
            </a:r>
            <a:r>
              <a:rPr lang="ru-RU" dirty="0" smtClean="0"/>
              <a:t> </a:t>
            </a:r>
            <a:r>
              <a:rPr lang="ru-RU" dirty="0"/>
              <a:t>чувство трудно идентифицировать или оно имеет ярко выраженный телесный </a:t>
            </a:r>
            <a:r>
              <a:rPr lang="ru-RU" dirty="0" smtClean="0"/>
              <a:t>компонент (которое трудно не заметить)</a:t>
            </a:r>
          </a:p>
          <a:p>
            <a:pPr marL="0" indent="0">
              <a:buNone/>
            </a:pPr>
            <a:endParaRPr lang="ru-RU" dirty="0"/>
          </a:p>
          <a:p>
            <a:pPr marL="0" indent="0">
              <a:buNone/>
            </a:pPr>
            <a:r>
              <a:rPr lang="ru-RU" dirty="0">
                <a:solidFill>
                  <a:schemeClr val="tx2"/>
                </a:solidFill>
              </a:rPr>
              <a:t>«У меня все перед глазами все плывет, когда я об этом рассказываю…» «Я сейчас говорю, у меня кулаки сами собой сжимаются…»</a:t>
            </a:r>
          </a:p>
          <a:p>
            <a:endParaRPr lang="ru-RU" dirty="0"/>
          </a:p>
        </p:txBody>
      </p:sp>
    </p:spTree>
    <p:extLst>
      <p:ext uri="{BB962C8B-B14F-4D97-AF65-F5344CB8AC3E}">
        <p14:creationId xmlns:p14="http://schemas.microsoft.com/office/powerpoint/2010/main" val="639023821"/>
      </p:ext>
    </p:extLst>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59632" y="260648"/>
            <a:ext cx="6512511" cy="1143000"/>
          </a:xfrm>
        </p:spPr>
        <p:txBody>
          <a:bodyPr>
            <a:normAutofit/>
          </a:bodyPr>
          <a:lstStyle/>
          <a:p>
            <a:pPr marL="0" indent="0" algn="ctr">
              <a:buNone/>
            </a:pPr>
            <a:r>
              <a:rPr lang="ru-RU" sz="2800" dirty="0" smtClean="0">
                <a:solidFill>
                  <a:schemeClr val="accent1"/>
                </a:solidFill>
              </a:rPr>
              <a:t>3) Вербализация </a:t>
            </a:r>
            <a:r>
              <a:rPr lang="ru-RU" sz="2800" dirty="0">
                <a:solidFill>
                  <a:schemeClr val="accent1"/>
                </a:solidFill>
              </a:rPr>
              <a:t>через сравнение, метафоры</a:t>
            </a:r>
          </a:p>
        </p:txBody>
      </p:sp>
      <p:sp>
        <p:nvSpPr>
          <p:cNvPr id="3" name="Объект 2"/>
          <p:cNvSpPr>
            <a:spLocks noGrp="1"/>
          </p:cNvSpPr>
          <p:nvPr>
            <p:ph sz="quarter" idx="13"/>
          </p:nvPr>
        </p:nvSpPr>
        <p:spPr>
          <a:xfrm>
            <a:off x="1259632" y="1772816"/>
            <a:ext cx="6400800" cy="3474720"/>
          </a:xfrm>
        </p:spPr>
        <p:txBody>
          <a:bodyPr/>
          <a:lstStyle/>
          <a:p>
            <a:pPr marL="0" lvl="0" indent="0">
              <a:buNone/>
            </a:pPr>
            <a:r>
              <a:rPr lang="ru-RU" dirty="0" smtClean="0"/>
              <a:t> </a:t>
            </a:r>
            <a:r>
              <a:rPr lang="ru-RU" dirty="0" smtClean="0">
                <a:solidFill>
                  <a:schemeClr val="tx2"/>
                </a:solidFill>
              </a:rPr>
              <a:t>«</a:t>
            </a:r>
            <a:r>
              <a:rPr lang="ru-RU" dirty="0">
                <a:solidFill>
                  <a:schemeClr val="tx2"/>
                </a:solidFill>
              </a:rPr>
              <a:t>Меня как будто холодной водой облили…»</a:t>
            </a:r>
          </a:p>
          <a:p>
            <a:r>
              <a:rPr lang="ru-RU" dirty="0">
                <a:solidFill>
                  <a:schemeClr val="tx2"/>
                </a:solidFill>
              </a:rPr>
              <a:t>«Как будто небо на землю рухнуло…»</a:t>
            </a:r>
          </a:p>
          <a:p>
            <a:r>
              <a:rPr lang="ru-RU" dirty="0">
                <a:solidFill>
                  <a:schemeClr val="tx2"/>
                </a:solidFill>
              </a:rPr>
              <a:t>«Да, я понимаю, мне нужно проглотить это горькое лекарство, чтобы вылечить наши отношения…»</a:t>
            </a:r>
          </a:p>
          <a:p>
            <a:endParaRPr lang="ru-RU" dirty="0"/>
          </a:p>
        </p:txBody>
      </p:sp>
    </p:spTree>
    <p:extLst>
      <p:ext uri="{BB962C8B-B14F-4D97-AF65-F5344CB8AC3E}">
        <p14:creationId xmlns:p14="http://schemas.microsoft.com/office/powerpoint/2010/main" val="2825669561"/>
      </p:ext>
    </p:extLst>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548680"/>
            <a:ext cx="8229600" cy="1143000"/>
          </a:xfrm>
        </p:spPr>
        <p:txBody>
          <a:bodyPr>
            <a:noAutofit/>
          </a:bodyPr>
          <a:lstStyle/>
          <a:p>
            <a:pPr marL="0" lvl="0" indent="0" algn="ctr">
              <a:buNone/>
            </a:pPr>
            <a:r>
              <a:rPr lang="ru-RU" sz="2400" dirty="0" smtClean="0"/>
              <a:t>4</a:t>
            </a:r>
            <a:r>
              <a:rPr lang="ru-RU" sz="2400" dirty="0" smtClean="0">
                <a:solidFill>
                  <a:schemeClr val="accent1"/>
                </a:solidFill>
              </a:rPr>
              <a:t>) Вербализация </a:t>
            </a:r>
            <a:r>
              <a:rPr lang="ru-RU" sz="2400" dirty="0">
                <a:solidFill>
                  <a:schemeClr val="accent1"/>
                </a:solidFill>
              </a:rPr>
              <a:t>через описание желаний, возможных действий, которые хочется сделать</a:t>
            </a:r>
            <a:r>
              <a:rPr lang="ru-RU" sz="2400" dirty="0"/>
              <a:t/>
            </a:r>
            <a:br>
              <a:rPr lang="ru-RU" sz="2400" dirty="0"/>
            </a:br>
            <a:endParaRPr lang="ru-RU" sz="2400" dirty="0"/>
          </a:p>
        </p:txBody>
      </p:sp>
      <p:sp>
        <p:nvSpPr>
          <p:cNvPr id="3" name="Объект 2"/>
          <p:cNvSpPr>
            <a:spLocks noGrp="1"/>
          </p:cNvSpPr>
          <p:nvPr>
            <p:ph sz="quarter" idx="13"/>
          </p:nvPr>
        </p:nvSpPr>
        <p:spPr>
          <a:xfrm>
            <a:off x="539552" y="1484784"/>
            <a:ext cx="8424936" cy="4482832"/>
          </a:xfrm>
        </p:spPr>
        <p:txBody>
          <a:bodyPr/>
          <a:lstStyle/>
          <a:p>
            <a:pPr marL="0" lvl="0" indent="0">
              <a:buNone/>
            </a:pPr>
            <a:endParaRPr lang="ru-RU" dirty="0" smtClean="0"/>
          </a:p>
          <a:p>
            <a:pPr marL="0" indent="0">
              <a:buNone/>
            </a:pPr>
            <a:r>
              <a:rPr lang="ru-RU" dirty="0" smtClean="0">
                <a:solidFill>
                  <a:schemeClr val="tx2"/>
                </a:solidFill>
              </a:rPr>
              <a:t>«</a:t>
            </a:r>
            <a:r>
              <a:rPr lang="ru-RU" dirty="0">
                <a:solidFill>
                  <a:schemeClr val="tx2"/>
                </a:solidFill>
              </a:rPr>
              <a:t>И тут мне захотелось ударить кулаком по столу…»  (закричать; обнять; заплакать...)</a:t>
            </a:r>
          </a:p>
          <a:p>
            <a:endParaRPr lang="ru-RU" dirty="0"/>
          </a:p>
        </p:txBody>
      </p:sp>
    </p:spTree>
    <p:extLst>
      <p:ext uri="{BB962C8B-B14F-4D97-AF65-F5344CB8AC3E}">
        <p14:creationId xmlns:p14="http://schemas.microsoft.com/office/powerpoint/2010/main" val="1573943271"/>
      </p:ext>
    </p:extLst>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p:txBody>
          <a:bodyPr/>
          <a:lstStyle/>
          <a:p>
            <a:pPr marL="45720" indent="0">
              <a:buNone/>
            </a:pPr>
            <a:endParaRPr lang="ru-RU" dirty="0" smtClean="0"/>
          </a:p>
          <a:p>
            <a:pPr marL="45720" indent="0">
              <a:buNone/>
            </a:pPr>
            <a:endParaRPr lang="ru-RU" dirty="0"/>
          </a:p>
          <a:p>
            <a:pPr marL="45720" indent="0">
              <a:buNone/>
            </a:pPr>
            <a:endParaRPr lang="ru-RU" dirty="0" smtClean="0"/>
          </a:p>
          <a:p>
            <a:pPr marL="45720" indent="0" algn="ctr">
              <a:buNone/>
            </a:pPr>
            <a:endParaRPr lang="ru-RU" dirty="0" smtClean="0"/>
          </a:p>
          <a:p>
            <a:pPr marL="45720" indent="0" algn="ctr">
              <a:buNone/>
            </a:pPr>
            <a:r>
              <a:rPr lang="ru-RU" dirty="0" smtClean="0"/>
              <a:t>Возвращаемся к техникам с МАК!</a:t>
            </a:r>
            <a:endParaRPr lang="ru-RU" dirty="0"/>
          </a:p>
        </p:txBody>
      </p:sp>
    </p:spTree>
    <p:extLst>
      <p:ext uri="{BB962C8B-B14F-4D97-AF65-F5344CB8AC3E}">
        <p14:creationId xmlns:p14="http://schemas.microsoft.com/office/powerpoint/2010/main" val="1686611046"/>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BD1189B8-A366-451D-A454-07B3B2459478}"/>
              </a:ext>
            </a:extLst>
          </p:cNvPr>
          <p:cNvSpPr>
            <a:spLocks noGrp="1"/>
          </p:cNvSpPr>
          <p:nvPr>
            <p:ph type="title"/>
          </p:nvPr>
        </p:nvSpPr>
        <p:spPr>
          <a:xfrm>
            <a:off x="1187624" y="404664"/>
            <a:ext cx="6512511" cy="713016"/>
          </a:xfrm>
        </p:spPr>
        <p:txBody>
          <a:bodyPr/>
          <a:lstStyle/>
          <a:p>
            <a:pPr marL="0" indent="0" algn="ctr">
              <a:buNone/>
            </a:pPr>
            <a:r>
              <a:rPr lang="ru-RU" sz="2400" dirty="0" smtClean="0">
                <a:solidFill>
                  <a:srgbClr val="0070C0"/>
                </a:solidFill>
              </a:rPr>
              <a:t>Работа с МАК на тему своей половой идентичности</a:t>
            </a:r>
            <a:endParaRPr lang="ru-RU" sz="2400" dirty="0">
              <a:solidFill>
                <a:srgbClr val="0070C0"/>
              </a:solidFill>
            </a:endParaRPr>
          </a:p>
        </p:txBody>
      </p:sp>
      <p:pic>
        <p:nvPicPr>
          <p:cNvPr id="5" name="Объект 4">
            <a:extLst>
              <a:ext uri="{FF2B5EF4-FFF2-40B4-BE49-F238E27FC236}">
                <a16:creationId xmlns:a16="http://schemas.microsoft.com/office/drawing/2014/main" id="{E20F0EDE-261B-4021-9BF9-1E0E0C719867}"/>
              </a:ext>
            </a:extLst>
          </p:cNvPr>
          <p:cNvPicPr>
            <a:picLocks noGrp="1" noChangeAspect="1"/>
          </p:cNvPicPr>
          <p:nvPr>
            <p:ph sz="half" idx="4294967295"/>
          </p:nvPr>
        </p:nvPicPr>
        <p:blipFill>
          <a:blip r:embed="rId2"/>
          <a:stretch>
            <a:fillRect/>
          </a:stretch>
        </p:blipFill>
        <p:spPr>
          <a:xfrm>
            <a:off x="5868144" y="1273014"/>
            <a:ext cx="3138488" cy="1764506"/>
          </a:xfrm>
          <a:prstGeom prst="rect">
            <a:avLst/>
          </a:prstGeom>
        </p:spPr>
      </p:pic>
      <p:sp>
        <p:nvSpPr>
          <p:cNvPr id="2" name="Прямоугольник 1"/>
          <p:cNvSpPr/>
          <p:nvPr/>
        </p:nvSpPr>
        <p:spPr>
          <a:xfrm>
            <a:off x="477543" y="1241113"/>
            <a:ext cx="4572001" cy="3693319"/>
          </a:xfrm>
          <a:prstGeom prst="rect">
            <a:avLst/>
          </a:prstGeom>
        </p:spPr>
        <p:txBody>
          <a:bodyPr>
            <a:spAutoFit/>
          </a:bodyPr>
          <a:lstStyle/>
          <a:p>
            <a:r>
              <a:rPr lang="ru-RU" dirty="0"/>
              <a:t>1. </a:t>
            </a:r>
            <a:r>
              <a:rPr lang="ru-RU" dirty="0" smtClean="0"/>
              <a:t>Я как женщина, какую я хорошо знаю. То, как я себя вижу/ощущаю</a:t>
            </a:r>
            <a:endParaRPr lang="ru-RU" dirty="0"/>
          </a:p>
          <a:p>
            <a:endParaRPr lang="ru-RU" dirty="0" smtClean="0"/>
          </a:p>
          <a:p>
            <a:r>
              <a:rPr lang="ru-RU" dirty="0" smtClean="0"/>
              <a:t>2</a:t>
            </a:r>
            <a:r>
              <a:rPr lang="ru-RU" dirty="0"/>
              <a:t>. </a:t>
            </a:r>
            <a:r>
              <a:rPr lang="ru-RU" dirty="0" smtClean="0"/>
              <a:t>Я как женщина, которую видят другие</a:t>
            </a:r>
          </a:p>
          <a:p>
            <a:r>
              <a:rPr lang="ru-RU" dirty="0"/>
              <a:t> </a:t>
            </a:r>
            <a:r>
              <a:rPr lang="ru-RU" dirty="0" smtClean="0"/>
              <a:t>Вслепую!</a:t>
            </a:r>
            <a:endParaRPr lang="ru-RU" dirty="0"/>
          </a:p>
          <a:p>
            <a:endParaRPr lang="ru-RU" dirty="0" smtClean="0"/>
          </a:p>
          <a:p>
            <a:r>
              <a:rPr lang="ru-RU" dirty="0" smtClean="0"/>
              <a:t>3</a:t>
            </a:r>
            <a:r>
              <a:rPr lang="ru-RU" dirty="0"/>
              <a:t>. </a:t>
            </a:r>
            <a:r>
              <a:rPr lang="ru-RU" dirty="0" smtClean="0"/>
              <a:t>Грань моей женской идентичности, которую я не знаю, мой	 скрытый бриллиант.</a:t>
            </a:r>
          </a:p>
          <a:p>
            <a:r>
              <a:rPr lang="ru-RU" dirty="0"/>
              <a:t>Вслепую!</a:t>
            </a:r>
          </a:p>
          <a:p>
            <a:endParaRPr lang="ru-RU" dirty="0" smtClean="0"/>
          </a:p>
          <a:p>
            <a:r>
              <a:rPr lang="ru-RU" dirty="0" smtClean="0"/>
              <a:t>4. Выводы делаем уже без карт</a:t>
            </a:r>
          </a:p>
          <a:p>
            <a:endParaRPr lang="ru-RU" dirty="0"/>
          </a:p>
        </p:txBody>
      </p:sp>
    </p:spTree>
    <p:extLst>
      <p:ext uri="{BB962C8B-B14F-4D97-AF65-F5344CB8AC3E}">
        <p14:creationId xmlns:p14="http://schemas.microsoft.com/office/powerpoint/2010/main" val="1003861379"/>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BD1189B8-A366-451D-A454-07B3B2459478}"/>
              </a:ext>
            </a:extLst>
          </p:cNvPr>
          <p:cNvSpPr>
            <a:spLocks noGrp="1"/>
          </p:cNvSpPr>
          <p:nvPr>
            <p:ph type="title"/>
          </p:nvPr>
        </p:nvSpPr>
        <p:spPr>
          <a:xfrm>
            <a:off x="1187624" y="404664"/>
            <a:ext cx="6512511" cy="713016"/>
          </a:xfrm>
        </p:spPr>
        <p:txBody>
          <a:bodyPr/>
          <a:lstStyle/>
          <a:p>
            <a:pPr marL="0" indent="0" algn="ctr">
              <a:buNone/>
            </a:pPr>
            <a:r>
              <a:rPr lang="ru-RU" sz="2400" dirty="0" smtClean="0">
                <a:solidFill>
                  <a:srgbClr val="0070C0"/>
                </a:solidFill>
              </a:rPr>
              <a:t>Работа с МАК на тему М/Ж отношений</a:t>
            </a:r>
            <a:endParaRPr lang="ru-RU" sz="2400" dirty="0">
              <a:solidFill>
                <a:srgbClr val="0070C0"/>
              </a:solidFill>
            </a:endParaRPr>
          </a:p>
        </p:txBody>
      </p:sp>
      <p:pic>
        <p:nvPicPr>
          <p:cNvPr id="5" name="Объект 4">
            <a:extLst>
              <a:ext uri="{FF2B5EF4-FFF2-40B4-BE49-F238E27FC236}">
                <a16:creationId xmlns:a16="http://schemas.microsoft.com/office/drawing/2014/main" id="{E20F0EDE-261B-4021-9BF9-1E0E0C719867}"/>
              </a:ext>
            </a:extLst>
          </p:cNvPr>
          <p:cNvPicPr>
            <a:picLocks noGrp="1" noChangeAspect="1"/>
          </p:cNvPicPr>
          <p:nvPr>
            <p:ph sz="half" idx="4294967295"/>
          </p:nvPr>
        </p:nvPicPr>
        <p:blipFill>
          <a:blip r:embed="rId2"/>
          <a:stretch>
            <a:fillRect/>
          </a:stretch>
        </p:blipFill>
        <p:spPr>
          <a:xfrm>
            <a:off x="5868144" y="1273014"/>
            <a:ext cx="3138488" cy="1764506"/>
          </a:xfrm>
          <a:prstGeom prst="rect">
            <a:avLst/>
          </a:prstGeom>
        </p:spPr>
      </p:pic>
      <p:sp>
        <p:nvSpPr>
          <p:cNvPr id="2" name="Прямоугольник 1"/>
          <p:cNvSpPr/>
          <p:nvPr/>
        </p:nvSpPr>
        <p:spPr>
          <a:xfrm>
            <a:off x="477543" y="1241113"/>
            <a:ext cx="4572001" cy="5078313"/>
          </a:xfrm>
          <a:prstGeom prst="rect">
            <a:avLst/>
          </a:prstGeom>
        </p:spPr>
        <p:txBody>
          <a:bodyPr>
            <a:spAutoFit/>
          </a:bodyPr>
          <a:lstStyle/>
          <a:p>
            <a:r>
              <a:rPr lang="ru-RU" dirty="0"/>
              <a:t>1. </a:t>
            </a:r>
            <a:r>
              <a:rPr lang="ru-RU" dirty="0" smtClean="0"/>
              <a:t>Я в отношениях со своим мужчиной</a:t>
            </a:r>
            <a:endParaRPr lang="ru-RU" dirty="0"/>
          </a:p>
          <a:p>
            <a:endParaRPr lang="ru-RU" dirty="0" smtClean="0"/>
          </a:p>
          <a:p>
            <a:r>
              <a:rPr lang="ru-RU" dirty="0" smtClean="0"/>
              <a:t>2</a:t>
            </a:r>
            <a:r>
              <a:rPr lang="ru-RU" dirty="0"/>
              <a:t>. </a:t>
            </a:r>
            <a:r>
              <a:rPr lang="ru-RU" dirty="0" smtClean="0"/>
              <a:t>Мой партнер</a:t>
            </a:r>
            <a:endParaRPr lang="ru-RU" dirty="0"/>
          </a:p>
          <a:p>
            <a:endParaRPr lang="ru-RU" dirty="0" smtClean="0"/>
          </a:p>
          <a:p>
            <a:r>
              <a:rPr lang="ru-RU" dirty="0" smtClean="0"/>
              <a:t>3</a:t>
            </a:r>
            <a:r>
              <a:rPr lang="ru-RU" dirty="0"/>
              <a:t>. </a:t>
            </a:r>
            <a:r>
              <a:rPr lang="ru-RU" dirty="0" smtClean="0"/>
              <a:t>Проблема/сложность/зона роста, которая есть в наших отношениях.</a:t>
            </a:r>
          </a:p>
          <a:p>
            <a:r>
              <a:rPr lang="ru-RU" dirty="0"/>
              <a:t>Вслепую!</a:t>
            </a:r>
          </a:p>
          <a:p>
            <a:endParaRPr lang="ru-RU" dirty="0" smtClean="0"/>
          </a:p>
          <a:p>
            <a:r>
              <a:rPr lang="ru-RU" dirty="0" smtClean="0"/>
              <a:t>4. Что поможет решить эту сложность (что мне нужно делать, чтобы улучшить отношения, что мне НЕ надо делать, чтобы улучшить отношения, др. варианты)</a:t>
            </a:r>
          </a:p>
          <a:p>
            <a:endParaRPr lang="ru-RU" dirty="0"/>
          </a:p>
          <a:p>
            <a:r>
              <a:rPr lang="ru-RU" dirty="0" smtClean="0"/>
              <a:t>5. Выводы делаем уже без карт</a:t>
            </a:r>
          </a:p>
          <a:p>
            <a:endParaRPr lang="ru-RU" dirty="0"/>
          </a:p>
          <a:p>
            <a:endParaRPr lang="ru-RU" dirty="0"/>
          </a:p>
          <a:p>
            <a:endParaRPr lang="ru-RU" dirty="0"/>
          </a:p>
        </p:txBody>
      </p:sp>
    </p:spTree>
    <p:extLst>
      <p:ext uri="{BB962C8B-B14F-4D97-AF65-F5344CB8AC3E}">
        <p14:creationId xmlns:p14="http://schemas.microsoft.com/office/powerpoint/2010/main" val="1684529719"/>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BD1189B8-A366-451D-A454-07B3B2459478}"/>
              </a:ext>
            </a:extLst>
          </p:cNvPr>
          <p:cNvSpPr>
            <a:spLocks noGrp="1"/>
          </p:cNvSpPr>
          <p:nvPr>
            <p:ph type="title"/>
          </p:nvPr>
        </p:nvSpPr>
        <p:spPr>
          <a:xfrm>
            <a:off x="1187624" y="404664"/>
            <a:ext cx="7272808" cy="713016"/>
          </a:xfrm>
        </p:spPr>
        <p:txBody>
          <a:bodyPr/>
          <a:lstStyle/>
          <a:p>
            <a:pPr marL="0" indent="0" algn="ctr">
              <a:buNone/>
            </a:pPr>
            <a:r>
              <a:rPr lang="ru-RU" sz="2400" dirty="0" smtClean="0">
                <a:solidFill>
                  <a:srgbClr val="0070C0"/>
                </a:solidFill>
              </a:rPr>
              <a:t>Работа с МАК на тему отношений в системе</a:t>
            </a:r>
            <a:endParaRPr lang="ru-RU" sz="2400" dirty="0">
              <a:solidFill>
                <a:srgbClr val="0070C0"/>
              </a:solidFill>
            </a:endParaRPr>
          </a:p>
        </p:txBody>
      </p:sp>
      <p:pic>
        <p:nvPicPr>
          <p:cNvPr id="5" name="Объект 4">
            <a:extLst>
              <a:ext uri="{FF2B5EF4-FFF2-40B4-BE49-F238E27FC236}">
                <a16:creationId xmlns:a16="http://schemas.microsoft.com/office/drawing/2014/main" id="{E20F0EDE-261B-4021-9BF9-1E0E0C719867}"/>
              </a:ext>
            </a:extLst>
          </p:cNvPr>
          <p:cNvPicPr>
            <a:picLocks noGrp="1" noChangeAspect="1"/>
          </p:cNvPicPr>
          <p:nvPr>
            <p:ph sz="half" idx="4294967295"/>
          </p:nvPr>
        </p:nvPicPr>
        <p:blipFill>
          <a:blip r:embed="rId2"/>
          <a:stretch>
            <a:fillRect/>
          </a:stretch>
        </p:blipFill>
        <p:spPr>
          <a:xfrm>
            <a:off x="5868144" y="1273014"/>
            <a:ext cx="3138488" cy="1764506"/>
          </a:xfrm>
          <a:prstGeom prst="rect">
            <a:avLst/>
          </a:prstGeom>
        </p:spPr>
      </p:pic>
      <p:sp>
        <p:nvSpPr>
          <p:cNvPr id="2" name="Прямоугольник 1"/>
          <p:cNvSpPr/>
          <p:nvPr/>
        </p:nvSpPr>
        <p:spPr>
          <a:xfrm>
            <a:off x="477543" y="1241113"/>
            <a:ext cx="4572001" cy="5632311"/>
          </a:xfrm>
          <a:prstGeom prst="rect">
            <a:avLst/>
          </a:prstGeom>
        </p:spPr>
        <p:txBody>
          <a:bodyPr>
            <a:spAutoFit/>
          </a:bodyPr>
          <a:lstStyle/>
          <a:p>
            <a:pPr marL="342900" indent="-342900">
              <a:buAutoNum type="arabicPeriod"/>
            </a:pPr>
            <a:r>
              <a:rPr lang="ru-RU" dirty="0" smtClean="0"/>
              <a:t>Я в системе</a:t>
            </a:r>
          </a:p>
          <a:p>
            <a:endParaRPr lang="ru-RU" dirty="0" smtClean="0"/>
          </a:p>
          <a:p>
            <a:r>
              <a:rPr lang="ru-RU" dirty="0" smtClean="0"/>
              <a:t>2</a:t>
            </a:r>
            <a:r>
              <a:rPr lang="ru-RU" dirty="0"/>
              <a:t>. </a:t>
            </a:r>
            <a:r>
              <a:rPr lang="ru-RU" dirty="0" smtClean="0"/>
              <a:t>Мои партнеры в системе (каждого человека в отдельности. По принципу 1 человек=1 карта)</a:t>
            </a:r>
            <a:endParaRPr lang="ru-RU" dirty="0"/>
          </a:p>
          <a:p>
            <a:endParaRPr lang="ru-RU" dirty="0" smtClean="0"/>
          </a:p>
          <a:p>
            <a:r>
              <a:rPr lang="ru-RU" dirty="0" smtClean="0"/>
              <a:t>3</a:t>
            </a:r>
            <a:r>
              <a:rPr lang="ru-RU" dirty="0"/>
              <a:t>. </a:t>
            </a:r>
            <a:r>
              <a:rPr lang="ru-RU" dirty="0" smtClean="0"/>
              <a:t>Разложить карты себя и др. людей на столе в соответствии со своим ощущением – чтобы это отражало структурные связи и эмоциональные отношения </a:t>
            </a:r>
            <a:endParaRPr lang="ru-RU" dirty="0"/>
          </a:p>
          <a:p>
            <a:endParaRPr lang="ru-RU" dirty="0" smtClean="0"/>
          </a:p>
          <a:p>
            <a:r>
              <a:rPr lang="ru-RU" dirty="0" smtClean="0"/>
              <a:t>4. Что можно улучшить в отношениях? Что мне надо делать, как себя вести, чтобы скорректировать систему?</a:t>
            </a:r>
          </a:p>
          <a:p>
            <a:endParaRPr lang="ru-RU" dirty="0"/>
          </a:p>
          <a:p>
            <a:r>
              <a:rPr lang="ru-RU" dirty="0" smtClean="0"/>
              <a:t>5. Выводы делаем уже без карт</a:t>
            </a:r>
          </a:p>
          <a:p>
            <a:endParaRPr lang="ru-RU" dirty="0"/>
          </a:p>
          <a:p>
            <a:endParaRPr lang="ru-RU" dirty="0"/>
          </a:p>
          <a:p>
            <a:endParaRPr lang="ru-RU" dirty="0"/>
          </a:p>
        </p:txBody>
      </p:sp>
    </p:spTree>
    <p:extLst>
      <p:ext uri="{BB962C8B-B14F-4D97-AF65-F5344CB8AC3E}">
        <p14:creationId xmlns:p14="http://schemas.microsoft.com/office/powerpoint/2010/main" val="3857048134"/>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BD1189B8-A366-451D-A454-07B3B2459478}"/>
              </a:ext>
            </a:extLst>
          </p:cNvPr>
          <p:cNvSpPr>
            <a:spLocks noGrp="1"/>
          </p:cNvSpPr>
          <p:nvPr>
            <p:ph type="title"/>
          </p:nvPr>
        </p:nvSpPr>
        <p:spPr>
          <a:xfrm>
            <a:off x="611560" y="404664"/>
            <a:ext cx="7848872" cy="713016"/>
          </a:xfrm>
        </p:spPr>
        <p:txBody>
          <a:bodyPr/>
          <a:lstStyle/>
          <a:p>
            <a:pPr marL="0" indent="0" algn="ctr">
              <a:buNone/>
            </a:pPr>
            <a:r>
              <a:rPr lang="ru-RU" sz="2400" dirty="0" smtClean="0">
                <a:solidFill>
                  <a:srgbClr val="0070C0"/>
                </a:solidFill>
              </a:rPr>
              <a:t>Работа с МАК на тему «Я как </a:t>
            </a:r>
            <a:r>
              <a:rPr lang="ru-RU" sz="2400" dirty="0" err="1" smtClean="0">
                <a:solidFill>
                  <a:srgbClr val="0070C0"/>
                </a:solidFill>
              </a:rPr>
              <a:t>коуч</a:t>
            </a:r>
            <a:r>
              <a:rPr lang="ru-RU" sz="2400" dirty="0" smtClean="0">
                <a:solidFill>
                  <a:srgbClr val="0070C0"/>
                </a:solidFill>
              </a:rPr>
              <a:t> и мои клиенты»</a:t>
            </a:r>
            <a:endParaRPr lang="ru-RU" sz="2400" dirty="0">
              <a:solidFill>
                <a:srgbClr val="0070C0"/>
              </a:solidFill>
            </a:endParaRPr>
          </a:p>
        </p:txBody>
      </p:sp>
      <p:pic>
        <p:nvPicPr>
          <p:cNvPr id="5" name="Объект 4">
            <a:extLst>
              <a:ext uri="{FF2B5EF4-FFF2-40B4-BE49-F238E27FC236}">
                <a16:creationId xmlns:a16="http://schemas.microsoft.com/office/drawing/2014/main" id="{E20F0EDE-261B-4021-9BF9-1E0E0C719867}"/>
              </a:ext>
            </a:extLst>
          </p:cNvPr>
          <p:cNvPicPr>
            <a:picLocks noGrp="1" noChangeAspect="1"/>
          </p:cNvPicPr>
          <p:nvPr>
            <p:ph sz="half" idx="4294967295"/>
          </p:nvPr>
        </p:nvPicPr>
        <p:blipFill>
          <a:blip r:embed="rId2"/>
          <a:stretch>
            <a:fillRect/>
          </a:stretch>
        </p:blipFill>
        <p:spPr>
          <a:xfrm>
            <a:off x="5868144" y="1273014"/>
            <a:ext cx="3138488" cy="1764506"/>
          </a:xfrm>
          <a:prstGeom prst="rect">
            <a:avLst/>
          </a:prstGeom>
        </p:spPr>
      </p:pic>
      <p:sp>
        <p:nvSpPr>
          <p:cNvPr id="2" name="Прямоугольник 1"/>
          <p:cNvSpPr/>
          <p:nvPr/>
        </p:nvSpPr>
        <p:spPr>
          <a:xfrm>
            <a:off x="477543" y="1241113"/>
            <a:ext cx="4572001" cy="4247317"/>
          </a:xfrm>
          <a:prstGeom prst="rect">
            <a:avLst/>
          </a:prstGeom>
        </p:spPr>
        <p:txBody>
          <a:bodyPr>
            <a:spAutoFit/>
          </a:bodyPr>
          <a:lstStyle/>
          <a:p>
            <a:pPr marL="342900" indent="-342900">
              <a:buAutoNum type="arabicPeriod"/>
            </a:pPr>
            <a:r>
              <a:rPr lang="ru-RU" dirty="0" smtClean="0"/>
              <a:t>Я как </a:t>
            </a:r>
            <a:r>
              <a:rPr lang="ru-RU" dirty="0" err="1" smtClean="0"/>
              <a:t>коуч</a:t>
            </a:r>
            <a:endParaRPr lang="ru-RU" dirty="0" smtClean="0"/>
          </a:p>
          <a:p>
            <a:endParaRPr lang="ru-RU" dirty="0" smtClean="0"/>
          </a:p>
          <a:p>
            <a:r>
              <a:rPr lang="ru-RU" dirty="0" smtClean="0"/>
              <a:t>2</a:t>
            </a:r>
            <a:r>
              <a:rPr lang="ru-RU" dirty="0"/>
              <a:t>. </a:t>
            </a:r>
            <a:r>
              <a:rPr lang="ru-RU" dirty="0" smtClean="0"/>
              <a:t>Мои клиенты</a:t>
            </a:r>
          </a:p>
          <a:p>
            <a:endParaRPr lang="ru-RU" dirty="0" smtClean="0"/>
          </a:p>
          <a:p>
            <a:r>
              <a:rPr lang="ru-RU" dirty="0" smtClean="0"/>
              <a:t>3</a:t>
            </a:r>
            <a:r>
              <a:rPr lang="ru-RU" dirty="0"/>
              <a:t>. </a:t>
            </a:r>
            <a:r>
              <a:rPr lang="ru-RU" dirty="0" smtClean="0"/>
              <a:t>Что я транслирую в мир/что считывают мои клиенты? Про что и как я работаю?</a:t>
            </a:r>
          </a:p>
          <a:p>
            <a:endParaRPr lang="ru-RU" dirty="0"/>
          </a:p>
          <a:p>
            <a:r>
              <a:rPr lang="ru-RU" dirty="0" smtClean="0"/>
              <a:t>4. Что можно улучшить? Что мне надо делать, как себя вести?</a:t>
            </a:r>
          </a:p>
          <a:p>
            <a:endParaRPr lang="ru-RU" dirty="0"/>
          </a:p>
          <a:p>
            <a:r>
              <a:rPr lang="ru-RU" dirty="0" smtClean="0"/>
              <a:t>5. Выводы делаем уже без карт</a:t>
            </a:r>
          </a:p>
          <a:p>
            <a:endParaRPr lang="ru-RU" dirty="0"/>
          </a:p>
          <a:p>
            <a:endParaRPr lang="ru-RU" dirty="0"/>
          </a:p>
          <a:p>
            <a:endParaRPr lang="ru-RU" dirty="0"/>
          </a:p>
        </p:txBody>
      </p:sp>
    </p:spTree>
    <p:extLst>
      <p:ext uri="{BB962C8B-B14F-4D97-AF65-F5344CB8AC3E}">
        <p14:creationId xmlns:p14="http://schemas.microsoft.com/office/powerpoint/2010/main" val="1216226002"/>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32025" y="1196752"/>
            <a:ext cx="6512511" cy="1143000"/>
          </a:xfrm>
        </p:spPr>
        <p:txBody>
          <a:bodyPr/>
          <a:lstStyle/>
          <a:p>
            <a:pPr marL="0" indent="0" algn="ctr">
              <a:buNone/>
            </a:pPr>
            <a:r>
              <a:rPr lang="ru-RU" sz="3600" dirty="0" smtClean="0">
                <a:solidFill>
                  <a:srgbClr val="C00000"/>
                </a:solidFill>
              </a:rPr>
              <a:t>Работа с убеждениями</a:t>
            </a:r>
            <a:endParaRPr lang="ru-RU" sz="3600" dirty="0">
              <a:solidFill>
                <a:srgbClr val="C00000"/>
              </a:solidFill>
            </a:endParaRPr>
          </a:p>
        </p:txBody>
      </p:sp>
      <p:sp>
        <p:nvSpPr>
          <p:cNvPr id="3" name="Объект 2"/>
          <p:cNvSpPr>
            <a:spLocks noGrp="1"/>
          </p:cNvSpPr>
          <p:nvPr>
            <p:ph sz="quarter" idx="13"/>
          </p:nvPr>
        </p:nvSpPr>
        <p:spPr>
          <a:xfrm>
            <a:off x="1115616" y="2339752"/>
            <a:ext cx="7488832" cy="3474720"/>
          </a:xfrm>
        </p:spPr>
        <p:txBody>
          <a:bodyPr/>
          <a:lstStyle/>
          <a:p>
            <a:r>
              <a:rPr lang="ru-RU" dirty="0" smtClean="0">
                <a:solidFill>
                  <a:srgbClr val="FF0000"/>
                </a:solidFill>
              </a:rPr>
              <a:t>Важно! </a:t>
            </a:r>
          </a:p>
          <a:p>
            <a:pPr marL="45720" indent="0">
              <a:buNone/>
            </a:pPr>
            <a:r>
              <a:rPr lang="ru-RU" dirty="0" smtClean="0">
                <a:solidFill>
                  <a:srgbClr val="FF0000"/>
                </a:solidFill>
              </a:rPr>
              <a:t>В трансформационном подходе с убеждениями мы работаем всегда! </a:t>
            </a:r>
          </a:p>
          <a:p>
            <a:pPr marL="45720" indent="0">
              <a:buNone/>
            </a:pPr>
            <a:r>
              <a:rPr lang="ru-RU" dirty="0" smtClean="0">
                <a:solidFill>
                  <a:srgbClr val="FF0000"/>
                </a:solidFill>
              </a:rPr>
              <a:t> В процессе работы с любой техникой (через тело, через визуальный канал, через «голову»)</a:t>
            </a:r>
            <a:endParaRPr lang="ru-RU" dirty="0">
              <a:solidFill>
                <a:srgbClr val="FF0000"/>
              </a:solidFill>
            </a:endParaRPr>
          </a:p>
        </p:txBody>
      </p:sp>
    </p:spTree>
    <p:extLst>
      <p:ext uri="{BB962C8B-B14F-4D97-AF65-F5344CB8AC3E}">
        <p14:creationId xmlns:p14="http://schemas.microsoft.com/office/powerpoint/2010/main" val="2213458619"/>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43608" y="260648"/>
            <a:ext cx="6800543" cy="1224136"/>
          </a:xfrm>
        </p:spPr>
        <p:txBody>
          <a:bodyPr>
            <a:normAutofit fontScale="90000"/>
          </a:bodyPr>
          <a:lstStyle/>
          <a:p>
            <a:pPr marL="0" indent="0" algn="ctr">
              <a:buNone/>
            </a:pPr>
            <a:r>
              <a:rPr lang="ru-RU" sz="2800" b="1" dirty="0">
                <a:solidFill>
                  <a:srgbClr val="0070C0"/>
                </a:solidFill>
              </a:rPr>
              <a:t>Теория убеждений </a:t>
            </a:r>
            <a:r>
              <a:rPr lang="ru-RU" sz="2800" b="1" dirty="0" smtClean="0">
                <a:solidFill>
                  <a:srgbClr val="0070C0"/>
                </a:solidFill>
              </a:rPr>
              <a:t>Бека</a:t>
            </a:r>
            <a:r>
              <a:rPr lang="ru-RU" sz="2800" b="1" dirty="0" smtClean="0">
                <a:solidFill>
                  <a:schemeClr val="accent1"/>
                </a:solidFill>
              </a:rPr>
              <a:t/>
            </a:r>
            <a:br>
              <a:rPr lang="ru-RU" sz="2800" b="1" dirty="0" smtClean="0">
                <a:solidFill>
                  <a:schemeClr val="accent1"/>
                </a:solidFill>
              </a:rPr>
            </a:br>
            <a:r>
              <a:rPr lang="ru-RU" sz="1800" dirty="0"/>
              <a:t>Бек А., </a:t>
            </a:r>
            <a:r>
              <a:rPr lang="ru-RU" sz="1800" dirty="0" err="1"/>
              <a:t>Фримен</a:t>
            </a:r>
            <a:r>
              <a:rPr lang="ru-RU" sz="1800" dirty="0"/>
              <a:t> А. «Когнитивная психотерапия расстройств личности. Практикум по психотерапии» </a:t>
            </a:r>
            <a:br>
              <a:rPr lang="ru-RU" sz="1800" dirty="0"/>
            </a:br>
            <a:r>
              <a:rPr lang="ru-RU" sz="2800" b="1" dirty="0">
                <a:solidFill>
                  <a:schemeClr val="accent1"/>
                </a:solidFill>
              </a:rPr>
              <a:t/>
            </a:r>
            <a:br>
              <a:rPr lang="ru-RU" sz="2800" b="1" dirty="0">
                <a:solidFill>
                  <a:schemeClr val="accent1"/>
                </a:solidFill>
              </a:rPr>
            </a:br>
            <a:r>
              <a:rPr lang="ru-RU" sz="2800" b="1" dirty="0">
                <a:solidFill>
                  <a:schemeClr val="accent1"/>
                </a:solidFill>
              </a:rPr>
              <a:t/>
            </a:r>
            <a:br>
              <a:rPr lang="ru-RU" sz="2800" b="1" dirty="0">
                <a:solidFill>
                  <a:schemeClr val="accent1"/>
                </a:solidFill>
              </a:rPr>
            </a:br>
            <a:endParaRPr lang="ru-RU" sz="2800" b="1" dirty="0">
              <a:solidFill>
                <a:schemeClr val="accent1"/>
              </a:solidFill>
            </a:endParaRPr>
          </a:p>
        </p:txBody>
      </p:sp>
      <p:sp>
        <p:nvSpPr>
          <p:cNvPr id="3" name="Объект 2"/>
          <p:cNvSpPr>
            <a:spLocks noGrp="1"/>
          </p:cNvSpPr>
          <p:nvPr>
            <p:ph sz="quarter" idx="13"/>
          </p:nvPr>
        </p:nvSpPr>
        <p:spPr>
          <a:xfrm>
            <a:off x="539552" y="1453307"/>
            <a:ext cx="7992888" cy="5256584"/>
          </a:xfrm>
        </p:spPr>
        <p:txBody>
          <a:bodyPr>
            <a:normAutofit fontScale="70000" lnSpcReduction="20000"/>
          </a:bodyPr>
          <a:lstStyle/>
          <a:p>
            <a:r>
              <a:rPr lang="ru-RU" sz="2400" dirty="0"/>
              <a:t>По Беку настроение и поведение человека в значительной степени определяется присущим ему способом толкования и объяснения мира - когнитивные модели, или "схемы«, или правила.</a:t>
            </a:r>
          </a:p>
          <a:p>
            <a:endParaRPr lang="ru-RU" sz="2400" dirty="0"/>
          </a:p>
          <a:p>
            <a:r>
              <a:rPr lang="ru-RU" sz="2400" dirty="0"/>
              <a:t>Эти схемы подобны фильтрам, </a:t>
            </a:r>
            <a:r>
              <a:rPr lang="ru-RU" sz="2400" dirty="0">
                <a:solidFill>
                  <a:srgbClr val="FF0000"/>
                </a:solidFill>
              </a:rPr>
              <a:t>"концептуальным очкам", сквозь которые мы видим мир, отбираем определенные аспекты событий и так или иначе их интерпретируем</a:t>
            </a:r>
          </a:p>
          <a:p>
            <a:pPr marL="45720" indent="0">
              <a:buNone/>
            </a:pPr>
            <a:r>
              <a:rPr lang="ru-RU" sz="2400" dirty="0">
                <a:solidFill>
                  <a:srgbClr val="FF0000"/>
                </a:solidFill>
              </a:rPr>
              <a:t>                 __________________________________________________</a:t>
            </a:r>
          </a:p>
          <a:p>
            <a:pPr marL="45720" indent="0">
              <a:buNone/>
            </a:pPr>
            <a:endParaRPr lang="ru-RU" sz="2400" dirty="0"/>
          </a:p>
          <a:p>
            <a:pPr marL="45720" indent="0">
              <a:buNone/>
            </a:pPr>
            <a:r>
              <a:rPr lang="ru-RU" sz="2400" dirty="0"/>
              <a:t>***</a:t>
            </a:r>
            <a:r>
              <a:rPr lang="en-US" sz="2400" dirty="0"/>
              <a:t>C</a:t>
            </a:r>
            <a:r>
              <a:rPr lang="ru-RU" sz="2400" dirty="0" err="1"/>
              <a:t>ognitio</a:t>
            </a:r>
            <a:r>
              <a:rPr lang="ru-RU" sz="2400" dirty="0"/>
              <a:t> - познание, познавание. Познавательный процесс или совокупность психических процессов – восприятия, категоризации, мышления, речи и пр., служащих обработке и переработке информации. Включает осознание и оценку самого себя в окружающем мире и построение особой картины мира – все то, что составляет основу для поведения человека. </a:t>
            </a:r>
          </a:p>
          <a:p>
            <a:pPr marL="45720" indent="0">
              <a:buNone/>
            </a:pPr>
            <a:endParaRPr lang="ru-RU" sz="2400" dirty="0"/>
          </a:p>
          <a:p>
            <a:pPr marL="45720" indent="0">
              <a:buNone/>
            </a:pPr>
            <a:r>
              <a:rPr lang="ru-RU" sz="2400" dirty="0" err="1"/>
              <a:t>Когниция</a:t>
            </a:r>
            <a:r>
              <a:rPr lang="ru-RU" sz="2400" dirty="0"/>
              <a:t> – все процессы, в ходе которых сенсорные данные трансформируются, поступая в мозг, и преобразуются в виде ментальных репрезентаций разного типа (мыслей, образов, сценариев и т.п.), чтобы удерживаться при необходимости в памяти человека.</a:t>
            </a:r>
            <a:r>
              <a:rPr lang="ru-RU" sz="2800" dirty="0"/>
              <a:t> </a:t>
            </a:r>
          </a:p>
          <a:p>
            <a:endParaRPr lang="ru-RU" sz="2400" dirty="0"/>
          </a:p>
        </p:txBody>
      </p:sp>
    </p:spTree>
    <p:extLst>
      <p:ext uri="{BB962C8B-B14F-4D97-AF65-F5344CB8AC3E}">
        <p14:creationId xmlns:p14="http://schemas.microsoft.com/office/powerpoint/2010/main" val="135474012"/>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251520" y="548680"/>
            <a:ext cx="8496944" cy="5832648"/>
          </a:xfrm>
        </p:spPr>
        <p:txBody>
          <a:bodyPr>
            <a:normAutofit fontScale="85000" lnSpcReduction="20000"/>
          </a:bodyPr>
          <a:lstStyle/>
          <a:p>
            <a:r>
              <a:rPr lang="ru-RU" b="1" u="sng" dirty="0">
                <a:solidFill>
                  <a:schemeClr val="accent4"/>
                </a:solidFill>
              </a:rPr>
              <a:t>Убеждение</a:t>
            </a:r>
            <a:r>
              <a:rPr lang="ru-RU" dirty="0"/>
              <a:t> — элемент (качество) мировоззрения, придающий личности уверенность в своих взглядах на мир, оценках реальной действительности. Убеждения направляют поведение и волевые действия. </a:t>
            </a:r>
          </a:p>
          <a:p>
            <a:pPr marL="45720" indent="0">
              <a:buNone/>
            </a:pPr>
            <a:r>
              <a:rPr lang="ru-RU" dirty="0"/>
              <a:t>   Высшую (абсолютную) степень убеждённости у многих      олицетворяет </a:t>
            </a:r>
            <a:r>
              <a:rPr lang="ru-RU" dirty="0">
                <a:hlinkClick r:id="rId2" tooltip="Вера"/>
              </a:rPr>
              <a:t>вера</a:t>
            </a:r>
            <a:r>
              <a:rPr lang="ru-RU" dirty="0"/>
              <a:t> (уверенность).</a:t>
            </a:r>
          </a:p>
          <a:p>
            <a:r>
              <a:rPr lang="ru-RU" b="1" u="sng" dirty="0">
                <a:solidFill>
                  <a:schemeClr val="accent4"/>
                </a:solidFill>
              </a:rPr>
              <a:t>Убеждение </a:t>
            </a:r>
            <a:r>
              <a:rPr lang="ru-RU" dirty="0"/>
              <a:t> – </a:t>
            </a:r>
            <a:r>
              <a:rPr lang="ru-RU" b="1" dirty="0"/>
              <a:t>это</a:t>
            </a:r>
            <a:r>
              <a:rPr lang="ru-RU" dirty="0"/>
              <a:t> устойчивая система взглядов человека, которая основана на его знаниях, жизненном опыте, вере, отношении к чему бы то ни было.</a:t>
            </a:r>
          </a:p>
          <a:p>
            <a:r>
              <a:rPr lang="ru-RU" b="1" u="sng" dirty="0">
                <a:solidFill>
                  <a:schemeClr val="accent4"/>
                </a:solidFill>
              </a:rPr>
              <a:t>Убеждение </a:t>
            </a:r>
            <a:r>
              <a:rPr lang="ru-RU" dirty="0"/>
              <a:t> - </a:t>
            </a:r>
            <a:r>
              <a:rPr lang="ru-RU" b="1" dirty="0"/>
              <a:t>это</a:t>
            </a:r>
            <a:r>
              <a:rPr lang="ru-RU" dirty="0"/>
              <a:t> твердые, осознанные и обдуманные верования, выполняющие роль подсказок либо жизненного ориентира для человека. </a:t>
            </a:r>
          </a:p>
          <a:p>
            <a:pPr marL="45720" indent="0">
              <a:buNone/>
            </a:pPr>
            <a:endParaRPr lang="ru-RU" dirty="0"/>
          </a:p>
          <a:p>
            <a:pPr lvl="0"/>
            <a:r>
              <a:rPr lang="ru-RU" b="1" u="sng" dirty="0">
                <a:hlinkClick r:id="rId3"/>
              </a:rPr>
              <a:t>Верования</a:t>
            </a:r>
            <a:r>
              <a:rPr lang="ru-RU" dirty="0"/>
              <a:t> — убежденность, эмоциональная приверженность какой либо идее, реальной или иллюзорной …   </a:t>
            </a:r>
            <a:r>
              <a:rPr lang="ru-RU" i="1" dirty="0"/>
              <a:t>Этнопсихологический словарь</a:t>
            </a:r>
            <a:endParaRPr lang="ru-RU" dirty="0"/>
          </a:p>
          <a:p>
            <a:pPr lvl="0"/>
            <a:r>
              <a:rPr lang="ru-RU" b="1" u="sng" dirty="0">
                <a:hlinkClick r:id="rId4"/>
              </a:rPr>
              <a:t>Верования</a:t>
            </a:r>
            <a:r>
              <a:rPr lang="ru-RU" dirty="0"/>
              <a:t> — религиозные представления, постулаты какой л. религии, веры. </a:t>
            </a:r>
          </a:p>
          <a:p>
            <a:r>
              <a:rPr lang="ru-RU" b="1" u="sng" dirty="0">
                <a:hlinkClick r:id="rId3"/>
              </a:rPr>
              <a:t>Верования</a:t>
            </a:r>
            <a:r>
              <a:rPr lang="ru-RU" dirty="0"/>
              <a:t> - некритически усвоенные и не подвергающиеся критике вербально сформулированные представлениях о себе, людях и мире.</a:t>
            </a:r>
          </a:p>
        </p:txBody>
      </p:sp>
    </p:spTree>
    <p:extLst>
      <p:ext uri="{BB962C8B-B14F-4D97-AF65-F5344CB8AC3E}">
        <p14:creationId xmlns:p14="http://schemas.microsoft.com/office/powerpoint/2010/main" val="3296093686"/>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467544" y="731520"/>
            <a:ext cx="8352928" cy="5001736"/>
          </a:xfrm>
        </p:spPr>
        <p:txBody>
          <a:bodyPr>
            <a:normAutofit fontScale="85000" lnSpcReduction="20000"/>
          </a:bodyPr>
          <a:lstStyle/>
          <a:p>
            <a:pPr marL="45720" indent="0" algn="ctr">
              <a:buNone/>
            </a:pPr>
            <a:r>
              <a:rPr lang="ru-RU" sz="3800" dirty="0">
                <a:solidFill>
                  <a:srgbClr val="0070C0"/>
                </a:solidFill>
              </a:rPr>
              <a:t>Как мы надеваем эти «очки» в конкретных ситуациях?</a:t>
            </a:r>
            <a:endParaRPr lang="ru-RU" sz="3800" dirty="0"/>
          </a:p>
          <a:p>
            <a:pPr marL="45720" indent="0">
              <a:buNone/>
            </a:pPr>
            <a:endParaRPr lang="ru-RU" dirty="0"/>
          </a:p>
          <a:p>
            <a:pPr marL="45720" indent="0" algn="ctr">
              <a:buNone/>
            </a:pPr>
            <a:r>
              <a:rPr lang="ru-RU" b="1" dirty="0">
                <a:solidFill>
                  <a:schemeClr val="accent1"/>
                </a:solidFill>
              </a:rPr>
              <a:t>Теория АВС</a:t>
            </a:r>
          </a:p>
          <a:p>
            <a:endParaRPr lang="ru-RU" dirty="0"/>
          </a:p>
          <a:p>
            <a:r>
              <a:rPr lang="ru-RU" dirty="0"/>
              <a:t>«А» (активаторы, </a:t>
            </a:r>
            <a:r>
              <a:rPr lang="ru-RU" dirty="0">
                <a:hlinkClick r:id="rId2" tooltip="Английский язык"/>
              </a:rPr>
              <a:t>англ.</a:t>
            </a:r>
            <a:r>
              <a:rPr lang="ru-RU" dirty="0"/>
              <a:t> </a:t>
            </a:r>
            <a:r>
              <a:rPr lang="ru-RU" i="1" dirty="0" err="1"/>
              <a:t>activating</a:t>
            </a:r>
            <a:r>
              <a:rPr lang="ru-RU" i="1" dirty="0"/>
              <a:t> </a:t>
            </a:r>
            <a:r>
              <a:rPr lang="ru-RU" i="1" dirty="0" err="1"/>
              <a:t>events</a:t>
            </a:r>
            <a:r>
              <a:rPr lang="ru-RU" dirty="0"/>
              <a:t>) — это любые </a:t>
            </a:r>
            <a:r>
              <a:rPr lang="ru-RU" dirty="0">
                <a:solidFill>
                  <a:srgbClr val="0070C0"/>
                </a:solidFill>
              </a:rPr>
              <a:t>текущие события </a:t>
            </a:r>
            <a:r>
              <a:rPr lang="ru-RU" dirty="0"/>
              <a:t>или собственные мысли, чувства, поведение в связи с этими событиями, а, возможно, воспоминания или мысли о прошлом опыте </a:t>
            </a:r>
          </a:p>
          <a:p>
            <a:r>
              <a:rPr lang="ru-RU" dirty="0"/>
              <a:t>Но «А» сами по себе — это только активаторы. Все проблемы возникают потому, что в «А» каждый человек привносит что-то своё, а именно свои убеждения, цели, взгляды — «В» (</a:t>
            </a:r>
            <a:r>
              <a:rPr lang="ru-RU" dirty="0">
                <a:hlinkClick r:id="rId2" tooltip="Английский язык"/>
              </a:rPr>
              <a:t>англ.</a:t>
            </a:r>
            <a:r>
              <a:rPr lang="ru-RU" dirty="0"/>
              <a:t> </a:t>
            </a:r>
            <a:r>
              <a:rPr lang="ru-RU" i="1" dirty="0" err="1"/>
              <a:t>beliefs</a:t>
            </a:r>
            <a:r>
              <a:rPr lang="ru-RU" dirty="0"/>
              <a:t>). </a:t>
            </a:r>
            <a:r>
              <a:rPr lang="ru-RU" dirty="0">
                <a:solidFill>
                  <a:schemeClr val="accent1"/>
                </a:solidFill>
              </a:rPr>
              <a:t>И</a:t>
            </a:r>
            <a:r>
              <a:rPr lang="ru-RU" sz="2400" dirty="0">
                <a:solidFill>
                  <a:schemeClr val="accent1"/>
                </a:solidFill>
              </a:rPr>
              <a:t>нтерпретация!!!</a:t>
            </a:r>
            <a:r>
              <a:rPr lang="ru-RU" sz="2400" dirty="0"/>
              <a:t> </a:t>
            </a:r>
            <a:r>
              <a:rPr lang="ru-RU" dirty="0"/>
              <a:t>И уже «В» приводит именно к тому, а не иному «С» — следствию (</a:t>
            </a:r>
            <a:r>
              <a:rPr lang="ru-RU" dirty="0">
                <a:hlinkClick r:id="rId2" tooltip="Английский язык"/>
              </a:rPr>
              <a:t>англ.</a:t>
            </a:r>
            <a:r>
              <a:rPr lang="ru-RU" dirty="0"/>
              <a:t> </a:t>
            </a:r>
            <a:r>
              <a:rPr lang="ru-RU" i="1" dirty="0" err="1"/>
              <a:t>consequences</a:t>
            </a:r>
            <a:r>
              <a:rPr lang="ru-RU" dirty="0"/>
              <a:t>).</a:t>
            </a:r>
          </a:p>
          <a:p>
            <a:r>
              <a:rPr lang="ru-RU" dirty="0"/>
              <a:t>И если рациональные взгляды ведут к продуктивному </a:t>
            </a:r>
            <a:r>
              <a:rPr lang="ru-RU" dirty="0">
                <a:solidFill>
                  <a:srgbClr val="0070C0"/>
                </a:solidFill>
              </a:rPr>
              <a:t>поведению</a:t>
            </a:r>
            <a:r>
              <a:rPr lang="ru-RU" dirty="0"/>
              <a:t>, то (и отсюда психологические проблемы) иррациональные взгляды — к саморазрушению и иррациональному поведению.</a:t>
            </a:r>
          </a:p>
        </p:txBody>
      </p:sp>
    </p:spTree>
    <p:extLst>
      <p:ext uri="{BB962C8B-B14F-4D97-AF65-F5344CB8AC3E}">
        <p14:creationId xmlns:p14="http://schemas.microsoft.com/office/powerpoint/2010/main" val="1337768735"/>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p:txBody>
          <a:bodyPr/>
          <a:lstStyle/>
          <a:p>
            <a:pPr marL="45720" indent="0">
              <a:buNone/>
            </a:pPr>
            <a:r>
              <a:rPr lang="ru-RU" dirty="0"/>
              <a:t>Например:</a:t>
            </a:r>
          </a:p>
          <a:p>
            <a:r>
              <a:rPr lang="ru-RU" dirty="0"/>
              <a:t>Я волнуюсь перед </a:t>
            </a:r>
            <a:r>
              <a:rPr lang="ru-RU" dirty="0" err="1"/>
              <a:t>коуч</a:t>
            </a:r>
            <a:r>
              <a:rPr lang="ru-RU" dirty="0"/>
              <a:t>-сессией: «Как все пройдет? </a:t>
            </a:r>
          </a:p>
          <a:p>
            <a:r>
              <a:rPr lang="ru-RU" dirty="0"/>
              <a:t>На поверхности: «Мне важно принести пользу, быть эффективным. Я должен быть профессионалом на 100 %»</a:t>
            </a:r>
          </a:p>
          <a:p>
            <a:r>
              <a:rPr lang="ru-RU" dirty="0"/>
              <a:t>А в основе базисное убеждение: «Я должен быть идеальным. У меня нет права на ошибку»</a:t>
            </a:r>
          </a:p>
        </p:txBody>
      </p:sp>
    </p:spTree>
    <p:extLst>
      <p:ext uri="{BB962C8B-B14F-4D97-AF65-F5344CB8AC3E}">
        <p14:creationId xmlns:p14="http://schemas.microsoft.com/office/powerpoint/2010/main" val="2076015151"/>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59632" y="116632"/>
            <a:ext cx="6512511" cy="1143000"/>
          </a:xfrm>
        </p:spPr>
        <p:txBody>
          <a:bodyPr>
            <a:normAutofit fontScale="90000"/>
          </a:bodyPr>
          <a:lstStyle/>
          <a:p>
            <a:pPr marL="0" indent="0" algn="ctr">
              <a:buNone/>
            </a:pPr>
            <a:r>
              <a:rPr lang="ru-RU" sz="2700" b="1" dirty="0">
                <a:solidFill>
                  <a:schemeClr val="accent1"/>
                </a:solidFill>
              </a:rPr>
              <a:t>Наиболее частые абсолютистские убеждения по Беку</a:t>
            </a:r>
            <a:r>
              <a:rPr lang="ru-RU" dirty="0"/>
              <a:t/>
            </a:r>
            <a:br>
              <a:rPr lang="ru-RU" dirty="0"/>
            </a:br>
            <a:endParaRPr lang="ru-RU" dirty="0"/>
          </a:p>
        </p:txBody>
      </p:sp>
      <p:sp>
        <p:nvSpPr>
          <p:cNvPr id="3" name="Объект 2"/>
          <p:cNvSpPr>
            <a:spLocks noGrp="1"/>
          </p:cNvSpPr>
          <p:nvPr>
            <p:ph sz="quarter" idx="13"/>
          </p:nvPr>
        </p:nvSpPr>
        <p:spPr>
          <a:xfrm>
            <a:off x="539552" y="1124744"/>
            <a:ext cx="8229600" cy="5400600"/>
          </a:xfrm>
        </p:spPr>
        <p:txBody>
          <a:bodyPr>
            <a:normAutofit fontScale="92500" lnSpcReduction="20000"/>
          </a:bodyPr>
          <a:lstStyle/>
          <a:p>
            <a:r>
              <a:rPr lang="ru-RU" dirty="0"/>
              <a:t>1) я должен быть щедрым, тактичный, благородным, мужественным, самоотверженным и красивым;</a:t>
            </a:r>
          </a:p>
          <a:p>
            <a:r>
              <a:rPr lang="ru-RU" dirty="0"/>
              <a:t>2) я должен быть идеальным любовником, другом, отцом, учителем, студентом, человеком;</a:t>
            </a:r>
          </a:p>
          <a:p>
            <a:r>
              <a:rPr lang="ru-RU" dirty="0"/>
              <a:t>3) я должен справляться с проблемой легко и с полным самообладанием;</a:t>
            </a:r>
          </a:p>
          <a:p>
            <a:r>
              <a:rPr lang="ru-RU" dirty="0"/>
              <a:t>4) я должен всегда уметь быстро находить решение любой проблемы;</a:t>
            </a:r>
          </a:p>
          <a:p>
            <a:r>
              <a:rPr lang="ru-RU" dirty="0"/>
              <a:t>5) я никогда не имею права страдать; я всегда должен быть счастливым и беззаботным;</a:t>
            </a:r>
          </a:p>
          <a:p>
            <a:r>
              <a:rPr lang="ru-RU" dirty="0"/>
              <a:t>6) я должен все знать, понимать и предвидеть;</a:t>
            </a:r>
          </a:p>
          <a:p>
            <a:r>
              <a:rPr lang="ru-RU" dirty="0"/>
              <a:t>7) я должен всегда владеть собой и управлять своими чувствами;</a:t>
            </a:r>
          </a:p>
          <a:p>
            <a:r>
              <a:rPr lang="ru-RU" dirty="0"/>
              <a:t>8) я всегда должен считать ответственным (виновным) себя; я не имею права причинять боль никогда и никому;</a:t>
            </a:r>
          </a:p>
          <a:p>
            <a:r>
              <a:rPr lang="ru-RU" dirty="0"/>
              <a:t>9) я никогда не должен быть уставшим или больным;</a:t>
            </a:r>
          </a:p>
          <a:p>
            <a:r>
              <a:rPr lang="ru-RU" dirty="0"/>
              <a:t>10) я должен быть всегда на пике эффективности</a:t>
            </a:r>
          </a:p>
          <a:p>
            <a:endParaRPr lang="ru-RU" dirty="0"/>
          </a:p>
        </p:txBody>
      </p:sp>
    </p:spTree>
    <p:extLst>
      <p:ext uri="{BB962C8B-B14F-4D97-AF65-F5344CB8AC3E}">
        <p14:creationId xmlns:p14="http://schemas.microsoft.com/office/powerpoint/2010/main" val="539405574"/>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403648" y="260648"/>
            <a:ext cx="6512511" cy="1143000"/>
          </a:xfrm>
        </p:spPr>
        <p:txBody>
          <a:bodyPr>
            <a:normAutofit/>
          </a:bodyPr>
          <a:lstStyle/>
          <a:p>
            <a:pPr algn="ctr"/>
            <a:r>
              <a:rPr lang="ru-RU" sz="2800" b="1" dirty="0" smtClean="0">
                <a:solidFill>
                  <a:schemeClr val="accent1"/>
                </a:solidFill>
              </a:rPr>
              <a:t>Три </a:t>
            </a:r>
            <a:r>
              <a:rPr lang="ru-RU" sz="2800" b="1" dirty="0">
                <a:solidFill>
                  <a:schemeClr val="accent1"/>
                </a:solidFill>
              </a:rPr>
              <a:t>основных </a:t>
            </a:r>
            <a:r>
              <a:rPr lang="ru-RU" sz="2800" b="1" dirty="0" smtClean="0">
                <a:solidFill>
                  <a:schemeClr val="accent1"/>
                </a:solidFill>
              </a:rPr>
              <a:t>группы негативных </a:t>
            </a:r>
            <a:r>
              <a:rPr lang="ru-RU" sz="2800" b="1" dirty="0">
                <a:solidFill>
                  <a:schemeClr val="accent1"/>
                </a:solidFill>
              </a:rPr>
              <a:t>оценок </a:t>
            </a:r>
            <a:r>
              <a:rPr lang="ru-RU" sz="2800" b="1" dirty="0" smtClean="0">
                <a:solidFill>
                  <a:schemeClr val="accent1"/>
                </a:solidFill>
              </a:rPr>
              <a:t>по Беку</a:t>
            </a:r>
            <a:endParaRPr lang="ru-RU" sz="2800" b="1" dirty="0">
              <a:solidFill>
                <a:schemeClr val="accent1"/>
              </a:solidFill>
            </a:endParaRPr>
          </a:p>
        </p:txBody>
      </p:sp>
      <p:sp>
        <p:nvSpPr>
          <p:cNvPr id="3" name="Объект 2"/>
          <p:cNvSpPr>
            <a:spLocks noGrp="1"/>
          </p:cNvSpPr>
          <p:nvPr>
            <p:ph sz="quarter" idx="13"/>
          </p:nvPr>
        </p:nvSpPr>
        <p:spPr>
          <a:xfrm>
            <a:off x="491208" y="1321265"/>
            <a:ext cx="8229600" cy="5181988"/>
          </a:xfrm>
        </p:spPr>
        <p:txBody>
          <a:bodyPr>
            <a:normAutofit/>
          </a:bodyPr>
          <a:lstStyle/>
          <a:p>
            <a:pPr marL="0" indent="0" algn="ctr">
              <a:buNone/>
            </a:pPr>
            <a:r>
              <a:rPr lang="ru-RU" b="1" dirty="0" smtClean="0">
                <a:solidFill>
                  <a:srgbClr val="FF0000"/>
                </a:solidFill>
              </a:rPr>
              <a:t>Себя</a:t>
            </a:r>
            <a:r>
              <a:rPr lang="ru-RU" b="1" dirty="0">
                <a:solidFill>
                  <a:srgbClr val="FF0000"/>
                </a:solidFill>
              </a:rPr>
              <a:t>, окружающего </a:t>
            </a:r>
            <a:r>
              <a:rPr lang="ru-RU" b="1" dirty="0" smtClean="0">
                <a:solidFill>
                  <a:srgbClr val="FF0000"/>
                </a:solidFill>
              </a:rPr>
              <a:t>мира, своего будущего </a:t>
            </a:r>
          </a:p>
          <a:p>
            <a:r>
              <a:rPr lang="ru-RU" dirty="0" smtClean="0"/>
              <a:t>В </a:t>
            </a:r>
            <a:r>
              <a:rPr lang="ru-RU" dirty="0"/>
              <a:t>соответствии с первым компонентом триады человек считает себя неполноценным и неадекватно действующим, беззащитным и «обделенным», с многочисленными моральными и физическими недостатками, источник и причина которых кроются в нем самом.</a:t>
            </a:r>
          </a:p>
          <a:p>
            <a:r>
              <a:rPr lang="ru-RU" dirty="0"/>
              <a:t>Негативная оценка окружающего мира выражается в убеждении, что жизнь предъявляет к нему непомерные требования, что существуют непреодолимые препятствия для достижения жизненно важных целей, что мир абсолютно лишен каких бы то ни было удовольствий и радостей, а общение с окружающими людьми ничего, кроме плохого, не несет.</a:t>
            </a:r>
          </a:p>
        </p:txBody>
      </p:sp>
    </p:spTree>
    <p:extLst>
      <p:ext uri="{BB962C8B-B14F-4D97-AF65-F5344CB8AC3E}">
        <p14:creationId xmlns:p14="http://schemas.microsoft.com/office/powerpoint/2010/main" val="515269836"/>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p:txBody>
          <a:bodyPr/>
          <a:lstStyle/>
          <a:p>
            <a:pPr marL="45720" indent="0" algn="ctr">
              <a:buNone/>
            </a:pPr>
            <a:endParaRPr lang="ru-RU" dirty="0" smtClean="0"/>
          </a:p>
          <a:p>
            <a:pPr marL="45720" indent="0" algn="ctr">
              <a:buNone/>
            </a:pPr>
            <a:endParaRPr lang="ru-RU" dirty="0"/>
          </a:p>
          <a:p>
            <a:pPr marL="45720" indent="0" algn="ctr">
              <a:buNone/>
            </a:pPr>
            <a:endParaRPr lang="ru-RU" dirty="0" smtClean="0"/>
          </a:p>
          <a:p>
            <a:pPr marL="45720" indent="0" algn="ctr">
              <a:buNone/>
            </a:pPr>
            <a:endParaRPr lang="ru-RU" dirty="0"/>
          </a:p>
          <a:p>
            <a:pPr marL="45720" indent="0" algn="ctr">
              <a:buNone/>
            </a:pPr>
            <a:r>
              <a:rPr lang="ru-RU" sz="2800" dirty="0" smtClean="0"/>
              <a:t>Примеры абсолютистских убеждений и искаженного мышления/когнитивного искажения</a:t>
            </a:r>
            <a:endParaRPr lang="ru-RU" sz="2800" dirty="0"/>
          </a:p>
        </p:txBody>
      </p:sp>
    </p:spTree>
    <p:extLst>
      <p:ext uri="{BB962C8B-B14F-4D97-AF65-F5344CB8AC3E}">
        <p14:creationId xmlns:p14="http://schemas.microsoft.com/office/powerpoint/2010/main" val="95616942"/>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68152" y="188640"/>
            <a:ext cx="6512511" cy="424984"/>
          </a:xfrm>
        </p:spPr>
        <p:txBody>
          <a:bodyPr/>
          <a:lstStyle/>
          <a:p>
            <a:pPr marL="0" indent="0" algn="ctr">
              <a:buNone/>
            </a:pPr>
            <a:r>
              <a:rPr lang="ru-RU" sz="2400" dirty="0">
                <a:solidFill>
                  <a:schemeClr val="accent1"/>
                </a:solidFill>
              </a:rPr>
              <a:t>Избегающий тип личности</a:t>
            </a:r>
            <a:r>
              <a:rPr lang="ru-RU" dirty="0"/>
              <a:t/>
            </a:r>
            <a:br>
              <a:rPr lang="ru-RU" dirty="0"/>
            </a:br>
            <a:endParaRPr lang="ru-RU" dirty="0"/>
          </a:p>
        </p:txBody>
      </p:sp>
      <p:sp>
        <p:nvSpPr>
          <p:cNvPr id="3" name="Объект 2"/>
          <p:cNvSpPr>
            <a:spLocks noGrp="1"/>
          </p:cNvSpPr>
          <p:nvPr>
            <p:ph sz="quarter" idx="13"/>
          </p:nvPr>
        </p:nvSpPr>
        <p:spPr>
          <a:xfrm>
            <a:off x="539552" y="731520"/>
            <a:ext cx="8352928" cy="5937840"/>
          </a:xfrm>
        </p:spPr>
        <p:txBody>
          <a:bodyPr>
            <a:normAutofit fontScale="62500" lnSpcReduction="20000"/>
          </a:bodyPr>
          <a:lstStyle/>
          <a:p>
            <a:r>
              <a:rPr lang="ru-RU" dirty="0"/>
              <a:t>Основной конфликт: они хотели бы быть ближе к другим и соответствовать их интеллектуальному и профессиональному потенциалу, но боятся быть обиженными, отвергнутыми и потерпеть неудачу. Их стратегия (в отличие от зависимых людей) состоит в том, чтобы избегать общения или активного участия в чем-либо.</a:t>
            </a:r>
          </a:p>
          <a:p>
            <a:r>
              <a:rPr lang="ru-RU" i="1" dirty="0"/>
              <a:t>Представление о себе. </a:t>
            </a:r>
            <a:r>
              <a:rPr lang="ru-RU" dirty="0"/>
              <a:t>Они воспринимают себя как социально неприспособленных и некомпетентных в работе или учебе.</a:t>
            </a:r>
          </a:p>
          <a:p>
            <a:r>
              <a:rPr lang="ru-RU" i="1" dirty="0"/>
              <a:t>Представление о других. </a:t>
            </a:r>
            <a:r>
              <a:rPr lang="ru-RU" dirty="0"/>
              <a:t>Они воспринимают других как потенциально критически настроенных, незаинтересованных и унижающих.</a:t>
            </a:r>
          </a:p>
          <a:p>
            <a:r>
              <a:rPr lang="ru-RU" i="1" dirty="0"/>
              <a:t>Убеждения. </a:t>
            </a:r>
            <a:r>
              <a:rPr lang="ru-RU" dirty="0"/>
              <a:t>Нередко люди с этим расстройством имеют такие </a:t>
            </a:r>
            <a:r>
              <a:rPr lang="ru-RU" i="1" dirty="0">
                <a:solidFill>
                  <a:srgbClr val="FF0000"/>
                </a:solidFill>
              </a:rPr>
              <a:t>глубинные </a:t>
            </a:r>
            <a:r>
              <a:rPr lang="ru-RU" dirty="0">
                <a:solidFill>
                  <a:srgbClr val="FF0000"/>
                </a:solidFill>
              </a:rPr>
              <a:t>убеждения: «Я плохой, никчемный, непривлекательный. Я не могу терпеть неприятные чувства». Эти убеждения питают следующий (более высокий) уровень </a:t>
            </a:r>
            <a:r>
              <a:rPr lang="ru-RU" i="1" dirty="0">
                <a:solidFill>
                  <a:srgbClr val="FF0000"/>
                </a:solidFill>
              </a:rPr>
              <a:t>условных </a:t>
            </a:r>
            <a:r>
              <a:rPr lang="ru-RU" dirty="0">
                <a:solidFill>
                  <a:srgbClr val="FF0000"/>
                </a:solidFill>
              </a:rPr>
              <a:t>убеждений: «Если люди приблизятся ко мне, они обнаружат "настоящего меня" и отвергнут меня, — что будет невыносимо». Или: «Если я предприму что-либо новое и у меня это не получится, это будет катастрофой».</a:t>
            </a:r>
          </a:p>
          <a:p>
            <a:r>
              <a:rPr lang="ru-RU" dirty="0"/>
              <a:t>Следующий уровень, который определяет их поведение, состоит из </a:t>
            </a:r>
            <a:r>
              <a:rPr lang="ru-RU" i="1" dirty="0"/>
              <a:t>инструментальных </a:t>
            </a:r>
            <a:r>
              <a:rPr lang="ru-RU" dirty="0"/>
              <a:t>убеждений, или </a:t>
            </a:r>
            <a:r>
              <a:rPr lang="ru-RU" dirty="0">
                <a:solidFill>
                  <a:srgbClr val="FF0000"/>
                </a:solidFill>
              </a:rPr>
              <a:t>инструкций самому себе</a:t>
            </a:r>
            <a:r>
              <a:rPr lang="ru-RU" dirty="0"/>
              <a:t>, таких как </a:t>
            </a:r>
            <a:r>
              <a:rPr lang="ru-RU" dirty="0">
                <a:solidFill>
                  <a:srgbClr val="FF0000"/>
                </a:solidFill>
              </a:rPr>
              <a:t>«Лучше не участвовать в рискованных делах», «Я должен любой ценой избегать неприятных ситуаций», «Если я чувствую что-то неприятное или думаю об этом, я должен попытаться забыть об этом, отвлекшись или приняв дозу (спиртного, наркотика и т. д.)».</a:t>
            </a:r>
          </a:p>
          <a:p>
            <a:r>
              <a:rPr lang="ru-RU" i="1" dirty="0"/>
              <a:t>Угроза. </a:t>
            </a:r>
            <a:r>
              <a:rPr lang="ru-RU" dirty="0"/>
              <a:t>Главной угрозой представляется то, что люди будут считать их обманщиками, осудят, унизят или отвергнут.</a:t>
            </a:r>
          </a:p>
          <a:p>
            <a:r>
              <a:rPr lang="ru-RU" i="1" dirty="0"/>
              <a:t>Стратегия. </a:t>
            </a:r>
            <a:r>
              <a:rPr lang="ru-RU" dirty="0"/>
              <a:t>Их основная стратегия состоит в том, чтобы избегать ситуаций, в которых их могут оценивать. Так, они склонны держаться особняком в социальных группах и не привлекать к себе внимания. На работе они избегают новых обязанностей и продвижения по службе из-за опасения неудачи и последующих репрессий со стороны других.</a:t>
            </a:r>
          </a:p>
          <a:p>
            <a:r>
              <a:rPr lang="ru-RU" i="1" dirty="0"/>
              <a:t>Эмоции. </a:t>
            </a:r>
            <a:r>
              <a:rPr lang="ru-RU" dirty="0"/>
              <a:t>Основная эмоция — дисфория, то есть сочетание постоянной тревоги с печалью. Тревогу вызывает возможность подвергнуться критике, а печаль — отсутствие близких отношений и успехов.</a:t>
            </a:r>
          </a:p>
          <a:p>
            <a:pPr marL="45720" indent="0">
              <a:buNone/>
            </a:pPr>
            <a:endParaRPr lang="ru-RU" dirty="0"/>
          </a:p>
        </p:txBody>
      </p:sp>
    </p:spTree>
    <p:extLst>
      <p:ext uri="{BB962C8B-B14F-4D97-AF65-F5344CB8AC3E}">
        <p14:creationId xmlns:p14="http://schemas.microsoft.com/office/powerpoint/2010/main" val="1984156728"/>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81488" y="260648"/>
            <a:ext cx="6512511" cy="424984"/>
          </a:xfrm>
        </p:spPr>
        <p:txBody>
          <a:bodyPr/>
          <a:lstStyle/>
          <a:p>
            <a:pPr marL="0" indent="0" algn="ctr">
              <a:buNone/>
            </a:pPr>
            <a:r>
              <a:rPr lang="ru-RU" sz="2400" dirty="0">
                <a:solidFill>
                  <a:srgbClr val="0070C0"/>
                </a:solidFill>
              </a:rPr>
              <a:t>Зависимый тип личности</a:t>
            </a:r>
            <a:br>
              <a:rPr lang="ru-RU" sz="2400" dirty="0">
                <a:solidFill>
                  <a:srgbClr val="0070C0"/>
                </a:solidFill>
              </a:rPr>
            </a:br>
            <a:endParaRPr lang="ru-RU" sz="2400" dirty="0">
              <a:solidFill>
                <a:srgbClr val="0070C0"/>
              </a:solidFill>
            </a:endParaRPr>
          </a:p>
        </p:txBody>
      </p:sp>
      <p:sp>
        <p:nvSpPr>
          <p:cNvPr id="3" name="Объект 2"/>
          <p:cNvSpPr>
            <a:spLocks noGrp="1"/>
          </p:cNvSpPr>
          <p:nvPr>
            <p:ph sz="quarter" idx="13"/>
          </p:nvPr>
        </p:nvSpPr>
        <p:spPr>
          <a:xfrm>
            <a:off x="323528" y="685632"/>
            <a:ext cx="8424936" cy="5911720"/>
          </a:xfrm>
        </p:spPr>
        <p:txBody>
          <a:bodyPr>
            <a:normAutofit fontScale="55000" lnSpcReduction="20000"/>
          </a:bodyPr>
          <a:lstStyle/>
          <a:p>
            <a:r>
              <a:rPr lang="ru-RU" sz="2500" dirty="0"/>
              <a:t>Люди с зависимым типом личности считают себя беспомощными и поэтому пытаются привязаться к более сильному человеку, который обеспечит их средствами для выживания и счастья.</a:t>
            </a:r>
          </a:p>
          <a:p>
            <a:r>
              <a:rPr lang="ru-RU" sz="2500" i="1" dirty="0"/>
              <a:t>Представление о себе. </a:t>
            </a:r>
            <a:r>
              <a:rPr lang="ru-RU" sz="2500" dirty="0"/>
              <a:t>Они чувствуют себя нуждающимися, слабыми, беспомощными и некомпетентными.</a:t>
            </a:r>
          </a:p>
          <a:p>
            <a:r>
              <a:rPr lang="ru-RU" sz="2500" i="1" dirty="0"/>
              <a:t>Представление о других. </a:t>
            </a:r>
            <a:r>
              <a:rPr lang="ru-RU" sz="2500" dirty="0"/>
              <a:t>Они идеализируют образ сильного «опекуна», воспринимая его как заботливого, благосклонного и компетентного. </a:t>
            </a:r>
          </a:p>
          <a:p>
            <a:r>
              <a:rPr lang="ru-RU" sz="2500" dirty="0"/>
              <a:t>В терминах иерархии убеждений, </a:t>
            </a:r>
            <a:r>
              <a:rPr lang="ru-RU" sz="2500" i="1" dirty="0">
                <a:solidFill>
                  <a:srgbClr val="FF0000"/>
                </a:solidFill>
              </a:rPr>
              <a:t>Убеждения. </a:t>
            </a:r>
            <a:r>
              <a:rPr lang="ru-RU" sz="2500" dirty="0">
                <a:solidFill>
                  <a:srgbClr val="FF0000"/>
                </a:solidFill>
              </a:rPr>
              <a:t>«Я нуждаюсь в других людях — а именно в сильном человеке, — чтобы остаться в живых». Более того, они уверены, что их счастье зависит от наличия такого человека. Они полагают, что нуждаются в устойчивом, непрерывном потоке поддержки и поощрения. «Я не могу жить без мужчины». Или: «Я не могу быть счастлива, если меня не любят». Их </a:t>
            </a:r>
            <a:r>
              <a:rPr lang="ru-RU" sz="2500" i="1" dirty="0">
                <a:solidFill>
                  <a:srgbClr val="FF0000"/>
                </a:solidFill>
              </a:rPr>
              <a:t>глубинным </a:t>
            </a:r>
            <a:r>
              <a:rPr lang="ru-RU" sz="2500" dirty="0">
                <a:solidFill>
                  <a:srgbClr val="FF0000"/>
                </a:solidFill>
              </a:rPr>
              <a:t>убеждением, вероятно, будет следующее: «Я абсолютно беспомощен» или: «Я в полном одиночестве». </a:t>
            </a:r>
          </a:p>
          <a:p>
            <a:r>
              <a:rPr lang="ru-RU" sz="2500" dirty="0"/>
              <a:t>Их </a:t>
            </a:r>
            <a:r>
              <a:rPr lang="ru-RU" sz="2500" i="1" dirty="0"/>
              <a:t>условные </a:t>
            </a:r>
            <a:r>
              <a:rPr lang="ru-RU" sz="2500" dirty="0"/>
              <a:t>убеждения таковы: «Я могу нормально жить, только если рядом со мной есть кто-то компетентный», «Если меня бросят, я умру», «Если меня не будут любить, я всегда буду несчастен». </a:t>
            </a:r>
          </a:p>
          <a:p>
            <a:r>
              <a:rPr lang="ru-RU" sz="2500" i="1" dirty="0">
                <a:solidFill>
                  <a:srgbClr val="FF0000"/>
                </a:solidFill>
              </a:rPr>
              <a:t>Инструментальный </a:t>
            </a:r>
            <a:r>
              <a:rPr lang="ru-RU" sz="2500" dirty="0">
                <a:solidFill>
                  <a:srgbClr val="FF0000"/>
                </a:solidFill>
              </a:rPr>
              <a:t>уровень состоит из императивов типа «Не обижай опекуна», «Держись к нему ближе», «Поддерживай как можно более близкие отношения», «Будь зависимым, чтобы связать его или ее».</a:t>
            </a:r>
          </a:p>
          <a:p>
            <a:r>
              <a:rPr lang="ru-RU" sz="2500" i="1" dirty="0"/>
              <a:t>Угроза. </a:t>
            </a:r>
            <a:r>
              <a:rPr lang="ru-RU" sz="2500" dirty="0"/>
              <a:t>Главная угроза или травма связана с отвержением или отказом.</a:t>
            </a:r>
          </a:p>
          <a:p>
            <a:r>
              <a:rPr lang="ru-RU" sz="2500" i="1" dirty="0"/>
              <a:t>Стратегия. </a:t>
            </a:r>
            <a:r>
              <a:rPr lang="ru-RU" sz="2500" dirty="0"/>
              <a:t>Их основная стратегия состоит в том, чтобы культивировать зависимые отношения. Они часто будут делать это, подчиняясь «сильному» человеку и пытаясь успокоить этого человека или угодить ему.</a:t>
            </a:r>
          </a:p>
          <a:p>
            <a:r>
              <a:rPr lang="ru-RU" sz="2500" i="1" dirty="0"/>
              <a:t>Эмоции. </a:t>
            </a:r>
            <a:r>
              <a:rPr lang="ru-RU" sz="2500" dirty="0"/>
              <a:t>Их главным аффектом является тревога — беспокойство по поводу возможного разрыва зависимых отношений. Если человек, от которого они зависят, исчезает, они могут погрузиться в депрессию. С другой стороны, они испытывают радость или эйфорию, когда их зависимые желания удовлетворены.</a:t>
            </a:r>
          </a:p>
          <a:p>
            <a:endParaRPr lang="ru-RU" dirty="0"/>
          </a:p>
        </p:txBody>
      </p:sp>
    </p:spTree>
    <p:extLst>
      <p:ext uri="{BB962C8B-B14F-4D97-AF65-F5344CB8AC3E}">
        <p14:creationId xmlns:p14="http://schemas.microsoft.com/office/powerpoint/2010/main" val="84911469"/>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79740" y="246538"/>
            <a:ext cx="6512511" cy="496992"/>
          </a:xfrm>
        </p:spPr>
        <p:txBody>
          <a:bodyPr/>
          <a:lstStyle/>
          <a:p>
            <a:pPr marL="0" indent="0">
              <a:buNone/>
            </a:pPr>
            <a:r>
              <a:rPr lang="ru-RU" sz="2400" dirty="0">
                <a:solidFill>
                  <a:srgbClr val="0070C0"/>
                </a:solidFill>
              </a:rPr>
              <a:t>Обсессивно-</a:t>
            </a:r>
            <a:r>
              <a:rPr lang="ru-RU" sz="2400" dirty="0" err="1">
                <a:solidFill>
                  <a:srgbClr val="0070C0"/>
                </a:solidFill>
              </a:rPr>
              <a:t>компульсивный</a:t>
            </a:r>
            <a:r>
              <a:rPr lang="ru-RU" sz="2400" dirty="0">
                <a:solidFill>
                  <a:srgbClr val="0070C0"/>
                </a:solidFill>
              </a:rPr>
              <a:t> тип личности</a:t>
            </a:r>
            <a:r>
              <a:rPr lang="ru-RU" dirty="0"/>
              <a:t/>
            </a:r>
            <a:br>
              <a:rPr lang="ru-RU" dirty="0"/>
            </a:br>
            <a:endParaRPr lang="ru-RU" dirty="0"/>
          </a:p>
        </p:txBody>
      </p:sp>
      <p:sp>
        <p:nvSpPr>
          <p:cNvPr id="3" name="Объект 2"/>
          <p:cNvSpPr>
            <a:spLocks noGrp="1"/>
          </p:cNvSpPr>
          <p:nvPr>
            <p:ph sz="quarter" idx="13"/>
          </p:nvPr>
        </p:nvSpPr>
        <p:spPr>
          <a:xfrm>
            <a:off x="107504" y="743530"/>
            <a:ext cx="9036496" cy="6645910"/>
          </a:xfrm>
        </p:spPr>
        <p:txBody>
          <a:bodyPr>
            <a:normAutofit fontScale="47500" lnSpcReduction="20000"/>
          </a:bodyPr>
          <a:lstStyle/>
          <a:p>
            <a:r>
              <a:rPr lang="ru-RU" sz="2900" dirty="0"/>
              <a:t>Ключевые слова для обсессивно-</a:t>
            </a:r>
            <a:r>
              <a:rPr lang="ru-RU" sz="2900" dirty="0" err="1"/>
              <a:t>компульсивных</a:t>
            </a:r>
            <a:r>
              <a:rPr lang="ru-RU" sz="2900" dirty="0"/>
              <a:t> личностей — «</a:t>
            </a:r>
            <a:r>
              <a:rPr lang="ru-RU" sz="2900" dirty="0">
                <a:solidFill>
                  <a:srgbClr val="FF0000"/>
                </a:solidFill>
              </a:rPr>
              <a:t>контроль» и «должен</a:t>
            </a:r>
            <a:r>
              <a:rPr lang="ru-RU" sz="2900" dirty="0"/>
              <a:t>». Эти люди так тщательно выбирают средства, необходимые для достижения цели, что средства сами по себе становятся целью.</a:t>
            </a:r>
          </a:p>
          <a:p>
            <a:r>
              <a:rPr lang="ru-RU" sz="2900" i="1" dirty="0"/>
              <a:t>Представление о себе. </a:t>
            </a:r>
            <a:r>
              <a:rPr lang="ru-RU" sz="2900" dirty="0"/>
              <a:t>Они считают себя ответственными за себя и за других. По их мнению, для достижения своих целей они должны полагаться на себя. Они ответственны перед собственной </a:t>
            </a:r>
            <a:r>
              <a:rPr lang="ru-RU" sz="2900" dirty="0" err="1"/>
              <a:t>перфекционистской</a:t>
            </a:r>
            <a:r>
              <a:rPr lang="ru-RU" sz="2900" dirty="0"/>
              <a:t> совестью. </a:t>
            </a:r>
          </a:p>
          <a:p>
            <a:r>
              <a:rPr lang="ru-RU" sz="2900" i="1" dirty="0"/>
              <a:t>Представление о других. </a:t>
            </a:r>
            <a:r>
              <a:rPr lang="ru-RU" sz="2900" dirty="0"/>
              <a:t>Они воспринимают других как слишком легкомысленных, безответственных, потакающих своим желаниям или некомпетентных. Они щедро применяют слово «должен» к другим</a:t>
            </a:r>
          </a:p>
          <a:p>
            <a:r>
              <a:rPr lang="ru-RU" sz="2900" i="1" dirty="0">
                <a:solidFill>
                  <a:srgbClr val="FF0000"/>
                </a:solidFill>
              </a:rPr>
              <a:t>Убеждения. </a:t>
            </a:r>
            <a:r>
              <a:rPr lang="ru-RU" sz="2900" dirty="0">
                <a:solidFill>
                  <a:srgbClr val="FF0000"/>
                </a:solidFill>
              </a:rPr>
              <a:t>«Мне нужны порядок, системы и правила, чтобы выжить». </a:t>
            </a:r>
          </a:p>
          <a:p>
            <a:r>
              <a:rPr lang="ru-RU" sz="2900" dirty="0"/>
              <a:t>Их </a:t>
            </a:r>
            <a:r>
              <a:rPr lang="ru-RU" sz="2900" i="1" dirty="0"/>
              <a:t>условные </a:t>
            </a:r>
            <a:r>
              <a:rPr lang="ru-RU" sz="2900" dirty="0"/>
              <a:t>убеждения: «Если я не буду иметь систем, все развалится», «Любой недостаток или дефект в работе приведет к обвалу», «Если я или другие не будут делать работу в соответствии с самыми высокими стандартами, мы потерпим неудачу», «Если мне не удастся этого сделать, я неудачник».</a:t>
            </a:r>
          </a:p>
          <a:p>
            <a:r>
              <a:rPr lang="ru-RU" sz="2900" dirty="0">
                <a:solidFill>
                  <a:srgbClr val="FF0000"/>
                </a:solidFill>
              </a:rPr>
              <a:t>Их </a:t>
            </a:r>
            <a:r>
              <a:rPr lang="ru-RU" sz="2900" i="1" dirty="0">
                <a:solidFill>
                  <a:srgbClr val="FF0000"/>
                </a:solidFill>
              </a:rPr>
              <a:t>инструментальными </a:t>
            </a:r>
            <a:r>
              <a:rPr lang="ru-RU" sz="2900" dirty="0">
                <a:solidFill>
                  <a:srgbClr val="FF0000"/>
                </a:solidFill>
              </a:rPr>
              <a:t>убеждениями являются императивы: «Я должен управлять ситуацией», «Я должен делать все только правильно», «Я знаю, что лучше всего», «Вы должны делать это по-моему», «Детали крайне важны», «Люди </a:t>
            </a:r>
            <a:r>
              <a:rPr lang="ru-RU" sz="2900" i="1" dirty="0">
                <a:solidFill>
                  <a:srgbClr val="FF0000"/>
                </a:solidFill>
              </a:rPr>
              <a:t>должны </a:t>
            </a:r>
            <a:r>
              <a:rPr lang="ru-RU" sz="2900" dirty="0">
                <a:solidFill>
                  <a:srgbClr val="FF0000"/>
                </a:solidFill>
              </a:rPr>
              <a:t>работать лучше и больше стараться», «Я все время должен подгонять себя (и других)», «Людей нужно критиковать, чтобы предотвратить ошибки в будущем». </a:t>
            </a:r>
          </a:p>
          <a:p>
            <a:r>
              <a:rPr lang="ru-RU" sz="2900" i="1" dirty="0"/>
              <a:t>Угрозы. </a:t>
            </a:r>
            <a:r>
              <a:rPr lang="ru-RU" sz="2900" dirty="0"/>
              <a:t>Главные угрозы — упущения, ошибки, дезорганизация или несовершенство. Они склонны к «катастрофическим» мыслям, что «ситуация выйдет из-под контроля» или что они «не справятся с делом».</a:t>
            </a:r>
          </a:p>
          <a:p>
            <a:r>
              <a:rPr lang="ru-RU" sz="2900" i="1" dirty="0"/>
              <a:t>Стратегия. </a:t>
            </a:r>
            <a:r>
              <a:rPr lang="ru-RU" sz="2900" dirty="0"/>
              <a:t>Их стратегия связана с системами правил, стандартов и представлений о том, что они «должны» делать. Применяя правила, они оценивают работу других так же, как собственную. Они пытаются установить максимальный контроль над собственным поведением и поведением других людей, связанным с достижением их целей. Они пытаются контролировать свое поведение с помощью различных «должен» и самокритики, а поведение других людей с помощью чрезмерного управления либо неодобрения и наказания</a:t>
            </a:r>
          </a:p>
          <a:p>
            <a:r>
              <a:rPr lang="ru-RU" sz="2900" i="1" dirty="0"/>
              <a:t>Эмоции. </a:t>
            </a:r>
            <a:r>
              <a:rPr lang="ru-RU" sz="2900" dirty="0"/>
              <a:t>Из-за своих </a:t>
            </a:r>
            <a:r>
              <a:rPr lang="ru-RU" sz="2900" dirty="0" err="1"/>
              <a:t>перфекционистских</a:t>
            </a:r>
            <a:r>
              <a:rPr lang="ru-RU" sz="2900" dirty="0"/>
              <a:t> стандартов эти люди особенно склонны к сожалениям, разочарованию и наказанию себя и других. Реакцией на их предчувствие несоответствующего стандартам </a:t>
            </a:r>
            <a:r>
              <a:rPr lang="ru-RU" sz="2700" dirty="0"/>
              <a:t>выполнения работы является тревога. Когда случается серьезная «неудача», у них может начаться депрессия.</a:t>
            </a:r>
          </a:p>
          <a:p>
            <a:pPr marL="45720" indent="0">
              <a:buNone/>
            </a:pPr>
            <a:endParaRPr lang="ru-RU" dirty="0"/>
          </a:p>
        </p:txBody>
      </p:sp>
    </p:spTree>
    <p:extLst>
      <p:ext uri="{BB962C8B-B14F-4D97-AF65-F5344CB8AC3E}">
        <p14:creationId xmlns:p14="http://schemas.microsoft.com/office/powerpoint/2010/main" val="686709750"/>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11560" y="260648"/>
            <a:ext cx="8229600" cy="648072"/>
          </a:xfrm>
        </p:spPr>
        <p:txBody>
          <a:bodyPr>
            <a:noAutofit/>
          </a:bodyPr>
          <a:lstStyle/>
          <a:p>
            <a:pPr marL="0" indent="0" algn="ctr">
              <a:buNone/>
            </a:pPr>
            <a:r>
              <a:rPr lang="ru-RU" sz="2400" b="1" dirty="0">
                <a:solidFill>
                  <a:schemeClr val="accent1"/>
                </a:solidFill>
              </a:rPr>
              <a:t>Основные приемы в работе с убеждениями</a:t>
            </a:r>
            <a:r>
              <a:rPr lang="ru-RU" sz="2400" dirty="0">
                <a:solidFill>
                  <a:schemeClr val="accent1"/>
                </a:solidFill>
              </a:rPr>
              <a:t/>
            </a:r>
            <a:br>
              <a:rPr lang="ru-RU" sz="2400" dirty="0">
                <a:solidFill>
                  <a:schemeClr val="accent1"/>
                </a:solidFill>
              </a:rPr>
            </a:br>
            <a:endParaRPr lang="ru-RU" sz="2400" dirty="0">
              <a:solidFill>
                <a:schemeClr val="accent1"/>
              </a:solidFill>
            </a:endParaRPr>
          </a:p>
        </p:txBody>
      </p:sp>
      <p:sp>
        <p:nvSpPr>
          <p:cNvPr id="3" name="Объект 2"/>
          <p:cNvSpPr>
            <a:spLocks noGrp="1"/>
          </p:cNvSpPr>
          <p:nvPr>
            <p:ph sz="quarter" idx="13"/>
          </p:nvPr>
        </p:nvSpPr>
        <p:spPr>
          <a:xfrm>
            <a:off x="467544" y="836712"/>
            <a:ext cx="8229600" cy="5832648"/>
          </a:xfrm>
        </p:spPr>
        <p:txBody>
          <a:bodyPr>
            <a:noAutofit/>
          </a:bodyPr>
          <a:lstStyle/>
          <a:p>
            <a:r>
              <a:rPr lang="ru-RU" sz="2200" b="1" dirty="0">
                <a:solidFill>
                  <a:srgbClr val="0070C0"/>
                </a:solidFill>
              </a:rPr>
              <a:t>1</a:t>
            </a:r>
            <a:r>
              <a:rPr lang="ru-RU" b="1" dirty="0">
                <a:solidFill>
                  <a:srgbClr val="0070C0"/>
                </a:solidFill>
              </a:rPr>
              <a:t>. Идентифицировать абсолютистские, неэффективные, мешающие убеждения</a:t>
            </a:r>
            <a:r>
              <a:rPr lang="ru-RU" dirty="0"/>
              <a:t>. «Какие убеждения стоят за неэффективным отношением/поведением?»</a:t>
            </a:r>
          </a:p>
          <a:p>
            <a:pPr marL="45720" indent="0">
              <a:buNone/>
            </a:pPr>
            <a:r>
              <a:rPr lang="ru-RU" dirty="0"/>
              <a:t>«Уверены ли вы на 100% в том, что….?</a:t>
            </a:r>
          </a:p>
          <a:p>
            <a:pPr marL="45720" indent="0">
              <a:buNone/>
            </a:pPr>
            <a:r>
              <a:rPr lang="ru-RU" dirty="0"/>
              <a:t>Что можно сделать с этим убеждением (просто поисследовать, оставить как есть, трансформировать…)? Что вы выбираете?»</a:t>
            </a:r>
          </a:p>
          <a:p>
            <a:pPr marL="45720" indent="0">
              <a:buNone/>
            </a:pPr>
            <a:r>
              <a:rPr lang="ru-RU" dirty="0"/>
              <a:t>_________</a:t>
            </a:r>
          </a:p>
          <a:p>
            <a:r>
              <a:rPr lang="ru-RU" b="1" dirty="0">
                <a:solidFill>
                  <a:srgbClr val="0070C0"/>
                </a:solidFill>
              </a:rPr>
              <a:t>2. Проверка на объективность </a:t>
            </a:r>
            <a:r>
              <a:rPr lang="ru-RU" dirty="0"/>
              <a:t>«Базируется ли этот взгляд на объективной реальности? Какие есть реальные подтверждения/доказательства? Сколько  было этих подтверждений в прошлом? Есть ли они сейчас? Насколько их много? А есть ли доказательства противоположного?»</a:t>
            </a:r>
          </a:p>
          <a:p>
            <a:pPr marL="45720" indent="0">
              <a:buNone/>
            </a:pPr>
            <a:r>
              <a:rPr lang="ru-RU" dirty="0"/>
              <a:t>!!! Задача - снизить абсолютизацию данного убеждения.</a:t>
            </a:r>
          </a:p>
          <a:p>
            <a:endParaRPr lang="ru-RU" dirty="0"/>
          </a:p>
          <a:p>
            <a:pPr marL="45720" indent="0">
              <a:buNone/>
            </a:pPr>
            <a:endParaRPr lang="ru-RU" dirty="0"/>
          </a:p>
          <a:p>
            <a:endParaRPr lang="ru-RU" sz="2000" dirty="0"/>
          </a:p>
        </p:txBody>
      </p:sp>
    </p:spTree>
    <p:extLst>
      <p:ext uri="{BB962C8B-B14F-4D97-AF65-F5344CB8AC3E}">
        <p14:creationId xmlns:p14="http://schemas.microsoft.com/office/powerpoint/2010/main" val="4112268761"/>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88640"/>
            <a:ext cx="8229600" cy="792088"/>
          </a:xfrm>
        </p:spPr>
        <p:txBody>
          <a:bodyPr>
            <a:normAutofit fontScale="90000"/>
          </a:bodyPr>
          <a:lstStyle/>
          <a:p>
            <a:pPr marL="0" indent="0" algn="ctr">
              <a:buNone/>
            </a:pPr>
            <a:r>
              <a:rPr lang="ru-RU" sz="2800" b="1" dirty="0">
                <a:solidFill>
                  <a:schemeClr val="accent1"/>
                </a:solidFill>
              </a:rPr>
              <a:t>Основные приемы в работе с убеждениями</a:t>
            </a:r>
            <a:r>
              <a:rPr lang="ru-RU" sz="2800" dirty="0">
                <a:solidFill>
                  <a:schemeClr val="accent1"/>
                </a:solidFill>
              </a:rPr>
              <a:t/>
            </a:r>
            <a:br>
              <a:rPr lang="ru-RU" sz="2800" dirty="0">
                <a:solidFill>
                  <a:schemeClr val="accent1"/>
                </a:solidFill>
              </a:rPr>
            </a:br>
            <a:endParaRPr lang="ru-RU" sz="2800" dirty="0">
              <a:solidFill>
                <a:schemeClr val="accent1"/>
              </a:solidFill>
            </a:endParaRPr>
          </a:p>
        </p:txBody>
      </p:sp>
      <p:sp>
        <p:nvSpPr>
          <p:cNvPr id="3" name="Объект 2"/>
          <p:cNvSpPr>
            <a:spLocks noGrp="1"/>
          </p:cNvSpPr>
          <p:nvPr>
            <p:ph sz="quarter" idx="13"/>
          </p:nvPr>
        </p:nvSpPr>
        <p:spPr>
          <a:xfrm>
            <a:off x="395536" y="764704"/>
            <a:ext cx="8424936" cy="5976664"/>
          </a:xfrm>
        </p:spPr>
        <p:txBody>
          <a:bodyPr>
            <a:normAutofit fontScale="85000" lnSpcReduction="20000"/>
          </a:bodyPr>
          <a:lstStyle/>
          <a:p>
            <a:r>
              <a:rPr lang="ru-RU" b="1" dirty="0">
                <a:solidFill>
                  <a:srgbClr val="0070C0"/>
                </a:solidFill>
              </a:rPr>
              <a:t>3. Произвести </a:t>
            </a:r>
            <a:r>
              <a:rPr lang="ru-RU" b="1" dirty="0" err="1">
                <a:solidFill>
                  <a:srgbClr val="0070C0"/>
                </a:solidFill>
              </a:rPr>
              <a:t>декатастрофизацию</a:t>
            </a:r>
            <a:r>
              <a:rPr lang="ru-RU" b="1" dirty="0">
                <a:solidFill>
                  <a:srgbClr val="0070C0"/>
                </a:solidFill>
              </a:rPr>
              <a:t> </a:t>
            </a:r>
            <a:r>
              <a:rPr lang="ru-RU" b="1" dirty="0"/>
              <a:t>– </a:t>
            </a:r>
            <a:r>
              <a:rPr lang="ru-RU" dirty="0"/>
              <a:t>представить</a:t>
            </a:r>
            <a:r>
              <a:rPr lang="ru-RU" b="1" dirty="0"/>
              <a:t> </a:t>
            </a:r>
            <a:r>
              <a:rPr lang="ru-RU" dirty="0"/>
              <a:t>самое худшее последствие. </a:t>
            </a:r>
          </a:p>
          <a:p>
            <a:pPr marL="45720" indent="0">
              <a:buNone/>
            </a:pPr>
            <a:r>
              <a:rPr lang="ru-RU" dirty="0"/>
              <a:t>!!! Задача - снизить абсолютизацию данного убеждения.</a:t>
            </a:r>
          </a:p>
          <a:p>
            <a:r>
              <a:rPr lang="ru-RU" dirty="0"/>
              <a:t>«Представьте себе самый ужасный вариант развития событий». Примеры: потеря работы, репутации, развод, смерть и т.д. Насколько это плохо? Что самое худшее может произойти? Как мне с этим справиться?</a:t>
            </a:r>
          </a:p>
          <a:p>
            <a:pPr marL="45720" indent="0">
              <a:buNone/>
            </a:pPr>
            <a:r>
              <a:rPr lang="ru-RU" dirty="0"/>
              <a:t>Можно ли иначе взглянуть на ситуацию? ЧТО В ЭТОМ ЕСТЬ ХОРОШЕГО? </a:t>
            </a:r>
          </a:p>
          <a:p>
            <a:endParaRPr lang="ru-RU" dirty="0"/>
          </a:p>
          <a:p>
            <a:r>
              <a:rPr lang="ru-RU" dirty="0"/>
              <a:t>4</a:t>
            </a:r>
            <a:r>
              <a:rPr lang="ru-RU" dirty="0">
                <a:solidFill>
                  <a:srgbClr val="0070C0"/>
                </a:solidFill>
              </a:rPr>
              <a:t>. П</a:t>
            </a:r>
            <a:r>
              <a:rPr lang="ru-RU" b="1" dirty="0">
                <a:solidFill>
                  <a:srgbClr val="0070C0"/>
                </a:solidFill>
              </a:rPr>
              <a:t>роизвести трансформацию убеждений</a:t>
            </a:r>
            <a:endParaRPr lang="ru-RU" dirty="0">
              <a:solidFill>
                <a:srgbClr val="0070C0"/>
              </a:solidFill>
            </a:endParaRPr>
          </a:p>
          <a:p>
            <a:pPr marL="45720" indent="0">
              <a:buNone/>
            </a:pPr>
            <a:r>
              <a:rPr lang="ru-RU" dirty="0"/>
              <a:t>«И тогда какие новые убеждения можно сформировать? Как они будут звучать?» </a:t>
            </a:r>
          </a:p>
          <a:p>
            <a:endParaRPr lang="ru-RU" dirty="0"/>
          </a:p>
          <a:p>
            <a:r>
              <a:rPr lang="ru-RU" b="1" i="1" dirty="0">
                <a:solidFill>
                  <a:srgbClr val="0070C0"/>
                </a:solidFill>
              </a:rPr>
              <a:t>5. </a:t>
            </a:r>
            <a:r>
              <a:rPr lang="ru-RU" b="1" dirty="0">
                <a:solidFill>
                  <a:srgbClr val="0070C0"/>
                </a:solidFill>
              </a:rPr>
              <a:t>Произвести проверку убеждения на эффективность</a:t>
            </a:r>
            <a:endParaRPr lang="ru-RU" dirty="0">
              <a:solidFill>
                <a:srgbClr val="0070C0"/>
              </a:solidFill>
            </a:endParaRPr>
          </a:p>
          <a:p>
            <a:pPr marL="45720" indent="0">
              <a:buNone/>
            </a:pPr>
            <a:r>
              <a:rPr lang="ru-RU" dirty="0"/>
              <a:t>«Насколько новые убеждения вам помогут? </a:t>
            </a:r>
          </a:p>
          <a:p>
            <a:pPr marL="45720" indent="0">
              <a:buNone/>
            </a:pPr>
            <a:r>
              <a:rPr lang="ru-RU" dirty="0"/>
              <a:t>Способствует ли этот взгляд духовному росту, физическому и эмоциональному здоровью?</a:t>
            </a:r>
          </a:p>
          <a:p>
            <a:pPr marL="45720" indent="0">
              <a:buNone/>
            </a:pPr>
            <a:r>
              <a:rPr lang="ru-RU" dirty="0"/>
              <a:t>Как вы можете их поддерживать, не терять из виду, опираться на них каждый день?» </a:t>
            </a:r>
          </a:p>
          <a:p>
            <a:endParaRPr lang="ru-RU" dirty="0"/>
          </a:p>
        </p:txBody>
      </p:sp>
    </p:spTree>
    <p:extLst>
      <p:ext uri="{BB962C8B-B14F-4D97-AF65-F5344CB8AC3E}">
        <p14:creationId xmlns:p14="http://schemas.microsoft.com/office/powerpoint/2010/main" val="212954089"/>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99592" y="620688"/>
            <a:ext cx="6512511" cy="1143000"/>
          </a:xfrm>
        </p:spPr>
        <p:txBody>
          <a:bodyPr/>
          <a:lstStyle/>
          <a:p>
            <a:pPr marL="0" indent="0" algn="ctr">
              <a:buNone/>
            </a:pPr>
            <a:r>
              <a:rPr lang="ru-RU" sz="2400" dirty="0">
                <a:solidFill>
                  <a:srgbClr val="0070C0"/>
                </a:solidFill>
              </a:rPr>
              <a:t>Общий подход в работе с задачами/проблемами в поведенческом подходе</a:t>
            </a:r>
          </a:p>
        </p:txBody>
      </p:sp>
      <p:sp>
        <p:nvSpPr>
          <p:cNvPr id="3" name="Объект 2"/>
          <p:cNvSpPr>
            <a:spLocks noGrp="1"/>
          </p:cNvSpPr>
          <p:nvPr>
            <p:ph sz="quarter" idx="13"/>
          </p:nvPr>
        </p:nvSpPr>
        <p:spPr>
          <a:xfrm>
            <a:off x="1331640" y="1763688"/>
            <a:ext cx="6400800" cy="3474720"/>
          </a:xfrm>
        </p:spPr>
        <p:txBody>
          <a:bodyPr>
            <a:normAutofit/>
          </a:bodyPr>
          <a:lstStyle/>
          <a:p>
            <a:r>
              <a:rPr lang="ru-RU" dirty="0"/>
              <a:t> </a:t>
            </a:r>
            <a:r>
              <a:rPr lang="ru-RU" dirty="0">
                <a:solidFill>
                  <a:srgbClr val="FF0000"/>
                </a:solidFill>
              </a:rPr>
              <a:t>Чаще всего — это замена абсолютистских требований («должен» и «обязан») на рациональные относительные предпочтения в данной конкретной ситуации. </a:t>
            </a:r>
          </a:p>
          <a:p>
            <a:r>
              <a:rPr lang="ru-RU" dirty="0">
                <a:solidFill>
                  <a:srgbClr val="FF0000"/>
                </a:solidFill>
              </a:rPr>
              <a:t>В общем — это принятие гибкой установки по отношению к жизненным событиям в целом.</a:t>
            </a:r>
          </a:p>
          <a:p>
            <a:endParaRPr lang="ru-RU" dirty="0"/>
          </a:p>
        </p:txBody>
      </p:sp>
    </p:spTree>
    <p:extLst>
      <p:ext uri="{BB962C8B-B14F-4D97-AF65-F5344CB8AC3E}">
        <p14:creationId xmlns:p14="http://schemas.microsoft.com/office/powerpoint/2010/main" val="2425817309"/>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59632" y="188640"/>
            <a:ext cx="6512511" cy="424984"/>
          </a:xfrm>
        </p:spPr>
        <p:txBody>
          <a:bodyPr/>
          <a:lstStyle/>
          <a:p>
            <a:pPr marL="0" indent="0" algn="ctr">
              <a:buNone/>
            </a:pPr>
            <a:r>
              <a:rPr lang="ru-RU" sz="2000" dirty="0">
                <a:solidFill>
                  <a:srgbClr val="0070C0"/>
                </a:solidFill>
              </a:rPr>
              <a:t>Техника «Музей старых убеждений»</a:t>
            </a:r>
            <a:r>
              <a:rPr lang="ru-RU" dirty="0"/>
              <a:t/>
            </a:r>
            <a:br>
              <a:rPr lang="ru-RU" dirty="0"/>
            </a:br>
            <a:endParaRPr lang="ru-RU" dirty="0"/>
          </a:p>
        </p:txBody>
      </p:sp>
      <p:sp>
        <p:nvSpPr>
          <p:cNvPr id="3" name="Объект 2"/>
          <p:cNvSpPr>
            <a:spLocks noGrp="1"/>
          </p:cNvSpPr>
          <p:nvPr>
            <p:ph sz="quarter" idx="13"/>
          </p:nvPr>
        </p:nvSpPr>
        <p:spPr>
          <a:xfrm>
            <a:off x="251520" y="620688"/>
            <a:ext cx="8784976" cy="6237312"/>
          </a:xfrm>
        </p:spPr>
        <p:txBody>
          <a:bodyPr>
            <a:normAutofit fontScale="55000" lnSpcReduction="20000"/>
          </a:bodyPr>
          <a:lstStyle/>
          <a:p>
            <a:pPr marL="45720" indent="0">
              <a:buNone/>
            </a:pPr>
            <a:r>
              <a:rPr lang="ru-RU" sz="2500" dirty="0"/>
              <a:t>1. Найти неэффективное убеждение.  Например, это могут быть: </a:t>
            </a:r>
          </a:p>
          <a:p>
            <a:pPr marL="45720" indent="0">
              <a:buNone/>
            </a:pPr>
            <a:r>
              <a:rPr lang="ru-RU" sz="2500" dirty="0"/>
              <a:t>1. Я не достоин любви. 2. Мне трудно найти хорошую работу. 3. Меня никто не уважает.</a:t>
            </a:r>
            <a:br>
              <a:rPr lang="ru-RU" sz="2500" dirty="0"/>
            </a:br>
            <a:endParaRPr lang="ru-RU" sz="2500" dirty="0"/>
          </a:p>
          <a:p>
            <a:pPr marL="45720" indent="0">
              <a:buNone/>
            </a:pPr>
            <a:r>
              <a:rPr lang="ru-RU" sz="2500" dirty="0"/>
              <a:t>2. Найдите место на полу рядом с собой, где бы вы хотели разместить Музей Старых Убеждений. Поместите в эту область те старые убеждения, которые вы нашли на предыдущем шаге. </a:t>
            </a:r>
          </a:p>
          <a:p>
            <a:pPr marL="45720" indent="0">
              <a:buNone/>
            </a:pPr>
            <a:r>
              <a:rPr lang="ru-RU" sz="2500" dirty="0"/>
              <a:t/>
            </a:r>
            <a:br>
              <a:rPr lang="ru-RU" sz="2500" dirty="0"/>
            </a:br>
            <a:r>
              <a:rPr lang="ru-RU" sz="2500" dirty="0"/>
              <a:t>Посмотрите на это место со стороны. Что в вас откликается, какие чувства? Есть ли чувство сожаления? Готовы ли вы расстаться со старым убеждением/убеждениями?</a:t>
            </a:r>
            <a:br>
              <a:rPr lang="ru-RU" sz="2500" dirty="0"/>
            </a:br>
            <a:r>
              <a:rPr lang="ru-RU" sz="2500" dirty="0"/>
              <a:t/>
            </a:r>
            <a:br>
              <a:rPr lang="ru-RU" sz="2500" dirty="0"/>
            </a:br>
            <a:r>
              <a:rPr lang="ru-RU" sz="2500" dirty="0"/>
              <a:t>3. Подумайте о каком-то полезном для вас убеждении, в которое вы верите совершенно твердо. Может быть, это вера в то, что " все будет хорошо" или что вы "сможете справиться с любой проблемой".</a:t>
            </a:r>
            <a:br>
              <a:rPr lang="ru-RU" sz="2500" dirty="0"/>
            </a:br>
            <a:r>
              <a:rPr lang="ru-RU" sz="2500" dirty="0"/>
              <a:t/>
            </a:r>
            <a:br>
              <a:rPr lang="ru-RU" sz="2500" dirty="0"/>
            </a:br>
            <a:r>
              <a:rPr lang="ru-RU" sz="2500" dirty="0"/>
              <a:t>4. Место Новых Убеждений.</a:t>
            </a:r>
            <a:br>
              <a:rPr lang="ru-RU" sz="2500" dirty="0"/>
            </a:br>
            <a:r>
              <a:rPr lang="ru-RU" sz="2500" dirty="0"/>
              <a:t>Определите место на полу перед собой, где Вам удобнее расположить место Новых Убеждений. Положите туда свою твердую веру, а так же те новые убеждения, которые вы считаете для себя полезными (и хотите, чтобы они у вас были). Например, это могут быть: </a:t>
            </a:r>
          </a:p>
          <a:p>
            <a:pPr marL="45720" indent="0">
              <a:buNone/>
            </a:pPr>
            <a:r>
              <a:rPr lang="ru-RU" sz="2500" dirty="0"/>
              <a:t>1. Я способен справиться с любой трудностью. 2. Я могу быть таким, каким захочу. 3. Я могу сам менять собственную жизнь.</a:t>
            </a:r>
            <a:br>
              <a:rPr lang="ru-RU" sz="2500" dirty="0"/>
            </a:br>
            <a:endParaRPr lang="ru-RU" sz="2500" dirty="0"/>
          </a:p>
          <a:p>
            <a:pPr marL="45720" indent="0">
              <a:buNone/>
            </a:pPr>
            <a:r>
              <a:rPr lang="ru-RU" sz="2500" dirty="0"/>
              <a:t>5. Принятие новых убеждений. Войдите в область, где находятся новые убеждения и представьте, что они "втекают" в ваше тело. Подождите, пока процесс закончится.</a:t>
            </a:r>
            <a:br>
              <a:rPr lang="ru-RU" sz="2500" dirty="0"/>
            </a:br>
            <a:r>
              <a:rPr lang="ru-RU" sz="2500" dirty="0"/>
              <a:t/>
            </a:r>
            <a:br>
              <a:rPr lang="ru-RU" sz="2500" dirty="0"/>
            </a:br>
            <a:r>
              <a:rPr lang="ru-RU" sz="2500" dirty="0"/>
              <a:t>6. Сохранение Музея. Музей Старых Убеждений разместите где-то в пространстве рядом с собой (но только не внутри вас): это место, куда вы можете сходить, посмотреть ваши старые убеждения, если вам какие-то нужны – взять их обратно, а так же добавить в Музей те, от которых вы решили отказаться. Поблагодарите свои старые убеждения за то, что они так верно служили и помогали вам.</a:t>
            </a:r>
            <a:br>
              <a:rPr lang="ru-RU" sz="2500" dirty="0"/>
            </a:br>
            <a:r>
              <a:rPr lang="ru-RU" sz="2500" dirty="0"/>
              <a:t/>
            </a:r>
            <a:br>
              <a:rPr lang="ru-RU" sz="2500" dirty="0"/>
            </a:br>
            <a:r>
              <a:rPr lang="ru-RU" sz="2500" dirty="0"/>
              <a:t>7. Привязка к будущему. Отойдите в сторону и посмотрите в свое будущее. Что там изменилось, как конкретно эти изменения проявятся в вашей жизни?</a:t>
            </a:r>
          </a:p>
          <a:p>
            <a:endParaRPr lang="ru-RU" dirty="0"/>
          </a:p>
        </p:txBody>
      </p:sp>
    </p:spTree>
    <p:extLst>
      <p:ext uri="{BB962C8B-B14F-4D97-AF65-F5344CB8AC3E}">
        <p14:creationId xmlns:p14="http://schemas.microsoft.com/office/powerpoint/2010/main" val="2018821075"/>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1266"/>
            <a:ext cx="8229600" cy="609422"/>
          </a:xfrm>
        </p:spPr>
        <p:txBody>
          <a:bodyPr>
            <a:normAutofit/>
          </a:bodyPr>
          <a:lstStyle/>
          <a:p>
            <a:pPr marL="0" indent="0" algn="ctr">
              <a:buNone/>
            </a:pPr>
            <a:r>
              <a:rPr lang="ru-RU" sz="2400" b="1" dirty="0">
                <a:solidFill>
                  <a:schemeClr val="accent1"/>
                </a:solidFill>
              </a:rPr>
              <a:t>Техника самовнушения </a:t>
            </a:r>
            <a:r>
              <a:rPr lang="ru-RU" sz="2400" b="1" dirty="0" err="1">
                <a:solidFill>
                  <a:schemeClr val="accent1"/>
                </a:solidFill>
              </a:rPr>
              <a:t>Куэ</a:t>
            </a:r>
            <a:endParaRPr lang="ru-RU" sz="2400" b="1" dirty="0"/>
          </a:p>
        </p:txBody>
      </p:sp>
      <p:sp>
        <p:nvSpPr>
          <p:cNvPr id="3" name="Объект 2"/>
          <p:cNvSpPr>
            <a:spLocks noGrp="1"/>
          </p:cNvSpPr>
          <p:nvPr>
            <p:ph sz="quarter" idx="13"/>
          </p:nvPr>
        </p:nvSpPr>
        <p:spPr>
          <a:xfrm>
            <a:off x="467544" y="620688"/>
            <a:ext cx="8229600" cy="5289451"/>
          </a:xfrm>
        </p:spPr>
        <p:txBody>
          <a:bodyPr>
            <a:noAutofit/>
          </a:bodyPr>
          <a:lstStyle/>
          <a:p>
            <a:r>
              <a:rPr lang="ru-RU" sz="2300" dirty="0" err="1"/>
              <a:t>Куэ</a:t>
            </a:r>
            <a:r>
              <a:rPr lang="ru-RU" sz="2300" dirty="0"/>
              <a:t> утверждал, что ни одному человеку нельзя что-либо внушить, если он противится этому.</a:t>
            </a:r>
          </a:p>
          <a:p>
            <a:r>
              <a:rPr lang="ru-RU" sz="2300" dirty="0"/>
              <a:t>Заниматься самовнушением следует без каких-либо усилий. Именно напряжение могут свести эффект самовнушения на нет</a:t>
            </a:r>
          </a:p>
          <a:p>
            <a:pPr fontAlgn="base"/>
            <a:r>
              <a:rPr lang="ru-RU" sz="2300" dirty="0"/>
              <a:t>Метод основывается на </a:t>
            </a:r>
            <a:r>
              <a:rPr lang="ru-RU" sz="2300" dirty="0" err="1"/>
              <a:t>мантроподобном</a:t>
            </a:r>
            <a:r>
              <a:rPr lang="ru-RU" sz="2300" dirty="0"/>
              <a:t> регулярном повторении простых фраз — подобных, например, такой: «С каждым днем мне во всех отношениях становится лучше и лучше». Основа метода </a:t>
            </a:r>
            <a:r>
              <a:rPr lang="ru-RU" sz="2300" dirty="0" err="1"/>
              <a:t>Куэ</a:t>
            </a:r>
            <a:r>
              <a:rPr lang="ru-RU" sz="2300" dirty="0"/>
              <a:t> – простота. Он даже назвал свои формулы внушения детскими высказываниями. </a:t>
            </a:r>
          </a:p>
          <a:p>
            <a:pPr lvl="0" fontAlgn="base"/>
            <a:r>
              <a:rPr lang="ru-RU" sz="2300" dirty="0"/>
              <a:t>Неважно, соответствует ли эта формула действительности. Она адресована подсознанию, которое принимает ее как задание, что надо выполнять, и начинает его осуществление. </a:t>
            </a:r>
          </a:p>
          <a:p>
            <a:r>
              <a:rPr lang="ru-RU" sz="2300" dirty="0"/>
              <a:t>Сеансы самовнушения следует проводить каждый день </a:t>
            </a:r>
          </a:p>
        </p:txBody>
      </p:sp>
    </p:spTree>
    <p:extLst>
      <p:ext uri="{BB962C8B-B14F-4D97-AF65-F5344CB8AC3E}">
        <p14:creationId xmlns:p14="http://schemas.microsoft.com/office/powerpoint/2010/main" val="2733560664"/>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59632" y="188640"/>
            <a:ext cx="6512511" cy="1143000"/>
          </a:xfrm>
        </p:spPr>
        <p:txBody>
          <a:bodyPr>
            <a:normAutofit/>
          </a:bodyPr>
          <a:lstStyle/>
          <a:p>
            <a:pPr marL="0" indent="0" algn="ctr">
              <a:buNone/>
            </a:pPr>
            <a:r>
              <a:rPr lang="ru-RU" sz="2800" dirty="0">
                <a:solidFill>
                  <a:schemeClr val="accent1"/>
                </a:solidFill>
              </a:rPr>
              <a:t>Техника самовнушения </a:t>
            </a:r>
            <a:r>
              <a:rPr lang="ru-RU" sz="2800" dirty="0" err="1">
                <a:solidFill>
                  <a:schemeClr val="accent1"/>
                </a:solidFill>
              </a:rPr>
              <a:t>Куэ</a:t>
            </a:r>
            <a:r>
              <a:rPr lang="ru-RU" sz="2800" dirty="0">
                <a:solidFill>
                  <a:schemeClr val="accent1"/>
                </a:solidFill>
              </a:rPr>
              <a:t>. Методика </a:t>
            </a:r>
          </a:p>
        </p:txBody>
      </p:sp>
      <p:sp>
        <p:nvSpPr>
          <p:cNvPr id="3" name="Объект 2"/>
          <p:cNvSpPr>
            <a:spLocks noGrp="1"/>
          </p:cNvSpPr>
          <p:nvPr>
            <p:ph sz="quarter" idx="13"/>
          </p:nvPr>
        </p:nvSpPr>
        <p:spPr>
          <a:xfrm>
            <a:off x="179512" y="1268760"/>
            <a:ext cx="8229600" cy="4929411"/>
          </a:xfrm>
        </p:spPr>
        <p:txBody>
          <a:bodyPr>
            <a:normAutofit/>
          </a:bodyPr>
          <a:lstStyle/>
          <a:p>
            <a:pPr lvl="0" fontAlgn="base"/>
            <a:r>
              <a:rPr lang="ru-RU" dirty="0"/>
              <a:t>Произносить формулу надо с закрытыми глазами каждый вечер, лежа в постели, и каждое утро после пробуждения - мозг еще/уже не включился в суету будничных дел.. В случае необходимости можно проводить самовнушение еще днем. Делают это в уединенном месте с закрытыми глазами.</a:t>
            </a:r>
          </a:p>
          <a:p>
            <a:pPr lvl="0" fontAlgn="base"/>
            <a:r>
              <a:rPr lang="ru-RU" dirty="0"/>
              <a:t>Произносить следует так, чтобы вы могли себя слышать (это условие </a:t>
            </a:r>
            <a:r>
              <a:rPr lang="ru-RU" dirty="0" err="1"/>
              <a:t>Куэ</a:t>
            </a:r>
            <a:r>
              <a:rPr lang="ru-RU" dirty="0"/>
              <a:t> считал обязательным).</a:t>
            </a:r>
          </a:p>
          <a:p>
            <a:pPr lvl="0" fontAlgn="base"/>
            <a:r>
              <a:rPr lang="ru-RU" dirty="0"/>
              <a:t>Говорить надо монотонно, никак не фиксируя свое внимание, что же вы говорите. Слова чисто механически должны попадать в подсознание.</a:t>
            </a:r>
          </a:p>
          <a:p>
            <a:r>
              <a:rPr lang="ru-RU" dirty="0"/>
              <a:t>Формулу следует повторять двадцать раз. В течение минуты. </a:t>
            </a:r>
          </a:p>
        </p:txBody>
      </p:sp>
    </p:spTree>
    <p:extLst>
      <p:ext uri="{BB962C8B-B14F-4D97-AF65-F5344CB8AC3E}">
        <p14:creationId xmlns:p14="http://schemas.microsoft.com/office/powerpoint/2010/main" val="1763455205"/>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59632" y="188640"/>
            <a:ext cx="6512511" cy="1143000"/>
          </a:xfrm>
        </p:spPr>
        <p:txBody>
          <a:bodyPr>
            <a:normAutofit/>
          </a:bodyPr>
          <a:lstStyle/>
          <a:p>
            <a:pPr marL="0" indent="0">
              <a:buNone/>
            </a:pPr>
            <a:r>
              <a:rPr lang="ru-RU" sz="3200" b="1" dirty="0">
                <a:solidFill>
                  <a:schemeClr val="accent1"/>
                </a:solidFill>
              </a:rPr>
              <a:t>Индивидуальная </a:t>
            </a:r>
            <a:r>
              <a:rPr lang="ru-RU" sz="3200" b="1" dirty="0" err="1">
                <a:solidFill>
                  <a:schemeClr val="accent1"/>
                </a:solidFill>
              </a:rPr>
              <a:t>аффирмация</a:t>
            </a:r>
            <a:endParaRPr lang="ru-RU" sz="3200" b="1" dirty="0">
              <a:solidFill>
                <a:schemeClr val="accent1"/>
              </a:solidFill>
            </a:endParaRPr>
          </a:p>
        </p:txBody>
      </p:sp>
      <p:sp>
        <p:nvSpPr>
          <p:cNvPr id="3" name="Объект 2"/>
          <p:cNvSpPr>
            <a:spLocks noGrp="1"/>
          </p:cNvSpPr>
          <p:nvPr>
            <p:ph sz="quarter" idx="13"/>
          </p:nvPr>
        </p:nvSpPr>
        <p:spPr>
          <a:xfrm>
            <a:off x="323528" y="836712"/>
            <a:ext cx="8229600" cy="4929411"/>
          </a:xfrm>
        </p:spPr>
        <p:txBody>
          <a:bodyPr>
            <a:normAutofit/>
          </a:bodyPr>
          <a:lstStyle/>
          <a:p>
            <a:pPr marL="0" indent="0">
              <a:buNone/>
            </a:pPr>
            <a:endParaRPr lang="ru-RU" dirty="0"/>
          </a:p>
          <a:p>
            <a:r>
              <a:rPr lang="ru-RU" dirty="0"/>
              <a:t>Обсудить в тех же парах эффект от ВСЕХ предыдущих практик за весь день – что они добавили, как они расширили клиента. Клиент просто в свободной форме делится своими осознаниями, выводами, трудностями, с которыми он столкнулся, своим «расширением»</a:t>
            </a:r>
          </a:p>
          <a:p>
            <a:r>
              <a:rPr lang="ru-RU" dirty="0"/>
              <a:t>+ </a:t>
            </a:r>
            <a:r>
              <a:rPr lang="ru-RU" dirty="0" err="1"/>
              <a:t>Коуч</a:t>
            </a:r>
            <a:r>
              <a:rPr lang="ru-RU" dirty="0"/>
              <a:t> предлагает клиенту закрепить результат за счет позитивной фразы-убеждения, которая поддерживала бы клиента в его самоощущении, в его пути к новым видению, целям, новому себе</a:t>
            </a:r>
          </a:p>
          <a:p>
            <a:endParaRPr lang="ru-RU" dirty="0"/>
          </a:p>
          <a:p>
            <a:endParaRPr lang="ru-RU" dirty="0"/>
          </a:p>
        </p:txBody>
      </p:sp>
    </p:spTree>
    <p:extLst>
      <p:ext uri="{BB962C8B-B14F-4D97-AF65-F5344CB8AC3E}">
        <p14:creationId xmlns:p14="http://schemas.microsoft.com/office/powerpoint/2010/main" val="3331881765"/>
      </p:ext>
    </p:extLst>
  </p:cSld>
  <p:clrMapOvr>
    <a:masterClrMapping/>
  </p:clrMapOvr>
</p:sld>
</file>

<file path=ppt/theme/theme1.xml><?xml version="1.0" encoding="utf-8"?>
<a:theme xmlns:a="http://schemas.openxmlformats.org/drawingml/2006/main" name="Воздушный поток">
  <a:themeElements>
    <a:clrScheme name="Воздушный поток">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Воздушный поток">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Воздушный поток">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Slipstream</Template>
  <TotalTime>8949</TotalTime>
  <Words>12475</Words>
  <Application>Microsoft Office PowerPoint</Application>
  <PresentationFormat>Экран (4:3)</PresentationFormat>
  <Paragraphs>1122</Paragraphs>
  <Slides>182</Slides>
  <Notes>2</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182</vt:i4>
      </vt:variant>
    </vt:vector>
  </HeadingPairs>
  <TitlesOfParts>
    <vt:vector size="189" baseType="lpstr">
      <vt:lpstr>Arial</vt:lpstr>
      <vt:lpstr>Calibri</vt:lpstr>
      <vt:lpstr>Georgia</vt:lpstr>
      <vt:lpstr>Trebuchet MS</vt:lpstr>
      <vt:lpstr>Verdana</vt:lpstr>
      <vt:lpstr>Wingdings</vt:lpstr>
      <vt:lpstr>Воздушный поток</vt:lpstr>
      <vt:lpstr>Презентация PowerPoint</vt:lpstr>
      <vt:lpstr>Презентация PowerPoint</vt:lpstr>
      <vt:lpstr>Презентация PowerPoint</vt:lpstr>
      <vt:lpstr>Презентация PowerPoint</vt:lpstr>
      <vt:lpstr>Список литературы </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Кризис – это что-то выходящее за рамки, за пределы обычного уклада жизни. Это синоним слова «изменения» Это ответ на внешние или внутренние обстоятельства Возникают в жизни каждого человека Связаны с выбором   КРИЗИС - ЭТО ТОЧКА, ГДЕ У ЧЕЛОВЕКА МЕНЯЕТСЯ ВЕКТОР НАПРАВЛЕНИЯ,  ЖИЗНЕННЫЕ и ПРОФЕССИОНАЛЬНЫЕ СТРАТЕГИИ</vt:lpstr>
      <vt:lpstr>Кризисные ситуации</vt:lpstr>
      <vt:lpstr>Презентация PowerPoint</vt:lpstr>
      <vt:lpstr>Презентация PowerPoint</vt:lpstr>
      <vt:lpstr>Презентация PowerPoint</vt:lpstr>
      <vt:lpstr>Презентация PowerPoint</vt:lpstr>
      <vt:lpstr>«Классическая» формула ожиданий от жизни. И «классический», линейный коучинг также  идет от внешнего к внутреннему</vt:lpstr>
      <vt:lpstr>Другой подход в трансформационном коучинге: от  внутреннего к внешнему</vt:lpstr>
      <vt:lpstr>  </vt:lpstr>
      <vt:lpstr>Презентация PowerPoint</vt:lpstr>
      <vt:lpstr>Пример запроса перехода во фриланс</vt:lpstr>
      <vt:lpstr>Презентация PowerPoint</vt:lpstr>
      <vt:lpstr>Пример запроса: открытие своего бизнеса</vt:lpstr>
      <vt:lpstr>Презентация PowerPoint</vt:lpstr>
      <vt:lpstr>Презентация PowerPoint</vt:lpstr>
      <vt:lpstr>Презентация PowerPoint</vt:lpstr>
      <vt:lpstr>Презентация PowerPoint</vt:lpstr>
      <vt:lpstr>Презентация PowerPoint</vt:lpstr>
      <vt:lpstr>Ну и часто бывает, что выскакивает черт из табакерки</vt:lpstr>
      <vt:lpstr>Пример запроса  «Поиск работы с повышением в должности и переходом в более крупную компанию»</vt:lpstr>
      <vt:lpstr>Презентация PowerPoint</vt:lpstr>
      <vt:lpstr>Этапы развития своего Я Джеймс Холлис «Перевал в середине пути» середине пути»</vt:lpstr>
      <vt:lpstr>Презентация PowerPoint</vt:lpstr>
      <vt:lpstr>Презентация PowerPoint</vt:lpstr>
      <vt:lpstr>Презентация PowerPoint</vt:lpstr>
      <vt:lpstr>Презентация PowerPoint</vt:lpstr>
      <vt:lpstr>Презентация PowerPoint</vt:lpstr>
      <vt:lpstr>Коучинг работает не с целями, а с человеком, который имеет эти цели!!!</vt:lpstr>
      <vt:lpstr>Основные принципы гуманистической психологии </vt:lpstr>
      <vt:lpstr>Презентация PowerPoint</vt:lpstr>
      <vt:lpstr>Презентация PowerPoint</vt:lpstr>
      <vt:lpstr>Презентация PowerPoint</vt:lpstr>
      <vt:lpstr>жцс</vt:lpstr>
      <vt:lpstr>Презентация PowerPoint</vt:lpstr>
      <vt:lpstr>Презентация PowerPoint</vt:lpstr>
      <vt:lpstr>Функциональная, дисфункциональная семья  в разрезе  ЖЦС</vt:lpstr>
      <vt:lpstr>Семь стадий отношений</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В чем заключается ресурсирование? Примеры</vt:lpstr>
      <vt:lpstr>Презентация PowerPoint</vt:lpstr>
      <vt:lpstr>Целостное влияние как условие изменений</vt:lpstr>
      <vt:lpstr>Коуч ищет ключи для создания поддерживающей среды!!!</vt:lpstr>
      <vt:lpstr>Упражнение «Растение»</vt:lpstr>
      <vt:lpstr>Трансформационные техники в коучинге: главное</vt:lpstr>
      <vt:lpstr>Упражнение «Соединение с собой»</vt:lpstr>
      <vt:lpstr>Система «Аутогенной тренировки» (АТ) по Шульцу </vt:lpstr>
      <vt:lpstr>Презентация PowerPoint</vt:lpstr>
      <vt:lpstr>Поза во время упражнений на реклаксацию</vt:lpstr>
      <vt:lpstr>Презентация PowerPoint</vt:lpstr>
      <vt:lpstr>Шесть стадий аутогенной релаксации</vt:lpstr>
      <vt:lpstr>Шесть стадий аутогенной релаксации (по классике жанра)</vt:lpstr>
      <vt:lpstr>Что испытывает человек, находящийся в релаксации?   </vt:lpstr>
      <vt:lpstr>«Спокойное место»</vt:lpstr>
      <vt:lpstr>Итак, ключевые приемы при релаксации </vt:lpstr>
      <vt:lpstr>Техника «План от мечты» (самостоятельное изучение)</vt:lpstr>
      <vt:lpstr>План и мечта: отличие</vt:lpstr>
      <vt:lpstr>Презентация PowerPoint</vt:lpstr>
      <vt:lpstr>Вариант №1 (без релаксации). «План от мечты»</vt:lpstr>
      <vt:lpstr>Вариант № 2  «План от мечты» (с релаксацией) в трансформационном подходе</vt:lpstr>
      <vt:lpstr>Презентация PowerPoint</vt:lpstr>
      <vt:lpstr>Метод систематической десенсибилизации Вольпе </vt:lpstr>
      <vt:lpstr>Три этапа десенсибилизации по Вольпе (по классике жанра) </vt:lpstr>
      <vt:lpstr>!!! Техника по Вольпе. Пример «текстовки» </vt:lpstr>
      <vt:lpstr>Работа с образами, арт-техниками.  Визуальный канал</vt:lpstr>
      <vt:lpstr>Особенности</vt:lpstr>
      <vt:lpstr>Примеры рисунков на тему отношений   Возможные темы рисунка: 1) Я как женщина/мужчина 2) Я как личность в отношениях 3) Я, мой партнер и наши отношения 4) Проблема в наших отношениях 5) Я, мой партнер и проблема в наших отношениях</vt:lpstr>
      <vt:lpstr>Примеры рисунков на тему профессиональной идентичности.   Возможные темы рисунка: 1) Кто я как профессионал 2) В чем моя миссия 3) Что я даю своим клиентам 4) В чем моя уникальность 5) И так далее</vt:lpstr>
      <vt:lpstr>Презентация PowerPoint</vt:lpstr>
      <vt:lpstr>Презентация PowerPoint</vt:lpstr>
      <vt:lpstr>Презентация PowerPoint</vt:lpstr>
      <vt:lpstr>Презентация PowerPoint</vt:lpstr>
      <vt:lpstr>«Я и мой партнер сейчас»</vt:lpstr>
      <vt:lpstr>«Какие я хочу отношения» </vt:lpstr>
      <vt:lpstr>Наши отношения сейчас</vt:lpstr>
      <vt:lpstr>Наши идеальные отношения</vt:lpstr>
      <vt:lpstr>Я, моя семья и проблема</vt:lpstr>
      <vt:lpstr>Я, моя семья, когда проблема будет решена</vt:lpstr>
      <vt:lpstr>«Я и мой потенциальный партнер»</vt:lpstr>
      <vt:lpstr>Я как женщина</vt:lpstr>
      <vt:lpstr>Я как женщина</vt:lpstr>
      <vt:lpstr>Я как женщина</vt:lpstr>
      <vt:lpstr>Презентация PowerPoint</vt:lpstr>
      <vt:lpstr>Презентация PowerPoint</vt:lpstr>
      <vt:lpstr> </vt:lpstr>
      <vt:lpstr>Презентация PowerPoint</vt:lpstr>
      <vt:lpstr>Техника МИФ (работа с проблемой) </vt:lpstr>
      <vt:lpstr>Презентация PowerPoint</vt:lpstr>
      <vt:lpstr>МАК Метафорические ассоциативные карты </vt:lpstr>
      <vt:lpstr>Метафорические ассоциативные карты</vt:lpstr>
      <vt:lpstr>Презентация PowerPoint</vt:lpstr>
      <vt:lpstr>«Оh-cards»</vt:lpstr>
      <vt:lpstr>Презентация PowerPoint</vt:lpstr>
      <vt:lpstr>«Золотое правило» работы с МАК</vt:lpstr>
      <vt:lpstr>Презентация PowerPoint</vt:lpstr>
      <vt:lpstr>Основные стратегии работы  с метафорическими картами </vt:lpstr>
      <vt:lpstr>Приемы работы с МАК</vt:lpstr>
      <vt:lpstr>Презентация PowerPoint</vt:lpstr>
      <vt:lpstr>Презентация PowerPoint</vt:lpstr>
      <vt:lpstr>Презентация PowerPoint</vt:lpstr>
      <vt:lpstr>Работа с целью по ГРОУ при помощи МАК</vt:lpstr>
      <vt:lpstr>Темы для работы с МАК: про себя</vt:lpstr>
      <vt:lpstr>Темы для работы с МАК: работа с целью</vt:lpstr>
      <vt:lpstr>Темы для работы с МАК: для анализа отношений, взаимодействия, ролей в системе</vt:lpstr>
      <vt:lpstr>Темы для работы с отношений</vt:lpstr>
      <vt:lpstr>ПРИМЕРНЫЕ!!! вопросы для исследования карты</vt:lpstr>
      <vt:lpstr>Работа с ситуации выбора Аналог «Декартовы координаты», но уже с МАК</vt:lpstr>
      <vt:lpstr>Работа с качествами, талантами</vt:lpstr>
      <vt:lpstr>Презентация PowerPoint</vt:lpstr>
      <vt:lpstr>Презентация PowerPoint</vt:lpstr>
      <vt:lpstr>Семь стадий отношений</vt:lpstr>
      <vt:lpstr>Стадия 1. Влюбленность </vt:lpstr>
      <vt:lpstr>Стадия 2. Насыщение </vt:lpstr>
      <vt:lpstr>Стадия 3. Отвращение или отвержение </vt:lpstr>
      <vt:lpstr>Стадия 4. Терпение и прощение </vt:lpstr>
      <vt:lpstr>Стадия 5. Служение (Долг) </vt:lpstr>
      <vt:lpstr>Стадия 6. Уважение и дружба </vt:lpstr>
      <vt:lpstr>Стадия 7. Любовь </vt:lpstr>
      <vt:lpstr>Презентация PowerPoint</vt:lpstr>
      <vt:lpstr>Циркулярная модель Олсона</vt:lpstr>
      <vt:lpstr>Совместность/сплоченность</vt:lpstr>
      <vt:lpstr>Шкала сплоченности по Олсону</vt:lpstr>
      <vt:lpstr>Совместность соотносится с границами!!! </vt:lpstr>
      <vt:lpstr>Совместность на шкале «Близость — раздельность»/  «Автономия – Слияние»</vt:lpstr>
      <vt:lpstr>Полюс слияния</vt:lpstr>
      <vt:lpstr>Полюс автономии</vt:lpstr>
      <vt:lpstr>Презентация PowerPoint</vt:lpstr>
      <vt:lpstr>Шкала гибкости по Олсону</vt:lpstr>
      <vt:lpstr>Если человек на полюсе слияния</vt:lpstr>
      <vt:lpstr>Если человек на полюсе автономии: </vt:lpstr>
      <vt:lpstr>Презентация PowerPoint</vt:lpstr>
      <vt:lpstr>Презентация PowerPoint</vt:lpstr>
      <vt:lpstr>Презентация PowerPoint</vt:lpstr>
      <vt:lpstr>Стратегия Избегание/Игнорирование/Уход</vt:lpstr>
      <vt:lpstr>Стратегия Приспособление</vt:lpstr>
      <vt:lpstr>Стратегия Соперничество</vt:lpstr>
      <vt:lpstr>Факторы, способствующие развитию и обострению конфликта </vt:lpstr>
      <vt:lpstr>Приемы, способствующие решению конфликта </vt:lpstr>
      <vt:lpstr>Основные способы вербализации чувств   </vt:lpstr>
      <vt:lpstr>2) Вербализация через описание телесного состояния</vt:lpstr>
      <vt:lpstr>3) Вербализация через сравнение, метафоры</vt:lpstr>
      <vt:lpstr>4) Вербализация через описание желаний, возможных действий, которые хочется сделать </vt:lpstr>
      <vt:lpstr>Презентация PowerPoint</vt:lpstr>
      <vt:lpstr>Работа с МАК на тему своей половой идентичности</vt:lpstr>
      <vt:lpstr>Работа с МАК на тему М/Ж отношений</vt:lpstr>
      <vt:lpstr>Работа с МАК на тему отношений в системе</vt:lpstr>
      <vt:lpstr>Работа с МАК на тему «Я как коуч и мои клиенты»</vt:lpstr>
      <vt:lpstr>Работа с убеждениями</vt:lpstr>
      <vt:lpstr>Теория убеждений Бека Бек А., Фримен А. «Когнитивная психотерапия расстройств личности. Практикум по психотерапии»    </vt:lpstr>
      <vt:lpstr>Презентация PowerPoint</vt:lpstr>
      <vt:lpstr>Презентация PowerPoint</vt:lpstr>
      <vt:lpstr>Презентация PowerPoint</vt:lpstr>
      <vt:lpstr>Наиболее частые абсолютистские убеждения по Беку </vt:lpstr>
      <vt:lpstr>Три основных группы негативных оценок по Беку</vt:lpstr>
      <vt:lpstr>Презентация PowerPoint</vt:lpstr>
      <vt:lpstr>Избегающий тип личности </vt:lpstr>
      <vt:lpstr>Зависимый тип личности </vt:lpstr>
      <vt:lpstr>Обсессивно-компульсивный тип личности </vt:lpstr>
      <vt:lpstr>Основные приемы в работе с убеждениями </vt:lpstr>
      <vt:lpstr>Основные приемы в работе с убеждениями </vt:lpstr>
      <vt:lpstr>Общий подход в работе с задачами/проблемами в поведенческом подходе</vt:lpstr>
      <vt:lpstr>Техника «Музей старых убеждений» </vt:lpstr>
      <vt:lpstr>Техника самовнушения Куэ</vt:lpstr>
      <vt:lpstr>Техника самовнушения Куэ. Методика </vt:lpstr>
      <vt:lpstr>Индивидуальная аффирмация</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Ирина</dc:creator>
  <cp:lastModifiedBy>Honor</cp:lastModifiedBy>
  <cp:revision>514</cp:revision>
  <dcterms:created xsi:type="dcterms:W3CDTF">2018-03-20T08:52:54Z</dcterms:created>
  <dcterms:modified xsi:type="dcterms:W3CDTF">2023-10-17T05:53:45Z</dcterms:modified>
</cp:coreProperties>
</file>