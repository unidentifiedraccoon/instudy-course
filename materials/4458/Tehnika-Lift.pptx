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1" r:id="rId7"/>
    <p:sldId id="260" r:id="rId8"/>
    <p:sldId id="262" r:id="rId9"/>
    <p:sldId id="263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elasio" pitchFamily="2" charset="0"/>
      <p:regular r:id="rId16"/>
    </p:embeddedFont>
    <p:embeddedFont>
      <p:font typeface="Gelasio Semi Bold" pitchFamily="2" charset="0"/>
      <p:regular r:id="rId17"/>
      <p:bold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Open Sans ExtraBold" panose="020B0606030504020204" pitchFamily="34" charset="0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2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59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55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99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6280190" y="476875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762E286-CED0-DC4D-9841-A98778E65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6DF059-6CC8-7243-902E-A87E5B345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20" y="1018978"/>
            <a:ext cx="3600383" cy="5355874"/>
          </a:xfrm>
          <a:prstGeom prst="rect">
            <a:avLst/>
          </a:prstGeom>
        </p:spPr>
      </p:pic>
      <p:sp>
        <p:nvSpPr>
          <p:cNvPr id="9" name="Google Shape;135;p17">
            <a:extLst>
              <a:ext uri="{FF2B5EF4-FFF2-40B4-BE49-F238E27FC236}">
                <a16:creationId xmlns:a16="http://schemas.microsoft.com/office/drawing/2014/main" id="{5106739F-7F56-374D-BAFE-16F5E8B5DD9D}"/>
              </a:ext>
            </a:extLst>
          </p:cNvPr>
          <p:cNvSpPr txBox="1"/>
          <p:nvPr/>
        </p:nvSpPr>
        <p:spPr>
          <a:xfrm>
            <a:off x="6837126" y="982885"/>
            <a:ext cx="5751634" cy="65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59" tIns="86059" rIns="86059" bIns="86059" anchor="t" anchorCtr="0">
            <a:noAutofit/>
          </a:bodyPr>
          <a:lstStyle/>
          <a:p>
            <a:pPr defTabSz="860595">
              <a:lnSpc>
                <a:spcPct val="90000"/>
              </a:lnSpc>
            </a:pPr>
            <a:r>
              <a:rPr lang="ru-RU" sz="4000" dirty="0">
                <a:solidFill>
                  <a:srgbClr val="41414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КАРЕВА МАРИЯ</a:t>
            </a:r>
            <a:endParaRPr sz="4000" dirty="0">
              <a:solidFill>
                <a:srgbClr val="41414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10" name="Google Shape;136;p17">
            <a:extLst>
              <a:ext uri="{FF2B5EF4-FFF2-40B4-BE49-F238E27FC236}">
                <a16:creationId xmlns:a16="http://schemas.microsoft.com/office/drawing/2014/main" id="{C8F4945C-C691-6C4E-8D49-3A85ABF87CD4}"/>
              </a:ext>
            </a:extLst>
          </p:cNvPr>
          <p:cNvCxnSpPr>
            <a:cxnSpLocks/>
          </p:cNvCxnSpPr>
          <p:nvPr/>
        </p:nvCxnSpPr>
        <p:spPr>
          <a:xfrm flipV="1">
            <a:off x="7709139" y="1865693"/>
            <a:ext cx="3735330" cy="5208"/>
          </a:xfrm>
          <a:prstGeom prst="straightConnector1">
            <a:avLst/>
          </a:prstGeom>
          <a:noFill/>
          <a:ln w="76200" cap="flat" cmpd="sng">
            <a:solidFill>
              <a:srgbClr val="E7E6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37;p17">
            <a:extLst>
              <a:ext uri="{FF2B5EF4-FFF2-40B4-BE49-F238E27FC236}">
                <a16:creationId xmlns:a16="http://schemas.microsoft.com/office/drawing/2014/main" id="{D71D283B-F467-0A49-90ED-60E062C0F81E}"/>
              </a:ext>
            </a:extLst>
          </p:cNvPr>
          <p:cNvSpPr/>
          <p:nvPr/>
        </p:nvSpPr>
        <p:spPr>
          <a:xfrm>
            <a:off x="6494893" y="2285302"/>
            <a:ext cx="352606" cy="398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86059" tIns="86059" rIns="86059" bIns="86059" anchor="ctr" anchorCtr="0">
            <a:noAutofit/>
          </a:bodyPr>
          <a:lstStyle/>
          <a:p>
            <a:pPr algn="ctr" defTabSz="860595"/>
            <a:endParaRPr sz="131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38;p17">
            <a:extLst>
              <a:ext uri="{FF2B5EF4-FFF2-40B4-BE49-F238E27FC236}">
                <a16:creationId xmlns:a16="http://schemas.microsoft.com/office/drawing/2014/main" id="{11818CE4-2454-6142-BC45-0A9E6825ED4C}"/>
              </a:ext>
            </a:extLst>
          </p:cNvPr>
          <p:cNvSpPr txBox="1"/>
          <p:nvPr/>
        </p:nvSpPr>
        <p:spPr>
          <a:xfrm>
            <a:off x="6967327" y="2740661"/>
            <a:ext cx="6526939" cy="135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59" tIns="86059" rIns="86059" bIns="86059" anchor="t" anchorCtr="0">
            <a:spAutoFit/>
          </a:bodyPr>
          <a:lstStyle/>
          <a:p>
            <a:pPr algn="just" defTabSz="860595">
              <a:lnSpc>
                <a:spcPct val="90000"/>
              </a:lnSpc>
              <a:spcBef>
                <a:spcPts val="565"/>
              </a:spcBef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Master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coach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ICI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), системный </a:t>
            </a:r>
            <a:r>
              <a:rPr lang="ru-RU" sz="2000" dirty="0" err="1">
                <a:latin typeface="Open Sans"/>
                <a:ea typeface="Open Sans"/>
                <a:cs typeface="Open Sans"/>
                <a:sym typeface="Open Sans"/>
              </a:rPr>
              <a:t>коуч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MRI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), супервизор (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ECA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), ментор-наставник психологических и </a:t>
            </a:r>
            <a:r>
              <a:rPr lang="ru-RU" sz="2000" dirty="0" err="1">
                <a:latin typeface="Open Sans"/>
                <a:ea typeface="Open Sans"/>
                <a:cs typeface="Open Sans"/>
                <a:sym typeface="Open Sans"/>
              </a:rPr>
              <a:t>коучинговых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 программ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МИП, РУДН, УОМ) 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138;p17">
            <a:extLst>
              <a:ext uri="{FF2B5EF4-FFF2-40B4-BE49-F238E27FC236}">
                <a16:creationId xmlns:a16="http://schemas.microsoft.com/office/drawing/2014/main" id="{92C1D34F-E934-754A-8D7D-6DCEE957EDB2}"/>
              </a:ext>
            </a:extLst>
          </p:cNvPr>
          <p:cNvSpPr txBox="1"/>
          <p:nvPr/>
        </p:nvSpPr>
        <p:spPr>
          <a:xfrm>
            <a:off x="6971799" y="2026458"/>
            <a:ext cx="6518913" cy="86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59" tIns="86059" rIns="86059" bIns="86059" anchor="t" anchorCtr="0">
            <a:spAutoFit/>
          </a:bodyPr>
          <a:lstStyle/>
          <a:p>
            <a:pPr algn="just" defTabSz="860595">
              <a:spcBef>
                <a:spcPts val="565"/>
              </a:spcBef>
            </a:pP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Магистр психологии, преподаватель психологии, </a:t>
            </a:r>
            <a:r>
              <a:rPr lang="ru-RU" sz="2000" dirty="0" err="1">
                <a:latin typeface="Open Sans"/>
                <a:ea typeface="Open Sans"/>
                <a:cs typeface="Open Sans"/>
                <a:sym typeface="Open Sans"/>
              </a:rPr>
              <a:t>нейрокоуч</a:t>
            </a: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, супервизор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37;p17">
            <a:extLst>
              <a:ext uri="{FF2B5EF4-FFF2-40B4-BE49-F238E27FC236}">
                <a16:creationId xmlns:a16="http://schemas.microsoft.com/office/drawing/2014/main" id="{BE390651-D1E9-D84C-94DF-FF8F6A69E464}"/>
              </a:ext>
            </a:extLst>
          </p:cNvPr>
          <p:cNvSpPr/>
          <p:nvPr/>
        </p:nvSpPr>
        <p:spPr>
          <a:xfrm>
            <a:off x="6484520" y="3062367"/>
            <a:ext cx="352606" cy="398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86059" tIns="86059" rIns="86059" bIns="86059" anchor="ctr" anchorCtr="0">
            <a:noAutofit/>
          </a:bodyPr>
          <a:lstStyle/>
          <a:p>
            <a:pPr algn="ctr" defTabSz="860595"/>
            <a:endParaRPr sz="131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37;p17">
            <a:extLst>
              <a:ext uri="{FF2B5EF4-FFF2-40B4-BE49-F238E27FC236}">
                <a16:creationId xmlns:a16="http://schemas.microsoft.com/office/drawing/2014/main" id="{7EBF0333-07C5-0140-AAD9-239CA7EB48C4}"/>
              </a:ext>
            </a:extLst>
          </p:cNvPr>
          <p:cNvSpPr/>
          <p:nvPr/>
        </p:nvSpPr>
        <p:spPr>
          <a:xfrm>
            <a:off x="6494893" y="4209818"/>
            <a:ext cx="352606" cy="398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86059" tIns="86059" rIns="86059" bIns="86059" anchor="ctr" anchorCtr="0">
            <a:noAutofit/>
          </a:bodyPr>
          <a:lstStyle/>
          <a:p>
            <a:pPr algn="ctr" defTabSz="860595"/>
            <a:endParaRPr sz="131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82F2D-357E-DC47-A0CF-77D7A41F8B2B}"/>
              </a:ext>
            </a:extLst>
          </p:cNvPr>
          <p:cNvSpPr txBox="1"/>
          <p:nvPr/>
        </p:nvSpPr>
        <p:spPr>
          <a:xfrm>
            <a:off x="6963202" y="4034318"/>
            <a:ext cx="6518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Open Sans"/>
                <a:ea typeface="Open Sans"/>
                <a:cs typeface="Open Sans"/>
              </a:rPr>
              <a:t>Эксперт и консультант в области управления организацией, управления финансами (ВО,  </a:t>
            </a:r>
            <a:r>
              <a:rPr lang="en-US" sz="2000" dirty="0">
                <a:latin typeface="Open Sans"/>
                <a:ea typeface="Open Sans"/>
                <a:cs typeface="Open Sans"/>
              </a:rPr>
              <a:t>EMBA)</a:t>
            </a:r>
            <a:r>
              <a:rPr lang="ru-RU" sz="2000" dirty="0">
                <a:latin typeface="Open Sans"/>
                <a:ea typeface="Open Sans"/>
                <a:cs typeface="Open Sans"/>
              </a:rPr>
              <a:t>. </a:t>
            </a:r>
            <a:r>
              <a:rPr lang="en-US" sz="2000" dirty="0">
                <a:latin typeface="Open Sans"/>
                <a:ea typeface="Open Sans"/>
                <a:cs typeface="Open Sans"/>
              </a:rPr>
              <a:t> </a:t>
            </a:r>
            <a:r>
              <a:rPr lang="ru-RU" sz="2000" dirty="0">
                <a:latin typeface="Open Sans"/>
                <a:ea typeface="Open Sans"/>
                <a:cs typeface="Open Sans"/>
              </a:rPr>
              <a:t>Организатор и ведущий групповых мероприятий. 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F50EC97-321E-DD4A-B330-FD325AE1D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3709" y="5150705"/>
            <a:ext cx="3001418" cy="300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Техника Лифт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Техника создания состояния (фиксации изменения состояния при достижении результата).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3485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Когда и для чего применяется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Эффективность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Техника эффективна только на высоких уровнях/этажах шкалирования.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Конкретные шаги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Техника хороша, когда движение к цели/результату имеет конкретные и более-менее понятные шаги (как этажи в здании).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212" y="613529"/>
            <a:ext cx="5577721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Техника работы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7212" y="1896308"/>
            <a:ext cx="501968" cy="501968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439257" y="1979890"/>
            <a:ext cx="157877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992183" y="1896308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Шкала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992183" y="2378631"/>
            <a:ext cx="2954774" cy="2498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Просим клиента представить шкалу в виде многоуровнего здания, подобрать аналогию к уровням его цели (небоскреб, бизнес-центр, жилой дом, башня…).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69962" y="1896308"/>
            <a:ext cx="501968" cy="501968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10319504" y="1979890"/>
            <a:ext cx="202763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894933" y="1896308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Фокус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0894933" y="2378631"/>
            <a:ext cx="2954774" cy="3569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Помогаем клиенту сфокусироваться на образе здания и ощутить себя на том уровне, где он находится сейчас (аналогично классическому шкалированию, назвать уровень, описать что это значит).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67212" y="6422112"/>
            <a:ext cx="501968" cy="501968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6417350" y="6505694"/>
            <a:ext cx="201692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992183" y="6422112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Лифт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992183" y="6904434"/>
            <a:ext cx="6857405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Просим клиента войти в лифт и нажать на кнопку следующего этажа.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070" y="1101328"/>
            <a:ext cx="5369362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Исследование этажа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8070" y="2330291"/>
            <a:ext cx="480893" cy="480893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912852" y="2410420"/>
            <a:ext cx="151209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42680" y="2330291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Ощущения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42680" y="2792492"/>
            <a:ext cx="3022521" cy="23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Когда лифт остановится на следующем этаже, просим клиента, как только двери откроются, первое на что обратить внимание – это на ощущения от пространства, в котором он оказался.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78918" y="2330291"/>
            <a:ext cx="480893" cy="480893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4822150" y="2410420"/>
            <a:ext cx="194310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373529" y="2330291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Описание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373529" y="2792492"/>
            <a:ext cx="3022521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Затем можно попросить клиента оглянуться вокруг и описать, что он замечает. Кто окружает его? Что привлекает его внимание?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8070" y="5640229"/>
            <a:ext cx="480893" cy="480893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891897" y="5720358"/>
            <a:ext cx="193238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1442680" y="5640229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Подъем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442680" y="6102429"/>
            <a:ext cx="6953250" cy="10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После того, как будет исследовано пространство одного уровня, спросите, готов ли клиент подняться выше. И попросите его снова войти в лифт и начать подниматься на следующий этаж.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611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 этаж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652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455093" y="2850237"/>
            <a:ext cx="1604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Состояние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25564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 10 этаже, просим клиента описать его состояние и визуализировать его в цвете.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7652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10323909" y="2850237"/>
            <a:ext cx="20621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Фото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25564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Можно предложить создать фото ( типа мгновенного) и взять его с собой</a:t>
            </a:r>
            <a:r>
              <a:rPr lang="ru-RU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(например, положить в карман).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521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6432828" y="5637133"/>
            <a:ext cx="20502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552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Вопросы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0425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 затем можно задавать различные вопросы, исходя из цели на коуч- сессию.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74639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97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Ограничивающие факторы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47499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Страх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4731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 отдельных случаях, клиент говорит, что не хочет подниматься на следующий этаж или не хочет выходить из лифта.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5107067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Проработка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7004" y="5824299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 таком случае нужно выяснить, что происходит, что ограничивает движение. Проработать этот страх/убеждение или откорректировать цель.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23217"/>
            <a:ext cx="61460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Несоответствие этажа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7215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765947"/>
            <a:ext cx="36080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Бывает так, что человек сказал , что он сейчас, например на 7 этаже, что очень подходит для данной техники, но , когда он приезжает на этаж.. это все не его, чужое, он не готов и так далее.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21" y="2972157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42021" y="3765947"/>
            <a:ext cx="3608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Это значит, что ему казалось, что он на 7 этаже уже, а на самом деле, например, на 5.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57408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Завершение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6042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ru-RU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 завершении важно спуститься  снова на 1 этаж и выйти из здания.  Далее 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стандартное</a:t>
            </a:r>
            <a:r>
              <a:rPr lang="ru-RU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продолжение/завершение работы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12B37E-1DFC-4140-A5DD-66429B3E9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078" y="231393"/>
            <a:ext cx="6228522" cy="4245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486</Words>
  <Application>Microsoft Macintosh PowerPoint</Application>
  <PresentationFormat>Произвольный</PresentationFormat>
  <Paragraphs>60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Calibri</vt:lpstr>
      <vt:lpstr>Gelasio Semi Bold</vt:lpstr>
      <vt:lpstr>Arial</vt:lpstr>
      <vt:lpstr>Gelasio</vt:lpstr>
      <vt:lpstr>Open Sans ExtraBold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Мария Карева</cp:lastModifiedBy>
  <cp:revision>9</cp:revision>
  <dcterms:created xsi:type="dcterms:W3CDTF">2025-02-10T10:19:39Z</dcterms:created>
  <dcterms:modified xsi:type="dcterms:W3CDTF">2025-10-18T12:03:48Z</dcterms:modified>
</cp:coreProperties>
</file>