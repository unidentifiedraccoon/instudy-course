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64" r:id="rId2"/>
    <p:sldId id="256" r:id="rId3"/>
    <p:sldId id="265" r:id="rId4"/>
    <p:sldId id="267" r:id="rId5"/>
    <p:sldId id="258" r:id="rId6"/>
    <p:sldId id="268" r:id="rId7"/>
    <p:sldId id="269" r:id="rId8"/>
    <p:sldId id="270" r:id="rId9"/>
    <p:sldId id="259" r:id="rId10"/>
    <p:sldId id="261" r:id="rId11"/>
    <p:sldId id="260" r:id="rId12"/>
    <p:sldId id="263" r:id="rId13"/>
  </p:sldIdLst>
  <p:sldSz cx="14630400" cy="8229600"/>
  <p:notesSz cx="8229600" cy="14630400"/>
  <p:embeddedFontLst>
    <p:embeddedFont>
      <p:font typeface="Cambria" panose="02040503050406030204" pitchFamily="18" charset="0"/>
      <p:regular r:id="rId15"/>
      <p:bold r:id="rId16"/>
      <p:italic r:id="rId17"/>
      <p:boldItalic r:id="rId18"/>
    </p:embeddedFont>
    <p:embeddedFont>
      <p:font typeface="Gelasio"/>
      <p:regular r:id="rId19"/>
    </p:embeddedFont>
    <p:embeddedFont>
      <p:font typeface="Gelasio Semi Bold"/>
      <p:regular r:id="rId20"/>
      <p:bold r:id="rId21"/>
    </p:embeddedFont>
    <p:embeddedFont>
      <p:font typeface="Open Sans ExtraBold" panose="020B0906030804020204" pitchFamily="34" charset="0"/>
      <p:bold r:id="rId22"/>
      <p:italic r:id="rId23"/>
      <p:boldItalic r:id="rId24"/>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34"/>
    <p:restoredTop sz="94610"/>
  </p:normalViewPr>
  <p:slideViewPr>
    <p:cSldViewPr snapToGrid="0" snapToObjects="1">
      <p:cViewPr varScale="1">
        <p:scale>
          <a:sx n="96" d="100"/>
          <a:sy n="96" d="100"/>
        </p:scale>
        <p:origin x="168"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2593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337155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605802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9309617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767441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0089955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9518928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4465995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
          <p:cNvSpPr/>
          <p:nvPr/>
        </p:nvSpPr>
        <p:spPr>
          <a:xfrm>
            <a:off x="6280190" y="4768753"/>
            <a:ext cx="7556421" cy="725805"/>
          </a:xfrm>
          <a:prstGeom prst="rect">
            <a:avLst/>
          </a:prstGeom>
          <a:noFill/>
          <a:ln/>
        </p:spPr>
        <p:txBody>
          <a:bodyPr wrap="square" lIns="0" tIns="0" rIns="0" bIns="0" rtlCol="0" anchor="t"/>
          <a:lstStyle/>
          <a:p>
            <a:pPr marL="0" indent="0">
              <a:lnSpc>
                <a:spcPts val="2850"/>
              </a:lnSpc>
              <a:buNone/>
            </a:pPr>
            <a:endParaRPr lang="en-US" sz="1750" dirty="0"/>
          </a:p>
        </p:txBody>
      </p:sp>
      <p:pic>
        <p:nvPicPr>
          <p:cNvPr id="7" name="Image 0" descr="preencoded.png">
            <a:extLst>
              <a:ext uri="{FF2B5EF4-FFF2-40B4-BE49-F238E27FC236}">
                <a16:creationId xmlns:a16="http://schemas.microsoft.com/office/drawing/2014/main" id="{2762E286-CED0-DC4D-9841-A98778E652D2}"/>
              </a:ext>
            </a:extLst>
          </p:cNvPr>
          <p:cNvPicPr>
            <a:picLocks noChangeAspect="1"/>
          </p:cNvPicPr>
          <p:nvPr/>
        </p:nvPicPr>
        <p:blipFill>
          <a:blip r:embed="rId3"/>
          <a:stretch>
            <a:fillRect/>
          </a:stretch>
        </p:blipFill>
        <p:spPr>
          <a:xfrm>
            <a:off x="0" y="0"/>
            <a:ext cx="5486400" cy="8229600"/>
          </a:xfrm>
          <a:prstGeom prst="rect">
            <a:avLst/>
          </a:prstGeom>
        </p:spPr>
      </p:pic>
      <p:pic>
        <p:nvPicPr>
          <p:cNvPr id="6" name="Рисунок 5">
            <a:extLst>
              <a:ext uri="{FF2B5EF4-FFF2-40B4-BE49-F238E27FC236}">
                <a16:creationId xmlns:a16="http://schemas.microsoft.com/office/drawing/2014/main" id="{696DF059-6CC8-7243-902E-A87E5B345E0D}"/>
              </a:ext>
            </a:extLst>
          </p:cNvPr>
          <p:cNvPicPr>
            <a:picLocks noChangeAspect="1"/>
          </p:cNvPicPr>
          <p:nvPr/>
        </p:nvPicPr>
        <p:blipFill>
          <a:blip r:embed="rId4"/>
          <a:stretch>
            <a:fillRect/>
          </a:stretch>
        </p:blipFill>
        <p:spPr>
          <a:xfrm>
            <a:off x="998120" y="1018978"/>
            <a:ext cx="3600383" cy="5355874"/>
          </a:xfrm>
          <a:prstGeom prst="rect">
            <a:avLst/>
          </a:prstGeom>
        </p:spPr>
      </p:pic>
      <p:sp>
        <p:nvSpPr>
          <p:cNvPr id="9" name="Google Shape;135;p17">
            <a:extLst>
              <a:ext uri="{FF2B5EF4-FFF2-40B4-BE49-F238E27FC236}">
                <a16:creationId xmlns:a16="http://schemas.microsoft.com/office/drawing/2014/main" id="{5106739F-7F56-374D-BAFE-16F5E8B5DD9D}"/>
              </a:ext>
            </a:extLst>
          </p:cNvPr>
          <p:cNvSpPr txBox="1"/>
          <p:nvPr/>
        </p:nvSpPr>
        <p:spPr>
          <a:xfrm>
            <a:off x="6837126" y="982885"/>
            <a:ext cx="5751634" cy="650338"/>
          </a:xfrm>
          <a:prstGeom prst="rect">
            <a:avLst/>
          </a:prstGeom>
          <a:noFill/>
          <a:ln>
            <a:noFill/>
          </a:ln>
        </p:spPr>
        <p:txBody>
          <a:bodyPr spcFirstLastPara="1" wrap="square" lIns="86059" tIns="86059" rIns="86059" bIns="86059" anchor="t" anchorCtr="0">
            <a:noAutofit/>
          </a:bodyPr>
          <a:lstStyle/>
          <a:p>
            <a:pPr defTabSz="860595">
              <a:lnSpc>
                <a:spcPct val="90000"/>
              </a:lnSpc>
            </a:pPr>
            <a:r>
              <a:rPr lang="ru-RU" sz="4000" dirty="0">
                <a:solidFill>
                  <a:srgbClr val="414141"/>
                </a:solidFill>
                <a:latin typeface="Open Sans ExtraBold"/>
                <a:ea typeface="Open Sans ExtraBold"/>
                <a:cs typeface="Open Sans ExtraBold"/>
                <a:sym typeface="Open Sans ExtraBold"/>
              </a:rPr>
              <a:t>КАРЕВА МАРИЯ</a:t>
            </a:r>
            <a:endParaRPr sz="4000" dirty="0">
              <a:solidFill>
                <a:srgbClr val="414141"/>
              </a:solidFill>
              <a:latin typeface="Open Sans ExtraBold"/>
              <a:ea typeface="Open Sans ExtraBold"/>
              <a:cs typeface="Open Sans ExtraBold"/>
              <a:sym typeface="Open Sans ExtraBold"/>
            </a:endParaRPr>
          </a:p>
        </p:txBody>
      </p:sp>
      <p:cxnSp>
        <p:nvCxnSpPr>
          <p:cNvPr id="10" name="Google Shape;136;p17">
            <a:extLst>
              <a:ext uri="{FF2B5EF4-FFF2-40B4-BE49-F238E27FC236}">
                <a16:creationId xmlns:a16="http://schemas.microsoft.com/office/drawing/2014/main" id="{C8F4945C-C691-6C4E-8D49-3A85ABF87CD4}"/>
              </a:ext>
            </a:extLst>
          </p:cNvPr>
          <p:cNvCxnSpPr>
            <a:cxnSpLocks/>
          </p:cNvCxnSpPr>
          <p:nvPr/>
        </p:nvCxnSpPr>
        <p:spPr>
          <a:xfrm flipV="1">
            <a:off x="7709139" y="1865693"/>
            <a:ext cx="3735330" cy="5208"/>
          </a:xfrm>
          <a:prstGeom prst="straightConnector1">
            <a:avLst/>
          </a:prstGeom>
          <a:noFill/>
          <a:ln w="76200" cap="flat" cmpd="sng">
            <a:solidFill>
              <a:srgbClr val="E7E6E6"/>
            </a:solidFill>
            <a:prstDash val="solid"/>
            <a:round/>
            <a:headEnd type="none" w="med" len="med"/>
            <a:tailEnd type="none" w="med" len="med"/>
          </a:ln>
        </p:spPr>
      </p:cxnSp>
      <p:sp>
        <p:nvSpPr>
          <p:cNvPr id="11" name="Google Shape;137;p17">
            <a:extLst>
              <a:ext uri="{FF2B5EF4-FFF2-40B4-BE49-F238E27FC236}">
                <a16:creationId xmlns:a16="http://schemas.microsoft.com/office/drawing/2014/main" id="{D71D283B-F467-0A49-90ED-60E062C0F81E}"/>
              </a:ext>
            </a:extLst>
          </p:cNvPr>
          <p:cNvSpPr/>
          <p:nvPr/>
        </p:nvSpPr>
        <p:spPr>
          <a:xfrm>
            <a:off x="6494893" y="2285302"/>
            <a:ext cx="352606" cy="398480"/>
          </a:xfrm>
          <a:prstGeom prst="ellipse">
            <a:avLst/>
          </a:prstGeom>
          <a:solidFill>
            <a:schemeClr val="accent1"/>
          </a:solidFill>
          <a:ln>
            <a:noFill/>
          </a:ln>
        </p:spPr>
        <p:txBody>
          <a:bodyPr spcFirstLastPara="1" wrap="square" lIns="86059" tIns="86059" rIns="86059" bIns="86059" anchor="ctr" anchorCtr="0">
            <a:noAutofit/>
          </a:bodyPr>
          <a:lstStyle/>
          <a:p>
            <a:pPr algn="ctr" defTabSz="860595"/>
            <a:endParaRPr sz="1317">
              <a:latin typeface="Calibri"/>
              <a:ea typeface="Calibri"/>
              <a:cs typeface="Calibri"/>
              <a:sym typeface="Calibri"/>
            </a:endParaRPr>
          </a:p>
        </p:txBody>
      </p:sp>
      <p:sp>
        <p:nvSpPr>
          <p:cNvPr id="12" name="Google Shape;138;p17">
            <a:extLst>
              <a:ext uri="{FF2B5EF4-FFF2-40B4-BE49-F238E27FC236}">
                <a16:creationId xmlns:a16="http://schemas.microsoft.com/office/drawing/2014/main" id="{11818CE4-2454-6142-BC45-0A9E6825ED4C}"/>
              </a:ext>
            </a:extLst>
          </p:cNvPr>
          <p:cNvSpPr txBox="1"/>
          <p:nvPr/>
        </p:nvSpPr>
        <p:spPr>
          <a:xfrm>
            <a:off x="6971799" y="2851854"/>
            <a:ext cx="6526939" cy="1081740"/>
          </a:xfrm>
          <a:prstGeom prst="rect">
            <a:avLst/>
          </a:prstGeom>
          <a:noFill/>
          <a:ln>
            <a:noFill/>
          </a:ln>
        </p:spPr>
        <p:txBody>
          <a:bodyPr spcFirstLastPara="1" wrap="square" lIns="86059" tIns="86059" rIns="86059" bIns="86059" anchor="t" anchorCtr="0">
            <a:spAutoFit/>
          </a:bodyPr>
          <a:lstStyle/>
          <a:p>
            <a:pPr algn="just" defTabSz="860595">
              <a:lnSpc>
                <a:spcPct val="90000"/>
              </a:lnSpc>
              <a:spcBef>
                <a:spcPts val="565"/>
              </a:spcBef>
            </a:pPr>
            <a:r>
              <a:rPr lang="en-US" sz="2000" dirty="0">
                <a:latin typeface="Times New Roman" panose="02020603050405020304" pitchFamily="18" charset="0"/>
                <a:ea typeface="Open Sans"/>
                <a:cs typeface="Times New Roman" panose="02020603050405020304" pitchFamily="18" charset="0"/>
                <a:sym typeface="Open Sans"/>
              </a:rPr>
              <a:t>Master</a:t>
            </a:r>
            <a:r>
              <a:rPr lang="ru-RU" sz="2000" dirty="0">
                <a:latin typeface="Times New Roman" panose="02020603050405020304" pitchFamily="18" charset="0"/>
                <a:ea typeface="Open Sans"/>
                <a:cs typeface="Times New Roman" panose="02020603050405020304" pitchFamily="18" charset="0"/>
                <a:sym typeface="Open Sans"/>
              </a:rPr>
              <a:t>-</a:t>
            </a:r>
            <a:r>
              <a:rPr lang="en-US" sz="2000" dirty="0">
                <a:latin typeface="Times New Roman" panose="02020603050405020304" pitchFamily="18" charset="0"/>
                <a:ea typeface="Open Sans"/>
                <a:cs typeface="Times New Roman" panose="02020603050405020304" pitchFamily="18" charset="0"/>
                <a:sym typeface="Open Sans"/>
              </a:rPr>
              <a:t>coach</a:t>
            </a:r>
            <a:r>
              <a:rPr lang="ru-RU" sz="2000" dirty="0">
                <a:latin typeface="Times New Roman" panose="02020603050405020304" pitchFamily="18" charset="0"/>
                <a:ea typeface="Open Sans"/>
                <a:cs typeface="Times New Roman" panose="02020603050405020304" pitchFamily="18" charset="0"/>
                <a:sym typeface="Open Sans"/>
              </a:rPr>
              <a:t> (</a:t>
            </a:r>
            <a:r>
              <a:rPr lang="en-US" sz="2000" dirty="0">
                <a:latin typeface="Times New Roman" panose="02020603050405020304" pitchFamily="18" charset="0"/>
                <a:ea typeface="Open Sans"/>
                <a:cs typeface="Times New Roman" panose="02020603050405020304" pitchFamily="18" charset="0"/>
                <a:sym typeface="Open Sans"/>
              </a:rPr>
              <a:t>ICI</a:t>
            </a:r>
            <a:r>
              <a:rPr lang="ru-RU" sz="2000" dirty="0">
                <a:latin typeface="Times New Roman" panose="02020603050405020304" pitchFamily="18" charset="0"/>
                <a:ea typeface="Open Sans"/>
                <a:cs typeface="Times New Roman" panose="02020603050405020304" pitchFamily="18" charset="0"/>
                <a:sym typeface="Open Sans"/>
              </a:rPr>
              <a:t>), системный </a:t>
            </a:r>
            <a:r>
              <a:rPr lang="ru-RU" sz="2000" dirty="0" err="1">
                <a:latin typeface="Times New Roman" panose="02020603050405020304" pitchFamily="18" charset="0"/>
                <a:ea typeface="Open Sans"/>
                <a:cs typeface="Times New Roman" panose="02020603050405020304" pitchFamily="18" charset="0"/>
                <a:sym typeface="Open Sans"/>
              </a:rPr>
              <a:t>коуч</a:t>
            </a:r>
            <a:r>
              <a:rPr lang="ru-RU" sz="2000" dirty="0">
                <a:latin typeface="Times New Roman" panose="02020603050405020304" pitchFamily="18" charset="0"/>
                <a:ea typeface="Open Sans"/>
                <a:cs typeface="Times New Roman" panose="02020603050405020304" pitchFamily="18" charset="0"/>
                <a:sym typeface="Open Sans"/>
              </a:rPr>
              <a:t> (</a:t>
            </a:r>
            <a:r>
              <a:rPr lang="en-US" sz="2000" dirty="0">
                <a:latin typeface="Times New Roman" panose="02020603050405020304" pitchFamily="18" charset="0"/>
                <a:ea typeface="Open Sans"/>
                <a:cs typeface="Times New Roman" panose="02020603050405020304" pitchFamily="18" charset="0"/>
                <a:sym typeface="Open Sans"/>
              </a:rPr>
              <a:t>MRI</a:t>
            </a:r>
            <a:r>
              <a:rPr lang="ru-RU" sz="2000" dirty="0">
                <a:latin typeface="Times New Roman" panose="02020603050405020304" pitchFamily="18" charset="0"/>
                <a:ea typeface="Open Sans"/>
                <a:cs typeface="Times New Roman" panose="02020603050405020304" pitchFamily="18" charset="0"/>
                <a:sym typeface="Open Sans"/>
              </a:rPr>
              <a:t>), супервизор (</a:t>
            </a:r>
            <a:r>
              <a:rPr lang="en-US" sz="2000" dirty="0">
                <a:latin typeface="Times New Roman" panose="02020603050405020304" pitchFamily="18" charset="0"/>
                <a:ea typeface="Open Sans"/>
                <a:cs typeface="Times New Roman" panose="02020603050405020304" pitchFamily="18" charset="0"/>
                <a:sym typeface="Open Sans"/>
              </a:rPr>
              <a:t>ECA</a:t>
            </a:r>
            <a:r>
              <a:rPr lang="ru-RU" sz="2000" dirty="0">
                <a:latin typeface="Times New Roman" panose="02020603050405020304" pitchFamily="18" charset="0"/>
                <a:ea typeface="Open Sans"/>
                <a:cs typeface="Times New Roman" panose="02020603050405020304" pitchFamily="18" charset="0"/>
                <a:sym typeface="Open Sans"/>
              </a:rPr>
              <a:t>), ментор-наставник психологических и коучинговых программ</a:t>
            </a:r>
            <a:r>
              <a:rPr lang="en-US" sz="2000" dirty="0">
                <a:latin typeface="Times New Roman" panose="02020603050405020304" pitchFamily="18" charset="0"/>
                <a:ea typeface="Open Sans"/>
                <a:cs typeface="Times New Roman" panose="02020603050405020304" pitchFamily="18" charset="0"/>
                <a:sym typeface="Open Sans"/>
              </a:rPr>
              <a:t> (</a:t>
            </a:r>
            <a:r>
              <a:rPr lang="ru-RU" sz="2000" dirty="0">
                <a:latin typeface="Times New Roman" panose="02020603050405020304" pitchFamily="18" charset="0"/>
                <a:ea typeface="Open Sans"/>
                <a:cs typeface="Times New Roman" panose="02020603050405020304" pitchFamily="18" charset="0"/>
                <a:sym typeface="Open Sans"/>
              </a:rPr>
              <a:t>МИП, РУДН, УОМ) </a:t>
            </a:r>
            <a:endParaRPr sz="2000" dirty="0">
              <a:latin typeface="Times New Roman" panose="02020603050405020304" pitchFamily="18" charset="0"/>
              <a:ea typeface="Open Sans"/>
              <a:cs typeface="Times New Roman" panose="02020603050405020304" pitchFamily="18" charset="0"/>
              <a:sym typeface="Open Sans"/>
            </a:endParaRPr>
          </a:p>
        </p:txBody>
      </p:sp>
      <p:sp>
        <p:nvSpPr>
          <p:cNvPr id="13" name="Google Shape;138;p17">
            <a:extLst>
              <a:ext uri="{FF2B5EF4-FFF2-40B4-BE49-F238E27FC236}">
                <a16:creationId xmlns:a16="http://schemas.microsoft.com/office/drawing/2014/main" id="{92C1D34F-E934-754A-8D7D-6DCEE957EDB2}"/>
              </a:ext>
            </a:extLst>
          </p:cNvPr>
          <p:cNvSpPr txBox="1"/>
          <p:nvPr/>
        </p:nvSpPr>
        <p:spPr>
          <a:xfrm>
            <a:off x="6971799" y="2026458"/>
            <a:ext cx="6518913" cy="866296"/>
          </a:xfrm>
          <a:prstGeom prst="rect">
            <a:avLst/>
          </a:prstGeom>
          <a:noFill/>
          <a:ln>
            <a:noFill/>
          </a:ln>
        </p:spPr>
        <p:txBody>
          <a:bodyPr spcFirstLastPara="1" wrap="square" lIns="86059" tIns="86059" rIns="86059" bIns="86059" anchor="t" anchorCtr="0">
            <a:spAutoFit/>
          </a:bodyPr>
          <a:lstStyle/>
          <a:p>
            <a:pPr algn="just" defTabSz="860595">
              <a:spcBef>
                <a:spcPts val="565"/>
              </a:spcBef>
            </a:pPr>
            <a:r>
              <a:rPr lang="ru-RU" sz="2000" dirty="0">
                <a:latin typeface="Times New Roman" panose="02020603050405020304" pitchFamily="18" charset="0"/>
                <a:ea typeface="Open Sans"/>
                <a:cs typeface="Times New Roman" panose="02020603050405020304" pitchFamily="18" charset="0"/>
                <a:sym typeface="Open Sans"/>
              </a:rPr>
              <a:t>Магистр психологии, преподаватель психологии, </a:t>
            </a:r>
            <a:r>
              <a:rPr lang="ru-RU" sz="2000" dirty="0" err="1">
                <a:latin typeface="Times New Roman" panose="02020603050405020304" pitchFamily="18" charset="0"/>
                <a:ea typeface="Open Sans"/>
                <a:cs typeface="Times New Roman" panose="02020603050405020304" pitchFamily="18" charset="0"/>
                <a:sym typeface="Open Sans"/>
              </a:rPr>
              <a:t>нейрокоуч</a:t>
            </a:r>
            <a:r>
              <a:rPr lang="ru-RU" sz="2000" dirty="0">
                <a:latin typeface="Times New Roman" panose="02020603050405020304" pitchFamily="18" charset="0"/>
                <a:ea typeface="Open Sans"/>
                <a:cs typeface="Times New Roman" panose="02020603050405020304" pitchFamily="18" charset="0"/>
                <a:sym typeface="Open Sans"/>
              </a:rPr>
              <a:t>, супервизор</a:t>
            </a:r>
            <a:endParaRPr sz="2000" dirty="0">
              <a:latin typeface="Times New Roman" panose="02020603050405020304" pitchFamily="18" charset="0"/>
              <a:ea typeface="Open Sans"/>
              <a:cs typeface="Times New Roman" panose="02020603050405020304" pitchFamily="18" charset="0"/>
              <a:sym typeface="Open Sans"/>
            </a:endParaRPr>
          </a:p>
        </p:txBody>
      </p:sp>
      <p:sp>
        <p:nvSpPr>
          <p:cNvPr id="14" name="Google Shape;137;p17">
            <a:extLst>
              <a:ext uri="{FF2B5EF4-FFF2-40B4-BE49-F238E27FC236}">
                <a16:creationId xmlns:a16="http://schemas.microsoft.com/office/drawing/2014/main" id="{BE390651-D1E9-D84C-94DF-FF8F6A69E464}"/>
              </a:ext>
            </a:extLst>
          </p:cNvPr>
          <p:cNvSpPr/>
          <p:nvPr/>
        </p:nvSpPr>
        <p:spPr>
          <a:xfrm>
            <a:off x="6484520" y="3234287"/>
            <a:ext cx="352606" cy="398480"/>
          </a:xfrm>
          <a:prstGeom prst="ellipse">
            <a:avLst/>
          </a:prstGeom>
          <a:solidFill>
            <a:schemeClr val="accent1"/>
          </a:solidFill>
          <a:ln>
            <a:noFill/>
          </a:ln>
        </p:spPr>
        <p:txBody>
          <a:bodyPr spcFirstLastPara="1" wrap="square" lIns="86059" tIns="86059" rIns="86059" bIns="86059" anchor="ctr" anchorCtr="0">
            <a:noAutofit/>
          </a:bodyPr>
          <a:lstStyle/>
          <a:p>
            <a:pPr algn="ctr" defTabSz="860595"/>
            <a:endParaRPr sz="1317">
              <a:latin typeface="Calibri"/>
              <a:ea typeface="Calibri"/>
              <a:cs typeface="Calibri"/>
              <a:sym typeface="Calibri"/>
            </a:endParaRPr>
          </a:p>
        </p:txBody>
      </p:sp>
      <p:sp>
        <p:nvSpPr>
          <p:cNvPr id="15" name="Google Shape;137;p17">
            <a:extLst>
              <a:ext uri="{FF2B5EF4-FFF2-40B4-BE49-F238E27FC236}">
                <a16:creationId xmlns:a16="http://schemas.microsoft.com/office/drawing/2014/main" id="{7EBF0333-07C5-0140-AAD9-239CA7EB48C4}"/>
              </a:ext>
            </a:extLst>
          </p:cNvPr>
          <p:cNvSpPr/>
          <p:nvPr/>
        </p:nvSpPr>
        <p:spPr>
          <a:xfrm>
            <a:off x="6494893" y="4209818"/>
            <a:ext cx="352606" cy="398480"/>
          </a:xfrm>
          <a:prstGeom prst="ellipse">
            <a:avLst/>
          </a:prstGeom>
          <a:solidFill>
            <a:schemeClr val="accent1"/>
          </a:solidFill>
          <a:ln>
            <a:noFill/>
          </a:ln>
        </p:spPr>
        <p:txBody>
          <a:bodyPr spcFirstLastPara="1" wrap="square" lIns="86059" tIns="86059" rIns="86059" bIns="86059" anchor="ctr" anchorCtr="0">
            <a:noAutofit/>
          </a:bodyPr>
          <a:lstStyle/>
          <a:p>
            <a:pPr algn="ctr" defTabSz="860595"/>
            <a:endParaRPr sz="1317">
              <a:latin typeface="Calibri"/>
              <a:ea typeface="Calibri"/>
              <a:cs typeface="Calibri"/>
              <a:sym typeface="Calibri"/>
            </a:endParaRPr>
          </a:p>
        </p:txBody>
      </p:sp>
      <p:sp>
        <p:nvSpPr>
          <p:cNvPr id="16" name="TextBox 15">
            <a:extLst>
              <a:ext uri="{FF2B5EF4-FFF2-40B4-BE49-F238E27FC236}">
                <a16:creationId xmlns:a16="http://schemas.microsoft.com/office/drawing/2014/main" id="{53B82F2D-357E-DC47-A0CF-77D7A41F8B2B}"/>
              </a:ext>
            </a:extLst>
          </p:cNvPr>
          <p:cNvSpPr txBox="1"/>
          <p:nvPr/>
        </p:nvSpPr>
        <p:spPr>
          <a:xfrm>
            <a:off x="6963202" y="4034318"/>
            <a:ext cx="6518913" cy="1015663"/>
          </a:xfrm>
          <a:prstGeom prst="rect">
            <a:avLst/>
          </a:prstGeom>
          <a:noFill/>
        </p:spPr>
        <p:txBody>
          <a:bodyPr wrap="square" rtlCol="0">
            <a:spAutoFit/>
          </a:bodyPr>
          <a:lstStyle/>
          <a:p>
            <a:pPr algn="just"/>
            <a:r>
              <a:rPr lang="ru-RU" sz="2000" dirty="0">
                <a:latin typeface="Times New Roman" panose="02020603050405020304" pitchFamily="18" charset="0"/>
                <a:ea typeface="Open Sans"/>
                <a:cs typeface="Times New Roman" panose="02020603050405020304" pitchFamily="18" charset="0"/>
              </a:rPr>
              <a:t>Эксперт и консультант в области управления организацией, управления финансами (ВО,  </a:t>
            </a:r>
            <a:r>
              <a:rPr lang="en-US" sz="2000" dirty="0">
                <a:latin typeface="Times New Roman" panose="02020603050405020304" pitchFamily="18" charset="0"/>
                <a:ea typeface="Open Sans"/>
                <a:cs typeface="Times New Roman" panose="02020603050405020304" pitchFamily="18" charset="0"/>
              </a:rPr>
              <a:t>EMBA)</a:t>
            </a:r>
            <a:r>
              <a:rPr lang="ru-RU" sz="2000" dirty="0">
                <a:latin typeface="Times New Roman" panose="02020603050405020304" pitchFamily="18" charset="0"/>
                <a:ea typeface="Open Sans"/>
                <a:cs typeface="Times New Roman" panose="02020603050405020304" pitchFamily="18" charset="0"/>
              </a:rPr>
              <a:t>. </a:t>
            </a:r>
            <a:r>
              <a:rPr lang="en-US" sz="2000" dirty="0">
                <a:latin typeface="Times New Roman" panose="02020603050405020304" pitchFamily="18" charset="0"/>
                <a:ea typeface="Open Sans"/>
                <a:cs typeface="Times New Roman" panose="02020603050405020304" pitchFamily="18" charset="0"/>
              </a:rPr>
              <a:t> </a:t>
            </a:r>
            <a:r>
              <a:rPr lang="ru-RU" sz="2000" dirty="0">
                <a:latin typeface="Times New Roman" panose="02020603050405020304" pitchFamily="18" charset="0"/>
                <a:ea typeface="Open Sans"/>
                <a:cs typeface="Times New Roman" panose="02020603050405020304" pitchFamily="18" charset="0"/>
              </a:rPr>
              <a:t>Организатор и ведущий групповых мероприятий. </a:t>
            </a:r>
          </a:p>
        </p:txBody>
      </p:sp>
      <p:pic>
        <p:nvPicPr>
          <p:cNvPr id="17" name="Рисунок 16">
            <a:extLst>
              <a:ext uri="{FF2B5EF4-FFF2-40B4-BE49-F238E27FC236}">
                <a16:creationId xmlns:a16="http://schemas.microsoft.com/office/drawing/2014/main" id="{8F50EC97-321E-DD4A-B330-FD325AE1DFED}"/>
              </a:ext>
            </a:extLst>
          </p:cNvPr>
          <p:cNvPicPr>
            <a:picLocks noChangeAspect="1"/>
          </p:cNvPicPr>
          <p:nvPr/>
        </p:nvPicPr>
        <p:blipFill>
          <a:blip r:embed="rId5"/>
          <a:stretch>
            <a:fillRect/>
          </a:stretch>
        </p:blipFill>
        <p:spPr>
          <a:xfrm>
            <a:off x="11163709" y="5150705"/>
            <a:ext cx="3001418" cy="3001418"/>
          </a:xfrm>
          <a:prstGeom prst="rect">
            <a:avLst/>
          </a:prstGeom>
        </p:spPr>
      </p:pic>
    </p:spTree>
    <p:extLst>
      <p:ext uri="{BB962C8B-B14F-4D97-AF65-F5344CB8AC3E}">
        <p14:creationId xmlns:p14="http://schemas.microsoft.com/office/powerpoint/2010/main" val="418416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4" name="Text 0"/>
          <p:cNvSpPr/>
          <p:nvPr/>
        </p:nvSpPr>
        <p:spPr>
          <a:xfrm>
            <a:off x="6280190" y="3227427"/>
            <a:ext cx="5670590" cy="708779"/>
          </a:xfrm>
          <a:prstGeom prst="rect">
            <a:avLst/>
          </a:prstGeom>
          <a:noFill/>
          <a:ln/>
        </p:spPr>
        <p:txBody>
          <a:bodyPr wrap="none" lIns="0" tIns="0" rIns="0" bIns="0" rtlCol="0" anchor="t"/>
          <a:lstStyle/>
          <a:p>
            <a:pPr marL="0" indent="0">
              <a:lnSpc>
                <a:spcPts val="5550"/>
              </a:lnSpc>
              <a:buNone/>
            </a:pPr>
            <a:r>
              <a:rPr lang="en-US" sz="4450" dirty="0">
                <a:latin typeface="Gelasio Semi Bold" pitchFamily="34" charset="0"/>
                <a:ea typeface="Gelasio Semi Bold" pitchFamily="34" charset="-122"/>
                <a:cs typeface="Gelasio Semi Bold" pitchFamily="34" charset="-120"/>
              </a:rPr>
              <a:t>Техника</a:t>
            </a:r>
            <a:r>
              <a:rPr lang="en-US" sz="4450" b="1" dirty="0">
                <a:latin typeface="Gelasio Semi Bold" pitchFamily="34" charset="0"/>
                <a:ea typeface="Gelasio Semi Bold" pitchFamily="34" charset="-122"/>
                <a:cs typeface="Gelasio Semi Bold" pitchFamily="34" charset="-120"/>
              </a:rPr>
              <a:t> </a:t>
            </a:r>
            <a:r>
              <a:rPr lang="ru-RU" sz="4450" b="1" dirty="0">
                <a:latin typeface="Gelasio Semi Bold" pitchFamily="34" charset="0"/>
                <a:ea typeface="Gelasio Semi Bold" pitchFamily="34" charset="-122"/>
                <a:cs typeface="Gelasio Semi Bold" pitchFamily="34" charset="-120"/>
              </a:rPr>
              <a:t>Квадрант страхов</a:t>
            </a:r>
            <a:endParaRPr lang="en-US" sz="4450" b="1" dirty="0"/>
          </a:p>
        </p:txBody>
      </p:sp>
      <p:sp>
        <p:nvSpPr>
          <p:cNvPr id="5" name="Text 1"/>
          <p:cNvSpPr/>
          <p:nvPr/>
        </p:nvSpPr>
        <p:spPr>
          <a:xfrm>
            <a:off x="6280190" y="4276368"/>
            <a:ext cx="7556421" cy="725805"/>
          </a:xfrm>
          <a:prstGeom prst="rect">
            <a:avLst/>
          </a:prstGeom>
          <a:noFill/>
          <a:ln/>
        </p:spPr>
        <p:txBody>
          <a:bodyPr wrap="square" lIns="0" tIns="0" rIns="0" bIns="0" rtlCol="0" anchor="t"/>
          <a:lstStyle/>
          <a:p>
            <a:pPr marL="0" indent="0" algn="just">
              <a:lnSpc>
                <a:spcPts val="2850"/>
              </a:lnSpc>
              <a:buNone/>
            </a:pPr>
            <a:r>
              <a:rPr lang="ru-RU" sz="2400" dirty="0">
                <a:latin typeface="Gelasio" pitchFamily="34" charset="0"/>
                <a:ea typeface="Gelasio" pitchFamily="34" charset="-122"/>
                <a:cs typeface="Gelasio" pitchFamily="34" charset="-120"/>
              </a:rPr>
              <a:t>Техника, которая позволяет проработать набор  страхов, которые характерны для любых задач/целей/ситуаций</a:t>
            </a:r>
            <a:endParaRPr lang="en-US" sz="2400" dirty="0"/>
          </a:p>
        </p:txBody>
      </p:sp>
      <p:pic>
        <p:nvPicPr>
          <p:cNvPr id="7" name="Рисунок 6">
            <a:extLst>
              <a:ext uri="{FF2B5EF4-FFF2-40B4-BE49-F238E27FC236}">
                <a16:creationId xmlns:a16="http://schemas.microsoft.com/office/drawing/2014/main" id="{58D954E9-3EA3-4A47-B7E5-65191C6BAEBB}"/>
              </a:ext>
            </a:extLst>
          </p:cNvPr>
          <p:cNvPicPr>
            <a:picLocks noChangeAspect="1"/>
          </p:cNvPicPr>
          <p:nvPr/>
        </p:nvPicPr>
        <p:blipFill>
          <a:blip r:embed="rId4"/>
          <a:stretch>
            <a:fillRect/>
          </a:stretch>
        </p:blipFill>
        <p:spPr>
          <a:xfrm>
            <a:off x="1" y="2250999"/>
            <a:ext cx="5486399" cy="372760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8503" y="525630"/>
            <a:ext cx="8348543" cy="708779"/>
          </a:xfrm>
          <a:prstGeom prst="rect">
            <a:avLst/>
          </a:prstGeom>
          <a:noFill/>
          <a:ln/>
        </p:spPr>
        <p:txBody>
          <a:bodyPr wrap="none" lIns="0" tIns="0" rIns="0" bIns="0" rtlCol="0" anchor="t"/>
          <a:lstStyle/>
          <a:p>
            <a:pPr marL="0" indent="0">
              <a:lnSpc>
                <a:spcPts val="5550"/>
              </a:lnSpc>
              <a:buNone/>
            </a:pPr>
            <a:r>
              <a:rPr lang="ru-RU" sz="4450" b="1" dirty="0">
                <a:latin typeface="Gelasio Semi Bold" pitchFamily="34" charset="0"/>
                <a:ea typeface="Gelasio Semi Bold" pitchFamily="34" charset="-122"/>
                <a:cs typeface="Gelasio Semi Bold" pitchFamily="34" charset="-120"/>
              </a:rPr>
              <a:t>Квадрант страхов</a:t>
            </a:r>
            <a:endParaRPr lang="en-US" sz="4450" b="1" dirty="0"/>
          </a:p>
        </p:txBody>
      </p:sp>
      <p:sp>
        <p:nvSpPr>
          <p:cNvPr id="7" name="Прямоугольник 6">
            <a:extLst>
              <a:ext uri="{FF2B5EF4-FFF2-40B4-BE49-F238E27FC236}">
                <a16:creationId xmlns:a16="http://schemas.microsoft.com/office/drawing/2014/main" id="{B9730610-2875-EB40-9BC3-B52EEE41DF8E}"/>
              </a:ext>
            </a:extLst>
          </p:cNvPr>
          <p:cNvSpPr/>
          <p:nvPr/>
        </p:nvSpPr>
        <p:spPr>
          <a:xfrm rot="18908386">
            <a:off x="6410220" y="3100658"/>
            <a:ext cx="2720102" cy="2791297"/>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Скругленная прямоугольная выноска 7">
            <a:extLst>
              <a:ext uri="{FF2B5EF4-FFF2-40B4-BE49-F238E27FC236}">
                <a16:creationId xmlns:a16="http://schemas.microsoft.com/office/drawing/2014/main" id="{0DA920C5-6AD5-5A43-B7BB-E236FDD39F00}"/>
              </a:ext>
            </a:extLst>
          </p:cNvPr>
          <p:cNvSpPr/>
          <p:nvPr/>
        </p:nvSpPr>
        <p:spPr>
          <a:xfrm>
            <a:off x="6487991" y="1126693"/>
            <a:ext cx="2915290" cy="777240"/>
          </a:xfrm>
          <a:prstGeom prst="wedgeRoundRectCallout">
            <a:avLst>
              <a:gd name="adj1" fmla="val -8691"/>
              <a:gd name="adj2" fmla="val 112136"/>
              <a:gd name="adj3" fmla="val 16667"/>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latin typeface="Times New Roman" panose="02020603050405020304" pitchFamily="18" charset="0"/>
                <a:cs typeface="Times New Roman" panose="02020603050405020304" pitchFamily="18" charset="0"/>
              </a:rPr>
              <a:t>1. Страх мечтать</a:t>
            </a:r>
          </a:p>
        </p:txBody>
      </p:sp>
      <p:sp>
        <p:nvSpPr>
          <p:cNvPr id="9" name="Скругленная прямоугольная выноска 8">
            <a:extLst>
              <a:ext uri="{FF2B5EF4-FFF2-40B4-BE49-F238E27FC236}">
                <a16:creationId xmlns:a16="http://schemas.microsoft.com/office/drawing/2014/main" id="{B0AA2AAE-9C2E-DB4A-A888-46822C04A80D}"/>
              </a:ext>
            </a:extLst>
          </p:cNvPr>
          <p:cNvSpPr/>
          <p:nvPr/>
        </p:nvSpPr>
        <p:spPr>
          <a:xfrm>
            <a:off x="10339208" y="3791010"/>
            <a:ext cx="3897014" cy="985754"/>
          </a:xfrm>
          <a:prstGeom prst="wedgeRoundRectCallout">
            <a:avLst>
              <a:gd name="adj1" fmla="val -63320"/>
              <a:gd name="adj2" fmla="val 11719"/>
              <a:gd name="adj3" fmla="val 16667"/>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latin typeface="Times New Roman" panose="02020603050405020304" pitchFamily="18" charset="0"/>
                <a:cs typeface="Times New Roman" panose="02020603050405020304" pitchFamily="18" charset="0"/>
              </a:rPr>
              <a:t>2. Страх, что не получится (меня осудят)</a:t>
            </a:r>
          </a:p>
        </p:txBody>
      </p:sp>
      <p:sp>
        <p:nvSpPr>
          <p:cNvPr id="10" name="Скругленная прямоугольная выноска 9">
            <a:extLst>
              <a:ext uri="{FF2B5EF4-FFF2-40B4-BE49-F238E27FC236}">
                <a16:creationId xmlns:a16="http://schemas.microsoft.com/office/drawing/2014/main" id="{5E727979-73C3-4049-B5E9-420C8446D751}"/>
              </a:ext>
            </a:extLst>
          </p:cNvPr>
          <p:cNvSpPr/>
          <p:nvPr/>
        </p:nvSpPr>
        <p:spPr>
          <a:xfrm>
            <a:off x="6487991" y="7088680"/>
            <a:ext cx="2915290" cy="777240"/>
          </a:xfrm>
          <a:prstGeom prst="wedgeRoundRectCallout">
            <a:avLst>
              <a:gd name="adj1" fmla="val -5796"/>
              <a:gd name="adj2" fmla="val -115852"/>
              <a:gd name="adj3" fmla="val 16667"/>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latin typeface="Times New Roman" panose="02020603050405020304" pitchFamily="18" charset="0"/>
                <a:cs typeface="Times New Roman" panose="02020603050405020304" pitchFamily="18" charset="0"/>
              </a:rPr>
              <a:t>3. Страх системы</a:t>
            </a:r>
          </a:p>
        </p:txBody>
      </p:sp>
      <p:sp>
        <p:nvSpPr>
          <p:cNvPr id="11" name="Скругленная прямоугольная выноска 10">
            <a:extLst>
              <a:ext uri="{FF2B5EF4-FFF2-40B4-BE49-F238E27FC236}">
                <a16:creationId xmlns:a16="http://schemas.microsoft.com/office/drawing/2014/main" id="{93491DF7-CFB3-D64D-96A2-6769AEB4F6CF}"/>
              </a:ext>
            </a:extLst>
          </p:cNvPr>
          <p:cNvSpPr/>
          <p:nvPr/>
        </p:nvSpPr>
        <p:spPr>
          <a:xfrm>
            <a:off x="1481328" y="3791010"/>
            <a:ext cx="3720006" cy="1194268"/>
          </a:xfrm>
          <a:prstGeom prst="wedgeRoundRectCallout">
            <a:avLst>
              <a:gd name="adj1" fmla="val 65109"/>
              <a:gd name="adj2" fmla="val 7013"/>
              <a:gd name="adj3" fmla="val 16667"/>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solidFill>
                <a:latin typeface="Times New Roman" panose="02020603050405020304" pitchFamily="18" charset="0"/>
                <a:cs typeface="Times New Roman" panose="02020603050405020304" pitchFamily="18" charset="0"/>
              </a:rPr>
              <a:t>4.1. Страх результата</a:t>
            </a:r>
          </a:p>
          <a:p>
            <a:pPr algn="ctr"/>
            <a:r>
              <a:rPr lang="ru-RU" sz="2400" b="1" dirty="0">
                <a:solidFill>
                  <a:schemeClr val="tx1"/>
                </a:solidFill>
                <a:latin typeface="Times New Roman" panose="02020603050405020304" pitchFamily="18" charset="0"/>
                <a:cs typeface="Times New Roman" panose="02020603050405020304" pitchFamily="18" charset="0"/>
              </a:rPr>
              <a:t>4.2. Страх того, что больше нет мечты</a:t>
            </a:r>
          </a:p>
        </p:txBody>
      </p:sp>
    </p:spTree>
    <p:extLst>
      <p:ext uri="{BB962C8B-B14F-4D97-AF65-F5344CB8AC3E}">
        <p14:creationId xmlns:p14="http://schemas.microsoft.com/office/powerpoint/2010/main" val="3288541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27297" y="1632834"/>
            <a:ext cx="8348543" cy="708779"/>
          </a:xfrm>
          <a:prstGeom prst="rect">
            <a:avLst/>
          </a:prstGeom>
          <a:noFill/>
          <a:ln/>
        </p:spPr>
        <p:txBody>
          <a:bodyPr wrap="none" lIns="0" tIns="0" rIns="0" bIns="0" rtlCol="0" anchor="t"/>
          <a:lstStyle/>
          <a:p>
            <a:pPr marL="0" indent="0">
              <a:lnSpc>
                <a:spcPts val="5550"/>
              </a:lnSpc>
              <a:buNone/>
            </a:pPr>
            <a:r>
              <a:rPr lang="en-US" sz="4450" b="1" dirty="0">
                <a:latin typeface="Gelasio Semi Bold" pitchFamily="34" charset="0"/>
                <a:ea typeface="Gelasio Semi Bold" pitchFamily="34" charset="-122"/>
                <a:cs typeface="Gelasio Semi Bold" pitchFamily="34" charset="-120"/>
              </a:rPr>
              <a:t>Когда и для чего применяется</a:t>
            </a:r>
            <a:endParaRPr lang="en-US" sz="4450" b="1" dirty="0"/>
          </a:p>
        </p:txBody>
      </p:sp>
      <p:sp>
        <p:nvSpPr>
          <p:cNvPr id="4" name="Text 2"/>
          <p:cNvSpPr/>
          <p:nvPr/>
        </p:nvSpPr>
        <p:spPr>
          <a:xfrm>
            <a:off x="6291051" y="2760678"/>
            <a:ext cx="7623732" cy="725805"/>
          </a:xfrm>
          <a:prstGeom prst="rect">
            <a:avLst/>
          </a:prstGeom>
          <a:noFill/>
          <a:ln/>
        </p:spPr>
        <p:txBody>
          <a:bodyPr wrap="square" lIns="0" tIns="0" rIns="0" bIns="0" rtlCol="0" anchor="t"/>
          <a:lstStyle/>
          <a:p>
            <a:pPr marL="342900" indent="-342900" algn="just">
              <a:lnSpc>
                <a:spcPts val="2850"/>
              </a:lnSpc>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Техника применяется при проработке страхов, которые специалисты часто называют </a:t>
            </a:r>
            <a:r>
              <a:rPr lang="ru-RU" sz="2400" dirty="0" err="1">
                <a:latin typeface="Times New Roman" panose="02020603050405020304" pitchFamily="18" charset="0"/>
                <a:cs typeface="Times New Roman" panose="02020603050405020304" pitchFamily="18" charset="0"/>
              </a:rPr>
              <a:t>коучинговыми</a:t>
            </a:r>
            <a:r>
              <a:rPr lang="ru-RU" sz="2400" dirty="0">
                <a:latin typeface="Times New Roman" panose="02020603050405020304" pitchFamily="18" charset="0"/>
                <a:cs typeface="Times New Roman" panose="02020603050405020304" pitchFamily="18" charset="0"/>
              </a:rPr>
              <a:t>. </a:t>
            </a:r>
          </a:p>
          <a:p>
            <a:pPr marL="342900" indent="-342900" algn="just">
              <a:lnSpc>
                <a:spcPts val="2850"/>
              </a:lnSpc>
              <a:buFont typeface="Arial" panose="020B0604020202020204" pitchFamily="34" charset="0"/>
              <a:buChar char="•"/>
            </a:pPr>
            <a:endParaRPr lang="ru-RU" sz="2400" dirty="0">
              <a:latin typeface="Times New Roman" panose="02020603050405020304" pitchFamily="18" charset="0"/>
              <a:cs typeface="Times New Roman" panose="02020603050405020304" pitchFamily="18" charset="0"/>
            </a:endParaRPr>
          </a:p>
          <a:p>
            <a:pPr marL="342900" indent="-342900" algn="just">
              <a:lnSpc>
                <a:spcPts val="2850"/>
              </a:lnSpc>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Техника эффективна при проработке как всех указанных страхов последовательно, так и при работе с каким-то страхом отдельно.</a:t>
            </a:r>
          </a:p>
          <a:p>
            <a:pPr marL="0" indent="0">
              <a:lnSpc>
                <a:spcPts val="2850"/>
              </a:lnSpc>
              <a:buNone/>
            </a:pPr>
            <a:r>
              <a:rPr lang="ru-RU"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
        <p:nvSpPr>
          <p:cNvPr id="7" name="Прямоугольник 6">
            <a:extLst>
              <a:ext uri="{FF2B5EF4-FFF2-40B4-BE49-F238E27FC236}">
                <a16:creationId xmlns:a16="http://schemas.microsoft.com/office/drawing/2014/main" id="{276F3BD7-CBB3-9044-B83E-EC597CB9826A}"/>
              </a:ext>
            </a:extLst>
          </p:cNvPr>
          <p:cNvSpPr/>
          <p:nvPr/>
        </p:nvSpPr>
        <p:spPr>
          <a:xfrm>
            <a:off x="0" y="1656"/>
            <a:ext cx="5399834" cy="822794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9" name="Рисунок 8">
            <a:extLst>
              <a:ext uri="{FF2B5EF4-FFF2-40B4-BE49-F238E27FC236}">
                <a16:creationId xmlns:a16="http://schemas.microsoft.com/office/drawing/2014/main" id="{22B986D6-7B79-3646-8A45-A05F600A6BB9}"/>
              </a:ext>
            </a:extLst>
          </p:cNvPr>
          <p:cNvPicPr>
            <a:picLocks noChangeAspect="1"/>
          </p:cNvPicPr>
          <p:nvPr/>
        </p:nvPicPr>
        <p:blipFill>
          <a:blip r:embed="rId3"/>
          <a:stretch>
            <a:fillRect/>
          </a:stretch>
        </p:blipFill>
        <p:spPr>
          <a:xfrm>
            <a:off x="0" y="2055069"/>
            <a:ext cx="5399834" cy="4119461"/>
          </a:xfrm>
          <a:prstGeom prst="rect">
            <a:avLst/>
          </a:prstGeom>
        </p:spPr>
      </p:pic>
    </p:spTree>
    <p:extLst>
      <p:ext uri="{BB962C8B-B14F-4D97-AF65-F5344CB8AC3E}">
        <p14:creationId xmlns:p14="http://schemas.microsoft.com/office/powerpoint/2010/main" val="2942445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6267212" y="257688"/>
            <a:ext cx="5577721" cy="697230"/>
          </a:xfrm>
          <a:prstGeom prst="rect">
            <a:avLst/>
          </a:prstGeom>
          <a:noFill/>
          <a:ln/>
        </p:spPr>
        <p:txBody>
          <a:bodyPr wrap="none" lIns="0" tIns="0" rIns="0" bIns="0" rtlCol="0" anchor="t"/>
          <a:lstStyle/>
          <a:p>
            <a:pPr marL="0" indent="0">
              <a:lnSpc>
                <a:spcPts val="5450"/>
              </a:lnSpc>
              <a:buNone/>
            </a:pPr>
            <a:r>
              <a:rPr lang="en-US" sz="4350" dirty="0">
                <a:latin typeface="Times New Roman" panose="02020603050405020304" pitchFamily="18" charset="0"/>
                <a:ea typeface="Gelasio Semi Bold" pitchFamily="34" charset="-122"/>
                <a:cs typeface="Times New Roman" panose="02020603050405020304" pitchFamily="18" charset="0"/>
              </a:rPr>
              <a:t>Техника работы</a:t>
            </a:r>
            <a:r>
              <a:rPr lang="ru-RU" sz="4350" dirty="0">
                <a:latin typeface="Times New Roman" panose="02020603050405020304" pitchFamily="18" charset="0"/>
                <a:ea typeface="Gelasio Semi Bold" pitchFamily="34" charset="-122"/>
                <a:cs typeface="Times New Roman" panose="02020603050405020304" pitchFamily="18" charset="0"/>
              </a:rPr>
              <a:t>: Шаг 1</a:t>
            </a:r>
          </a:p>
          <a:p>
            <a:pPr marL="0" indent="0">
              <a:lnSpc>
                <a:spcPts val="5450"/>
              </a:lnSpc>
              <a:buNone/>
            </a:pPr>
            <a:endParaRPr lang="en-US" sz="4350" dirty="0">
              <a:latin typeface="Times New Roman" panose="02020603050405020304" pitchFamily="18" charset="0"/>
              <a:cs typeface="Times New Roman" panose="02020603050405020304" pitchFamily="18" charset="0"/>
            </a:endParaRPr>
          </a:p>
        </p:txBody>
      </p:sp>
      <p:sp>
        <p:nvSpPr>
          <p:cNvPr id="4" name="Shape 1"/>
          <p:cNvSpPr/>
          <p:nvPr/>
        </p:nvSpPr>
        <p:spPr>
          <a:xfrm>
            <a:off x="6267212" y="1241542"/>
            <a:ext cx="501968" cy="501968"/>
          </a:xfrm>
          <a:prstGeom prst="roundRect">
            <a:avLst>
              <a:gd name="adj" fmla="val 6667"/>
            </a:avLst>
          </a:prstGeom>
          <a:solidFill>
            <a:srgbClr val="EEE8DD"/>
          </a:solidFill>
          <a:ln/>
        </p:spPr>
      </p:sp>
      <p:sp>
        <p:nvSpPr>
          <p:cNvPr id="5" name="Text 2"/>
          <p:cNvSpPr/>
          <p:nvPr/>
        </p:nvSpPr>
        <p:spPr>
          <a:xfrm>
            <a:off x="6417350" y="1318278"/>
            <a:ext cx="201692" cy="501968"/>
          </a:xfrm>
          <a:prstGeom prst="rect">
            <a:avLst/>
          </a:prstGeom>
          <a:noFill/>
          <a:ln/>
        </p:spPr>
        <p:txBody>
          <a:bodyPr wrap="none" lIns="0" tIns="0" rIns="0" bIns="0" rtlCol="0" anchor="t"/>
          <a:lstStyle/>
          <a:p>
            <a:pPr marL="0" indent="0" algn="ctr">
              <a:lnSpc>
                <a:spcPts val="2600"/>
              </a:lnSpc>
              <a:buNone/>
            </a:pPr>
            <a:r>
              <a:rPr lang="en-US" sz="2600" dirty="0">
                <a:latin typeface="Gelasio Semi Bold" pitchFamily="34" charset="0"/>
                <a:ea typeface="Gelasio Semi Bold" pitchFamily="34" charset="-122"/>
                <a:cs typeface="Gelasio Semi Bold" pitchFamily="34" charset="-120"/>
              </a:rPr>
              <a:t>1</a:t>
            </a:r>
            <a:endParaRPr lang="en-US" sz="2600" dirty="0"/>
          </a:p>
        </p:txBody>
      </p:sp>
      <p:sp>
        <p:nvSpPr>
          <p:cNvPr id="6" name="Text 3"/>
          <p:cNvSpPr/>
          <p:nvPr/>
        </p:nvSpPr>
        <p:spPr>
          <a:xfrm>
            <a:off x="6992183" y="1318278"/>
            <a:ext cx="2788801" cy="348496"/>
          </a:xfrm>
          <a:prstGeom prst="rect">
            <a:avLst/>
          </a:prstGeom>
          <a:noFill/>
          <a:ln/>
        </p:spPr>
        <p:txBody>
          <a:bodyPr wrap="none" lIns="0" tIns="0" rIns="0" bIns="0" rtlCol="0" anchor="t"/>
          <a:lstStyle/>
          <a:p>
            <a:pPr marL="0" indent="0">
              <a:lnSpc>
                <a:spcPts val="2700"/>
              </a:lnSpc>
              <a:buNone/>
            </a:pPr>
            <a:r>
              <a:rPr lang="ru-RU" sz="2400" b="1" dirty="0">
                <a:latin typeface="Times New Roman" panose="02020603050405020304" pitchFamily="18" charset="0"/>
                <a:cs typeface="Times New Roman" panose="02020603050405020304" pitchFamily="18" charset="0"/>
              </a:rPr>
              <a:t>Что такое страх мечтать</a:t>
            </a:r>
            <a:r>
              <a:rPr lang="ru-RU" sz="2400" b="1" dirty="0">
                <a:solidFill>
                  <a:srgbClr val="746558"/>
                </a:solidFill>
                <a:cs typeface="Gelasio Semi Bold" pitchFamily="34" charset="-120"/>
              </a:rPr>
              <a:t>?</a:t>
            </a:r>
            <a:endParaRPr lang="en-US" sz="2400" b="1" dirty="0"/>
          </a:p>
        </p:txBody>
      </p:sp>
      <p:sp>
        <p:nvSpPr>
          <p:cNvPr id="7" name="Text 4"/>
          <p:cNvSpPr/>
          <p:nvPr/>
        </p:nvSpPr>
        <p:spPr>
          <a:xfrm>
            <a:off x="6619042" y="1896308"/>
            <a:ext cx="3715805" cy="2498646"/>
          </a:xfrm>
          <a:prstGeom prst="rect">
            <a:avLst/>
          </a:prstGeom>
          <a:noFill/>
          <a:ln/>
        </p:spPr>
        <p:txBody>
          <a:bodyPr wrap="square" lIns="0" tIns="0" rIns="0" bIns="0" rtlCol="0" anchor="t"/>
          <a:lstStyle/>
          <a:p>
            <a:pPr marL="0" indent="0" algn="just">
              <a:lnSpc>
                <a:spcPts val="2800"/>
              </a:lnSpc>
              <a:buNone/>
            </a:pPr>
            <a:r>
              <a:rPr lang="ru-RU" sz="2400" dirty="0">
                <a:latin typeface="Times New Roman" panose="02020603050405020304" pitchFamily="18" charset="0"/>
                <a:ea typeface="Gelasio" pitchFamily="34" charset="-122"/>
                <a:cs typeface="Times New Roman" panose="02020603050405020304" pitchFamily="18" charset="0"/>
              </a:rPr>
              <a:t>Нужно понять, почему не мечтается. </a:t>
            </a:r>
          </a:p>
          <a:p>
            <a:pPr algn="just">
              <a:lnSpc>
                <a:spcPts val="2800"/>
              </a:lnSpc>
            </a:pPr>
            <a:r>
              <a:rPr lang="ru-RU" sz="2400" dirty="0">
                <a:effectLst/>
                <a:latin typeface="Times New Roman" panose="02020603050405020304" pitchFamily="18" charset="0"/>
                <a:ea typeface="MS Mincho" panose="02020609040205080304" pitchFamily="49" charset="-128"/>
                <a:cs typeface="Times New Roman" panose="02020603050405020304" pitchFamily="18" charset="0"/>
              </a:rPr>
              <a:t>Фрустрация: </a:t>
            </a:r>
            <a:r>
              <a:rPr lang="ru-RU" sz="2400" i="1" dirty="0">
                <a:effectLst/>
                <a:latin typeface="Times New Roman" panose="02020603050405020304" pitchFamily="18" charset="0"/>
                <a:ea typeface="MS Mincho" panose="02020609040205080304" pitchFamily="49" charset="-128"/>
                <a:cs typeface="Times New Roman" panose="02020603050405020304" pitchFamily="18" charset="0"/>
              </a:rPr>
              <a:t>Ты точно ничего не хочешь? Счастья, здоровья, любви,  карьеры, денег не хочешь? ну все люди так живут и ничего не хотят</a:t>
            </a:r>
            <a:r>
              <a:rPr lang="ru-RU" sz="2400" i="1" dirty="0">
                <a:effectLst/>
                <a:latin typeface="Times New Roman" panose="02020603050405020304" pitchFamily="18" charset="0"/>
                <a:ea typeface="MS Mincho" panose="02020609040205080304" pitchFamily="49" charset="-128"/>
                <a:cs typeface="Times New Roman" panose="02020603050405020304" pitchFamily="18" charset="0"/>
                <a:sym typeface="Wingdings" pitchFamily="2" charset="2"/>
              </a:rPr>
              <a:t></a:t>
            </a:r>
            <a:r>
              <a:rPr lang="ru-RU" sz="2400" i="1" dirty="0">
                <a:effectLst/>
                <a:latin typeface="Times New Roman" panose="02020603050405020304" pitchFamily="18" charset="0"/>
                <a:ea typeface="MS Mincho" panose="02020609040205080304" pitchFamily="49" charset="-128"/>
                <a:cs typeface="Times New Roman" panose="02020603050405020304" pitchFamily="18" charset="0"/>
              </a:rPr>
              <a:t>)) </a:t>
            </a:r>
            <a:endParaRPr lang="ru-RU" sz="2400" dirty="0">
              <a:latin typeface="Times New Roman" panose="02020603050405020304" pitchFamily="18" charset="0"/>
              <a:ea typeface="Gelasio" pitchFamily="34" charset="-122"/>
              <a:cs typeface="Times New Roman" panose="02020603050405020304" pitchFamily="18" charset="0"/>
            </a:endParaRPr>
          </a:p>
          <a:p>
            <a:pPr marL="0" indent="0" algn="just">
              <a:lnSpc>
                <a:spcPts val="2800"/>
              </a:lnSpc>
              <a:buNone/>
            </a:pPr>
            <a:endParaRPr lang="ru-RU" sz="2400" dirty="0">
              <a:latin typeface="Times New Roman" panose="02020603050405020304" pitchFamily="18" charset="0"/>
              <a:cs typeface="Times New Roman" panose="02020603050405020304" pitchFamily="18" charset="0"/>
            </a:endParaRPr>
          </a:p>
          <a:p>
            <a:pPr marL="0" indent="0" algn="just">
              <a:lnSpc>
                <a:spcPts val="2800"/>
              </a:lnSpc>
              <a:buNone/>
            </a:pPr>
            <a:r>
              <a:rPr lang="ru-RU" sz="2400" dirty="0">
                <a:latin typeface="Times New Roman" panose="02020603050405020304" pitchFamily="18" charset="0"/>
                <a:cs typeface="Times New Roman" panose="02020603050405020304" pitchFamily="18" charset="0"/>
              </a:rPr>
              <a:t>Возможные  причины более тяжелых состояний: </a:t>
            </a:r>
          </a:p>
          <a:p>
            <a:pPr marL="285750" indent="-285750" algn="just">
              <a:lnSpc>
                <a:spcPts val="2800"/>
              </a:lnSpc>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Выгорание</a:t>
            </a:r>
          </a:p>
          <a:p>
            <a:pPr marL="285750" indent="-285750" algn="just">
              <a:lnSpc>
                <a:spcPts val="2800"/>
              </a:lnSpc>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Болезни</a:t>
            </a:r>
          </a:p>
          <a:p>
            <a:pPr marL="285750" indent="-285750" algn="just">
              <a:lnSpc>
                <a:spcPts val="2800"/>
              </a:lnSpc>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Острые состояния, события которых происходят сейчас и отвлекают.</a:t>
            </a:r>
            <a:endParaRPr lang="en-US" sz="2400" dirty="0">
              <a:latin typeface="Times New Roman" panose="02020603050405020304" pitchFamily="18" charset="0"/>
              <a:cs typeface="Times New Roman" panose="02020603050405020304" pitchFamily="18" charset="0"/>
            </a:endParaRPr>
          </a:p>
        </p:txBody>
      </p:sp>
      <p:sp>
        <p:nvSpPr>
          <p:cNvPr id="8" name="Shape 5"/>
          <p:cNvSpPr/>
          <p:nvPr/>
        </p:nvSpPr>
        <p:spPr>
          <a:xfrm>
            <a:off x="10643949" y="1241542"/>
            <a:ext cx="501968" cy="501968"/>
          </a:xfrm>
          <a:prstGeom prst="roundRect">
            <a:avLst>
              <a:gd name="adj" fmla="val 6667"/>
            </a:avLst>
          </a:prstGeom>
          <a:solidFill>
            <a:srgbClr val="EEE8DD"/>
          </a:solidFill>
          <a:ln/>
        </p:spPr>
      </p:sp>
      <p:sp>
        <p:nvSpPr>
          <p:cNvPr id="9" name="Text 6"/>
          <p:cNvSpPr/>
          <p:nvPr/>
        </p:nvSpPr>
        <p:spPr>
          <a:xfrm>
            <a:off x="10852403" y="1332751"/>
            <a:ext cx="85060" cy="277552"/>
          </a:xfrm>
          <a:prstGeom prst="rect">
            <a:avLst/>
          </a:prstGeom>
          <a:noFill/>
          <a:ln/>
        </p:spPr>
        <p:txBody>
          <a:bodyPr wrap="none" lIns="0" tIns="0" rIns="0" bIns="0" rtlCol="0" anchor="t"/>
          <a:lstStyle/>
          <a:p>
            <a:pPr marL="0" indent="0" algn="ctr">
              <a:lnSpc>
                <a:spcPts val="2600"/>
              </a:lnSpc>
              <a:buNone/>
            </a:pPr>
            <a:r>
              <a:rPr lang="en-US" sz="2600" dirty="0">
                <a:latin typeface="Gelasio Semi Bold" pitchFamily="34" charset="0"/>
                <a:ea typeface="Gelasio Semi Bold" pitchFamily="34" charset="-122"/>
                <a:cs typeface="Gelasio Semi Bold" pitchFamily="34" charset="-120"/>
              </a:rPr>
              <a:t>2</a:t>
            </a:r>
            <a:endParaRPr lang="en-US" sz="2600" dirty="0"/>
          </a:p>
        </p:txBody>
      </p:sp>
      <p:sp>
        <p:nvSpPr>
          <p:cNvPr id="10" name="Text 7"/>
          <p:cNvSpPr/>
          <p:nvPr/>
        </p:nvSpPr>
        <p:spPr>
          <a:xfrm>
            <a:off x="11475738" y="1321991"/>
            <a:ext cx="2207995" cy="348496"/>
          </a:xfrm>
          <a:prstGeom prst="rect">
            <a:avLst/>
          </a:prstGeom>
          <a:noFill/>
          <a:ln/>
        </p:spPr>
        <p:txBody>
          <a:bodyPr wrap="none" lIns="0" tIns="0" rIns="0" bIns="0" rtlCol="0" anchor="t"/>
          <a:lstStyle/>
          <a:p>
            <a:pPr marL="0" indent="0">
              <a:lnSpc>
                <a:spcPts val="2700"/>
              </a:lnSpc>
              <a:buNone/>
            </a:pPr>
            <a:r>
              <a:rPr lang="en-US" sz="2400" b="1" dirty="0">
                <a:latin typeface="Times New Roman" panose="02020603050405020304" pitchFamily="18" charset="0"/>
                <a:ea typeface="Gelasio Semi Bold" pitchFamily="34" charset="-122"/>
                <a:cs typeface="Times New Roman" panose="02020603050405020304" pitchFamily="18" charset="0"/>
              </a:rPr>
              <a:t>Фокус</a:t>
            </a:r>
            <a:endParaRPr lang="en-US" sz="2400" b="1" dirty="0">
              <a:latin typeface="Times New Roman" panose="02020603050405020304" pitchFamily="18" charset="0"/>
              <a:cs typeface="Times New Roman" panose="02020603050405020304" pitchFamily="18" charset="0"/>
            </a:endParaRPr>
          </a:p>
        </p:txBody>
      </p:sp>
      <p:sp>
        <p:nvSpPr>
          <p:cNvPr id="11" name="Text 8"/>
          <p:cNvSpPr/>
          <p:nvPr/>
        </p:nvSpPr>
        <p:spPr>
          <a:xfrm>
            <a:off x="10894933" y="1896308"/>
            <a:ext cx="3006598" cy="3569494"/>
          </a:xfrm>
          <a:prstGeom prst="rect">
            <a:avLst/>
          </a:prstGeom>
          <a:noFill/>
          <a:ln/>
        </p:spPr>
        <p:txBody>
          <a:bodyPr wrap="square" lIns="0" tIns="0" rIns="0" bIns="0" rtlCol="0" anchor="t"/>
          <a:lstStyle/>
          <a:p>
            <a:pPr marL="0" indent="0" algn="just">
              <a:lnSpc>
                <a:spcPts val="2800"/>
              </a:lnSpc>
              <a:buNone/>
            </a:pPr>
            <a:r>
              <a:rPr lang="ru-RU" sz="2400" dirty="0">
                <a:latin typeface="Times New Roman" panose="02020603050405020304" pitchFamily="18" charset="0"/>
                <a:ea typeface="Gelasio" pitchFamily="34" charset="-122"/>
                <a:cs typeface="Times New Roman" panose="02020603050405020304" pitchFamily="18" charset="0"/>
              </a:rPr>
              <a:t>Помогаем клиенту  осознать ситуацию, вспомнить/ощутить свои мечты.</a:t>
            </a:r>
          </a:p>
          <a:p>
            <a:pPr marL="0" indent="0" algn="just">
              <a:lnSpc>
                <a:spcPts val="2800"/>
              </a:lnSpc>
              <a:buNone/>
            </a:pPr>
            <a:endParaRPr lang="ru-RU" sz="2400" dirty="0">
              <a:latin typeface="Times New Roman" panose="02020603050405020304" pitchFamily="18" charset="0"/>
              <a:cs typeface="Times New Roman" panose="02020603050405020304" pitchFamily="18" charset="0"/>
            </a:endParaRPr>
          </a:p>
          <a:p>
            <a:pPr marL="0" indent="0" algn="just">
              <a:lnSpc>
                <a:spcPts val="2800"/>
              </a:lnSpc>
              <a:buNone/>
            </a:pPr>
            <a:r>
              <a:rPr lang="ru-RU" sz="2400" dirty="0">
                <a:latin typeface="Times New Roman" panose="02020603050405020304" pitchFamily="18" charset="0"/>
                <a:cs typeface="Times New Roman" panose="02020603050405020304" pitchFamily="18" charset="0"/>
              </a:rPr>
              <a:t>Возможно использование фрустрации</a:t>
            </a:r>
            <a:endParaRPr lang="en-US" sz="2400" dirty="0">
              <a:latin typeface="Times New Roman" panose="02020603050405020304" pitchFamily="18" charset="0"/>
              <a:cs typeface="Times New Roman" panose="02020603050405020304" pitchFamily="18" charset="0"/>
            </a:endParaRPr>
          </a:p>
        </p:txBody>
      </p:sp>
      <p:sp>
        <p:nvSpPr>
          <p:cNvPr id="13" name="Text 10"/>
          <p:cNvSpPr/>
          <p:nvPr/>
        </p:nvSpPr>
        <p:spPr>
          <a:xfrm>
            <a:off x="6417350" y="6505694"/>
            <a:ext cx="201692" cy="334685"/>
          </a:xfrm>
          <a:prstGeom prst="rect">
            <a:avLst/>
          </a:prstGeom>
          <a:noFill/>
          <a:ln/>
        </p:spPr>
        <p:txBody>
          <a:bodyPr wrap="none" lIns="0" tIns="0" rIns="0" bIns="0" rtlCol="0" anchor="t"/>
          <a:lstStyle/>
          <a:p>
            <a:pPr marL="0" indent="0" algn="ctr">
              <a:lnSpc>
                <a:spcPts val="2600"/>
              </a:lnSpc>
              <a:buNone/>
            </a:pPr>
            <a:endParaRPr lang="en-US" sz="2600" dirty="0"/>
          </a:p>
        </p:txBody>
      </p:sp>
      <p:sp>
        <p:nvSpPr>
          <p:cNvPr id="16" name="Прямоугольник 15">
            <a:extLst>
              <a:ext uri="{FF2B5EF4-FFF2-40B4-BE49-F238E27FC236}">
                <a16:creationId xmlns:a16="http://schemas.microsoft.com/office/drawing/2014/main" id="{A6BC3937-984C-F542-B80A-7FDC5B00E787}"/>
              </a:ext>
            </a:extLst>
          </p:cNvPr>
          <p:cNvSpPr/>
          <p:nvPr/>
        </p:nvSpPr>
        <p:spPr>
          <a:xfrm>
            <a:off x="0" y="1656"/>
            <a:ext cx="5399834" cy="822794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8" name="Рисунок 17">
            <a:extLst>
              <a:ext uri="{FF2B5EF4-FFF2-40B4-BE49-F238E27FC236}">
                <a16:creationId xmlns:a16="http://schemas.microsoft.com/office/drawing/2014/main" id="{2A757516-348A-AF4B-BCF7-00492675DAE5}"/>
              </a:ext>
            </a:extLst>
          </p:cNvPr>
          <p:cNvPicPr>
            <a:picLocks noChangeAspect="1"/>
          </p:cNvPicPr>
          <p:nvPr/>
        </p:nvPicPr>
        <p:blipFill>
          <a:blip r:embed="rId3"/>
          <a:stretch>
            <a:fillRect/>
          </a:stretch>
        </p:blipFill>
        <p:spPr>
          <a:xfrm>
            <a:off x="0" y="2169754"/>
            <a:ext cx="5399834" cy="32960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267212" y="257688"/>
            <a:ext cx="5577721" cy="697230"/>
          </a:xfrm>
          <a:prstGeom prst="rect">
            <a:avLst/>
          </a:prstGeom>
          <a:noFill/>
          <a:ln/>
        </p:spPr>
        <p:txBody>
          <a:bodyPr wrap="none" lIns="0" tIns="0" rIns="0" bIns="0" rtlCol="0" anchor="t"/>
          <a:lstStyle/>
          <a:p>
            <a:pPr marL="0" indent="0">
              <a:lnSpc>
                <a:spcPts val="5450"/>
              </a:lnSpc>
              <a:buNone/>
            </a:pPr>
            <a:r>
              <a:rPr lang="en-US" sz="4350" dirty="0">
                <a:latin typeface="Times New Roman" panose="02020603050405020304" pitchFamily="18" charset="0"/>
                <a:ea typeface="Gelasio Semi Bold" pitchFamily="34" charset="-122"/>
                <a:cs typeface="Times New Roman" panose="02020603050405020304" pitchFamily="18" charset="0"/>
              </a:rPr>
              <a:t>Техника работы</a:t>
            </a:r>
            <a:r>
              <a:rPr lang="ru-RU" sz="4350" dirty="0">
                <a:latin typeface="Times New Roman" panose="02020603050405020304" pitchFamily="18" charset="0"/>
                <a:ea typeface="Gelasio Semi Bold" pitchFamily="34" charset="-122"/>
                <a:cs typeface="Times New Roman" panose="02020603050405020304" pitchFamily="18" charset="0"/>
              </a:rPr>
              <a:t>: Шаг 2</a:t>
            </a:r>
          </a:p>
          <a:p>
            <a:pPr marL="0" indent="0">
              <a:lnSpc>
                <a:spcPts val="5450"/>
              </a:lnSpc>
              <a:buNone/>
            </a:pPr>
            <a:endParaRPr lang="en-US" sz="4350" dirty="0">
              <a:latin typeface="Times New Roman" panose="02020603050405020304" pitchFamily="18" charset="0"/>
              <a:cs typeface="Times New Roman" panose="02020603050405020304" pitchFamily="18" charset="0"/>
            </a:endParaRPr>
          </a:p>
        </p:txBody>
      </p:sp>
      <p:sp>
        <p:nvSpPr>
          <p:cNvPr id="4" name="Shape 1"/>
          <p:cNvSpPr/>
          <p:nvPr/>
        </p:nvSpPr>
        <p:spPr>
          <a:xfrm>
            <a:off x="6233663" y="1403720"/>
            <a:ext cx="501968" cy="501968"/>
          </a:xfrm>
          <a:prstGeom prst="roundRect">
            <a:avLst>
              <a:gd name="adj" fmla="val 6667"/>
            </a:avLst>
          </a:prstGeom>
          <a:solidFill>
            <a:srgbClr val="EEE8DD"/>
          </a:solidFill>
          <a:ln/>
        </p:spPr>
      </p:sp>
      <p:sp>
        <p:nvSpPr>
          <p:cNvPr id="5" name="Text 2"/>
          <p:cNvSpPr/>
          <p:nvPr/>
        </p:nvSpPr>
        <p:spPr>
          <a:xfrm rot="10800000" flipV="1">
            <a:off x="6439256" y="1477923"/>
            <a:ext cx="179785" cy="501968"/>
          </a:xfrm>
          <a:prstGeom prst="rect">
            <a:avLst/>
          </a:prstGeom>
          <a:noFill/>
          <a:ln/>
        </p:spPr>
        <p:txBody>
          <a:bodyPr wrap="none" lIns="0" tIns="0" rIns="0" bIns="0" rtlCol="0" anchor="t"/>
          <a:lstStyle/>
          <a:p>
            <a:pPr marL="0" indent="0" algn="ctr">
              <a:lnSpc>
                <a:spcPts val="2600"/>
              </a:lnSpc>
              <a:buNone/>
            </a:pPr>
            <a:r>
              <a:rPr lang="en-US" sz="2600" dirty="0">
                <a:latin typeface="Gelasio Semi Bold" pitchFamily="34" charset="0"/>
                <a:ea typeface="Gelasio Semi Bold" pitchFamily="34" charset="-122"/>
                <a:cs typeface="Gelasio Semi Bold" pitchFamily="34" charset="-120"/>
              </a:rPr>
              <a:t>1</a:t>
            </a:r>
            <a:endParaRPr lang="en-US" sz="2600" dirty="0"/>
          </a:p>
        </p:txBody>
      </p:sp>
      <p:sp>
        <p:nvSpPr>
          <p:cNvPr id="6" name="Text 3"/>
          <p:cNvSpPr/>
          <p:nvPr/>
        </p:nvSpPr>
        <p:spPr>
          <a:xfrm>
            <a:off x="6992181" y="1265864"/>
            <a:ext cx="2788801" cy="348496"/>
          </a:xfrm>
          <a:prstGeom prst="rect">
            <a:avLst/>
          </a:prstGeom>
          <a:noFill/>
          <a:ln/>
        </p:spPr>
        <p:txBody>
          <a:bodyPr wrap="none" lIns="0" tIns="0" rIns="0" bIns="0" rtlCol="0" anchor="t"/>
          <a:lstStyle/>
          <a:p>
            <a:pPr marL="0" indent="0">
              <a:lnSpc>
                <a:spcPts val="2700"/>
              </a:lnSpc>
              <a:buNone/>
            </a:pPr>
            <a:r>
              <a:rPr lang="ru-RU" sz="2400" b="1" dirty="0">
                <a:latin typeface="Times New Roman" panose="02020603050405020304" pitchFamily="18" charset="0"/>
                <a:cs typeface="Times New Roman" panose="02020603050405020304" pitchFamily="18" charset="0"/>
              </a:rPr>
              <a:t>Страх, что не получится…</a:t>
            </a:r>
          </a:p>
          <a:p>
            <a:pPr marL="0" indent="0">
              <a:lnSpc>
                <a:spcPts val="2700"/>
              </a:lnSpc>
              <a:buNone/>
            </a:pPr>
            <a:r>
              <a:rPr lang="ru-RU" sz="2400" b="1" dirty="0">
                <a:latin typeface="Times New Roman" panose="02020603050405020304" pitchFamily="18" charset="0"/>
                <a:cs typeface="Times New Roman" panose="02020603050405020304" pitchFamily="18" charset="0"/>
              </a:rPr>
              <a:t>Страх, что тебя осудят…</a:t>
            </a:r>
            <a:endParaRPr lang="en-US" sz="2400" b="1" dirty="0"/>
          </a:p>
        </p:txBody>
      </p:sp>
      <p:sp>
        <p:nvSpPr>
          <p:cNvPr id="7" name="Text 4"/>
          <p:cNvSpPr/>
          <p:nvPr/>
        </p:nvSpPr>
        <p:spPr>
          <a:xfrm>
            <a:off x="6992180" y="2251446"/>
            <a:ext cx="3152371" cy="2498646"/>
          </a:xfrm>
          <a:prstGeom prst="rect">
            <a:avLst/>
          </a:prstGeom>
          <a:noFill/>
          <a:ln/>
        </p:spPr>
        <p:txBody>
          <a:bodyPr wrap="square" lIns="0" tIns="0" rIns="0" bIns="0" rtlCol="0" anchor="t"/>
          <a:lstStyle/>
          <a:p>
            <a:pPr algn="just">
              <a:lnSpc>
                <a:spcPts val="2800"/>
              </a:lnSpc>
            </a:pPr>
            <a:r>
              <a:rPr lang="ru-RU" sz="2000" dirty="0">
                <a:latin typeface="Times New Roman" panose="02020603050405020304" pitchFamily="18" charset="0"/>
                <a:ea typeface="Gelasio" pitchFamily="34" charset="-122"/>
                <a:cs typeface="Times New Roman" panose="02020603050405020304" pitchFamily="18" charset="0"/>
              </a:rPr>
              <a:t>Нужно понять, как именно проявляется этот страх: </a:t>
            </a:r>
          </a:p>
          <a:p>
            <a:pPr marL="342900" indent="-342900" algn="just">
              <a:lnSpc>
                <a:spcPts val="2800"/>
              </a:lnSpc>
              <a:buFont typeface="Arial" panose="020B0604020202020204" pitchFamily="34" charset="0"/>
              <a:buChar char="•"/>
            </a:pPr>
            <a:r>
              <a:rPr lang="ru-RU" sz="2000" dirty="0">
                <a:latin typeface="Times New Roman" panose="02020603050405020304" pitchFamily="18" charset="0"/>
                <a:ea typeface="Gelasio" pitchFamily="34" charset="-122"/>
                <a:cs typeface="Times New Roman" panose="02020603050405020304" pitchFamily="18" charset="0"/>
              </a:rPr>
              <a:t>Что именно не получится и почему? </a:t>
            </a:r>
          </a:p>
          <a:p>
            <a:pPr marL="342900" indent="-342900" algn="just">
              <a:lnSpc>
                <a:spcPts val="2800"/>
              </a:lnSpc>
              <a:buFont typeface="Arial" panose="020B0604020202020204" pitchFamily="34" charset="0"/>
              <a:buChar char="•"/>
            </a:pPr>
            <a:r>
              <a:rPr lang="ru-RU" sz="2000" dirty="0">
                <a:latin typeface="Times New Roman" panose="02020603050405020304" pitchFamily="18" charset="0"/>
                <a:ea typeface="Gelasio" pitchFamily="34" charset="-122"/>
                <a:cs typeface="Times New Roman" panose="02020603050405020304" pitchFamily="18" charset="0"/>
              </a:rPr>
              <a:t>Кто тот человек, который может это реализовать?</a:t>
            </a:r>
          </a:p>
          <a:p>
            <a:pPr marL="342900" indent="-342900" algn="just">
              <a:lnSpc>
                <a:spcPts val="2800"/>
              </a:lnSpc>
              <a:buFont typeface="Arial" panose="020B0604020202020204" pitchFamily="34" charset="0"/>
              <a:buChar char="•"/>
            </a:pPr>
            <a:r>
              <a:rPr lang="ru-RU" sz="2000" dirty="0">
                <a:latin typeface="Times New Roman" panose="02020603050405020304" pitchFamily="18" charset="0"/>
                <a:ea typeface="Gelasio" pitchFamily="34" charset="-122"/>
                <a:cs typeface="Times New Roman" panose="02020603050405020304" pitchFamily="18" charset="0"/>
              </a:rPr>
              <a:t>Кто осудит и что дальше?</a:t>
            </a:r>
            <a:endParaRPr lang="ru-RU" sz="2000" dirty="0">
              <a:latin typeface="Times New Roman" panose="02020603050405020304" pitchFamily="18" charset="0"/>
              <a:cs typeface="Times New Roman" panose="02020603050405020304" pitchFamily="18" charset="0"/>
            </a:endParaRPr>
          </a:p>
          <a:p>
            <a:pPr marL="0" indent="0" algn="just">
              <a:lnSpc>
                <a:spcPts val="2800"/>
              </a:lnSpc>
              <a:buNone/>
            </a:pPr>
            <a:endParaRPr lang="ru-RU" sz="2000" dirty="0">
              <a:latin typeface="Times New Roman" panose="02020603050405020304" pitchFamily="18" charset="0"/>
              <a:cs typeface="Times New Roman" panose="02020603050405020304" pitchFamily="18" charset="0"/>
            </a:endParaRPr>
          </a:p>
          <a:p>
            <a:pPr marL="0" indent="0" algn="just">
              <a:lnSpc>
                <a:spcPts val="2800"/>
              </a:lnSpc>
              <a:buNone/>
            </a:pPr>
            <a:r>
              <a:rPr lang="ru-RU" sz="2000" dirty="0">
                <a:latin typeface="Times New Roman" panose="02020603050405020304" pitchFamily="18" charset="0"/>
                <a:cs typeface="Times New Roman" panose="02020603050405020304" pitchFamily="18" charset="0"/>
              </a:rPr>
              <a:t>Работа со страхом, что не получится, ведется с подбором образца, у которого все получится на 100</a:t>
            </a:r>
            <a:r>
              <a:rPr lang="en-US" sz="2000" dirty="0">
                <a:latin typeface="Times New Roman" panose="02020603050405020304" pitchFamily="18" charset="0"/>
                <a:cs typeface="Times New Roman" panose="02020603050405020304" pitchFamily="18" charset="0"/>
              </a:rPr>
              <a:t>%</a:t>
            </a:r>
            <a:r>
              <a:rPr lang="ru-RU" sz="2000" dirty="0">
                <a:latin typeface="Times New Roman" panose="02020603050405020304" pitchFamily="18" charset="0"/>
                <a:cs typeface="Times New Roman" panose="02020603050405020304" pitchFamily="18" charset="0"/>
              </a:rPr>
              <a:t>, составления списка характеристик или действий и попунктного сравнения.</a:t>
            </a:r>
          </a:p>
        </p:txBody>
      </p:sp>
      <p:sp>
        <p:nvSpPr>
          <p:cNvPr id="8" name="Shape 5"/>
          <p:cNvSpPr/>
          <p:nvPr/>
        </p:nvSpPr>
        <p:spPr>
          <a:xfrm>
            <a:off x="10809926" y="1334803"/>
            <a:ext cx="501968" cy="501968"/>
          </a:xfrm>
          <a:prstGeom prst="roundRect">
            <a:avLst>
              <a:gd name="adj" fmla="val 6667"/>
            </a:avLst>
          </a:prstGeom>
          <a:solidFill>
            <a:srgbClr val="EEE8DD"/>
          </a:solidFill>
          <a:ln/>
        </p:spPr>
      </p:sp>
      <p:sp>
        <p:nvSpPr>
          <p:cNvPr id="9" name="Text 6"/>
          <p:cNvSpPr/>
          <p:nvPr/>
        </p:nvSpPr>
        <p:spPr>
          <a:xfrm>
            <a:off x="10809926" y="1450470"/>
            <a:ext cx="501968" cy="348496"/>
          </a:xfrm>
          <a:prstGeom prst="rect">
            <a:avLst/>
          </a:prstGeom>
          <a:noFill/>
          <a:ln/>
        </p:spPr>
        <p:txBody>
          <a:bodyPr wrap="none" lIns="0" tIns="0" rIns="0" bIns="0" rtlCol="0" anchor="t"/>
          <a:lstStyle/>
          <a:p>
            <a:pPr marL="0" indent="0" algn="ctr">
              <a:lnSpc>
                <a:spcPts val="2600"/>
              </a:lnSpc>
              <a:buNone/>
            </a:pPr>
            <a:r>
              <a:rPr lang="en-US" sz="2600" dirty="0">
                <a:latin typeface="Gelasio Semi Bold" pitchFamily="34" charset="0"/>
                <a:ea typeface="Gelasio Semi Bold" pitchFamily="34" charset="-122"/>
                <a:cs typeface="Gelasio Semi Bold" pitchFamily="34" charset="-120"/>
              </a:rPr>
              <a:t>2</a:t>
            </a:r>
            <a:endParaRPr lang="en-US" sz="2600" dirty="0"/>
          </a:p>
        </p:txBody>
      </p:sp>
      <p:sp>
        <p:nvSpPr>
          <p:cNvPr id="10" name="Text 7"/>
          <p:cNvSpPr/>
          <p:nvPr/>
        </p:nvSpPr>
        <p:spPr>
          <a:xfrm>
            <a:off x="11531036" y="1345154"/>
            <a:ext cx="2788801" cy="348496"/>
          </a:xfrm>
          <a:prstGeom prst="rect">
            <a:avLst/>
          </a:prstGeom>
          <a:noFill/>
          <a:ln/>
        </p:spPr>
        <p:txBody>
          <a:bodyPr wrap="none" lIns="0" tIns="0" rIns="0" bIns="0" rtlCol="0" anchor="t"/>
          <a:lstStyle/>
          <a:p>
            <a:pPr marL="0" indent="0">
              <a:lnSpc>
                <a:spcPts val="2700"/>
              </a:lnSpc>
              <a:buNone/>
            </a:pPr>
            <a:r>
              <a:rPr lang="en-US" sz="2400" b="1" dirty="0">
                <a:latin typeface="Times New Roman" panose="02020603050405020304" pitchFamily="18" charset="0"/>
                <a:ea typeface="Gelasio Semi Bold" pitchFamily="34" charset="-122"/>
                <a:cs typeface="Times New Roman" panose="02020603050405020304" pitchFamily="18" charset="0"/>
              </a:rPr>
              <a:t>Фокус</a:t>
            </a:r>
            <a:endParaRPr lang="en-US" sz="2400" b="1" dirty="0">
              <a:latin typeface="Times New Roman" panose="02020603050405020304" pitchFamily="18" charset="0"/>
              <a:cs typeface="Times New Roman" panose="02020603050405020304" pitchFamily="18" charset="0"/>
            </a:endParaRPr>
          </a:p>
        </p:txBody>
      </p:sp>
      <p:sp>
        <p:nvSpPr>
          <p:cNvPr id="11" name="Text 8"/>
          <p:cNvSpPr/>
          <p:nvPr/>
        </p:nvSpPr>
        <p:spPr>
          <a:xfrm>
            <a:off x="10894932" y="1979891"/>
            <a:ext cx="3152372" cy="3569494"/>
          </a:xfrm>
          <a:prstGeom prst="rect">
            <a:avLst/>
          </a:prstGeom>
          <a:noFill/>
          <a:ln/>
        </p:spPr>
        <p:txBody>
          <a:bodyPr wrap="square" lIns="0" tIns="0" rIns="0" bIns="0" rtlCol="0" anchor="t"/>
          <a:lstStyle/>
          <a:p>
            <a:pPr marL="0" indent="0" algn="just">
              <a:lnSpc>
                <a:spcPts val="2800"/>
              </a:lnSpc>
              <a:buNone/>
            </a:pPr>
            <a:r>
              <a:rPr lang="ru-RU" sz="2000" dirty="0">
                <a:latin typeface="Times New Roman" panose="02020603050405020304" pitchFamily="18" charset="0"/>
                <a:cs typeface="Times New Roman" panose="02020603050405020304" pitchFamily="18" charset="0"/>
              </a:rPr>
              <a:t>Помогаем клиенту почувствовать уверенность в том, что все аспекты дела/проекта и т.п. могут быть выполнены, что у него есть на это ресурсы. </a:t>
            </a:r>
          </a:p>
          <a:p>
            <a:pPr marL="0" indent="0" algn="just">
              <a:lnSpc>
                <a:spcPts val="2800"/>
              </a:lnSpc>
              <a:buNone/>
            </a:pPr>
            <a:endParaRPr lang="ru-RU" sz="2000" dirty="0">
              <a:latin typeface="Times New Roman" panose="02020603050405020304" pitchFamily="18" charset="0"/>
              <a:cs typeface="Times New Roman" panose="02020603050405020304" pitchFamily="18" charset="0"/>
            </a:endParaRPr>
          </a:p>
          <a:p>
            <a:pPr marL="0" indent="0" algn="just">
              <a:lnSpc>
                <a:spcPts val="2800"/>
              </a:lnSpc>
              <a:buNone/>
            </a:pPr>
            <a:r>
              <a:rPr lang="ru-RU" sz="2000" dirty="0">
                <a:latin typeface="Times New Roman" panose="02020603050405020304" pitchFamily="18" charset="0"/>
                <a:cs typeface="Times New Roman" panose="02020603050405020304" pitchFamily="18" charset="0"/>
              </a:rPr>
              <a:t>Помогаем понять, что даже если кому-то не нравится то, что он делает, это не повод не делать. Всегда есть тот, кто не доволен или не понимает. Осуждение –часть жизни, вопрос хочет ли человек не делать из –за страха.</a:t>
            </a:r>
            <a:endParaRPr lang="en-US" sz="2000" dirty="0">
              <a:latin typeface="Times New Roman" panose="02020603050405020304" pitchFamily="18" charset="0"/>
              <a:cs typeface="Times New Roman" panose="02020603050405020304" pitchFamily="18" charset="0"/>
            </a:endParaRPr>
          </a:p>
        </p:txBody>
      </p:sp>
      <p:sp>
        <p:nvSpPr>
          <p:cNvPr id="13" name="Text 10"/>
          <p:cNvSpPr/>
          <p:nvPr/>
        </p:nvSpPr>
        <p:spPr>
          <a:xfrm>
            <a:off x="6417350" y="6505694"/>
            <a:ext cx="201692" cy="334685"/>
          </a:xfrm>
          <a:prstGeom prst="rect">
            <a:avLst/>
          </a:prstGeom>
          <a:noFill/>
          <a:ln/>
        </p:spPr>
        <p:txBody>
          <a:bodyPr wrap="none" lIns="0" tIns="0" rIns="0" bIns="0" rtlCol="0" anchor="t"/>
          <a:lstStyle/>
          <a:p>
            <a:pPr marL="0" indent="0" algn="ctr">
              <a:lnSpc>
                <a:spcPts val="2600"/>
              </a:lnSpc>
              <a:buNone/>
            </a:pPr>
            <a:endParaRPr lang="en-US" sz="2600" dirty="0"/>
          </a:p>
        </p:txBody>
      </p:sp>
      <p:sp>
        <p:nvSpPr>
          <p:cNvPr id="14" name="Прямоугольник 13">
            <a:extLst>
              <a:ext uri="{FF2B5EF4-FFF2-40B4-BE49-F238E27FC236}">
                <a16:creationId xmlns:a16="http://schemas.microsoft.com/office/drawing/2014/main" id="{D3039CDE-DD4F-E542-8485-F5CB4131FE8C}"/>
              </a:ext>
            </a:extLst>
          </p:cNvPr>
          <p:cNvSpPr/>
          <p:nvPr/>
        </p:nvSpPr>
        <p:spPr>
          <a:xfrm>
            <a:off x="0" y="1656"/>
            <a:ext cx="5399834" cy="822794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5" name="Рисунок 14">
            <a:extLst>
              <a:ext uri="{FF2B5EF4-FFF2-40B4-BE49-F238E27FC236}">
                <a16:creationId xmlns:a16="http://schemas.microsoft.com/office/drawing/2014/main" id="{62D713E7-684C-FD44-A2D9-B98103E56976}"/>
              </a:ext>
            </a:extLst>
          </p:cNvPr>
          <p:cNvPicPr>
            <a:picLocks noChangeAspect="1"/>
          </p:cNvPicPr>
          <p:nvPr/>
        </p:nvPicPr>
        <p:blipFill>
          <a:blip r:embed="rId3"/>
          <a:stretch>
            <a:fillRect/>
          </a:stretch>
        </p:blipFill>
        <p:spPr>
          <a:xfrm>
            <a:off x="0" y="2099936"/>
            <a:ext cx="5399834" cy="4029727"/>
          </a:xfrm>
          <a:prstGeom prst="rect">
            <a:avLst/>
          </a:prstGeom>
        </p:spPr>
      </p:pic>
    </p:spTree>
    <p:extLst>
      <p:ext uri="{BB962C8B-B14F-4D97-AF65-F5344CB8AC3E}">
        <p14:creationId xmlns:p14="http://schemas.microsoft.com/office/powerpoint/2010/main" val="2105725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267212" y="257688"/>
            <a:ext cx="5577721" cy="697230"/>
          </a:xfrm>
          <a:prstGeom prst="rect">
            <a:avLst/>
          </a:prstGeom>
          <a:noFill/>
          <a:ln/>
        </p:spPr>
        <p:txBody>
          <a:bodyPr wrap="none" lIns="0" tIns="0" rIns="0" bIns="0" rtlCol="0" anchor="t"/>
          <a:lstStyle/>
          <a:p>
            <a:pPr marL="0" indent="0">
              <a:lnSpc>
                <a:spcPts val="5450"/>
              </a:lnSpc>
              <a:buNone/>
            </a:pPr>
            <a:r>
              <a:rPr lang="en-US" sz="4350" dirty="0">
                <a:latin typeface="Times New Roman" panose="02020603050405020304" pitchFamily="18" charset="0"/>
                <a:ea typeface="Gelasio Semi Bold" pitchFamily="34" charset="-122"/>
                <a:cs typeface="Times New Roman" panose="02020603050405020304" pitchFamily="18" charset="0"/>
              </a:rPr>
              <a:t>Техника работы</a:t>
            </a:r>
            <a:r>
              <a:rPr lang="ru-RU" sz="4350" dirty="0">
                <a:latin typeface="Times New Roman" panose="02020603050405020304" pitchFamily="18" charset="0"/>
                <a:ea typeface="Gelasio Semi Bold" pitchFamily="34" charset="-122"/>
                <a:cs typeface="Times New Roman" panose="02020603050405020304" pitchFamily="18" charset="0"/>
              </a:rPr>
              <a:t>: Шаг 3</a:t>
            </a:r>
          </a:p>
          <a:p>
            <a:pPr marL="0" indent="0">
              <a:lnSpc>
                <a:spcPts val="5450"/>
              </a:lnSpc>
              <a:buNone/>
            </a:pPr>
            <a:endParaRPr lang="en-US" sz="4350" dirty="0">
              <a:latin typeface="Times New Roman" panose="02020603050405020304" pitchFamily="18" charset="0"/>
              <a:cs typeface="Times New Roman" panose="02020603050405020304" pitchFamily="18" charset="0"/>
            </a:endParaRPr>
          </a:p>
        </p:txBody>
      </p:sp>
      <p:sp>
        <p:nvSpPr>
          <p:cNvPr id="4" name="Shape 1"/>
          <p:cNvSpPr/>
          <p:nvPr/>
        </p:nvSpPr>
        <p:spPr>
          <a:xfrm>
            <a:off x="6267212" y="1896308"/>
            <a:ext cx="501968" cy="501968"/>
          </a:xfrm>
          <a:prstGeom prst="roundRect">
            <a:avLst>
              <a:gd name="adj" fmla="val 6667"/>
            </a:avLst>
          </a:prstGeom>
          <a:solidFill>
            <a:srgbClr val="EEE8DD"/>
          </a:solidFill>
          <a:ln/>
        </p:spPr>
      </p:sp>
      <p:sp>
        <p:nvSpPr>
          <p:cNvPr id="5" name="Text 2"/>
          <p:cNvSpPr/>
          <p:nvPr/>
        </p:nvSpPr>
        <p:spPr>
          <a:xfrm>
            <a:off x="6439257" y="1979890"/>
            <a:ext cx="157877" cy="334685"/>
          </a:xfrm>
          <a:prstGeom prst="rect">
            <a:avLst/>
          </a:prstGeom>
          <a:noFill/>
          <a:ln/>
        </p:spPr>
        <p:txBody>
          <a:bodyPr wrap="none" lIns="0" tIns="0" rIns="0" bIns="0" rtlCol="0" anchor="t"/>
          <a:lstStyle/>
          <a:p>
            <a:pPr marL="0" indent="0" algn="ctr">
              <a:lnSpc>
                <a:spcPts val="2600"/>
              </a:lnSpc>
              <a:buNone/>
            </a:pPr>
            <a:r>
              <a:rPr lang="en-US" sz="2600" dirty="0">
                <a:latin typeface="Gelasio Semi Bold" pitchFamily="34" charset="0"/>
                <a:ea typeface="Gelasio Semi Bold" pitchFamily="34" charset="-122"/>
                <a:cs typeface="Gelasio Semi Bold" pitchFamily="34" charset="-120"/>
              </a:rPr>
              <a:t>1</a:t>
            </a:r>
            <a:endParaRPr lang="en-US" sz="2600" dirty="0"/>
          </a:p>
        </p:txBody>
      </p:sp>
      <p:sp>
        <p:nvSpPr>
          <p:cNvPr id="6" name="Text 3"/>
          <p:cNvSpPr/>
          <p:nvPr/>
        </p:nvSpPr>
        <p:spPr>
          <a:xfrm>
            <a:off x="6992183" y="1896308"/>
            <a:ext cx="2788801" cy="348496"/>
          </a:xfrm>
          <a:prstGeom prst="rect">
            <a:avLst/>
          </a:prstGeom>
          <a:noFill/>
          <a:ln/>
        </p:spPr>
        <p:txBody>
          <a:bodyPr wrap="none" lIns="0" tIns="0" rIns="0" bIns="0" rtlCol="0" anchor="t"/>
          <a:lstStyle/>
          <a:p>
            <a:pPr marL="0" indent="0">
              <a:lnSpc>
                <a:spcPts val="2700"/>
              </a:lnSpc>
              <a:buNone/>
            </a:pPr>
            <a:r>
              <a:rPr lang="ru-RU" sz="2000" b="1" dirty="0">
                <a:latin typeface="Times New Roman" panose="02020603050405020304" pitchFamily="18" charset="0"/>
                <a:cs typeface="Times New Roman" panose="02020603050405020304" pitchFamily="18" charset="0"/>
              </a:rPr>
              <a:t>Что такое страх системы?</a:t>
            </a:r>
            <a:endParaRPr lang="en-US" sz="2150" b="1" dirty="0"/>
          </a:p>
        </p:txBody>
      </p:sp>
      <p:sp>
        <p:nvSpPr>
          <p:cNvPr id="7" name="Text 4"/>
          <p:cNvSpPr/>
          <p:nvPr/>
        </p:nvSpPr>
        <p:spPr>
          <a:xfrm>
            <a:off x="6992183" y="2398276"/>
            <a:ext cx="2788800" cy="2498646"/>
          </a:xfrm>
          <a:prstGeom prst="rect">
            <a:avLst/>
          </a:prstGeom>
          <a:noFill/>
          <a:ln/>
        </p:spPr>
        <p:txBody>
          <a:bodyPr wrap="square" lIns="0" tIns="0" rIns="0" bIns="0" rtlCol="0" anchor="t"/>
          <a:lstStyle/>
          <a:p>
            <a:pPr marL="0" indent="0" algn="just">
              <a:lnSpc>
                <a:spcPts val="2800"/>
              </a:lnSpc>
              <a:buNone/>
            </a:pPr>
            <a:r>
              <a:rPr lang="ru-RU" sz="2000" dirty="0">
                <a:latin typeface="Times New Roman" panose="02020603050405020304" pitchFamily="18" charset="0"/>
                <a:cs typeface="Times New Roman" panose="02020603050405020304" pitchFamily="18" charset="0"/>
              </a:rPr>
              <a:t>Страх системы корректируется четким пониманием и наличием плана действий/шагов как следует поступать. </a:t>
            </a:r>
          </a:p>
          <a:p>
            <a:pPr algn="just">
              <a:lnSpc>
                <a:spcPts val="2800"/>
              </a:lnSpc>
            </a:pPr>
            <a:endParaRPr lang="ru-RU" sz="2000" i="1" dirty="0">
              <a:effectLst/>
              <a:latin typeface="Times New Roman" panose="02020603050405020304" pitchFamily="18" charset="0"/>
              <a:ea typeface="MS Mincho" panose="02020609040205080304" pitchFamily="49" charset="-128"/>
              <a:cs typeface="Times New Roman" panose="02020603050405020304" pitchFamily="18" charset="0"/>
            </a:endParaRPr>
          </a:p>
          <a:p>
            <a:pPr algn="just">
              <a:lnSpc>
                <a:spcPts val="2800"/>
              </a:lnSpc>
            </a:pPr>
            <a:r>
              <a:rPr lang="ru-RU" sz="2000" i="1" dirty="0">
                <a:effectLst/>
                <a:latin typeface="Times New Roman" panose="02020603050405020304" pitchFamily="18" charset="0"/>
                <a:ea typeface="MS Mincho" panose="02020609040205080304" pitchFamily="49" charset="-128"/>
                <a:cs typeface="Times New Roman" panose="02020603050405020304" pitchFamily="18" charset="0"/>
              </a:rPr>
              <a:t>Если бы ты уже был таким человеком, с такими навыками и способностями, с такими убеждениями, то как ты бы хотел выстроить систему по реализации мечты?</a:t>
            </a:r>
            <a:endParaRPr lang="ru-RU" sz="20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lgn="just">
              <a:lnSpc>
                <a:spcPts val="2800"/>
              </a:lnSpc>
              <a:buNone/>
            </a:pPr>
            <a:endParaRPr lang="ru-RU" sz="2000" dirty="0">
              <a:latin typeface="Times New Roman" panose="02020603050405020304" pitchFamily="18" charset="0"/>
              <a:cs typeface="Times New Roman" panose="02020603050405020304" pitchFamily="18" charset="0"/>
            </a:endParaRPr>
          </a:p>
        </p:txBody>
      </p:sp>
      <p:sp>
        <p:nvSpPr>
          <p:cNvPr id="8" name="Shape 5"/>
          <p:cNvSpPr/>
          <p:nvPr/>
        </p:nvSpPr>
        <p:spPr>
          <a:xfrm>
            <a:off x="10169962" y="1896308"/>
            <a:ext cx="501968" cy="501968"/>
          </a:xfrm>
          <a:prstGeom prst="roundRect">
            <a:avLst>
              <a:gd name="adj" fmla="val 6667"/>
            </a:avLst>
          </a:prstGeom>
          <a:solidFill>
            <a:srgbClr val="EEE8DD"/>
          </a:solidFill>
          <a:ln/>
        </p:spPr>
      </p:sp>
      <p:sp>
        <p:nvSpPr>
          <p:cNvPr id="9" name="Text 6"/>
          <p:cNvSpPr/>
          <p:nvPr/>
        </p:nvSpPr>
        <p:spPr>
          <a:xfrm>
            <a:off x="10283688" y="1979890"/>
            <a:ext cx="238580" cy="334685"/>
          </a:xfrm>
          <a:prstGeom prst="rect">
            <a:avLst/>
          </a:prstGeom>
          <a:noFill/>
          <a:ln/>
        </p:spPr>
        <p:txBody>
          <a:bodyPr wrap="none" lIns="0" tIns="0" rIns="0" bIns="0" rtlCol="0" anchor="t"/>
          <a:lstStyle/>
          <a:p>
            <a:pPr marL="0" indent="0" algn="ctr">
              <a:lnSpc>
                <a:spcPts val="2600"/>
              </a:lnSpc>
              <a:buNone/>
            </a:pPr>
            <a:r>
              <a:rPr lang="en-US" sz="2600" dirty="0">
                <a:latin typeface="Gelasio Semi Bold" pitchFamily="34" charset="0"/>
                <a:ea typeface="Gelasio Semi Bold" pitchFamily="34" charset="-122"/>
                <a:cs typeface="Gelasio Semi Bold" pitchFamily="34" charset="-120"/>
              </a:rPr>
              <a:t>2</a:t>
            </a:r>
            <a:endParaRPr lang="en-US" sz="2600" dirty="0"/>
          </a:p>
        </p:txBody>
      </p:sp>
      <p:sp>
        <p:nvSpPr>
          <p:cNvPr id="10" name="Text 7"/>
          <p:cNvSpPr/>
          <p:nvPr/>
        </p:nvSpPr>
        <p:spPr>
          <a:xfrm>
            <a:off x="10894933" y="1896308"/>
            <a:ext cx="2788801" cy="348496"/>
          </a:xfrm>
          <a:prstGeom prst="rect">
            <a:avLst/>
          </a:prstGeom>
          <a:noFill/>
          <a:ln/>
        </p:spPr>
        <p:txBody>
          <a:bodyPr wrap="none" lIns="0" tIns="0" rIns="0" bIns="0" rtlCol="0" anchor="t"/>
          <a:lstStyle/>
          <a:p>
            <a:pPr marL="0" indent="0">
              <a:lnSpc>
                <a:spcPts val="2700"/>
              </a:lnSpc>
              <a:buNone/>
            </a:pPr>
            <a:r>
              <a:rPr lang="en-US" sz="2400" b="1" dirty="0">
                <a:latin typeface="Times New Roman" panose="02020603050405020304" pitchFamily="18" charset="0"/>
                <a:ea typeface="Gelasio Semi Bold" pitchFamily="34" charset="-122"/>
                <a:cs typeface="Times New Roman" panose="02020603050405020304" pitchFamily="18" charset="0"/>
              </a:rPr>
              <a:t>Фокус</a:t>
            </a:r>
            <a:endParaRPr lang="en-US" sz="2400" b="1" dirty="0">
              <a:latin typeface="Times New Roman" panose="02020603050405020304" pitchFamily="18" charset="0"/>
              <a:cs typeface="Times New Roman" panose="02020603050405020304" pitchFamily="18" charset="0"/>
            </a:endParaRPr>
          </a:p>
        </p:txBody>
      </p:sp>
      <p:sp>
        <p:nvSpPr>
          <p:cNvPr id="11" name="Text 8"/>
          <p:cNvSpPr/>
          <p:nvPr/>
        </p:nvSpPr>
        <p:spPr>
          <a:xfrm>
            <a:off x="10894933" y="2378631"/>
            <a:ext cx="3006597" cy="3569494"/>
          </a:xfrm>
          <a:prstGeom prst="rect">
            <a:avLst/>
          </a:prstGeom>
          <a:noFill/>
          <a:ln/>
        </p:spPr>
        <p:txBody>
          <a:bodyPr wrap="square" lIns="0" tIns="0" rIns="0" bIns="0" rtlCol="0" anchor="t"/>
          <a:lstStyle/>
          <a:p>
            <a:pPr marL="0" indent="0" algn="just">
              <a:lnSpc>
                <a:spcPts val="2800"/>
              </a:lnSpc>
              <a:buNone/>
            </a:pPr>
            <a:r>
              <a:rPr lang="ru-RU" sz="2000" dirty="0">
                <a:latin typeface="Times New Roman" panose="02020603050405020304" pitchFamily="18" charset="0"/>
                <a:ea typeface="Gelasio" pitchFamily="34" charset="-122"/>
                <a:cs typeface="Times New Roman" panose="02020603050405020304" pitchFamily="18" charset="0"/>
              </a:rPr>
              <a:t>Помогаем клиенту  осознать, что все в его руках, что все данные можно найти, есть огромное количество ресурсов: информация в открытых источниках, </a:t>
            </a:r>
            <a:r>
              <a:rPr lang="ru-RU" sz="2000" dirty="0" err="1">
                <a:latin typeface="Times New Roman" panose="02020603050405020304" pitchFamily="18" charset="0"/>
                <a:ea typeface="Gelasio" pitchFamily="34" charset="-122"/>
                <a:cs typeface="Times New Roman" panose="02020603050405020304" pitchFamily="18" charset="0"/>
              </a:rPr>
              <a:t>нейросети</a:t>
            </a:r>
            <a:r>
              <a:rPr lang="ru-RU" sz="2000" dirty="0">
                <a:latin typeface="Times New Roman" panose="02020603050405020304" pitchFamily="18" charset="0"/>
                <a:ea typeface="Gelasio" pitchFamily="34" charset="-122"/>
                <a:cs typeface="Times New Roman" panose="02020603050405020304" pitchFamily="18" charset="0"/>
              </a:rPr>
              <a:t>,  консультанты, друзья, профессиональные сообщества и т.п.</a:t>
            </a:r>
            <a:endParaRPr lang="en-US" sz="2000" dirty="0">
              <a:latin typeface="Times New Roman" panose="02020603050405020304" pitchFamily="18" charset="0"/>
              <a:cs typeface="Times New Roman" panose="02020603050405020304" pitchFamily="18" charset="0"/>
            </a:endParaRPr>
          </a:p>
        </p:txBody>
      </p:sp>
      <p:sp>
        <p:nvSpPr>
          <p:cNvPr id="13" name="Text 10"/>
          <p:cNvSpPr/>
          <p:nvPr/>
        </p:nvSpPr>
        <p:spPr>
          <a:xfrm>
            <a:off x="6417350" y="6505694"/>
            <a:ext cx="201692" cy="334685"/>
          </a:xfrm>
          <a:prstGeom prst="rect">
            <a:avLst/>
          </a:prstGeom>
          <a:noFill/>
          <a:ln/>
        </p:spPr>
        <p:txBody>
          <a:bodyPr wrap="none" lIns="0" tIns="0" rIns="0" bIns="0" rtlCol="0" anchor="t"/>
          <a:lstStyle/>
          <a:p>
            <a:pPr marL="0" indent="0" algn="ctr">
              <a:lnSpc>
                <a:spcPts val="2600"/>
              </a:lnSpc>
              <a:buNone/>
            </a:pPr>
            <a:endParaRPr lang="en-US" sz="2600" dirty="0"/>
          </a:p>
        </p:txBody>
      </p:sp>
      <p:sp>
        <p:nvSpPr>
          <p:cNvPr id="14" name="Прямоугольник 13">
            <a:extLst>
              <a:ext uri="{FF2B5EF4-FFF2-40B4-BE49-F238E27FC236}">
                <a16:creationId xmlns:a16="http://schemas.microsoft.com/office/drawing/2014/main" id="{886548AE-808E-C84E-B309-FCE26F7EF7CB}"/>
              </a:ext>
            </a:extLst>
          </p:cNvPr>
          <p:cNvSpPr/>
          <p:nvPr/>
        </p:nvSpPr>
        <p:spPr>
          <a:xfrm>
            <a:off x="0" y="1656"/>
            <a:ext cx="5399834" cy="822794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5" name="Рисунок 14">
            <a:extLst>
              <a:ext uri="{FF2B5EF4-FFF2-40B4-BE49-F238E27FC236}">
                <a16:creationId xmlns:a16="http://schemas.microsoft.com/office/drawing/2014/main" id="{D203F576-80C6-004D-B2BD-AD3688E19A4A}"/>
              </a:ext>
            </a:extLst>
          </p:cNvPr>
          <p:cNvPicPr>
            <a:picLocks noChangeAspect="1"/>
          </p:cNvPicPr>
          <p:nvPr/>
        </p:nvPicPr>
        <p:blipFill>
          <a:blip r:embed="rId3"/>
          <a:stretch>
            <a:fillRect/>
          </a:stretch>
        </p:blipFill>
        <p:spPr>
          <a:xfrm>
            <a:off x="1" y="2221660"/>
            <a:ext cx="5399833" cy="3693282"/>
          </a:xfrm>
          <a:prstGeom prst="rect">
            <a:avLst/>
          </a:prstGeom>
        </p:spPr>
      </p:pic>
    </p:spTree>
    <p:extLst>
      <p:ext uri="{BB962C8B-B14F-4D97-AF65-F5344CB8AC3E}">
        <p14:creationId xmlns:p14="http://schemas.microsoft.com/office/powerpoint/2010/main" val="1763520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267212" y="257688"/>
            <a:ext cx="5577721" cy="697230"/>
          </a:xfrm>
          <a:prstGeom prst="rect">
            <a:avLst/>
          </a:prstGeom>
          <a:noFill/>
          <a:ln/>
        </p:spPr>
        <p:txBody>
          <a:bodyPr wrap="none" lIns="0" tIns="0" rIns="0" bIns="0" rtlCol="0" anchor="t"/>
          <a:lstStyle/>
          <a:p>
            <a:pPr marL="0" indent="0">
              <a:lnSpc>
                <a:spcPts val="5450"/>
              </a:lnSpc>
              <a:buNone/>
            </a:pPr>
            <a:r>
              <a:rPr lang="en-US" sz="4350" dirty="0">
                <a:latin typeface="Times New Roman" panose="02020603050405020304" pitchFamily="18" charset="0"/>
                <a:ea typeface="Gelasio Semi Bold" pitchFamily="34" charset="-122"/>
                <a:cs typeface="Times New Roman" panose="02020603050405020304" pitchFamily="18" charset="0"/>
              </a:rPr>
              <a:t>Техника работы</a:t>
            </a:r>
            <a:r>
              <a:rPr lang="ru-RU" sz="4350" dirty="0">
                <a:latin typeface="Times New Roman" panose="02020603050405020304" pitchFamily="18" charset="0"/>
                <a:ea typeface="Gelasio Semi Bold" pitchFamily="34" charset="-122"/>
                <a:cs typeface="Times New Roman" panose="02020603050405020304" pitchFamily="18" charset="0"/>
              </a:rPr>
              <a:t>: Шаг 4</a:t>
            </a:r>
          </a:p>
          <a:p>
            <a:pPr marL="0" indent="0">
              <a:lnSpc>
                <a:spcPts val="5450"/>
              </a:lnSpc>
              <a:buNone/>
            </a:pPr>
            <a:endParaRPr lang="en-US" sz="4350" dirty="0">
              <a:latin typeface="Times New Roman" panose="02020603050405020304" pitchFamily="18" charset="0"/>
              <a:cs typeface="Times New Roman" panose="02020603050405020304" pitchFamily="18" charset="0"/>
            </a:endParaRPr>
          </a:p>
        </p:txBody>
      </p:sp>
      <p:sp>
        <p:nvSpPr>
          <p:cNvPr id="4" name="Shape 1"/>
          <p:cNvSpPr/>
          <p:nvPr/>
        </p:nvSpPr>
        <p:spPr>
          <a:xfrm>
            <a:off x="6233663" y="1403720"/>
            <a:ext cx="501968" cy="501968"/>
          </a:xfrm>
          <a:prstGeom prst="roundRect">
            <a:avLst>
              <a:gd name="adj" fmla="val 6667"/>
            </a:avLst>
          </a:prstGeom>
          <a:solidFill>
            <a:srgbClr val="EEE8DD"/>
          </a:solidFill>
          <a:ln/>
        </p:spPr>
      </p:sp>
      <p:sp>
        <p:nvSpPr>
          <p:cNvPr id="5" name="Text 2"/>
          <p:cNvSpPr/>
          <p:nvPr/>
        </p:nvSpPr>
        <p:spPr>
          <a:xfrm rot="10800000" flipV="1">
            <a:off x="6439256" y="1477923"/>
            <a:ext cx="179785" cy="501968"/>
          </a:xfrm>
          <a:prstGeom prst="rect">
            <a:avLst/>
          </a:prstGeom>
          <a:noFill/>
          <a:ln/>
        </p:spPr>
        <p:txBody>
          <a:bodyPr wrap="none" lIns="0" tIns="0" rIns="0" bIns="0" rtlCol="0" anchor="t"/>
          <a:lstStyle/>
          <a:p>
            <a:pPr marL="0" indent="0" algn="ctr">
              <a:lnSpc>
                <a:spcPts val="2600"/>
              </a:lnSpc>
              <a:buNone/>
            </a:pPr>
            <a:r>
              <a:rPr lang="en-US" sz="2600" dirty="0">
                <a:latin typeface="Gelasio Semi Bold" pitchFamily="34" charset="0"/>
                <a:ea typeface="Gelasio Semi Bold" pitchFamily="34" charset="-122"/>
                <a:cs typeface="Gelasio Semi Bold" pitchFamily="34" charset="-120"/>
              </a:rPr>
              <a:t>1</a:t>
            </a:r>
            <a:endParaRPr lang="en-US" sz="2600" dirty="0"/>
          </a:p>
        </p:txBody>
      </p:sp>
      <p:sp>
        <p:nvSpPr>
          <p:cNvPr id="6" name="Text 3"/>
          <p:cNvSpPr/>
          <p:nvPr/>
        </p:nvSpPr>
        <p:spPr>
          <a:xfrm>
            <a:off x="6992181" y="1265864"/>
            <a:ext cx="2788801" cy="348496"/>
          </a:xfrm>
          <a:prstGeom prst="rect">
            <a:avLst/>
          </a:prstGeom>
          <a:noFill/>
          <a:ln/>
        </p:spPr>
        <p:txBody>
          <a:bodyPr wrap="none" lIns="0" tIns="0" rIns="0" bIns="0" rtlCol="0" anchor="t"/>
          <a:lstStyle/>
          <a:p>
            <a:pPr marL="0" indent="0">
              <a:lnSpc>
                <a:spcPts val="2700"/>
              </a:lnSpc>
              <a:buNone/>
            </a:pPr>
            <a:r>
              <a:rPr lang="ru-RU" sz="2400" b="1" dirty="0">
                <a:latin typeface="Times New Roman" panose="02020603050405020304" pitchFamily="18" charset="0"/>
                <a:cs typeface="Times New Roman" panose="02020603050405020304" pitchFamily="18" charset="0"/>
              </a:rPr>
              <a:t>Страх, что не понравится </a:t>
            </a:r>
          </a:p>
          <a:p>
            <a:pPr marL="0" indent="0">
              <a:lnSpc>
                <a:spcPts val="2700"/>
              </a:lnSpc>
              <a:buNone/>
            </a:pPr>
            <a:r>
              <a:rPr lang="ru-RU" sz="2400" b="1" dirty="0">
                <a:latin typeface="Times New Roman" panose="02020603050405020304" pitchFamily="18" charset="0"/>
                <a:cs typeface="Times New Roman" panose="02020603050405020304" pitchFamily="18" charset="0"/>
              </a:rPr>
              <a:t>результат</a:t>
            </a:r>
          </a:p>
          <a:p>
            <a:pPr marL="0" indent="0">
              <a:lnSpc>
                <a:spcPts val="2700"/>
              </a:lnSpc>
              <a:buNone/>
            </a:pPr>
            <a:r>
              <a:rPr lang="ru-RU" sz="2400" b="1" dirty="0">
                <a:latin typeface="Times New Roman" panose="02020603050405020304" pitchFamily="18" charset="0"/>
                <a:cs typeface="Times New Roman" panose="02020603050405020304" pitchFamily="18" charset="0"/>
              </a:rPr>
              <a:t>Страх, что после будет </a:t>
            </a:r>
          </a:p>
          <a:p>
            <a:pPr marL="0" indent="0">
              <a:lnSpc>
                <a:spcPts val="2700"/>
              </a:lnSpc>
              <a:buNone/>
            </a:pPr>
            <a:r>
              <a:rPr lang="ru-RU" sz="2400" b="1" dirty="0">
                <a:latin typeface="Times New Roman" panose="02020603050405020304" pitchFamily="18" charset="0"/>
                <a:cs typeface="Times New Roman" panose="02020603050405020304" pitchFamily="18" charset="0"/>
              </a:rPr>
              <a:t>пустота</a:t>
            </a:r>
            <a:endParaRPr lang="en-US" sz="2400" b="1" dirty="0"/>
          </a:p>
        </p:txBody>
      </p:sp>
      <p:sp>
        <p:nvSpPr>
          <p:cNvPr id="7" name="Text 4"/>
          <p:cNvSpPr/>
          <p:nvPr/>
        </p:nvSpPr>
        <p:spPr>
          <a:xfrm>
            <a:off x="7005432" y="2706451"/>
            <a:ext cx="3152371" cy="2498646"/>
          </a:xfrm>
          <a:prstGeom prst="rect">
            <a:avLst/>
          </a:prstGeom>
          <a:noFill/>
          <a:ln/>
        </p:spPr>
        <p:txBody>
          <a:bodyPr wrap="square" lIns="0" tIns="0" rIns="0" bIns="0" rtlCol="0" anchor="t"/>
          <a:lstStyle/>
          <a:p>
            <a:pPr marL="0" indent="0" algn="just">
              <a:lnSpc>
                <a:spcPts val="2800"/>
              </a:lnSpc>
              <a:buNone/>
            </a:pPr>
            <a:r>
              <a:rPr lang="ru-RU" sz="2000" dirty="0">
                <a:latin typeface="Times New Roman" panose="02020603050405020304" pitchFamily="18" charset="0"/>
                <a:cs typeface="Times New Roman" panose="02020603050405020304" pitchFamily="18" charset="0"/>
              </a:rPr>
              <a:t>Нужно понять почему человек этого боится? Если он планирует результат, почему в него не верит?</a:t>
            </a:r>
          </a:p>
          <a:p>
            <a:pPr marL="0" indent="0" algn="just">
              <a:lnSpc>
                <a:spcPts val="2800"/>
              </a:lnSpc>
              <a:buNone/>
            </a:pPr>
            <a:r>
              <a:rPr lang="ru-RU" sz="2000" dirty="0">
                <a:latin typeface="Times New Roman" panose="02020603050405020304" pitchFamily="18" charset="0"/>
                <a:cs typeface="Times New Roman" panose="02020603050405020304" pitchFamily="18" charset="0"/>
              </a:rPr>
              <a:t> </a:t>
            </a:r>
          </a:p>
          <a:p>
            <a:pPr marL="0" indent="0" algn="just">
              <a:lnSpc>
                <a:spcPts val="2800"/>
              </a:lnSpc>
              <a:buNone/>
            </a:pPr>
            <a:r>
              <a:rPr lang="ru-RU" sz="2000" dirty="0">
                <a:latin typeface="Times New Roman" panose="02020603050405020304" pitchFamily="18" charset="0"/>
                <a:cs typeface="Times New Roman" panose="02020603050405020304" pitchFamily="18" charset="0"/>
              </a:rPr>
              <a:t>Страх потери цели лечится следующей мечтой, желательно большей, чем текущая. </a:t>
            </a:r>
          </a:p>
          <a:p>
            <a:pPr marL="0" indent="0" algn="just">
              <a:lnSpc>
                <a:spcPts val="2800"/>
              </a:lnSpc>
              <a:buNone/>
            </a:pPr>
            <a:r>
              <a:rPr lang="ru-RU" sz="2000" dirty="0">
                <a:latin typeface="Times New Roman" panose="02020603050405020304" pitchFamily="18" charset="0"/>
                <a:cs typeface="Times New Roman" panose="02020603050405020304" pitchFamily="18" charset="0"/>
              </a:rPr>
              <a:t>Вопрос: Представь, что то, что ты сейчас планируешь успешно завершено. Почувствуй радость завершения. Что тогда станет следующим шагом?</a:t>
            </a:r>
          </a:p>
        </p:txBody>
      </p:sp>
      <p:sp>
        <p:nvSpPr>
          <p:cNvPr id="8" name="Shape 5"/>
          <p:cNvSpPr/>
          <p:nvPr/>
        </p:nvSpPr>
        <p:spPr>
          <a:xfrm>
            <a:off x="10777171" y="1380410"/>
            <a:ext cx="501968" cy="501968"/>
          </a:xfrm>
          <a:prstGeom prst="roundRect">
            <a:avLst>
              <a:gd name="adj" fmla="val 6667"/>
            </a:avLst>
          </a:prstGeom>
          <a:solidFill>
            <a:srgbClr val="EEE8DD"/>
          </a:solidFill>
          <a:ln/>
        </p:spPr>
      </p:sp>
      <p:sp>
        <p:nvSpPr>
          <p:cNvPr id="9" name="Text 6"/>
          <p:cNvSpPr/>
          <p:nvPr/>
        </p:nvSpPr>
        <p:spPr>
          <a:xfrm>
            <a:off x="10894932" y="1439102"/>
            <a:ext cx="252513" cy="289804"/>
          </a:xfrm>
          <a:prstGeom prst="rect">
            <a:avLst/>
          </a:prstGeom>
          <a:noFill/>
          <a:ln/>
        </p:spPr>
        <p:txBody>
          <a:bodyPr wrap="none" lIns="0" tIns="0" rIns="0" bIns="0" rtlCol="0" anchor="t"/>
          <a:lstStyle/>
          <a:p>
            <a:pPr marL="0" indent="0" algn="ctr">
              <a:lnSpc>
                <a:spcPts val="2600"/>
              </a:lnSpc>
              <a:buNone/>
            </a:pPr>
            <a:r>
              <a:rPr lang="en-US" sz="2600" dirty="0">
                <a:latin typeface="Gelasio Semi Bold" pitchFamily="34" charset="0"/>
                <a:ea typeface="Gelasio Semi Bold" pitchFamily="34" charset="-122"/>
                <a:cs typeface="Gelasio Semi Bold" pitchFamily="34" charset="-120"/>
              </a:rPr>
              <a:t>2</a:t>
            </a:r>
            <a:endParaRPr lang="en-US" sz="2600" dirty="0"/>
          </a:p>
        </p:txBody>
      </p:sp>
      <p:sp>
        <p:nvSpPr>
          <p:cNvPr id="10" name="Text 7"/>
          <p:cNvSpPr/>
          <p:nvPr/>
        </p:nvSpPr>
        <p:spPr>
          <a:xfrm>
            <a:off x="11373329" y="1380410"/>
            <a:ext cx="2370880" cy="348496"/>
          </a:xfrm>
          <a:prstGeom prst="rect">
            <a:avLst/>
          </a:prstGeom>
          <a:noFill/>
          <a:ln/>
        </p:spPr>
        <p:txBody>
          <a:bodyPr wrap="none" lIns="0" tIns="0" rIns="0" bIns="0" rtlCol="0" anchor="t"/>
          <a:lstStyle/>
          <a:p>
            <a:pPr marL="0" indent="0">
              <a:lnSpc>
                <a:spcPts val="2700"/>
              </a:lnSpc>
              <a:buNone/>
            </a:pPr>
            <a:r>
              <a:rPr lang="en-US" sz="2400" b="1" dirty="0">
                <a:latin typeface="Times New Roman" panose="02020603050405020304" pitchFamily="18" charset="0"/>
                <a:ea typeface="Gelasio Semi Bold" pitchFamily="34" charset="-122"/>
                <a:cs typeface="Times New Roman" panose="02020603050405020304" pitchFamily="18" charset="0"/>
              </a:rPr>
              <a:t>Фокус</a:t>
            </a:r>
            <a:endParaRPr lang="en-US" sz="2400" b="1" dirty="0">
              <a:latin typeface="Times New Roman" panose="02020603050405020304" pitchFamily="18" charset="0"/>
              <a:cs typeface="Times New Roman" panose="02020603050405020304" pitchFamily="18" charset="0"/>
            </a:endParaRPr>
          </a:p>
        </p:txBody>
      </p:sp>
      <p:sp>
        <p:nvSpPr>
          <p:cNvPr id="11" name="Text 8"/>
          <p:cNvSpPr/>
          <p:nvPr/>
        </p:nvSpPr>
        <p:spPr>
          <a:xfrm>
            <a:off x="10894932" y="1979891"/>
            <a:ext cx="3152372" cy="3569494"/>
          </a:xfrm>
          <a:prstGeom prst="rect">
            <a:avLst/>
          </a:prstGeom>
          <a:noFill/>
          <a:ln/>
        </p:spPr>
        <p:txBody>
          <a:bodyPr wrap="square" lIns="0" tIns="0" rIns="0" bIns="0" rtlCol="0" anchor="t"/>
          <a:lstStyle/>
          <a:p>
            <a:pPr marL="0" indent="0" algn="just">
              <a:lnSpc>
                <a:spcPts val="2800"/>
              </a:lnSpc>
              <a:buNone/>
            </a:pPr>
            <a:r>
              <a:rPr lang="ru-RU" sz="2000" dirty="0">
                <a:latin typeface="Times New Roman" panose="02020603050405020304" pitchFamily="18" charset="0"/>
                <a:cs typeface="Times New Roman" panose="02020603050405020304" pitchFamily="18" charset="0"/>
              </a:rPr>
              <a:t>Помогаем клиенту разобраться в своем отношении к результату, что пугает его в вполне сформулированном результате, что там не так? </a:t>
            </a:r>
          </a:p>
          <a:p>
            <a:pPr marL="0" indent="0" algn="just">
              <a:lnSpc>
                <a:spcPts val="2800"/>
              </a:lnSpc>
              <a:buNone/>
            </a:pPr>
            <a:r>
              <a:rPr lang="ru-RU" sz="2000" dirty="0">
                <a:latin typeface="Times New Roman" panose="02020603050405020304" pitchFamily="18" charset="0"/>
                <a:cs typeface="Times New Roman" panose="02020603050405020304" pitchFamily="18" charset="0"/>
              </a:rPr>
              <a:t>Один из вариантов: это «чужой» проект/результат. Тогда основной вопрос, стоит ли это делать? </a:t>
            </a:r>
          </a:p>
          <a:p>
            <a:pPr marL="0" indent="0" algn="just">
              <a:lnSpc>
                <a:spcPts val="2800"/>
              </a:lnSpc>
              <a:buNone/>
            </a:pPr>
            <a:endParaRPr lang="ru-RU" sz="2000" dirty="0">
              <a:latin typeface="Times New Roman" panose="02020603050405020304" pitchFamily="18" charset="0"/>
              <a:cs typeface="Times New Roman" panose="02020603050405020304" pitchFamily="18" charset="0"/>
            </a:endParaRPr>
          </a:p>
          <a:p>
            <a:pPr marL="0" indent="0" algn="just">
              <a:lnSpc>
                <a:spcPts val="2800"/>
              </a:lnSpc>
              <a:buNone/>
            </a:pPr>
            <a:r>
              <a:rPr lang="ru-RU" sz="2000" dirty="0">
                <a:latin typeface="Times New Roman" panose="02020603050405020304" pitchFamily="18" charset="0"/>
                <a:cs typeface="Times New Roman" panose="02020603050405020304" pitchFamily="18" charset="0"/>
              </a:rPr>
              <a:t>Помогаем увидеть свой последовательный рост, рост своих целей, который перекликается с этапами жизни. </a:t>
            </a:r>
            <a:endParaRPr lang="en-US" sz="2000" dirty="0">
              <a:latin typeface="Times New Roman" panose="02020603050405020304" pitchFamily="18" charset="0"/>
              <a:cs typeface="Times New Roman" panose="02020603050405020304" pitchFamily="18" charset="0"/>
            </a:endParaRPr>
          </a:p>
        </p:txBody>
      </p:sp>
      <p:sp>
        <p:nvSpPr>
          <p:cNvPr id="13" name="Text 10"/>
          <p:cNvSpPr/>
          <p:nvPr/>
        </p:nvSpPr>
        <p:spPr>
          <a:xfrm>
            <a:off x="6417350" y="6505694"/>
            <a:ext cx="201692" cy="334685"/>
          </a:xfrm>
          <a:prstGeom prst="rect">
            <a:avLst/>
          </a:prstGeom>
          <a:noFill/>
          <a:ln/>
        </p:spPr>
        <p:txBody>
          <a:bodyPr wrap="none" lIns="0" tIns="0" rIns="0" bIns="0" rtlCol="0" anchor="t"/>
          <a:lstStyle/>
          <a:p>
            <a:pPr marL="0" indent="0" algn="ctr">
              <a:lnSpc>
                <a:spcPts val="2600"/>
              </a:lnSpc>
              <a:buNone/>
            </a:pPr>
            <a:endParaRPr lang="en-US" sz="2600" dirty="0"/>
          </a:p>
        </p:txBody>
      </p:sp>
      <p:sp>
        <p:nvSpPr>
          <p:cNvPr id="14" name="Прямоугольник 13">
            <a:extLst>
              <a:ext uri="{FF2B5EF4-FFF2-40B4-BE49-F238E27FC236}">
                <a16:creationId xmlns:a16="http://schemas.microsoft.com/office/drawing/2014/main" id="{F3CF45BC-4656-074E-B373-FCFAADD84FE8}"/>
              </a:ext>
            </a:extLst>
          </p:cNvPr>
          <p:cNvSpPr/>
          <p:nvPr/>
        </p:nvSpPr>
        <p:spPr>
          <a:xfrm>
            <a:off x="0" y="1656"/>
            <a:ext cx="5399834" cy="822794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5" name="Рисунок 14">
            <a:extLst>
              <a:ext uri="{FF2B5EF4-FFF2-40B4-BE49-F238E27FC236}">
                <a16:creationId xmlns:a16="http://schemas.microsoft.com/office/drawing/2014/main" id="{53F6C78C-B41B-114F-8DDB-B8EAF17DBE08}"/>
              </a:ext>
            </a:extLst>
          </p:cNvPr>
          <p:cNvPicPr>
            <a:picLocks noChangeAspect="1"/>
          </p:cNvPicPr>
          <p:nvPr/>
        </p:nvPicPr>
        <p:blipFill>
          <a:blip r:embed="rId3"/>
          <a:stretch>
            <a:fillRect/>
          </a:stretch>
        </p:blipFill>
        <p:spPr>
          <a:xfrm>
            <a:off x="0" y="2342980"/>
            <a:ext cx="5399833" cy="3543640"/>
          </a:xfrm>
          <a:prstGeom prst="rect">
            <a:avLst/>
          </a:prstGeom>
        </p:spPr>
      </p:pic>
    </p:spTree>
    <p:extLst>
      <p:ext uri="{BB962C8B-B14F-4D97-AF65-F5344CB8AC3E}">
        <p14:creationId xmlns:p14="http://schemas.microsoft.com/office/powerpoint/2010/main" val="1961554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912852" y="1101328"/>
            <a:ext cx="5204580" cy="667941"/>
          </a:xfrm>
          <a:prstGeom prst="rect">
            <a:avLst/>
          </a:prstGeom>
          <a:noFill/>
          <a:ln/>
        </p:spPr>
        <p:txBody>
          <a:bodyPr wrap="none" lIns="0" tIns="0" rIns="0" bIns="0" rtlCol="0" anchor="t"/>
          <a:lstStyle/>
          <a:p>
            <a:pPr marL="0" indent="0">
              <a:lnSpc>
                <a:spcPts val="5250"/>
              </a:lnSpc>
              <a:buNone/>
            </a:pPr>
            <a:r>
              <a:rPr lang="ru-RU" sz="4000" dirty="0">
                <a:latin typeface="Times New Roman" panose="02020603050405020304" pitchFamily="18" charset="0"/>
                <a:cs typeface="Times New Roman" panose="02020603050405020304" pitchFamily="18" charset="0"/>
              </a:rPr>
              <a:t>На что обратить внимание:</a:t>
            </a:r>
            <a:endParaRPr lang="en-US" sz="4000" dirty="0">
              <a:latin typeface="Times New Roman" panose="02020603050405020304" pitchFamily="18" charset="0"/>
              <a:cs typeface="Times New Roman" panose="02020603050405020304" pitchFamily="18" charset="0"/>
            </a:endParaRPr>
          </a:p>
        </p:txBody>
      </p:sp>
      <p:sp>
        <p:nvSpPr>
          <p:cNvPr id="4" name="Shape 1"/>
          <p:cNvSpPr/>
          <p:nvPr/>
        </p:nvSpPr>
        <p:spPr>
          <a:xfrm>
            <a:off x="748070" y="2330291"/>
            <a:ext cx="480893" cy="480893"/>
          </a:xfrm>
          <a:prstGeom prst="roundRect">
            <a:avLst>
              <a:gd name="adj" fmla="val 6668"/>
            </a:avLst>
          </a:prstGeom>
          <a:solidFill>
            <a:srgbClr val="EEE8DD"/>
          </a:solidFill>
          <a:ln/>
        </p:spPr>
      </p:sp>
      <p:sp>
        <p:nvSpPr>
          <p:cNvPr id="5" name="Text 2"/>
          <p:cNvSpPr/>
          <p:nvPr/>
        </p:nvSpPr>
        <p:spPr>
          <a:xfrm>
            <a:off x="912852" y="2410420"/>
            <a:ext cx="151209" cy="320635"/>
          </a:xfrm>
          <a:prstGeom prst="rect">
            <a:avLst/>
          </a:prstGeom>
          <a:noFill/>
          <a:ln/>
        </p:spPr>
        <p:txBody>
          <a:bodyPr wrap="none" lIns="0" tIns="0" rIns="0" bIns="0" rtlCol="0" anchor="t"/>
          <a:lstStyle/>
          <a:p>
            <a:pPr marL="0" indent="0" algn="ctr">
              <a:lnSpc>
                <a:spcPts val="2500"/>
              </a:lnSpc>
              <a:buNone/>
            </a:pPr>
            <a:r>
              <a:rPr lang="en-US" sz="2500" dirty="0">
                <a:latin typeface="Gelasio Semi Bold" pitchFamily="34" charset="0"/>
                <a:ea typeface="Gelasio Semi Bold" pitchFamily="34" charset="-122"/>
                <a:cs typeface="Gelasio Semi Bold" pitchFamily="34" charset="-120"/>
              </a:rPr>
              <a:t>1</a:t>
            </a:r>
            <a:endParaRPr lang="en-US" sz="2500" dirty="0"/>
          </a:p>
        </p:txBody>
      </p:sp>
      <p:sp>
        <p:nvSpPr>
          <p:cNvPr id="6" name="Text 3"/>
          <p:cNvSpPr/>
          <p:nvPr/>
        </p:nvSpPr>
        <p:spPr>
          <a:xfrm>
            <a:off x="1442680" y="2330291"/>
            <a:ext cx="2672001" cy="333970"/>
          </a:xfrm>
          <a:prstGeom prst="rect">
            <a:avLst/>
          </a:prstGeom>
          <a:noFill/>
          <a:ln/>
        </p:spPr>
        <p:txBody>
          <a:bodyPr wrap="none" lIns="0" tIns="0" rIns="0" bIns="0" rtlCol="0" anchor="t"/>
          <a:lstStyle/>
          <a:p>
            <a:pPr marL="0" indent="0">
              <a:lnSpc>
                <a:spcPts val="2600"/>
              </a:lnSpc>
              <a:buNone/>
            </a:pPr>
            <a:r>
              <a:rPr lang="ru-RU" sz="2400" b="1" dirty="0">
                <a:latin typeface="Times New Roman" panose="02020603050405020304" pitchFamily="18" charset="0"/>
                <a:cs typeface="Times New Roman" panose="02020603050405020304" pitchFamily="18" charset="0"/>
              </a:rPr>
              <a:t>Ощущения</a:t>
            </a:r>
            <a:endParaRPr lang="en-US" sz="2400" b="1" dirty="0">
              <a:latin typeface="Times New Roman" panose="02020603050405020304" pitchFamily="18" charset="0"/>
              <a:cs typeface="Times New Roman" panose="02020603050405020304" pitchFamily="18" charset="0"/>
            </a:endParaRPr>
          </a:p>
        </p:txBody>
      </p:sp>
      <p:sp>
        <p:nvSpPr>
          <p:cNvPr id="7" name="Text 4"/>
          <p:cNvSpPr/>
          <p:nvPr/>
        </p:nvSpPr>
        <p:spPr>
          <a:xfrm>
            <a:off x="1442680" y="2792492"/>
            <a:ext cx="3182899" cy="2393633"/>
          </a:xfrm>
          <a:prstGeom prst="rect">
            <a:avLst/>
          </a:prstGeom>
          <a:noFill/>
          <a:ln/>
        </p:spPr>
        <p:txBody>
          <a:bodyPr wrap="square" lIns="0" tIns="0" rIns="0" bIns="0" rtlCol="0" anchor="t"/>
          <a:lstStyle/>
          <a:p>
            <a:pPr marL="0" indent="0" algn="just">
              <a:lnSpc>
                <a:spcPts val="2650"/>
              </a:lnSpc>
              <a:buNone/>
            </a:pPr>
            <a:r>
              <a:rPr lang="ru-RU" sz="2400" dirty="0">
                <a:latin typeface="Times New Roman" panose="02020603050405020304" pitchFamily="18" charset="0"/>
                <a:ea typeface="Gelasio" pitchFamily="34" charset="-122"/>
                <a:cs typeface="Times New Roman" panose="02020603050405020304" pitchFamily="18" charset="0"/>
              </a:rPr>
              <a:t>Нужно внимательно наблюдать за клиентом в процессе работы, как он себя чувствует, какие эмоции и чувства испытывает. Они поддерживают в нем уверенность или страхи. </a:t>
            </a:r>
            <a:endParaRPr lang="en-US" sz="2400" dirty="0">
              <a:latin typeface="Times New Roman" panose="02020603050405020304" pitchFamily="18" charset="0"/>
              <a:cs typeface="Times New Roman" panose="02020603050405020304" pitchFamily="18" charset="0"/>
            </a:endParaRPr>
          </a:p>
        </p:txBody>
      </p:sp>
      <p:sp>
        <p:nvSpPr>
          <p:cNvPr id="8" name="Shape 5"/>
          <p:cNvSpPr/>
          <p:nvPr/>
        </p:nvSpPr>
        <p:spPr>
          <a:xfrm>
            <a:off x="4678918" y="2330291"/>
            <a:ext cx="480893" cy="480893"/>
          </a:xfrm>
          <a:prstGeom prst="roundRect">
            <a:avLst>
              <a:gd name="adj" fmla="val 6668"/>
            </a:avLst>
          </a:prstGeom>
          <a:solidFill>
            <a:srgbClr val="EEE8DD"/>
          </a:solidFill>
          <a:ln/>
        </p:spPr>
      </p:sp>
      <p:sp>
        <p:nvSpPr>
          <p:cNvPr id="9" name="Text 6"/>
          <p:cNvSpPr/>
          <p:nvPr/>
        </p:nvSpPr>
        <p:spPr>
          <a:xfrm>
            <a:off x="4822150" y="2410420"/>
            <a:ext cx="194310" cy="320635"/>
          </a:xfrm>
          <a:prstGeom prst="rect">
            <a:avLst/>
          </a:prstGeom>
          <a:noFill/>
          <a:ln/>
        </p:spPr>
        <p:txBody>
          <a:bodyPr wrap="none" lIns="0" tIns="0" rIns="0" bIns="0" rtlCol="0" anchor="t"/>
          <a:lstStyle/>
          <a:p>
            <a:pPr marL="0" indent="0" algn="ctr">
              <a:lnSpc>
                <a:spcPts val="2500"/>
              </a:lnSpc>
              <a:buNone/>
            </a:pPr>
            <a:r>
              <a:rPr lang="en-US" sz="2500" dirty="0">
                <a:latin typeface="Gelasio Semi Bold" pitchFamily="34" charset="0"/>
                <a:ea typeface="Gelasio Semi Bold" pitchFamily="34" charset="-122"/>
                <a:cs typeface="Gelasio Semi Bold" pitchFamily="34" charset="-120"/>
              </a:rPr>
              <a:t>2</a:t>
            </a:r>
            <a:endParaRPr lang="en-US" sz="2500" dirty="0"/>
          </a:p>
        </p:txBody>
      </p:sp>
      <p:sp>
        <p:nvSpPr>
          <p:cNvPr id="10" name="Text 7"/>
          <p:cNvSpPr/>
          <p:nvPr/>
        </p:nvSpPr>
        <p:spPr>
          <a:xfrm>
            <a:off x="5373529" y="2330291"/>
            <a:ext cx="2672001" cy="333970"/>
          </a:xfrm>
          <a:prstGeom prst="rect">
            <a:avLst/>
          </a:prstGeom>
          <a:noFill/>
          <a:ln/>
        </p:spPr>
        <p:txBody>
          <a:bodyPr wrap="none" lIns="0" tIns="0" rIns="0" bIns="0" rtlCol="0" anchor="t"/>
          <a:lstStyle/>
          <a:p>
            <a:pPr marL="0" indent="0">
              <a:lnSpc>
                <a:spcPts val="2600"/>
              </a:lnSpc>
              <a:buNone/>
            </a:pPr>
            <a:r>
              <a:rPr lang="ru-RU" sz="2400" b="1" dirty="0">
                <a:latin typeface="Times New Roman" panose="02020603050405020304" pitchFamily="18" charset="0"/>
                <a:cs typeface="Times New Roman" panose="02020603050405020304" pitchFamily="18" charset="0"/>
              </a:rPr>
              <a:t>Профессиональное</a:t>
            </a:r>
            <a:r>
              <a:rPr lang="ru-RU" sz="2400" b="1" dirty="0">
                <a:cs typeface="Gelasio Semi Bold" pitchFamily="34" charset="-120"/>
              </a:rPr>
              <a:t> </a:t>
            </a:r>
            <a:r>
              <a:rPr lang="ru-RU" sz="2400" b="1" dirty="0">
                <a:latin typeface="Times New Roman" panose="02020603050405020304" pitchFamily="18" charset="0"/>
                <a:cs typeface="Times New Roman" panose="02020603050405020304" pitchFamily="18" charset="0"/>
              </a:rPr>
              <a:t>видение</a:t>
            </a:r>
            <a:endParaRPr lang="en-US" sz="2400" b="1" dirty="0">
              <a:latin typeface="Times New Roman" panose="02020603050405020304" pitchFamily="18" charset="0"/>
              <a:cs typeface="Times New Roman" panose="02020603050405020304" pitchFamily="18" charset="0"/>
            </a:endParaRPr>
          </a:p>
        </p:txBody>
      </p:sp>
      <p:sp>
        <p:nvSpPr>
          <p:cNvPr id="11" name="Text 8"/>
          <p:cNvSpPr/>
          <p:nvPr/>
        </p:nvSpPr>
        <p:spPr>
          <a:xfrm>
            <a:off x="5373529" y="2792492"/>
            <a:ext cx="3022521" cy="1709738"/>
          </a:xfrm>
          <a:prstGeom prst="rect">
            <a:avLst/>
          </a:prstGeom>
          <a:noFill/>
          <a:ln/>
        </p:spPr>
        <p:txBody>
          <a:bodyPr wrap="square" lIns="0" tIns="0" rIns="0" bIns="0" rtlCol="0" anchor="t"/>
          <a:lstStyle/>
          <a:p>
            <a:pPr marL="0" indent="0" algn="just">
              <a:lnSpc>
                <a:spcPts val="2650"/>
              </a:lnSpc>
              <a:buNone/>
            </a:pPr>
            <a:r>
              <a:rPr lang="ru-RU" sz="2400" dirty="0">
                <a:latin typeface="Times New Roman" panose="02020603050405020304" pitchFamily="18" charset="0"/>
                <a:cs typeface="Times New Roman" panose="02020603050405020304" pitchFamily="18" charset="0"/>
              </a:rPr>
              <a:t>В этой технике часто именно специалист должен увидеть сложности клиента и «подсветить» ему, что это видно и если сложности не решить, то ничего не получится. </a:t>
            </a:r>
            <a:endParaRPr lang="en-US" sz="2400" dirty="0">
              <a:latin typeface="Times New Roman" panose="02020603050405020304" pitchFamily="18" charset="0"/>
              <a:cs typeface="Times New Roman" panose="02020603050405020304" pitchFamily="18" charset="0"/>
            </a:endParaRPr>
          </a:p>
        </p:txBody>
      </p:sp>
      <p:sp>
        <p:nvSpPr>
          <p:cNvPr id="13" name="Text 10"/>
          <p:cNvSpPr/>
          <p:nvPr/>
        </p:nvSpPr>
        <p:spPr>
          <a:xfrm>
            <a:off x="891897" y="5720358"/>
            <a:ext cx="193238" cy="320635"/>
          </a:xfrm>
          <a:prstGeom prst="rect">
            <a:avLst/>
          </a:prstGeom>
          <a:noFill/>
          <a:ln/>
        </p:spPr>
        <p:txBody>
          <a:bodyPr wrap="none" lIns="0" tIns="0" rIns="0" bIns="0" rtlCol="0" anchor="t"/>
          <a:lstStyle/>
          <a:p>
            <a:pPr marL="0" indent="0" algn="ctr">
              <a:lnSpc>
                <a:spcPts val="2500"/>
              </a:lnSpc>
              <a:buNone/>
            </a:pPr>
            <a:endParaRPr lang="en-US" sz="2500" dirty="0"/>
          </a:p>
        </p:txBody>
      </p:sp>
      <p:sp>
        <p:nvSpPr>
          <p:cNvPr id="16" name="Прямоугольник 15">
            <a:extLst>
              <a:ext uri="{FF2B5EF4-FFF2-40B4-BE49-F238E27FC236}">
                <a16:creationId xmlns:a16="http://schemas.microsoft.com/office/drawing/2014/main" id="{61AABB3B-56FC-D040-A016-A20D44AF357D}"/>
              </a:ext>
            </a:extLst>
          </p:cNvPr>
          <p:cNvSpPr/>
          <p:nvPr/>
        </p:nvSpPr>
        <p:spPr>
          <a:xfrm>
            <a:off x="9230566" y="1656"/>
            <a:ext cx="5399834" cy="822794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8" name="Рисунок 17">
            <a:extLst>
              <a:ext uri="{FF2B5EF4-FFF2-40B4-BE49-F238E27FC236}">
                <a16:creationId xmlns:a16="http://schemas.microsoft.com/office/drawing/2014/main" id="{E8AAF6F5-9CAB-994E-B5A6-FB17FF30B6CF}"/>
              </a:ext>
            </a:extLst>
          </p:cNvPr>
          <p:cNvPicPr>
            <a:picLocks noChangeAspect="1"/>
          </p:cNvPicPr>
          <p:nvPr/>
        </p:nvPicPr>
        <p:blipFill>
          <a:blip r:embed="rId3"/>
          <a:stretch>
            <a:fillRect/>
          </a:stretch>
        </p:blipFill>
        <p:spPr>
          <a:xfrm>
            <a:off x="9209492" y="2154914"/>
            <a:ext cx="5399834" cy="366878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488633"/>
            <a:ext cx="5670590" cy="708779"/>
          </a:xfrm>
          <a:prstGeom prst="rect">
            <a:avLst/>
          </a:prstGeom>
          <a:noFill/>
          <a:ln/>
        </p:spPr>
        <p:txBody>
          <a:bodyPr wrap="none" lIns="0" tIns="0" rIns="0" bIns="0" rtlCol="0" anchor="t"/>
          <a:lstStyle/>
          <a:p>
            <a:pPr marL="0" indent="0">
              <a:lnSpc>
                <a:spcPts val="5550"/>
              </a:lnSpc>
              <a:buNone/>
            </a:pPr>
            <a:r>
              <a:rPr lang="ru-RU" sz="4000" dirty="0">
                <a:latin typeface="Times New Roman" panose="02020603050405020304" pitchFamily="18" charset="0"/>
                <a:cs typeface="Times New Roman" panose="02020603050405020304" pitchFamily="18" charset="0"/>
              </a:rPr>
              <a:t>Результат:</a:t>
            </a:r>
            <a:endParaRPr lang="en-US" sz="4000" dirty="0">
              <a:latin typeface="Times New Roman" panose="02020603050405020304" pitchFamily="18" charset="0"/>
              <a:cs typeface="Times New Roman" panose="02020603050405020304" pitchFamily="18" charset="0"/>
            </a:endParaRPr>
          </a:p>
        </p:txBody>
      </p:sp>
      <p:sp>
        <p:nvSpPr>
          <p:cNvPr id="4" name="Shape 1"/>
          <p:cNvSpPr/>
          <p:nvPr/>
        </p:nvSpPr>
        <p:spPr>
          <a:xfrm>
            <a:off x="6280190" y="1414284"/>
            <a:ext cx="510302" cy="510302"/>
          </a:xfrm>
          <a:prstGeom prst="roundRect">
            <a:avLst>
              <a:gd name="adj" fmla="val 6667"/>
            </a:avLst>
          </a:prstGeom>
          <a:solidFill>
            <a:srgbClr val="EEE8DD"/>
          </a:solidFill>
          <a:ln/>
        </p:spPr>
      </p:sp>
      <p:sp>
        <p:nvSpPr>
          <p:cNvPr id="5" name="Text 2"/>
          <p:cNvSpPr/>
          <p:nvPr/>
        </p:nvSpPr>
        <p:spPr>
          <a:xfrm>
            <a:off x="6432828" y="1502213"/>
            <a:ext cx="205026" cy="354329"/>
          </a:xfrm>
          <a:prstGeom prst="rect">
            <a:avLst/>
          </a:prstGeom>
          <a:noFill/>
          <a:ln/>
        </p:spPr>
        <p:txBody>
          <a:bodyPr wrap="none" lIns="0" tIns="0" rIns="0" bIns="0" rtlCol="0" anchor="t"/>
          <a:lstStyle/>
          <a:p>
            <a:pPr marL="0" indent="0" algn="ctr">
              <a:lnSpc>
                <a:spcPts val="2650"/>
              </a:lnSpc>
              <a:buNone/>
            </a:pPr>
            <a:r>
              <a:rPr lang="en-US" sz="2650" dirty="0">
                <a:latin typeface="Gelasio Semi Bold" pitchFamily="34" charset="0"/>
                <a:ea typeface="Gelasio Semi Bold" pitchFamily="34" charset="-122"/>
                <a:cs typeface="Gelasio Semi Bold" pitchFamily="34" charset="-120"/>
              </a:rPr>
              <a:t>1</a:t>
            </a:r>
            <a:endParaRPr lang="en-US" sz="2650" dirty="0"/>
          </a:p>
        </p:txBody>
      </p:sp>
      <p:sp>
        <p:nvSpPr>
          <p:cNvPr id="6" name="Text 3"/>
          <p:cNvSpPr/>
          <p:nvPr/>
        </p:nvSpPr>
        <p:spPr>
          <a:xfrm>
            <a:off x="7017305" y="1502212"/>
            <a:ext cx="2835235" cy="354330"/>
          </a:xfrm>
          <a:prstGeom prst="rect">
            <a:avLst/>
          </a:prstGeom>
          <a:noFill/>
          <a:ln/>
        </p:spPr>
        <p:txBody>
          <a:bodyPr wrap="none" lIns="0" tIns="0" rIns="0" bIns="0" rtlCol="0" anchor="t"/>
          <a:lstStyle/>
          <a:p>
            <a:pPr marL="0" indent="0">
              <a:lnSpc>
                <a:spcPts val="2750"/>
              </a:lnSpc>
              <a:buNone/>
            </a:pPr>
            <a:r>
              <a:rPr lang="en-US" sz="2400" b="1" dirty="0">
                <a:latin typeface="Times New Roman" panose="02020603050405020304" pitchFamily="18" charset="0"/>
                <a:ea typeface="Gelasio Semi Bold" pitchFamily="34" charset="-122"/>
                <a:cs typeface="Times New Roman" panose="02020603050405020304" pitchFamily="18" charset="0"/>
              </a:rPr>
              <a:t>Состояние</a:t>
            </a:r>
            <a:endParaRPr lang="en-US" sz="2400" b="1" dirty="0">
              <a:latin typeface="Times New Roman" panose="02020603050405020304" pitchFamily="18" charset="0"/>
              <a:cs typeface="Times New Roman" panose="02020603050405020304" pitchFamily="18" charset="0"/>
            </a:endParaRPr>
          </a:p>
        </p:txBody>
      </p:sp>
      <p:sp>
        <p:nvSpPr>
          <p:cNvPr id="7" name="Text 4"/>
          <p:cNvSpPr/>
          <p:nvPr/>
        </p:nvSpPr>
        <p:spPr>
          <a:xfrm>
            <a:off x="6924793" y="2023824"/>
            <a:ext cx="2927747" cy="1814513"/>
          </a:xfrm>
          <a:prstGeom prst="rect">
            <a:avLst/>
          </a:prstGeom>
          <a:noFill/>
          <a:ln/>
        </p:spPr>
        <p:txBody>
          <a:bodyPr wrap="square" lIns="0" tIns="0" rIns="0" bIns="0" rtlCol="0" anchor="t"/>
          <a:lstStyle/>
          <a:p>
            <a:pPr marL="285750" indent="-285750" algn="just">
              <a:lnSpc>
                <a:spcPts val="2850"/>
              </a:lnSpc>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Уверенность, что все получится. </a:t>
            </a:r>
          </a:p>
          <a:p>
            <a:pPr marL="285750" indent="-285750" algn="just">
              <a:lnSpc>
                <a:spcPts val="2850"/>
              </a:lnSpc>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Понимание процесса на каждом этапе</a:t>
            </a:r>
          </a:p>
          <a:p>
            <a:pPr marL="285750" indent="-285750" algn="just">
              <a:lnSpc>
                <a:spcPts val="2850"/>
              </a:lnSpc>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Снижение не рациональных страхов</a:t>
            </a:r>
          </a:p>
          <a:p>
            <a:pPr marL="285750" indent="-285750" algn="just">
              <a:lnSpc>
                <a:spcPts val="2850"/>
              </a:lnSpc>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Новые цели на будущее, которые помогут выполнить текущий проект. </a:t>
            </a:r>
          </a:p>
          <a:p>
            <a:pPr marL="285750" indent="-285750">
              <a:lnSpc>
                <a:spcPts val="2850"/>
              </a:lnSpc>
              <a:buFont typeface="Arial" panose="020B0604020202020204" pitchFamily="34" charset="0"/>
              <a:buChar char="•"/>
            </a:pPr>
            <a:endParaRPr lang="en-US" sz="1750" dirty="0"/>
          </a:p>
        </p:txBody>
      </p:sp>
      <p:sp>
        <p:nvSpPr>
          <p:cNvPr id="8" name="Shape 5"/>
          <p:cNvSpPr/>
          <p:nvPr/>
        </p:nvSpPr>
        <p:spPr>
          <a:xfrm>
            <a:off x="10171806" y="1414284"/>
            <a:ext cx="510302" cy="510302"/>
          </a:xfrm>
          <a:prstGeom prst="roundRect">
            <a:avLst>
              <a:gd name="adj" fmla="val 6667"/>
            </a:avLst>
          </a:prstGeom>
          <a:solidFill>
            <a:srgbClr val="EEE8DD"/>
          </a:solidFill>
          <a:ln/>
        </p:spPr>
      </p:sp>
      <p:sp>
        <p:nvSpPr>
          <p:cNvPr id="9" name="Text 6"/>
          <p:cNvSpPr/>
          <p:nvPr/>
        </p:nvSpPr>
        <p:spPr>
          <a:xfrm>
            <a:off x="10323849" y="1540071"/>
            <a:ext cx="206216" cy="340281"/>
          </a:xfrm>
          <a:prstGeom prst="rect">
            <a:avLst/>
          </a:prstGeom>
          <a:noFill/>
          <a:ln/>
        </p:spPr>
        <p:txBody>
          <a:bodyPr wrap="none" lIns="0" tIns="0" rIns="0" bIns="0" rtlCol="0" anchor="t"/>
          <a:lstStyle/>
          <a:p>
            <a:pPr marL="0" indent="0" algn="ctr">
              <a:lnSpc>
                <a:spcPts val="2650"/>
              </a:lnSpc>
              <a:buNone/>
            </a:pPr>
            <a:r>
              <a:rPr lang="en-US" sz="2650" dirty="0">
                <a:latin typeface="Gelasio Semi Bold" pitchFamily="34" charset="0"/>
                <a:ea typeface="Gelasio Semi Bold" pitchFamily="34" charset="-122"/>
                <a:cs typeface="Gelasio Semi Bold" pitchFamily="34" charset="-120"/>
              </a:rPr>
              <a:t>2</a:t>
            </a:r>
            <a:endParaRPr lang="en-US" sz="2650" dirty="0"/>
          </a:p>
        </p:txBody>
      </p:sp>
      <p:sp>
        <p:nvSpPr>
          <p:cNvPr id="10" name="Text 7"/>
          <p:cNvSpPr/>
          <p:nvPr/>
        </p:nvSpPr>
        <p:spPr>
          <a:xfrm>
            <a:off x="11107765" y="1492270"/>
            <a:ext cx="2835235" cy="354330"/>
          </a:xfrm>
          <a:prstGeom prst="rect">
            <a:avLst/>
          </a:prstGeom>
          <a:noFill/>
          <a:ln/>
        </p:spPr>
        <p:txBody>
          <a:bodyPr wrap="none" lIns="0" tIns="0" rIns="0" bIns="0" rtlCol="0" anchor="t"/>
          <a:lstStyle/>
          <a:p>
            <a:pPr marL="0" indent="0">
              <a:lnSpc>
                <a:spcPts val="2750"/>
              </a:lnSpc>
              <a:buNone/>
            </a:pPr>
            <a:r>
              <a:rPr lang="ru-RU" sz="2400" b="1" dirty="0">
                <a:latin typeface="Times New Roman" panose="02020603050405020304" pitchFamily="18" charset="0"/>
                <a:ea typeface="Gelasio Semi Bold" pitchFamily="34" charset="-122"/>
                <a:cs typeface="Times New Roman" panose="02020603050405020304" pitchFamily="18" charset="0"/>
              </a:rPr>
              <a:t>Особенность</a:t>
            </a:r>
            <a:endParaRPr lang="en-US" sz="2400" b="1" dirty="0">
              <a:latin typeface="Times New Roman" panose="02020603050405020304" pitchFamily="18" charset="0"/>
              <a:cs typeface="Times New Roman" panose="02020603050405020304" pitchFamily="18" charset="0"/>
            </a:endParaRPr>
          </a:p>
        </p:txBody>
      </p:sp>
      <p:sp>
        <p:nvSpPr>
          <p:cNvPr id="11" name="Text 8"/>
          <p:cNvSpPr/>
          <p:nvPr/>
        </p:nvSpPr>
        <p:spPr>
          <a:xfrm>
            <a:off x="10908864" y="2023824"/>
            <a:ext cx="2714372" cy="1814513"/>
          </a:xfrm>
          <a:prstGeom prst="rect">
            <a:avLst/>
          </a:prstGeom>
          <a:noFill/>
          <a:ln/>
        </p:spPr>
        <p:txBody>
          <a:bodyPr wrap="square" lIns="0" tIns="0" rIns="0" bIns="0" rtlCol="0" anchor="t"/>
          <a:lstStyle/>
          <a:p>
            <a:pPr marL="0" indent="0" algn="just">
              <a:lnSpc>
                <a:spcPts val="2850"/>
              </a:lnSpc>
              <a:buNone/>
            </a:pPr>
            <a:r>
              <a:rPr lang="ru-RU" sz="2400" dirty="0">
                <a:latin typeface="Times New Roman" panose="02020603050405020304" pitchFamily="18" charset="0"/>
                <a:cs typeface="Times New Roman" panose="02020603050405020304" pitchFamily="18" charset="0"/>
              </a:rPr>
              <a:t>Крайне вероятно, что клиенту потребуется писать (записывать мысли, планы, шаги и т.п.). Нужно учесть это,  подготовить блокнот и ручку</a:t>
            </a:r>
            <a:r>
              <a:rPr lang="ru-RU" sz="2400" dirty="0"/>
              <a:t>. </a:t>
            </a:r>
            <a:endParaRPr lang="en-US" sz="2400" dirty="0"/>
          </a:p>
        </p:txBody>
      </p:sp>
      <p:sp>
        <p:nvSpPr>
          <p:cNvPr id="13" name="Text 10"/>
          <p:cNvSpPr/>
          <p:nvPr/>
        </p:nvSpPr>
        <p:spPr>
          <a:xfrm>
            <a:off x="6432828" y="5637133"/>
            <a:ext cx="205026" cy="340281"/>
          </a:xfrm>
          <a:prstGeom prst="rect">
            <a:avLst/>
          </a:prstGeom>
          <a:noFill/>
          <a:ln/>
        </p:spPr>
        <p:txBody>
          <a:bodyPr wrap="none" lIns="0" tIns="0" rIns="0" bIns="0" rtlCol="0" anchor="t"/>
          <a:lstStyle/>
          <a:p>
            <a:pPr marL="0" indent="0" algn="ctr">
              <a:lnSpc>
                <a:spcPts val="2650"/>
              </a:lnSpc>
              <a:buNone/>
            </a:pPr>
            <a:endParaRPr lang="en-US" sz="2650" dirty="0"/>
          </a:p>
        </p:txBody>
      </p:sp>
    </p:spTree>
    <p:extLst>
      <p:ext uri="{BB962C8B-B14F-4D97-AF65-F5344CB8AC3E}">
        <p14:creationId xmlns:p14="http://schemas.microsoft.com/office/powerpoint/2010/main" val="3746398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6280190" y="1089779"/>
            <a:ext cx="7556421" cy="1417558"/>
          </a:xfrm>
          <a:prstGeom prst="rect">
            <a:avLst/>
          </a:prstGeom>
          <a:noFill/>
          <a:ln/>
        </p:spPr>
        <p:txBody>
          <a:bodyPr wrap="square" lIns="0" tIns="0" rIns="0" bIns="0" rtlCol="0" anchor="t"/>
          <a:lstStyle/>
          <a:p>
            <a:pPr marL="0" indent="0">
              <a:lnSpc>
                <a:spcPts val="5550"/>
              </a:lnSpc>
              <a:buNone/>
            </a:pPr>
            <a:r>
              <a:rPr lang="en-US" sz="4000" dirty="0">
                <a:latin typeface="Times New Roman" panose="02020603050405020304" pitchFamily="18" charset="0"/>
                <a:ea typeface="Gelasio Semi Bold" pitchFamily="34" charset="-122"/>
                <a:cs typeface="Times New Roman" panose="02020603050405020304" pitchFamily="18" charset="0"/>
              </a:rPr>
              <a:t>Ограничивающие факторы</a:t>
            </a:r>
            <a:endParaRPr lang="en-US" sz="4000" dirty="0">
              <a:latin typeface="Times New Roman" panose="02020603050405020304" pitchFamily="18" charset="0"/>
              <a:cs typeface="Times New Roman" panose="02020603050405020304" pitchFamily="18" charset="0"/>
            </a:endParaRPr>
          </a:p>
        </p:txBody>
      </p:sp>
      <p:sp>
        <p:nvSpPr>
          <p:cNvPr id="4" name="Shape 1"/>
          <p:cNvSpPr/>
          <p:nvPr/>
        </p:nvSpPr>
        <p:spPr>
          <a:xfrm>
            <a:off x="6280190" y="2847498"/>
            <a:ext cx="7556421" cy="2254589"/>
          </a:xfrm>
          <a:prstGeom prst="roundRect">
            <a:avLst>
              <a:gd name="adj" fmla="val 1674"/>
            </a:avLst>
          </a:prstGeom>
          <a:solidFill>
            <a:srgbClr val="EEE8DD"/>
          </a:solidFill>
          <a:ln/>
        </p:spPr>
      </p:sp>
      <p:sp>
        <p:nvSpPr>
          <p:cNvPr id="5" name="Text 2"/>
          <p:cNvSpPr/>
          <p:nvPr/>
        </p:nvSpPr>
        <p:spPr>
          <a:xfrm>
            <a:off x="6507004" y="2870239"/>
            <a:ext cx="2835235" cy="354330"/>
          </a:xfrm>
          <a:prstGeom prst="rect">
            <a:avLst/>
          </a:prstGeom>
          <a:noFill/>
          <a:ln/>
        </p:spPr>
        <p:txBody>
          <a:bodyPr wrap="none" lIns="0" tIns="0" rIns="0" bIns="0" rtlCol="0" anchor="t"/>
          <a:lstStyle/>
          <a:p>
            <a:pPr marL="0" indent="0">
              <a:lnSpc>
                <a:spcPts val="2750"/>
              </a:lnSpc>
              <a:buNone/>
            </a:pPr>
            <a:r>
              <a:rPr lang="ru-RU" sz="2400" b="1" dirty="0">
                <a:latin typeface="Times New Roman" panose="02020603050405020304" pitchFamily="18" charset="0"/>
                <a:ea typeface="Gelasio Semi Bold" pitchFamily="34" charset="-122"/>
                <a:cs typeface="Times New Roman" panose="02020603050405020304" pitchFamily="18" charset="0"/>
              </a:rPr>
              <a:t>Заболевания</a:t>
            </a:r>
            <a:endParaRPr lang="en-US" sz="2400" b="1" dirty="0">
              <a:latin typeface="Times New Roman" panose="02020603050405020304" pitchFamily="18" charset="0"/>
              <a:cs typeface="Times New Roman" panose="02020603050405020304" pitchFamily="18" charset="0"/>
            </a:endParaRPr>
          </a:p>
        </p:txBody>
      </p:sp>
      <p:sp>
        <p:nvSpPr>
          <p:cNvPr id="6" name="Text 3"/>
          <p:cNvSpPr/>
          <p:nvPr/>
        </p:nvSpPr>
        <p:spPr>
          <a:xfrm>
            <a:off x="6507004" y="3319522"/>
            <a:ext cx="7102793" cy="1088708"/>
          </a:xfrm>
          <a:prstGeom prst="rect">
            <a:avLst/>
          </a:prstGeom>
          <a:noFill/>
          <a:ln/>
        </p:spPr>
        <p:txBody>
          <a:bodyPr wrap="square" lIns="0" tIns="0" rIns="0" bIns="0" rtlCol="0" anchor="t"/>
          <a:lstStyle/>
          <a:p>
            <a:pPr marL="0" indent="0" algn="just">
              <a:lnSpc>
                <a:spcPts val="2850"/>
              </a:lnSpc>
              <a:buNone/>
            </a:pPr>
            <a:r>
              <a:rPr lang="ru-RU" sz="2400" dirty="0">
                <a:latin typeface="Times New Roman" panose="02020603050405020304" pitchFamily="18" charset="0"/>
                <a:cs typeface="Times New Roman" panose="02020603050405020304" pitchFamily="18" charset="0"/>
              </a:rPr>
              <a:t>В работе со страхом мечты могут быть выявлены серьезные заболевания, а также серьезные формы выгорания и похожих состояний. Важно! Не начинать работы над идеей/проектом пока не будет завершена основная стадия лечения.</a:t>
            </a:r>
            <a:endParaRPr lang="en-US" sz="2400" dirty="0">
              <a:latin typeface="Times New Roman" panose="02020603050405020304" pitchFamily="18" charset="0"/>
              <a:cs typeface="Times New Roman" panose="02020603050405020304" pitchFamily="18" charset="0"/>
            </a:endParaRPr>
          </a:p>
        </p:txBody>
      </p:sp>
      <p:sp>
        <p:nvSpPr>
          <p:cNvPr id="7" name="Shape 4"/>
          <p:cNvSpPr/>
          <p:nvPr/>
        </p:nvSpPr>
        <p:spPr>
          <a:xfrm>
            <a:off x="6372956" y="5352276"/>
            <a:ext cx="7556421" cy="2032754"/>
          </a:xfrm>
          <a:prstGeom prst="roundRect">
            <a:avLst>
              <a:gd name="adj" fmla="val 1674"/>
            </a:avLst>
          </a:prstGeom>
          <a:solidFill>
            <a:srgbClr val="EEE8DD"/>
          </a:solidFill>
          <a:ln/>
        </p:spPr>
      </p:sp>
      <p:sp>
        <p:nvSpPr>
          <p:cNvPr id="12" name="Прямоугольник 11">
            <a:extLst>
              <a:ext uri="{FF2B5EF4-FFF2-40B4-BE49-F238E27FC236}">
                <a16:creationId xmlns:a16="http://schemas.microsoft.com/office/drawing/2014/main" id="{6E2C95B1-531A-404B-8AF5-8DD3D3811CDE}"/>
              </a:ext>
            </a:extLst>
          </p:cNvPr>
          <p:cNvSpPr/>
          <p:nvPr/>
        </p:nvSpPr>
        <p:spPr>
          <a:xfrm>
            <a:off x="0" y="1656"/>
            <a:ext cx="5399834" cy="822794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 5"/>
          <p:cNvSpPr/>
          <p:nvPr/>
        </p:nvSpPr>
        <p:spPr>
          <a:xfrm>
            <a:off x="6507004" y="5333881"/>
            <a:ext cx="2835235" cy="354330"/>
          </a:xfrm>
          <a:prstGeom prst="rect">
            <a:avLst/>
          </a:prstGeom>
          <a:noFill/>
          <a:ln/>
        </p:spPr>
        <p:txBody>
          <a:bodyPr wrap="none" lIns="0" tIns="0" rIns="0" bIns="0" rtlCol="0" anchor="t"/>
          <a:lstStyle/>
          <a:p>
            <a:pPr marL="0" indent="0">
              <a:lnSpc>
                <a:spcPts val="2750"/>
              </a:lnSpc>
              <a:buNone/>
            </a:pPr>
            <a:r>
              <a:rPr lang="ru-RU" sz="2400" b="1" dirty="0">
                <a:latin typeface="Times New Roman" panose="02020603050405020304" pitchFamily="18" charset="0"/>
                <a:ea typeface="Gelasio Semi Bold" pitchFamily="34" charset="-122"/>
                <a:cs typeface="Times New Roman" panose="02020603050405020304" pitchFamily="18" charset="0"/>
              </a:rPr>
              <a:t>Фобия</a:t>
            </a:r>
            <a:endParaRPr lang="en-US" sz="2400" b="1" dirty="0">
              <a:latin typeface="Times New Roman" panose="02020603050405020304" pitchFamily="18" charset="0"/>
              <a:cs typeface="Times New Roman" panose="02020603050405020304" pitchFamily="18" charset="0"/>
            </a:endParaRPr>
          </a:p>
        </p:txBody>
      </p:sp>
      <p:sp>
        <p:nvSpPr>
          <p:cNvPr id="9" name="Text 6"/>
          <p:cNvSpPr/>
          <p:nvPr/>
        </p:nvSpPr>
        <p:spPr>
          <a:xfrm>
            <a:off x="6507004" y="5824299"/>
            <a:ext cx="7102793" cy="1088708"/>
          </a:xfrm>
          <a:prstGeom prst="rect">
            <a:avLst/>
          </a:prstGeom>
          <a:noFill/>
          <a:ln/>
        </p:spPr>
        <p:txBody>
          <a:bodyPr wrap="square" lIns="0" tIns="0" rIns="0" bIns="0" rtlCol="0" anchor="t"/>
          <a:lstStyle/>
          <a:p>
            <a:pPr marL="0" indent="0">
              <a:lnSpc>
                <a:spcPts val="2850"/>
              </a:lnSpc>
              <a:buNone/>
            </a:pPr>
            <a:r>
              <a:rPr lang="ru-RU" sz="2400" dirty="0">
                <a:latin typeface="Times New Roman" panose="02020603050405020304" pitchFamily="18" charset="0"/>
                <a:ea typeface="Gelasio" pitchFamily="34" charset="-122"/>
                <a:cs typeface="Times New Roman" panose="02020603050405020304" pitchFamily="18" charset="0"/>
              </a:rPr>
              <a:t>В случае понимания, что у клиента </a:t>
            </a:r>
            <a:r>
              <a:rPr lang="ru-RU" sz="2400" dirty="0" err="1">
                <a:latin typeface="Times New Roman" panose="02020603050405020304" pitchFamily="18" charset="0"/>
                <a:ea typeface="Gelasio" pitchFamily="34" charset="-122"/>
                <a:cs typeface="Times New Roman" panose="02020603050405020304" pitchFamily="18" charset="0"/>
              </a:rPr>
              <a:t>фобийное</a:t>
            </a:r>
            <a:r>
              <a:rPr lang="ru-RU" sz="2400" dirty="0">
                <a:latin typeface="Times New Roman" panose="02020603050405020304" pitchFamily="18" charset="0"/>
                <a:ea typeface="Gelasio" pitchFamily="34" charset="-122"/>
                <a:cs typeface="Times New Roman" panose="02020603050405020304" pitchFamily="18" charset="0"/>
              </a:rPr>
              <a:t> расстройство, ему нужна помощь специалиста (психотерапевт, психиатр)</a:t>
            </a:r>
            <a:endParaRPr lang="en-US" sz="2400" dirty="0">
              <a:latin typeface="Times New Roman" panose="02020603050405020304" pitchFamily="18" charset="0"/>
              <a:cs typeface="Times New Roman" panose="02020603050405020304" pitchFamily="18" charset="0"/>
            </a:endParaRPr>
          </a:p>
        </p:txBody>
      </p:sp>
      <p:pic>
        <p:nvPicPr>
          <p:cNvPr id="11" name="Рисунок 10">
            <a:extLst>
              <a:ext uri="{FF2B5EF4-FFF2-40B4-BE49-F238E27FC236}">
                <a16:creationId xmlns:a16="http://schemas.microsoft.com/office/drawing/2014/main" id="{6948AECD-4BC3-5241-BD82-D8DFCF21D7AA}"/>
              </a:ext>
            </a:extLst>
          </p:cNvPr>
          <p:cNvPicPr>
            <a:picLocks noChangeAspect="1"/>
          </p:cNvPicPr>
          <p:nvPr/>
        </p:nvPicPr>
        <p:blipFill>
          <a:blip r:embed="rId3"/>
          <a:stretch>
            <a:fillRect/>
          </a:stretch>
        </p:blipFill>
        <p:spPr>
          <a:xfrm>
            <a:off x="-1" y="2347455"/>
            <a:ext cx="5399833" cy="35087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793789" y="4635052"/>
            <a:ext cx="5670590" cy="708779"/>
          </a:xfrm>
          <a:prstGeom prst="rect">
            <a:avLst/>
          </a:prstGeom>
          <a:noFill/>
          <a:ln/>
        </p:spPr>
        <p:txBody>
          <a:bodyPr wrap="none" lIns="0" tIns="0" rIns="0" bIns="0" rtlCol="0" anchor="t"/>
          <a:lstStyle/>
          <a:p>
            <a:pPr marL="0" indent="0">
              <a:lnSpc>
                <a:spcPts val="5550"/>
              </a:lnSpc>
              <a:buNone/>
            </a:pPr>
            <a:r>
              <a:rPr lang="en-US" sz="4000" dirty="0">
                <a:latin typeface="Times New Roman" panose="02020603050405020304" pitchFamily="18" charset="0"/>
                <a:ea typeface="Gelasio Semi Bold" pitchFamily="34" charset="-122"/>
                <a:cs typeface="Times New Roman" panose="02020603050405020304" pitchFamily="18" charset="0"/>
              </a:rPr>
              <a:t>Завершение</a:t>
            </a:r>
            <a:endParaRPr lang="en-US" sz="4000" dirty="0">
              <a:latin typeface="Times New Roman" panose="02020603050405020304" pitchFamily="18" charset="0"/>
              <a:cs typeface="Times New Roman" panose="02020603050405020304" pitchFamily="18" charset="0"/>
            </a:endParaRPr>
          </a:p>
        </p:txBody>
      </p:sp>
      <p:sp>
        <p:nvSpPr>
          <p:cNvPr id="4" name="Text 1"/>
          <p:cNvSpPr/>
          <p:nvPr/>
        </p:nvSpPr>
        <p:spPr>
          <a:xfrm>
            <a:off x="793789" y="5864083"/>
            <a:ext cx="13042821" cy="362903"/>
          </a:xfrm>
          <a:prstGeom prst="rect">
            <a:avLst/>
          </a:prstGeom>
          <a:noFill/>
          <a:ln/>
        </p:spPr>
        <p:txBody>
          <a:bodyPr wrap="none" lIns="0" tIns="0" rIns="0" bIns="0" rtlCol="0" anchor="t"/>
          <a:lstStyle/>
          <a:p>
            <a:pPr marL="0" indent="0">
              <a:lnSpc>
                <a:spcPts val="2850"/>
              </a:lnSpc>
              <a:buNone/>
            </a:pPr>
            <a:r>
              <a:rPr lang="ru-RU" sz="2400" dirty="0">
                <a:latin typeface="Times New Roman" panose="02020603050405020304" pitchFamily="18" charset="0"/>
                <a:ea typeface="Gelasio" pitchFamily="34" charset="-122"/>
                <a:cs typeface="Times New Roman" panose="02020603050405020304" pitchFamily="18" charset="0"/>
              </a:rPr>
              <a:t>По завершении очень хорошо выйти в мета позицию и посмотреть на ситуацию/план действий </a:t>
            </a:r>
          </a:p>
          <a:p>
            <a:pPr marL="0" indent="0">
              <a:lnSpc>
                <a:spcPts val="2850"/>
              </a:lnSpc>
              <a:buNone/>
            </a:pPr>
            <a:r>
              <a:rPr lang="ru-RU" sz="2400" dirty="0">
                <a:latin typeface="Times New Roman" panose="02020603050405020304" pitchFamily="18" charset="0"/>
                <a:ea typeface="Gelasio" pitchFamily="34" charset="-122"/>
                <a:cs typeface="Times New Roman" panose="02020603050405020304" pitchFamily="18" charset="0"/>
              </a:rPr>
              <a:t>как бы со стороны.</a:t>
            </a:r>
          </a:p>
          <a:p>
            <a:pPr marL="0" indent="0">
              <a:lnSpc>
                <a:spcPts val="2850"/>
              </a:lnSpc>
              <a:buNone/>
            </a:pPr>
            <a:r>
              <a:rPr lang="ru-RU" sz="2400" dirty="0">
                <a:latin typeface="Times New Roman" panose="02020603050405020304" pitchFamily="18" charset="0"/>
                <a:ea typeface="Gelasio" pitchFamily="34" charset="-122"/>
                <a:cs typeface="Times New Roman" panose="02020603050405020304" pitchFamily="18" charset="0"/>
              </a:rPr>
              <a:t>Далее </a:t>
            </a:r>
            <a:r>
              <a:rPr lang="en-US" sz="2400" dirty="0">
                <a:latin typeface="Times New Roman" panose="02020603050405020304" pitchFamily="18" charset="0"/>
                <a:ea typeface="Gelasio" pitchFamily="34" charset="-122"/>
                <a:cs typeface="Times New Roman" panose="02020603050405020304" pitchFamily="18" charset="0"/>
              </a:rPr>
              <a:t> стандартное</a:t>
            </a:r>
            <a:r>
              <a:rPr lang="ru-RU" sz="2400" dirty="0">
                <a:latin typeface="Times New Roman" panose="02020603050405020304" pitchFamily="18" charset="0"/>
                <a:ea typeface="Gelasio" pitchFamily="34" charset="-122"/>
                <a:cs typeface="Times New Roman" panose="02020603050405020304" pitchFamily="18" charset="0"/>
              </a:rPr>
              <a:t> продолжение/завершение работы</a:t>
            </a:r>
            <a:r>
              <a:rPr lang="en-US" sz="2400" dirty="0">
                <a:latin typeface="Times New Roman" panose="02020603050405020304" pitchFamily="18" charset="0"/>
                <a:ea typeface="Gelasio" pitchFamily="34" charset="-122"/>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pic>
        <p:nvPicPr>
          <p:cNvPr id="10" name="Рисунок 9">
            <a:extLst>
              <a:ext uri="{FF2B5EF4-FFF2-40B4-BE49-F238E27FC236}">
                <a16:creationId xmlns:a16="http://schemas.microsoft.com/office/drawing/2014/main" id="{589E5C70-647C-9B4B-9526-371A236F9FE7}"/>
              </a:ext>
            </a:extLst>
          </p:cNvPr>
          <p:cNvPicPr>
            <a:picLocks noChangeAspect="1"/>
          </p:cNvPicPr>
          <p:nvPr/>
        </p:nvPicPr>
        <p:blipFill>
          <a:blip r:embed="rId3"/>
          <a:stretch>
            <a:fillRect/>
          </a:stretch>
        </p:blipFill>
        <p:spPr>
          <a:xfrm>
            <a:off x="3629084" y="411550"/>
            <a:ext cx="6383961" cy="37032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TotalTime>
  <Words>852</Words>
  <Application>Microsoft Macintosh PowerPoint</Application>
  <PresentationFormat>Произвольный</PresentationFormat>
  <Paragraphs>110</Paragraphs>
  <Slides>12</Slides>
  <Notes>12</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12</vt:i4>
      </vt:variant>
    </vt:vector>
  </HeadingPairs>
  <TitlesOfParts>
    <vt:vector size="20" baseType="lpstr">
      <vt:lpstr>Times New Roman</vt:lpstr>
      <vt:lpstr>Cambria</vt:lpstr>
      <vt:lpstr>Gelasio Semi Bold</vt:lpstr>
      <vt:lpstr>Open Sans ExtraBold</vt:lpstr>
      <vt:lpstr>Arial</vt:lpstr>
      <vt:lpstr>Gelasio</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mkareva2903@gmail.com</cp:lastModifiedBy>
  <cp:revision>23</cp:revision>
  <dcterms:created xsi:type="dcterms:W3CDTF">2025-02-10T10:19:39Z</dcterms:created>
  <dcterms:modified xsi:type="dcterms:W3CDTF">2026-05-12T16:48:10Z</dcterms:modified>
</cp:coreProperties>
</file>