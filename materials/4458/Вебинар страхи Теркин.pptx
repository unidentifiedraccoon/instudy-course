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6" r:id="rId2"/>
  </p:sldMasterIdLst>
  <p:notesMasterIdLst>
    <p:notesMasterId r:id="rId27"/>
  </p:notesMasterIdLst>
  <p:sldIdLst>
    <p:sldId id="256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20" r:id="rId11"/>
    <p:sldId id="335" r:id="rId12"/>
    <p:sldId id="319" r:id="rId13"/>
    <p:sldId id="321" r:id="rId14"/>
    <p:sldId id="322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</p:sldIdLst>
  <p:sldSz cx="9144000" cy="6858000" type="screen4x3"/>
  <p:notesSz cx="9144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Теркин" initials="Т" lastIdx="1" clrIdx="0">
    <p:extLst>
      <p:ext uri="{19B8F6BF-5375-455C-9EA6-DF929625EA0E}">
        <p15:presenceInfo xmlns:p15="http://schemas.microsoft.com/office/powerpoint/2012/main" userId="Теркин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2683D-4567-4E3A-AFFD-952193D7F2C0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147DF-6CF5-40A4-8EAC-A050C42E6D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936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91C91-367E-4FF8-B81C-6BB4CEC2ECF5}" type="datetime1">
              <a:rPr lang="ru-RU" smtClean="0"/>
              <a:t>20.05.2026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9001125" y="0"/>
            <a:ext cx="142875" cy="1371600"/>
          </a:xfrm>
          <a:custGeom>
            <a:avLst/>
            <a:gdLst/>
            <a:ahLst/>
            <a:cxnLst/>
            <a:rect l="l" t="t" r="r" b="b"/>
            <a:pathLst>
              <a:path w="142875" h="1371600">
                <a:moveTo>
                  <a:pt x="0" y="1371600"/>
                </a:moveTo>
                <a:lnTo>
                  <a:pt x="142875" y="1371600"/>
                </a:lnTo>
                <a:lnTo>
                  <a:pt x="142875" y="0"/>
                </a:lnTo>
                <a:lnTo>
                  <a:pt x="0" y="0"/>
                </a:lnTo>
                <a:lnTo>
                  <a:pt x="0" y="1371600"/>
                </a:lnTo>
                <a:close/>
              </a:path>
            </a:pathLst>
          </a:custGeom>
          <a:solidFill>
            <a:srgbClr val="073D8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9001125" y="1371600"/>
            <a:ext cx="142875" cy="5486400"/>
          </a:xfrm>
          <a:custGeom>
            <a:avLst/>
            <a:gdLst/>
            <a:ahLst/>
            <a:cxnLst/>
            <a:rect l="l" t="t" r="r" b="b"/>
            <a:pathLst>
              <a:path w="142875" h="5486400">
                <a:moveTo>
                  <a:pt x="0" y="5486400"/>
                </a:moveTo>
                <a:lnTo>
                  <a:pt x="142875" y="5486400"/>
                </a:lnTo>
                <a:lnTo>
                  <a:pt x="142875" y="0"/>
                </a:lnTo>
                <a:lnTo>
                  <a:pt x="0" y="0"/>
                </a:lnTo>
                <a:lnTo>
                  <a:pt x="0" y="5486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>
                <a:solidFill>
                  <a:srgbClr val="073D86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56076-DD28-4D91-87F7-5DDB347ECE92}" type="datetime1">
              <a:rPr lang="ru-RU" smtClean="0"/>
              <a:t>20.05.2026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>
                <a:solidFill>
                  <a:srgbClr val="073D86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D97A2-96A2-4D54-9A7E-9FAEA140F68E}" type="datetime1">
              <a:rPr lang="ru-RU" smtClean="0"/>
              <a:t>20.05.2026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>
                <a:solidFill>
                  <a:srgbClr val="073D86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DB660-CBD7-4546-8014-6CB45559AB22}" type="datetime1">
              <a:rPr lang="ru-RU" smtClean="0"/>
              <a:t>20.05.2026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9001125" y="0"/>
            <a:ext cx="142875" cy="1371600"/>
          </a:xfrm>
          <a:custGeom>
            <a:avLst/>
            <a:gdLst/>
            <a:ahLst/>
            <a:cxnLst/>
            <a:rect l="l" t="t" r="r" b="b"/>
            <a:pathLst>
              <a:path w="142875" h="1371600">
                <a:moveTo>
                  <a:pt x="0" y="1371600"/>
                </a:moveTo>
                <a:lnTo>
                  <a:pt x="142875" y="1371600"/>
                </a:lnTo>
                <a:lnTo>
                  <a:pt x="142875" y="0"/>
                </a:lnTo>
                <a:lnTo>
                  <a:pt x="0" y="0"/>
                </a:lnTo>
                <a:lnTo>
                  <a:pt x="0" y="1371600"/>
                </a:lnTo>
                <a:close/>
              </a:path>
            </a:pathLst>
          </a:custGeom>
          <a:solidFill>
            <a:srgbClr val="073D86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9001125" y="1371600"/>
            <a:ext cx="142875" cy="5486400"/>
          </a:xfrm>
          <a:custGeom>
            <a:avLst/>
            <a:gdLst/>
            <a:ahLst/>
            <a:cxnLst/>
            <a:rect l="l" t="t" r="r" b="b"/>
            <a:pathLst>
              <a:path w="142875" h="5486400">
                <a:moveTo>
                  <a:pt x="0" y="5486400"/>
                </a:moveTo>
                <a:lnTo>
                  <a:pt x="142875" y="5486400"/>
                </a:lnTo>
                <a:lnTo>
                  <a:pt x="142875" y="0"/>
                </a:lnTo>
                <a:lnTo>
                  <a:pt x="0" y="0"/>
                </a:lnTo>
                <a:lnTo>
                  <a:pt x="0" y="5486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DD78F-8746-4A09-8C3B-151F99019B53}" type="datetime1">
              <a:rPr lang="ru-RU" smtClean="0"/>
              <a:t>20.05.2026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6A77-298B-45AA-A0B7-886F9E7414F3}" type="datetime1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E42A-87DD-4F2A-BFD7-6CCC5952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13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30968-59DF-4324-AA54-E05741A8726E}" type="datetime1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E42A-87DD-4F2A-BFD7-6CCC5952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150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B1524-F21D-4597-95FE-00DA8E5AD9E6}" type="datetime1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E42A-87DD-4F2A-BFD7-6CCC5952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55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F7119-1F1A-4713-81A6-9BC2FD3CC472}" type="datetime1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E42A-87DD-4F2A-BFD7-6CCC5952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0750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D602-16ED-421D-B423-942D5F24A041}" type="datetime1">
              <a:rPr lang="ru-RU" smtClean="0"/>
              <a:t>20.05.2026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E42A-87DD-4F2A-BFD7-6CCC5952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861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4554-823D-4322-A22C-BF25F4A522E4}" type="datetime1">
              <a:rPr lang="ru-RU" smtClean="0"/>
              <a:t>20.05.2026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E42A-87DD-4F2A-BFD7-6CCC5952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38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89218-CDB5-405B-8871-1437E1FCE6D9}" type="datetime1">
              <a:rPr lang="ru-RU" smtClean="0"/>
              <a:t>20.05.2026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E42A-87DD-4F2A-BFD7-6CCC5952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263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67760-29FA-4201-B901-A42D4B0AA3CF}" type="datetime1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E42A-87DD-4F2A-BFD7-6CCC5952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633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E8CDF-C35C-4567-9DD5-92C72BFE805F}" type="datetime1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E42A-87DD-4F2A-BFD7-6CCC5952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747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24E39-693C-411D-84D3-78ECE7D07F98}" type="datetime1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E42A-87DD-4F2A-BFD7-6CCC5952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951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A17AA-74EF-467A-9846-D15049ED790B}" type="datetime1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E42A-87DD-4F2A-BFD7-6CCC5952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74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1472" y="294385"/>
            <a:ext cx="7941055" cy="549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rgbClr val="073D86"/>
                </a:solidFill>
                <a:latin typeface="Impact"/>
                <a:cs typeface="Impac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7418" y="1812035"/>
            <a:ext cx="8189163" cy="3639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6768B-20DA-4BC8-A2D7-CB2DF7237FB5}" type="datetime1">
              <a:rPr lang="ru-RU" smtClean="0"/>
              <a:t>20.05.2026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DA992-55C6-424A-9CFA-12C325A0F4FC}" type="datetime1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9E42A-87DD-4F2A-BFD7-6CCC5952A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8762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ailto:xim@mail.ru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33400" y="1295400"/>
            <a:ext cx="5884545" cy="2859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795"/>
              </a:lnSpc>
            </a:pPr>
            <a:r>
              <a:rPr sz="4000" spc="-105" dirty="0">
                <a:solidFill>
                  <a:schemeClr val="accent6">
                    <a:lumMod val="75000"/>
                  </a:schemeClr>
                </a:solidFill>
                <a:latin typeface="Impact"/>
                <a:cs typeface="Impact"/>
              </a:rPr>
              <a:t>В</a:t>
            </a:r>
            <a:r>
              <a:rPr sz="4000" spc="-114" dirty="0">
                <a:solidFill>
                  <a:schemeClr val="accent6">
                    <a:lumMod val="75000"/>
                  </a:schemeClr>
                </a:solidFill>
                <a:latin typeface="Impact"/>
                <a:cs typeface="Impact"/>
              </a:rPr>
              <a:t>Е</a:t>
            </a:r>
            <a:r>
              <a:rPr sz="4000" spc="-105" dirty="0">
                <a:solidFill>
                  <a:schemeClr val="accent6">
                    <a:lumMod val="75000"/>
                  </a:schemeClr>
                </a:solidFill>
                <a:latin typeface="Impact"/>
                <a:cs typeface="Impact"/>
              </a:rPr>
              <a:t>Б</a:t>
            </a:r>
            <a:r>
              <a:rPr sz="4000" spc="-110" dirty="0">
                <a:solidFill>
                  <a:schemeClr val="accent6">
                    <a:lumMod val="75000"/>
                  </a:schemeClr>
                </a:solidFill>
                <a:latin typeface="Impact"/>
                <a:cs typeface="Impact"/>
              </a:rPr>
              <a:t>И</a:t>
            </a:r>
            <a:r>
              <a:rPr sz="4000" spc="-105" dirty="0">
                <a:solidFill>
                  <a:schemeClr val="accent6">
                    <a:lumMod val="75000"/>
                  </a:schemeClr>
                </a:solidFill>
                <a:latin typeface="Impact"/>
                <a:cs typeface="Impact"/>
              </a:rPr>
              <a:t>НА</a:t>
            </a:r>
            <a:r>
              <a:rPr sz="4000" spc="-20" dirty="0">
                <a:solidFill>
                  <a:schemeClr val="accent6">
                    <a:lumMod val="75000"/>
                  </a:schemeClr>
                </a:solidFill>
                <a:latin typeface="Impact"/>
                <a:cs typeface="Impact"/>
              </a:rPr>
              <a:t>Р</a:t>
            </a:r>
            <a:endParaRPr lang="ru-RU" sz="4000" spc="-20" dirty="0">
              <a:solidFill>
                <a:schemeClr val="accent6">
                  <a:lumMod val="75000"/>
                </a:schemeClr>
              </a:solidFill>
              <a:latin typeface="Impact"/>
              <a:cs typeface="Impact"/>
            </a:endParaRPr>
          </a:p>
          <a:p>
            <a:pPr marL="12700">
              <a:lnSpc>
                <a:spcPts val="4795"/>
              </a:lnSpc>
            </a:pPr>
            <a:endParaRPr sz="4000" dirty="0">
              <a:solidFill>
                <a:schemeClr val="accent6">
                  <a:lumMod val="75000"/>
                </a:schemeClr>
              </a:solidFill>
              <a:latin typeface="Impact"/>
              <a:cs typeface="Impact"/>
            </a:endParaRPr>
          </a:p>
          <a:p>
            <a:pPr marL="12700" marR="6350">
              <a:lnSpc>
                <a:spcPts val="6480"/>
              </a:lnSpc>
              <a:spcBef>
                <a:spcPts val="210"/>
              </a:spcBef>
            </a:pPr>
            <a:r>
              <a:rPr sz="5400" spc="-90" dirty="0">
                <a:solidFill>
                  <a:srgbClr val="7030A0"/>
                </a:solidFill>
                <a:latin typeface="Impact"/>
                <a:cs typeface="Impact"/>
              </a:rPr>
              <a:t>Р</a:t>
            </a:r>
            <a:r>
              <a:rPr sz="5400" spc="-85" dirty="0">
                <a:solidFill>
                  <a:srgbClr val="7030A0"/>
                </a:solidFill>
                <a:latin typeface="Impact"/>
                <a:cs typeface="Impact"/>
              </a:rPr>
              <a:t>А</a:t>
            </a:r>
            <a:r>
              <a:rPr sz="5400" spc="-90" dirty="0">
                <a:solidFill>
                  <a:srgbClr val="7030A0"/>
                </a:solidFill>
                <a:latin typeface="Impact"/>
                <a:cs typeface="Impact"/>
              </a:rPr>
              <a:t>Б</a:t>
            </a:r>
            <a:r>
              <a:rPr sz="5400" spc="-85" dirty="0">
                <a:solidFill>
                  <a:srgbClr val="7030A0"/>
                </a:solidFill>
                <a:latin typeface="Impact"/>
                <a:cs typeface="Impact"/>
              </a:rPr>
              <a:t>О</a:t>
            </a:r>
            <a:r>
              <a:rPr sz="5400" spc="-95" dirty="0">
                <a:solidFill>
                  <a:srgbClr val="7030A0"/>
                </a:solidFill>
                <a:latin typeface="Impact"/>
                <a:cs typeface="Impact"/>
              </a:rPr>
              <a:t>Т</a:t>
            </a:r>
            <a:r>
              <a:rPr sz="5400" dirty="0">
                <a:solidFill>
                  <a:srgbClr val="7030A0"/>
                </a:solidFill>
                <a:latin typeface="Impact"/>
                <a:cs typeface="Impact"/>
              </a:rPr>
              <a:t>А</a:t>
            </a:r>
            <a:r>
              <a:rPr sz="5400" spc="-160" dirty="0">
                <a:solidFill>
                  <a:srgbClr val="7030A0"/>
                </a:solidFill>
                <a:latin typeface="Impact"/>
                <a:cs typeface="Impact"/>
              </a:rPr>
              <a:t> </a:t>
            </a:r>
            <a:r>
              <a:rPr sz="5400" spc="-90" dirty="0">
                <a:solidFill>
                  <a:srgbClr val="7030A0"/>
                </a:solidFill>
                <a:latin typeface="Impact"/>
                <a:cs typeface="Impact"/>
              </a:rPr>
              <a:t>С</a:t>
            </a:r>
            <a:r>
              <a:rPr sz="5400" dirty="0">
                <a:solidFill>
                  <a:srgbClr val="7030A0"/>
                </a:solidFill>
                <a:latin typeface="Impact"/>
                <a:cs typeface="Impact"/>
              </a:rPr>
              <a:t>О</a:t>
            </a:r>
            <a:r>
              <a:rPr sz="5400" spc="-160" dirty="0">
                <a:solidFill>
                  <a:srgbClr val="7030A0"/>
                </a:solidFill>
                <a:latin typeface="Impact"/>
                <a:cs typeface="Impact"/>
              </a:rPr>
              <a:t> </a:t>
            </a:r>
            <a:r>
              <a:rPr sz="5400" spc="-90" dirty="0">
                <a:solidFill>
                  <a:srgbClr val="7030A0"/>
                </a:solidFill>
                <a:latin typeface="Impact"/>
                <a:cs typeface="Impact"/>
              </a:rPr>
              <a:t>С</a:t>
            </a:r>
            <a:r>
              <a:rPr sz="5400" spc="-95" dirty="0">
                <a:solidFill>
                  <a:srgbClr val="7030A0"/>
                </a:solidFill>
                <a:latin typeface="Impact"/>
                <a:cs typeface="Impact"/>
              </a:rPr>
              <a:t>Т</a:t>
            </a:r>
            <a:r>
              <a:rPr sz="5400" spc="-90" dirty="0">
                <a:solidFill>
                  <a:srgbClr val="7030A0"/>
                </a:solidFill>
                <a:latin typeface="Impact"/>
                <a:cs typeface="Impact"/>
              </a:rPr>
              <a:t>Р</a:t>
            </a:r>
            <a:r>
              <a:rPr sz="5400" spc="-85" dirty="0">
                <a:solidFill>
                  <a:srgbClr val="7030A0"/>
                </a:solidFill>
                <a:latin typeface="Impact"/>
                <a:cs typeface="Impact"/>
              </a:rPr>
              <a:t>А</a:t>
            </a:r>
            <a:r>
              <a:rPr sz="5400" spc="-90" dirty="0">
                <a:solidFill>
                  <a:srgbClr val="7030A0"/>
                </a:solidFill>
                <a:latin typeface="Impact"/>
                <a:cs typeface="Impact"/>
              </a:rPr>
              <a:t>Х</a:t>
            </a:r>
            <a:r>
              <a:rPr sz="5400" spc="-85" dirty="0">
                <a:solidFill>
                  <a:srgbClr val="7030A0"/>
                </a:solidFill>
                <a:latin typeface="Impact"/>
                <a:cs typeface="Impact"/>
              </a:rPr>
              <a:t>АМ</a:t>
            </a:r>
            <a:r>
              <a:rPr sz="5400" dirty="0">
                <a:solidFill>
                  <a:srgbClr val="7030A0"/>
                </a:solidFill>
                <a:latin typeface="Impact"/>
                <a:cs typeface="Impact"/>
              </a:rPr>
              <a:t>И В</a:t>
            </a:r>
            <a:r>
              <a:rPr sz="5400" spc="-155" dirty="0">
                <a:solidFill>
                  <a:srgbClr val="7030A0"/>
                </a:solidFill>
                <a:latin typeface="Impact"/>
                <a:cs typeface="Impact"/>
              </a:rPr>
              <a:t> </a:t>
            </a:r>
            <a:r>
              <a:rPr sz="5400" spc="-85" dirty="0">
                <a:solidFill>
                  <a:srgbClr val="7030A0"/>
                </a:solidFill>
                <a:latin typeface="Impact"/>
                <a:cs typeface="Impact"/>
              </a:rPr>
              <a:t>Н</a:t>
            </a:r>
            <a:r>
              <a:rPr sz="5400" spc="-90" dirty="0">
                <a:solidFill>
                  <a:srgbClr val="7030A0"/>
                </a:solidFill>
                <a:latin typeface="Impact"/>
                <a:cs typeface="Impact"/>
              </a:rPr>
              <a:t>Е</a:t>
            </a:r>
            <a:r>
              <a:rPr sz="5400" spc="-95" dirty="0">
                <a:solidFill>
                  <a:srgbClr val="7030A0"/>
                </a:solidFill>
                <a:latin typeface="Impact"/>
                <a:cs typeface="Impact"/>
              </a:rPr>
              <a:t>Й</a:t>
            </a:r>
            <a:r>
              <a:rPr sz="5400" spc="-90" dirty="0">
                <a:solidFill>
                  <a:srgbClr val="7030A0"/>
                </a:solidFill>
                <a:latin typeface="Impact"/>
                <a:cs typeface="Impact"/>
              </a:rPr>
              <a:t>Р</a:t>
            </a:r>
            <a:r>
              <a:rPr sz="5400" spc="-85" dirty="0">
                <a:solidFill>
                  <a:srgbClr val="7030A0"/>
                </a:solidFill>
                <a:latin typeface="Impact"/>
                <a:cs typeface="Impact"/>
              </a:rPr>
              <a:t>О</a:t>
            </a:r>
            <a:r>
              <a:rPr sz="5400" spc="-90" dirty="0">
                <a:solidFill>
                  <a:srgbClr val="7030A0"/>
                </a:solidFill>
                <a:latin typeface="Impact"/>
                <a:cs typeface="Impact"/>
              </a:rPr>
              <a:t>К</a:t>
            </a:r>
            <a:r>
              <a:rPr sz="5400" spc="-85" dirty="0">
                <a:solidFill>
                  <a:srgbClr val="7030A0"/>
                </a:solidFill>
                <a:latin typeface="Impact"/>
                <a:cs typeface="Impact"/>
              </a:rPr>
              <a:t>ОУ</a:t>
            </a:r>
            <a:r>
              <a:rPr sz="5400" spc="-80" dirty="0">
                <a:solidFill>
                  <a:srgbClr val="7030A0"/>
                </a:solidFill>
                <a:latin typeface="Impact"/>
                <a:cs typeface="Impact"/>
              </a:rPr>
              <a:t>Ч</a:t>
            </a:r>
            <a:r>
              <a:rPr sz="5400" spc="-95" dirty="0">
                <a:solidFill>
                  <a:srgbClr val="7030A0"/>
                </a:solidFill>
                <a:latin typeface="Impact"/>
                <a:cs typeface="Impact"/>
              </a:rPr>
              <a:t>И</a:t>
            </a:r>
            <a:r>
              <a:rPr sz="5400" spc="-75" dirty="0">
                <a:solidFill>
                  <a:srgbClr val="7030A0"/>
                </a:solidFill>
                <a:latin typeface="Impact"/>
                <a:cs typeface="Impact"/>
              </a:rPr>
              <a:t>Н</a:t>
            </a:r>
            <a:r>
              <a:rPr sz="5400" spc="-80" dirty="0">
                <a:solidFill>
                  <a:srgbClr val="7030A0"/>
                </a:solidFill>
                <a:latin typeface="Impact"/>
                <a:cs typeface="Impact"/>
              </a:rPr>
              <a:t>Г</a:t>
            </a:r>
            <a:r>
              <a:rPr sz="5400" dirty="0">
                <a:solidFill>
                  <a:srgbClr val="7030A0"/>
                </a:solidFill>
                <a:latin typeface="Impact"/>
                <a:cs typeface="Impact"/>
              </a:rPr>
              <a:t>Е</a:t>
            </a:r>
          </a:p>
        </p:txBody>
      </p:sp>
      <p:sp>
        <p:nvSpPr>
          <p:cNvPr id="6" name="object 6"/>
          <p:cNvSpPr/>
          <p:nvPr/>
        </p:nvSpPr>
        <p:spPr>
          <a:xfrm>
            <a:off x="231482" y="5889722"/>
            <a:ext cx="2733040" cy="9018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43600" y="6248400"/>
            <a:ext cx="2886582" cy="399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1737" y="2471521"/>
            <a:ext cx="3155719" cy="994172"/>
          </a:xfrm>
        </p:spPr>
        <p:txBody>
          <a:bodyPr/>
          <a:lstStyle/>
          <a:p>
            <a:r>
              <a:rPr lang="ru-RU" b="1" dirty="0">
                <a:solidFill>
                  <a:srgbClr val="7030A0"/>
                </a:solidFill>
              </a:rPr>
              <a:t>Максим Теркин</a:t>
            </a:r>
            <a:r>
              <a:rPr lang="ru-RU" dirty="0"/>
              <a:t>      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91736" y="3625156"/>
            <a:ext cx="3155720" cy="1831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/>
            <a:r>
              <a:rPr lang="ru-RU" sz="1600" b="1" dirty="0">
                <a:solidFill>
                  <a:prstClr val="black"/>
                </a:solidFill>
                <a:latin typeface="Calibri" panose="020F0502020204030204"/>
              </a:rPr>
              <a:t>Психолог, психотерапевт,</a:t>
            </a:r>
          </a:p>
          <a:p>
            <a:pPr defTabSz="685800"/>
            <a:r>
              <a:rPr lang="ru-RU" sz="1600" b="1" dirty="0">
                <a:solidFill>
                  <a:prstClr val="black"/>
                </a:solidFill>
                <a:latin typeface="Calibri" panose="020F0502020204030204"/>
              </a:rPr>
              <a:t>мастер-</a:t>
            </a:r>
            <a:r>
              <a:rPr lang="ru-RU" sz="1600" b="1" dirty="0" err="1">
                <a:solidFill>
                  <a:prstClr val="black"/>
                </a:solidFill>
                <a:latin typeface="Calibri" panose="020F0502020204030204"/>
              </a:rPr>
              <a:t>коуч</a:t>
            </a:r>
            <a:r>
              <a:rPr lang="ru-RU" sz="1600" b="1" dirty="0">
                <a:solidFill>
                  <a:prstClr val="black"/>
                </a:solidFill>
                <a:latin typeface="Calibri" panose="020F0502020204030204"/>
              </a:rPr>
              <a:t>, супервизор</a:t>
            </a:r>
          </a:p>
          <a:p>
            <a:pPr defTabSz="685800"/>
            <a:endParaRPr lang="ru-RU" sz="135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ru-RU" sz="1350" dirty="0">
                <a:solidFill>
                  <a:prstClr val="black"/>
                </a:solidFill>
                <a:latin typeface="Calibri" panose="020F0502020204030204"/>
              </a:rPr>
              <a:t>+79166871459</a:t>
            </a:r>
          </a:p>
          <a:p>
            <a:pPr defTabSz="685800"/>
            <a:r>
              <a:rPr lang="en-US" sz="1350" dirty="0">
                <a:solidFill>
                  <a:prstClr val="black"/>
                </a:solidFill>
                <a:latin typeface="Calibri" panose="020F0502020204030204"/>
                <a:hlinkClick r:id="rId2"/>
              </a:rPr>
              <a:t>xim@mail.ru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ru-RU" sz="1350" dirty="0" err="1">
                <a:solidFill>
                  <a:prstClr val="black"/>
                </a:solidFill>
                <a:latin typeface="Calibri" panose="020F0502020204030204"/>
              </a:rPr>
              <a:t>Телеграм</a:t>
            </a:r>
            <a:r>
              <a:rPr lang="ru-RU" sz="1350" dirty="0">
                <a:solidFill>
                  <a:prstClr val="black"/>
                </a:solidFill>
                <a:latin typeface="Calibri" panose="020F0502020204030204"/>
              </a:rPr>
              <a:t> @</a:t>
            </a:r>
            <a:r>
              <a:rPr lang="ru-RU" sz="1350" dirty="0" err="1">
                <a:solidFill>
                  <a:prstClr val="black"/>
                </a:solidFill>
                <a:latin typeface="Calibri" panose="020F0502020204030204"/>
              </a:rPr>
              <a:t>XimTerk</a:t>
            </a:r>
            <a:r>
              <a:rPr lang="ru-RU" sz="1350" dirty="0">
                <a:solidFill>
                  <a:prstClr val="black"/>
                </a:solidFill>
                <a:latin typeface="Calibri" panose="020F0502020204030204"/>
              </a:rPr>
              <a:t>  </a:t>
            </a:r>
          </a:p>
          <a:p>
            <a:pPr defTabSz="685800"/>
            <a:r>
              <a:rPr lang="ru-RU" sz="1350" dirty="0">
                <a:solidFill>
                  <a:prstClr val="black"/>
                </a:solidFill>
                <a:latin typeface="Calibri" panose="020F0502020204030204"/>
              </a:rPr>
              <a:t>Канал </a:t>
            </a: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https://t.me/terka_terkina</a:t>
            </a:r>
            <a:endParaRPr lang="ru-RU" sz="135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https://vk.com/xim1968</a:t>
            </a:r>
            <a:endParaRPr lang="ru-RU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733800" y="780342"/>
            <a:ext cx="4572000" cy="5370701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685800"/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ru-RU" sz="1400" dirty="0">
                <a:solidFill>
                  <a:prstClr val="black"/>
                </a:solidFill>
                <a:latin typeface="Calibri" panose="020F0502020204030204"/>
              </a:rPr>
              <a:t>1993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ru-RU" sz="1400" dirty="0">
                <a:solidFill>
                  <a:prstClr val="black"/>
                </a:solidFill>
                <a:latin typeface="Calibri" panose="020F0502020204030204"/>
              </a:rPr>
              <a:t> МИФИ, ТЕХНИЧЕСКОЕ ОБРАЗОВАНИЕ.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endParaRPr lang="ru-RU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ru-RU" sz="1400" dirty="0">
                <a:solidFill>
                  <a:prstClr val="black"/>
                </a:solidFill>
                <a:latin typeface="Calibri" panose="020F0502020204030204"/>
              </a:rPr>
              <a:t>2009 РУДН, ОБЩАЯ ПСИХОЛОГИЯ. </a:t>
            </a:r>
          </a:p>
          <a:p>
            <a:pPr defTabSz="685800"/>
            <a:endParaRPr lang="ru-RU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ru-RU" sz="1400" dirty="0">
                <a:solidFill>
                  <a:prstClr val="black"/>
                </a:solidFill>
                <a:latin typeface="Calibri" panose="020F0502020204030204"/>
              </a:rPr>
              <a:t>2013  ИНСТИТУТ ИНТЕГРАТИВНОЙ СЕМЕЙНОЙ ТЕРАПИИ, СЕМЕЙНЫЙ ПСИХОТЕРАПЕВТ </a:t>
            </a:r>
          </a:p>
          <a:p>
            <a:pPr defTabSz="685800"/>
            <a:endParaRPr lang="ru-RU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rabicPlain" startAt="2017"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ru-RU" sz="1400" dirty="0">
                <a:solidFill>
                  <a:prstClr val="black"/>
                </a:solidFill>
                <a:latin typeface="Calibri" panose="020F0502020204030204"/>
              </a:rPr>
              <a:t>РУДН, КОУЧИНГ</a:t>
            </a:r>
          </a:p>
          <a:p>
            <a:pPr defTabSz="685800"/>
            <a:r>
              <a:rPr lang="ru-RU" sz="14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defTabSz="685800"/>
            <a:r>
              <a:rPr lang="ru-RU" sz="1400" dirty="0">
                <a:solidFill>
                  <a:prstClr val="black"/>
                </a:solidFill>
                <a:latin typeface="Calibri" panose="020F0502020204030204"/>
              </a:rPr>
              <a:t>2018 МИП, НЕЙРОКОУЧИНГ.</a:t>
            </a:r>
          </a:p>
          <a:p>
            <a:pPr defTabSz="685800"/>
            <a:endParaRPr lang="ru-RU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ru-RU" sz="1400" dirty="0">
                <a:solidFill>
                  <a:prstClr val="black"/>
                </a:solidFill>
                <a:latin typeface="Calibri" panose="020F0502020204030204"/>
              </a:rPr>
              <a:t>2018 ПОЛУЧЕНИЕ  КВАЛИФИКАЦИИ МАСТЕР КОУЧ ICI. </a:t>
            </a:r>
          </a:p>
          <a:p>
            <a:pPr defTabSz="685800"/>
            <a:endParaRPr lang="ru-RU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ru-RU" sz="1400" dirty="0">
                <a:solidFill>
                  <a:prstClr val="black"/>
                </a:solidFill>
                <a:latin typeface="Calibri" panose="020F0502020204030204"/>
              </a:rPr>
              <a:t>2018  СУПЕРВИЗОР ПРОГРАММ ОБУЧЕНИЯ КОУЧЕЙ В РУДН И МИП. </a:t>
            </a:r>
          </a:p>
          <a:p>
            <a:pPr defTabSz="685800"/>
            <a:endParaRPr lang="ru-RU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ru-RU" sz="1400" dirty="0">
                <a:solidFill>
                  <a:prstClr val="black"/>
                </a:solidFill>
                <a:latin typeface="Calibri" panose="020F0502020204030204"/>
              </a:rPr>
              <a:t>2020 СТАРШИЙ СУПЕРВИЗОР ДИСТАНТА ПРОГРАММ ОБУЧЕНИЯ БИЗНЕС КОУЧЕЙ  РУДН.</a:t>
            </a:r>
          </a:p>
          <a:p>
            <a:pPr defTabSz="685800"/>
            <a:endParaRPr lang="ru-RU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257175" indent="-257175" defTabSz="685800">
              <a:buFontTx/>
              <a:buAutoNum type="arabicPlain" startAt="2022"/>
            </a:pPr>
            <a:r>
              <a:rPr lang="ru-RU" sz="1400" dirty="0">
                <a:solidFill>
                  <a:prstClr val="black"/>
                </a:solidFill>
                <a:latin typeface="Calibri" panose="020F0502020204030204"/>
              </a:rPr>
              <a:t>  МИП, «СУПЕРВИЗИЯ И АСЕССМЕНТ». </a:t>
            </a:r>
          </a:p>
          <a:p>
            <a:pPr marL="257175" indent="-257175" defTabSz="685800">
              <a:buFontTx/>
              <a:buAutoNum type="arabicPlain" startAt="2022"/>
            </a:pPr>
            <a:endParaRPr lang="ru-RU" sz="14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ru-RU" sz="1400" dirty="0">
                <a:solidFill>
                  <a:prstClr val="black"/>
                </a:solidFill>
                <a:latin typeface="Calibri" panose="020F0502020204030204"/>
              </a:rPr>
              <a:t>С 2008 веду частную практику. Основные направления  семейная и супружеская терапия, </a:t>
            </a:r>
            <a:r>
              <a:rPr lang="ru-RU" sz="1400" dirty="0" err="1">
                <a:solidFill>
                  <a:prstClr val="black"/>
                </a:solidFill>
                <a:latin typeface="Calibri" panose="020F0502020204030204"/>
              </a:rPr>
              <a:t>лайф</a:t>
            </a:r>
            <a:r>
              <a:rPr lang="ru-RU" sz="1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ru-RU" sz="1400" dirty="0" err="1">
                <a:solidFill>
                  <a:prstClr val="black"/>
                </a:solidFill>
                <a:latin typeface="Calibri" panose="020F0502020204030204"/>
              </a:rPr>
              <a:t>коучинг</a:t>
            </a:r>
            <a:r>
              <a:rPr lang="ru-RU" sz="1400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  <a:p>
            <a:pPr defTabSz="685800"/>
            <a:endParaRPr lang="ru-RU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8DA13D-A9D0-4A9C-854E-44781A882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6324600"/>
            <a:ext cx="1792379" cy="26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5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2D32DC-CF12-4C01-BD28-413973123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7030A0"/>
                </a:solidFill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B4EED7-1167-4785-8F4F-06C6EAD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86000"/>
            <a:ext cx="4248150" cy="4351338"/>
          </a:xfrm>
        </p:spPr>
        <p:txBody>
          <a:bodyPr/>
          <a:lstStyle/>
          <a:p>
            <a:pPr marL="0" indent="0">
              <a:buNone/>
            </a:pPr>
            <a:br>
              <a:rPr lang="ru-RU" dirty="0"/>
            </a:br>
            <a:br>
              <a:rPr lang="ru-RU" dirty="0"/>
            </a:br>
            <a:r>
              <a:rPr lang="ru-RU" sz="2400" dirty="0">
                <a:solidFill>
                  <a:srgbClr val="002060"/>
                </a:solidFill>
              </a:rPr>
              <a:t>- Приветствие, знакомство с аудиторией.</a:t>
            </a:r>
            <a:br>
              <a:rPr lang="ru-RU" sz="2400" dirty="0">
                <a:solidFill>
                  <a:srgbClr val="002060"/>
                </a:solidFill>
              </a:rPr>
            </a:br>
            <a:r>
              <a:rPr lang="ru-RU" sz="2400" dirty="0">
                <a:solidFill>
                  <a:srgbClr val="002060"/>
                </a:solidFill>
              </a:rPr>
              <a:t>- Краткий обзор: что такое </a:t>
            </a:r>
            <a:r>
              <a:rPr lang="ru-RU" sz="2400" dirty="0" err="1">
                <a:solidFill>
                  <a:srgbClr val="002060"/>
                </a:solidFill>
              </a:rPr>
              <a:t>нейрокоучинг</a:t>
            </a:r>
            <a:r>
              <a:rPr lang="ru-RU" sz="2400" dirty="0">
                <a:solidFill>
                  <a:srgbClr val="002060"/>
                </a:solidFill>
              </a:rPr>
              <a:t>, почему страхи — важная тема.</a:t>
            </a:r>
            <a:br>
              <a:rPr lang="ru-RU" sz="2400" dirty="0">
                <a:solidFill>
                  <a:srgbClr val="002060"/>
                </a:solidFill>
              </a:rPr>
            </a:br>
            <a:r>
              <a:rPr lang="ru-RU" sz="2400" dirty="0">
                <a:solidFill>
                  <a:srgbClr val="002060"/>
                </a:solidFill>
              </a:rPr>
              <a:t>- Ожидаемые результаты вебинара.</a:t>
            </a:r>
            <a:br>
              <a:rPr lang="ru-RU" sz="2400" dirty="0">
                <a:solidFill>
                  <a:srgbClr val="002060"/>
                </a:solidFill>
              </a:rPr>
            </a:br>
            <a:endParaRPr lang="ru-RU" sz="2400" dirty="0">
              <a:solidFill>
                <a:srgbClr val="00206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E4F7E8-891D-43E4-836F-4CE704672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1981200"/>
            <a:ext cx="3857829" cy="33714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2F07838-6CCB-4AFF-9BB9-AEC1CA706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714" y="6224627"/>
            <a:ext cx="1792379" cy="26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82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E8A1AB-E332-4761-BC28-622AE7FF4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</a:rPr>
              <a:t>Что такое страх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9FFA22-D2B1-4763-8B7F-04C3B097E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690689"/>
            <a:ext cx="3886200" cy="4351338"/>
          </a:xfrm>
        </p:spPr>
        <p:txBody>
          <a:bodyPr>
            <a:normAutofit lnSpcReduction="10000"/>
          </a:bodyPr>
          <a:lstStyle/>
          <a:p>
            <a:pPr fontAlgn="t"/>
            <a:r>
              <a:rPr lang="ru-RU" sz="2400" b="1" dirty="0">
                <a:solidFill>
                  <a:srgbClr val="002060"/>
                </a:solidFill>
              </a:rPr>
              <a:t>Страх</a:t>
            </a:r>
            <a:r>
              <a:rPr lang="ru-RU" sz="2400" dirty="0">
                <a:solidFill>
                  <a:srgbClr val="002060"/>
                </a:solidFill>
              </a:rPr>
              <a:t> — это тягостное, мучительное душевное состояние, вызываемое грозящей человеку опасностью и чувством беспокойства</a:t>
            </a:r>
          </a:p>
          <a:p>
            <a:r>
              <a:rPr lang="ru-RU" sz="2400" dirty="0">
                <a:solidFill>
                  <a:srgbClr val="002060"/>
                </a:solidFill>
              </a:rPr>
              <a:t> Это эмоция, возникающая из-за ощущения воображаемой или реальной опасности, которая может представлять угрозу для жизни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EDA45E-4A9B-48FD-824D-4FD370F16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138" y="1828800"/>
            <a:ext cx="4154467" cy="284120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C96A27-D333-4D22-87DF-501F0F518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6358750"/>
            <a:ext cx="1792379" cy="26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10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37A86-4E23-4888-A0D0-A1726F827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7030A0"/>
                </a:solidFill>
              </a:rPr>
              <a:t>Что такое страх с точки зрения нейронауки?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085DC2-9315-468E-AE18-E2C1BEEA6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019550" cy="4351338"/>
          </a:xfrm>
        </p:spPr>
        <p:txBody>
          <a:bodyPr/>
          <a:lstStyle/>
          <a:p>
            <a:r>
              <a:rPr lang="ru-RU" dirty="0">
                <a:solidFill>
                  <a:srgbClr val="002060"/>
                </a:solidFill>
              </a:rPr>
              <a:t>Эволюционная роль страха</a:t>
            </a:r>
            <a:br>
              <a:rPr lang="ru-RU" dirty="0">
                <a:solidFill>
                  <a:srgbClr val="002060"/>
                </a:solidFill>
              </a:rPr>
            </a:b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Страх — это врождённая защитная реакция, сформировавшаяся в ходе эволюции для выживания. Он позволяет мгновенно реагировать на опасность, мобилизуя организм к бегству или защите. Благодаря страху человек и животные избегают угроз, что повышает шансы на выживание и продолжение рода.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B95D94-1405-4F5F-A14F-0C2EC208F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6408445"/>
            <a:ext cx="1746754" cy="24590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F785867-FD9B-4EE4-90E2-5A3B0AF2B0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905000"/>
            <a:ext cx="4019550" cy="359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363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C1B7CD6-3F9B-48B9-8C91-E86CEBDC3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5010150" cy="4117975"/>
          </a:xfrm>
        </p:spPr>
        <p:txBody>
          <a:bodyPr>
            <a:noAutofit/>
          </a:bodyPr>
          <a:lstStyle/>
          <a:p>
            <a:r>
              <a:rPr lang="ru-RU" sz="1800" dirty="0">
                <a:solidFill>
                  <a:srgbClr val="002060"/>
                </a:solidFill>
              </a:rPr>
              <a:t>- </a:t>
            </a:r>
            <a:r>
              <a:rPr lang="ru-RU" sz="1800" b="1" dirty="0" err="1">
                <a:solidFill>
                  <a:srgbClr val="002060"/>
                </a:solidFill>
              </a:rPr>
              <a:t>Амигдала</a:t>
            </a:r>
            <a:r>
              <a:rPr lang="ru-RU" sz="1800" b="1" dirty="0">
                <a:solidFill>
                  <a:srgbClr val="002060"/>
                </a:solidFill>
              </a:rPr>
              <a:t> (миндалевидное тело)</a:t>
            </a:r>
            <a:r>
              <a:rPr lang="ru-RU" sz="1800" dirty="0">
                <a:solidFill>
                  <a:srgbClr val="002060"/>
                </a:solidFill>
              </a:rPr>
              <a:t> — ключевой центр обработки страха. При обнаружении угрозы она активируется и запускает каскад реакций: учащается сердцебиение, повышается внимание, мобилизуются силы для действия.</a:t>
            </a:r>
            <a:br>
              <a:rPr lang="ru-RU" sz="1800" dirty="0">
                <a:solidFill>
                  <a:srgbClr val="002060"/>
                </a:solidFill>
              </a:rPr>
            </a:br>
            <a:r>
              <a:rPr lang="ru-RU" sz="1800" dirty="0">
                <a:solidFill>
                  <a:srgbClr val="002060"/>
                </a:solidFill>
              </a:rPr>
              <a:t>- </a:t>
            </a:r>
            <a:r>
              <a:rPr lang="ru-RU" sz="1800" b="1" dirty="0">
                <a:solidFill>
                  <a:srgbClr val="002060"/>
                </a:solidFill>
              </a:rPr>
              <a:t>Префронтальная </a:t>
            </a:r>
            <a:r>
              <a:rPr lang="ru-RU" sz="1800" b="1" dirty="0" err="1">
                <a:solidFill>
                  <a:srgbClr val="002060"/>
                </a:solidFill>
              </a:rPr>
              <a:t>кора</a:t>
            </a:r>
            <a:r>
              <a:rPr lang="ru-RU" sz="1800" dirty="0">
                <a:solidFill>
                  <a:srgbClr val="002060"/>
                </a:solidFill>
              </a:rPr>
              <a:t> — отвечает за оценку ситуации, контроль импульсов и принятие решений. Она может «притормозить» реакцию </a:t>
            </a:r>
            <a:r>
              <a:rPr lang="ru-RU" sz="1800" dirty="0" err="1">
                <a:solidFill>
                  <a:srgbClr val="002060"/>
                </a:solidFill>
              </a:rPr>
              <a:t>амигдалы</a:t>
            </a:r>
            <a:r>
              <a:rPr lang="ru-RU" sz="1800" dirty="0">
                <a:solidFill>
                  <a:srgbClr val="002060"/>
                </a:solidFill>
              </a:rPr>
              <a:t>, если угроза не так велика или неактуальна.</a:t>
            </a:r>
            <a:br>
              <a:rPr lang="ru-RU" sz="1800" dirty="0">
                <a:solidFill>
                  <a:srgbClr val="002060"/>
                </a:solidFill>
              </a:rPr>
            </a:br>
            <a:r>
              <a:rPr lang="ru-RU" sz="1800" dirty="0">
                <a:solidFill>
                  <a:srgbClr val="002060"/>
                </a:solidFill>
              </a:rPr>
              <a:t>- </a:t>
            </a:r>
            <a:r>
              <a:rPr lang="ru-RU" sz="1800" b="1" dirty="0">
                <a:solidFill>
                  <a:srgbClr val="002060"/>
                </a:solidFill>
              </a:rPr>
              <a:t>Гормоны стресса</a:t>
            </a:r>
            <a:r>
              <a:rPr lang="ru-RU" sz="1800" dirty="0">
                <a:solidFill>
                  <a:srgbClr val="002060"/>
                </a:solidFill>
              </a:rPr>
              <a:t> (адреналин, кортизол) — выделяются надпочечниками, усиливают обмен веществ, повышают уровень энергии и готовят тело к быстрой реакции («бей или беги»).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853972D-DBB5-415D-AADA-86BE8D6D6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7030A0"/>
                </a:solidFill>
              </a:rPr>
              <a:t>Как мозг реагирует на угрозу: </a:t>
            </a:r>
            <a:r>
              <a:rPr lang="ru-RU" b="1" dirty="0" err="1">
                <a:solidFill>
                  <a:srgbClr val="7030A0"/>
                </a:solidFill>
              </a:rPr>
              <a:t>амигдала</a:t>
            </a:r>
            <a:r>
              <a:rPr lang="ru-RU" b="1" dirty="0">
                <a:solidFill>
                  <a:srgbClr val="7030A0"/>
                </a:solidFill>
              </a:rPr>
              <a:t>, префронтальная </a:t>
            </a:r>
            <a:r>
              <a:rPr lang="ru-RU" b="1" dirty="0" err="1">
                <a:solidFill>
                  <a:srgbClr val="7030A0"/>
                </a:solidFill>
              </a:rPr>
              <a:t>кора</a:t>
            </a:r>
            <a:r>
              <a:rPr lang="ru-RU" b="1" dirty="0">
                <a:solidFill>
                  <a:srgbClr val="7030A0"/>
                </a:solidFill>
              </a:rPr>
              <a:t>, гормоны стресса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A742768-D97C-43D9-8442-4B0C8FD6C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81200"/>
            <a:ext cx="3124200" cy="312521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96AAC10-3AB3-416C-B937-9B9E1AF66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6358750"/>
            <a:ext cx="1792379" cy="26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53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12ADA0-BD2C-4609-9850-CAEA2B2D6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52400"/>
            <a:ext cx="7886700" cy="1843089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</a:rPr>
              <a:t>Отличие страха от тревоги и фобии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B55F22-C13B-427C-BC7A-58395D14D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43000"/>
            <a:ext cx="3943350" cy="5105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>
                <a:solidFill>
                  <a:srgbClr val="002060"/>
                </a:solidFill>
              </a:rPr>
              <a:t>- </a:t>
            </a:r>
            <a:r>
              <a:rPr lang="ru-RU" sz="1800" b="1" dirty="0">
                <a:solidFill>
                  <a:srgbClr val="002060"/>
                </a:solidFill>
              </a:rPr>
              <a:t>Страх</a:t>
            </a:r>
            <a:r>
              <a:rPr lang="ru-RU" sz="1800" dirty="0">
                <a:solidFill>
                  <a:srgbClr val="002060"/>
                </a:solidFill>
              </a:rPr>
              <a:t> — реакция на конкретную, реальную или воображаемую угрозу «здесь и сейчас».</a:t>
            </a:r>
            <a:br>
              <a:rPr lang="ru-RU" sz="1800" dirty="0">
                <a:solidFill>
                  <a:srgbClr val="002060"/>
                </a:solidFill>
              </a:rPr>
            </a:br>
            <a:r>
              <a:rPr lang="ru-RU" sz="1800" dirty="0">
                <a:solidFill>
                  <a:srgbClr val="002060"/>
                </a:solidFill>
              </a:rPr>
              <a:t>- </a:t>
            </a:r>
            <a:r>
              <a:rPr lang="ru-RU" sz="1800" b="1" dirty="0">
                <a:solidFill>
                  <a:srgbClr val="002060"/>
                </a:solidFill>
              </a:rPr>
              <a:t>Тревога</a:t>
            </a:r>
            <a:r>
              <a:rPr lang="ru-RU" sz="1800" dirty="0">
                <a:solidFill>
                  <a:srgbClr val="002060"/>
                </a:solidFill>
              </a:rPr>
              <a:t> — ожидание возможной угрозы в будущем, часто без явной причины. Она более продолжительна и менее конкретна.</a:t>
            </a:r>
            <a:br>
              <a:rPr lang="ru-RU" sz="1800" dirty="0">
                <a:solidFill>
                  <a:srgbClr val="002060"/>
                </a:solidFill>
              </a:rPr>
            </a:br>
            <a:r>
              <a:rPr lang="ru-RU" sz="1800" dirty="0">
                <a:solidFill>
                  <a:srgbClr val="002060"/>
                </a:solidFill>
              </a:rPr>
              <a:t>- </a:t>
            </a:r>
            <a:r>
              <a:rPr lang="ru-RU" sz="1800" b="1" dirty="0">
                <a:solidFill>
                  <a:srgbClr val="002060"/>
                </a:solidFill>
              </a:rPr>
              <a:t>Фобия</a:t>
            </a:r>
            <a:r>
              <a:rPr lang="ru-RU" sz="1800" dirty="0">
                <a:solidFill>
                  <a:srgbClr val="002060"/>
                </a:solidFill>
              </a:rPr>
              <a:t> — иррациональный, чрезмерный страх перед определённым объектом или ситуацией, который мешает нормальной жизни.</a:t>
            </a:r>
            <a:br>
              <a:rPr lang="ru-RU" sz="1800" dirty="0">
                <a:solidFill>
                  <a:srgbClr val="002060"/>
                </a:solidFill>
              </a:rPr>
            </a:br>
            <a:br>
              <a:rPr lang="ru-RU" sz="1800" dirty="0">
                <a:solidFill>
                  <a:srgbClr val="002060"/>
                </a:solidFill>
              </a:rPr>
            </a:br>
            <a:r>
              <a:rPr lang="ru-RU" sz="1800" dirty="0">
                <a:solidFill>
                  <a:srgbClr val="002060"/>
                </a:solidFill>
              </a:rPr>
              <a:t>Таким образом, страх — это не просто эмоция, а сложный нейробиологический механизм, обеспечивающий выживание и адаптацию человека к окружающей среде.</a:t>
            </a:r>
          </a:p>
          <a:p>
            <a:pPr marL="0" indent="0">
              <a:buNone/>
            </a:pPr>
            <a:br>
              <a:rPr lang="ru-RU" sz="1800" dirty="0">
                <a:solidFill>
                  <a:srgbClr val="002060"/>
                </a:solidFill>
              </a:rPr>
            </a:br>
            <a:endParaRPr lang="ru-RU" sz="1800" dirty="0">
              <a:solidFill>
                <a:srgbClr val="00206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0FC9FB-E72F-4DCE-A82F-1A2B3D3E6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6400800"/>
            <a:ext cx="1792379" cy="26824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8E5E941-68F8-4470-A519-0C939748B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219200"/>
            <a:ext cx="41910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95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B645BD-6893-42CF-A37D-0A5E67D3D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</a:rPr>
              <a:t>Виды страхов в работе </a:t>
            </a:r>
            <a:r>
              <a:rPr lang="ru-RU" sz="3600" b="1" dirty="0" err="1">
                <a:solidFill>
                  <a:srgbClr val="7030A0"/>
                </a:solidFill>
              </a:rPr>
              <a:t>нейрокоуча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01E41C-E504-48E3-9A43-D1649BA71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57400"/>
            <a:ext cx="3562350" cy="40417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>
                <a:solidFill>
                  <a:srgbClr val="002060"/>
                </a:solidFill>
              </a:rPr>
              <a:t>- Социальные страхи (оценка, отвержение).</a:t>
            </a:r>
            <a:br>
              <a:rPr lang="ru-RU" sz="2800" dirty="0">
                <a:solidFill>
                  <a:srgbClr val="002060"/>
                </a:solidFill>
              </a:rPr>
            </a:br>
            <a:r>
              <a:rPr lang="ru-RU" sz="2800" dirty="0">
                <a:solidFill>
                  <a:srgbClr val="002060"/>
                </a:solidFill>
              </a:rPr>
              <a:t>- Страхи перемен и неопределённости.</a:t>
            </a:r>
            <a:br>
              <a:rPr lang="ru-RU" sz="2800" dirty="0">
                <a:solidFill>
                  <a:srgbClr val="002060"/>
                </a:solidFill>
              </a:rPr>
            </a:br>
            <a:r>
              <a:rPr lang="ru-RU" sz="2800" dirty="0">
                <a:solidFill>
                  <a:srgbClr val="002060"/>
                </a:solidFill>
              </a:rPr>
              <a:t>- Страхи, связанные с прошлым опытом.</a:t>
            </a:r>
            <a:br>
              <a:rPr lang="ru-RU" sz="2800" dirty="0">
                <a:solidFill>
                  <a:srgbClr val="002060"/>
                </a:solidFill>
              </a:rPr>
            </a:br>
            <a:r>
              <a:rPr lang="ru-RU" sz="2800" dirty="0">
                <a:solidFill>
                  <a:srgbClr val="002060"/>
                </a:solidFill>
              </a:rPr>
              <a:t>- Иррациональные страхи (фобии).</a:t>
            </a:r>
            <a:br>
              <a:rPr lang="ru-RU" sz="3200" dirty="0"/>
            </a:br>
            <a:endParaRPr lang="ru-RU" sz="32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A1A7B7-03A8-430F-B50F-630C218EB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04" y="1219200"/>
            <a:ext cx="4590495" cy="527367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2AE7A9E-E45D-44FB-92D0-F47FED67E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6358749"/>
            <a:ext cx="1792379" cy="26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78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B702F6-BC51-4CF0-A04A-AEC5D435F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 </a:t>
            </a:r>
            <a:r>
              <a:rPr lang="ru-RU" b="1" dirty="0">
                <a:solidFill>
                  <a:srgbClr val="7030A0"/>
                </a:solidFill>
              </a:rPr>
              <a:t>Как страхи влияют на поведение и мышление?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81D865-3990-4897-8035-3DB276EE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3337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 </a:t>
            </a:r>
            <a:r>
              <a:rPr lang="ru-RU" sz="3200" dirty="0">
                <a:solidFill>
                  <a:srgbClr val="002060"/>
                </a:solidFill>
              </a:rPr>
              <a:t>Ограничивающие убеждения.</a:t>
            </a:r>
            <a:br>
              <a:rPr lang="ru-RU" sz="3200" dirty="0">
                <a:solidFill>
                  <a:srgbClr val="002060"/>
                </a:solidFill>
              </a:rPr>
            </a:br>
            <a:r>
              <a:rPr lang="ru-RU" sz="3200" dirty="0">
                <a:solidFill>
                  <a:srgbClr val="002060"/>
                </a:solidFill>
              </a:rPr>
              <a:t>- </a:t>
            </a:r>
            <a:r>
              <a:rPr lang="ru-RU" sz="3200" dirty="0" err="1">
                <a:solidFill>
                  <a:srgbClr val="002060"/>
                </a:solidFill>
              </a:rPr>
              <a:t>Самосаботаж</a:t>
            </a:r>
            <a:r>
              <a:rPr lang="ru-RU" sz="3200" dirty="0">
                <a:solidFill>
                  <a:srgbClr val="002060"/>
                </a:solidFill>
              </a:rPr>
              <a:t>.</a:t>
            </a:r>
            <a:br>
              <a:rPr lang="ru-RU" sz="3200" dirty="0">
                <a:solidFill>
                  <a:srgbClr val="002060"/>
                </a:solidFill>
              </a:rPr>
            </a:br>
            <a:r>
              <a:rPr lang="ru-RU" sz="3200" dirty="0">
                <a:solidFill>
                  <a:srgbClr val="002060"/>
                </a:solidFill>
              </a:rPr>
              <a:t>- Влияние на принятие решений.</a:t>
            </a:r>
            <a:br>
              <a:rPr lang="ru-RU" sz="3200" dirty="0">
                <a:solidFill>
                  <a:srgbClr val="002060"/>
                </a:solidFill>
              </a:rPr>
            </a:br>
            <a:endParaRPr lang="ru-RU" sz="3200" dirty="0">
              <a:solidFill>
                <a:srgbClr val="00206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C0470C-EF51-4263-B6ED-7CEC0579B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6358750"/>
            <a:ext cx="1792379" cy="26824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A2A58C2-A82E-45D8-952D-14F8583A2B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825625"/>
            <a:ext cx="39624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35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CBA88B8-887D-44BE-B4D1-1EF6E39D1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267" y="2590800"/>
            <a:ext cx="382653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solidFill>
                  <a:srgbClr val="002060"/>
                </a:solidFill>
              </a:rPr>
              <a:t>Почему у зебр не бывает инфаркта. Психология стресса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i="1" dirty="0" err="1">
                <a:solidFill>
                  <a:srgbClr val="002060"/>
                </a:solidFill>
              </a:rPr>
              <a:t>Сапольски</a:t>
            </a:r>
            <a:r>
              <a:rPr lang="ru-RU" i="1" dirty="0">
                <a:solidFill>
                  <a:srgbClr val="002060"/>
                </a:solidFill>
              </a:rPr>
              <a:t> Р.</a:t>
            </a:r>
            <a:endParaRPr lang="ru-RU" dirty="0">
              <a:solidFill>
                <a:srgbClr val="00206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5538DA-1112-4993-BE2C-392A68590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819" y="621113"/>
            <a:ext cx="3826531" cy="59436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5EB308-D7F2-4A36-9490-2720382E8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6400800"/>
            <a:ext cx="1792379" cy="26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420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11F7A-E912-4B19-AE70-EA908E41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5085"/>
            <a:ext cx="7886700" cy="93027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>
                <a:solidFill>
                  <a:srgbClr val="7030A0"/>
                </a:solidFill>
              </a:rPr>
              <a:t>Примеры из практики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CF79B91-EC61-4584-A886-5E39F19A9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6600" y="6358750"/>
            <a:ext cx="1792379" cy="268247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077B99B-4E68-4090-A82D-A96DABC20DB7}"/>
              </a:ext>
            </a:extLst>
          </p:cNvPr>
          <p:cNvSpPr/>
          <p:nvPr/>
        </p:nvSpPr>
        <p:spPr>
          <a:xfrm>
            <a:off x="457200" y="1449617"/>
            <a:ext cx="4572000" cy="46474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b="1" i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1. Страх публичных выступлений</a:t>
            </a:r>
            <a:b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Клиент: молодой специалист, боится выступать на совещаниях.</a:t>
            </a:r>
            <a:b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Проявления: учащённое сердцебиение, забывание слов, избегание встреч.</a:t>
            </a:r>
            <a:b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ru-RU" sz="2000" b="1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Нейрокоучинг</a:t>
            </a:r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-подход: работа с телесными ощущениями, выявление глубинных убеждений («Я не достоин внимания»), техники визуализации успеха.</a:t>
            </a:r>
            <a:b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2859F9E-4151-44C5-ADE7-1299FFB6A9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179" y="1562100"/>
            <a:ext cx="37338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64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1BEA1DC-4174-4B15-9201-ABDA707D8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762000"/>
            <a:ext cx="3638550" cy="5410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i="1" dirty="0">
                <a:solidFill>
                  <a:srgbClr val="002060"/>
                </a:solidFill>
              </a:rPr>
              <a:t>Пример 2. Страх перемен</a:t>
            </a:r>
            <a:br>
              <a:rPr lang="ru-RU" sz="2400" dirty="0">
                <a:solidFill>
                  <a:srgbClr val="002060"/>
                </a:solidFill>
              </a:rPr>
            </a:br>
            <a:br>
              <a:rPr lang="ru-RU" sz="2400" dirty="0">
                <a:solidFill>
                  <a:srgbClr val="002060"/>
                </a:solidFill>
              </a:rPr>
            </a:br>
            <a:r>
              <a:rPr lang="ru-RU" sz="2400" dirty="0">
                <a:solidFill>
                  <a:srgbClr val="002060"/>
                </a:solidFill>
              </a:rPr>
              <a:t>- Клиент: женщина 40 лет, боится сменить работу, хотя давно не удовлетворена текущей.</a:t>
            </a:r>
            <a:br>
              <a:rPr lang="ru-RU" sz="2400" dirty="0">
                <a:solidFill>
                  <a:srgbClr val="002060"/>
                </a:solidFill>
              </a:rPr>
            </a:br>
            <a:r>
              <a:rPr lang="ru-RU" sz="2400" dirty="0">
                <a:solidFill>
                  <a:srgbClr val="002060"/>
                </a:solidFill>
              </a:rPr>
              <a:t>- Проявления: прокрастинация, тревожность, ощущение «застревания».</a:t>
            </a:r>
            <a:br>
              <a:rPr lang="ru-RU" sz="2400" dirty="0">
                <a:solidFill>
                  <a:srgbClr val="002060"/>
                </a:solidFill>
              </a:rPr>
            </a:br>
            <a:r>
              <a:rPr lang="ru-RU" sz="2400" dirty="0">
                <a:solidFill>
                  <a:srgbClr val="002060"/>
                </a:solidFill>
              </a:rPr>
              <a:t>- </a:t>
            </a:r>
            <a:r>
              <a:rPr lang="ru-RU" sz="2400" dirty="0" err="1">
                <a:solidFill>
                  <a:srgbClr val="002060"/>
                </a:solidFill>
              </a:rPr>
              <a:t>Нейрокоучинг</a:t>
            </a:r>
            <a:r>
              <a:rPr lang="ru-RU" sz="2400" dirty="0">
                <a:solidFill>
                  <a:srgbClr val="002060"/>
                </a:solidFill>
              </a:rPr>
              <a:t>-подход: анализ вторичных выгод, работа с образом будущего, техники «якорения» ресурсных состояний.</a:t>
            </a:r>
            <a:br>
              <a:rPr lang="ru-RU" sz="2400" dirty="0">
                <a:solidFill>
                  <a:srgbClr val="002060"/>
                </a:solidFill>
              </a:rPr>
            </a:br>
            <a:endParaRPr lang="ru-RU" sz="2400" dirty="0">
              <a:solidFill>
                <a:srgbClr val="00206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DB7CA1-0180-4D7B-A7F9-39EF0250E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6358750"/>
            <a:ext cx="1792379" cy="26824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F76000-DAA1-476B-B668-0291586F5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224" y="1562100"/>
            <a:ext cx="44577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63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AC2921F-B90E-4103-9FA7-E7D466A5C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04800"/>
            <a:ext cx="3333750" cy="6172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i="1" dirty="0">
                <a:solidFill>
                  <a:srgbClr val="002060"/>
                </a:solidFill>
              </a:rPr>
              <a:t>Пример 3. Страх отвержения</a:t>
            </a:r>
            <a:br>
              <a:rPr lang="ru-RU" sz="2400" b="1" dirty="0">
                <a:solidFill>
                  <a:srgbClr val="002060"/>
                </a:solidFill>
              </a:rPr>
            </a:br>
            <a:br>
              <a:rPr lang="ru-RU" sz="2400" b="1" dirty="0">
                <a:solidFill>
                  <a:srgbClr val="002060"/>
                </a:solidFill>
              </a:rPr>
            </a:br>
            <a:r>
              <a:rPr lang="ru-RU" sz="2400" b="1" dirty="0">
                <a:solidFill>
                  <a:srgbClr val="002060"/>
                </a:solidFill>
              </a:rPr>
              <a:t>- Клиент: подросток, боится знакомиться с новыми людьми.</a:t>
            </a:r>
            <a:br>
              <a:rPr lang="ru-RU" sz="2400" b="1" dirty="0">
                <a:solidFill>
                  <a:srgbClr val="002060"/>
                </a:solidFill>
              </a:rPr>
            </a:br>
            <a:r>
              <a:rPr lang="ru-RU" sz="2400" b="1" dirty="0">
                <a:solidFill>
                  <a:srgbClr val="002060"/>
                </a:solidFill>
              </a:rPr>
              <a:t>- Проявления: изоляция, низкая самооценка, негативные мысли о себе.</a:t>
            </a:r>
            <a:br>
              <a:rPr lang="ru-RU" sz="2400" b="1" dirty="0">
                <a:solidFill>
                  <a:srgbClr val="002060"/>
                </a:solidFill>
              </a:rPr>
            </a:br>
            <a:r>
              <a:rPr lang="ru-RU" sz="2400" b="1" dirty="0">
                <a:solidFill>
                  <a:srgbClr val="002060"/>
                </a:solidFill>
              </a:rPr>
              <a:t>- </a:t>
            </a:r>
            <a:r>
              <a:rPr lang="ru-RU" sz="2400" b="1" dirty="0" err="1">
                <a:solidFill>
                  <a:srgbClr val="002060"/>
                </a:solidFill>
              </a:rPr>
              <a:t>Нейрокоучинг</a:t>
            </a:r>
            <a:r>
              <a:rPr lang="ru-RU" sz="2400" b="1" dirty="0">
                <a:solidFill>
                  <a:srgbClr val="002060"/>
                </a:solidFill>
              </a:rPr>
              <a:t>-подход: работа с внутренним критиком, техники </a:t>
            </a:r>
            <a:r>
              <a:rPr lang="ru-RU" sz="2400" b="1" dirty="0" err="1">
                <a:solidFill>
                  <a:srgbClr val="002060"/>
                </a:solidFill>
              </a:rPr>
              <a:t>самоподдержки</a:t>
            </a:r>
            <a:r>
              <a:rPr lang="ru-RU" sz="2400" b="1" dirty="0">
                <a:solidFill>
                  <a:srgbClr val="002060"/>
                </a:solidFill>
              </a:rPr>
              <a:t>, развитие эмоционального интеллекта.</a:t>
            </a:r>
            <a:br>
              <a:rPr lang="ru-RU" sz="2400" b="1" dirty="0">
                <a:solidFill>
                  <a:srgbClr val="002060"/>
                </a:solidFill>
              </a:rPr>
            </a:br>
            <a:endParaRPr lang="ru-RU" sz="2400" b="1" dirty="0">
              <a:solidFill>
                <a:srgbClr val="00206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BD7845-4EDE-4427-B79B-FAC1FD322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447800"/>
            <a:ext cx="4419600" cy="44196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C5E7884-E9D5-44B4-B7C4-ED2AC3EEC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821" y="6342876"/>
            <a:ext cx="1792379" cy="26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52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5514F81-43F0-4A27-AE00-BF48AE4A8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819400"/>
            <a:ext cx="78867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5400" dirty="0">
                <a:solidFill>
                  <a:srgbClr val="7030A0"/>
                </a:solidFill>
              </a:rPr>
              <a:t>ПЕРЕРЫВ 10 минут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83D83A-8E7C-4F11-A562-81DDD79E7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6400800"/>
            <a:ext cx="1792379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02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72D5AE-6182-44B5-958C-2DB00924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5400" b="1" dirty="0">
                <a:solidFill>
                  <a:srgbClr val="7030A0"/>
                </a:solidFill>
              </a:rPr>
              <a:t>Групповое упражнение: «Карта страха»</a:t>
            </a:r>
            <a:endParaRPr lang="ru-RU" sz="5400" dirty="0">
              <a:solidFill>
                <a:srgbClr val="7030A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92D4A0-F489-4EC2-A1C3-D7A984398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981200"/>
            <a:ext cx="3429000" cy="4351338"/>
          </a:xfrm>
        </p:spPr>
        <p:txBody>
          <a:bodyPr>
            <a:normAutofit fontScale="70000" lnSpcReduction="20000"/>
          </a:bodyPr>
          <a:lstStyle/>
          <a:p>
            <a:pPr>
              <a:buFontTx/>
              <a:buChar char="-"/>
            </a:pPr>
            <a:r>
              <a:rPr lang="ru-RU" sz="4400" dirty="0">
                <a:solidFill>
                  <a:srgbClr val="002060"/>
                </a:solidFill>
              </a:rPr>
              <a:t>Участники рисуют свой страх в виде образа или метафоры.</a:t>
            </a:r>
          </a:p>
          <a:p>
            <a:pPr marL="0" indent="0">
              <a:buNone/>
            </a:pPr>
            <a:br>
              <a:rPr lang="ru-RU" sz="4400" dirty="0">
                <a:solidFill>
                  <a:srgbClr val="002060"/>
                </a:solidFill>
              </a:rPr>
            </a:br>
            <a:r>
              <a:rPr lang="ru-RU" sz="4400" dirty="0">
                <a:solidFill>
                  <a:srgbClr val="002060"/>
                </a:solidFill>
              </a:rPr>
              <a:t>- Обсуждение в мини-группах: что этот страх защищает, какие убеждения за ним стоят.</a:t>
            </a:r>
            <a:br>
              <a:rPr lang="ru-RU" sz="4400" dirty="0">
                <a:solidFill>
                  <a:srgbClr val="002060"/>
                </a:solidFill>
              </a:rPr>
            </a:br>
            <a:endParaRPr lang="ru-RU" sz="4400" dirty="0">
              <a:solidFill>
                <a:srgbClr val="00206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A44934-4E78-4020-B634-AA1999CB90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2057400"/>
            <a:ext cx="3798888" cy="379888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22D629A-37B9-47D6-8348-CA0F01ABE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6332538"/>
            <a:ext cx="1792379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022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54EF9-852F-4F45-B1A8-B8FB7CB3C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solidFill>
                  <a:srgbClr val="7030A0"/>
                </a:solidFill>
              </a:rPr>
              <a:t>Работа в парах: «Диалог со страхом»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A4B038-F865-45A8-ADCE-CAF5F4B86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4099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>
                <a:solidFill>
                  <a:srgbClr val="002060"/>
                </a:solidFill>
              </a:rPr>
              <a:t>- Один участник озвучивает свой страх, второй — помогает выявить скрытые потребности и ресурсы.</a:t>
            </a:r>
            <a:br>
              <a:rPr lang="ru-RU" sz="3200" dirty="0">
                <a:solidFill>
                  <a:srgbClr val="002060"/>
                </a:solidFill>
              </a:rPr>
            </a:br>
            <a:r>
              <a:rPr lang="ru-RU" sz="3200" dirty="0">
                <a:solidFill>
                  <a:srgbClr val="002060"/>
                </a:solidFill>
              </a:rPr>
              <a:t>- Обмен ролями.</a:t>
            </a:r>
            <a:br>
              <a:rPr lang="ru-RU" sz="3200" dirty="0">
                <a:solidFill>
                  <a:srgbClr val="002060"/>
                </a:solidFill>
              </a:rPr>
            </a:br>
            <a:endParaRPr lang="ru-RU" sz="3200" dirty="0">
              <a:solidFill>
                <a:srgbClr val="00206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B29027-9A61-4DDB-B9BF-81F1D9BA6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6355702"/>
            <a:ext cx="1792379" cy="2743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0A4DB0-F28F-46E1-86D1-334A216B6C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981200"/>
            <a:ext cx="37338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916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449A87-98F0-4BAA-B78B-18A1AA2F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7886700" cy="1325563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7030A0"/>
                </a:solidFill>
              </a:rPr>
              <a:t>Мини-практика: «Ресурсное состояние»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6F29C1-FF74-4B5F-83FA-D6424E151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981200"/>
            <a:ext cx="325755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3200" dirty="0">
                <a:solidFill>
                  <a:srgbClr val="002060"/>
                </a:solidFill>
              </a:rPr>
              <a:t>- Каждый участник вспоминает ситуацию, когда чувствовал себя уверенно и спокойно.</a:t>
            </a:r>
            <a:br>
              <a:rPr lang="ru-RU" sz="3200" dirty="0">
                <a:solidFill>
                  <a:srgbClr val="002060"/>
                </a:solidFill>
              </a:rPr>
            </a:br>
            <a:r>
              <a:rPr lang="ru-RU" sz="3200" dirty="0">
                <a:solidFill>
                  <a:srgbClr val="002060"/>
                </a:solidFill>
              </a:rPr>
              <a:t>- Фиксация телесных ощущений, эмоций, мыслей.</a:t>
            </a:r>
            <a:br>
              <a:rPr lang="ru-RU" sz="3200" dirty="0">
                <a:solidFill>
                  <a:srgbClr val="002060"/>
                </a:solidFill>
              </a:rPr>
            </a:br>
            <a:endParaRPr lang="ru-RU" sz="3200" dirty="0">
              <a:solidFill>
                <a:srgbClr val="00206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A5F6AF-7385-4A9B-95E2-ED8B467D3C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246" y="2057400"/>
            <a:ext cx="3581400" cy="3581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D2C029C-FDB5-49A1-9A2C-AD3DE8A02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6332538"/>
            <a:ext cx="1792379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38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89783B-9ADE-4777-98AD-78B79CAAE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49233"/>
            <a:ext cx="7886700" cy="991247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>
                <a:solidFill>
                  <a:srgbClr val="7030A0"/>
                </a:solidFill>
              </a:rPr>
              <a:t>Техники работы со страхами</a:t>
            </a:r>
            <a:br>
              <a:rPr lang="ru-RU" sz="4000" dirty="0">
                <a:solidFill>
                  <a:srgbClr val="7030A0"/>
                </a:solidFill>
              </a:rPr>
            </a:br>
            <a:endParaRPr lang="ru-RU" sz="4000" dirty="0">
              <a:solidFill>
                <a:srgbClr val="7030A0"/>
              </a:solidFill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B1A74D0-B8FB-4B73-B6A1-373FC3D877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2800" y="6355702"/>
            <a:ext cx="1792379" cy="274344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327F0F-6B6A-49B0-9269-4F0E228AF528}"/>
              </a:ext>
            </a:extLst>
          </p:cNvPr>
          <p:cNvSpPr/>
          <p:nvPr/>
        </p:nvSpPr>
        <p:spPr>
          <a:xfrm>
            <a:off x="1143000" y="1137562"/>
            <a:ext cx="7239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Техника: «Пошаговая трансформация страха»</a:t>
            </a:r>
            <a:b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Осознание и принятие</a:t>
            </a:r>
            <a:b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Назовите свой страх. Признайте его существование без осуждения.</a:t>
            </a:r>
            <a:b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Исследование</a:t>
            </a:r>
            <a:b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Задайте себе вопросы: «От чего меня защищает этот страх?», «Какие убеждения за ним стоят?», «Что будет, если я позволю себе действовать вопреки страху?»</a:t>
            </a:r>
            <a:b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Визуализация успеха</a:t>
            </a:r>
            <a:b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Представьте детально ситуацию, где вы справились со страхом. Почувствуйте эмоции победителя.</a:t>
            </a:r>
            <a:b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4. 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Маленькие шаги</a:t>
            </a:r>
            <a:b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Составьте план из 3–5 маленьких действий, которые можно сделать уже на этой неделе для преодоления страха.</a:t>
            </a:r>
            <a:b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5. 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Поддержка и закрепление</a:t>
            </a:r>
            <a:b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Ведите дневник успехов. Отмечайте даже самые маленькие победы.</a:t>
            </a:r>
            <a:b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- Используйте техники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самоподдержки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(аффирмации, благодарность себе).</a:t>
            </a:r>
            <a:b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005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D849DC-BE1C-4437-8752-D8DDFEF47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488"/>
            <a:ext cx="7886700" cy="1325563"/>
          </a:xfrm>
        </p:spPr>
        <p:txBody>
          <a:bodyPr/>
          <a:lstStyle/>
          <a:p>
            <a:pPr algn="ctr"/>
            <a:r>
              <a:rPr lang="ru-RU" sz="3600" b="1" dirty="0">
                <a:solidFill>
                  <a:srgbClr val="7030A0"/>
                </a:solidFill>
              </a:rPr>
              <a:t>Техники работы со страхами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4B82681-5463-4964-A564-B4F3FFE3B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6600" y="6355702"/>
            <a:ext cx="1792379" cy="274344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14B8837-7A08-4BFE-89F8-05580A0BA8B5}"/>
              </a:ext>
            </a:extLst>
          </p:cNvPr>
          <p:cNvSpPr/>
          <p:nvPr/>
        </p:nvSpPr>
        <p:spPr>
          <a:xfrm>
            <a:off x="628650" y="1447800"/>
            <a:ext cx="8058150" cy="4170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800"/>
              </a:spcBef>
              <a:spcAft>
                <a:spcPts val="900"/>
              </a:spcAft>
            </a:pPr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Когнитивные техники (работа с мышлением)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Рационализация</a:t>
            </a:r>
            <a:b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Анализируйте страх через вопросы: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Реальна ли угроза? Каковы объективные шансы, что худшее случится (оцените в %)?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Какие факты подтверждают мой страх, а какие опровергают?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 я скажу другу, если он будет бояться того же?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Проработка худшего сценария</a:t>
            </a:r>
            <a:b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Пошагово представьте наихудший исход: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Опишите максимально детально, что именно произойдёт.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Прочувствуйте эмоции, которые возникнут.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255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2EFAB-2C67-45A9-A27E-6D3F0B85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5240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</a:rPr>
              <a:t>Техники работы со страхами</a:t>
            </a:r>
            <a:endParaRPr lang="ru-RU" sz="3600" b="1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9958781-41AC-4556-903C-999F7A8EA7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2800" y="6355702"/>
            <a:ext cx="1792379" cy="274344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DFB78EA-76B8-4D20-9083-94844A27203B}"/>
              </a:ext>
            </a:extLst>
          </p:cNvPr>
          <p:cNvSpPr/>
          <p:nvPr/>
        </p:nvSpPr>
        <p:spPr>
          <a:xfrm>
            <a:off x="990600" y="1632354"/>
            <a:ext cx="7524750" cy="3593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Продумайте конкретные шаги после этого </a:t>
            </a: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(«Если я провалю выступление, я проанализирую ошибки и</a:t>
            </a: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подготовлюсь лучше»).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Оцените, насколько катастрофа необратима.</a:t>
            </a:r>
            <a:endParaRPr lang="ru-RU" b="1" dirty="0">
              <a:solidFill>
                <a:srgbClr val="002060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Работа с когнитивными искажениями</a:t>
            </a:r>
            <a:b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Найдите типичные ошибки мышления: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«Всё или ничего» («Если не будет идеально — это провал»).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 err="1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Катастрофизация</a:t>
            </a: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(«Если я ошибусь, карьера закончится»).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Чтение мыслей («Все подумают, что я некомпетентен»).</a:t>
            </a:r>
            <a:endParaRPr lang="ru-RU" sz="12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465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B8B4F-5212-4913-8A46-654B7BCAF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4771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</a:rPr>
              <a:t>Техники работы со страхами</a:t>
            </a:r>
            <a:endParaRPr lang="ru-RU" sz="3600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730391F-293F-4E31-9364-B320CF7E1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0" y="6355702"/>
            <a:ext cx="1792379" cy="274344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6E102B2-6D72-4A30-B6A3-5F40DDE75519}"/>
              </a:ext>
            </a:extLst>
          </p:cNvPr>
          <p:cNvSpPr/>
          <p:nvPr/>
        </p:nvSpPr>
        <p:spPr>
          <a:xfrm>
            <a:off x="1295400" y="1143000"/>
            <a:ext cx="6629399" cy="4824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800"/>
              </a:spcBef>
              <a:spcAft>
                <a:spcPts val="900"/>
              </a:spcAft>
            </a:pP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оведенческие техники (работа через действие)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Систематическая десенсибилизация / экспозиция</a:t>
            </a:r>
            <a:b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Постепенное привыкание к пугающему стимулу: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Составьте «лестницу страха» из 5–10 шагов (например, для страха публичных выступлений: прочитать текст одному → перед зеркалом → перед другом → перед 3 людьми → мини‑выступление в знакомой группе → полноценное выступление).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Начинайте с уровня, где тревога умеренная (3-4 балла из 10).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Оставайтесь в ситуации, пока страх не снизится на 50 %.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Переходите к следующему шагу только после уверенного</a:t>
            </a: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успеха.</a:t>
            </a:r>
            <a:endParaRPr lang="ru-RU" sz="12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334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D30E68-9C0D-429B-9493-7ACCB0EBD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</a:rPr>
              <a:t>Техники работы со страхами</a:t>
            </a:r>
            <a:endParaRPr lang="ru-RU" sz="36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2F63D4A-6FE4-4E04-B484-DFA849648032}"/>
              </a:ext>
            </a:extLst>
          </p:cNvPr>
          <p:cNvSpPr/>
          <p:nvPr/>
        </p:nvSpPr>
        <p:spPr>
          <a:xfrm>
            <a:off x="762000" y="2421032"/>
            <a:ext cx="7696200" cy="1900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Парадоксальная интенция</a:t>
            </a:r>
          </a:p>
          <a:p>
            <a:pPr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b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Намеренно усиливайте симптом: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 страхе заикания попробуйте заикаться нарочито сильно.</a:t>
            </a:r>
            <a:endParaRPr lang="ru-RU" sz="1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 боязни покраснеть попытайтесь заставить себя покраснеть.</a:t>
            </a:r>
            <a:endParaRPr lang="ru-RU" sz="12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559814-81D3-4BD8-9503-6563BC32A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6355702"/>
            <a:ext cx="1792379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060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BEEE2-BEAA-4E12-8D1E-AA608F5F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>
                <a:solidFill>
                  <a:srgbClr val="7030A0"/>
                </a:solidFill>
              </a:rPr>
              <a:t>Техники работы со страхами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41FC2A-740B-42F2-B981-3461BD6CE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>
                <a:solidFill>
                  <a:srgbClr val="002060"/>
                </a:solidFill>
              </a:rPr>
              <a:t>Телесные техники (работа с физиологией)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ru-RU" b="1" dirty="0">
                <a:solidFill>
                  <a:srgbClr val="002060"/>
                </a:solidFill>
              </a:rPr>
              <a:t>Дыхание по квадрату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Выполняйте при остром страхе:</a:t>
            </a:r>
          </a:p>
          <a:p>
            <a:pPr lvl="0"/>
            <a:r>
              <a:rPr lang="ru-RU" dirty="0">
                <a:solidFill>
                  <a:srgbClr val="002060"/>
                </a:solidFill>
              </a:rPr>
              <a:t>Вдох на 4 счёта.</a:t>
            </a:r>
          </a:p>
          <a:p>
            <a:pPr lvl="0"/>
            <a:r>
              <a:rPr lang="ru-RU" dirty="0">
                <a:solidFill>
                  <a:srgbClr val="002060"/>
                </a:solidFill>
              </a:rPr>
              <a:t>Задержка на 4 счёта.</a:t>
            </a:r>
          </a:p>
          <a:p>
            <a:pPr lvl="0"/>
            <a:r>
              <a:rPr lang="ru-RU" dirty="0">
                <a:solidFill>
                  <a:srgbClr val="002060"/>
                </a:solidFill>
              </a:rPr>
              <a:t>Выдох на 4 счёта.</a:t>
            </a:r>
          </a:p>
          <a:p>
            <a:pPr lvl="0"/>
            <a:r>
              <a:rPr lang="ru-RU" dirty="0">
                <a:solidFill>
                  <a:srgbClr val="002060"/>
                </a:solidFill>
              </a:rPr>
              <a:t>Задержка на 4 счёта.</a:t>
            </a:r>
            <a:br>
              <a:rPr lang="ru-RU" dirty="0">
                <a:solidFill>
                  <a:srgbClr val="002060"/>
                </a:solidFill>
              </a:rPr>
            </a:br>
            <a:r>
              <a:rPr lang="ru-RU" dirty="0">
                <a:solidFill>
                  <a:srgbClr val="002060"/>
                </a:solidFill>
              </a:rPr>
              <a:t>Повторите 5–7 циклов.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A19630-C62E-47C5-8ADE-DD88565AD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6355702"/>
            <a:ext cx="1792379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74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6C43A6-EDD3-4204-8279-4EB10425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solidFill>
                  <a:srgbClr val="7030A0"/>
                </a:solidFill>
              </a:rPr>
              <a:t>Важные правила работы со страхом</a:t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B885E7A3-9CB7-4562-A262-DD03A2CC7C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6600" y="6355702"/>
            <a:ext cx="1792379" cy="274344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F0B4F8-68BD-4CB2-9CF8-B63FBDDF6377}"/>
              </a:ext>
            </a:extLst>
          </p:cNvPr>
          <p:cNvSpPr/>
          <p:nvPr/>
        </p:nvSpPr>
        <p:spPr>
          <a:xfrm>
            <a:off x="628650" y="1828800"/>
            <a:ext cx="7772400" cy="3732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sz="1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Начинайте с малого.</a:t>
            </a: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Не бросайтесь в крайности — двигайтесь шагами.</a:t>
            </a:r>
            <a:endParaRPr lang="ru-RU" sz="11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sz="1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Фиксируйте прогресс.</a:t>
            </a: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Записывайте успехи, даже небольшие.</a:t>
            </a:r>
            <a:endParaRPr lang="ru-RU" sz="11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sz="1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Вознаграждайте себя.</a:t>
            </a: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После каждого этапа — приятная награда.</a:t>
            </a:r>
            <a:endParaRPr lang="ru-RU" sz="11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sz="1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Будьте терпеливы.</a:t>
            </a: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Страхи формировались годами, их проработка требует</a:t>
            </a: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времени.</a:t>
            </a:r>
            <a:endParaRPr lang="ru-RU" sz="11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tabLst>
                <a:tab pos="457200" algn="l"/>
              </a:tabLst>
            </a:pPr>
            <a:r>
              <a:rPr lang="ru-RU" sz="1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Обращайтесь к специалисту</a:t>
            </a: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если:</a:t>
            </a:r>
            <a:endParaRPr lang="ru-RU" sz="11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страх мешает повседневной жизни;</a:t>
            </a:r>
            <a:endParaRPr lang="ru-RU" sz="11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возникают панические атаки;</a:t>
            </a:r>
            <a:endParaRPr lang="ru-RU" sz="11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попытки самостоятельной работы усиливают тревогу.</a:t>
            </a:r>
            <a:endParaRPr lang="ru-RU" sz="1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065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</TotalTime>
  <Words>1321</Words>
  <Application>Microsoft Office PowerPoint</Application>
  <PresentationFormat>Экран (4:3)</PresentationFormat>
  <Paragraphs>111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Impact</vt:lpstr>
      <vt:lpstr>Symbol</vt:lpstr>
      <vt:lpstr>Times New Roman</vt:lpstr>
      <vt:lpstr>Office Theme</vt:lpstr>
      <vt:lpstr>Тема Office</vt:lpstr>
      <vt:lpstr>Презентация PowerPoint</vt:lpstr>
      <vt:lpstr>Максим Теркин       </vt:lpstr>
      <vt:lpstr>Введение</vt:lpstr>
      <vt:lpstr>Что такое страх</vt:lpstr>
      <vt:lpstr>Что такое страх с точки зрения нейронауки?</vt:lpstr>
      <vt:lpstr>Как мозг реагирует на угрозу: амигдала, префронтальная кора, гормоны стресса</vt:lpstr>
      <vt:lpstr>Отличие страха от тревоги и фобии</vt:lpstr>
      <vt:lpstr>Виды страхов в работе нейрокоуча</vt:lpstr>
      <vt:lpstr> Как страхи влияют на поведение и мышление?</vt:lpstr>
      <vt:lpstr>Презентация PowerPoint</vt:lpstr>
      <vt:lpstr>Примеры из практики </vt:lpstr>
      <vt:lpstr>Презентация PowerPoint</vt:lpstr>
      <vt:lpstr>Презентация PowerPoint</vt:lpstr>
      <vt:lpstr>Презентация PowerPoint</vt:lpstr>
      <vt:lpstr>Групповое упражнение: «Карта страха»</vt:lpstr>
      <vt:lpstr>Работа в парах: «Диалог со страхом» </vt:lpstr>
      <vt:lpstr>Мини-практика: «Ресурсное состояние»</vt:lpstr>
      <vt:lpstr>Техники работы со страхами </vt:lpstr>
      <vt:lpstr>Техники работы со страхами</vt:lpstr>
      <vt:lpstr>Техники работы со страхами</vt:lpstr>
      <vt:lpstr>Техники работы со страхами</vt:lpstr>
      <vt:lpstr>Техники работы со страхами</vt:lpstr>
      <vt:lpstr>Техники работы со страхами</vt:lpstr>
      <vt:lpstr>Важные правила работы со страхом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Теркин</dc:creator>
  <cp:lastModifiedBy>Теркин</cp:lastModifiedBy>
  <cp:revision>26</cp:revision>
  <dcterms:created xsi:type="dcterms:W3CDTF">2026-05-14T15:55:10Z</dcterms:created>
  <dcterms:modified xsi:type="dcterms:W3CDTF">2026-05-20T10:43:19Z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2024-12-20T00:00:00Z</vt:filetime>
  </property>
  <property fmtid="{D5CDD505-2E9C-101B-9397-08002B2CF9AE}" pid="3" name="LastSaved">
    <vt:filetime>2026-05-14T00:00:00Z</vt:filetime>
  </property>
</Properties>
</file>